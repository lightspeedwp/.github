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71" r:id="rId3"/>
    <p:sldId id="260" r:id="rId4"/>
    <p:sldId id="272" r:id="rId5"/>
    <p:sldId id="259" r:id="rId6"/>
    <p:sldId id="261" r:id="rId7"/>
    <p:sldId id="262" r:id="rId8"/>
    <p:sldId id="264" r:id="rId9"/>
    <p:sldId id="265" r:id="rId10"/>
    <p:sldId id="270"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0" userDrawn="1">
          <p15:clr>
            <a:srgbClr val="A4A3A4"/>
          </p15:clr>
        </p15:guide>
        <p15:guide id="2" pos="384" userDrawn="1">
          <p15:clr>
            <a:srgbClr val="A4A3A4"/>
          </p15:clr>
        </p15:guide>
        <p15:guide id="3" orient="horz" pos="408" userDrawn="1">
          <p15:clr>
            <a:srgbClr val="A4A3A4"/>
          </p15:clr>
        </p15:guide>
        <p15:guide id="4" orient="horz" pos="4032" userDrawn="1">
          <p15:clr>
            <a:srgbClr val="A4A3A4"/>
          </p15:clr>
        </p15:guide>
        <p15:guide id="5" pos="7296" userDrawn="1">
          <p15:clr>
            <a:srgbClr val="A4A3A4"/>
          </p15:clr>
        </p15:guide>
        <p15:guide id="6" pos="768" userDrawn="1">
          <p15:clr>
            <a:srgbClr val="A4A3A4"/>
          </p15:clr>
        </p15:guide>
        <p15:guide id="7" pos="985" userDrawn="1">
          <p15:clr>
            <a:srgbClr val="A4A3A4"/>
          </p15:clr>
        </p15:guide>
        <p15:guide id="8" pos="2544" userDrawn="1">
          <p15:clr>
            <a:srgbClr val="A4A3A4"/>
          </p15:clr>
        </p15:guide>
        <p15:guide id="9" pos="1577" userDrawn="1">
          <p15:clr>
            <a:srgbClr val="A4A3A4"/>
          </p15:clr>
        </p15:guide>
        <p15:guide id="10" pos="1944" userDrawn="1">
          <p15:clr>
            <a:srgbClr val="A4A3A4"/>
          </p15:clr>
        </p15:guide>
        <p15:guide id="11" pos="2160" userDrawn="1">
          <p15:clr>
            <a:srgbClr val="A4A3A4"/>
          </p15:clr>
        </p15:guide>
        <p15:guide id="12" pos="1392" userDrawn="1">
          <p15:clr>
            <a:srgbClr val="A4A3A4"/>
          </p15:clr>
        </p15:guide>
        <p15:guide id="13" pos="2760" userDrawn="1">
          <p15:clr>
            <a:srgbClr val="A4A3A4"/>
          </p15:clr>
        </p15:guide>
        <p15:guide id="14" pos="3138" userDrawn="1">
          <p15:clr>
            <a:srgbClr val="A4A3A4"/>
          </p15:clr>
        </p15:guide>
        <p15:guide id="15" pos="3360" userDrawn="1">
          <p15:clr>
            <a:srgbClr val="A4A3A4"/>
          </p15:clr>
        </p15:guide>
        <p15:guide id="16" pos="3736" userDrawn="1">
          <p15:clr>
            <a:srgbClr val="A4A3A4"/>
          </p15:clr>
        </p15:guide>
        <p15:guide id="17" pos="3940" userDrawn="1">
          <p15:clr>
            <a:srgbClr val="A4A3A4"/>
          </p15:clr>
        </p15:guide>
        <p15:guide id="18" pos="4320" userDrawn="1">
          <p15:clr>
            <a:srgbClr val="A4A3A4"/>
          </p15:clr>
        </p15:guide>
        <p15:guide id="19" pos="4536" userDrawn="1">
          <p15:clr>
            <a:srgbClr val="A4A3A4"/>
          </p15:clr>
        </p15:guide>
        <p15:guide id="20" pos="4944" userDrawn="1">
          <p15:clr>
            <a:srgbClr val="A4A3A4"/>
          </p15:clr>
        </p15:guide>
        <p15:guide id="21" pos="7056" userDrawn="1">
          <p15:clr>
            <a:srgbClr val="A4A3A4"/>
          </p15:clr>
        </p15:guide>
        <p15:guide id="22" pos="5518" userDrawn="1">
          <p15:clr>
            <a:srgbClr val="A4A3A4"/>
          </p15:clr>
        </p15:guide>
        <p15:guide id="23" pos="5717" userDrawn="1">
          <p15:clr>
            <a:srgbClr val="A4A3A4"/>
          </p15:clr>
        </p15:guide>
        <p15:guide id="24" pos="6105" userDrawn="1">
          <p15:clr>
            <a:srgbClr val="A4A3A4"/>
          </p15:clr>
        </p15:guide>
        <p15:guide id="25" pos="6314" userDrawn="1">
          <p15:clr>
            <a:srgbClr val="A4A3A4"/>
          </p15:clr>
        </p15:guide>
        <p15:guide id="26" pos="6702" userDrawn="1">
          <p15:clr>
            <a:srgbClr val="A4A3A4"/>
          </p15:clr>
        </p15:guide>
        <p15:guide id="27" pos="6901" userDrawn="1">
          <p15:clr>
            <a:srgbClr val="A4A3A4"/>
          </p15:clr>
        </p15:guide>
        <p15:guide id="28" pos="7392" userDrawn="1">
          <p15:clr>
            <a:srgbClr val="A4A3A4"/>
          </p15:clr>
        </p15:guide>
        <p15:guide id="29" orient="horz" pos="288" userDrawn="1">
          <p15:clr>
            <a:srgbClr val="A4A3A4"/>
          </p15:clr>
        </p15:guide>
        <p15:guide id="30" pos="25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65E84"/>
    <a:srgbClr val="75D0F5"/>
    <a:srgbClr val="33C5F3"/>
    <a:srgbClr val="9F9CBD"/>
    <a:srgbClr val="8CA3BA"/>
    <a:srgbClr val="75B8D4"/>
    <a:srgbClr val="75C6D6"/>
    <a:srgbClr val="75C7D6"/>
    <a:srgbClr val="95CFD6"/>
    <a:srgbClr val="3D629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288"/>
    <p:restoredTop sz="94678"/>
  </p:normalViewPr>
  <p:slideViewPr>
    <p:cSldViewPr snapToGrid="0">
      <p:cViewPr varScale="1">
        <p:scale>
          <a:sx n="137" d="100"/>
          <a:sy n="137" d="100"/>
        </p:scale>
        <p:origin x="1064" y="200"/>
      </p:cViewPr>
      <p:guideLst>
        <p:guide orient="horz" pos="240"/>
        <p:guide pos="384"/>
        <p:guide orient="horz" pos="408"/>
        <p:guide orient="horz" pos="4032"/>
        <p:guide pos="7296"/>
        <p:guide pos="768"/>
        <p:guide pos="985"/>
        <p:guide pos="2544"/>
        <p:guide pos="1577"/>
        <p:guide pos="1944"/>
        <p:guide pos="2160"/>
        <p:guide pos="1392"/>
        <p:guide pos="2760"/>
        <p:guide pos="3138"/>
        <p:guide pos="3360"/>
        <p:guide pos="3736"/>
        <p:guide pos="3940"/>
        <p:guide pos="4320"/>
        <p:guide pos="4536"/>
        <p:guide pos="4944"/>
        <p:guide pos="7056"/>
        <p:guide pos="5518"/>
        <p:guide pos="5717"/>
        <p:guide pos="6105"/>
        <p:guide pos="6314"/>
        <p:guide pos="6702"/>
        <p:guide pos="6901"/>
        <p:guide pos="7392"/>
        <p:guide orient="horz" pos="288"/>
        <p:guide pos="253"/>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400A43-F885-DC47-9AB3-9833893A8C49}" type="datetimeFigureOut">
              <a:rPr lang="en-US" smtClean="0"/>
              <a:t>1/26/26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9AA71B-529F-9944-8AC9-931B1BCB63F7}" type="slidenum">
              <a:rPr lang="en-US" smtClean="0"/>
              <a:t>‹#›</a:t>
            </a:fld>
            <a:endParaRPr lang="en-US"/>
          </a:p>
        </p:txBody>
      </p:sp>
    </p:spTree>
    <p:extLst>
      <p:ext uri="{BB962C8B-B14F-4D97-AF65-F5344CB8AC3E}">
        <p14:creationId xmlns:p14="http://schemas.microsoft.com/office/powerpoint/2010/main" val="31302691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9AA71B-529F-9944-8AC9-931B1BCB63F7}" type="slidenum">
              <a:rPr lang="en-US" smtClean="0"/>
              <a:t>1</a:t>
            </a:fld>
            <a:endParaRPr lang="en-US"/>
          </a:p>
        </p:txBody>
      </p:sp>
    </p:spTree>
    <p:extLst>
      <p:ext uri="{BB962C8B-B14F-4D97-AF65-F5344CB8AC3E}">
        <p14:creationId xmlns:p14="http://schemas.microsoft.com/office/powerpoint/2010/main" val="4243189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3911D-BC60-086B-170D-996CE11D8C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E8AEC0-DF71-1830-F917-6F8DD5B949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7CE261-DCCD-8CA3-DACD-2B76CDA4AA7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5FBBF8-F558-6125-5BDA-9D539014305F}"/>
              </a:ext>
            </a:extLst>
          </p:cNvPr>
          <p:cNvSpPr>
            <a:spLocks noGrp="1"/>
          </p:cNvSpPr>
          <p:nvPr>
            <p:ph type="sldNum" sz="quarter" idx="5"/>
          </p:nvPr>
        </p:nvSpPr>
        <p:spPr/>
        <p:txBody>
          <a:bodyPr/>
          <a:lstStyle/>
          <a:p>
            <a:fld id="{599AA71B-529F-9944-8AC9-931B1BCB63F7}" type="slidenum">
              <a:rPr lang="en-US" smtClean="0"/>
              <a:t>2</a:t>
            </a:fld>
            <a:endParaRPr lang="en-US"/>
          </a:p>
        </p:txBody>
      </p:sp>
    </p:spTree>
    <p:extLst>
      <p:ext uri="{BB962C8B-B14F-4D97-AF65-F5344CB8AC3E}">
        <p14:creationId xmlns:p14="http://schemas.microsoft.com/office/powerpoint/2010/main" val="20562885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9AA71B-529F-9944-8AC9-931B1BCB63F7}" type="slidenum">
              <a:rPr lang="en-US" smtClean="0"/>
              <a:t>3</a:t>
            </a:fld>
            <a:endParaRPr lang="en-US"/>
          </a:p>
        </p:txBody>
      </p:sp>
    </p:spTree>
    <p:extLst>
      <p:ext uri="{BB962C8B-B14F-4D97-AF65-F5344CB8AC3E}">
        <p14:creationId xmlns:p14="http://schemas.microsoft.com/office/powerpoint/2010/main" val="26471149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9AA71B-529F-9944-8AC9-931B1BCB63F7}" type="slidenum">
              <a:rPr lang="en-US" smtClean="0"/>
              <a:t>4</a:t>
            </a:fld>
            <a:endParaRPr lang="en-US"/>
          </a:p>
        </p:txBody>
      </p:sp>
    </p:spTree>
    <p:extLst>
      <p:ext uri="{BB962C8B-B14F-4D97-AF65-F5344CB8AC3E}">
        <p14:creationId xmlns:p14="http://schemas.microsoft.com/office/powerpoint/2010/main" val="25191564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9AA71B-529F-9944-8AC9-931B1BCB63F7}" type="slidenum">
              <a:rPr lang="en-US" smtClean="0"/>
              <a:t>5</a:t>
            </a:fld>
            <a:endParaRPr lang="en-US"/>
          </a:p>
        </p:txBody>
      </p:sp>
    </p:spTree>
    <p:extLst>
      <p:ext uri="{BB962C8B-B14F-4D97-AF65-F5344CB8AC3E}">
        <p14:creationId xmlns:p14="http://schemas.microsoft.com/office/powerpoint/2010/main" val="11010991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A4279-6C1C-391F-2FFB-6974F7811F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51614E-7D58-2913-013A-3868E4DB41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521190-1A80-DE7D-989F-DBAFA70518D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759DC6D-A2E1-8495-FF82-156E0498DF7F}"/>
              </a:ext>
            </a:extLst>
          </p:cNvPr>
          <p:cNvSpPr>
            <a:spLocks noGrp="1"/>
          </p:cNvSpPr>
          <p:nvPr>
            <p:ph type="sldNum" sz="quarter" idx="5"/>
          </p:nvPr>
        </p:nvSpPr>
        <p:spPr/>
        <p:txBody>
          <a:bodyPr/>
          <a:lstStyle/>
          <a:p>
            <a:fld id="{599AA71B-529F-9944-8AC9-931B1BCB63F7}" type="slidenum">
              <a:rPr lang="en-US" smtClean="0"/>
              <a:t>6</a:t>
            </a:fld>
            <a:endParaRPr lang="en-US"/>
          </a:p>
        </p:txBody>
      </p:sp>
    </p:spTree>
    <p:extLst>
      <p:ext uri="{BB962C8B-B14F-4D97-AF65-F5344CB8AC3E}">
        <p14:creationId xmlns:p14="http://schemas.microsoft.com/office/powerpoint/2010/main" val="5992336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45711-E43A-A732-13FB-9D05C6D011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7086D5-73CF-ACAD-C5BA-80CBD16E00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BCAA5F-83CA-4633-1094-3608BD8300D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9824B1B-987F-877A-AEB1-1B011839A84E}"/>
              </a:ext>
            </a:extLst>
          </p:cNvPr>
          <p:cNvSpPr>
            <a:spLocks noGrp="1"/>
          </p:cNvSpPr>
          <p:nvPr>
            <p:ph type="sldNum" sz="quarter" idx="5"/>
          </p:nvPr>
        </p:nvSpPr>
        <p:spPr/>
        <p:txBody>
          <a:bodyPr/>
          <a:lstStyle/>
          <a:p>
            <a:fld id="{599AA71B-529F-9944-8AC9-931B1BCB63F7}" type="slidenum">
              <a:rPr lang="en-US" smtClean="0"/>
              <a:t>7</a:t>
            </a:fld>
            <a:endParaRPr lang="en-US"/>
          </a:p>
        </p:txBody>
      </p:sp>
    </p:spTree>
    <p:extLst>
      <p:ext uri="{BB962C8B-B14F-4D97-AF65-F5344CB8AC3E}">
        <p14:creationId xmlns:p14="http://schemas.microsoft.com/office/powerpoint/2010/main" val="5738538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1DBBD-494A-DEE4-0C79-7A01E419B7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9F299A-6F92-9D10-BE1C-3A332C62A3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DC193A-FACD-57ED-E466-BCF1CBF3E98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5683126-381C-5A94-E8FB-50861BD69E7B}"/>
              </a:ext>
            </a:extLst>
          </p:cNvPr>
          <p:cNvSpPr>
            <a:spLocks noGrp="1"/>
          </p:cNvSpPr>
          <p:nvPr>
            <p:ph type="sldNum" sz="quarter" idx="5"/>
          </p:nvPr>
        </p:nvSpPr>
        <p:spPr/>
        <p:txBody>
          <a:bodyPr/>
          <a:lstStyle/>
          <a:p>
            <a:fld id="{599AA71B-529F-9944-8AC9-931B1BCB63F7}" type="slidenum">
              <a:rPr lang="en-US" smtClean="0"/>
              <a:t>8</a:t>
            </a:fld>
            <a:endParaRPr lang="en-US"/>
          </a:p>
        </p:txBody>
      </p:sp>
    </p:spTree>
    <p:extLst>
      <p:ext uri="{BB962C8B-B14F-4D97-AF65-F5344CB8AC3E}">
        <p14:creationId xmlns:p14="http://schemas.microsoft.com/office/powerpoint/2010/main" val="13548515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67683-DE92-10A8-3B5F-AC453D0A1B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D4A36C-0713-E208-CFD5-43FD56220E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B6D3CA-23E4-C5B7-5458-218155D51A7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CF1029-7990-669F-CCF8-F6D7C6067821}"/>
              </a:ext>
            </a:extLst>
          </p:cNvPr>
          <p:cNvSpPr>
            <a:spLocks noGrp="1"/>
          </p:cNvSpPr>
          <p:nvPr>
            <p:ph type="sldNum" sz="quarter" idx="5"/>
          </p:nvPr>
        </p:nvSpPr>
        <p:spPr/>
        <p:txBody>
          <a:bodyPr/>
          <a:lstStyle/>
          <a:p>
            <a:fld id="{599AA71B-529F-9944-8AC9-931B1BCB63F7}" type="slidenum">
              <a:rPr lang="en-US" smtClean="0"/>
              <a:t>9</a:t>
            </a:fld>
            <a:endParaRPr lang="en-US"/>
          </a:p>
        </p:txBody>
      </p:sp>
    </p:spTree>
    <p:extLst>
      <p:ext uri="{BB962C8B-B14F-4D97-AF65-F5344CB8AC3E}">
        <p14:creationId xmlns:p14="http://schemas.microsoft.com/office/powerpoint/2010/main" val="25807541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CB96E-7F74-80DA-C69E-548D3CC39B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98F198-FDF0-C3CC-2138-57E84B4485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331D26-842B-3201-4A3D-F646DD79133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0753814-F93A-A391-2A88-F227A19E3724}"/>
              </a:ext>
            </a:extLst>
          </p:cNvPr>
          <p:cNvSpPr>
            <a:spLocks noGrp="1"/>
          </p:cNvSpPr>
          <p:nvPr>
            <p:ph type="sldNum" sz="quarter" idx="5"/>
          </p:nvPr>
        </p:nvSpPr>
        <p:spPr/>
        <p:txBody>
          <a:bodyPr/>
          <a:lstStyle/>
          <a:p>
            <a:fld id="{599AA71B-529F-9944-8AC9-931B1BCB63F7}" type="slidenum">
              <a:rPr lang="en-US" smtClean="0"/>
              <a:t>10</a:t>
            </a:fld>
            <a:endParaRPr lang="en-US"/>
          </a:p>
        </p:txBody>
      </p:sp>
    </p:spTree>
    <p:extLst>
      <p:ext uri="{BB962C8B-B14F-4D97-AF65-F5344CB8AC3E}">
        <p14:creationId xmlns:p14="http://schemas.microsoft.com/office/powerpoint/2010/main" val="25773548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404F7-C92A-1635-683A-CA13511209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775BF7-3D9A-DB42-4F27-F84EA9FC4C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5FF3A1-2390-1EF9-BB50-F9A943A98A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DD57A7E-825B-4493-DECF-4E022A200F4E}"/>
              </a:ext>
            </a:extLst>
          </p:cNvPr>
          <p:cNvSpPr>
            <a:spLocks noGrp="1"/>
          </p:cNvSpPr>
          <p:nvPr>
            <p:ph type="sldNum" sz="quarter" idx="5"/>
          </p:nvPr>
        </p:nvSpPr>
        <p:spPr/>
        <p:txBody>
          <a:bodyPr/>
          <a:lstStyle/>
          <a:p>
            <a:fld id="{599AA71B-529F-9944-8AC9-931B1BCB63F7}" type="slidenum">
              <a:rPr lang="en-US" smtClean="0"/>
              <a:t>11</a:t>
            </a:fld>
            <a:endParaRPr lang="en-US"/>
          </a:p>
        </p:txBody>
      </p:sp>
    </p:spTree>
    <p:extLst>
      <p:ext uri="{BB962C8B-B14F-4D97-AF65-F5344CB8AC3E}">
        <p14:creationId xmlns:p14="http://schemas.microsoft.com/office/powerpoint/2010/main" val="26523774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2B834-D40F-C057-334F-F3E0B29418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392DB6-43AD-69E0-4054-C2C8CC6576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C9293D-A7CA-355B-2EAD-FFB2DECA62E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2582F53-E7DF-D686-1695-5BDBBC0E1D83}"/>
              </a:ext>
            </a:extLst>
          </p:cNvPr>
          <p:cNvSpPr>
            <a:spLocks noGrp="1"/>
          </p:cNvSpPr>
          <p:nvPr>
            <p:ph type="sldNum" sz="quarter" idx="5"/>
          </p:nvPr>
        </p:nvSpPr>
        <p:spPr/>
        <p:txBody>
          <a:bodyPr/>
          <a:lstStyle/>
          <a:p>
            <a:fld id="{599AA71B-529F-9944-8AC9-931B1BCB63F7}" type="slidenum">
              <a:rPr lang="en-US" smtClean="0"/>
              <a:t>12</a:t>
            </a:fld>
            <a:endParaRPr lang="en-US"/>
          </a:p>
        </p:txBody>
      </p:sp>
    </p:spTree>
    <p:extLst>
      <p:ext uri="{BB962C8B-B14F-4D97-AF65-F5344CB8AC3E}">
        <p14:creationId xmlns:p14="http://schemas.microsoft.com/office/powerpoint/2010/main" val="5325380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F6856-0C55-0C53-93C8-8ADF749B0D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F2A24E-A12F-B618-3B70-5066A5FBC7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37ABAD-40F9-E00B-32ED-AFE0DF1FE6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F7B4F0-52DA-4443-0D56-37D188077154}"/>
              </a:ext>
            </a:extLst>
          </p:cNvPr>
          <p:cNvSpPr>
            <a:spLocks noGrp="1"/>
          </p:cNvSpPr>
          <p:nvPr>
            <p:ph type="sldNum" sz="quarter" idx="5"/>
          </p:nvPr>
        </p:nvSpPr>
        <p:spPr/>
        <p:txBody>
          <a:bodyPr/>
          <a:lstStyle/>
          <a:p>
            <a:fld id="{599AA71B-529F-9944-8AC9-931B1BCB63F7}" type="slidenum">
              <a:rPr lang="en-US" smtClean="0"/>
              <a:t>13</a:t>
            </a:fld>
            <a:endParaRPr lang="en-US"/>
          </a:p>
        </p:txBody>
      </p:sp>
    </p:spTree>
    <p:extLst>
      <p:ext uri="{BB962C8B-B14F-4D97-AF65-F5344CB8AC3E}">
        <p14:creationId xmlns:p14="http://schemas.microsoft.com/office/powerpoint/2010/main" val="40181515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3A2AB-2584-1D44-FA25-D1E5F9E3F7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224843-2234-D8EA-9412-CA5CDA6B43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9103FF-B7E2-32A4-5388-F2A7DEC089B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5930D4B-03B7-9D47-6A76-ABCF62769F9C}"/>
              </a:ext>
            </a:extLst>
          </p:cNvPr>
          <p:cNvSpPr>
            <a:spLocks noGrp="1"/>
          </p:cNvSpPr>
          <p:nvPr>
            <p:ph type="sldNum" sz="quarter" idx="5"/>
          </p:nvPr>
        </p:nvSpPr>
        <p:spPr/>
        <p:txBody>
          <a:bodyPr/>
          <a:lstStyle/>
          <a:p>
            <a:fld id="{599AA71B-529F-9944-8AC9-931B1BCB63F7}" type="slidenum">
              <a:rPr lang="en-US" smtClean="0"/>
              <a:t>14</a:t>
            </a:fld>
            <a:endParaRPr lang="en-US"/>
          </a:p>
        </p:txBody>
      </p:sp>
    </p:spTree>
    <p:extLst>
      <p:ext uri="{BB962C8B-B14F-4D97-AF65-F5344CB8AC3E}">
        <p14:creationId xmlns:p14="http://schemas.microsoft.com/office/powerpoint/2010/main" val="25730823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9120A-BE91-EBA3-B492-0C23CF0DE93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993AF18-C7A4-F0E1-CD3B-DEFE03488D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76D5D0F-AF8E-8D8B-3E20-324E09E804B1}"/>
              </a:ext>
            </a:extLst>
          </p:cNvPr>
          <p:cNvSpPr>
            <a:spLocks noGrp="1"/>
          </p:cNvSpPr>
          <p:nvPr>
            <p:ph type="dt" sz="half" idx="10"/>
          </p:nvPr>
        </p:nvSpPr>
        <p:spPr/>
        <p:txBody>
          <a:bodyPr/>
          <a:lstStyle/>
          <a:p>
            <a:fld id="{7F7F68A8-C1DF-6E40-AB4B-7974E6106046}" type="datetimeFigureOut">
              <a:rPr lang="en-US" smtClean="0"/>
              <a:t>1/26/26</a:t>
            </a:fld>
            <a:endParaRPr lang="en-US"/>
          </a:p>
        </p:txBody>
      </p:sp>
      <p:sp>
        <p:nvSpPr>
          <p:cNvPr id="5" name="Footer Placeholder 4">
            <a:extLst>
              <a:ext uri="{FF2B5EF4-FFF2-40B4-BE49-F238E27FC236}">
                <a16:creationId xmlns:a16="http://schemas.microsoft.com/office/drawing/2014/main" id="{84C8DCC3-2000-1982-AC5C-743E480605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44557B-BCF1-A827-1AD3-3905E0C8FCA0}"/>
              </a:ext>
            </a:extLst>
          </p:cNvPr>
          <p:cNvSpPr>
            <a:spLocks noGrp="1"/>
          </p:cNvSpPr>
          <p:nvPr>
            <p:ph type="sldNum" sz="quarter" idx="12"/>
          </p:nvPr>
        </p:nvSpPr>
        <p:spPr/>
        <p:txBody>
          <a:bodyPr/>
          <a:lstStyle/>
          <a:p>
            <a:fld id="{54656CC6-372D-1E40-9458-FC3ADBA2C366}" type="slidenum">
              <a:rPr lang="en-US" smtClean="0"/>
              <a:t>‹#›</a:t>
            </a:fld>
            <a:endParaRPr lang="en-US"/>
          </a:p>
        </p:txBody>
      </p:sp>
    </p:spTree>
    <p:extLst>
      <p:ext uri="{BB962C8B-B14F-4D97-AF65-F5344CB8AC3E}">
        <p14:creationId xmlns:p14="http://schemas.microsoft.com/office/powerpoint/2010/main" val="37247890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248BF-2613-746B-5AF5-2C2C64A049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5269A7E-581A-F3EA-2C1C-E5EA6F8A361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DCD631-B4F7-D555-3FD9-766504288E23}"/>
              </a:ext>
            </a:extLst>
          </p:cNvPr>
          <p:cNvSpPr>
            <a:spLocks noGrp="1"/>
          </p:cNvSpPr>
          <p:nvPr>
            <p:ph type="dt" sz="half" idx="10"/>
          </p:nvPr>
        </p:nvSpPr>
        <p:spPr/>
        <p:txBody>
          <a:bodyPr/>
          <a:lstStyle/>
          <a:p>
            <a:fld id="{7F7F68A8-C1DF-6E40-AB4B-7974E6106046}" type="datetimeFigureOut">
              <a:rPr lang="en-US" smtClean="0"/>
              <a:t>1/26/26</a:t>
            </a:fld>
            <a:endParaRPr lang="en-US"/>
          </a:p>
        </p:txBody>
      </p:sp>
      <p:sp>
        <p:nvSpPr>
          <p:cNvPr id="5" name="Footer Placeholder 4">
            <a:extLst>
              <a:ext uri="{FF2B5EF4-FFF2-40B4-BE49-F238E27FC236}">
                <a16:creationId xmlns:a16="http://schemas.microsoft.com/office/drawing/2014/main" id="{B3E777DA-AB52-A336-D5E8-51B911663D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A1584C-F816-FBF9-6C7B-F0F8A086D356}"/>
              </a:ext>
            </a:extLst>
          </p:cNvPr>
          <p:cNvSpPr>
            <a:spLocks noGrp="1"/>
          </p:cNvSpPr>
          <p:nvPr>
            <p:ph type="sldNum" sz="quarter" idx="12"/>
          </p:nvPr>
        </p:nvSpPr>
        <p:spPr/>
        <p:txBody>
          <a:bodyPr/>
          <a:lstStyle/>
          <a:p>
            <a:fld id="{54656CC6-372D-1E40-9458-FC3ADBA2C366}" type="slidenum">
              <a:rPr lang="en-US" smtClean="0"/>
              <a:t>‹#›</a:t>
            </a:fld>
            <a:endParaRPr lang="en-US"/>
          </a:p>
        </p:txBody>
      </p:sp>
    </p:spTree>
    <p:extLst>
      <p:ext uri="{BB962C8B-B14F-4D97-AF65-F5344CB8AC3E}">
        <p14:creationId xmlns:p14="http://schemas.microsoft.com/office/powerpoint/2010/main" val="31214108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1AD61-4A7B-E664-A1FD-F5140CD5AAA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46979CF-95EC-8C76-656E-F611ADBE894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0D12E2-66AE-26B8-801C-043785AF6FF6}"/>
              </a:ext>
            </a:extLst>
          </p:cNvPr>
          <p:cNvSpPr>
            <a:spLocks noGrp="1"/>
          </p:cNvSpPr>
          <p:nvPr>
            <p:ph type="dt" sz="half" idx="10"/>
          </p:nvPr>
        </p:nvSpPr>
        <p:spPr/>
        <p:txBody>
          <a:bodyPr/>
          <a:lstStyle/>
          <a:p>
            <a:fld id="{7F7F68A8-C1DF-6E40-AB4B-7974E6106046}" type="datetimeFigureOut">
              <a:rPr lang="en-US" smtClean="0"/>
              <a:t>1/26/26</a:t>
            </a:fld>
            <a:endParaRPr lang="en-US"/>
          </a:p>
        </p:txBody>
      </p:sp>
      <p:sp>
        <p:nvSpPr>
          <p:cNvPr id="5" name="Footer Placeholder 4">
            <a:extLst>
              <a:ext uri="{FF2B5EF4-FFF2-40B4-BE49-F238E27FC236}">
                <a16:creationId xmlns:a16="http://schemas.microsoft.com/office/drawing/2014/main" id="{7340CA20-11D5-ED7F-D981-DDC4AF1ACA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A6E8CC-1C90-9D4D-3CB8-440D11EAE0D6}"/>
              </a:ext>
            </a:extLst>
          </p:cNvPr>
          <p:cNvSpPr>
            <a:spLocks noGrp="1"/>
          </p:cNvSpPr>
          <p:nvPr>
            <p:ph type="sldNum" sz="quarter" idx="12"/>
          </p:nvPr>
        </p:nvSpPr>
        <p:spPr/>
        <p:txBody>
          <a:bodyPr/>
          <a:lstStyle/>
          <a:p>
            <a:fld id="{54656CC6-372D-1E40-9458-FC3ADBA2C366}" type="slidenum">
              <a:rPr lang="en-US" smtClean="0"/>
              <a:t>‹#›</a:t>
            </a:fld>
            <a:endParaRPr lang="en-US"/>
          </a:p>
        </p:txBody>
      </p:sp>
    </p:spTree>
    <p:extLst>
      <p:ext uri="{BB962C8B-B14F-4D97-AF65-F5344CB8AC3E}">
        <p14:creationId xmlns:p14="http://schemas.microsoft.com/office/powerpoint/2010/main" val="19253772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3BE5E-AAFD-CF2E-2979-CDA6979AF0E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7BAA47A-2261-D0C4-C90F-D75F80E4709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B65F5C5-D3F5-E1EF-24BD-D7E447F4B8F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B008771-5992-6E33-9EE7-8617F0D25585}"/>
              </a:ext>
            </a:extLst>
          </p:cNvPr>
          <p:cNvSpPr>
            <a:spLocks noGrp="1"/>
          </p:cNvSpPr>
          <p:nvPr>
            <p:ph type="dt" sz="half" idx="10"/>
          </p:nvPr>
        </p:nvSpPr>
        <p:spPr/>
        <p:txBody>
          <a:bodyPr/>
          <a:lstStyle/>
          <a:p>
            <a:fld id="{7F7F68A8-C1DF-6E40-AB4B-7974E6106046}" type="datetimeFigureOut">
              <a:rPr lang="en-US" smtClean="0"/>
              <a:t>1/26/26</a:t>
            </a:fld>
            <a:endParaRPr lang="en-US"/>
          </a:p>
        </p:txBody>
      </p:sp>
      <p:sp>
        <p:nvSpPr>
          <p:cNvPr id="6" name="Footer Placeholder 5">
            <a:extLst>
              <a:ext uri="{FF2B5EF4-FFF2-40B4-BE49-F238E27FC236}">
                <a16:creationId xmlns:a16="http://schemas.microsoft.com/office/drawing/2014/main" id="{D091FBE5-BBD0-1237-E6C2-30B16A3A89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6AE5C4-1F3D-0D2E-96FA-8BD170DFFE1E}"/>
              </a:ext>
            </a:extLst>
          </p:cNvPr>
          <p:cNvSpPr>
            <a:spLocks noGrp="1"/>
          </p:cNvSpPr>
          <p:nvPr>
            <p:ph type="sldNum" sz="quarter" idx="12"/>
          </p:nvPr>
        </p:nvSpPr>
        <p:spPr/>
        <p:txBody>
          <a:bodyPr/>
          <a:lstStyle/>
          <a:p>
            <a:fld id="{54656CC6-372D-1E40-9458-FC3ADBA2C366}" type="slidenum">
              <a:rPr lang="en-US" smtClean="0"/>
              <a:t>‹#›</a:t>
            </a:fld>
            <a:endParaRPr lang="en-US"/>
          </a:p>
        </p:txBody>
      </p:sp>
    </p:spTree>
    <p:extLst>
      <p:ext uri="{BB962C8B-B14F-4D97-AF65-F5344CB8AC3E}">
        <p14:creationId xmlns:p14="http://schemas.microsoft.com/office/powerpoint/2010/main" val="11597938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ABA34-C427-B43A-B804-98ECE187D6B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87D2B5D-4AD7-5DBE-6F9E-8773F566524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BC5D1F-7867-4F3B-D759-29A2D44576F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9689FD6-76DA-1614-BE6C-7D02262AFBA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BC87444-1C1D-01FA-C29B-6235BDF4C68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34847DA-8065-4956-4BE4-6AEC6749BA6B}"/>
              </a:ext>
            </a:extLst>
          </p:cNvPr>
          <p:cNvSpPr>
            <a:spLocks noGrp="1"/>
          </p:cNvSpPr>
          <p:nvPr>
            <p:ph type="dt" sz="half" idx="10"/>
          </p:nvPr>
        </p:nvSpPr>
        <p:spPr/>
        <p:txBody>
          <a:bodyPr/>
          <a:lstStyle/>
          <a:p>
            <a:fld id="{7F7F68A8-C1DF-6E40-AB4B-7974E6106046}" type="datetimeFigureOut">
              <a:rPr lang="en-US" smtClean="0"/>
              <a:t>1/26/26</a:t>
            </a:fld>
            <a:endParaRPr lang="en-US"/>
          </a:p>
        </p:txBody>
      </p:sp>
      <p:sp>
        <p:nvSpPr>
          <p:cNvPr id="8" name="Footer Placeholder 7">
            <a:extLst>
              <a:ext uri="{FF2B5EF4-FFF2-40B4-BE49-F238E27FC236}">
                <a16:creationId xmlns:a16="http://schemas.microsoft.com/office/drawing/2014/main" id="{26ED20A5-AA96-4E2E-D9FD-9C31808EB0D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7FCA9E0-774B-6F37-6C69-079799EC801E}"/>
              </a:ext>
            </a:extLst>
          </p:cNvPr>
          <p:cNvSpPr>
            <a:spLocks noGrp="1"/>
          </p:cNvSpPr>
          <p:nvPr>
            <p:ph type="sldNum" sz="quarter" idx="12"/>
          </p:nvPr>
        </p:nvSpPr>
        <p:spPr/>
        <p:txBody>
          <a:bodyPr/>
          <a:lstStyle/>
          <a:p>
            <a:fld id="{54656CC6-372D-1E40-9458-FC3ADBA2C366}" type="slidenum">
              <a:rPr lang="en-US" smtClean="0"/>
              <a:t>‹#›</a:t>
            </a:fld>
            <a:endParaRPr lang="en-US"/>
          </a:p>
        </p:txBody>
      </p:sp>
    </p:spTree>
    <p:extLst>
      <p:ext uri="{BB962C8B-B14F-4D97-AF65-F5344CB8AC3E}">
        <p14:creationId xmlns:p14="http://schemas.microsoft.com/office/powerpoint/2010/main" val="1713316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D6C0D-5F81-9FD8-326C-982206B78E1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1D3D3AB-AFD7-115A-E128-7C2E4D53A1F1}"/>
              </a:ext>
            </a:extLst>
          </p:cNvPr>
          <p:cNvSpPr>
            <a:spLocks noGrp="1"/>
          </p:cNvSpPr>
          <p:nvPr>
            <p:ph type="dt" sz="half" idx="10"/>
          </p:nvPr>
        </p:nvSpPr>
        <p:spPr/>
        <p:txBody>
          <a:bodyPr/>
          <a:lstStyle/>
          <a:p>
            <a:fld id="{7F7F68A8-C1DF-6E40-AB4B-7974E6106046}" type="datetimeFigureOut">
              <a:rPr lang="en-US" smtClean="0"/>
              <a:t>1/26/26</a:t>
            </a:fld>
            <a:endParaRPr lang="en-US"/>
          </a:p>
        </p:txBody>
      </p:sp>
      <p:sp>
        <p:nvSpPr>
          <p:cNvPr id="4" name="Footer Placeholder 3">
            <a:extLst>
              <a:ext uri="{FF2B5EF4-FFF2-40B4-BE49-F238E27FC236}">
                <a16:creationId xmlns:a16="http://schemas.microsoft.com/office/drawing/2014/main" id="{390A57C1-23A6-250A-18DE-D35F65A8FEA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C64849A-3F50-895C-8FB7-B19FF10CD0A6}"/>
              </a:ext>
            </a:extLst>
          </p:cNvPr>
          <p:cNvSpPr>
            <a:spLocks noGrp="1"/>
          </p:cNvSpPr>
          <p:nvPr>
            <p:ph type="sldNum" sz="quarter" idx="12"/>
          </p:nvPr>
        </p:nvSpPr>
        <p:spPr/>
        <p:txBody>
          <a:bodyPr/>
          <a:lstStyle/>
          <a:p>
            <a:fld id="{54656CC6-372D-1E40-9458-FC3ADBA2C366}" type="slidenum">
              <a:rPr lang="en-US" smtClean="0"/>
              <a:t>‹#›</a:t>
            </a:fld>
            <a:endParaRPr lang="en-US"/>
          </a:p>
        </p:txBody>
      </p:sp>
    </p:spTree>
    <p:extLst>
      <p:ext uri="{BB962C8B-B14F-4D97-AF65-F5344CB8AC3E}">
        <p14:creationId xmlns:p14="http://schemas.microsoft.com/office/powerpoint/2010/main" val="6668136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64E022-8A98-D46E-EC25-5933BCFAF67C}"/>
              </a:ext>
            </a:extLst>
          </p:cNvPr>
          <p:cNvSpPr>
            <a:spLocks noGrp="1"/>
          </p:cNvSpPr>
          <p:nvPr>
            <p:ph type="dt" sz="half" idx="10"/>
          </p:nvPr>
        </p:nvSpPr>
        <p:spPr/>
        <p:txBody>
          <a:bodyPr/>
          <a:lstStyle/>
          <a:p>
            <a:fld id="{7F7F68A8-C1DF-6E40-AB4B-7974E6106046}" type="datetimeFigureOut">
              <a:rPr lang="en-US" smtClean="0"/>
              <a:t>1/26/26</a:t>
            </a:fld>
            <a:endParaRPr lang="en-US"/>
          </a:p>
        </p:txBody>
      </p:sp>
      <p:sp>
        <p:nvSpPr>
          <p:cNvPr id="3" name="Footer Placeholder 2">
            <a:extLst>
              <a:ext uri="{FF2B5EF4-FFF2-40B4-BE49-F238E27FC236}">
                <a16:creationId xmlns:a16="http://schemas.microsoft.com/office/drawing/2014/main" id="{A804A869-C297-07F9-6946-A6CEC73EB1C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3030A39-4D97-AE85-A37B-7F70AF197C20}"/>
              </a:ext>
            </a:extLst>
          </p:cNvPr>
          <p:cNvSpPr>
            <a:spLocks noGrp="1"/>
          </p:cNvSpPr>
          <p:nvPr>
            <p:ph type="sldNum" sz="quarter" idx="12"/>
          </p:nvPr>
        </p:nvSpPr>
        <p:spPr/>
        <p:txBody>
          <a:bodyPr/>
          <a:lstStyle/>
          <a:p>
            <a:fld id="{54656CC6-372D-1E40-9458-FC3ADBA2C366}" type="slidenum">
              <a:rPr lang="en-US" smtClean="0"/>
              <a:t>‹#›</a:t>
            </a:fld>
            <a:endParaRPr lang="en-US"/>
          </a:p>
        </p:txBody>
      </p:sp>
    </p:spTree>
    <p:extLst>
      <p:ext uri="{BB962C8B-B14F-4D97-AF65-F5344CB8AC3E}">
        <p14:creationId xmlns:p14="http://schemas.microsoft.com/office/powerpoint/2010/main" val="34793253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506C7-AB50-74DD-BEF4-87B9C28E73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E8AF934-A246-8EC1-89BE-5F871621714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AAE9F71-83AA-3846-A6AC-E529FF4791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7336EE-183F-0718-3584-EC126D83579C}"/>
              </a:ext>
            </a:extLst>
          </p:cNvPr>
          <p:cNvSpPr>
            <a:spLocks noGrp="1"/>
          </p:cNvSpPr>
          <p:nvPr>
            <p:ph type="dt" sz="half" idx="10"/>
          </p:nvPr>
        </p:nvSpPr>
        <p:spPr/>
        <p:txBody>
          <a:bodyPr/>
          <a:lstStyle/>
          <a:p>
            <a:fld id="{7F7F68A8-C1DF-6E40-AB4B-7974E6106046}" type="datetimeFigureOut">
              <a:rPr lang="en-US" smtClean="0"/>
              <a:t>1/26/26</a:t>
            </a:fld>
            <a:endParaRPr lang="en-US"/>
          </a:p>
        </p:txBody>
      </p:sp>
      <p:sp>
        <p:nvSpPr>
          <p:cNvPr id="6" name="Footer Placeholder 5">
            <a:extLst>
              <a:ext uri="{FF2B5EF4-FFF2-40B4-BE49-F238E27FC236}">
                <a16:creationId xmlns:a16="http://schemas.microsoft.com/office/drawing/2014/main" id="{B908987D-38E7-8123-8A13-61FB5E6AA6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17B5F2-2B9C-F409-5A89-2DDDEC27F822}"/>
              </a:ext>
            </a:extLst>
          </p:cNvPr>
          <p:cNvSpPr>
            <a:spLocks noGrp="1"/>
          </p:cNvSpPr>
          <p:nvPr>
            <p:ph type="sldNum" sz="quarter" idx="12"/>
          </p:nvPr>
        </p:nvSpPr>
        <p:spPr/>
        <p:txBody>
          <a:bodyPr/>
          <a:lstStyle/>
          <a:p>
            <a:fld id="{54656CC6-372D-1E40-9458-FC3ADBA2C366}" type="slidenum">
              <a:rPr lang="en-US" smtClean="0"/>
              <a:t>‹#›</a:t>
            </a:fld>
            <a:endParaRPr lang="en-US"/>
          </a:p>
        </p:txBody>
      </p:sp>
    </p:spTree>
    <p:extLst>
      <p:ext uri="{BB962C8B-B14F-4D97-AF65-F5344CB8AC3E}">
        <p14:creationId xmlns:p14="http://schemas.microsoft.com/office/powerpoint/2010/main" val="22766856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9E003-BD2C-39FF-BBBE-7995FD8EEA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398A951-A108-782E-09F5-19CFC5EF774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F3E7593-379F-AC6F-8287-34CFAE21DF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1E757B-AEE9-F6AA-E8B1-B4813F1B2A49}"/>
              </a:ext>
            </a:extLst>
          </p:cNvPr>
          <p:cNvSpPr>
            <a:spLocks noGrp="1"/>
          </p:cNvSpPr>
          <p:nvPr>
            <p:ph type="dt" sz="half" idx="10"/>
          </p:nvPr>
        </p:nvSpPr>
        <p:spPr/>
        <p:txBody>
          <a:bodyPr/>
          <a:lstStyle/>
          <a:p>
            <a:fld id="{7F7F68A8-C1DF-6E40-AB4B-7974E6106046}" type="datetimeFigureOut">
              <a:rPr lang="en-US" smtClean="0"/>
              <a:t>1/26/26</a:t>
            </a:fld>
            <a:endParaRPr lang="en-US"/>
          </a:p>
        </p:txBody>
      </p:sp>
      <p:sp>
        <p:nvSpPr>
          <p:cNvPr id="6" name="Footer Placeholder 5">
            <a:extLst>
              <a:ext uri="{FF2B5EF4-FFF2-40B4-BE49-F238E27FC236}">
                <a16:creationId xmlns:a16="http://schemas.microsoft.com/office/drawing/2014/main" id="{C0417DD9-F141-96BC-1D3A-EB8514721F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FC37F1C-2E25-A6EA-476A-0A22D5FA5F7F}"/>
              </a:ext>
            </a:extLst>
          </p:cNvPr>
          <p:cNvSpPr>
            <a:spLocks noGrp="1"/>
          </p:cNvSpPr>
          <p:nvPr>
            <p:ph type="sldNum" sz="quarter" idx="12"/>
          </p:nvPr>
        </p:nvSpPr>
        <p:spPr/>
        <p:txBody>
          <a:bodyPr/>
          <a:lstStyle/>
          <a:p>
            <a:fld id="{54656CC6-372D-1E40-9458-FC3ADBA2C366}" type="slidenum">
              <a:rPr lang="en-US" smtClean="0"/>
              <a:t>‹#›</a:t>
            </a:fld>
            <a:endParaRPr lang="en-US"/>
          </a:p>
        </p:txBody>
      </p:sp>
    </p:spTree>
    <p:extLst>
      <p:ext uri="{BB962C8B-B14F-4D97-AF65-F5344CB8AC3E}">
        <p14:creationId xmlns:p14="http://schemas.microsoft.com/office/powerpoint/2010/main" val="6285726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59159-A134-6FCC-03EF-561E126F3BD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85B782C-4C61-A824-56BF-77B2B7BEC67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B73225-DF5B-D35C-7526-7218DA2B712F}"/>
              </a:ext>
            </a:extLst>
          </p:cNvPr>
          <p:cNvSpPr>
            <a:spLocks noGrp="1"/>
          </p:cNvSpPr>
          <p:nvPr>
            <p:ph type="dt" sz="half" idx="10"/>
          </p:nvPr>
        </p:nvSpPr>
        <p:spPr/>
        <p:txBody>
          <a:bodyPr/>
          <a:lstStyle/>
          <a:p>
            <a:fld id="{7F7F68A8-C1DF-6E40-AB4B-7974E6106046}" type="datetimeFigureOut">
              <a:rPr lang="en-US" smtClean="0"/>
              <a:t>1/26/26</a:t>
            </a:fld>
            <a:endParaRPr lang="en-US"/>
          </a:p>
        </p:txBody>
      </p:sp>
      <p:sp>
        <p:nvSpPr>
          <p:cNvPr id="5" name="Footer Placeholder 4">
            <a:extLst>
              <a:ext uri="{FF2B5EF4-FFF2-40B4-BE49-F238E27FC236}">
                <a16:creationId xmlns:a16="http://schemas.microsoft.com/office/drawing/2014/main" id="{57F29998-A9A4-9E33-CAB7-A8E15D952B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EBF3A8-6DDA-403B-CCC6-1E62200B5970}"/>
              </a:ext>
            </a:extLst>
          </p:cNvPr>
          <p:cNvSpPr>
            <a:spLocks noGrp="1"/>
          </p:cNvSpPr>
          <p:nvPr>
            <p:ph type="sldNum" sz="quarter" idx="12"/>
          </p:nvPr>
        </p:nvSpPr>
        <p:spPr/>
        <p:txBody>
          <a:bodyPr/>
          <a:lstStyle/>
          <a:p>
            <a:fld id="{54656CC6-372D-1E40-9458-FC3ADBA2C366}" type="slidenum">
              <a:rPr lang="en-US" smtClean="0"/>
              <a:t>‹#›</a:t>
            </a:fld>
            <a:endParaRPr lang="en-US"/>
          </a:p>
        </p:txBody>
      </p:sp>
    </p:spTree>
    <p:extLst>
      <p:ext uri="{BB962C8B-B14F-4D97-AF65-F5344CB8AC3E}">
        <p14:creationId xmlns:p14="http://schemas.microsoft.com/office/powerpoint/2010/main" val="8341292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D4346F5-DB55-6BD1-D812-C9A18FB2F55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C1CF2E3-81EA-3289-9571-8949EFBA3DC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F70CF6-2888-BE4F-8344-FC7969E9CBC5}"/>
              </a:ext>
            </a:extLst>
          </p:cNvPr>
          <p:cNvSpPr>
            <a:spLocks noGrp="1"/>
          </p:cNvSpPr>
          <p:nvPr>
            <p:ph type="dt" sz="half" idx="10"/>
          </p:nvPr>
        </p:nvSpPr>
        <p:spPr/>
        <p:txBody>
          <a:bodyPr/>
          <a:lstStyle/>
          <a:p>
            <a:fld id="{7F7F68A8-C1DF-6E40-AB4B-7974E6106046}" type="datetimeFigureOut">
              <a:rPr lang="en-US" smtClean="0"/>
              <a:t>1/26/26</a:t>
            </a:fld>
            <a:endParaRPr lang="en-US"/>
          </a:p>
        </p:txBody>
      </p:sp>
      <p:sp>
        <p:nvSpPr>
          <p:cNvPr id="5" name="Footer Placeholder 4">
            <a:extLst>
              <a:ext uri="{FF2B5EF4-FFF2-40B4-BE49-F238E27FC236}">
                <a16:creationId xmlns:a16="http://schemas.microsoft.com/office/drawing/2014/main" id="{88900BD9-20B8-1BFA-D222-7B6F59D8BF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CF1DF3-FC13-F18F-ACBC-0B384FDA89EA}"/>
              </a:ext>
            </a:extLst>
          </p:cNvPr>
          <p:cNvSpPr>
            <a:spLocks noGrp="1"/>
          </p:cNvSpPr>
          <p:nvPr>
            <p:ph type="sldNum" sz="quarter" idx="12"/>
          </p:nvPr>
        </p:nvSpPr>
        <p:spPr/>
        <p:txBody>
          <a:bodyPr/>
          <a:lstStyle/>
          <a:p>
            <a:fld id="{54656CC6-372D-1E40-9458-FC3ADBA2C366}" type="slidenum">
              <a:rPr lang="en-US" smtClean="0"/>
              <a:t>‹#›</a:t>
            </a:fld>
            <a:endParaRPr lang="en-US"/>
          </a:p>
        </p:txBody>
      </p:sp>
    </p:spTree>
    <p:extLst>
      <p:ext uri="{BB962C8B-B14F-4D97-AF65-F5344CB8AC3E}">
        <p14:creationId xmlns:p14="http://schemas.microsoft.com/office/powerpoint/2010/main" val="11218570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1000">
              <a:srgbClr val="00A8B0"/>
            </a:gs>
            <a:gs pos="39000">
              <a:srgbClr val="0089C3"/>
            </a:gs>
            <a:gs pos="70000">
              <a:srgbClr val="3D629B"/>
            </a:gs>
            <a:gs pos="99000">
              <a:srgbClr val="554283"/>
            </a:gs>
          </a:gsLst>
          <a:lin ang="0" scaled="0"/>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6443915-9969-4C84-BA55-A0BC533D0C6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DC52D9E-1693-AA0D-1BCA-82DE9E062D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A09605-41EE-9CE1-FA73-08BD40C7B4A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F7F68A8-C1DF-6E40-AB4B-7974E6106046}" type="datetimeFigureOut">
              <a:rPr lang="en-US" smtClean="0"/>
              <a:t>1/26/26</a:t>
            </a:fld>
            <a:endParaRPr lang="en-US"/>
          </a:p>
        </p:txBody>
      </p:sp>
      <p:sp>
        <p:nvSpPr>
          <p:cNvPr id="5" name="Footer Placeholder 4">
            <a:extLst>
              <a:ext uri="{FF2B5EF4-FFF2-40B4-BE49-F238E27FC236}">
                <a16:creationId xmlns:a16="http://schemas.microsoft.com/office/drawing/2014/main" id="{E5534A44-25C9-8616-8837-7F285B8C04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05651DF-6CC4-2D58-0B06-01A43865B3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4656CC6-372D-1E40-9458-FC3ADBA2C366}" type="slidenum">
              <a:rPr lang="en-US" smtClean="0"/>
              <a:t>‹#›</a:t>
            </a:fld>
            <a:endParaRPr lang="en-US"/>
          </a:p>
        </p:txBody>
      </p:sp>
    </p:spTree>
    <p:extLst>
      <p:ext uri="{BB962C8B-B14F-4D97-AF65-F5344CB8AC3E}">
        <p14:creationId xmlns:p14="http://schemas.microsoft.com/office/powerpoint/2010/main" val="34453401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196AF-BF83-848C-F8A5-5E92E640783A}"/>
              </a:ext>
            </a:extLst>
          </p:cNvPr>
          <p:cNvSpPr>
            <a:spLocks noGrp="1"/>
          </p:cNvSpPr>
          <p:nvPr>
            <p:ph type="ctrTitle" idx="4294967295"/>
          </p:nvPr>
        </p:nvSpPr>
        <p:spPr>
          <a:xfrm>
            <a:off x="0" y="1122363"/>
            <a:ext cx="9144000" cy="2387600"/>
          </a:xfrm>
        </p:spPr>
        <p:txBody>
          <a:bodyPr/>
          <a:lstStyle/>
          <a:p>
            <a:r>
              <a:rPr lang="en-US" dirty="0"/>
              <a:t> </a:t>
            </a:r>
          </a:p>
        </p:txBody>
      </p:sp>
      <p:sp>
        <p:nvSpPr>
          <p:cNvPr id="5" name="TextBox 4">
            <a:extLst>
              <a:ext uri="{FF2B5EF4-FFF2-40B4-BE49-F238E27FC236}">
                <a16:creationId xmlns:a16="http://schemas.microsoft.com/office/drawing/2014/main" id="{9CB183D5-43B5-F44A-2622-6ABA26FF13A7}"/>
              </a:ext>
            </a:extLst>
          </p:cNvPr>
          <p:cNvSpPr txBox="1"/>
          <p:nvPr/>
        </p:nvSpPr>
        <p:spPr>
          <a:xfrm>
            <a:off x="455468" y="4195971"/>
            <a:ext cx="8870867" cy="2031325"/>
          </a:xfrm>
          <a:prstGeom prst="rect">
            <a:avLst/>
          </a:prstGeom>
          <a:noFill/>
        </p:spPr>
        <p:txBody>
          <a:bodyPr wrap="square" lIns="0" tIns="0" rIns="0" bIns="0" rtlCol="0">
            <a:spAutoFit/>
          </a:bodyPr>
          <a:lstStyle/>
          <a:p>
            <a:r>
              <a:rPr lang="en-US" sz="6600" dirty="0">
                <a:solidFill>
                  <a:schemeClr val="bg1"/>
                </a:solidFill>
                <a:latin typeface="Avenir Medium" panose="02000503020000020003" pitchFamily="2" charset="0"/>
              </a:rPr>
              <a:t>MARKET </a:t>
            </a:r>
          </a:p>
          <a:p>
            <a:r>
              <a:rPr lang="en-US" sz="6600" dirty="0">
                <a:solidFill>
                  <a:schemeClr val="bg1"/>
                </a:solidFill>
                <a:latin typeface="Avenir Medium" panose="02000503020000020003" pitchFamily="2" charset="0"/>
              </a:rPr>
              <a:t>RESEARCH DECK</a:t>
            </a:r>
          </a:p>
        </p:txBody>
      </p:sp>
      <p:pic>
        <p:nvPicPr>
          <p:cNvPr id="3" name="Picture 2">
            <a:extLst>
              <a:ext uri="{FF2B5EF4-FFF2-40B4-BE49-F238E27FC236}">
                <a16:creationId xmlns:a16="http://schemas.microsoft.com/office/drawing/2014/main" id="{29A7482A-719C-C78C-F211-DF9C0DC9D646}"/>
              </a:ext>
            </a:extLst>
          </p:cNvPr>
          <p:cNvPicPr>
            <a:picLocks noChangeAspect="1"/>
          </p:cNvPicPr>
          <p:nvPr/>
        </p:nvPicPr>
        <p:blipFill>
          <a:blip r:embed="rId3"/>
          <a:srcRect/>
          <a:stretch/>
        </p:blipFill>
        <p:spPr>
          <a:xfrm>
            <a:off x="9953919" y="315444"/>
            <a:ext cx="1869097" cy="1477286"/>
          </a:xfrm>
          <a:prstGeom prst="rect">
            <a:avLst/>
          </a:prstGeom>
        </p:spPr>
      </p:pic>
    </p:spTree>
    <p:extLst>
      <p:ext uri="{BB962C8B-B14F-4D97-AF65-F5344CB8AC3E}">
        <p14:creationId xmlns:p14="http://schemas.microsoft.com/office/powerpoint/2010/main" val="35290261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90A63-CA89-2AE1-1EDE-F317C11DD537}"/>
            </a:ext>
          </a:extLst>
        </p:cNvPr>
        <p:cNvGrpSpPr/>
        <p:nvPr/>
      </p:nvGrpSpPr>
      <p:grpSpPr>
        <a:xfrm>
          <a:off x="0" y="0"/>
          <a:ext cx="0" cy="0"/>
          <a:chOff x="0" y="0"/>
          <a:chExt cx="0" cy="0"/>
        </a:xfrm>
      </p:grpSpPr>
      <p:sp>
        <p:nvSpPr>
          <p:cNvPr id="34" name="Rounded Rectangle 33">
            <a:extLst>
              <a:ext uri="{FF2B5EF4-FFF2-40B4-BE49-F238E27FC236}">
                <a16:creationId xmlns:a16="http://schemas.microsoft.com/office/drawing/2014/main" id="{84D637AB-25C9-4BDE-0752-1DB7F063DD2F}"/>
              </a:ext>
            </a:extLst>
          </p:cNvPr>
          <p:cNvSpPr/>
          <p:nvPr/>
        </p:nvSpPr>
        <p:spPr>
          <a:xfrm>
            <a:off x="9151352" y="3253154"/>
            <a:ext cx="2621548" cy="3155529"/>
          </a:xfrm>
          <a:prstGeom prst="roundRect">
            <a:avLst>
              <a:gd name="adj" fmla="val 2003"/>
            </a:avLst>
          </a:prstGeom>
          <a:gradFill flip="none" rotWithShape="1">
            <a:gsLst>
              <a:gs pos="16000">
                <a:srgbClr val="75C6D6">
                  <a:alpha val="80000"/>
                </a:srgbClr>
              </a:gs>
              <a:gs pos="0">
                <a:srgbClr val="95CFD6">
                  <a:alpha val="80000"/>
                </a:srgbClr>
              </a:gs>
              <a:gs pos="39000">
                <a:srgbClr val="75B8D4">
                  <a:alpha val="80000"/>
                </a:srgbClr>
              </a:gs>
              <a:gs pos="70000">
                <a:srgbClr val="8CA3BA">
                  <a:alpha val="80000"/>
                </a:srgbClr>
              </a:gs>
              <a:gs pos="99000">
                <a:srgbClr val="9F9CBD">
                  <a:alpha val="80000"/>
                </a:srgbClr>
              </a:gs>
            </a:gsLst>
            <a:lin ang="5400000" scaled="1"/>
            <a:tileRect/>
          </a:gradFill>
          <a:ln w="12700">
            <a:solidFill>
              <a:schemeClr val="bg1">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14C5FE52-76BB-0EC8-F08A-03F5441B8C2A}"/>
              </a:ext>
            </a:extLst>
          </p:cNvPr>
          <p:cNvSpPr txBox="1"/>
          <p:nvPr/>
        </p:nvSpPr>
        <p:spPr>
          <a:xfrm>
            <a:off x="9359314" y="5502307"/>
            <a:ext cx="2135128" cy="615553"/>
          </a:xfrm>
          <a:prstGeom prst="rect">
            <a:avLst/>
          </a:prstGeom>
          <a:noFill/>
        </p:spPr>
        <p:txBody>
          <a:bodyPr wrap="square" lIns="0" tIns="0" rIns="0" bIns="0" rtlCol="0">
            <a:spAutoFit/>
          </a:bodyPr>
          <a:lstStyle/>
          <a:p>
            <a:r>
              <a:rPr lang="en-US" sz="2000" dirty="0">
                <a:solidFill>
                  <a:schemeClr val="bg1"/>
                </a:solidFill>
                <a:latin typeface="Avenir Medium" panose="02000503020000020003" pitchFamily="2" charset="0"/>
              </a:rPr>
              <a:t>Design</a:t>
            </a:r>
          </a:p>
          <a:p>
            <a:r>
              <a:rPr lang="en-US" sz="2000" dirty="0">
                <a:solidFill>
                  <a:schemeClr val="bg1"/>
                </a:solidFill>
                <a:latin typeface="Avenir Medium" panose="02000503020000020003" pitchFamily="2" charset="0"/>
              </a:rPr>
              <a:t>Theory</a:t>
            </a:r>
          </a:p>
        </p:txBody>
      </p:sp>
      <p:sp>
        <p:nvSpPr>
          <p:cNvPr id="36" name="TextBox 35">
            <a:extLst>
              <a:ext uri="{FF2B5EF4-FFF2-40B4-BE49-F238E27FC236}">
                <a16:creationId xmlns:a16="http://schemas.microsoft.com/office/drawing/2014/main" id="{41B5DFC7-56AB-6967-3A3F-A3009C01E3E1}"/>
              </a:ext>
            </a:extLst>
          </p:cNvPr>
          <p:cNvSpPr txBox="1"/>
          <p:nvPr/>
        </p:nvSpPr>
        <p:spPr>
          <a:xfrm>
            <a:off x="9359314" y="3506520"/>
            <a:ext cx="582654" cy="307777"/>
          </a:xfrm>
          <a:prstGeom prst="rect">
            <a:avLst/>
          </a:prstGeom>
          <a:noFill/>
        </p:spPr>
        <p:txBody>
          <a:bodyPr wrap="square" lIns="0" tIns="0" rIns="0" bIns="0" rtlCol="0">
            <a:spAutoFit/>
          </a:bodyPr>
          <a:lstStyle/>
          <a:p>
            <a:r>
              <a:rPr lang="en-US" sz="2000" dirty="0">
                <a:solidFill>
                  <a:schemeClr val="bg1"/>
                </a:solidFill>
                <a:latin typeface="Avenir Medium" panose="02000503020000020003" pitchFamily="2" charset="0"/>
              </a:rPr>
              <a:t>04</a:t>
            </a:r>
          </a:p>
        </p:txBody>
      </p:sp>
      <p:cxnSp>
        <p:nvCxnSpPr>
          <p:cNvPr id="37" name="Straight Connector 36">
            <a:extLst>
              <a:ext uri="{FF2B5EF4-FFF2-40B4-BE49-F238E27FC236}">
                <a16:creationId xmlns:a16="http://schemas.microsoft.com/office/drawing/2014/main" id="{12BFA55B-6067-6705-E53E-EC9B84F6EA7E}"/>
              </a:ext>
            </a:extLst>
          </p:cNvPr>
          <p:cNvCxnSpPr>
            <a:cxnSpLocks/>
          </p:cNvCxnSpPr>
          <p:nvPr/>
        </p:nvCxnSpPr>
        <p:spPr>
          <a:xfrm>
            <a:off x="9359314" y="5245925"/>
            <a:ext cx="2154138" cy="0"/>
          </a:xfrm>
          <a:prstGeom prst="line">
            <a:avLst/>
          </a:prstGeom>
          <a:ln>
            <a:solidFill>
              <a:schemeClr val="bg1"/>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28" name="Rounded Rectangle 27">
            <a:extLst>
              <a:ext uri="{FF2B5EF4-FFF2-40B4-BE49-F238E27FC236}">
                <a16:creationId xmlns:a16="http://schemas.microsoft.com/office/drawing/2014/main" id="{CEB1F145-4008-00E2-1E53-4E6EA647750B}"/>
              </a:ext>
            </a:extLst>
          </p:cNvPr>
          <p:cNvSpPr/>
          <p:nvPr/>
        </p:nvSpPr>
        <p:spPr>
          <a:xfrm>
            <a:off x="6239583" y="3253154"/>
            <a:ext cx="2621548" cy="3155529"/>
          </a:xfrm>
          <a:prstGeom prst="roundRect">
            <a:avLst>
              <a:gd name="adj" fmla="val 2003"/>
            </a:avLst>
          </a:prstGeom>
          <a:gradFill flip="none" rotWithShape="1">
            <a:gsLst>
              <a:gs pos="16000">
                <a:srgbClr val="75C6D6">
                  <a:alpha val="80000"/>
                </a:srgbClr>
              </a:gs>
              <a:gs pos="0">
                <a:srgbClr val="95CFD6">
                  <a:alpha val="80000"/>
                </a:srgbClr>
              </a:gs>
              <a:gs pos="39000">
                <a:srgbClr val="75B8D4">
                  <a:alpha val="80000"/>
                </a:srgbClr>
              </a:gs>
              <a:gs pos="70000">
                <a:srgbClr val="8CA3BA">
                  <a:alpha val="80000"/>
                </a:srgbClr>
              </a:gs>
              <a:gs pos="99000">
                <a:srgbClr val="9F9CBD">
                  <a:alpha val="80000"/>
                </a:srgbClr>
              </a:gs>
            </a:gsLst>
            <a:lin ang="5400000" scaled="1"/>
            <a:tileRect/>
          </a:gradFill>
          <a:ln w="12700">
            <a:solidFill>
              <a:schemeClr val="bg1">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DE9BA695-6937-315D-BB9F-7FF4BC471415}"/>
              </a:ext>
            </a:extLst>
          </p:cNvPr>
          <p:cNvSpPr txBox="1"/>
          <p:nvPr/>
        </p:nvSpPr>
        <p:spPr>
          <a:xfrm>
            <a:off x="6447545" y="5502307"/>
            <a:ext cx="2135128" cy="615553"/>
          </a:xfrm>
          <a:prstGeom prst="rect">
            <a:avLst/>
          </a:prstGeom>
          <a:noFill/>
        </p:spPr>
        <p:txBody>
          <a:bodyPr wrap="square" lIns="0" tIns="0" rIns="0" bIns="0" rtlCol="0">
            <a:spAutoFit/>
          </a:bodyPr>
          <a:lstStyle/>
          <a:p>
            <a:r>
              <a:rPr lang="en-US" sz="2000" dirty="0">
                <a:solidFill>
                  <a:schemeClr val="bg1"/>
                </a:solidFill>
                <a:latin typeface="Avenir Medium" panose="02000503020000020003" pitchFamily="2" charset="0"/>
              </a:rPr>
              <a:t>Large-Scale</a:t>
            </a:r>
          </a:p>
          <a:p>
            <a:r>
              <a:rPr lang="en-US" sz="2000" dirty="0">
                <a:solidFill>
                  <a:schemeClr val="bg1"/>
                </a:solidFill>
                <a:latin typeface="Avenir Medium" panose="02000503020000020003" pitchFamily="2" charset="0"/>
              </a:rPr>
              <a:t>Production</a:t>
            </a:r>
          </a:p>
        </p:txBody>
      </p:sp>
      <p:sp>
        <p:nvSpPr>
          <p:cNvPr id="32" name="TextBox 31">
            <a:extLst>
              <a:ext uri="{FF2B5EF4-FFF2-40B4-BE49-F238E27FC236}">
                <a16:creationId xmlns:a16="http://schemas.microsoft.com/office/drawing/2014/main" id="{DBA6F5C4-8577-CE03-E5E1-74104B9F338A}"/>
              </a:ext>
            </a:extLst>
          </p:cNvPr>
          <p:cNvSpPr txBox="1"/>
          <p:nvPr/>
        </p:nvSpPr>
        <p:spPr>
          <a:xfrm>
            <a:off x="6447545" y="3506520"/>
            <a:ext cx="582654" cy="307777"/>
          </a:xfrm>
          <a:prstGeom prst="rect">
            <a:avLst/>
          </a:prstGeom>
          <a:noFill/>
        </p:spPr>
        <p:txBody>
          <a:bodyPr wrap="square" lIns="0" tIns="0" rIns="0" bIns="0" rtlCol="0">
            <a:spAutoFit/>
          </a:bodyPr>
          <a:lstStyle/>
          <a:p>
            <a:r>
              <a:rPr lang="en-US" sz="2000" dirty="0">
                <a:solidFill>
                  <a:schemeClr val="bg1"/>
                </a:solidFill>
                <a:latin typeface="Avenir Medium" panose="02000503020000020003" pitchFamily="2" charset="0"/>
              </a:rPr>
              <a:t>03</a:t>
            </a:r>
          </a:p>
        </p:txBody>
      </p:sp>
      <p:cxnSp>
        <p:nvCxnSpPr>
          <p:cNvPr id="33" name="Straight Connector 32">
            <a:extLst>
              <a:ext uri="{FF2B5EF4-FFF2-40B4-BE49-F238E27FC236}">
                <a16:creationId xmlns:a16="http://schemas.microsoft.com/office/drawing/2014/main" id="{DC790836-76E7-6DEC-1C0B-D9BE0BE06269}"/>
              </a:ext>
            </a:extLst>
          </p:cNvPr>
          <p:cNvCxnSpPr>
            <a:cxnSpLocks/>
          </p:cNvCxnSpPr>
          <p:nvPr/>
        </p:nvCxnSpPr>
        <p:spPr>
          <a:xfrm>
            <a:off x="6447545" y="5245925"/>
            <a:ext cx="2154138" cy="0"/>
          </a:xfrm>
          <a:prstGeom prst="line">
            <a:avLst/>
          </a:prstGeom>
          <a:ln>
            <a:solidFill>
              <a:schemeClr val="bg1"/>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23" name="Rounded Rectangle 22">
            <a:extLst>
              <a:ext uri="{FF2B5EF4-FFF2-40B4-BE49-F238E27FC236}">
                <a16:creationId xmlns:a16="http://schemas.microsoft.com/office/drawing/2014/main" id="{FE6A7D2D-7A66-9591-A5EC-E0AF76CA805E}"/>
              </a:ext>
            </a:extLst>
          </p:cNvPr>
          <p:cNvSpPr/>
          <p:nvPr/>
        </p:nvSpPr>
        <p:spPr>
          <a:xfrm>
            <a:off x="3330870" y="3253154"/>
            <a:ext cx="2621548" cy="3155529"/>
          </a:xfrm>
          <a:prstGeom prst="roundRect">
            <a:avLst>
              <a:gd name="adj" fmla="val 2003"/>
            </a:avLst>
          </a:prstGeom>
          <a:gradFill flip="none" rotWithShape="1">
            <a:gsLst>
              <a:gs pos="16000">
                <a:srgbClr val="75C6D6">
                  <a:alpha val="80000"/>
                </a:srgbClr>
              </a:gs>
              <a:gs pos="0">
                <a:srgbClr val="95CFD6">
                  <a:alpha val="80000"/>
                </a:srgbClr>
              </a:gs>
              <a:gs pos="39000">
                <a:srgbClr val="75B8D4">
                  <a:alpha val="80000"/>
                </a:srgbClr>
              </a:gs>
              <a:gs pos="70000">
                <a:srgbClr val="8CA3BA">
                  <a:alpha val="80000"/>
                </a:srgbClr>
              </a:gs>
              <a:gs pos="99000">
                <a:srgbClr val="9F9CBD">
                  <a:alpha val="80000"/>
                </a:srgbClr>
              </a:gs>
            </a:gsLst>
            <a:lin ang="5400000" scaled="1"/>
            <a:tileRect/>
          </a:gradFill>
          <a:ln w="12700">
            <a:solidFill>
              <a:schemeClr val="bg1">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5CDE4572-F60D-AEA6-6794-6D134C477A36}"/>
              </a:ext>
            </a:extLst>
          </p:cNvPr>
          <p:cNvSpPr txBox="1"/>
          <p:nvPr/>
        </p:nvSpPr>
        <p:spPr>
          <a:xfrm>
            <a:off x="3538832" y="5502307"/>
            <a:ext cx="2135128" cy="615553"/>
          </a:xfrm>
          <a:prstGeom prst="rect">
            <a:avLst/>
          </a:prstGeom>
          <a:noFill/>
        </p:spPr>
        <p:txBody>
          <a:bodyPr wrap="square" lIns="0" tIns="0" rIns="0" bIns="0" rtlCol="0">
            <a:spAutoFit/>
          </a:bodyPr>
          <a:lstStyle/>
          <a:p>
            <a:r>
              <a:rPr lang="en-US" sz="2000" dirty="0">
                <a:solidFill>
                  <a:schemeClr val="bg1"/>
                </a:solidFill>
                <a:latin typeface="Avenir Medium" panose="02000503020000020003" pitchFamily="2" charset="0"/>
              </a:rPr>
              <a:t>Product</a:t>
            </a:r>
          </a:p>
          <a:p>
            <a:r>
              <a:rPr lang="en-US" sz="2000" dirty="0">
                <a:solidFill>
                  <a:schemeClr val="bg1"/>
                </a:solidFill>
                <a:latin typeface="Avenir Medium" panose="02000503020000020003" pitchFamily="2" charset="0"/>
              </a:rPr>
              <a:t>Development</a:t>
            </a:r>
          </a:p>
        </p:txBody>
      </p:sp>
      <p:sp>
        <p:nvSpPr>
          <p:cNvPr id="25" name="TextBox 24">
            <a:extLst>
              <a:ext uri="{FF2B5EF4-FFF2-40B4-BE49-F238E27FC236}">
                <a16:creationId xmlns:a16="http://schemas.microsoft.com/office/drawing/2014/main" id="{8E45B8E7-E824-CEBC-4E27-F98157C5DBA9}"/>
              </a:ext>
            </a:extLst>
          </p:cNvPr>
          <p:cNvSpPr txBox="1"/>
          <p:nvPr/>
        </p:nvSpPr>
        <p:spPr>
          <a:xfrm>
            <a:off x="3538832" y="3506520"/>
            <a:ext cx="582654" cy="307777"/>
          </a:xfrm>
          <a:prstGeom prst="rect">
            <a:avLst/>
          </a:prstGeom>
          <a:noFill/>
        </p:spPr>
        <p:txBody>
          <a:bodyPr wrap="square" lIns="0" tIns="0" rIns="0" bIns="0" rtlCol="0">
            <a:spAutoFit/>
          </a:bodyPr>
          <a:lstStyle/>
          <a:p>
            <a:r>
              <a:rPr lang="en-US" sz="2000" dirty="0">
                <a:solidFill>
                  <a:schemeClr val="bg1"/>
                </a:solidFill>
                <a:latin typeface="Avenir Medium" panose="02000503020000020003" pitchFamily="2" charset="0"/>
              </a:rPr>
              <a:t>02</a:t>
            </a:r>
          </a:p>
        </p:txBody>
      </p:sp>
      <p:cxnSp>
        <p:nvCxnSpPr>
          <p:cNvPr id="27" name="Straight Connector 26">
            <a:extLst>
              <a:ext uri="{FF2B5EF4-FFF2-40B4-BE49-F238E27FC236}">
                <a16:creationId xmlns:a16="http://schemas.microsoft.com/office/drawing/2014/main" id="{0E327A52-812E-3A27-8D19-248B4B352376}"/>
              </a:ext>
            </a:extLst>
          </p:cNvPr>
          <p:cNvCxnSpPr>
            <a:cxnSpLocks/>
          </p:cNvCxnSpPr>
          <p:nvPr/>
        </p:nvCxnSpPr>
        <p:spPr>
          <a:xfrm>
            <a:off x="3538832" y="5245925"/>
            <a:ext cx="2154138" cy="0"/>
          </a:xfrm>
          <a:prstGeom prst="line">
            <a:avLst/>
          </a:prstGeom>
          <a:ln>
            <a:solidFill>
              <a:schemeClr val="bg1"/>
            </a:solidFill>
            <a:headEnd type="none" w="med" len="med"/>
            <a:tailEnd type="none" w="med" len="med"/>
          </a:ln>
        </p:spPr>
        <p:style>
          <a:lnRef idx="1">
            <a:schemeClr val="dk1"/>
          </a:lnRef>
          <a:fillRef idx="0">
            <a:schemeClr val="dk1"/>
          </a:fillRef>
          <a:effectRef idx="0">
            <a:schemeClr val="dk1"/>
          </a:effectRef>
          <a:fontRef idx="minor">
            <a:schemeClr val="tx1"/>
          </a:fontRef>
        </p:style>
      </p:cxnSp>
      <p:pic>
        <p:nvPicPr>
          <p:cNvPr id="5" name="Picture 4">
            <a:extLst>
              <a:ext uri="{FF2B5EF4-FFF2-40B4-BE49-F238E27FC236}">
                <a16:creationId xmlns:a16="http://schemas.microsoft.com/office/drawing/2014/main" id="{74760CF7-AF2E-1F09-5025-BEEA6A8E928B}"/>
              </a:ext>
            </a:extLst>
          </p:cNvPr>
          <p:cNvPicPr>
            <a:picLocks noChangeAspect="1"/>
          </p:cNvPicPr>
          <p:nvPr/>
        </p:nvPicPr>
        <p:blipFill>
          <a:blip r:embed="rId3"/>
          <a:srcRect/>
          <a:stretch/>
        </p:blipFill>
        <p:spPr>
          <a:xfrm>
            <a:off x="11484209" y="316699"/>
            <a:ext cx="295894" cy="233756"/>
          </a:xfrm>
          <a:prstGeom prst="rect">
            <a:avLst/>
          </a:prstGeom>
        </p:spPr>
      </p:pic>
      <p:sp>
        <p:nvSpPr>
          <p:cNvPr id="3" name="Rounded Rectangle 2">
            <a:extLst>
              <a:ext uri="{FF2B5EF4-FFF2-40B4-BE49-F238E27FC236}">
                <a16:creationId xmlns:a16="http://schemas.microsoft.com/office/drawing/2014/main" id="{5C7A6E1B-70A7-2EA6-B07D-67B07A2D42FF}"/>
              </a:ext>
            </a:extLst>
          </p:cNvPr>
          <p:cNvSpPr/>
          <p:nvPr/>
        </p:nvSpPr>
        <p:spPr>
          <a:xfrm>
            <a:off x="401638" y="3253154"/>
            <a:ext cx="2621548" cy="3155529"/>
          </a:xfrm>
          <a:prstGeom prst="roundRect">
            <a:avLst>
              <a:gd name="adj" fmla="val 2003"/>
            </a:avLst>
          </a:prstGeom>
          <a:gradFill flip="none" rotWithShape="1">
            <a:gsLst>
              <a:gs pos="16000">
                <a:srgbClr val="75C6D6">
                  <a:alpha val="80000"/>
                </a:srgbClr>
              </a:gs>
              <a:gs pos="0">
                <a:srgbClr val="95CFD6">
                  <a:alpha val="80000"/>
                </a:srgbClr>
              </a:gs>
              <a:gs pos="39000">
                <a:srgbClr val="75B8D4">
                  <a:alpha val="80000"/>
                </a:srgbClr>
              </a:gs>
              <a:gs pos="70000">
                <a:srgbClr val="8CA3BA">
                  <a:alpha val="80000"/>
                </a:srgbClr>
              </a:gs>
              <a:gs pos="99000">
                <a:srgbClr val="9F9CBD">
                  <a:alpha val="80000"/>
                </a:srgbClr>
              </a:gs>
            </a:gsLst>
            <a:lin ang="5400000" scaled="1"/>
            <a:tileRect/>
          </a:gradFill>
          <a:ln w="12700">
            <a:solidFill>
              <a:schemeClr val="bg1">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BE22B624-3DF6-0869-A182-9425AC1FDDAC}"/>
              </a:ext>
            </a:extLst>
          </p:cNvPr>
          <p:cNvSpPr txBox="1"/>
          <p:nvPr/>
        </p:nvSpPr>
        <p:spPr>
          <a:xfrm>
            <a:off x="401638" y="928677"/>
            <a:ext cx="5529262" cy="1319464"/>
          </a:xfrm>
          <a:prstGeom prst="rect">
            <a:avLst/>
          </a:prstGeom>
          <a:noFill/>
        </p:spPr>
        <p:txBody>
          <a:bodyPr wrap="square" lIns="0" tIns="0" rIns="0" bIns="0" rtlCol="0">
            <a:spAutoFit/>
          </a:bodyPr>
          <a:lstStyle/>
          <a:p>
            <a:pPr>
              <a:lnSpc>
                <a:spcPct val="120000"/>
              </a:lnSpc>
            </a:pPr>
            <a:r>
              <a:rPr lang="en-US" sz="1200" dirty="0">
                <a:solidFill>
                  <a:schemeClr val="bg1"/>
                </a:solidFill>
                <a:latin typeface="Avenir Book" panose="02000503020000020003" pitchFamily="2" charset="0"/>
              </a:rPr>
              <a:t>Research fuels innovation by revealing new opportunities for differentiation, whether through materials, interaction models, sustainability strategies, or service extension. Continuous insight generation helps teams anticipate change, evaluate competitive signals, and validate new directions before scaling. Ultimately, research-driven growth empowers organizations to design with clarity and build meaningful solutions.</a:t>
            </a:r>
          </a:p>
        </p:txBody>
      </p:sp>
      <p:sp>
        <p:nvSpPr>
          <p:cNvPr id="11" name="TextBox 10">
            <a:extLst>
              <a:ext uri="{FF2B5EF4-FFF2-40B4-BE49-F238E27FC236}">
                <a16:creationId xmlns:a16="http://schemas.microsoft.com/office/drawing/2014/main" id="{A917BBCF-F996-7E64-01FE-E6C57D02D0DA}"/>
              </a:ext>
            </a:extLst>
          </p:cNvPr>
          <p:cNvSpPr txBox="1"/>
          <p:nvPr/>
        </p:nvSpPr>
        <p:spPr>
          <a:xfrm>
            <a:off x="401638" y="316699"/>
            <a:ext cx="4743427" cy="307777"/>
          </a:xfrm>
          <a:prstGeom prst="rect">
            <a:avLst/>
          </a:prstGeom>
          <a:noFill/>
        </p:spPr>
        <p:txBody>
          <a:bodyPr wrap="square" lIns="0" tIns="0" rIns="0" bIns="0" rtlCol="0">
            <a:spAutoFit/>
          </a:bodyPr>
          <a:lstStyle/>
          <a:p>
            <a:r>
              <a:rPr lang="en-US" sz="2000" dirty="0">
                <a:solidFill>
                  <a:schemeClr val="bg1"/>
                </a:solidFill>
                <a:latin typeface="Avenir Medium" panose="02000503020000020003" pitchFamily="2" charset="0"/>
              </a:rPr>
              <a:t>RESEARCH GOALS</a:t>
            </a:r>
          </a:p>
        </p:txBody>
      </p:sp>
      <p:sp>
        <p:nvSpPr>
          <p:cNvPr id="13" name="TextBox 12">
            <a:extLst>
              <a:ext uri="{FF2B5EF4-FFF2-40B4-BE49-F238E27FC236}">
                <a16:creationId xmlns:a16="http://schemas.microsoft.com/office/drawing/2014/main" id="{790D4E65-052D-47D0-4BFE-5E45B3AEA9E4}"/>
              </a:ext>
            </a:extLst>
          </p:cNvPr>
          <p:cNvSpPr txBox="1"/>
          <p:nvPr/>
        </p:nvSpPr>
        <p:spPr>
          <a:xfrm>
            <a:off x="609600" y="5502307"/>
            <a:ext cx="2135128" cy="615553"/>
          </a:xfrm>
          <a:prstGeom prst="rect">
            <a:avLst/>
          </a:prstGeom>
          <a:noFill/>
        </p:spPr>
        <p:txBody>
          <a:bodyPr wrap="square" lIns="0" tIns="0" rIns="0" bIns="0" rtlCol="0">
            <a:spAutoFit/>
          </a:bodyPr>
          <a:lstStyle/>
          <a:p>
            <a:r>
              <a:rPr lang="en-US" sz="2000" dirty="0">
                <a:solidFill>
                  <a:schemeClr val="bg1"/>
                </a:solidFill>
                <a:latin typeface="Avenir Medium" panose="02000503020000020003" pitchFamily="2" charset="0"/>
              </a:rPr>
              <a:t>Consumer</a:t>
            </a:r>
          </a:p>
          <a:p>
            <a:r>
              <a:rPr lang="en-US" sz="2000" dirty="0">
                <a:solidFill>
                  <a:schemeClr val="bg1"/>
                </a:solidFill>
                <a:latin typeface="Avenir Medium" panose="02000503020000020003" pitchFamily="2" charset="0"/>
              </a:rPr>
              <a:t>Insights</a:t>
            </a:r>
          </a:p>
        </p:txBody>
      </p:sp>
      <p:sp>
        <p:nvSpPr>
          <p:cNvPr id="14" name="TextBox 13">
            <a:extLst>
              <a:ext uri="{FF2B5EF4-FFF2-40B4-BE49-F238E27FC236}">
                <a16:creationId xmlns:a16="http://schemas.microsoft.com/office/drawing/2014/main" id="{6A311DF8-00B3-517D-CD3E-9FC8242C8B2A}"/>
              </a:ext>
            </a:extLst>
          </p:cNvPr>
          <p:cNvSpPr txBox="1"/>
          <p:nvPr/>
        </p:nvSpPr>
        <p:spPr>
          <a:xfrm>
            <a:off x="609600" y="3506520"/>
            <a:ext cx="582654" cy="307777"/>
          </a:xfrm>
          <a:prstGeom prst="rect">
            <a:avLst/>
          </a:prstGeom>
          <a:noFill/>
        </p:spPr>
        <p:txBody>
          <a:bodyPr wrap="square" lIns="0" tIns="0" rIns="0" bIns="0" rtlCol="0">
            <a:spAutoFit/>
          </a:bodyPr>
          <a:lstStyle/>
          <a:p>
            <a:r>
              <a:rPr lang="en-US" sz="2000" dirty="0">
                <a:solidFill>
                  <a:schemeClr val="bg1"/>
                </a:solidFill>
                <a:latin typeface="Avenir Medium" panose="02000503020000020003" pitchFamily="2" charset="0"/>
              </a:rPr>
              <a:t>01</a:t>
            </a:r>
          </a:p>
        </p:txBody>
      </p:sp>
      <p:cxnSp>
        <p:nvCxnSpPr>
          <p:cNvPr id="15" name="Straight Connector 14">
            <a:extLst>
              <a:ext uri="{FF2B5EF4-FFF2-40B4-BE49-F238E27FC236}">
                <a16:creationId xmlns:a16="http://schemas.microsoft.com/office/drawing/2014/main" id="{66F08C09-5601-4AD2-13D3-91FB0B70BFC4}"/>
              </a:ext>
            </a:extLst>
          </p:cNvPr>
          <p:cNvCxnSpPr>
            <a:cxnSpLocks/>
          </p:cNvCxnSpPr>
          <p:nvPr/>
        </p:nvCxnSpPr>
        <p:spPr>
          <a:xfrm>
            <a:off x="609600" y="5245925"/>
            <a:ext cx="2154138" cy="0"/>
          </a:xfrm>
          <a:prstGeom prst="line">
            <a:avLst/>
          </a:prstGeom>
          <a:ln>
            <a:solidFill>
              <a:schemeClr val="bg1"/>
            </a:solidFill>
            <a:headEnd type="none" w="med" len="med"/>
            <a:tailEnd type="none" w="med" len="med"/>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7510280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A15BD-3097-CB9D-DE06-20840C1BB8D6}"/>
            </a:ext>
          </a:extLst>
        </p:cNvPr>
        <p:cNvGrpSpPr/>
        <p:nvPr/>
      </p:nvGrpSpPr>
      <p:grpSpPr>
        <a:xfrm>
          <a:off x="0" y="0"/>
          <a:ext cx="0" cy="0"/>
          <a:chOff x="0" y="0"/>
          <a:chExt cx="0" cy="0"/>
        </a:xfrm>
      </p:grpSpPr>
      <p:sp>
        <p:nvSpPr>
          <p:cNvPr id="5" name="Rounded Rectangle 4">
            <a:extLst>
              <a:ext uri="{FF2B5EF4-FFF2-40B4-BE49-F238E27FC236}">
                <a16:creationId xmlns:a16="http://schemas.microsoft.com/office/drawing/2014/main" id="{908D1B02-D184-8219-549B-3F0AE0741942}"/>
              </a:ext>
            </a:extLst>
          </p:cNvPr>
          <p:cNvSpPr/>
          <p:nvPr/>
        </p:nvSpPr>
        <p:spPr>
          <a:xfrm>
            <a:off x="6163044" y="993536"/>
            <a:ext cx="5612524" cy="5415147"/>
          </a:xfrm>
          <a:prstGeom prst="roundRect">
            <a:avLst>
              <a:gd name="adj" fmla="val 2003"/>
            </a:avLst>
          </a:prstGeom>
          <a:gradFill flip="none" rotWithShape="1">
            <a:gsLst>
              <a:gs pos="16000">
                <a:srgbClr val="75C6D6">
                  <a:alpha val="80000"/>
                </a:srgbClr>
              </a:gs>
              <a:gs pos="0">
                <a:srgbClr val="95CFD6">
                  <a:alpha val="80000"/>
                </a:srgbClr>
              </a:gs>
              <a:gs pos="39000">
                <a:srgbClr val="75B8D4">
                  <a:alpha val="80000"/>
                </a:srgbClr>
              </a:gs>
              <a:gs pos="70000">
                <a:srgbClr val="8CA3BA">
                  <a:alpha val="80000"/>
                </a:srgbClr>
              </a:gs>
              <a:gs pos="99000">
                <a:srgbClr val="9F9CBD">
                  <a:alpha val="80000"/>
                </a:srgbClr>
              </a:gs>
            </a:gsLst>
            <a:lin ang="5400000" scaled="1"/>
            <a:tileRect/>
          </a:gradFill>
          <a:ln w="12700">
            <a:solidFill>
              <a:schemeClr val="bg1">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00A31501-54D7-AAF8-C22D-479CAC89D956}"/>
              </a:ext>
            </a:extLst>
          </p:cNvPr>
          <p:cNvSpPr txBox="1"/>
          <p:nvPr/>
        </p:nvSpPr>
        <p:spPr>
          <a:xfrm>
            <a:off x="6597592" y="4012719"/>
            <a:ext cx="4743428" cy="1319464"/>
          </a:xfrm>
          <a:prstGeom prst="rect">
            <a:avLst/>
          </a:prstGeom>
          <a:noFill/>
        </p:spPr>
        <p:txBody>
          <a:bodyPr wrap="square" lIns="0" tIns="0" rIns="0" bIns="0" rtlCol="0">
            <a:spAutoFit/>
          </a:bodyPr>
          <a:lstStyle/>
          <a:p>
            <a:pPr>
              <a:lnSpc>
                <a:spcPct val="120000"/>
              </a:lnSpc>
            </a:pPr>
            <a:r>
              <a:rPr lang="en-US" sz="1200" dirty="0">
                <a:solidFill>
                  <a:schemeClr val="bg1"/>
                </a:solidFill>
                <a:latin typeface="Avenir Book" panose="02000503020000020003" pitchFamily="2" charset="0"/>
              </a:rPr>
              <a:t>The competitive landscape continues to evolve as brands increasingly prioritize differentiated design to capture attention and build loyalty. Established players leverage scale, legacy and robust distribution networks, while emerging competitors disrupt through agility, digital fluency and fresh cultural relevance. Maturity in design has shifted from aesthetics to integrated experiences.</a:t>
            </a:r>
          </a:p>
        </p:txBody>
      </p:sp>
      <p:cxnSp>
        <p:nvCxnSpPr>
          <p:cNvPr id="17" name="Straight Connector 16">
            <a:extLst>
              <a:ext uri="{FF2B5EF4-FFF2-40B4-BE49-F238E27FC236}">
                <a16:creationId xmlns:a16="http://schemas.microsoft.com/office/drawing/2014/main" id="{D8E04B97-C2ED-42C8-438C-6DE8D199E0BE}"/>
              </a:ext>
            </a:extLst>
          </p:cNvPr>
          <p:cNvCxnSpPr>
            <a:cxnSpLocks/>
          </p:cNvCxnSpPr>
          <p:nvPr/>
        </p:nvCxnSpPr>
        <p:spPr>
          <a:xfrm>
            <a:off x="6597592" y="2841865"/>
            <a:ext cx="4743428" cy="0"/>
          </a:xfrm>
          <a:prstGeom prst="line">
            <a:avLst/>
          </a:prstGeom>
          <a:ln>
            <a:solidFill>
              <a:schemeClr val="bg1"/>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7E8934AA-8DD3-88F6-2C98-50806F046067}"/>
              </a:ext>
            </a:extLst>
          </p:cNvPr>
          <p:cNvSpPr txBox="1"/>
          <p:nvPr/>
        </p:nvSpPr>
        <p:spPr>
          <a:xfrm>
            <a:off x="6597593" y="3119387"/>
            <a:ext cx="4743427" cy="615553"/>
          </a:xfrm>
          <a:prstGeom prst="rect">
            <a:avLst/>
          </a:prstGeom>
          <a:noFill/>
        </p:spPr>
        <p:txBody>
          <a:bodyPr wrap="square" lIns="0" tIns="0" rIns="0" bIns="0" rtlCol="0">
            <a:spAutoFit/>
          </a:bodyPr>
          <a:lstStyle/>
          <a:p>
            <a:r>
              <a:rPr lang="en-US" sz="2000" dirty="0">
                <a:solidFill>
                  <a:schemeClr val="bg1"/>
                </a:solidFill>
                <a:latin typeface="Avenir Medium" panose="02000503020000020003" pitchFamily="2" charset="0"/>
              </a:rPr>
              <a:t>COMPETITIVE LANDSCAPE</a:t>
            </a:r>
          </a:p>
          <a:p>
            <a:r>
              <a:rPr lang="en-US" sz="2000" dirty="0">
                <a:solidFill>
                  <a:schemeClr val="bg1"/>
                </a:solidFill>
                <a:latin typeface="Avenir Medium" panose="02000503020000020003" pitchFamily="2" charset="0"/>
              </a:rPr>
              <a:t>&amp; OPPORTUNITIES</a:t>
            </a:r>
          </a:p>
        </p:txBody>
      </p:sp>
      <p:sp>
        <p:nvSpPr>
          <p:cNvPr id="25" name="TextBox 24">
            <a:extLst>
              <a:ext uri="{FF2B5EF4-FFF2-40B4-BE49-F238E27FC236}">
                <a16:creationId xmlns:a16="http://schemas.microsoft.com/office/drawing/2014/main" id="{9961E866-A968-F6DB-5E96-B9229C9E305A}"/>
              </a:ext>
            </a:extLst>
          </p:cNvPr>
          <p:cNvSpPr txBox="1"/>
          <p:nvPr/>
        </p:nvSpPr>
        <p:spPr>
          <a:xfrm>
            <a:off x="2047721" y="1400572"/>
            <a:ext cx="1668892" cy="654666"/>
          </a:xfrm>
          <a:prstGeom prst="rect">
            <a:avLst/>
          </a:prstGeom>
        </p:spPr>
        <p:txBody>
          <a:bodyPr wrap="square" lIns="0" tIns="0" rIns="0" bIns="0" rtlCol="0">
            <a:spAutoFit/>
          </a:bodyPr>
          <a:lstStyle/>
          <a:p>
            <a:pPr algn="ctr">
              <a:lnSpc>
                <a:spcPct val="120000"/>
              </a:lnSpc>
            </a:pPr>
            <a:r>
              <a:rPr lang="en-US" sz="1200" dirty="0">
                <a:solidFill>
                  <a:schemeClr val="bg1"/>
                </a:solidFill>
                <a:latin typeface="Avenir Book" panose="02000503020000020003" pitchFamily="2" charset="0"/>
              </a:rPr>
              <a:t>Form represents the visual and physical expression of a design.</a:t>
            </a:r>
          </a:p>
        </p:txBody>
      </p:sp>
      <p:sp>
        <p:nvSpPr>
          <p:cNvPr id="26" name="TextBox 25">
            <a:extLst>
              <a:ext uri="{FF2B5EF4-FFF2-40B4-BE49-F238E27FC236}">
                <a16:creationId xmlns:a16="http://schemas.microsoft.com/office/drawing/2014/main" id="{BB094139-E5B6-24FD-B9AC-6CF49986BF65}"/>
              </a:ext>
            </a:extLst>
          </p:cNvPr>
          <p:cNvSpPr txBox="1"/>
          <p:nvPr/>
        </p:nvSpPr>
        <p:spPr>
          <a:xfrm>
            <a:off x="3716613" y="3541681"/>
            <a:ext cx="1621714" cy="876266"/>
          </a:xfrm>
          <a:prstGeom prst="rect">
            <a:avLst/>
          </a:prstGeom>
        </p:spPr>
        <p:txBody>
          <a:bodyPr wrap="square" lIns="0" tIns="0" rIns="0" bIns="0" rtlCol="0">
            <a:spAutoFit/>
          </a:bodyPr>
          <a:lstStyle/>
          <a:p>
            <a:pPr>
              <a:lnSpc>
                <a:spcPct val="120000"/>
              </a:lnSpc>
            </a:pPr>
            <a:r>
              <a:rPr lang="en-US" sz="1200" dirty="0">
                <a:solidFill>
                  <a:schemeClr val="bg1"/>
                </a:solidFill>
                <a:latin typeface="Avenir Book" panose="02000503020000020003" pitchFamily="2" charset="0"/>
              </a:rPr>
              <a:t>Meaning gives design narrative and cultural relevance with symbolism and values.</a:t>
            </a:r>
          </a:p>
        </p:txBody>
      </p:sp>
      <p:sp>
        <p:nvSpPr>
          <p:cNvPr id="27" name="TextBox 26">
            <a:extLst>
              <a:ext uri="{FF2B5EF4-FFF2-40B4-BE49-F238E27FC236}">
                <a16:creationId xmlns:a16="http://schemas.microsoft.com/office/drawing/2014/main" id="{E9C5D6ED-9943-9E88-8D6B-14CC4E2797A0}"/>
              </a:ext>
            </a:extLst>
          </p:cNvPr>
          <p:cNvSpPr txBox="1"/>
          <p:nvPr/>
        </p:nvSpPr>
        <p:spPr>
          <a:xfrm>
            <a:off x="787074" y="3541681"/>
            <a:ext cx="1512675" cy="876266"/>
          </a:xfrm>
          <a:prstGeom prst="rect">
            <a:avLst/>
          </a:prstGeom>
        </p:spPr>
        <p:txBody>
          <a:bodyPr wrap="square" lIns="0" tIns="0" rIns="0" bIns="0" rtlCol="0">
            <a:spAutoFit/>
          </a:bodyPr>
          <a:lstStyle/>
          <a:p>
            <a:pPr>
              <a:lnSpc>
                <a:spcPct val="120000"/>
              </a:lnSpc>
            </a:pPr>
            <a:r>
              <a:rPr lang="en-US" sz="1200" dirty="0">
                <a:solidFill>
                  <a:schemeClr val="bg1"/>
                </a:solidFill>
                <a:latin typeface="Avenir Book" panose="02000503020000020003" pitchFamily="2" charset="0"/>
              </a:rPr>
              <a:t>Function defines how a design works and what purpose it serves (use-case).</a:t>
            </a:r>
          </a:p>
        </p:txBody>
      </p:sp>
      <p:sp>
        <p:nvSpPr>
          <p:cNvPr id="30" name="TextBox 29">
            <a:extLst>
              <a:ext uri="{FF2B5EF4-FFF2-40B4-BE49-F238E27FC236}">
                <a16:creationId xmlns:a16="http://schemas.microsoft.com/office/drawing/2014/main" id="{B3930615-A870-77DF-4473-EFE3BA2CDC4A}"/>
              </a:ext>
            </a:extLst>
          </p:cNvPr>
          <p:cNvSpPr txBox="1"/>
          <p:nvPr/>
        </p:nvSpPr>
        <p:spPr>
          <a:xfrm>
            <a:off x="401638" y="5987763"/>
            <a:ext cx="3756476" cy="353366"/>
          </a:xfrm>
          <a:prstGeom prst="rect">
            <a:avLst/>
          </a:prstGeom>
          <a:noFill/>
        </p:spPr>
        <p:txBody>
          <a:bodyPr wrap="square" lIns="0" tIns="0" rIns="0" bIns="0" rtlCol="0">
            <a:spAutoFit/>
          </a:bodyPr>
          <a:lstStyle/>
          <a:p>
            <a:pPr>
              <a:lnSpc>
                <a:spcPct val="150000"/>
              </a:lnSpc>
            </a:pPr>
            <a:r>
              <a:rPr lang="en-US" sz="800" dirty="0">
                <a:solidFill>
                  <a:schemeClr val="bg1"/>
                </a:solidFill>
                <a:latin typeface="Avenir Book" panose="02000503020000020003" pitchFamily="2" charset="0"/>
              </a:rPr>
              <a:t>* It is imperative that proposition, innovation, sustainability and storytelling remain distinct within a crowded market for the practices to evolve and grow long-term.</a:t>
            </a:r>
          </a:p>
        </p:txBody>
      </p:sp>
      <p:sp>
        <p:nvSpPr>
          <p:cNvPr id="10" name="Oval 9">
            <a:extLst>
              <a:ext uri="{FF2B5EF4-FFF2-40B4-BE49-F238E27FC236}">
                <a16:creationId xmlns:a16="http://schemas.microsoft.com/office/drawing/2014/main" id="{CC4726CB-FECD-8444-31DC-FD7C81D288C1}"/>
              </a:ext>
            </a:extLst>
          </p:cNvPr>
          <p:cNvSpPr/>
          <p:nvPr/>
        </p:nvSpPr>
        <p:spPr>
          <a:xfrm>
            <a:off x="1507618" y="358357"/>
            <a:ext cx="2985550" cy="2985550"/>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C214C03D-935E-6F08-2FD6-E5C8D3A6913C}"/>
              </a:ext>
            </a:extLst>
          </p:cNvPr>
          <p:cNvSpPr/>
          <p:nvPr/>
        </p:nvSpPr>
        <p:spPr>
          <a:xfrm>
            <a:off x="2678286" y="2471878"/>
            <a:ext cx="2985550" cy="2985550"/>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5E02449A-C4EF-6A46-6375-B87B57453FAD}"/>
              </a:ext>
            </a:extLst>
          </p:cNvPr>
          <p:cNvSpPr/>
          <p:nvPr/>
        </p:nvSpPr>
        <p:spPr>
          <a:xfrm>
            <a:off x="336950" y="2487039"/>
            <a:ext cx="2985550" cy="2985550"/>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3" name="Picture 32">
            <a:extLst>
              <a:ext uri="{FF2B5EF4-FFF2-40B4-BE49-F238E27FC236}">
                <a16:creationId xmlns:a16="http://schemas.microsoft.com/office/drawing/2014/main" id="{26594759-4B12-1A7A-B474-C19ECD64362F}"/>
              </a:ext>
            </a:extLst>
          </p:cNvPr>
          <p:cNvPicPr>
            <a:picLocks noChangeAspect="1"/>
          </p:cNvPicPr>
          <p:nvPr/>
        </p:nvPicPr>
        <p:blipFill>
          <a:blip r:embed="rId3"/>
          <a:srcRect/>
          <a:stretch/>
        </p:blipFill>
        <p:spPr>
          <a:xfrm>
            <a:off x="11484209" y="316699"/>
            <a:ext cx="295894" cy="233756"/>
          </a:xfrm>
          <a:prstGeom prst="rect">
            <a:avLst/>
          </a:prstGeom>
        </p:spPr>
      </p:pic>
    </p:spTree>
    <p:extLst>
      <p:ext uri="{BB962C8B-B14F-4D97-AF65-F5344CB8AC3E}">
        <p14:creationId xmlns:p14="http://schemas.microsoft.com/office/powerpoint/2010/main" val="21216092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1000">
              <a:srgbClr val="00A8B0"/>
            </a:gs>
            <a:gs pos="39000">
              <a:srgbClr val="0089C3"/>
            </a:gs>
            <a:gs pos="70000">
              <a:srgbClr val="3D629B"/>
            </a:gs>
            <a:gs pos="99000">
              <a:srgbClr val="554283"/>
            </a:gs>
          </a:gsLst>
          <a:lin ang="0" scaled="0"/>
        </a:gradFill>
        <a:effectLst/>
      </p:bgPr>
    </p:bg>
    <p:spTree>
      <p:nvGrpSpPr>
        <p:cNvPr id="1" name="">
          <a:extLst>
            <a:ext uri="{FF2B5EF4-FFF2-40B4-BE49-F238E27FC236}">
              <a16:creationId xmlns:a16="http://schemas.microsoft.com/office/drawing/2014/main" id="{F766F16E-CD65-05D3-6073-547EDAF7C29E}"/>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D9622BF1-F250-54C7-5EEB-FE3D0C29E81A}"/>
              </a:ext>
            </a:extLst>
          </p:cNvPr>
          <p:cNvSpPr/>
          <p:nvPr/>
        </p:nvSpPr>
        <p:spPr>
          <a:xfrm>
            <a:off x="401638" y="647702"/>
            <a:ext cx="11373930" cy="5760982"/>
          </a:xfrm>
          <a:prstGeom prst="roundRect">
            <a:avLst>
              <a:gd name="adj" fmla="val 2003"/>
            </a:avLst>
          </a:prstGeom>
          <a:gradFill flip="none" rotWithShape="1">
            <a:gsLst>
              <a:gs pos="16000">
                <a:srgbClr val="75C6D6">
                  <a:alpha val="80000"/>
                </a:srgbClr>
              </a:gs>
              <a:gs pos="0">
                <a:srgbClr val="95CFD6">
                  <a:alpha val="80000"/>
                </a:srgbClr>
              </a:gs>
              <a:gs pos="39000">
                <a:srgbClr val="75B8D4">
                  <a:alpha val="80000"/>
                </a:srgbClr>
              </a:gs>
              <a:gs pos="70000">
                <a:srgbClr val="8CA3BA">
                  <a:alpha val="80000"/>
                </a:srgbClr>
              </a:gs>
              <a:gs pos="99000">
                <a:srgbClr val="9F9CBD">
                  <a:alpha val="80000"/>
                </a:srgbClr>
              </a:gs>
            </a:gsLst>
            <a:lin ang="5400000" scaled="1"/>
            <a:tileRect/>
          </a:gradFill>
          <a:ln w="12700">
            <a:solidFill>
              <a:schemeClr val="bg1">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5DA9DC88-179B-D854-B1B2-E1B4D7DF23CE}"/>
              </a:ext>
            </a:extLst>
          </p:cNvPr>
          <p:cNvPicPr>
            <a:picLocks noChangeAspect="1"/>
          </p:cNvPicPr>
          <p:nvPr/>
        </p:nvPicPr>
        <p:blipFill>
          <a:blip r:embed="rId3"/>
          <a:srcRect/>
          <a:stretch/>
        </p:blipFill>
        <p:spPr>
          <a:xfrm>
            <a:off x="776363" y="4585441"/>
            <a:ext cx="1869097" cy="1477286"/>
          </a:xfrm>
          <a:prstGeom prst="rect">
            <a:avLst/>
          </a:prstGeom>
        </p:spPr>
      </p:pic>
      <p:pic>
        <p:nvPicPr>
          <p:cNvPr id="8" name="Picture 7">
            <a:extLst>
              <a:ext uri="{FF2B5EF4-FFF2-40B4-BE49-F238E27FC236}">
                <a16:creationId xmlns:a16="http://schemas.microsoft.com/office/drawing/2014/main" id="{995A985A-C30D-432A-C558-A200838F3C3E}"/>
              </a:ext>
            </a:extLst>
          </p:cNvPr>
          <p:cNvPicPr>
            <a:picLocks noChangeAspect="1"/>
          </p:cNvPicPr>
          <p:nvPr/>
        </p:nvPicPr>
        <p:blipFill>
          <a:blip r:embed="rId4"/>
          <a:srcRect/>
          <a:stretch/>
        </p:blipFill>
        <p:spPr>
          <a:xfrm>
            <a:off x="11484209" y="316699"/>
            <a:ext cx="295894" cy="233756"/>
          </a:xfrm>
          <a:prstGeom prst="rect">
            <a:avLst/>
          </a:prstGeom>
        </p:spPr>
      </p:pic>
      <p:sp>
        <p:nvSpPr>
          <p:cNvPr id="3" name="TextBox 2">
            <a:extLst>
              <a:ext uri="{FF2B5EF4-FFF2-40B4-BE49-F238E27FC236}">
                <a16:creationId xmlns:a16="http://schemas.microsoft.com/office/drawing/2014/main" id="{F161A2E4-3A77-1725-4C05-A7D8D1564ED9}"/>
              </a:ext>
            </a:extLst>
          </p:cNvPr>
          <p:cNvSpPr txBox="1"/>
          <p:nvPr/>
        </p:nvSpPr>
        <p:spPr>
          <a:xfrm>
            <a:off x="949692" y="1209096"/>
            <a:ext cx="4743427" cy="615553"/>
          </a:xfrm>
          <a:prstGeom prst="rect">
            <a:avLst/>
          </a:prstGeom>
          <a:noFill/>
        </p:spPr>
        <p:txBody>
          <a:bodyPr wrap="square" lIns="0" tIns="0" rIns="0" bIns="0" rtlCol="0">
            <a:spAutoFit/>
          </a:bodyPr>
          <a:lstStyle/>
          <a:p>
            <a:r>
              <a:rPr lang="en-US" sz="2000" dirty="0">
                <a:solidFill>
                  <a:schemeClr val="bg1"/>
                </a:solidFill>
                <a:latin typeface="Avenir Medium" panose="02000503020000020003" pitchFamily="2" charset="0"/>
              </a:rPr>
              <a:t>THE METHODOLOGY</a:t>
            </a:r>
          </a:p>
          <a:p>
            <a:r>
              <a:rPr lang="en-US" sz="2000" dirty="0">
                <a:solidFill>
                  <a:schemeClr val="bg1"/>
                </a:solidFill>
                <a:latin typeface="Avenir Medium" panose="02000503020000020003" pitchFamily="2" charset="0"/>
              </a:rPr>
              <a:t>&amp; FRAMEWORK</a:t>
            </a:r>
          </a:p>
        </p:txBody>
      </p:sp>
      <p:sp>
        <p:nvSpPr>
          <p:cNvPr id="6" name="TextBox 5">
            <a:extLst>
              <a:ext uri="{FF2B5EF4-FFF2-40B4-BE49-F238E27FC236}">
                <a16:creationId xmlns:a16="http://schemas.microsoft.com/office/drawing/2014/main" id="{56BC0002-F403-AA83-CE42-DD15C0166D64}"/>
              </a:ext>
            </a:extLst>
          </p:cNvPr>
          <p:cNvSpPr txBox="1"/>
          <p:nvPr/>
        </p:nvSpPr>
        <p:spPr>
          <a:xfrm>
            <a:off x="6597592" y="1209096"/>
            <a:ext cx="4743428" cy="1541063"/>
          </a:xfrm>
          <a:prstGeom prst="rect">
            <a:avLst/>
          </a:prstGeom>
          <a:noFill/>
        </p:spPr>
        <p:txBody>
          <a:bodyPr wrap="square" lIns="0" tIns="0" rIns="0" bIns="0" rtlCol="0">
            <a:spAutoFit/>
          </a:bodyPr>
          <a:lstStyle/>
          <a:p>
            <a:pPr>
              <a:lnSpc>
                <a:spcPct val="120000"/>
              </a:lnSpc>
            </a:pPr>
            <a:r>
              <a:rPr lang="en-US" sz="1200" dirty="0">
                <a:solidFill>
                  <a:schemeClr val="bg1"/>
                </a:solidFill>
                <a:latin typeface="Avenir Book" panose="02000503020000020003" pitchFamily="2" charset="0"/>
              </a:rPr>
              <a:t>Early massing studies, circulation diagrams, and program planning allow for the exploration of multiple configurations. Within that, we are able to test through sketches, physical models and digital simulations to understand spatial hierarchy and performance. Detailing evolves to resolve clarity, material performance, long-term durability and all the lessons gained to move forward.</a:t>
            </a:r>
          </a:p>
          <a:p>
            <a:pPr>
              <a:lnSpc>
                <a:spcPct val="120000"/>
              </a:lnSpc>
            </a:pPr>
            <a:endParaRPr lang="en-US" sz="1200" dirty="0">
              <a:solidFill>
                <a:schemeClr val="bg1"/>
              </a:solidFill>
              <a:latin typeface="Avenir Book" panose="02000503020000020003" pitchFamily="2" charset="0"/>
            </a:endParaRPr>
          </a:p>
        </p:txBody>
      </p:sp>
      <p:cxnSp>
        <p:nvCxnSpPr>
          <p:cNvPr id="9" name="Straight Connector 8">
            <a:extLst>
              <a:ext uri="{FF2B5EF4-FFF2-40B4-BE49-F238E27FC236}">
                <a16:creationId xmlns:a16="http://schemas.microsoft.com/office/drawing/2014/main" id="{FE8B5E64-D34B-7481-96CE-24D67F0B5533}"/>
              </a:ext>
            </a:extLst>
          </p:cNvPr>
          <p:cNvCxnSpPr>
            <a:cxnSpLocks/>
          </p:cNvCxnSpPr>
          <p:nvPr/>
        </p:nvCxnSpPr>
        <p:spPr>
          <a:xfrm>
            <a:off x="6597592" y="5769645"/>
            <a:ext cx="4743428" cy="0"/>
          </a:xfrm>
          <a:prstGeom prst="line">
            <a:avLst/>
          </a:prstGeom>
          <a:ln>
            <a:solidFill>
              <a:schemeClr val="bg1"/>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99C849B4-4015-D4D4-86E8-53142D1A36DB}"/>
              </a:ext>
            </a:extLst>
          </p:cNvPr>
          <p:cNvSpPr txBox="1"/>
          <p:nvPr/>
        </p:nvSpPr>
        <p:spPr>
          <a:xfrm>
            <a:off x="6597591" y="5856932"/>
            <a:ext cx="4743428" cy="353366"/>
          </a:xfrm>
          <a:prstGeom prst="rect">
            <a:avLst/>
          </a:prstGeom>
          <a:noFill/>
        </p:spPr>
        <p:txBody>
          <a:bodyPr wrap="square" lIns="0" tIns="0" rIns="0" bIns="0" rtlCol="0">
            <a:spAutoFit/>
          </a:bodyPr>
          <a:lstStyle/>
          <a:p>
            <a:pPr>
              <a:lnSpc>
                <a:spcPct val="150000"/>
              </a:lnSpc>
            </a:pPr>
            <a:r>
              <a:rPr lang="en-US" sz="800" dirty="0">
                <a:solidFill>
                  <a:schemeClr val="bg1"/>
                </a:solidFill>
                <a:latin typeface="Avenir Book" panose="02000503020000020003" pitchFamily="2" charset="0"/>
              </a:rPr>
              <a:t>* Context-attuned design that can serve its community with relevance and integrity to strengthen the entire project ecosystem.</a:t>
            </a:r>
          </a:p>
        </p:txBody>
      </p:sp>
    </p:spTree>
    <p:extLst>
      <p:ext uri="{BB962C8B-B14F-4D97-AF65-F5344CB8AC3E}">
        <p14:creationId xmlns:p14="http://schemas.microsoft.com/office/powerpoint/2010/main" val="3329879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FAF05-FBF8-BCE1-FE90-0F8301926799}"/>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90614E08-CC8E-6631-A8E5-F9FF814A077D}"/>
              </a:ext>
            </a:extLst>
          </p:cNvPr>
          <p:cNvSpPr txBox="1"/>
          <p:nvPr/>
        </p:nvSpPr>
        <p:spPr>
          <a:xfrm>
            <a:off x="609600" y="4570156"/>
            <a:ext cx="3429000" cy="876266"/>
          </a:xfrm>
          <a:prstGeom prst="rect">
            <a:avLst/>
          </a:prstGeom>
          <a:noFill/>
        </p:spPr>
        <p:txBody>
          <a:bodyPr wrap="square" lIns="0" tIns="0" rIns="0" bIns="0" rtlCol="0">
            <a:spAutoFit/>
          </a:bodyPr>
          <a:lstStyle/>
          <a:p>
            <a:pPr>
              <a:lnSpc>
                <a:spcPct val="120000"/>
              </a:lnSpc>
            </a:pPr>
            <a:r>
              <a:rPr lang="en-US" sz="1200" dirty="0">
                <a:solidFill>
                  <a:schemeClr val="bg1"/>
                </a:solidFill>
                <a:latin typeface="Avenir Book" panose="02000503020000020003" pitchFamily="2" charset="0"/>
              </a:rPr>
              <a:t>When integrated into planning and forecasting, financial data creates a disciplined feedback loop that supports accountability, resilience, and long-term fiscal health.</a:t>
            </a:r>
          </a:p>
        </p:txBody>
      </p:sp>
      <p:sp>
        <p:nvSpPr>
          <p:cNvPr id="6" name="Donut 5">
            <a:extLst>
              <a:ext uri="{FF2B5EF4-FFF2-40B4-BE49-F238E27FC236}">
                <a16:creationId xmlns:a16="http://schemas.microsoft.com/office/drawing/2014/main" id="{31F1C799-C4DC-A271-EB3D-F8D13203E9B4}"/>
              </a:ext>
            </a:extLst>
          </p:cNvPr>
          <p:cNvSpPr/>
          <p:nvPr/>
        </p:nvSpPr>
        <p:spPr>
          <a:xfrm>
            <a:off x="837823" y="1411578"/>
            <a:ext cx="2764593" cy="2764593"/>
          </a:xfrm>
          <a:prstGeom prst="donut">
            <a:avLst>
              <a:gd name="adj" fmla="val 7655"/>
            </a:avLst>
          </a:prstGeom>
          <a:solidFill>
            <a:schemeClr val="bg1">
              <a:alpha val="2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TextBox 33">
            <a:extLst>
              <a:ext uri="{FF2B5EF4-FFF2-40B4-BE49-F238E27FC236}">
                <a16:creationId xmlns:a16="http://schemas.microsoft.com/office/drawing/2014/main" id="{A9310B42-87AB-4D9E-5E25-765951F68E7A}"/>
              </a:ext>
            </a:extLst>
          </p:cNvPr>
          <p:cNvSpPr txBox="1"/>
          <p:nvPr/>
        </p:nvSpPr>
        <p:spPr>
          <a:xfrm>
            <a:off x="1217278" y="2378377"/>
            <a:ext cx="2009200" cy="830997"/>
          </a:xfrm>
          <a:prstGeom prst="rect">
            <a:avLst/>
          </a:prstGeom>
          <a:noFill/>
        </p:spPr>
        <p:txBody>
          <a:bodyPr wrap="square" rtlCol="0">
            <a:spAutoFit/>
          </a:bodyPr>
          <a:lstStyle/>
          <a:p>
            <a:pPr algn="ctr"/>
            <a:r>
              <a:rPr lang="en-US" sz="4800" dirty="0">
                <a:solidFill>
                  <a:schemeClr val="bg1"/>
                </a:solidFill>
                <a:latin typeface="Avenir Book" panose="02000503020000020003" pitchFamily="2" charset="0"/>
              </a:rPr>
              <a:t>50%</a:t>
            </a:r>
          </a:p>
        </p:txBody>
      </p:sp>
      <p:sp>
        <p:nvSpPr>
          <p:cNvPr id="5" name="Block Arc 4">
            <a:extLst>
              <a:ext uri="{FF2B5EF4-FFF2-40B4-BE49-F238E27FC236}">
                <a16:creationId xmlns:a16="http://schemas.microsoft.com/office/drawing/2014/main" id="{29908C42-A4AC-A836-C267-C2DC50C5418B}"/>
              </a:ext>
            </a:extLst>
          </p:cNvPr>
          <p:cNvSpPr/>
          <p:nvPr/>
        </p:nvSpPr>
        <p:spPr>
          <a:xfrm>
            <a:off x="837822" y="1411577"/>
            <a:ext cx="2764594" cy="2764594"/>
          </a:xfrm>
          <a:prstGeom prst="blockArc">
            <a:avLst>
              <a:gd name="adj1" fmla="val 16203921"/>
              <a:gd name="adj2" fmla="val 5393001"/>
              <a:gd name="adj3" fmla="val 7628"/>
            </a:avLst>
          </a:prstGeom>
          <a:solidFill>
            <a:srgbClr val="75D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TextBox 6">
            <a:extLst>
              <a:ext uri="{FF2B5EF4-FFF2-40B4-BE49-F238E27FC236}">
                <a16:creationId xmlns:a16="http://schemas.microsoft.com/office/drawing/2014/main" id="{42CD451B-7CD7-3888-257A-B2F8BE73FD01}"/>
              </a:ext>
            </a:extLst>
          </p:cNvPr>
          <p:cNvSpPr txBox="1"/>
          <p:nvPr/>
        </p:nvSpPr>
        <p:spPr>
          <a:xfrm>
            <a:off x="401638" y="316699"/>
            <a:ext cx="11371262" cy="307777"/>
          </a:xfrm>
          <a:prstGeom prst="rect">
            <a:avLst/>
          </a:prstGeom>
          <a:noFill/>
        </p:spPr>
        <p:txBody>
          <a:bodyPr wrap="square" lIns="0" tIns="0" rIns="0" bIns="0" rtlCol="0">
            <a:spAutoFit/>
          </a:bodyPr>
          <a:lstStyle/>
          <a:p>
            <a:pPr algn="ctr"/>
            <a:r>
              <a:rPr lang="en-US" sz="2000" dirty="0">
                <a:solidFill>
                  <a:schemeClr val="bg1"/>
                </a:solidFill>
                <a:latin typeface="Avenir Medium" panose="02000503020000020003" pitchFamily="2" charset="0"/>
              </a:rPr>
              <a:t>DATA METRICS &amp; INSIGHTS</a:t>
            </a:r>
          </a:p>
        </p:txBody>
      </p:sp>
      <p:pic>
        <p:nvPicPr>
          <p:cNvPr id="4" name="Picture 3">
            <a:extLst>
              <a:ext uri="{FF2B5EF4-FFF2-40B4-BE49-F238E27FC236}">
                <a16:creationId xmlns:a16="http://schemas.microsoft.com/office/drawing/2014/main" id="{7F6BD0FF-4857-F2B4-9C46-92A0B7BDE32C}"/>
              </a:ext>
            </a:extLst>
          </p:cNvPr>
          <p:cNvPicPr>
            <a:picLocks noChangeAspect="1"/>
          </p:cNvPicPr>
          <p:nvPr/>
        </p:nvPicPr>
        <p:blipFill>
          <a:blip r:embed="rId3"/>
          <a:srcRect/>
          <a:stretch/>
        </p:blipFill>
        <p:spPr>
          <a:xfrm>
            <a:off x="11484209" y="316699"/>
            <a:ext cx="295894" cy="233756"/>
          </a:xfrm>
          <a:prstGeom prst="rect">
            <a:avLst/>
          </a:prstGeom>
        </p:spPr>
      </p:pic>
      <p:sp>
        <p:nvSpPr>
          <p:cNvPr id="10" name="TextBox 9">
            <a:extLst>
              <a:ext uri="{FF2B5EF4-FFF2-40B4-BE49-F238E27FC236}">
                <a16:creationId xmlns:a16="http://schemas.microsoft.com/office/drawing/2014/main" id="{4663D101-884C-DC70-68B2-A3D39EC77E4B}"/>
              </a:ext>
            </a:extLst>
          </p:cNvPr>
          <p:cNvSpPr txBox="1"/>
          <p:nvPr/>
        </p:nvSpPr>
        <p:spPr>
          <a:xfrm>
            <a:off x="401638" y="6212022"/>
            <a:ext cx="4922836" cy="168701"/>
          </a:xfrm>
          <a:prstGeom prst="rect">
            <a:avLst/>
          </a:prstGeom>
          <a:noFill/>
        </p:spPr>
        <p:txBody>
          <a:bodyPr wrap="square" lIns="0" tIns="0" rIns="0" bIns="0" rtlCol="0">
            <a:spAutoFit/>
          </a:bodyPr>
          <a:lstStyle/>
          <a:p>
            <a:pPr>
              <a:lnSpc>
                <a:spcPct val="150000"/>
              </a:lnSpc>
            </a:pPr>
            <a:r>
              <a:rPr lang="en-US" sz="800" dirty="0">
                <a:solidFill>
                  <a:schemeClr val="bg1"/>
                </a:solidFill>
                <a:latin typeface="Avenir Book" panose="02000503020000020003" pitchFamily="2" charset="0"/>
              </a:rPr>
              <a:t>* Based on 60% of a larger sample size grouping (January – April Forecasting)</a:t>
            </a:r>
          </a:p>
        </p:txBody>
      </p:sp>
      <p:sp>
        <p:nvSpPr>
          <p:cNvPr id="12" name="TextBox 11">
            <a:extLst>
              <a:ext uri="{FF2B5EF4-FFF2-40B4-BE49-F238E27FC236}">
                <a16:creationId xmlns:a16="http://schemas.microsoft.com/office/drawing/2014/main" id="{A5FCFC9C-9FE8-4BEE-5772-19D27E882F49}"/>
              </a:ext>
            </a:extLst>
          </p:cNvPr>
          <p:cNvSpPr txBox="1"/>
          <p:nvPr/>
        </p:nvSpPr>
        <p:spPr>
          <a:xfrm>
            <a:off x="8239660" y="4559405"/>
            <a:ext cx="3429002" cy="876266"/>
          </a:xfrm>
          <a:prstGeom prst="rect">
            <a:avLst/>
          </a:prstGeom>
          <a:noFill/>
        </p:spPr>
        <p:txBody>
          <a:bodyPr wrap="square" lIns="0" tIns="0" rIns="0" bIns="0" rtlCol="0">
            <a:spAutoFit/>
          </a:bodyPr>
          <a:lstStyle/>
          <a:p>
            <a:pPr>
              <a:lnSpc>
                <a:spcPct val="120000"/>
              </a:lnSpc>
            </a:pPr>
            <a:r>
              <a:rPr lang="en-US" sz="1200" dirty="0">
                <a:solidFill>
                  <a:schemeClr val="bg1"/>
                </a:solidFill>
                <a:latin typeface="Avenir Book" panose="02000503020000020003" pitchFamily="2" charset="0"/>
              </a:rPr>
              <a:t>Identifying risk, tracking spending efficiency, </a:t>
            </a:r>
            <a:br>
              <a:rPr lang="en-US" sz="1200" dirty="0">
                <a:solidFill>
                  <a:schemeClr val="bg1"/>
                </a:solidFill>
                <a:latin typeface="Avenir Book" panose="02000503020000020003" pitchFamily="2" charset="0"/>
              </a:rPr>
            </a:br>
            <a:r>
              <a:rPr lang="en-US" sz="1200" dirty="0">
                <a:solidFill>
                  <a:schemeClr val="bg1"/>
                </a:solidFill>
                <a:latin typeface="Avenir Book" panose="02000503020000020003" pitchFamily="2" charset="0"/>
              </a:rPr>
              <a:t>and being led by strategic decisions to help implement new behaviors that foster retention and engagement for consumers.</a:t>
            </a:r>
          </a:p>
        </p:txBody>
      </p:sp>
      <p:sp>
        <p:nvSpPr>
          <p:cNvPr id="13" name="Donut 12">
            <a:extLst>
              <a:ext uri="{FF2B5EF4-FFF2-40B4-BE49-F238E27FC236}">
                <a16:creationId xmlns:a16="http://schemas.microsoft.com/office/drawing/2014/main" id="{5607EC73-4C20-FE80-08C9-B3F009CA513B}"/>
              </a:ext>
            </a:extLst>
          </p:cNvPr>
          <p:cNvSpPr/>
          <p:nvPr/>
        </p:nvSpPr>
        <p:spPr>
          <a:xfrm>
            <a:off x="8566724" y="1400827"/>
            <a:ext cx="2764593" cy="2764593"/>
          </a:xfrm>
          <a:prstGeom prst="donut">
            <a:avLst>
              <a:gd name="adj" fmla="val 7655"/>
            </a:avLst>
          </a:prstGeom>
          <a:solidFill>
            <a:schemeClr val="bg1">
              <a:alpha val="2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TextBox 13">
            <a:extLst>
              <a:ext uri="{FF2B5EF4-FFF2-40B4-BE49-F238E27FC236}">
                <a16:creationId xmlns:a16="http://schemas.microsoft.com/office/drawing/2014/main" id="{BFE61464-79FD-FF4C-F370-C388F28A10F4}"/>
              </a:ext>
            </a:extLst>
          </p:cNvPr>
          <p:cNvSpPr txBox="1"/>
          <p:nvPr/>
        </p:nvSpPr>
        <p:spPr>
          <a:xfrm>
            <a:off x="8946179" y="2367626"/>
            <a:ext cx="2009200" cy="830997"/>
          </a:xfrm>
          <a:prstGeom prst="rect">
            <a:avLst/>
          </a:prstGeom>
          <a:noFill/>
        </p:spPr>
        <p:txBody>
          <a:bodyPr wrap="square" rtlCol="0">
            <a:spAutoFit/>
          </a:bodyPr>
          <a:lstStyle/>
          <a:p>
            <a:pPr algn="ctr"/>
            <a:r>
              <a:rPr lang="en-US" sz="4800" dirty="0">
                <a:solidFill>
                  <a:schemeClr val="bg1"/>
                </a:solidFill>
                <a:latin typeface="Avenir Book" panose="02000503020000020003" pitchFamily="2" charset="0"/>
              </a:rPr>
              <a:t>25%</a:t>
            </a:r>
          </a:p>
        </p:txBody>
      </p:sp>
      <p:sp>
        <p:nvSpPr>
          <p:cNvPr id="15" name="Block Arc 14">
            <a:extLst>
              <a:ext uri="{FF2B5EF4-FFF2-40B4-BE49-F238E27FC236}">
                <a16:creationId xmlns:a16="http://schemas.microsoft.com/office/drawing/2014/main" id="{80517038-077A-C433-945B-30A2855708D8}"/>
              </a:ext>
            </a:extLst>
          </p:cNvPr>
          <p:cNvSpPr/>
          <p:nvPr/>
        </p:nvSpPr>
        <p:spPr>
          <a:xfrm>
            <a:off x="8566723" y="1400826"/>
            <a:ext cx="2764594" cy="2764594"/>
          </a:xfrm>
          <a:prstGeom prst="blockArc">
            <a:avLst>
              <a:gd name="adj1" fmla="val 16203921"/>
              <a:gd name="adj2" fmla="val 20192"/>
              <a:gd name="adj3" fmla="val 7680"/>
            </a:avLst>
          </a:prstGeom>
          <a:solidFill>
            <a:srgbClr val="75D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TextBox 18">
            <a:extLst>
              <a:ext uri="{FF2B5EF4-FFF2-40B4-BE49-F238E27FC236}">
                <a16:creationId xmlns:a16="http://schemas.microsoft.com/office/drawing/2014/main" id="{613E7378-D386-AF9F-D1F5-5D998274C79E}"/>
              </a:ext>
            </a:extLst>
          </p:cNvPr>
          <p:cNvSpPr txBox="1"/>
          <p:nvPr/>
        </p:nvSpPr>
        <p:spPr>
          <a:xfrm>
            <a:off x="4381500" y="4585211"/>
            <a:ext cx="3429001" cy="876266"/>
          </a:xfrm>
          <a:prstGeom prst="rect">
            <a:avLst/>
          </a:prstGeom>
          <a:noFill/>
        </p:spPr>
        <p:txBody>
          <a:bodyPr wrap="square" lIns="0" tIns="0" rIns="0" bIns="0" rtlCol="0">
            <a:spAutoFit/>
          </a:bodyPr>
          <a:lstStyle/>
          <a:p>
            <a:pPr>
              <a:lnSpc>
                <a:spcPct val="120000"/>
              </a:lnSpc>
            </a:pPr>
            <a:r>
              <a:rPr lang="en-US" sz="1200" dirty="0">
                <a:solidFill>
                  <a:schemeClr val="bg1"/>
                </a:solidFill>
                <a:latin typeface="Avenir Book" panose="02000503020000020003" pitchFamily="2" charset="0"/>
              </a:rPr>
              <a:t>Data and metrics enable financial teams to monitor performance with precision, translating activity into measurable indicators such as revenue growth and cash on investment.</a:t>
            </a:r>
          </a:p>
        </p:txBody>
      </p:sp>
      <p:sp>
        <p:nvSpPr>
          <p:cNvPr id="20" name="Donut 19">
            <a:extLst>
              <a:ext uri="{FF2B5EF4-FFF2-40B4-BE49-F238E27FC236}">
                <a16:creationId xmlns:a16="http://schemas.microsoft.com/office/drawing/2014/main" id="{C4E8D4AF-C456-C253-EC56-E775AB2950DB}"/>
              </a:ext>
            </a:extLst>
          </p:cNvPr>
          <p:cNvSpPr/>
          <p:nvPr/>
        </p:nvSpPr>
        <p:spPr>
          <a:xfrm>
            <a:off x="4702274" y="1390076"/>
            <a:ext cx="2764593" cy="2764593"/>
          </a:xfrm>
          <a:prstGeom prst="donut">
            <a:avLst>
              <a:gd name="adj" fmla="val 7655"/>
            </a:avLst>
          </a:prstGeom>
          <a:solidFill>
            <a:schemeClr val="bg1">
              <a:alpha val="2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 name="TextBox 20">
            <a:extLst>
              <a:ext uri="{FF2B5EF4-FFF2-40B4-BE49-F238E27FC236}">
                <a16:creationId xmlns:a16="http://schemas.microsoft.com/office/drawing/2014/main" id="{D4EC7048-AEC6-EFA3-9ECD-D8FD5BB5BA11}"/>
              </a:ext>
            </a:extLst>
          </p:cNvPr>
          <p:cNvSpPr txBox="1"/>
          <p:nvPr/>
        </p:nvSpPr>
        <p:spPr>
          <a:xfrm>
            <a:off x="5081729" y="2393432"/>
            <a:ext cx="2009200" cy="830997"/>
          </a:xfrm>
          <a:prstGeom prst="rect">
            <a:avLst/>
          </a:prstGeom>
          <a:noFill/>
        </p:spPr>
        <p:txBody>
          <a:bodyPr wrap="square" rtlCol="0">
            <a:spAutoFit/>
          </a:bodyPr>
          <a:lstStyle/>
          <a:p>
            <a:pPr algn="ctr"/>
            <a:r>
              <a:rPr lang="en-US" sz="4800" dirty="0">
                <a:solidFill>
                  <a:schemeClr val="bg1"/>
                </a:solidFill>
                <a:latin typeface="Avenir Book" panose="02000503020000020003" pitchFamily="2" charset="0"/>
              </a:rPr>
              <a:t>82%</a:t>
            </a:r>
          </a:p>
        </p:txBody>
      </p:sp>
      <p:sp>
        <p:nvSpPr>
          <p:cNvPr id="23" name="Block Arc 22">
            <a:extLst>
              <a:ext uri="{FF2B5EF4-FFF2-40B4-BE49-F238E27FC236}">
                <a16:creationId xmlns:a16="http://schemas.microsoft.com/office/drawing/2014/main" id="{FE220EF6-269E-C253-6276-DB05366B53B3}"/>
              </a:ext>
            </a:extLst>
          </p:cNvPr>
          <p:cNvSpPr/>
          <p:nvPr/>
        </p:nvSpPr>
        <p:spPr>
          <a:xfrm>
            <a:off x="4702273" y="1390075"/>
            <a:ext cx="2764594" cy="2764594"/>
          </a:xfrm>
          <a:prstGeom prst="blockArc">
            <a:avLst>
              <a:gd name="adj1" fmla="val 16203921"/>
              <a:gd name="adj2" fmla="val 12509002"/>
              <a:gd name="adj3" fmla="val 7637"/>
            </a:avLst>
          </a:prstGeom>
          <a:solidFill>
            <a:srgbClr val="75D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8787026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F01377-AFC6-E288-5F06-2CAB29B4102E}"/>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B6F8176C-97E4-F884-DCA9-F7BDE862C946}"/>
              </a:ext>
            </a:extLst>
          </p:cNvPr>
          <p:cNvPicPr>
            <a:picLocks noChangeAspect="1"/>
          </p:cNvPicPr>
          <p:nvPr/>
        </p:nvPicPr>
        <p:blipFill>
          <a:blip r:embed="rId3"/>
          <a:srcRect/>
          <a:stretch/>
        </p:blipFill>
        <p:spPr>
          <a:xfrm>
            <a:off x="1906641" y="1156268"/>
            <a:ext cx="3734195" cy="4273981"/>
          </a:xfrm>
          <a:prstGeom prst="rect">
            <a:avLst/>
          </a:prstGeom>
        </p:spPr>
      </p:pic>
      <p:sp>
        <p:nvSpPr>
          <p:cNvPr id="3" name="TextBox 2">
            <a:extLst>
              <a:ext uri="{FF2B5EF4-FFF2-40B4-BE49-F238E27FC236}">
                <a16:creationId xmlns:a16="http://schemas.microsoft.com/office/drawing/2014/main" id="{C63C6E00-216F-F8F7-A263-0C10E14EBD78}"/>
              </a:ext>
            </a:extLst>
          </p:cNvPr>
          <p:cNvSpPr txBox="1"/>
          <p:nvPr/>
        </p:nvSpPr>
        <p:spPr>
          <a:xfrm>
            <a:off x="8260484" y="2139854"/>
            <a:ext cx="819344" cy="320597"/>
          </a:xfrm>
          <a:prstGeom prst="rect">
            <a:avLst/>
          </a:prstGeom>
          <a:noFill/>
        </p:spPr>
        <p:txBody>
          <a:bodyPr wrap="square" rtlCol="0">
            <a:spAutoFit/>
          </a:bodyPr>
          <a:lstStyle/>
          <a:p>
            <a:pPr algn="ctr"/>
            <a:r>
              <a:rPr lang="en-US" sz="2000" dirty="0">
                <a:solidFill>
                  <a:schemeClr val="bg1"/>
                </a:solidFill>
                <a:latin typeface="Avenir Medium" panose="02000503020000020003" pitchFamily="2" charset="0"/>
              </a:rPr>
              <a:t>73%</a:t>
            </a:r>
          </a:p>
        </p:txBody>
      </p:sp>
      <p:grpSp>
        <p:nvGrpSpPr>
          <p:cNvPr id="10" name="Group 9">
            <a:extLst>
              <a:ext uri="{FF2B5EF4-FFF2-40B4-BE49-F238E27FC236}">
                <a16:creationId xmlns:a16="http://schemas.microsoft.com/office/drawing/2014/main" id="{BF1EFE8F-CFCF-367C-AC95-FD1D6B8A65F8}"/>
              </a:ext>
            </a:extLst>
          </p:cNvPr>
          <p:cNvGrpSpPr/>
          <p:nvPr/>
        </p:nvGrpSpPr>
        <p:grpSpPr>
          <a:xfrm>
            <a:off x="8153400" y="1814058"/>
            <a:ext cx="972189" cy="972189"/>
            <a:chOff x="6857999" y="1156266"/>
            <a:chExt cx="1696065" cy="1696065"/>
          </a:xfrm>
        </p:grpSpPr>
        <p:sp>
          <p:nvSpPr>
            <p:cNvPr id="2" name="Donut 1">
              <a:extLst>
                <a:ext uri="{FF2B5EF4-FFF2-40B4-BE49-F238E27FC236}">
                  <a16:creationId xmlns:a16="http://schemas.microsoft.com/office/drawing/2014/main" id="{BD61C288-95E7-24F7-D864-B457E88ABB43}"/>
                </a:ext>
              </a:extLst>
            </p:cNvPr>
            <p:cNvSpPr/>
            <p:nvPr/>
          </p:nvSpPr>
          <p:spPr>
            <a:xfrm>
              <a:off x="6858000" y="1156267"/>
              <a:ext cx="1696064" cy="1696064"/>
            </a:xfrm>
            <a:prstGeom prst="donut">
              <a:avLst>
                <a:gd name="adj" fmla="val 7655"/>
              </a:avLst>
            </a:prstGeom>
            <a:solidFill>
              <a:schemeClr val="bg1">
                <a:alpha val="2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Block Arc 3">
              <a:extLst>
                <a:ext uri="{FF2B5EF4-FFF2-40B4-BE49-F238E27FC236}">
                  <a16:creationId xmlns:a16="http://schemas.microsoft.com/office/drawing/2014/main" id="{B7772925-741C-787E-319F-AF0D48D769C8}"/>
                </a:ext>
              </a:extLst>
            </p:cNvPr>
            <p:cNvSpPr/>
            <p:nvPr/>
          </p:nvSpPr>
          <p:spPr>
            <a:xfrm>
              <a:off x="6857999" y="1156266"/>
              <a:ext cx="1696065" cy="1696065"/>
            </a:xfrm>
            <a:prstGeom prst="blockArc">
              <a:avLst>
                <a:gd name="adj1" fmla="val 16203921"/>
                <a:gd name="adj2" fmla="val 10639780"/>
                <a:gd name="adj3" fmla="val 7554"/>
              </a:avLst>
            </a:prstGeom>
            <a:solidFill>
              <a:srgbClr val="75D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11" name="TextBox 10">
            <a:extLst>
              <a:ext uri="{FF2B5EF4-FFF2-40B4-BE49-F238E27FC236}">
                <a16:creationId xmlns:a16="http://schemas.microsoft.com/office/drawing/2014/main" id="{A544945E-649A-548B-6DAF-D67642A1E66D}"/>
              </a:ext>
            </a:extLst>
          </p:cNvPr>
          <p:cNvSpPr txBox="1"/>
          <p:nvPr/>
        </p:nvSpPr>
        <p:spPr>
          <a:xfrm>
            <a:off x="8153400" y="3697952"/>
            <a:ext cx="3581399" cy="1984261"/>
          </a:xfrm>
          <a:prstGeom prst="rect">
            <a:avLst/>
          </a:prstGeom>
          <a:noFill/>
        </p:spPr>
        <p:txBody>
          <a:bodyPr wrap="square" lIns="0" tIns="0" rIns="0" bIns="0" rtlCol="0">
            <a:spAutoFit/>
          </a:bodyPr>
          <a:lstStyle/>
          <a:p>
            <a:pPr>
              <a:lnSpc>
                <a:spcPct val="120000"/>
              </a:lnSpc>
            </a:pPr>
            <a:r>
              <a:rPr lang="en-US" sz="1200" dirty="0">
                <a:solidFill>
                  <a:schemeClr val="bg1"/>
                </a:solidFill>
                <a:latin typeface="Avenir Book" panose="02000503020000020003" pitchFamily="2" charset="0"/>
              </a:rPr>
              <a:t>Social media has become the most dynamic archive of contemporary design. It democratizes taste at scale. Ideas no longer trickle down from industry gatekeepers, they rise from cultural momentum. While designers share work in real time, the global community elevates the strongest concepts through engagement and conversation. The result is a constantly evolving feedback loop where aesthetics sharpen quickly.</a:t>
            </a:r>
          </a:p>
        </p:txBody>
      </p:sp>
      <p:sp>
        <p:nvSpPr>
          <p:cNvPr id="12" name="TextBox 11">
            <a:extLst>
              <a:ext uri="{FF2B5EF4-FFF2-40B4-BE49-F238E27FC236}">
                <a16:creationId xmlns:a16="http://schemas.microsoft.com/office/drawing/2014/main" id="{828B13A0-68F2-78C0-0006-C1055F9A10DB}"/>
              </a:ext>
            </a:extLst>
          </p:cNvPr>
          <p:cNvSpPr txBox="1"/>
          <p:nvPr/>
        </p:nvSpPr>
        <p:spPr>
          <a:xfrm>
            <a:off x="8153400" y="3119387"/>
            <a:ext cx="3187620" cy="307777"/>
          </a:xfrm>
          <a:prstGeom prst="rect">
            <a:avLst/>
          </a:prstGeom>
          <a:noFill/>
        </p:spPr>
        <p:txBody>
          <a:bodyPr wrap="square" lIns="0" tIns="0" rIns="0" bIns="0" rtlCol="0">
            <a:spAutoFit/>
          </a:bodyPr>
          <a:lstStyle/>
          <a:p>
            <a:r>
              <a:rPr lang="en-US" sz="2000" dirty="0">
                <a:solidFill>
                  <a:schemeClr val="bg1"/>
                </a:solidFill>
                <a:latin typeface="Avenir Medium" panose="02000503020000020003" pitchFamily="2" charset="0"/>
              </a:rPr>
              <a:t>RECOMMENDATIONS</a:t>
            </a:r>
          </a:p>
        </p:txBody>
      </p:sp>
      <p:pic>
        <p:nvPicPr>
          <p:cNvPr id="22" name="Picture 21">
            <a:extLst>
              <a:ext uri="{FF2B5EF4-FFF2-40B4-BE49-F238E27FC236}">
                <a16:creationId xmlns:a16="http://schemas.microsoft.com/office/drawing/2014/main" id="{894B5249-F626-E0A1-E972-0D262094BE7B}"/>
              </a:ext>
            </a:extLst>
          </p:cNvPr>
          <p:cNvPicPr>
            <a:picLocks noChangeAspect="1"/>
          </p:cNvPicPr>
          <p:nvPr/>
        </p:nvPicPr>
        <p:blipFill>
          <a:blip r:embed="rId4"/>
          <a:srcRect/>
          <a:stretch/>
        </p:blipFill>
        <p:spPr>
          <a:xfrm>
            <a:off x="11484209" y="316699"/>
            <a:ext cx="295894" cy="233756"/>
          </a:xfrm>
          <a:prstGeom prst="rect">
            <a:avLst/>
          </a:prstGeom>
        </p:spPr>
      </p:pic>
      <p:sp>
        <p:nvSpPr>
          <p:cNvPr id="33" name="TextBox 32">
            <a:extLst>
              <a:ext uri="{FF2B5EF4-FFF2-40B4-BE49-F238E27FC236}">
                <a16:creationId xmlns:a16="http://schemas.microsoft.com/office/drawing/2014/main" id="{F45D2A51-8CCA-2BBE-FED9-3C9A3525EF22}"/>
              </a:ext>
            </a:extLst>
          </p:cNvPr>
          <p:cNvSpPr txBox="1"/>
          <p:nvPr/>
        </p:nvSpPr>
        <p:spPr>
          <a:xfrm>
            <a:off x="5942931" y="1981683"/>
            <a:ext cx="658194" cy="580800"/>
          </a:xfrm>
          <a:prstGeom prst="rect">
            <a:avLst/>
          </a:prstGeom>
        </p:spPr>
        <p:txBody>
          <a:bodyPr wrap="square" lIns="0" tIns="0" rIns="0" bIns="0" rtlCol="0">
            <a:spAutoFit/>
          </a:bodyPr>
          <a:lstStyle/>
          <a:p>
            <a:pPr>
              <a:lnSpc>
                <a:spcPct val="120000"/>
              </a:lnSpc>
            </a:pPr>
            <a:r>
              <a:rPr lang="en-US" sz="2000" dirty="0">
                <a:solidFill>
                  <a:schemeClr val="bg1"/>
                </a:solidFill>
                <a:latin typeface="Avenir Medium" panose="02000503020000020003" pitchFamily="2" charset="0"/>
              </a:rPr>
              <a:t>88% </a:t>
            </a:r>
            <a:br>
              <a:rPr lang="en-US" sz="1200" dirty="0">
                <a:solidFill>
                  <a:schemeClr val="bg1"/>
                </a:solidFill>
                <a:latin typeface="Avenir Book" panose="02000503020000020003" pitchFamily="2" charset="0"/>
              </a:rPr>
            </a:br>
            <a:r>
              <a:rPr lang="en-US" sz="1200" dirty="0">
                <a:solidFill>
                  <a:schemeClr val="bg1"/>
                </a:solidFill>
                <a:latin typeface="Avenir Book" panose="02000503020000020003" pitchFamily="2" charset="0"/>
              </a:rPr>
              <a:t>Insights</a:t>
            </a:r>
          </a:p>
        </p:txBody>
      </p:sp>
      <p:sp>
        <p:nvSpPr>
          <p:cNvPr id="34" name="TextBox 33">
            <a:extLst>
              <a:ext uri="{FF2B5EF4-FFF2-40B4-BE49-F238E27FC236}">
                <a16:creationId xmlns:a16="http://schemas.microsoft.com/office/drawing/2014/main" id="{87578B9F-C80D-A1CD-973D-378C43BC60E9}"/>
              </a:ext>
            </a:extLst>
          </p:cNvPr>
          <p:cNvSpPr txBox="1"/>
          <p:nvPr/>
        </p:nvSpPr>
        <p:spPr>
          <a:xfrm>
            <a:off x="5942931" y="4110497"/>
            <a:ext cx="658194" cy="580800"/>
          </a:xfrm>
          <a:prstGeom prst="rect">
            <a:avLst/>
          </a:prstGeom>
        </p:spPr>
        <p:txBody>
          <a:bodyPr wrap="square" lIns="0" tIns="0" rIns="0" bIns="0" rtlCol="0">
            <a:spAutoFit/>
          </a:bodyPr>
          <a:lstStyle/>
          <a:p>
            <a:pPr>
              <a:lnSpc>
                <a:spcPct val="120000"/>
              </a:lnSpc>
            </a:pPr>
            <a:r>
              <a:rPr lang="en-US" sz="2000" dirty="0">
                <a:solidFill>
                  <a:schemeClr val="bg1"/>
                </a:solidFill>
                <a:latin typeface="Avenir Medium" panose="02000503020000020003" pitchFamily="2" charset="0"/>
              </a:rPr>
              <a:t>26% </a:t>
            </a:r>
            <a:br>
              <a:rPr lang="en-US" sz="1200" dirty="0">
                <a:solidFill>
                  <a:schemeClr val="bg1"/>
                </a:solidFill>
                <a:latin typeface="Avenir Book" panose="02000503020000020003" pitchFamily="2" charset="0"/>
              </a:rPr>
            </a:br>
            <a:r>
              <a:rPr lang="en-US" sz="1200" dirty="0">
                <a:solidFill>
                  <a:schemeClr val="bg1"/>
                </a:solidFill>
                <a:latin typeface="Avenir Book" panose="02000503020000020003" pitchFamily="2" charset="0"/>
              </a:rPr>
              <a:t>Growth</a:t>
            </a:r>
          </a:p>
        </p:txBody>
      </p:sp>
      <p:sp>
        <p:nvSpPr>
          <p:cNvPr id="35" name="TextBox 34">
            <a:extLst>
              <a:ext uri="{FF2B5EF4-FFF2-40B4-BE49-F238E27FC236}">
                <a16:creationId xmlns:a16="http://schemas.microsoft.com/office/drawing/2014/main" id="{6D7886CB-37D4-063C-30F3-8589FD1B24B9}"/>
              </a:ext>
            </a:extLst>
          </p:cNvPr>
          <p:cNvSpPr txBox="1"/>
          <p:nvPr/>
        </p:nvSpPr>
        <p:spPr>
          <a:xfrm>
            <a:off x="3241355" y="433577"/>
            <a:ext cx="1089832" cy="580800"/>
          </a:xfrm>
          <a:prstGeom prst="rect">
            <a:avLst/>
          </a:prstGeom>
        </p:spPr>
        <p:txBody>
          <a:bodyPr wrap="square" lIns="0" tIns="0" rIns="0" bIns="0" rtlCol="0">
            <a:spAutoFit/>
          </a:bodyPr>
          <a:lstStyle/>
          <a:p>
            <a:pPr algn="ctr">
              <a:lnSpc>
                <a:spcPct val="120000"/>
              </a:lnSpc>
            </a:pPr>
            <a:r>
              <a:rPr lang="en-US" sz="2000" dirty="0">
                <a:solidFill>
                  <a:schemeClr val="bg1"/>
                </a:solidFill>
                <a:latin typeface="Avenir Medium" panose="02000503020000020003" pitchFamily="2" charset="0"/>
              </a:rPr>
              <a:t>73% </a:t>
            </a:r>
            <a:br>
              <a:rPr lang="en-US" sz="1200" dirty="0">
                <a:solidFill>
                  <a:schemeClr val="bg1"/>
                </a:solidFill>
                <a:latin typeface="Avenir Book" panose="02000503020000020003" pitchFamily="2" charset="0"/>
              </a:rPr>
            </a:br>
            <a:r>
              <a:rPr lang="en-US" sz="1200" dirty="0">
                <a:solidFill>
                  <a:schemeClr val="bg1"/>
                </a:solidFill>
                <a:latin typeface="Avenir Book" panose="02000503020000020003" pitchFamily="2" charset="0"/>
              </a:rPr>
              <a:t>Social Media</a:t>
            </a:r>
          </a:p>
        </p:txBody>
      </p:sp>
      <p:sp>
        <p:nvSpPr>
          <p:cNvPr id="36" name="TextBox 35">
            <a:extLst>
              <a:ext uri="{FF2B5EF4-FFF2-40B4-BE49-F238E27FC236}">
                <a16:creationId xmlns:a16="http://schemas.microsoft.com/office/drawing/2014/main" id="{E2D1B2D8-113C-88F0-78E3-62E4E3B881DC}"/>
              </a:ext>
            </a:extLst>
          </p:cNvPr>
          <p:cNvSpPr txBox="1"/>
          <p:nvPr/>
        </p:nvSpPr>
        <p:spPr>
          <a:xfrm>
            <a:off x="3241355" y="5562724"/>
            <a:ext cx="1089832" cy="580800"/>
          </a:xfrm>
          <a:prstGeom prst="rect">
            <a:avLst/>
          </a:prstGeom>
        </p:spPr>
        <p:txBody>
          <a:bodyPr wrap="square" lIns="0" tIns="0" rIns="0" bIns="0" rtlCol="0">
            <a:spAutoFit/>
          </a:bodyPr>
          <a:lstStyle/>
          <a:p>
            <a:pPr algn="ctr">
              <a:lnSpc>
                <a:spcPct val="120000"/>
              </a:lnSpc>
            </a:pPr>
            <a:r>
              <a:rPr lang="en-US" sz="2000" dirty="0">
                <a:solidFill>
                  <a:schemeClr val="bg1"/>
                </a:solidFill>
                <a:latin typeface="Avenir Medium" panose="02000503020000020003" pitchFamily="2" charset="0"/>
              </a:rPr>
              <a:t>92% </a:t>
            </a:r>
            <a:br>
              <a:rPr lang="en-US" sz="1200" dirty="0">
                <a:solidFill>
                  <a:schemeClr val="bg1"/>
                </a:solidFill>
                <a:latin typeface="Avenir Book" panose="02000503020000020003" pitchFamily="2" charset="0"/>
              </a:rPr>
            </a:br>
            <a:r>
              <a:rPr lang="en-US" sz="1200" dirty="0">
                <a:solidFill>
                  <a:schemeClr val="bg1"/>
                </a:solidFill>
                <a:latin typeface="Avenir Book" panose="02000503020000020003" pitchFamily="2" charset="0"/>
              </a:rPr>
              <a:t>Information</a:t>
            </a:r>
          </a:p>
        </p:txBody>
      </p:sp>
      <p:sp>
        <p:nvSpPr>
          <p:cNvPr id="38" name="TextBox 37">
            <a:extLst>
              <a:ext uri="{FF2B5EF4-FFF2-40B4-BE49-F238E27FC236}">
                <a16:creationId xmlns:a16="http://schemas.microsoft.com/office/drawing/2014/main" id="{5771984C-AD54-7850-4AE6-E1A581B6F285}"/>
              </a:ext>
            </a:extLst>
          </p:cNvPr>
          <p:cNvSpPr txBox="1"/>
          <p:nvPr/>
        </p:nvSpPr>
        <p:spPr>
          <a:xfrm>
            <a:off x="401638" y="1979596"/>
            <a:ext cx="1202908" cy="580800"/>
          </a:xfrm>
          <a:prstGeom prst="rect">
            <a:avLst/>
          </a:prstGeom>
        </p:spPr>
        <p:txBody>
          <a:bodyPr wrap="square" lIns="0" tIns="0" rIns="0" bIns="0" rtlCol="0">
            <a:spAutoFit/>
          </a:bodyPr>
          <a:lstStyle/>
          <a:p>
            <a:pPr algn="r">
              <a:lnSpc>
                <a:spcPct val="120000"/>
              </a:lnSpc>
            </a:pPr>
            <a:r>
              <a:rPr lang="en-US" sz="2000" dirty="0">
                <a:solidFill>
                  <a:schemeClr val="bg1"/>
                </a:solidFill>
                <a:latin typeface="Avenir Medium" panose="02000503020000020003" pitchFamily="2" charset="0"/>
              </a:rPr>
              <a:t>63% </a:t>
            </a:r>
            <a:br>
              <a:rPr lang="en-US" sz="1200" dirty="0">
                <a:solidFill>
                  <a:schemeClr val="bg1"/>
                </a:solidFill>
                <a:latin typeface="Avenir Book" panose="02000503020000020003" pitchFamily="2" charset="0"/>
              </a:rPr>
            </a:br>
            <a:r>
              <a:rPr lang="en-US" sz="1200" dirty="0">
                <a:solidFill>
                  <a:schemeClr val="bg1"/>
                </a:solidFill>
                <a:latin typeface="Avenir Book" panose="02000503020000020003" pitchFamily="2" charset="0"/>
              </a:rPr>
              <a:t>Customer Service</a:t>
            </a:r>
          </a:p>
        </p:txBody>
      </p:sp>
      <p:sp>
        <p:nvSpPr>
          <p:cNvPr id="39" name="TextBox 38">
            <a:extLst>
              <a:ext uri="{FF2B5EF4-FFF2-40B4-BE49-F238E27FC236}">
                <a16:creationId xmlns:a16="http://schemas.microsoft.com/office/drawing/2014/main" id="{981DA6FF-39DC-7626-E011-03881CC70707}"/>
              </a:ext>
            </a:extLst>
          </p:cNvPr>
          <p:cNvSpPr txBox="1"/>
          <p:nvPr/>
        </p:nvSpPr>
        <p:spPr>
          <a:xfrm>
            <a:off x="946352" y="4108410"/>
            <a:ext cx="658194" cy="580800"/>
          </a:xfrm>
          <a:prstGeom prst="rect">
            <a:avLst/>
          </a:prstGeom>
        </p:spPr>
        <p:txBody>
          <a:bodyPr wrap="square" lIns="0" tIns="0" rIns="0" bIns="0" rtlCol="0">
            <a:spAutoFit/>
          </a:bodyPr>
          <a:lstStyle/>
          <a:p>
            <a:pPr algn="r">
              <a:lnSpc>
                <a:spcPct val="120000"/>
              </a:lnSpc>
            </a:pPr>
            <a:r>
              <a:rPr lang="en-US" sz="2000" dirty="0">
                <a:solidFill>
                  <a:schemeClr val="bg1"/>
                </a:solidFill>
                <a:latin typeface="Avenir Medium" panose="02000503020000020003" pitchFamily="2" charset="0"/>
              </a:rPr>
              <a:t>54% </a:t>
            </a:r>
            <a:br>
              <a:rPr lang="en-US" sz="1200" dirty="0">
                <a:solidFill>
                  <a:schemeClr val="bg1"/>
                </a:solidFill>
                <a:latin typeface="Avenir Book" panose="02000503020000020003" pitchFamily="2" charset="0"/>
              </a:rPr>
            </a:br>
            <a:r>
              <a:rPr lang="en-US" sz="1200" dirty="0">
                <a:solidFill>
                  <a:schemeClr val="bg1"/>
                </a:solidFill>
                <a:latin typeface="Avenir Book" panose="02000503020000020003" pitchFamily="2" charset="0"/>
              </a:rPr>
              <a:t>Logistics</a:t>
            </a:r>
          </a:p>
        </p:txBody>
      </p:sp>
    </p:spTree>
    <p:extLst>
      <p:ext uri="{BB962C8B-B14F-4D97-AF65-F5344CB8AC3E}">
        <p14:creationId xmlns:p14="http://schemas.microsoft.com/office/powerpoint/2010/main" val="36678378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F876C-42E2-9B6E-8C02-FFA91C5C9CF8}"/>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81A31DD4-6EE4-47EF-EDFB-2F6F01457E62}"/>
              </a:ext>
            </a:extLst>
          </p:cNvPr>
          <p:cNvPicPr>
            <a:picLocks noChangeAspect="1"/>
          </p:cNvPicPr>
          <p:nvPr/>
        </p:nvPicPr>
        <p:blipFill>
          <a:blip r:embed="rId3"/>
          <a:srcRect/>
          <a:stretch/>
        </p:blipFill>
        <p:spPr>
          <a:xfrm>
            <a:off x="11484209" y="316699"/>
            <a:ext cx="295894" cy="233756"/>
          </a:xfrm>
          <a:prstGeom prst="rect">
            <a:avLst/>
          </a:prstGeom>
        </p:spPr>
      </p:pic>
      <p:sp>
        <p:nvSpPr>
          <p:cNvPr id="3" name="TextBox 2">
            <a:extLst>
              <a:ext uri="{FF2B5EF4-FFF2-40B4-BE49-F238E27FC236}">
                <a16:creationId xmlns:a16="http://schemas.microsoft.com/office/drawing/2014/main" id="{EEADCF14-56D5-8188-4C99-0A23C29C1F61}"/>
              </a:ext>
            </a:extLst>
          </p:cNvPr>
          <p:cNvSpPr txBox="1"/>
          <p:nvPr/>
        </p:nvSpPr>
        <p:spPr>
          <a:xfrm>
            <a:off x="403378" y="3913820"/>
            <a:ext cx="2135545" cy="654666"/>
          </a:xfrm>
          <a:prstGeom prst="rect">
            <a:avLst/>
          </a:prstGeom>
          <a:noFill/>
        </p:spPr>
        <p:txBody>
          <a:bodyPr wrap="square" lIns="0" tIns="0" rIns="0" bIns="0" rtlCol="0">
            <a:spAutoFit/>
          </a:bodyPr>
          <a:lstStyle/>
          <a:p>
            <a:pPr>
              <a:lnSpc>
                <a:spcPct val="120000"/>
              </a:lnSpc>
            </a:pPr>
            <a:r>
              <a:rPr lang="en-US" sz="1200" dirty="0">
                <a:solidFill>
                  <a:schemeClr val="bg1"/>
                </a:solidFill>
                <a:latin typeface="Avenir Book" panose="02000503020000020003" pitchFamily="2" charset="0"/>
              </a:rPr>
              <a:t>A quick breakdown of the overlapping consumer needs and the touchpoints of interest.</a:t>
            </a:r>
          </a:p>
        </p:txBody>
      </p:sp>
      <p:sp>
        <p:nvSpPr>
          <p:cNvPr id="4" name="TextBox 3">
            <a:extLst>
              <a:ext uri="{FF2B5EF4-FFF2-40B4-BE49-F238E27FC236}">
                <a16:creationId xmlns:a16="http://schemas.microsoft.com/office/drawing/2014/main" id="{7CA99BFA-92A7-F42D-D1D6-1D79FC198401}"/>
              </a:ext>
            </a:extLst>
          </p:cNvPr>
          <p:cNvSpPr txBox="1"/>
          <p:nvPr/>
        </p:nvSpPr>
        <p:spPr>
          <a:xfrm>
            <a:off x="403378" y="3119387"/>
            <a:ext cx="2100110" cy="615553"/>
          </a:xfrm>
          <a:prstGeom prst="rect">
            <a:avLst/>
          </a:prstGeom>
          <a:noFill/>
        </p:spPr>
        <p:txBody>
          <a:bodyPr wrap="square" lIns="0" tIns="0" rIns="0" bIns="0" rtlCol="0">
            <a:spAutoFit/>
          </a:bodyPr>
          <a:lstStyle/>
          <a:p>
            <a:r>
              <a:rPr lang="en-US" sz="2000" dirty="0">
                <a:solidFill>
                  <a:schemeClr val="bg1"/>
                </a:solidFill>
                <a:latin typeface="Avenir Medium" panose="02000503020000020003" pitchFamily="2" charset="0"/>
              </a:rPr>
              <a:t>SEGMENTATION MATRIX</a:t>
            </a:r>
          </a:p>
        </p:txBody>
      </p:sp>
      <p:grpSp>
        <p:nvGrpSpPr>
          <p:cNvPr id="79" name="Group 78">
            <a:extLst>
              <a:ext uri="{FF2B5EF4-FFF2-40B4-BE49-F238E27FC236}">
                <a16:creationId xmlns:a16="http://schemas.microsoft.com/office/drawing/2014/main" id="{AAED3201-4A65-0D82-0973-E39CC3773317}"/>
              </a:ext>
            </a:extLst>
          </p:cNvPr>
          <p:cNvGrpSpPr/>
          <p:nvPr/>
        </p:nvGrpSpPr>
        <p:grpSpPr>
          <a:xfrm>
            <a:off x="3307239" y="648874"/>
            <a:ext cx="8591851" cy="5687899"/>
            <a:chOff x="3307239" y="648874"/>
            <a:chExt cx="8591851" cy="5687899"/>
          </a:xfrm>
        </p:grpSpPr>
        <p:cxnSp>
          <p:nvCxnSpPr>
            <p:cNvPr id="51" name="Straight Connector 50">
              <a:extLst>
                <a:ext uri="{FF2B5EF4-FFF2-40B4-BE49-F238E27FC236}">
                  <a16:creationId xmlns:a16="http://schemas.microsoft.com/office/drawing/2014/main" id="{6E4B3F28-D9CE-8533-5A98-225C323E8082}"/>
                </a:ext>
              </a:extLst>
            </p:cNvPr>
            <p:cNvCxnSpPr>
              <a:cxnSpLocks/>
            </p:cNvCxnSpPr>
            <p:nvPr/>
          </p:nvCxnSpPr>
          <p:spPr>
            <a:xfrm flipH="1">
              <a:off x="7672253" y="972425"/>
              <a:ext cx="1" cy="5053978"/>
            </a:xfrm>
            <a:prstGeom prst="line">
              <a:avLst/>
            </a:prstGeom>
            <a:ln w="12700">
              <a:solidFill>
                <a:schemeClr val="bg1"/>
              </a:solidFill>
              <a:headEnd type="arrow" w="med" len="sm"/>
              <a:tailEnd type="arrow" w="med" len="sm"/>
            </a:ln>
          </p:spPr>
          <p:style>
            <a:lnRef idx="2">
              <a:schemeClr val="accent1"/>
            </a:lnRef>
            <a:fillRef idx="0">
              <a:schemeClr val="accent1"/>
            </a:fillRef>
            <a:effectRef idx="1">
              <a:schemeClr val="accent1"/>
            </a:effectRef>
            <a:fontRef idx="minor">
              <a:schemeClr val="tx1"/>
            </a:fontRef>
          </p:style>
        </p:cxnSp>
        <p:sp>
          <p:nvSpPr>
            <p:cNvPr id="49" name="Oval 48">
              <a:extLst>
                <a:ext uri="{FF2B5EF4-FFF2-40B4-BE49-F238E27FC236}">
                  <a16:creationId xmlns:a16="http://schemas.microsoft.com/office/drawing/2014/main" id="{9D391509-1994-6654-1DC8-28D32B2F77FC}"/>
                </a:ext>
              </a:extLst>
            </p:cNvPr>
            <p:cNvSpPr/>
            <p:nvPr/>
          </p:nvSpPr>
          <p:spPr>
            <a:xfrm>
              <a:off x="5338688" y="4962462"/>
              <a:ext cx="944769" cy="944769"/>
            </a:xfrm>
            <a:prstGeom prst="ellipse">
              <a:avLst/>
            </a:prstGeom>
            <a:solidFill>
              <a:schemeClr val="bg1">
                <a:alpha val="10000"/>
              </a:schemeClr>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rPr>
                <a:t>Lack of Time</a:t>
              </a:r>
            </a:p>
          </p:txBody>
        </p:sp>
        <p:sp>
          <p:nvSpPr>
            <p:cNvPr id="46" name="Oval 45">
              <a:extLst>
                <a:ext uri="{FF2B5EF4-FFF2-40B4-BE49-F238E27FC236}">
                  <a16:creationId xmlns:a16="http://schemas.microsoft.com/office/drawing/2014/main" id="{85FCEAC8-2E8E-E18A-73C4-09C5467E189B}"/>
                </a:ext>
              </a:extLst>
            </p:cNvPr>
            <p:cNvSpPr/>
            <p:nvPr/>
          </p:nvSpPr>
          <p:spPr>
            <a:xfrm>
              <a:off x="4649275" y="3954192"/>
              <a:ext cx="635270" cy="635270"/>
            </a:xfrm>
            <a:prstGeom prst="ellipse">
              <a:avLst/>
            </a:prstGeom>
            <a:solidFill>
              <a:schemeClr val="bg1">
                <a:alpha val="10000"/>
              </a:schemeClr>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rPr>
                <a:t>Grief</a:t>
              </a:r>
            </a:p>
          </p:txBody>
        </p:sp>
        <p:sp>
          <p:nvSpPr>
            <p:cNvPr id="45" name="Oval 44">
              <a:extLst>
                <a:ext uri="{FF2B5EF4-FFF2-40B4-BE49-F238E27FC236}">
                  <a16:creationId xmlns:a16="http://schemas.microsoft.com/office/drawing/2014/main" id="{8D51CDB7-0879-FCDC-9F24-15C2E45663B3}"/>
                </a:ext>
              </a:extLst>
            </p:cNvPr>
            <p:cNvSpPr/>
            <p:nvPr/>
          </p:nvSpPr>
          <p:spPr>
            <a:xfrm>
              <a:off x="6346283" y="4726517"/>
              <a:ext cx="471890" cy="471890"/>
            </a:xfrm>
            <a:prstGeom prst="ellipse">
              <a:avLst/>
            </a:prstGeom>
            <a:solidFill>
              <a:schemeClr val="bg1">
                <a:alpha val="10000"/>
              </a:schemeClr>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rPr>
                <a:t>Doubt</a:t>
              </a:r>
            </a:p>
          </p:txBody>
        </p:sp>
        <p:sp>
          <p:nvSpPr>
            <p:cNvPr id="32" name="Oval 31">
              <a:extLst>
                <a:ext uri="{FF2B5EF4-FFF2-40B4-BE49-F238E27FC236}">
                  <a16:creationId xmlns:a16="http://schemas.microsoft.com/office/drawing/2014/main" id="{46ADE1D9-984F-9660-ED44-DE4F253E8B0D}"/>
                </a:ext>
              </a:extLst>
            </p:cNvPr>
            <p:cNvSpPr/>
            <p:nvPr/>
          </p:nvSpPr>
          <p:spPr>
            <a:xfrm>
              <a:off x="10300289" y="5316423"/>
              <a:ext cx="569152" cy="569152"/>
            </a:xfrm>
            <a:prstGeom prst="ellipse">
              <a:avLst/>
            </a:prstGeom>
            <a:solidFill>
              <a:schemeClr val="bg1">
                <a:alpha val="10000"/>
              </a:schemeClr>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rPr>
                <a:t>Growth</a:t>
              </a:r>
            </a:p>
          </p:txBody>
        </p:sp>
        <p:sp>
          <p:nvSpPr>
            <p:cNvPr id="31" name="Oval 30">
              <a:extLst>
                <a:ext uri="{FF2B5EF4-FFF2-40B4-BE49-F238E27FC236}">
                  <a16:creationId xmlns:a16="http://schemas.microsoft.com/office/drawing/2014/main" id="{F1D6C0FF-A999-47FF-E21E-13F9EA0DDDA0}"/>
                </a:ext>
              </a:extLst>
            </p:cNvPr>
            <p:cNvSpPr/>
            <p:nvPr/>
          </p:nvSpPr>
          <p:spPr>
            <a:xfrm>
              <a:off x="9528014" y="4760160"/>
              <a:ext cx="715358" cy="715358"/>
            </a:xfrm>
            <a:prstGeom prst="ellipse">
              <a:avLst/>
            </a:prstGeom>
            <a:solidFill>
              <a:schemeClr val="bg1">
                <a:alpha val="10000"/>
              </a:schemeClr>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rPr>
                <a:t>Health</a:t>
              </a:r>
            </a:p>
          </p:txBody>
        </p:sp>
        <p:sp>
          <p:nvSpPr>
            <p:cNvPr id="30" name="Oval 29">
              <a:extLst>
                <a:ext uri="{FF2B5EF4-FFF2-40B4-BE49-F238E27FC236}">
                  <a16:creationId xmlns:a16="http://schemas.microsoft.com/office/drawing/2014/main" id="{9B1A62FA-8BFB-95F9-1055-F9FD02B5CFC8}"/>
                </a:ext>
              </a:extLst>
            </p:cNvPr>
            <p:cNvSpPr/>
            <p:nvPr/>
          </p:nvSpPr>
          <p:spPr>
            <a:xfrm>
              <a:off x="7618316" y="4910253"/>
              <a:ext cx="615954" cy="615954"/>
            </a:xfrm>
            <a:prstGeom prst="ellipse">
              <a:avLst/>
            </a:prstGeom>
            <a:solidFill>
              <a:schemeClr val="bg1">
                <a:alpha val="10000"/>
              </a:schemeClr>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rPr>
                <a:t>Faith</a:t>
              </a:r>
            </a:p>
          </p:txBody>
        </p:sp>
        <p:sp>
          <p:nvSpPr>
            <p:cNvPr id="27" name="Oval 26">
              <a:extLst>
                <a:ext uri="{FF2B5EF4-FFF2-40B4-BE49-F238E27FC236}">
                  <a16:creationId xmlns:a16="http://schemas.microsoft.com/office/drawing/2014/main" id="{BD076BA2-1AEB-F75A-3AAF-002DE90F28D8}"/>
                </a:ext>
              </a:extLst>
            </p:cNvPr>
            <p:cNvSpPr/>
            <p:nvPr/>
          </p:nvSpPr>
          <p:spPr>
            <a:xfrm>
              <a:off x="9214306" y="3585714"/>
              <a:ext cx="806725" cy="806725"/>
            </a:xfrm>
            <a:prstGeom prst="ellipse">
              <a:avLst/>
            </a:prstGeom>
            <a:solidFill>
              <a:schemeClr val="bg1">
                <a:alpha val="10000"/>
              </a:schemeClr>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rPr>
                <a:t>Dreams</a:t>
              </a:r>
            </a:p>
          </p:txBody>
        </p:sp>
        <p:sp>
          <p:nvSpPr>
            <p:cNvPr id="28" name="Oval 27">
              <a:extLst>
                <a:ext uri="{FF2B5EF4-FFF2-40B4-BE49-F238E27FC236}">
                  <a16:creationId xmlns:a16="http://schemas.microsoft.com/office/drawing/2014/main" id="{8A5AAF50-B8C9-D5AA-7A7C-6AB52E46D17D}"/>
                </a:ext>
              </a:extLst>
            </p:cNvPr>
            <p:cNvSpPr/>
            <p:nvPr/>
          </p:nvSpPr>
          <p:spPr>
            <a:xfrm>
              <a:off x="8230519" y="3818267"/>
              <a:ext cx="969844" cy="969844"/>
            </a:xfrm>
            <a:prstGeom prst="ellipse">
              <a:avLst/>
            </a:prstGeom>
            <a:solidFill>
              <a:schemeClr val="bg1">
                <a:alpha val="10000"/>
              </a:schemeClr>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rPr>
                <a:t>New Choices</a:t>
              </a:r>
            </a:p>
          </p:txBody>
        </p:sp>
        <p:sp>
          <p:nvSpPr>
            <p:cNvPr id="26" name="Oval 25">
              <a:extLst>
                <a:ext uri="{FF2B5EF4-FFF2-40B4-BE49-F238E27FC236}">
                  <a16:creationId xmlns:a16="http://schemas.microsoft.com/office/drawing/2014/main" id="{D90B6167-B052-1BE7-C0A4-2037716CC5DE}"/>
                </a:ext>
              </a:extLst>
            </p:cNvPr>
            <p:cNvSpPr/>
            <p:nvPr/>
          </p:nvSpPr>
          <p:spPr>
            <a:xfrm>
              <a:off x="9409043" y="2191960"/>
              <a:ext cx="1175822" cy="1175822"/>
            </a:xfrm>
            <a:prstGeom prst="ellipse">
              <a:avLst/>
            </a:prstGeom>
            <a:solidFill>
              <a:schemeClr val="bg1">
                <a:alpha val="10000"/>
              </a:schemeClr>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rPr>
                <a:t>Active Lifestyle</a:t>
              </a:r>
            </a:p>
          </p:txBody>
        </p:sp>
        <p:sp>
          <p:nvSpPr>
            <p:cNvPr id="24" name="Oval 23">
              <a:extLst>
                <a:ext uri="{FF2B5EF4-FFF2-40B4-BE49-F238E27FC236}">
                  <a16:creationId xmlns:a16="http://schemas.microsoft.com/office/drawing/2014/main" id="{D146BBB2-5F10-3780-3BB0-4FDA5FB4B768}"/>
                </a:ext>
              </a:extLst>
            </p:cNvPr>
            <p:cNvSpPr/>
            <p:nvPr/>
          </p:nvSpPr>
          <p:spPr>
            <a:xfrm>
              <a:off x="8153400" y="783046"/>
              <a:ext cx="792369" cy="792369"/>
            </a:xfrm>
            <a:prstGeom prst="ellipse">
              <a:avLst/>
            </a:prstGeom>
            <a:solidFill>
              <a:schemeClr val="bg1">
                <a:alpha val="10000"/>
              </a:schemeClr>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rPr>
                <a:t>Visibility</a:t>
              </a:r>
            </a:p>
          </p:txBody>
        </p:sp>
        <p:sp>
          <p:nvSpPr>
            <p:cNvPr id="18" name="Oval 17">
              <a:extLst>
                <a:ext uri="{FF2B5EF4-FFF2-40B4-BE49-F238E27FC236}">
                  <a16:creationId xmlns:a16="http://schemas.microsoft.com/office/drawing/2014/main" id="{5F1656CB-6771-E579-807A-EF1059C2E107}"/>
                </a:ext>
              </a:extLst>
            </p:cNvPr>
            <p:cNvSpPr/>
            <p:nvPr/>
          </p:nvSpPr>
          <p:spPr>
            <a:xfrm>
              <a:off x="6238732" y="3981344"/>
              <a:ext cx="553905" cy="553905"/>
            </a:xfrm>
            <a:prstGeom prst="ellipse">
              <a:avLst/>
            </a:prstGeom>
            <a:solidFill>
              <a:schemeClr val="bg1">
                <a:alpha val="10000"/>
              </a:schemeClr>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endParaRPr>
            </a:p>
          </p:txBody>
        </p:sp>
        <p:sp>
          <p:nvSpPr>
            <p:cNvPr id="19" name="Oval 18">
              <a:extLst>
                <a:ext uri="{FF2B5EF4-FFF2-40B4-BE49-F238E27FC236}">
                  <a16:creationId xmlns:a16="http://schemas.microsoft.com/office/drawing/2014/main" id="{5408C427-92E3-18E0-6B9E-6A5A7BC343AF}"/>
                </a:ext>
              </a:extLst>
            </p:cNvPr>
            <p:cNvSpPr/>
            <p:nvPr/>
          </p:nvSpPr>
          <p:spPr>
            <a:xfrm>
              <a:off x="5046734" y="4275151"/>
              <a:ext cx="553905" cy="553905"/>
            </a:xfrm>
            <a:prstGeom prst="ellipse">
              <a:avLst/>
            </a:prstGeom>
            <a:solidFill>
              <a:schemeClr val="bg1">
                <a:alpha val="10000"/>
              </a:schemeClr>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endParaRPr>
            </a:p>
          </p:txBody>
        </p:sp>
        <p:sp>
          <p:nvSpPr>
            <p:cNvPr id="20" name="Oval 19">
              <a:extLst>
                <a:ext uri="{FF2B5EF4-FFF2-40B4-BE49-F238E27FC236}">
                  <a16:creationId xmlns:a16="http://schemas.microsoft.com/office/drawing/2014/main" id="{AEECCD71-BE6C-C483-BF2C-361EDEF451DE}"/>
                </a:ext>
              </a:extLst>
            </p:cNvPr>
            <p:cNvSpPr/>
            <p:nvPr/>
          </p:nvSpPr>
          <p:spPr>
            <a:xfrm>
              <a:off x="6489574" y="3649880"/>
              <a:ext cx="720532" cy="720532"/>
            </a:xfrm>
            <a:prstGeom prst="ellipse">
              <a:avLst/>
            </a:prstGeom>
            <a:solidFill>
              <a:schemeClr val="bg1">
                <a:alpha val="10000"/>
              </a:schemeClr>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endParaRPr>
            </a:p>
          </p:txBody>
        </p:sp>
        <p:sp>
          <p:nvSpPr>
            <p:cNvPr id="15" name="Oval 14">
              <a:extLst>
                <a:ext uri="{FF2B5EF4-FFF2-40B4-BE49-F238E27FC236}">
                  <a16:creationId xmlns:a16="http://schemas.microsoft.com/office/drawing/2014/main" id="{8E25E8E2-DE5B-8362-41DE-04E1310B21B3}"/>
                </a:ext>
              </a:extLst>
            </p:cNvPr>
            <p:cNvSpPr/>
            <p:nvPr/>
          </p:nvSpPr>
          <p:spPr>
            <a:xfrm>
              <a:off x="7760453" y="1824480"/>
              <a:ext cx="1294288" cy="1294288"/>
            </a:xfrm>
            <a:prstGeom prst="ellipse">
              <a:avLst/>
            </a:prstGeom>
            <a:solidFill>
              <a:schemeClr val="bg1">
                <a:alpha val="10000"/>
              </a:schemeClr>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endParaRPr>
            </a:p>
          </p:txBody>
        </p:sp>
        <p:sp>
          <p:nvSpPr>
            <p:cNvPr id="16" name="Oval 15">
              <a:extLst>
                <a:ext uri="{FF2B5EF4-FFF2-40B4-BE49-F238E27FC236}">
                  <a16:creationId xmlns:a16="http://schemas.microsoft.com/office/drawing/2014/main" id="{EAF5D5EA-DE52-6A7C-F0BD-0A165E42BFD5}"/>
                </a:ext>
              </a:extLst>
            </p:cNvPr>
            <p:cNvSpPr/>
            <p:nvPr/>
          </p:nvSpPr>
          <p:spPr>
            <a:xfrm>
              <a:off x="7348818" y="2213761"/>
              <a:ext cx="1603070" cy="1603070"/>
            </a:xfrm>
            <a:prstGeom prst="ellipse">
              <a:avLst/>
            </a:prstGeom>
            <a:solidFill>
              <a:schemeClr val="bg1">
                <a:alpha val="10000"/>
              </a:schemeClr>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endParaRPr>
            </a:p>
          </p:txBody>
        </p:sp>
        <p:sp>
          <p:nvSpPr>
            <p:cNvPr id="14" name="Oval 13">
              <a:extLst>
                <a:ext uri="{FF2B5EF4-FFF2-40B4-BE49-F238E27FC236}">
                  <a16:creationId xmlns:a16="http://schemas.microsoft.com/office/drawing/2014/main" id="{DA8C1937-571C-4665-B597-D8C46650879A}"/>
                </a:ext>
              </a:extLst>
            </p:cNvPr>
            <p:cNvSpPr/>
            <p:nvPr/>
          </p:nvSpPr>
          <p:spPr>
            <a:xfrm>
              <a:off x="6100893" y="1259413"/>
              <a:ext cx="1294288" cy="1294288"/>
            </a:xfrm>
            <a:prstGeom prst="ellipse">
              <a:avLst/>
            </a:prstGeom>
            <a:solidFill>
              <a:schemeClr val="bg1">
                <a:alpha val="10000"/>
              </a:schemeClr>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rPr>
                <a:t>Optimal</a:t>
              </a:r>
            </a:p>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rPr>
                <a:t>Longevity</a:t>
              </a:r>
            </a:p>
          </p:txBody>
        </p:sp>
        <p:sp>
          <p:nvSpPr>
            <p:cNvPr id="9" name="Oval 8">
              <a:extLst>
                <a:ext uri="{FF2B5EF4-FFF2-40B4-BE49-F238E27FC236}">
                  <a16:creationId xmlns:a16="http://schemas.microsoft.com/office/drawing/2014/main" id="{92F57529-0BD1-6312-3601-8BD08AB26A43}"/>
                </a:ext>
              </a:extLst>
            </p:cNvPr>
            <p:cNvSpPr/>
            <p:nvPr/>
          </p:nvSpPr>
          <p:spPr>
            <a:xfrm>
              <a:off x="5422537" y="2382465"/>
              <a:ext cx="944769" cy="944769"/>
            </a:xfrm>
            <a:prstGeom prst="ellipse">
              <a:avLst/>
            </a:prstGeom>
            <a:solidFill>
              <a:schemeClr val="bg1">
                <a:alpha val="10000"/>
              </a:schemeClr>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rPr>
                <a:t>Open</a:t>
              </a:r>
            </a:p>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rPr>
                <a:t>Invitation</a:t>
              </a:r>
            </a:p>
          </p:txBody>
        </p:sp>
        <p:sp>
          <p:nvSpPr>
            <p:cNvPr id="11" name="TextBox 10">
              <a:extLst>
                <a:ext uri="{FF2B5EF4-FFF2-40B4-BE49-F238E27FC236}">
                  <a16:creationId xmlns:a16="http://schemas.microsoft.com/office/drawing/2014/main" id="{B7E806E3-1D4C-5398-C840-22C5CA4B1F00}"/>
                </a:ext>
              </a:extLst>
            </p:cNvPr>
            <p:cNvSpPr txBox="1"/>
            <p:nvPr/>
          </p:nvSpPr>
          <p:spPr>
            <a:xfrm>
              <a:off x="3307239" y="3342855"/>
              <a:ext cx="1114899" cy="261034"/>
            </a:xfrm>
            <a:prstGeom prst="rect">
              <a:avLst/>
            </a:prstGeom>
            <a:noFill/>
          </p:spPr>
          <p:txBody>
            <a:bodyPr wrap="square" rtlCol="0">
              <a:spAutoFit/>
            </a:bodyPr>
            <a:lstStyle/>
            <a:p>
              <a:pPr algn="ctr">
                <a:lnSpc>
                  <a:spcPct val="150000"/>
                </a:lnSpc>
              </a:pPr>
              <a:r>
                <a:rPr lang="en-US" sz="800" dirty="0">
                  <a:solidFill>
                    <a:schemeClr val="bg1"/>
                  </a:solidFill>
                  <a:latin typeface="Avenir Medium" panose="02000503020000020003" pitchFamily="2" charset="0"/>
                </a:rPr>
                <a:t>Needs</a:t>
              </a:r>
            </a:p>
          </p:txBody>
        </p:sp>
        <p:sp>
          <p:nvSpPr>
            <p:cNvPr id="6" name="Oval 5">
              <a:extLst>
                <a:ext uri="{FF2B5EF4-FFF2-40B4-BE49-F238E27FC236}">
                  <a16:creationId xmlns:a16="http://schemas.microsoft.com/office/drawing/2014/main" id="{F3E7003B-6A6A-A727-3C1C-C630AC6CAF94}"/>
                </a:ext>
              </a:extLst>
            </p:cNvPr>
            <p:cNvSpPr/>
            <p:nvPr/>
          </p:nvSpPr>
          <p:spPr>
            <a:xfrm>
              <a:off x="4028294" y="810788"/>
              <a:ext cx="1707327" cy="1707327"/>
            </a:xfrm>
            <a:prstGeom prst="ellipse">
              <a:avLst/>
            </a:prstGeom>
            <a:solidFill>
              <a:schemeClr val="bg1">
                <a:alpha val="10000"/>
              </a:schemeClr>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rPr>
                <a:t>Sense of</a:t>
              </a:r>
            </a:p>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rPr>
                <a:t>Belonging</a:t>
              </a:r>
            </a:p>
          </p:txBody>
        </p:sp>
        <p:sp>
          <p:nvSpPr>
            <p:cNvPr id="10" name="TextBox 9">
              <a:extLst>
                <a:ext uri="{FF2B5EF4-FFF2-40B4-BE49-F238E27FC236}">
                  <a16:creationId xmlns:a16="http://schemas.microsoft.com/office/drawing/2014/main" id="{E48F47D4-6216-8471-19AE-1112E4D5ED49}"/>
                </a:ext>
              </a:extLst>
            </p:cNvPr>
            <p:cNvSpPr txBox="1"/>
            <p:nvPr/>
          </p:nvSpPr>
          <p:spPr>
            <a:xfrm>
              <a:off x="10896537" y="3356007"/>
              <a:ext cx="1002553" cy="234730"/>
            </a:xfrm>
            <a:prstGeom prst="rect">
              <a:avLst/>
            </a:prstGeom>
            <a:noFill/>
          </p:spPr>
          <p:txBody>
            <a:bodyPr wrap="square" rtlCol="0">
              <a:spAutoFit/>
            </a:bodyPr>
            <a:lstStyle/>
            <a:p>
              <a:pPr algn="ctr">
                <a:lnSpc>
                  <a:spcPct val="150000"/>
                </a:lnSpc>
              </a:pPr>
              <a:r>
                <a:rPr lang="en-US" sz="800" dirty="0">
                  <a:solidFill>
                    <a:schemeClr val="bg1"/>
                  </a:solidFill>
                  <a:latin typeface="Avenir Medium" panose="02000503020000020003" pitchFamily="2" charset="0"/>
                </a:rPr>
                <a:t>Wants</a:t>
              </a:r>
            </a:p>
          </p:txBody>
        </p:sp>
        <p:sp>
          <p:nvSpPr>
            <p:cNvPr id="12" name="TextBox 11">
              <a:extLst>
                <a:ext uri="{FF2B5EF4-FFF2-40B4-BE49-F238E27FC236}">
                  <a16:creationId xmlns:a16="http://schemas.microsoft.com/office/drawing/2014/main" id="{63E32E2D-F299-7BBA-B3BF-27C07BF1E4E5}"/>
                </a:ext>
              </a:extLst>
            </p:cNvPr>
            <p:cNvSpPr txBox="1"/>
            <p:nvPr/>
          </p:nvSpPr>
          <p:spPr>
            <a:xfrm>
              <a:off x="7170977" y="6102043"/>
              <a:ext cx="1002553" cy="234730"/>
            </a:xfrm>
            <a:prstGeom prst="rect">
              <a:avLst/>
            </a:prstGeom>
            <a:noFill/>
          </p:spPr>
          <p:txBody>
            <a:bodyPr wrap="square" rtlCol="0">
              <a:spAutoFit/>
            </a:bodyPr>
            <a:lstStyle/>
            <a:p>
              <a:pPr algn="ctr">
                <a:lnSpc>
                  <a:spcPct val="150000"/>
                </a:lnSpc>
              </a:pPr>
              <a:r>
                <a:rPr lang="en-US" sz="800" dirty="0">
                  <a:solidFill>
                    <a:schemeClr val="bg1"/>
                  </a:solidFill>
                  <a:latin typeface="Avenir Medium" panose="02000503020000020003" pitchFamily="2" charset="0"/>
                </a:rPr>
                <a:t>Pain Points</a:t>
              </a:r>
            </a:p>
          </p:txBody>
        </p:sp>
        <p:sp>
          <p:nvSpPr>
            <p:cNvPr id="13" name="TextBox 12">
              <a:extLst>
                <a:ext uri="{FF2B5EF4-FFF2-40B4-BE49-F238E27FC236}">
                  <a16:creationId xmlns:a16="http://schemas.microsoft.com/office/drawing/2014/main" id="{CD383EAD-9E52-EBAC-0C0C-7C329CDEA2CF}"/>
                </a:ext>
              </a:extLst>
            </p:cNvPr>
            <p:cNvSpPr txBox="1"/>
            <p:nvPr/>
          </p:nvSpPr>
          <p:spPr>
            <a:xfrm>
              <a:off x="7170977" y="648874"/>
              <a:ext cx="1002553" cy="234730"/>
            </a:xfrm>
            <a:prstGeom prst="rect">
              <a:avLst/>
            </a:prstGeom>
            <a:noFill/>
          </p:spPr>
          <p:txBody>
            <a:bodyPr wrap="square" rtlCol="0">
              <a:spAutoFit/>
            </a:bodyPr>
            <a:lstStyle/>
            <a:p>
              <a:pPr algn="ctr">
                <a:lnSpc>
                  <a:spcPct val="150000"/>
                </a:lnSpc>
              </a:pPr>
              <a:r>
                <a:rPr lang="en-US" sz="800" dirty="0">
                  <a:solidFill>
                    <a:schemeClr val="bg1"/>
                  </a:solidFill>
                  <a:latin typeface="Avenir Medium" panose="02000503020000020003" pitchFamily="2" charset="0"/>
                </a:rPr>
                <a:t>Thresholds</a:t>
              </a:r>
            </a:p>
          </p:txBody>
        </p:sp>
        <p:sp>
          <p:nvSpPr>
            <p:cNvPr id="63" name="TextBox 62">
              <a:extLst>
                <a:ext uri="{FF2B5EF4-FFF2-40B4-BE49-F238E27FC236}">
                  <a16:creationId xmlns:a16="http://schemas.microsoft.com/office/drawing/2014/main" id="{19AE1E8B-BC5A-F219-819F-50D7B3FE122C}"/>
                </a:ext>
              </a:extLst>
            </p:cNvPr>
            <p:cNvSpPr txBox="1"/>
            <p:nvPr/>
          </p:nvSpPr>
          <p:spPr>
            <a:xfrm>
              <a:off x="7775161" y="2416599"/>
              <a:ext cx="1002553" cy="400787"/>
            </a:xfrm>
            <a:prstGeom prst="rect">
              <a:avLst/>
            </a:prstGeom>
            <a:noFill/>
          </p:spPr>
          <p:txBody>
            <a:bodyPr wrap="square" rtlCol="0">
              <a:spAutoFit/>
            </a:bodyPr>
            <a:lstStyle/>
            <a:p>
              <a:pPr algn="ctr">
                <a:lnSpc>
                  <a:spcPct val="150000"/>
                </a:lnSpc>
              </a:pPr>
              <a:r>
                <a:rPr lang="en-US" sz="800" dirty="0">
                  <a:solidFill>
                    <a:schemeClr val="bg1"/>
                  </a:solidFill>
                  <a:latin typeface="Avenir Book" panose="02000503020000020003" pitchFamily="2" charset="0"/>
                </a:rPr>
                <a:t>Big-Picture</a:t>
              </a:r>
            </a:p>
            <a:p>
              <a:pPr algn="ctr">
                <a:lnSpc>
                  <a:spcPct val="150000"/>
                </a:lnSpc>
              </a:pPr>
              <a:r>
                <a:rPr lang="en-US" sz="800" dirty="0">
                  <a:solidFill>
                    <a:schemeClr val="bg1"/>
                  </a:solidFill>
                  <a:latin typeface="Avenir Book" panose="02000503020000020003" pitchFamily="2" charset="0"/>
                </a:rPr>
                <a:t>Vision Setting</a:t>
              </a:r>
            </a:p>
          </p:txBody>
        </p:sp>
        <p:sp>
          <p:nvSpPr>
            <p:cNvPr id="70" name="TextBox 69">
              <a:extLst>
                <a:ext uri="{FF2B5EF4-FFF2-40B4-BE49-F238E27FC236}">
                  <a16:creationId xmlns:a16="http://schemas.microsoft.com/office/drawing/2014/main" id="{AB1E72D2-2443-CD87-374A-14CA3346211F}"/>
                </a:ext>
              </a:extLst>
            </p:cNvPr>
            <p:cNvSpPr txBox="1"/>
            <p:nvPr/>
          </p:nvSpPr>
          <p:spPr>
            <a:xfrm>
              <a:off x="6343184" y="3745974"/>
              <a:ext cx="1002553" cy="229713"/>
            </a:xfrm>
            <a:prstGeom prst="rect">
              <a:avLst/>
            </a:prstGeom>
            <a:noFill/>
          </p:spPr>
          <p:txBody>
            <a:bodyPr wrap="square" rtlCol="0">
              <a:spAutoFit/>
            </a:bodyPr>
            <a:lstStyle/>
            <a:p>
              <a:pPr algn="ctr">
                <a:lnSpc>
                  <a:spcPct val="150000"/>
                </a:lnSpc>
              </a:pPr>
              <a:r>
                <a:rPr lang="en-US" sz="800" dirty="0">
                  <a:solidFill>
                    <a:schemeClr val="bg1"/>
                  </a:solidFill>
                  <a:latin typeface="Gotham Rounded Book" pitchFamily="2" charset="0"/>
                </a:rPr>
                <a:t> </a:t>
              </a:r>
            </a:p>
          </p:txBody>
        </p:sp>
        <p:sp>
          <p:nvSpPr>
            <p:cNvPr id="25" name="Oval 24">
              <a:extLst>
                <a:ext uri="{FF2B5EF4-FFF2-40B4-BE49-F238E27FC236}">
                  <a16:creationId xmlns:a16="http://schemas.microsoft.com/office/drawing/2014/main" id="{211C9BAA-A1DA-98B3-BA3B-F8187E872746}"/>
                </a:ext>
              </a:extLst>
            </p:cNvPr>
            <p:cNvSpPr/>
            <p:nvPr/>
          </p:nvSpPr>
          <p:spPr>
            <a:xfrm>
              <a:off x="9092506" y="1475961"/>
              <a:ext cx="611482" cy="611482"/>
            </a:xfrm>
            <a:prstGeom prst="ellipse">
              <a:avLst/>
            </a:prstGeom>
            <a:solidFill>
              <a:schemeClr val="bg1">
                <a:alpha val="10000"/>
              </a:schemeClr>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rPr>
                <a:t>Love</a:t>
              </a:r>
            </a:p>
          </p:txBody>
        </p:sp>
        <p:cxnSp>
          <p:nvCxnSpPr>
            <p:cNvPr id="52" name="Straight Connector 51">
              <a:extLst>
                <a:ext uri="{FF2B5EF4-FFF2-40B4-BE49-F238E27FC236}">
                  <a16:creationId xmlns:a16="http://schemas.microsoft.com/office/drawing/2014/main" id="{E70CFB47-562A-FCA8-F05A-1C376F027EA2}"/>
                </a:ext>
              </a:extLst>
            </p:cNvPr>
            <p:cNvCxnSpPr>
              <a:cxnSpLocks/>
            </p:cNvCxnSpPr>
            <p:nvPr/>
          </p:nvCxnSpPr>
          <p:spPr>
            <a:xfrm flipH="1">
              <a:off x="4270126" y="3499414"/>
              <a:ext cx="6804253" cy="0"/>
            </a:xfrm>
            <a:prstGeom prst="line">
              <a:avLst/>
            </a:prstGeom>
            <a:ln w="12700">
              <a:solidFill>
                <a:schemeClr val="bg1"/>
              </a:solidFill>
              <a:headEnd type="arrow" w="med" len="sm"/>
              <a:tailEnd type="arrow" w="med" len="sm"/>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8912296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740F89-DA83-9ED4-6E8A-6A48707C7E87}"/>
            </a:ext>
          </a:extLst>
        </p:cNvPr>
        <p:cNvGrpSpPr/>
        <p:nvPr/>
      </p:nvGrpSpPr>
      <p:grpSpPr>
        <a:xfrm>
          <a:off x="0" y="0"/>
          <a:ext cx="0" cy="0"/>
          <a:chOff x="0" y="0"/>
          <a:chExt cx="0" cy="0"/>
        </a:xfrm>
      </p:grpSpPr>
      <p:sp>
        <p:nvSpPr>
          <p:cNvPr id="6" name="Rounded Rectangle 5">
            <a:extLst>
              <a:ext uri="{FF2B5EF4-FFF2-40B4-BE49-F238E27FC236}">
                <a16:creationId xmlns:a16="http://schemas.microsoft.com/office/drawing/2014/main" id="{5401BE92-107C-2829-14B9-56D69C604C01}"/>
              </a:ext>
            </a:extLst>
          </p:cNvPr>
          <p:cNvSpPr/>
          <p:nvPr/>
        </p:nvSpPr>
        <p:spPr>
          <a:xfrm>
            <a:off x="8370697" y="1183539"/>
            <a:ext cx="3364103" cy="4488392"/>
          </a:xfrm>
          <a:prstGeom prst="roundRect">
            <a:avLst>
              <a:gd name="adj" fmla="val 5491"/>
            </a:avLst>
          </a:prstGeom>
          <a:gradFill flip="none" rotWithShape="1">
            <a:gsLst>
              <a:gs pos="16000">
                <a:srgbClr val="75C6D6">
                  <a:alpha val="90000"/>
                </a:srgbClr>
              </a:gs>
              <a:gs pos="0">
                <a:srgbClr val="95CFD6">
                  <a:alpha val="80000"/>
                </a:srgbClr>
              </a:gs>
              <a:gs pos="39000">
                <a:srgbClr val="75B8D4">
                  <a:alpha val="90000"/>
                </a:srgbClr>
              </a:gs>
              <a:gs pos="70000">
                <a:srgbClr val="8CA3BA">
                  <a:alpha val="80000"/>
                </a:srgbClr>
              </a:gs>
              <a:gs pos="99000">
                <a:srgbClr val="9F9CBD">
                  <a:alpha val="80000"/>
                </a:srgbClr>
              </a:gs>
            </a:gsLst>
            <a:lin ang="5400000" scaled="1"/>
            <a:tileRect/>
          </a:gradFill>
          <a:ln w="12700">
            <a:solidFill>
              <a:schemeClr val="bg1">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ounded Rectangle 4">
            <a:extLst>
              <a:ext uri="{FF2B5EF4-FFF2-40B4-BE49-F238E27FC236}">
                <a16:creationId xmlns:a16="http://schemas.microsoft.com/office/drawing/2014/main" id="{BD0DB356-5D56-4E0C-43A6-C60FA180963F}"/>
              </a:ext>
            </a:extLst>
          </p:cNvPr>
          <p:cNvSpPr/>
          <p:nvPr/>
        </p:nvSpPr>
        <p:spPr>
          <a:xfrm>
            <a:off x="4387045" y="1183539"/>
            <a:ext cx="3364103" cy="4488392"/>
          </a:xfrm>
          <a:prstGeom prst="roundRect">
            <a:avLst>
              <a:gd name="adj" fmla="val 5491"/>
            </a:avLst>
          </a:prstGeom>
          <a:gradFill flip="none" rotWithShape="1">
            <a:gsLst>
              <a:gs pos="16000">
                <a:srgbClr val="75C6D6">
                  <a:alpha val="90000"/>
                </a:srgbClr>
              </a:gs>
              <a:gs pos="0">
                <a:srgbClr val="95CFD6">
                  <a:alpha val="80000"/>
                </a:srgbClr>
              </a:gs>
              <a:gs pos="39000">
                <a:srgbClr val="75B8D4">
                  <a:alpha val="90000"/>
                </a:srgbClr>
              </a:gs>
              <a:gs pos="70000">
                <a:srgbClr val="8CA3BA">
                  <a:alpha val="80000"/>
                </a:srgbClr>
              </a:gs>
              <a:gs pos="99000">
                <a:srgbClr val="9F9CBD">
                  <a:alpha val="80000"/>
                </a:srgbClr>
              </a:gs>
            </a:gsLst>
            <a:lin ang="5400000" scaled="1"/>
            <a:tileRect/>
          </a:gradFill>
          <a:ln w="12700">
            <a:solidFill>
              <a:schemeClr val="bg1">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a:extLst>
              <a:ext uri="{FF2B5EF4-FFF2-40B4-BE49-F238E27FC236}">
                <a16:creationId xmlns:a16="http://schemas.microsoft.com/office/drawing/2014/main" id="{1D0BA2D5-D6BF-F56E-8DE9-5D1688263DC6}"/>
              </a:ext>
            </a:extLst>
          </p:cNvPr>
          <p:cNvSpPr/>
          <p:nvPr/>
        </p:nvSpPr>
        <p:spPr>
          <a:xfrm>
            <a:off x="401638" y="1183539"/>
            <a:ext cx="3364103" cy="4488392"/>
          </a:xfrm>
          <a:prstGeom prst="roundRect">
            <a:avLst>
              <a:gd name="adj" fmla="val 5491"/>
            </a:avLst>
          </a:prstGeom>
          <a:gradFill flip="none" rotWithShape="1">
            <a:gsLst>
              <a:gs pos="16000">
                <a:srgbClr val="75C6D6">
                  <a:alpha val="90000"/>
                </a:srgbClr>
              </a:gs>
              <a:gs pos="0">
                <a:srgbClr val="95CFD6">
                  <a:alpha val="80000"/>
                </a:srgbClr>
              </a:gs>
              <a:gs pos="39000">
                <a:srgbClr val="75B8D4">
                  <a:alpha val="90000"/>
                </a:srgbClr>
              </a:gs>
              <a:gs pos="70000">
                <a:srgbClr val="8CA3BA">
                  <a:alpha val="80000"/>
                </a:srgbClr>
              </a:gs>
              <a:gs pos="99000">
                <a:srgbClr val="9F9CBD">
                  <a:alpha val="80000"/>
                </a:srgbClr>
              </a:gs>
            </a:gsLst>
            <a:lin ang="5400000" scaled="1"/>
            <a:tileRect/>
          </a:gradFill>
          <a:ln w="12700">
            <a:solidFill>
              <a:schemeClr val="bg1">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A8491642-75F8-0DDB-33DA-AC130A21E4BB}"/>
              </a:ext>
            </a:extLst>
          </p:cNvPr>
          <p:cNvSpPr/>
          <p:nvPr/>
        </p:nvSpPr>
        <p:spPr>
          <a:xfrm>
            <a:off x="3365738" y="1952703"/>
            <a:ext cx="131332" cy="131332"/>
          </a:xfrm>
          <a:prstGeom prst="ellipse">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endParaRPr>
          </a:p>
        </p:txBody>
      </p:sp>
      <p:sp>
        <p:nvSpPr>
          <p:cNvPr id="9" name="Oval 8">
            <a:extLst>
              <a:ext uri="{FF2B5EF4-FFF2-40B4-BE49-F238E27FC236}">
                <a16:creationId xmlns:a16="http://schemas.microsoft.com/office/drawing/2014/main" id="{58FD7067-10F0-C889-C6A5-5E40FEC5DC54}"/>
              </a:ext>
            </a:extLst>
          </p:cNvPr>
          <p:cNvSpPr/>
          <p:nvPr/>
        </p:nvSpPr>
        <p:spPr>
          <a:xfrm>
            <a:off x="7334726" y="2219651"/>
            <a:ext cx="131332" cy="131332"/>
          </a:xfrm>
          <a:prstGeom prst="ellipse">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endParaRPr>
          </a:p>
        </p:txBody>
      </p:sp>
      <p:sp>
        <p:nvSpPr>
          <p:cNvPr id="12" name="Oval 11">
            <a:extLst>
              <a:ext uri="{FF2B5EF4-FFF2-40B4-BE49-F238E27FC236}">
                <a16:creationId xmlns:a16="http://schemas.microsoft.com/office/drawing/2014/main" id="{62432609-7720-515A-9D37-8DF9198A7AF9}"/>
              </a:ext>
            </a:extLst>
          </p:cNvPr>
          <p:cNvSpPr/>
          <p:nvPr/>
        </p:nvSpPr>
        <p:spPr>
          <a:xfrm>
            <a:off x="11348341" y="1950414"/>
            <a:ext cx="131332" cy="131332"/>
          </a:xfrm>
          <a:prstGeom prst="ellipse">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endParaRPr>
          </a:p>
        </p:txBody>
      </p:sp>
      <p:sp>
        <p:nvSpPr>
          <p:cNvPr id="88" name="TextBox 87">
            <a:extLst>
              <a:ext uri="{FF2B5EF4-FFF2-40B4-BE49-F238E27FC236}">
                <a16:creationId xmlns:a16="http://schemas.microsoft.com/office/drawing/2014/main" id="{5D17DEF8-774A-DD4F-C4E7-E69747CFD9A3}"/>
              </a:ext>
            </a:extLst>
          </p:cNvPr>
          <p:cNvSpPr txBox="1"/>
          <p:nvPr/>
        </p:nvSpPr>
        <p:spPr>
          <a:xfrm>
            <a:off x="629363" y="1388086"/>
            <a:ext cx="2909387" cy="184666"/>
          </a:xfrm>
          <a:prstGeom prst="rect">
            <a:avLst/>
          </a:prstGeom>
          <a:noFill/>
        </p:spPr>
        <p:txBody>
          <a:bodyPr wrap="square" lIns="0" tIns="0" rIns="0" bIns="0" rtlCol="0">
            <a:spAutoFit/>
          </a:bodyPr>
          <a:lstStyle/>
          <a:p>
            <a:r>
              <a:rPr lang="en-US" sz="1200" dirty="0">
                <a:solidFill>
                  <a:schemeClr val="bg1"/>
                </a:solidFill>
                <a:latin typeface="Avenir Medium" panose="02000503020000020003" pitchFamily="2" charset="0"/>
              </a:rPr>
              <a:t>ENGAGEMENT &amp; RETENTION</a:t>
            </a:r>
          </a:p>
        </p:txBody>
      </p:sp>
      <p:sp>
        <p:nvSpPr>
          <p:cNvPr id="122" name="TextBox 121">
            <a:extLst>
              <a:ext uri="{FF2B5EF4-FFF2-40B4-BE49-F238E27FC236}">
                <a16:creationId xmlns:a16="http://schemas.microsoft.com/office/drawing/2014/main" id="{1D4FCB45-DF62-C6AE-17D5-69B0F21CCECF}"/>
              </a:ext>
            </a:extLst>
          </p:cNvPr>
          <p:cNvSpPr txBox="1"/>
          <p:nvPr/>
        </p:nvSpPr>
        <p:spPr>
          <a:xfrm>
            <a:off x="8598056" y="1388086"/>
            <a:ext cx="2909387" cy="184666"/>
          </a:xfrm>
          <a:prstGeom prst="rect">
            <a:avLst/>
          </a:prstGeom>
          <a:noFill/>
        </p:spPr>
        <p:txBody>
          <a:bodyPr wrap="square" lIns="0" tIns="0" rIns="0" bIns="0" rtlCol="0">
            <a:spAutoFit/>
          </a:bodyPr>
          <a:lstStyle/>
          <a:p>
            <a:r>
              <a:rPr lang="en-US" sz="1200" dirty="0">
                <a:solidFill>
                  <a:schemeClr val="bg1"/>
                </a:solidFill>
                <a:latin typeface="Avenir Medium" panose="02000503020000020003" pitchFamily="2" charset="0"/>
              </a:rPr>
              <a:t>QUARTERLY MARGINS (Q3)</a:t>
            </a:r>
          </a:p>
        </p:txBody>
      </p:sp>
      <p:cxnSp>
        <p:nvCxnSpPr>
          <p:cNvPr id="10" name="Straight Connector 9">
            <a:extLst>
              <a:ext uri="{FF2B5EF4-FFF2-40B4-BE49-F238E27FC236}">
                <a16:creationId xmlns:a16="http://schemas.microsoft.com/office/drawing/2014/main" id="{E916AEDC-6154-3545-2B03-00973C304182}"/>
              </a:ext>
            </a:extLst>
          </p:cNvPr>
          <p:cNvCxnSpPr>
            <a:cxnSpLocks/>
          </p:cNvCxnSpPr>
          <p:nvPr/>
        </p:nvCxnSpPr>
        <p:spPr>
          <a:xfrm>
            <a:off x="2329447" y="4052985"/>
            <a:ext cx="1135248" cy="0"/>
          </a:xfrm>
          <a:prstGeom prst="line">
            <a:avLst/>
          </a:prstGeom>
          <a:ln>
            <a:solidFill>
              <a:schemeClr val="bg1"/>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A5D93B69-9B9C-B776-974C-059DC2951CD8}"/>
              </a:ext>
            </a:extLst>
          </p:cNvPr>
          <p:cNvSpPr txBox="1"/>
          <p:nvPr/>
        </p:nvSpPr>
        <p:spPr>
          <a:xfrm>
            <a:off x="2329447" y="4056938"/>
            <a:ext cx="1135248" cy="189796"/>
          </a:xfrm>
          <a:prstGeom prst="rect">
            <a:avLst/>
          </a:prstGeom>
          <a:noFill/>
        </p:spPr>
        <p:txBody>
          <a:bodyPr wrap="square" lIns="0" tIns="0" rIns="0" bIns="0" rtlCol="0">
            <a:spAutoFit/>
          </a:bodyPr>
          <a:lstStyle/>
          <a:p>
            <a:pPr>
              <a:lnSpc>
                <a:spcPct val="150000"/>
              </a:lnSpc>
            </a:pPr>
            <a:r>
              <a:rPr lang="en-US" sz="900" dirty="0">
                <a:solidFill>
                  <a:schemeClr val="bg1"/>
                </a:solidFill>
                <a:latin typeface="Avenir Book" panose="02000503020000020003" pitchFamily="2" charset="0"/>
              </a:rPr>
              <a:t>Planning</a:t>
            </a:r>
          </a:p>
        </p:txBody>
      </p:sp>
      <p:cxnSp>
        <p:nvCxnSpPr>
          <p:cNvPr id="74" name="Straight Connector 73">
            <a:extLst>
              <a:ext uri="{FF2B5EF4-FFF2-40B4-BE49-F238E27FC236}">
                <a16:creationId xmlns:a16="http://schemas.microsoft.com/office/drawing/2014/main" id="{5337A6B2-53EE-648D-E47C-0AE7954F5ECE}"/>
              </a:ext>
            </a:extLst>
          </p:cNvPr>
          <p:cNvCxnSpPr>
            <a:cxnSpLocks/>
          </p:cNvCxnSpPr>
          <p:nvPr/>
        </p:nvCxnSpPr>
        <p:spPr>
          <a:xfrm>
            <a:off x="629363" y="4052985"/>
            <a:ext cx="1135248" cy="0"/>
          </a:xfrm>
          <a:prstGeom prst="line">
            <a:avLst/>
          </a:prstGeom>
          <a:ln>
            <a:solidFill>
              <a:schemeClr val="bg1"/>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75" name="TextBox 74">
            <a:extLst>
              <a:ext uri="{FF2B5EF4-FFF2-40B4-BE49-F238E27FC236}">
                <a16:creationId xmlns:a16="http://schemas.microsoft.com/office/drawing/2014/main" id="{CA6262CD-7536-96DB-864F-C14C0DD161B3}"/>
              </a:ext>
            </a:extLst>
          </p:cNvPr>
          <p:cNvSpPr txBox="1"/>
          <p:nvPr/>
        </p:nvSpPr>
        <p:spPr>
          <a:xfrm>
            <a:off x="629363" y="4056938"/>
            <a:ext cx="1135248" cy="189796"/>
          </a:xfrm>
          <a:prstGeom prst="rect">
            <a:avLst/>
          </a:prstGeom>
          <a:noFill/>
        </p:spPr>
        <p:txBody>
          <a:bodyPr wrap="square" lIns="0" tIns="0" rIns="0" bIns="0" rtlCol="0">
            <a:spAutoFit/>
          </a:bodyPr>
          <a:lstStyle/>
          <a:p>
            <a:pPr>
              <a:lnSpc>
                <a:spcPct val="150000"/>
              </a:lnSpc>
            </a:pPr>
            <a:r>
              <a:rPr lang="en-US" sz="900" dirty="0">
                <a:solidFill>
                  <a:schemeClr val="bg1"/>
                </a:solidFill>
                <a:latin typeface="Avenir Book" panose="02000503020000020003" pitchFamily="2" charset="0"/>
              </a:rPr>
              <a:t>Growth</a:t>
            </a:r>
          </a:p>
        </p:txBody>
      </p:sp>
      <p:cxnSp>
        <p:nvCxnSpPr>
          <p:cNvPr id="85" name="Straight Connector 84">
            <a:extLst>
              <a:ext uri="{FF2B5EF4-FFF2-40B4-BE49-F238E27FC236}">
                <a16:creationId xmlns:a16="http://schemas.microsoft.com/office/drawing/2014/main" id="{DC4675A2-A613-591D-82DC-4A57661050D3}"/>
              </a:ext>
            </a:extLst>
          </p:cNvPr>
          <p:cNvCxnSpPr>
            <a:cxnSpLocks/>
          </p:cNvCxnSpPr>
          <p:nvPr/>
        </p:nvCxnSpPr>
        <p:spPr>
          <a:xfrm>
            <a:off x="629363" y="4649885"/>
            <a:ext cx="2703562" cy="0"/>
          </a:xfrm>
          <a:prstGeom prst="line">
            <a:avLst/>
          </a:prstGeom>
          <a:ln>
            <a:solidFill>
              <a:schemeClr val="bg1">
                <a:alpha val="50000"/>
              </a:schemeClr>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7" name="Straight Connector 76">
            <a:extLst>
              <a:ext uri="{FF2B5EF4-FFF2-40B4-BE49-F238E27FC236}">
                <a16:creationId xmlns:a16="http://schemas.microsoft.com/office/drawing/2014/main" id="{683C2D83-6E16-C0D3-81E3-6CDB86DFEFD5}"/>
              </a:ext>
            </a:extLst>
          </p:cNvPr>
          <p:cNvCxnSpPr>
            <a:cxnSpLocks/>
          </p:cNvCxnSpPr>
          <p:nvPr/>
        </p:nvCxnSpPr>
        <p:spPr>
          <a:xfrm>
            <a:off x="2329447" y="3424335"/>
            <a:ext cx="1135248" cy="0"/>
          </a:xfrm>
          <a:prstGeom prst="line">
            <a:avLst/>
          </a:prstGeom>
          <a:ln>
            <a:solidFill>
              <a:schemeClr val="bg1"/>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78" name="TextBox 77">
            <a:extLst>
              <a:ext uri="{FF2B5EF4-FFF2-40B4-BE49-F238E27FC236}">
                <a16:creationId xmlns:a16="http://schemas.microsoft.com/office/drawing/2014/main" id="{9471BCE2-2C34-0D79-042A-F03C8A8B7E7F}"/>
              </a:ext>
            </a:extLst>
          </p:cNvPr>
          <p:cNvSpPr txBox="1"/>
          <p:nvPr/>
        </p:nvSpPr>
        <p:spPr>
          <a:xfrm>
            <a:off x="2329447" y="3428288"/>
            <a:ext cx="1135248" cy="189796"/>
          </a:xfrm>
          <a:prstGeom prst="rect">
            <a:avLst/>
          </a:prstGeom>
          <a:noFill/>
        </p:spPr>
        <p:txBody>
          <a:bodyPr wrap="square" lIns="0" tIns="0" rIns="0" bIns="0" rtlCol="0">
            <a:spAutoFit/>
          </a:bodyPr>
          <a:lstStyle/>
          <a:p>
            <a:pPr>
              <a:lnSpc>
                <a:spcPct val="150000"/>
              </a:lnSpc>
            </a:pPr>
            <a:r>
              <a:rPr lang="en-US" sz="900" dirty="0">
                <a:solidFill>
                  <a:schemeClr val="bg1"/>
                </a:solidFill>
                <a:latin typeface="Avenir Book" panose="02000503020000020003" pitchFamily="2" charset="0"/>
              </a:rPr>
              <a:t>Design</a:t>
            </a:r>
          </a:p>
        </p:txBody>
      </p:sp>
      <p:cxnSp>
        <p:nvCxnSpPr>
          <p:cNvPr id="80" name="Straight Connector 79">
            <a:extLst>
              <a:ext uri="{FF2B5EF4-FFF2-40B4-BE49-F238E27FC236}">
                <a16:creationId xmlns:a16="http://schemas.microsoft.com/office/drawing/2014/main" id="{AFAAD2F8-C041-527E-DA64-EBB5A2DC36DE}"/>
              </a:ext>
            </a:extLst>
          </p:cNvPr>
          <p:cNvCxnSpPr>
            <a:cxnSpLocks/>
          </p:cNvCxnSpPr>
          <p:nvPr/>
        </p:nvCxnSpPr>
        <p:spPr>
          <a:xfrm>
            <a:off x="629363" y="3424335"/>
            <a:ext cx="1135248" cy="0"/>
          </a:xfrm>
          <a:prstGeom prst="line">
            <a:avLst/>
          </a:prstGeom>
          <a:ln>
            <a:solidFill>
              <a:schemeClr val="bg1"/>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81" name="TextBox 80">
            <a:extLst>
              <a:ext uri="{FF2B5EF4-FFF2-40B4-BE49-F238E27FC236}">
                <a16:creationId xmlns:a16="http://schemas.microsoft.com/office/drawing/2014/main" id="{F00018F1-A3C0-40F8-DB36-88CF09945659}"/>
              </a:ext>
            </a:extLst>
          </p:cNvPr>
          <p:cNvSpPr txBox="1"/>
          <p:nvPr/>
        </p:nvSpPr>
        <p:spPr>
          <a:xfrm>
            <a:off x="629363" y="3428288"/>
            <a:ext cx="1135248" cy="189796"/>
          </a:xfrm>
          <a:prstGeom prst="rect">
            <a:avLst/>
          </a:prstGeom>
          <a:noFill/>
        </p:spPr>
        <p:txBody>
          <a:bodyPr wrap="square" lIns="0" tIns="0" rIns="0" bIns="0" rtlCol="0">
            <a:spAutoFit/>
          </a:bodyPr>
          <a:lstStyle/>
          <a:p>
            <a:pPr>
              <a:lnSpc>
                <a:spcPct val="150000"/>
              </a:lnSpc>
            </a:pPr>
            <a:r>
              <a:rPr lang="en-US" sz="900" dirty="0">
                <a:solidFill>
                  <a:schemeClr val="bg1"/>
                </a:solidFill>
                <a:latin typeface="Avenir Book" panose="02000503020000020003" pitchFamily="2" charset="0"/>
              </a:rPr>
              <a:t>Social Metrics</a:t>
            </a:r>
          </a:p>
        </p:txBody>
      </p:sp>
      <p:sp>
        <p:nvSpPr>
          <p:cNvPr id="84" name="TextBox 83">
            <a:extLst>
              <a:ext uri="{FF2B5EF4-FFF2-40B4-BE49-F238E27FC236}">
                <a16:creationId xmlns:a16="http://schemas.microsoft.com/office/drawing/2014/main" id="{C7AE1D5A-9DEA-55B5-CBD7-7C6193B06DD4}"/>
              </a:ext>
            </a:extLst>
          </p:cNvPr>
          <p:cNvSpPr txBox="1"/>
          <p:nvPr/>
        </p:nvSpPr>
        <p:spPr>
          <a:xfrm>
            <a:off x="629363" y="4575786"/>
            <a:ext cx="1874125" cy="759119"/>
          </a:xfrm>
          <a:prstGeom prst="rect">
            <a:avLst/>
          </a:prstGeom>
          <a:noFill/>
        </p:spPr>
        <p:txBody>
          <a:bodyPr wrap="square" lIns="0" tIns="0" rIns="0" bIns="0" rtlCol="0">
            <a:spAutoFit/>
          </a:bodyPr>
          <a:lstStyle/>
          <a:p>
            <a:pPr>
              <a:lnSpc>
                <a:spcPct val="150000"/>
              </a:lnSpc>
            </a:pPr>
            <a:r>
              <a:rPr lang="en-US" sz="3600" dirty="0">
                <a:solidFill>
                  <a:schemeClr val="bg1"/>
                </a:solidFill>
                <a:latin typeface="Avenir Medium" panose="02000503020000020003" pitchFamily="2" charset="0"/>
              </a:rPr>
              <a:t>96.73%</a:t>
            </a:r>
          </a:p>
        </p:txBody>
      </p:sp>
      <p:cxnSp>
        <p:nvCxnSpPr>
          <p:cNvPr id="134" name="Straight Connector 133">
            <a:extLst>
              <a:ext uri="{FF2B5EF4-FFF2-40B4-BE49-F238E27FC236}">
                <a16:creationId xmlns:a16="http://schemas.microsoft.com/office/drawing/2014/main" id="{BCC3EAB5-54A7-A0F5-59F8-8F561C650727}"/>
              </a:ext>
            </a:extLst>
          </p:cNvPr>
          <p:cNvCxnSpPr>
            <a:cxnSpLocks/>
          </p:cNvCxnSpPr>
          <p:nvPr/>
        </p:nvCxnSpPr>
        <p:spPr>
          <a:xfrm>
            <a:off x="10298140" y="4052985"/>
            <a:ext cx="1135248" cy="0"/>
          </a:xfrm>
          <a:prstGeom prst="line">
            <a:avLst/>
          </a:prstGeom>
          <a:ln>
            <a:solidFill>
              <a:schemeClr val="bg1"/>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35" name="TextBox 134">
            <a:extLst>
              <a:ext uri="{FF2B5EF4-FFF2-40B4-BE49-F238E27FC236}">
                <a16:creationId xmlns:a16="http://schemas.microsoft.com/office/drawing/2014/main" id="{29FC4042-8671-2C12-1298-93E27800EBFC}"/>
              </a:ext>
            </a:extLst>
          </p:cNvPr>
          <p:cNvSpPr txBox="1"/>
          <p:nvPr/>
        </p:nvSpPr>
        <p:spPr>
          <a:xfrm>
            <a:off x="10298140" y="4056938"/>
            <a:ext cx="1338984" cy="189796"/>
          </a:xfrm>
          <a:prstGeom prst="rect">
            <a:avLst/>
          </a:prstGeom>
          <a:noFill/>
        </p:spPr>
        <p:txBody>
          <a:bodyPr wrap="square" lIns="0" tIns="0" rIns="0" bIns="0" rtlCol="0">
            <a:spAutoFit/>
          </a:bodyPr>
          <a:lstStyle/>
          <a:p>
            <a:pPr>
              <a:lnSpc>
                <a:spcPct val="150000"/>
              </a:lnSpc>
            </a:pPr>
            <a:r>
              <a:rPr lang="en-US" sz="900" dirty="0">
                <a:solidFill>
                  <a:schemeClr val="bg1"/>
                </a:solidFill>
                <a:latin typeface="Avenir Book" panose="02000503020000020003" pitchFamily="2" charset="0"/>
              </a:rPr>
              <a:t>Customer Service</a:t>
            </a:r>
          </a:p>
        </p:txBody>
      </p:sp>
      <p:cxnSp>
        <p:nvCxnSpPr>
          <p:cNvPr id="131" name="Straight Connector 130">
            <a:extLst>
              <a:ext uri="{FF2B5EF4-FFF2-40B4-BE49-F238E27FC236}">
                <a16:creationId xmlns:a16="http://schemas.microsoft.com/office/drawing/2014/main" id="{C270C1FB-C6C0-A264-A7A7-7989030AC67D}"/>
              </a:ext>
            </a:extLst>
          </p:cNvPr>
          <p:cNvCxnSpPr>
            <a:cxnSpLocks/>
          </p:cNvCxnSpPr>
          <p:nvPr/>
        </p:nvCxnSpPr>
        <p:spPr>
          <a:xfrm>
            <a:off x="8598056" y="4052985"/>
            <a:ext cx="1135248" cy="0"/>
          </a:xfrm>
          <a:prstGeom prst="line">
            <a:avLst/>
          </a:prstGeom>
          <a:ln>
            <a:solidFill>
              <a:schemeClr val="bg1"/>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32" name="TextBox 131">
            <a:extLst>
              <a:ext uri="{FF2B5EF4-FFF2-40B4-BE49-F238E27FC236}">
                <a16:creationId xmlns:a16="http://schemas.microsoft.com/office/drawing/2014/main" id="{6585F5F0-E811-D106-BE06-C6944643B152}"/>
              </a:ext>
            </a:extLst>
          </p:cNvPr>
          <p:cNvSpPr txBox="1"/>
          <p:nvPr/>
        </p:nvSpPr>
        <p:spPr>
          <a:xfrm>
            <a:off x="8598056" y="4056938"/>
            <a:ext cx="1135248" cy="189796"/>
          </a:xfrm>
          <a:prstGeom prst="rect">
            <a:avLst/>
          </a:prstGeom>
          <a:noFill/>
        </p:spPr>
        <p:txBody>
          <a:bodyPr wrap="square" lIns="0" tIns="0" rIns="0" bIns="0" rtlCol="0">
            <a:spAutoFit/>
          </a:bodyPr>
          <a:lstStyle/>
          <a:p>
            <a:pPr>
              <a:lnSpc>
                <a:spcPct val="150000"/>
              </a:lnSpc>
            </a:pPr>
            <a:r>
              <a:rPr lang="en-US" sz="900" dirty="0">
                <a:solidFill>
                  <a:schemeClr val="bg1"/>
                </a:solidFill>
                <a:latin typeface="Avenir Book" panose="02000503020000020003" pitchFamily="2" charset="0"/>
              </a:rPr>
              <a:t>Consumerism</a:t>
            </a:r>
          </a:p>
        </p:txBody>
      </p:sp>
      <p:cxnSp>
        <p:nvCxnSpPr>
          <p:cNvPr id="133" name="Straight Connector 132">
            <a:extLst>
              <a:ext uri="{FF2B5EF4-FFF2-40B4-BE49-F238E27FC236}">
                <a16:creationId xmlns:a16="http://schemas.microsoft.com/office/drawing/2014/main" id="{53AB248E-FE65-23AB-0DB9-922B92B1FCEC}"/>
              </a:ext>
            </a:extLst>
          </p:cNvPr>
          <p:cNvCxnSpPr>
            <a:cxnSpLocks/>
          </p:cNvCxnSpPr>
          <p:nvPr/>
        </p:nvCxnSpPr>
        <p:spPr>
          <a:xfrm>
            <a:off x="8598056" y="4649885"/>
            <a:ext cx="2703562" cy="0"/>
          </a:xfrm>
          <a:prstGeom prst="line">
            <a:avLst/>
          </a:prstGeom>
          <a:ln>
            <a:solidFill>
              <a:schemeClr val="bg1">
                <a:alpha val="50000"/>
              </a:schemeClr>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29" name="Straight Connector 128">
            <a:extLst>
              <a:ext uri="{FF2B5EF4-FFF2-40B4-BE49-F238E27FC236}">
                <a16:creationId xmlns:a16="http://schemas.microsoft.com/office/drawing/2014/main" id="{0492B165-C30A-B53D-53AD-3F39AAE68D31}"/>
              </a:ext>
            </a:extLst>
          </p:cNvPr>
          <p:cNvCxnSpPr>
            <a:cxnSpLocks/>
          </p:cNvCxnSpPr>
          <p:nvPr/>
        </p:nvCxnSpPr>
        <p:spPr>
          <a:xfrm>
            <a:off x="10298140" y="3424335"/>
            <a:ext cx="1135248" cy="0"/>
          </a:xfrm>
          <a:prstGeom prst="line">
            <a:avLst/>
          </a:prstGeom>
          <a:ln>
            <a:solidFill>
              <a:schemeClr val="bg1"/>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30" name="TextBox 129">
            <a:extLst>
              <a:ext uri="{FF2B5EF4-FFF2-40B4-BE49-F238E27FC236}">
                <a16:creationId xmlns:a16="http://schemas.microsoft.com/office/drawing/2014/main" id="{734AC4B0-824E-E40D-4905-CBDFF054B9DF}"/>
              </a:ext>
            </a:extLst>
          </p:cNvPr>
          <p:cNvSpPr txBox="1"/>
          <p:nvPr/>
        </p:nvSpPr>
        <p:spPr>
          <a:xfrm>
            <a:off x="10298140" y="3428288"/>
            <a:ext cx="1135248" cy="189796"/>
          </a:xfrm>
          <a:prstGeom prst="rect">
            <a:avLst/>
          </a:prstGeom>
          <a:noFill/>
        </p:spPr>
        <p:txBody>
          <a:bodyPr wrap="square" lIns="0" tIns="0" rIns="0" bIns="0" rtlCol="0">
            <a:spAutoFit/>
          </a:bodyPr>
          <a:lstStyle/>
          <a:p>
            <a:pPr>
              <a:lnSpc>
                <a:spcPct val="150000"/>
              </a:lnSpc>
            </a:pPr>
            <a:r>
              <a:rPr lang="en-US" sz="900" dirty="0">
                <a:solidFill>
                  <a:schemeClr val="bg1"/>
                </a:solidFill>
                <a:latin typeface="Avenir Book" panose="02000503020000020003" pitchFamily="2" charset="0"/>
              </a:rPr>
              <a:t>Retail Display</a:t>
            </a:r>
          </a:p>
        </p:txBody>
      </p:sp>
      <p:cxnSp>
        <p:nvCxnSpPr>
          <p:cNvPr id="127" name="Straight Connector 126">
            <a:extLst>
              <a:ext uri="{FF2B5EF4-FFF2-40B4-BE49-F238E27FC236}">
                <a16:creationId xmlns:a16="http://schemas.microsoft.com/office/drawing/2014/main" id="{06A17009-AF43-9CF2-DE91-46944ABD9DE5}"/>
              </a:ext>
            </a:extLst>
          </p:cNvPr>
          <p:cNvCxnSpPr>
            <a:cxnSpLocks/>
          </p:cNvCxnSpPr>
          <p:nvPr/>
        </p:nvCxnSpPr>
        <p:spPr>
          <a:xfrm>
            <a:off x="8598056" y="3424335"/>
            <a:ext cx="1135248" cy="0"/>
          </a:xfrm>
          <a:prstGeom prst="line">
            <a:avLst/>
          </a:prstGeom>
          <a:ln>
            <a:solidFill>
              <a:schemeClr val="bg1"/>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28" name="TextBox 127">
            <a:extLst>
              <a:ext uri="{FF2B5EF4-FFF2-40B4-BE49-F238E27FC236}">
                <a16:creationId xmlns:a16="http://schemas.microsoft.com/office/drawing/2014/main" id="{820673E3-5E05-A7BE-45BA-8E1F206B5D2E}"/>
              </a:ext>
            </a:extLst>
          </p:cNvPr>
          <p:cNvSpPr txBox="1"/>
          <p:nvPr/>
        </p:nvSpPr>
        <p:spPr>
          <a:xfrm>
            <a:off x="8598056" y="3428288"/>
            <a:ext cx="1135248" cy="189796"/>
          </a:xfrm>
          <a:prstGeom prst="rect">
            <a:avLst/>
          </a:prstGeom>
          <a:noFill/>
        </p:spPr>
        <p:txBody>
          <a:bodyPr wrap="square" lIns="0" tIns="0" rIns="0" bIns="0" rtlCol="0">
            <a:spAutoFit/>
          </a:bodyPr>
          <a:lstStyle/>
          <a:p>
            <a:pPr>
              <a:lnSpc>
                <a:spcPct val="150000"/>
              </a:lnSpc>
            </a:pPr>
            <a:r>
              <a:rPr lang="en-US" sz="900" dirty="0">
                <a:solidFill>
                  <a:schemeClr val="bg1"/>
                </a:solidFill>
                <a:latin typeface="Avenir Book" panose="02000503020000020003" pitchFamily="2" charset="0"/>
              </a:rPr>
              <a:t>Merchandising</a:t>
            </a:r>
          </a:p>
        </p:txBody>
      </p:sp>
      <p:sp>
        <p:nvSpPr>
          <p:cNvPr id="121" name="TextBox 120">
            <a:extLst>
              <a:ext uri="{FF2B5EF4-FFF2-40B4-BE49-F238E27FC236}">
                <a16:creationId xmlns:a16="http://schemas.microsoft.com/office/drawing/2014/main" id="{56BFD1E9-7362-0103-7D6D-EC76642BD649}"/>
              </a:ext>
            </a:extLst>
          </p:cNvPr>
          <p:cNvSpPr txBox="1"/>
          <p:nvPr/>
        </p:nvSpPr>
        <p:spPr>
          <a:xfrm>
            <a:off x="8598056" y="4575786"/>
            <a:ext cx="2909387" cy="759119"/>
          </a:xfrm>
          <a:prstGeom prst="rect">
            <a:avLst/>
          </a:prstGeom>
          <a:noFill/>
        </p:spPr>
        <p:txBody>
          <a:bodyPr wrap="square" lIns="0" tIns="0" rIns="0" bIns="0" rtlCol="0">
            <a:spAutoFit/>
          </a:bodyPr>
          <a:lstStyle/>
          <a:p>
            <a:pPr>
              <a:lnSpc>
                <a:spcPct val="150000"/>
              </a:lnSpc>
            </a:pPr>
            <a:r>
              <a:rPr lang="en-US" sz="3600" dirty="0">
                <a:solidFill>
                  <a:schemeClr val="bg1"/>
                </a:solidFill>
                <a:latin typeface="Avenir Medium" panose="02000503020000020003" pitchFamily="2" charset="0"/>
              </a:rPr>
              <a:t>107.48%</a:t>
            </a:r>
          </a:p>
        </p:txBody>
      </p:sp>
      <p:cxnSp>
        <p:nvCxnSpPr>
          <p:cNvPr id="192" name="Straight Connector 191">
            <a:extLst>
              <a:ext uri="{FF2B5EF4-FFF2-40B4-BE49-F238E27FC236}">
                <a16:creationId xmlns:a16="http://schemas.microsoft.com/office/drawing/2014/main" id="{CC363D9C-E484-4232-152E-A33178384FC2}"/>
              </a:ext>
            </a:extLst>
          </p:cNvPr>
          <p:cNvCxnSpPr>
            <a:cxnSpLocks/>
          </p:cNvCxnSpPr>
          <p:nvPr/>
        </p:nvCxnSpPr>
        <p:spPr>
          <a:xfrm>
            <a:off x="6309709" y="4052985"/>
            <a:ext cx="1135248" cy="0"/>
          </a:xfrm>
          <a:prstGeom prst="line">
            <a:avLst/>
          </a:prstGeom>
          <a:ln>
            <a:solidFill>
              <a:schemeClr val="bg1"/>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93" name="TextBox 192">
            <a:extLst>
              <a:ext uri="{FF2B5EF4-FFF2-40B4-BE49-F238E27FC236}">
                <a16:creationId xmlns:a16="http://schemas.microsoft.com/office/drawing/2014/main" id="{5CCF254B-9AA0-3934-4F69-331E4E1AEB5D}"/>
              </a:ext>
            </a:extLst>
          </p:cNvPr>
          <p:cNvSpPr txBox="1"/>
          <p:nvPr/>
        </p:nvSpPr>
        <p:spPr>
          <a:xfrm>
            <a:off x="6309709" y="4056938"/>
            <a:ext cx="1135248" cy="189796"/>
          </a:xfrm>
          <a:prstGeom prst="rect">
            <a:avLst/>
          </a:prstGeom>
          <a:noFill/>
        </p:spPr>
        <p:txBody>
          <a:bodyPr wrap="square" lIns="0" tIns="0" rIns="0" bIns="0" rtlCol="0">
            <a:spAutoFit/>
          </a:bodyPr>
          <a:lstStyle/>
          <a:p>
            <a:pPr>
              <a:lnSpc>
                <a:spcPct val="150000"/>
              </a:lnSpc>
            </a:pPr>
            <a:r>
              <a:rPr lang="en-US" sz="900" dirty="0">
                <a:solidFill>
                  <a:schemeClr val="bg1"/>
                </a:solidFill>
                <a:latin typeface="Avenir Book" panose="02000503020000020003" pitchFamily="2" charset="0"/>
              </a:rPr>
              <a:t>Visibility</a:t>
            </a:r>
          </a:p>
        </p:txBody>
      </p:sp>
      <p:cxnSp>
        <p:nvCxnSpPr>
          <p:cNvPr id="189" name="Straight Connector 188">
            <a:extLst>
              <a:ext uri="{FF2B5EF4-FFF2-40B4-BE49-F238E27FC236}">
                <a16:creationId xmlns:a16="http://schemas.microsoft.com/office/drawing/2014/main" id="{DAF783F6-86D9-B909-0AD5-75BE44EF4A9F}"/>
              </a:ext>
            </a:extLst>
          </p:cNvPr>
          <p:cNvCxnSpPr>
            <a:cxnSpLocks/>
          </p:cNvCxnSpPr>
          <p:nvPr/>
        </p:nvCxnSpPr>
        <p:spPr>
          <a:xfrm>
            <a:off x="4609625" y="4052985"/>
            <a:ext cx="1135248" cy="0"/>
          </a:xfrm>
          <a:prstGeom prst="line">
            <a:avLst/>
          </a:prstGeom>
          <a:ln>
            <a:solidFill>
              <a:schemeClr val="bg1"/>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90" name="TextBox 189">
            <a:extLst>
              <a:ext uri="{FF2B5EF4-FFF2-40B4-BE49-F238E27FC236}">
                <a16:creationId xmlns:a16="http://schemas.microsoft.com/office/drawing/2014/main" id="{9A4BC249-C39B-9246-5102-8050871A6D33}"/>
              </a:ext>
            </a:extLst>
          </p:cNvPr>
          <p:cNvSpPr txBox="1"/>
          <p:nvPr/>
        </p:nvSpPr>
        <p:spPr>
          <a:xfrm>
            <a:off x="4609625" y="4056938"/>
            <a:ext cx="1135248" cy="189796"/>
          </a:xfrm>
          <a:prstGeom prst="rect">
            <a:avLst/>
          </a:prstGeom>
          <a:noFill/>
        </p:spPr>
        <p:txBody>
          <a:bodyPr wrap="square" lIns="0" tIns="0" rIns="0" bIns="0" rtlCol="0">
            <a:spAutoFit/>
          </a:bodyPr>
          <a:lstStyle/>
          <a:p>
            <a:pPr>
              <a:lnSpc>
                <a:spcPct val="150000"/>
              </a:lnSpc>
            </a:pPr>
            <a:r>
              <a:rPr lang="en-US" sz="900" dirty="0">
                <a:solidFill>
                  <a:schemeClr val="bg1"/>
                </a:solidFill>
                <a:latin typeface="Avenir Book" panose="02000503020000020003" pitchFamily="2" charset="0"/>
              </a:rPr>
              <a:t>Pre-set Modes</a:t>
            </a:r>
          </a:p>
        </p:txBody>
      </p:sp>
      <p:cxnSp>
        <p:nvCxnSpPr>
          <p:cNvPr id="191" name="Straight Connector 190">
            <a:extLst>
              <a:ext uri="{FF2B5EF4-FFF2-40B4-BE49-F238E27FC236}">
                <a16:creationId xmlns:a16="http://schemas.microsoft.com/office/drawing/2014/main" id="{890FF230-9535-DD9C-741E-3EE8B17F1CA9}"/>
              </a:ext>
            </a:extLst>
          </p:cNvPr>
          <p:cNvCxnSpPr>
            <a:cxnSpLocks/>
          </p:cNvCxnSpPr>
          <p:nvPr/>
        </p:nvCxnSpPr>
        <p:spPr>
          <a:xfrm>
            <a:off x="4609625" y="4649885"/>
            <a:ext cx="2703562" cy="0"/>
          </a:xfrm>
          <a:prstGeom prst="line">
            <a:avLst/>
          </a:prstGeom>
          <a:ln>
            <a:solidFill>
              <a:schemeClr val="bg1">
                <a:alpha val="50000"/>
              </a:schemeClr>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87" name="Straight Connector 186">
            <a:extLst>
              <a:ext uri="{FF2B5EF4-FFF2-40B4-BE49-F238E27FC236}">
                <a16:creationId xmlns:a16="http://schemas.microsoft.com/office/drawing/2014/main" id="{4D4AD192-B420-F60B-5A76-5773A63A3813}"/>
              </a:ext>
            </a:extLst>
          </p:cNvPr>
          <p:cNvCxnSpPr>
            <a:cxnSpLocks/>
          </p:cNvCxnSpPr>
          <p:nvPr/>
        </p:nvCxnSpPr>
        <p:spPr>
          <a:xfrm>
            <a:off x="6309709" y="3424335"/>
            <a:ext cx="1135248" cy="0"/>
          </a:xfrm>
          <a:prstGeom prst="line">
            <a:avLst/>
          </a:prstGeom>
          <a:ln>
            <a:solidFill>
              <a:schemeClr val="bg1"/>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88" name="TextBox 187">
            <a:extLst>
              <a:ext uri="{FF2B5EF4-FFF2-40B4-BE49-F238E27FC236}">
                <a16:creationId xmlns:a16="http://schemas.microsoft.com/office/drawing/2014/main" id="{2CD9160B-0BF4-3BEA-0052-47F4371BBB64}"/>
              </a:ext>
            </a:extLst>
          </p:cNvPr>
          <p:cNvSpPr txBox="1"/>
          <p:nvPr/>
        </p:nvSpPr>
        <p:spPr>
          <a:xfrm>
            <a:off x="6309709" y="3428288"/>
            <a:ext cx="1135248" cy="189796"/>
          </a:xfrm>
          <a:prstGeom prst="rect">
            <a:avLst/>
          </a:prstGeom>
          <a:noFill/>
        </p:spPr>
        <p:txBody>
          <a:bodyPr wrap="square" lIns="0" tIns="0" rIns="0" bIns="0" rtlCol="0">
            <a:spAutoFit/>
          </a:bodyPr>
          <a:lstStyle/>
          <a:p>
            <a:pPr>
              <a:lnSpc>
                <a:spcPct val="150000"/>
              </a:lnSpc>
            </a:pPr>
            <a:r>
              <a:rPr lang="en-US" sz="900" dirty="0">
                <a:solidFill>
                  <a:schemeClr val="bg1"/>
                </a:solidFill>
                <a:latin typeface="Avenir Book" panose="02000503020000020003" pitchFamily="2" charset="0"/>
              </a:rPr>
              <a:t> Social Media</a:t>
            </a:r>
          </a:p>
        </p:txBody>
      </p:sp>
      <p:cxnSp>
        <p:nvCxnSpPr>
          <p:cNvPr id="185" name="Straight Connector 184">
            <a:extLst>
              <a:ext uri="{FF2B5EF4-FFF2-40B4-BE49-F238E27FC236}">
                <a16:creationId xmlns:a16="http://schemas.microsoft.com/office/drawing/2014/main" id="{94C18B13-F3F8-9594-9E11-664C4D1842FE}"/>
              </a:ext>
            </a:extLst>
          </p:cNvPr>
          <p:cNvCxnSpPr>
            <a:cxnSpLocks/>
          </p:cNvCxnSpPr>
          <p:nvPr/>
        </p:nvCxnSpPr>
        <p:spPr>
          <a:xfrm>
            <a:off x="4609625" y="3424335"/>
            <a:ext cx="1135248" cy="0"/>
          </a:xfrm>
          <a:prstGeom prst="line">
            <a:avLst/>
          </a:prstGeom>
          <a:ln>
            <a:solidFill>
              <a:schemeClr val="bg1"/>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86" name="TextBox 185">
            <a:extLst>
              <a:ext uri="{FF2B5EF4-FFF2-40B4-BE49-F238E27FC236}">
                <a16:creationId xmlns:a16="http://schemas.microsoft.com/office/drawing/2014/main" id="{6331EC25-D9F1-8F1E-D170-BB1E08E2964B}"/>
              </a:ext>
            </a:extLst>
          </p:cNvPr>
          <p:cNvSpPr txBox="1"/>
          <p:nvPr/>
        </p:nvSpPr>
        <p:spPr>
          <a:xfrm>
            <a:off x="4609625" y="3428288"/>
            <a:ext cx="1372047" cy="189796"/>
          </a:xfrm>
          <a:prstGeom prst="rect">
            <a:avLst/>
          </a:prstGeom>
          <a:noFill/>
        </p:spPr>
        <p:txBody>
          <a:bodyPr wrap="square" lIns="0" tIns="0" rIns="0" bIns="0" rtlCol="0">
            <a:spAutoFit/>
          </a:bodyPr>
          <a:lstStyle/>
          <a:p>
            <a:pPr>
              <a:lnSpc>
                <a:spcPct val="150000"/>
              </a:lnSpc>
            </a:pPr>
            <a:r>
              <a:rPr lang="en-US" sz="900" dirty="0">
                <a:solidFill>
                  <a:schemeClr val="bg1"/>
                </a:solidFill>
                <a:latin typeface="Avenir Book" panose="02000503020000020003" pitchFamily="2" charset="0"/>
              </a:rPr>
              <a:t>Google </a:t>
            </a:r>
            <a:r>
              <a:rPr lang="en-US" sz="900" dirty="0" err="1">
                <a:solidFill>
                  <a:schemeClr val="bg1"/>
                </a:solidFill>
                <a:latin typeface="Avenir Book" panose="02000503020000020003" pitchFamily="2" charset="0"/>
              </a:rPr>
              <a:t>Adwords</a:t>
            </a:r>
            <a:endParaRPr lang="en-US" sz="900" dirty="0">
              <a:solidFill>
                <a:schemeClr val="bg1"/>
              </a:solidFill>
              <a:latin typeface="Avenir Book" panose="02000503020000020003" pitchFamily="2" charset="0"/>
            </a:endParaRPr>
          </a:p>
        </p:txBody>
      </p:sp>
      <p:sp>
        <p:nvSpPr>
          <p:cNvPr id="179" name="TextBox 178">
            <a:extLst>
              <a:ext uri="{FF2B5EF4-FFF2-40B4-BE49-F238E27FC236}">
                <a16:creationId xmlns:a16="http://schemas.microsoft.com/office/drawing/2014/main" id="{8382AD16-A5B1-4F58-EB81-0BBBEAE0166B}"/>
              </a:ext>
            </a:extLst>
          </p:cNvPr>
          <p:cNvSpPr txBox="1"/>
          <p:nvPr/>
        </p:nvSpPr>
        <p:spPr>
          <a:xfrm>
            <a:off x="4609625" y="4575786"/>
            <a:ext cx="2909387" cy="759119"/>
          </a:xfrm>
          <a:prstGeom prst="rect">
            <a:avLst/>
          </a:prstGeom>
          <a:noFill/>
        </p:spPr>
        <p:txBody>
          <a:bodyPr wrap="square" lIns="0" tIns="0" rIns="0" bIns="0" rtlCol="0">
            <a:spAutoFit/>
          </a:bodyPr>
          <a:lstStyle/>
          <a:p>
            <a:pPr>
              <a:lnSpc>
                <a:spcPct val="150000"/>
              </a:lnSpc>
            </a:pPr>
            <a:r>
              <a:rPr lang="en-US" sz="3600" dirty="0">
                <a:solidFill>
                  <a:schemeClr val="bg1"/>
                </a:solidFill>
                <a:latin typeface="Avenir Medium" panose="02000503020000020003" pitchFamily="2" charset="0"/>
              </a:rPr>
              <a:t>68.82%</a:t>
            </a:r>
          </a:p>
        </p:txBody>
      </p:sp>
      <p:sp>
        <p:nvSpPr>
          <p:cNvPr id="180" name="TextBox 179">
            <a:extLst>
              <a:ext uri="{FF2B5EF4-FFF2-40B4-BE49-F238E27FC236}">
                <a16:creationId xmlns:a16="http://schemas.microsoft.com/office/drawing/2014/main" id="{64DA7861-EBA4-810D-171B-168AC4B1E623}"/>
              </a:ext>
            </a:extLst>
          </p:cNvPr>
          <p:cNvSpPr txBox="1"/>
          <p:nvPr/>
        </p:nvSpPr>
        <p:spPr>
          <a:xfrm>
            <a:off x="4609625" y="1388086"/>
            <a:ext cx="2909387" cy="184666"/>
          </a:xfrm>
          <a:prstGeom prst="rect">
            <a:avLst/>
          </a:prstGeom>
          <a:noFill/>
        </p:spPr>
        <p:txBody>
          <a:bodyPr wrap="square" lIns="0" tIns="0" rIns="0" bIns="0" rtlCol="0">
            <a:spAutoFit/>
          </a:bodyPr>
          <a:lstStyle/>
          <a:p>
            <a:r>
              <a:rPr lang="en-US" sz="1200" dirty="0">
                <a:solidFill>
                  <a:schemeClr val="bg1"/>
                </a:solidFill>
                <a:latin typeface="Avenir Medium" panose="02000503020000020003" pitchFamily="2" charset="0"/>
              </a:rPr>
              <a:t>SEO CONVERSION METRICS</a:t>
            </a:r>
          </a:p>
        </p:txBody>
      </p:sp>
      <p:sp>
        <p:nvSpPr>
          <p:cNvPr id="2" name="TextBox 1">
            <a:extLst>
              <a:ext uri="{FF2B5EF4-FFF2-40B4-BE49-F238E27FC236}">
                <a16:creationId xmlns:a16="http://schemas.microsoft.com/office/drawing/2014/main" id="{79CD5666-6E45-802D-E969-FE0D761A86D3}"/>
              </a:ext>
            </a:extLst>
          </p:cNvPr>
          <p:cNvSpPr txBox="1"/>
          <p:nvPr/>
        </p:nvSpPr>
        <p:spPr>
          <a:xfrm>
            <a:off x="401638" y="316699"/>
            <a:ext cx="11371262" cy="307777"/>
          </a:xfrm>
          <a:prstGeom prst="rect">
            <a:avLst/>
          </a:prstGeom>
          <a:noFill/>
        </p:spPr>
        <p:txBody>
          <a:bodyPr wrap="square" lIns="0" tIns="0" rIns="0" bIns="0" rtlCol="0">
            <a:spAutoFit/>
          </a:bodyPr>
          <a:lstStyle/>
          <a:p>
            <a:pPr algn="ctr"/>
            <a:r>
              <a:rPr lang="en-US" sz="2000" dirty="0">
                <a:solidFill>
                  <a:schemeClr val="bg1"/>
                </a:solidFill>
                <a:latin typeface="Avenir Medium" panose="02000503020000020003" pitchFamily="2" charset="0"/>
              </a:rPr>
              <a:t>ASSESSMENT &amp; EVALUATION</a:t>
            </a:r>
          </a:p>
        </p:txBody>
      </p:sp>
      <p:pic>
        <p:nvPicPr>
          <p:cNvPr id="3" name="Picture 2">
            <a:extLst>
              <a:ext uri="{FF2B5EF4-FFF2-40B4-BE49-F238E27FC236}">
                <a16:creationId xmlns:a16="http://schemas.microsoft.com/office/drawing/2014/main" id="{41A9D9C3-A35D-C4AB-5DCA-8EEF97AFF7A6}"/>
              </a:ext>
            </a:extLst>
          </p:cNvPr>
          <p:cNvPicPr>
            <a:picLocks noChangeAspect="1"/>
          </p:cNvPicPr>
          <p:nvPr/>
        </p:nvPicPr>
        <p:blipFill>
          <a:blip r:embed="rId3"/>
          <a:srcRect/>
          <a:stretch/>
        </p:blipFill>
        <p:spPr>
          <a:xfrm>
            <a:off x="11484209" y="316699"/>
            <a:ext cx="295894" cy="233756"/>
          </a:xfrm>
          <a:prstGeom prst="rect">
            <a:avLst/>
          </a:prstGeom>
        </p:spPr>
      </p:pic>
      <p:sp>
        <p:nvSpPr>
          <p:cNvPr id="14" name="Freeform 13">
            <a:extLst>
              <a:ext uri="{FF2B5EF4-FFF2-40B4-BE49-F238E27FC236}">
                <a16:creationId xmlns:a16="http://schemas.microsoft.com/office/drawing/2014/main" id="{95DEA4FD-E541-AF40-C3CE-B2227C83CB3F}"/>
              </a:ext>
            </a:extLst>
          </p:cNvPr>
          <p:cNvSpPr/>
          <p:nvPr/>
        </p:nvSpPr>
        <p:spPr>
          <a:xfrm>
            <a:off x="722086" y="2057400"/>
            <a:ext cx="2703285" cy="932959"/>
          </a:xfrm>
          <a:custGeom>
            <a:avLst/>
            <a:gdLst>
              <a:gd name="csX0" fmla="*/ 0 w 2703285"/>
              <a:gd name="csY0" fmla="*/ 889000 h 932959"/>
              <a:gd name="csX1" fmla="*/ 275771 w 2703285"/>
              <a:gd name="csY1" fmla="*/ 921657 h 932959"/>
              <a:gd name="csX2" fmla="*/ 656771 w 2703285"/>
              <a:gd name="csY2" fmla="*/ 718457 h 932959"/>
              <a:gd name="csX3" fmla="*/ 1262743 w 2703285"/>
              <a:gd name="csY3" fmla="*/ 526143 h 932959"/>
              <a:gd name="csX4" fmla="*/ 1658257 w 2703285"/>
              <a:gd name="csY4" fmla="*/ 562429 h 932959"/>
              <a:gd name="csX5" fmla="*/ 1995714 w 2703285"/>
              <a:gd name="csY5" fmla="*/ 529771 h 932959"/>
              <a:gd name="csX6" fmla="*/ 2184400 w 2703285"/>
              <a:gd name="csY6" fmla="*/ 214086 h 932959"/>
              <a:gd name="csX7" fmla="*/ 2587171 w 2703285"/>
              <a:gd name="csY7" fmla="*/ 112486 h 932959"/>
              <a:gd name="csX8" fmla="*/ 2703285 w 2703285"/>
              <a:gd name="csY8" fmla="*/ 0 h 932959"/>
              <a:gd name="csX9" fmla="*/ 2703285 w 2703285"/>
              <a:gd name="csY9" fmla="*/ 0 h 9329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703285" h="932959">
                <a:moveTo>
                  <a:pt x="0" y="889000"/>
                </a:moveTo>
                <a:cubicBezTo>
                  <a:pt x="83154" y="919540"/>
                  <a:pt x="166309" y="950081"/>
                  <a:pt x="275771" y="921657"/>
                </a:cubicBezTo>
                <a:cubicBezTo>
                  <a:pt x="385233" y="893233"/>
                  <a:pt x="492276" y="784376"/>
                  <a:pt x="656771" y="718457"/>
                </a:cubicBezTo>
                <a:cubicBezTo>
                  <a:pt x="821266" y="652538"/>
                  <a:pt x="1095829" y="552148"/>
                  <a:pt x="1262743" y="526143"/>
                </a:cubicBezTo>
                <a:cubicBezTo>
                  <a:pt x="1429657" y="500138"/>
                  <a:pt x="1536095" y="561824"/>
                  <a:pt x="1658257" y="562429"/>
                </a:cubicBezTo>
                <a:cubicBezTo>
                  <a:pt x="1780419" y="563034"/>
                  <a:pt x="1908024" y="587828"/>
                  <a:pt x="1995714" y="529771"/>
                </a:cubicBezTo>
                <a:cubicBezTo>
                  <a:pt x="2083405" y="471714"/>
                  <a:pt x="2085824" y="283633"/>
                  <a:pt x="2184400" y="214086"/>
                </a:cubicBezTo>
                <a:cubicBezTo>
                  <a:pt x="2282976" y="144539"/>
                  <a:pt x="2500690" y="148167"/>
                  <a:pt x="2587171" y="112486"/>
                </a:cubicBezTo>
                <a:cubicBezTo>
                  <a:pt x="2673652" y="76805"/>
                  <a:pt x="2703285" y="0"/>
                  <a:pt x="2703285" y="0"/>
                </a:cubicBezTo>
                <a:lnTo>
                  <a:pt x="2703285" y="0"/>
                </a:lnTo>
              </a:path>
            </a:pathLst>
          </a:cu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14">
            <a:extLst>
              <a:ext uri="{FF2B5EF4-FFF2-40B4-BE49-F238E27FC236}">
                <a16:creationId xmlns:a16="http://schemas.microsoft.com/office/drawing/2014/main" id="{11CF875C-3DD3-45F0-EC3A-E78CCF9A21C0}"/>
              </a:ext>
            </a:extLst>
          </p:cNvPr>
          <p:cNvSpPr/>
          <p:nvPr/>
        </p:nvSpPr>
        <p:spPr>
          <a:xfrm>
            <a:off x="4720856" y="2026477"/>
            <a:ext cx="2684721" cy="1072914"/>
          </a:xfrm>
          <a:custGeom>
            <a:avLst/>
            <a:gdLst>
              <a:gd name="csX0" fmla="*/ 0 w 2684721"/>
              <a:gd name="csY0" fmla="*/ 1072914 h 1072914"/>
              <a:gd name="csX1" fmla="*/ 600739 w 2684721"/>
              <a:gd name="csY1" fmla="*/ 706090 h 1072914"/>
              <a:gd name="csX2" fmla="*/ 770860 w 2684721"/>
              <a:gd name="csY2" fmla="*/ 849630 h 1072914"/>
              <a:gd name="csX3" fmla="*/ 962246 w 2684721"/>
              <a:gd name="csY3" fmla="*/ 408379 h 1072914"/>
              <a:gd name="csX4" fmla="*/ 1201479 w 2684721"/>
              <a:gd name="csY4" fmla="*/ 9658 h 1072914"/>
              <a:gd name="csX5" fmla="*/ 1355651 w 2684721"/>
              <a:gd name="csY5" fmla="*/ 828365 h 1072914"/>
              <a:gd name="csX6" fmla="*/ 1663995 w 2684721"/>
              <a:gd name="csY6" fmla="*/ 1025067 h 1072914"/>
              <a:gd name="csX7" fmla="*/ 1866014 w 2684721"/>
              <a:gd name="csY7" fmla="*/ 727356 h 1072914"/>
              <a:gd name="csX8" fmla="*/ 2190307 w 2684721"/>
              <a:gd name="csY8" fmla="*/ 626346 h 1072914"/>
              <a:gd name="csX9" fmla="*/ 2525232 w 2684721"/>
              <a:gd name="csY9" fmla="*/ 318002 h 1072914"/>
              <a:gd name="csX10" fmla="*/ 2684721 w 2684721"/>
              <a:gd name="csY10" fmla="*/ 270156 h 10729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84721" h="1072914">
                <a:moveTo>
                  <a:pt x="0" y="1072914"/>
                </a:moveTo>
                <a:cubicBezTo>
                  <a:pt x="236131" y="908109"/>
                  <a:pt x="472262" y="743304"/>
                  <a:pt x="600739" y="706090"/>
                </a:cubicBezTo>
                <a:cubicBezTo>
                  <a:pt x="729216" y="668876"/>
                  <a:pt x="710609" y="899248"/>
                  <a:pt x="770860" y="849630"/>
                </a:cubicBezTo>
                <a:cubicBezTo>
                  <a:pt x="831111" y="800011"/>
                  <a:pt x="890476" y="548374"/>
                  <a:pt x="962246" y="408379"/>
                </a:cubicBezTo>
                <a:cubicBezTo>
                  <a:pt x="1034016" y="268384"/>
                  <a:pt x="1135912" y="-60340"/>
                  <a:pt x="1201479" y="9658"/>
                </a:cubicBezTo>
                <a:cubicBezTo>
                  <a:pt x="1267046" y="79656"/>
                  <a:pt x="1278565" y="659130"/>
                  <a:pt x="1355651" y="828365"/>
                </a:cubicBezTo>
                <a:cubicBezTo>
                  <a:pt x="1432737" y="997600"/>
                  <a:pt x="1578935" y="1041902"/>
                  <a:pt x="1663995" y="1025067"/>
                </a:cubicBezTo>
                <a:cubicBezTo>
                  <a:pt x="1749055" y="1008232"/>
                  <a:pt x="1778295" y="793809"/>
                  <a:pt x="1866014" y="727356"/>
                </a:cubicBezTo>
                <a:cubicBezTo>
                  <a:pt x="1953733" y="660902"/>
                  <a:pt x="2080437" y="694572"/>
                  <a:pt x="2190307" y="626346"/>
                </a:cubicBezTo>
                <a:cubicBezTo>
                  <a:pt x="2300177" y="558120"/>
                  <a:pt x="2442830" y="377367"/>
                  <a:pt x="2525232" y="318002"/>
                </a:cubicBezTo>
                <a:cubicBezTo>
                  <a:pt x="2607634" y="258637"/>
                  <a:pt x="2646177" y="264396"/>
                  <a:pt x="2684721" y="270156"/>
                </a:cubicBezTo>
              </a:path>
            </a:pathLst>
          </a:cu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15">
            <a:extLst>
              <a:ext uri="{FF2B5EF4-FFF2-40B4-BE49-F238E27FC236}">
                <a16:creationId xmlns:a16="http://schemas.microsoft.com/office/drawing/2014/main" id="{8AC06EF4-FFC1-A529-9047-2C66A6D1D58C}"/>
              </a:ext>
            </a:extLst>
          </p:cNvPr>
          <p:cNvSpPr/>
          <p:nvPr/>
        </p:nvSpPr>
        <p:spPr>
          <a:xfrm>
            <a:off x="8708065" y="2020187"/>
            <a:ext cx="2695354" cy="1027780"/>
          </a:xfrm>
          <a:custGeom>
            <a:avLst/>
            <a:gdLst>
              <a:gd name="csX0" fmla="*/ 0 w 2695354"/>
              <a:gd name="csY0" fmla="*/ 1015409 h 1015409"/>
              <a:gd name="csX1" fmla="*/ 850605 w 2695354"/>
              <a:gd name="csY1" fmla="*/ 808074 h 1015409"/>
              <a:gd name="csX2" fmla="*/ 1206795 w 2695354"/>
              <a:gd name="csY2" fmla="*/ 627321 h 1015409"/>
              <a:gd name="csX3" fmla="*/ 2105247 w 2695354"/>
              <a:gd name="csY3" fmla="*/ 664535 h 1015409"/>
              <a:gd name="csX4" fmla="*/ 2530549 w 2695354"/>
              <a:gd name="csY4" fmla="*/ 409354 h 1015409"/>
              <a:gd name="csX5" fmla="*/ 2695354 w 2695354"/>
              <a:gd name="csY5" fmla="*/ 0 h 1015409"/>
              <a:gd name="csX6" fmla="*/ 2695354 w 2695354"/>
              <a:gd name="csY6" fmla="*/ 0 h 1015409"/>
              <a:gd name="csX7" fmla="*/ 2695354 w 2695354"/>
              <a:gd name="csY7" fmla="*/ 5316 h 1015409"/>
              <a:gd name="csX0" fmla="*/ 0 w 2695354"/>
              <a:gd name="csY0" fmla="*/ 1015409 h 1027780"/>
              <a:gd name="csX1" fmla="*/ 467833 w 2695354"/>
              <a:gd name="csY1" fmla="*/ 1015409 h 1027780"/>
              <a:gd name="csX2" fmla="*/ 850605 w 2695354"/>
              <a:gd name="csY2" fmla="*/ 808074 h 1027780"/>
              <a:gd name="csX3" fmla="*/ 1206795 w 2695354"/>
              <a:gd name="csY3" fmla="*/ 627321 h 1027780"/>
              <a:gd name="csX4" fmla="*/ 2105247 w 2695354"/>
              <a:gd name="csY4" fmla="*/ 664535 h 1027780"/>
              <a:gd name="csX5" fmla="*/ 2530549 w 2695354"/>
              <a:gd name="csY5" fmla="*/ 409354 h 1027780"/>
              <a:gd name="csX6" fmla="*/ 2695354 w 2695354"/>
              <a:gd name="csY6" fmla="*/ 0 h 1027780"/>
              <a:gd name="csX7" fmla="*/ 2695354 w 2695354"/>
              <a:gd name="csY7" fmla="*/ 0 h 1027780"/>
              <a:gd name="csX8" fmla="*/ 2695354 w 2695354"/>
              <a:gd name="csY8" fmla="*/ 5316 h 10277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695354" h="1027780">
                <a:moveTo>
                  <a:pt x="0" y="1015409"/>
                </a:moveTo>
                <a:cubicBezTo>
                  <a:pt x="72656" y="999460"/>
                  <a:pt x="326066" y="1049965"/>
                  <a:pt x="467833" y="1015409"/>
                </a:cubicBezTo>
                <a:cubicBezTo>
                  <a:pt x="609600" y="980853"/>
                  <a:pt x="727445" y="872755"/>
                  <a:pt x="850605" y="808074"/>
                </a:cubicBezTo>
                <a:cubicBezTo>
                  <a:pt x="973765" y="743393"/>
                  <a:pt x="997688" y="651244"/>
                  <a:pt x="1206795" y="627321"/>
                </a:cubicBezTo>
                <a:cubicBezTo>
                  <a:pt x="1415902" y="603398"/>
                  <a:pt x="1884621" y="700863"/>
                  <a:pt x="2105247" y="664535"/>
                </a:cubicBezTo>
                <a:cubicBezTo>
                  <a:pt x="2325873" y="628207"/>
                  <a:pt x="2432198" y="520110"/>
                  <a:pt x="2530549" y="409354"/>
                </a:cubicBezTo>
                <a:cubicBezTo>
                  <a:pt x="2628900" y="298598"/>
                  <a:pt x="2695354" y="0"/>
                  <a:pt x="2695354" y="0"/>
                </a:cubicBezTo>
                <a:lnTo>
                  <a:pt x="2695354" y="0"/>
                </a:lnTo>
                <a:lnTo>
                  <a:pt x="2695354" y="5316"/>
                </a:lnTo>
              </a:path>
            </a:pathLst>
          </a:cu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Box 18">
            <a:extLst>
              <a:ext uri="{FF2B5EF4-FFF2-40B4-BE49-F238E27FC236}">
                <a16:creationId xmlns:a16="http://schemas.microsoft.com/office/drawing/2014/main" id="{93585A32-A6C0-800B-0002-56B06CA07E93}"/>
              </a:ext>
            </a:extLst>
          </p:cNvPr>
          <p:cNvSpPr txBox="1"/>
          <p:nvPr/>
        </p:nvSpPr>
        <p:spPr>
          <a:xfrm>
            <a:off x="401638" y="6212022"/>
            <a:ext cx="4922836" cy="353366"/>
          </a:xfrm>
          <a:prstGeom prst="rect">
            <a:avLst/>
          </a:prstGeom>
          <a:noFill/>
        </p:spPr>
        <p:txBody>
          <a:bodyPr wrap="square" lIns="0" tIns="0" rIns="0" bIns="0" rtlCol="0">
            <a:spAutoFit/>
          </a:bodyPr>
          <a:lstStyle/>
          <a:p>
            <a:pPr>
              <a:lnSpc>
                <a:spcPct val="150000"/>
              </a:lnSpc>
            </a:pPr>
            <a:r>
              <a:rPr lang="en-US" sz="800" dirty="0">
                <a:solidFill>
                  <a:schemeClr val="bg1"/>
                </a:solidFill>
                <a:latin typeface="Avenir Book" panose="02000503020000020003" pitchFamily="2" charset="0"/>
              </a:rPr>
              <a:t>Over time, we have discovered the long-term planning structures for developing </a:t>
            </a:r>
          </a:p>
          <a:p>
            <a:pPr>
              <a:lnSpc>
                <a:spcPct val="150000"/>
              </a:lnSpc>
            </a:pPr>
            <a:r>
              <a:rPr lang="en-US" sz="800" dirty="0">
                <a:solidFill>
                  <a:schemeClr val="bg1"/>
                </a:solidFill>
                <a:latin typeface="Avenir Book" panose="02000503020000020003" pitchFamily="2" charset="0"/>
              </a:rPr>
              <a:t>a strong digital footprint. These three metrics serve best for ensuring optimal growth.</a:t>
            </a:r>
          </a:p>
        </p:txBody>
      </p:sp>
    </p:spTree>
    <p:extLst>
      <p:ext uri="{BB962C8B-B14F-4D97-AF65-F5344CB8AC3E}">
        <p14:creationId xmlns:p14="http://schemas.microsoft.com/office/powerpoint/2010/main" val="18123227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477CE-6793-C90A-5B79-60C3D253C6A7}"/>
            </a:ext>
          </a:extLst>
        </p:cNvPr>
        <p:cNvGrpSpPr/>
        <p:nvPr/>
      </p:nvGrpSpPr>
      <p:grpSpPr>
        <a:xfrm>
          <a:off x="0" y="0"/>
          <a:ext cx="0" cy="0"/>
          <a:chOff x="0" y="0"/>
          <a:chExt cx="0" cy="0"/>
        </a:xfrm>
      </p:grpSpPr>
      <p:sp>
        <p:nvSpPr>
          <p:cNvPr id="8" name="Oval 7">
            <a:extLst>
              <a:ext uri="{FF2B5EF4-FFF2-40B4-BE49-F238E27FC236}">
                <a16:creationId xmlns:a16="http://schemas.microsoft.com/office/drawing/2014/main" id="{494AF236-E888-3C36-5966-4F3B09223985}"/>
              </a:ext>
            </a:extLst>
          </p:cNvPr>
          <p:cNvSpPr/>
          <p:nvPr/>
        </p:nvSpPr>
        <p:spPr>
          <a:xfrm>
            <a:off x="976062" y="1140768"/>
            <a:ext cx="1220728" cy="1220728"/>
          </a:xfrm>
          <a:prstGeom prst="ellipse">
            <a:avLst/>
          </a:prstGeom>
          <a:gradFill flip="none" rotWithShape="1">
            <a:gsLst>
              <a:gs pos="16000">
                <a:srgbClr val="75C6D6">
                  <a:alpha val="80000"/>
                </a:srgbClr>
              </a:gs>
              <a:gs pos="0">
                <a:srgbClr val="95CFD6">
                  <a:alpha val="80000"/>
                </a:srgbClr>
              </a:gs>
              <a:gs pos="39000">
                <a:srgbClr val="75B8D4">
                  <a:alpha val="80000"/>
                </a:srgbClr>
              </a:gs>
              <a:gs pos="70000">
                <a:srgbClr val="8CA3BA">
                  <a:alpha val="80000"/>
                </a:srgbClr>
              </a:gs>
              <a:gs pos="99000">
                <a:srgbClr val="9F9CBD">
                  <a:alpha val="80000"/>
                </a:srgbClr>
              </a:gs>
            </a:gsLst>
            <a:lin ang="5400000" scaled="1"/>
            <a:tileRect/>
          </a:gradFill>
          <a:ln w="12700">
            <a:solidFill>
              <a:schemeClr val="bg1">
                <a:alpha val="2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venir Medium" panose="02000503020000020003" pitchFamily="2" charset="0"/>
              </a:rPr>
              <a:t>DN</a:t>
            </a:r>
            <a:endParaRPr lang="en-US" dirty="0"/>
          </a:p>
        </p:txBody>
      </p:sp>
      <p:sp>
        <p:nvSpPr>
          <p:cNvPr id="12" name="Oval 11">
            <a:extLst>
              <a:ext uri="{FF2B5EF4-FFF2-40B4-BE49-F238E27FC236}">
                <a16:creationId xmlns:a16="http://schemas.microsoft.com/office/drawing/2014/main" id="{246FE7CA-B973-ED43-1DFA-FCF4CDFA93B9}"/>
              </a:ext>
            </a:extLst>
          </p:cNvPr>
          <p:cNvSpPr/>
          <p:nvPr/>
        </p:nvSpPr>
        <p:spPr>
          <a:xfrm>
            <a:off x="3965980" y="1140768"/>
            <a:ext cx="1220728" cy="1220728"/>
          </a:xfrm>
          <a:prstGeom prst="ellipse">
            <a:avLst/>
          </a:prstGeom>
          <a:gradFill flip="none" rotWithShape="1">
            <a:gsLst>
              <a:gs pos="16000">
                <a:srgbClr val="75C6D6">
                  <a:alpha val="80000"/>
                </a:srgbClr>
              </a:gs>
              <a:gs pos="0">
                <a:srgbClr val="95CFD6">
                  <a:alpha val="80000"/>
                </a:srgbClr>
              </a:gs>
              <a:gs pos="39000">
                <a:srgbClr val="75B8D4">
                  <a:alpha val="80000"/>
                </a:srgbClr>
              </a:gs>
              <a:gs pos="70000">
                <a:srgbClr val="8CA3BA">
                  <a:alpha val="80000"/>
                </a:srgbClr>
              </a:gs>
              <a:gs pos="99000">
                <a:srgbClr val="9F9CBD">
                  <a:alpha val="80000"/>
                </a:srgbClr>
              </a:gs>
            </a:gsLst>
            <a:lin ang="5400000" scaled="1"/>
            <a:tileRect/>
          </a:gradFill>
          <a:ln w="12700">
            <a:solidFill>
              <a:schemeClr val="bg1">
                <a:alpha val="2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venir Medium" panose="02000503020000020003" pitchFamily="2" charset="0"/>
              </a:rPr>
              <a:t>PI</a:t>
            </a:r>
            <a:endParaRPr lang="en-US" dirty="0"/>
          </a:p>
        </p:txBody>
      </p:sp>
      <p:sp>
        <p:nvSpPr>
          <p:cNvPr id="13" name="Oval 12">
            <a:extLst>
              <a:ext uri="{FF2B5EF4-FFF2-40B4-BE49-F238E27FC236}">
                <a16:creationId xmlns:a16="http://schemas.microsoft.com/office/drawing/2014/main" id="{025D10D3-9D65-FEDA-B574-174D90F87C3C}"/>
              </a:ext>
            </a:extLst>
          </p:cNvPr>
          <p:cNvSpPr/>
          <p:nvPr/>
        </p:nvSpPr>
        <p:spPr>
          <a:xfrm>
            <a:off x="6956920" y="1140768"/>
            <a:ext cx="1220728" cy="1220728"/>
          </a:xfrm>
          <a:prstGeom prst="ellipse">
            <a:avLst/>
          </a:prstGeom>
          <a:gradFill flip="none" rotWithShape="1">
            <a:gsLst>
              <a:gs pos="16000">
                <a:srgbClr val="75C6D6">
                  <a:alpha val="80000"/>
                </a:srgbClr>
              </a:gs>
              <a:gs pos="0">
                <a:srgbClr val="95CFD6">
                  <a:alpha val="80000"/>
                </a:srgbClr>
              </a:gs>
              <a:gs pos="39000">
                <a:srgbClr val="75B8D4">
                  <a:alpha val="80000"/>
                </a:srgbClr>
              </a:gs>
              <a:gs pos="70000">
                <a:srgbClr val="8CA3BA">
                  <a:alpha val="80000"/>
                </a:srgbClr>
              </a:gs>
              <a:gs pos="99000">
                <a:srgbClr val="9F9CBD">
                  <a:alpha val="80000"/>
                </a:srgbClr>
              </a:gs>
            </a:gsLst>
            <a:lin ang="5400000" scaled="1"/>
            <a:tileRect/>
          </a:gradFill>
          <a:ln w="12700">
            <a:solidFill>
              <a:schemeClr val="bg1">
                <a:alpha val="2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venir Medium" panose="02000503020000020003" pitchFamily="2" charset="0"/>
              </a:rPr>
              <a:t>RB</a:t>
            </a:r>
            <a:endParaRPr lang="en-US" dirty="0"/>
          </a:p>
        </p:txBody>
      </p:sp>
      <p:sp>
        <p:nvSpPr>
          <p:cNvPr id="14" name="Oval 13">
            <a:extLst>
              <a:ext uri="{FF2B5EF4-FFF2-40B4-BE49-F238E27FC236}">
                <a16:creationId xmlns:a16="http://schemas.microsoft.com/office/drawing/2014/main" id="{CC983E91-51E5-6A10-5AF4-4F1FC54B0ED1}"/>
              </a:ext>
            </a:extLst>
          </p:cNvPr>
          <p:cNvSpPr/>
          <p:nvPr/>
        </p:nvSpPr>
        <p:spPr>
          <a:xfrm>
            <a:off x="9948884" y="1140768"/>
            <a:ext cx="1220728" cy="1220728"/>
          </a:xfrm>
          <a:prstGeom prst="ellipse">
            <a:avLst/>
          </a:prstGeom>
          <a:gradFill flip="none" rotWithShape="1">
            <a:gsLst>
              <a:gs pos="16000">
                <a:srgbClr val="75C6D6">
                  <a:alpha val="80000"/>
                </a:srgbClr>
              </a:gs>
              <a:gs pos="0">
                <a:srgbClr val="95CFD6">
                  <a:alpha val="80000"/>
                </a:srgbClr>
              </a:gs>
              <a:gs pos="39000">
                <a:srgbClr val="75B8D4">
                  <a:alpha val="80000"/>
                </a:srgbClr>
              </a:gs>
              <a:gs pos="70000">
                <a:srgbClr val="8CA3BA">
                  <a:alpha val="80000"/>
                </a:srgbClr>
              </a:gs>
              <a:gs pos="99000">
                <a:srgbClr val="9F9CBD">
                  <a:alpha val="80000"/>
                </a:srgbClr>
              </a:gs>
            </a:gsLst>
            <a:lin ang="5400000" scaled="1"/>
            <a:tileRect/>
          </a:gradFill>
          <a:ln w="12700">
            <a:solidFill>
              <a:schemeClr val="bg1">
                <a:alpha val="2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venir Medium" panose="02000503020000020003" pitchFamily="2" charset="0"/>
              </a:rPr>
              <a:t>WI</a:t>
            </a:r>
            <a:endParaRPr lang="en-US" dirty="0"/>
          </a:p>
        </p:txBody>
      </p:sp>
      <p:pic>
        <p:nvPicPr>
          <p:cNvPr id="3" name="Picture 2">
            <a:extLst>
              <a:ext uri="{FF2B5EF4-FFF2-40B4-BE49-F238E27FC236}">
                <a16:creationId xmlns:a16="http://schemas.microsoft.com/office/drawing/2014/main" id="{9B2F70D2-70E0-9271-E64A-823974FC9D45}"/>
              </a:ext>
            </a:extLst>
          </p:cNvPr>
          <p:cNvPicPr>
            <a:picLocks noChangeAspect="1"/>
          </p:cNvPicPr>
          <p:nvPr/>
        </p:nvPicPr>
        <p:blipFill>
          <a:blip r:embed="rId3"/>
          <a:srcRect/>
          <a:stretch/>
        </p:blipFill>
        <p:spPr>
          <a:xfrm>
            <a:off x="11484209" y="316699"/>
            <a:ext cx="295894" cy="233756"/>
          </a:xfrm>
          <a:prstGeom prst="rect">
            <a:avLst/>
          </a:prstGeom>
        </p:spPr>
      </p:pic>
      <p:sp>
        <p:nvSpPr>
          <p:cNvPr id="7" name="TextBox 6">
            <a:extLst>
              <a:ext uri="{FF2B5EF4-FFF2-40B4-BE49-F238E27FC236}">
                <a16:creationId xmlns:a16="http://schemas.microsoft.com/office/drawing/2014/main" id="{B67AC205-A370-8E5C-C748-B853DAFBD6D8}"/>
              </a:ext>
            </a:extLst>
          </p:cNvPr>
          <p:cNvSpPr txBox="1"/>
          <p:nvPr/>
        </p:nvSpPr>
        <p:spPr>
          <a:xfrm>
            <a:off x="401638" y="316699"/>
            <a:ext cx="4743427" cy="307777"/>
          </a:xfrm>
          <a:prstGeom prst="rect">
            <a:avLst/>
          </a:prstGeom>
          <a:noFill/>
        </p:spPr>
        <p:txBody>
          <a:bodyPr wrap="square" lIns="0" tIns="0" rIns="0" bIns="0" rtlCol="0">
            <a:spAutoFit/>
          </a:bodyPr>
          <a:lstStyle/>
          <a:p>
            <a:r>
              <a:rPr lang="en-US" sz="2000" dirty="0">
                <a:solidFill>
                  <a:schemeClr val="bg1"/>
                </a:solidFill>
                <a:latin typeface="Avenir Medium" panose="02000503020000020003" pitchFamily="2" charset="0"/>
              </a:rPr>
              <a:t>PERSONAS &amp; CONSUMER PROFILES</a:t>
            </a:r>
          </a:p>
        </p:txBody>
      </p:sp>
      <p:sp>
        <p:nvSpPr>
          <p:cNvPr id="17" name="TextBox 16">
            <a:extLst>
              <a:ext uri="{FF2B5EF4-FFF2-40B4-BE49-F238E27FC236}">
                <a16:creationId xmlns:a16="http://schemas.microsoft.com/office/drawing/2014/main" id="{F65E4F99-FC3C-0E0B-6535-819556F76733}"/>
              </a:ext>
            </a:extLst>
          </p:cNvPr>
          <p:cNvSpPr txBox="1"/>
          <p:nvPr/>
        </p:nvSpPr>
        <p:spPr>
          <a:xfrm>
            <a:off x="411897" y="2468049"/>
            <a:ext cx="2349058" cy="876266"/>
          </a:xfrm>
          <a:prstGeom prst="rect">
            <a:avLst/>
          </a:prstGeom>
          <a:noFill/>
        </p:spPr>
        <p:txBody>
          <a:bodyPr wrap="square" lIns="0" tIns="0" rIns="0" bIns="0" rtlCol="0">
            <a:spAutoFit/>
          </a:bodyPr>
          <a:lstStyle/>
          <a:p>
            <a:pPr algn="ctr">
              <a:lnSpc>
                <a:spcPct val="120000"/>
              </a:lnSpc>
            </a:pPr>
            <a:r>
              <a:rPr lang="en-US" sz="1200" b="1" dirty="0">
                <a:solidFill>
                  <a:schemeClr val="bg1"/>
                </a:solidFill>
                <a:latin typeface="Avenir Heavy" panose="02000503020000020003" pitchFamily="2" charset="0"/>
              </a:rPr>
              <a:t>The Digital Native</a:t>
            </a:r>
          </a:p>
          <a:p>
            <a:pPr algn="ctr">
              <a:lnSpc>
                <a:spcPct val="120000"/>
              </a:lnSpc>
            </a:pPr>
            <a:r>
              <a:rPr lang="en-US" sz="1200" dirty="0">
                <a:solidFill>
                  <a:schemeClr val="bg1"/>
                </a:solidFill>
                <a:latin typeface="Avenir Book" panose="02000503020000020003" pitchFamily="2" charset="0"/>
              </a:rPr>
              <a:t>Constantly online, multi-tasker, and mobile first. Main goal is to push for self-expression.</a:t>
            </a:r>
          </a:p>
        </p:txBody>
      </p:sp>
      <p:sp>
        <p:nvSpPr>
          <p:cNvPr id="18" name="TextBox 17">
            <a:extLst>
              <a:ext uri="{FF2B5EF4-FFF2-40B4-BE49-F238E27FC236}">
                <a16:creationId xmlns:a16="http://schemas.microsoft.com/office/drawing/2014/main" id="{610CAAB6-D682-3AD7-FC59-426E18E8FA96}"/>
              </a:ext>
            </a:extLst>
          </p:cNvPr>
          <p:cNvSpPr txBox="1"/>
          <p:nvPr/>
        </p:nvSpPr>
        <p:spPr>
          <a:xfrm>
            <a:off x="9383697" y="2468049"/>
            <a:ext cx="2351103" cy="876266"/>
          </a:xfrm>
          <a:prstGeom prst="rect">
            <a:avLst/>
          </a:prstGeom>
          <a:noFill/>
        </p:spPr>
        <p:txBody>
          <a:bodyPr wrap="square" lIns="0" tIns="0" rIns="0" bIns="0" rtlCol="0">
            <a:spAutoFit/>
          </a:bodyPr>
          <a:lstStyle/>
          <a:p>
            <a:pPr algn="ctr">
              <a:lnSpc>
                <a:spcPct val="120000"/>
              </a:lnSpc>
            </a:pPr>
            <a:r>
              <a:rPr lang="en-US" sz="1200" b="1" dirty="0">
                <a:solidFill>
                  <a:schemeClr val="bg1"/>
                </a:solidFill>
                <a:latin typeface="Avenir Heavy" panose="02000503020000020003" pitchFamily="2" charset="0"/>
              </a:rPr>
              <a:t>The Wellness Integrator</a:t>
            </a:r>
          </a:p>
          <a:p>
            <a:pPr algn="ctr">
              <a:lnSpc>
                <a:spcPct val="120000"/>
              </a:lnSpc>
            </a:pPr>
            <a:r>
              <a:rPr lang="en-US" sz="1200" dirty="0">
                <a:solidFill>
                  <a:schemeClr val="bg1"/>
                </a:solidFill>
                <a:latin typeface="Avenir Book" panose="02000503020000020003" pitchFamily="2" charset="0"/>
              </a:rPr>
              <a:t>Blends performance, spirituality, and mindfulness while maintaining balanced routines of growth.</a:t>
            </a:r>
          </a:p>
        </p:txBody>
      </p:sp>
      <p:sp>
        <p:nvSpPr>
          <p:cNvPr id="19" name="TextBox 18">
            <a:extLst>
              <a:ext uri="{FF2B5EF4-FFF2-40B4-BE49-F238E27FC236}">
                <a16:creationId xmlns:a16="http://schemas.microsoft.com/office/drawing/2014/main" id="{200461EB-D39D-0980-F14D-080478233CA5}"/>
              </a:ext>
            </a:extLst>
          </p:cNvPr>
          <p:cNvSpPr txBox="1"/>
          <p:nvPr/>
        </p:nvSpPr>
        <p:spPr>
          <a:xfrm>
            <a:off x="3401815" y="2468049"/>
            <a:ext cx="2349058" cy="1097865"/>
          </a:xfrm>
          <a:prstGeom prst="rect">
            <a:avLst/>
          </a:prstGeom>
          <a:noFill/>
        </p:spPr>
        <p:txBody>
          <a:bodyPr wrap="square" lIns="0" tIns="0" rIns="0" bIns="0" rtlCol="0">
            <a:spAutoFit/>
          </a:bodyPr>
          <a:lstStyle/>
          <a:p>
            <a:pPr algn="ctr">
              <a:lnSpc>
                <a:spcPct val="120000"/>
              </a:lnSpc>
            </a:pPr>
            <a:r>
              <a:rPr lang="en-US" sz="1200" b="1" dirty="0">
                <a:solidFill>
                  <a:schemeClr val="bg1"/>
                </a:solidFill>
                <a:latin typeface="Avenir Heavy" panose="02000503020000020003" pitchFamily="2" charset="0"/>
              </a:rPr>
              <a:t>The Prestige Insider</a:t>
            </a:r>
            <a:endParaRPr lang="en-US" sz="1200" dirty="0">
              <a:solidFill>
                <a:schemeClr val="bg1"/>
              </a:solidFill>
              <a:latin typeface="Avenir Book" panose="02000503020000020003" pitchFamily="2" charset="0"/>
            </a:endParaRPr>
          </a:p>
          <a:p>
            <a:pPr algn="ctr">
              <a:lnSpc>
                <a:spcPct val="120000"/>
              </a:lnSpc>
            </a:pPr>
            <a:r>
              <a:rPr lang="en-US" sz="1200" dirty="0">
                <a:solidFill>
                  <a:schemeClr val="bg1"/>
                </a:solidFill>
                <a:latin typeface="Avenir Book" panose="02000503020000020003" pitchFamily="2" charset="0"/>
              </a:rPr>
              <a:t>Collects unique design objects and invests in craft. Main goal is to acquire iconic pieces.</a:t>
            </a:r>
          </a:p>
          <a:p>
            <a:pPr algn="ctr">
              <a:lnSpc>
                <a:spcPct val="120000"/>
              </a:lnSpc>
            </a:pPr>
            <a:endParaRPr lang="en-US" sz="1200" b="1" dirty="0">
              <a:solidFill>
                <a:schemeClr val="bg1"/>
              </a:solidFill>
              <a:latin typeface="Avenir Heavy" panose="02000503020000020003" pitchFamily="2" charset="0"/>
            </a:endParaRPr>
          </a:p>
        </p:txBody>
      </p:sp>
      <p:sp>
        <p:nvSpPr>
          <p:cNvPr id="20" name="TextBox 19">
            <a:extLst>
              <a:ext uri="{FF2B5EF4-FFF2-40B4-BE49-F238E27FC236}">
                <a16:creationId xmlns:a16="http://schemas.microsoft.com/office/drawing/2014/main" id="{B1FE11D5-38AD-4E7F-62FF-4D7A18BA408F}"/>
              </a:ext>
            </a:extLst>
          </p:cNvPr>
          <p:cNvSpPr txBox="1"/>
          <p:nvPr/>
        </p:nvSpPr>
        <p:spPr>
          <a:xfrm>
            <a:off x="6391733" y="2468049"/>
            <a:ext cx="2351103" cy="876266"/>
          </a:xfrm>
          <a:prstGeom prst="rect">
            <a:avLst/>
          </a:prstGeom>
          <a:noFill/>
        </p:spPr>
        <p:txBody>
          <a:bodyPr wrap="square" lIns="0" tIns="0" rIns="0" bIns="0" rtlCol="0">
            <a:spAutoFit/>
          </a:bodyPr>
          <a:lstStyle/>
          <a:p>
            <a:pPr algn="ctr">
              <a:lnSpc>
                <a:spcPct val="120000"/>
              </a:lnSpc>
            </a:pPr>
            <a:r>
              <a:rPr lang="en-US" sz="1200" b="1" dirty="0">
                <a:solidFill>
                  <a:schemeClr val="bg1"/>
                </a:solidFill>
                <a:latin typeface="Avenir Heavy" panose="02000503020000020003" pitchFamily="2" charset="0"/>
              </a:rPr>
              <a:t>The Resilient Builder</a:t>
            </a:r>
          </a:p>
          <a:p>
            <a:pPr algn="ctr">
              <a:lnSpc>
                <a:spcPct val="120000"/>
              </a:lnSpc>
            </a:pPr>
            <a:r>
              <a:rPr lang="en-US" sz="1200" dirty="0">
                <a:solidFill>
                  <a:schemeClr val="bg1"/>
                </a:solidFill>
                <a:latin typeface="Avenir Book" panose="02000503020000020003" pitchFamily="2" charset="0"/>
              </a:rPr>
              <a:t>Hands-on learner and problem </a:t>
            </a:r>
          </a:p>
          <a:p>
            <a:pPr algn="ctr">
              <a:lnSpc>
                <a:spcPct val="120000"/>
              </a:lnSpc>
            </a:pPr>
            <a:r>
              <a:rPr lang="en-US" sz="1200" dirty="0">
                <a:solidFill>
                  <a:schemeClr val="bg1"/>
                </a:solidFill>
                <a:latin typeface="Avenir Book" panose="02000503020000020003" pitchFamily="2" charset="0"/>
              </a:rPr>
              <a:t>solver who wants to find tools that withstand hard use.</a:t>
            </a:r>
          </a:p>
        </p:txBody>
      </p:sp>
      <p:sp>
        <p:nvSpPr>
          <p:cNvPr id="22" name="Oval 21">
            <a:extLst>
              <a:ext uri="{FF2B5EF4-FFF2-40B4-BE49-F238E27FC236}">
                <a16:creationId xmlns:a16="http://schemas.microsoft.com/office/drawing/2014/main" id="{6C2CC1D6-26F8-ABF1-55A4-3DBF554D1442}"/>
              </a:ext>
            </a:extLst>
          </p:cNvPr>
          <p:cNvSpPr/>
          <p:nvPr/>
        </p:nvSpPr>
        <p:spPr>
          <a:xfrm>
            <a:off x="976062" y="3975654"/>
            <a:ext cx="1220728" cy="1220728"/>
          </a:xfrm>
          <a:prstGeom prst="ellipse">
            <a:avLst/>
          </a:prstGeom>
          <a:gradFill flip="none" rotWithShape="1">
            <a:gsLst>
              <a:gs pos="16000">
                <a:srgbClr val="75C6D6">
                  <a:alpha val="80000"/>
                </a:srgbClr>
              </a:gs>
              <a:gs pos="0">
                <a:srgbClr val="95CFD6">
                  <a:alpha val="80000"/>
                </a:srgbClr>
              </a:gs>
              <a:gs pos="39000">
                <a:srgbClr val="75B8D4">
                  <a:alpha val="80000"/>
                </a:srgbClr>
              </a:gs>
              <a:gs pos="70000">
                <a:srgbClr val="8CA3BA">
                  <a:alpha val="80000"/>
                </a:srgbClr>
              </a:gs>
              <a:gs pos="99000">
                <a:srgbClr val="9F9CBD">
                  <a:alpha val="80000"/>
                </a:srgbClr>
              </a:gs>
            </a:gsLst>
            <a:lin ang="5400000" scaled="1"/>
            <a:tileRect/>
          </a:gradFill>
          <a:ln w="12700">
            <a:solidFill>
              <a:schemeClr val="bg1">
                <a:alpha val="2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venir Medium" panose="02000503020000020003" pitchFamily="2" charset="0"/>
              </a:rPr>
              <a:t>PS</a:t>
            </a:r>
            <a:endParaRPr lang="en-US" dirty="0"/>
          </a:p>
        </p:txBody>
      </p:sp>
      <p:sp>
        <p:nvSpPr>
          <p:cNvPr id="23" name="Oval 22">
            <a:extLst>
              <a:ext uri="{FF2B5EF4-FFF2-40B4-BE49-F238E27FC236}">
                <a16:creationId xmlns:a16="http://schemas.microsoft.com/office/drawing/2014/main" id="{D86E89D6-E1C8-1A84-F7A6-8811D254CFF1}"/>
              </a:ext>
            </a:extLst>
          </p:cNvPr>
          <p:cNvSpPr/>
          <p:nvPr/>
        </p:nvSpPr>
        <p:spPr>
          <a:xfrm>
            <a:off x="3965980" y="3975654"/>
            <a:ext cx="1220728" cy="1220728"/>
          </a:xfrm>
          <a:prstGeom prst="ellipse">
            <a:avLst/>
          </a:prstGeom>
          <a:gradFill flip="none" rotWithShape="1">
            <a:gsLst>
              <a:gs pos="16000">
                <a:srgbClr val="75C6D6">
                  <a:alpha val="80000"/>
                </a:srgbClr>
              </a:gs>
              <a:gs pos="0">
                <a:srgbClr val="95CFD6">
                  <a:alpha val="80000"/>
                </a:srgbClr>
              </a:gs>
              <a:gs pos="39000">
                <a:srgbClr val="75B8D4">
                  <a:alpha val="80000"/>
                </a:srgbClr>
              </a:gs>
              <a:gs pos="70000">
                <a:srgbClr val="8CA3BA">
                  <a:alpha val="80000"/>
                </a:srgbClr>
              </a:gs>
              <a:gs pos="99000">
                <a:srgbClr val="9F9CBD">
                  <a:alpha val="80000"/>
                </a:srgbClr>
              </a:gs>
            </a:gsLst>
            <a:lin ang="5400000" scaled="1"/>
            <a:tileRect/>
          </a:gradFill>
          <a:ln w="12700">
            <a:solidFill>
              <a:schemeClr val="bg1">
                <a:alpha val="2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venir Medium" panose="02000503020000020003" pitchFamily="2" charset="0"/>
              </a:rPr>
              <a:t>MP</a:t>
            </a:r>
            <a:endParaRPr lang="en-US" dirty="0"/>
          </a:p>
        </p:txBody>
      </p:sp>
      <p:sp>
        <p:nvSpPr>
          <p:cNvPr id="25" name="Oval 24">
            <a:extLst>
              <a:ext uri="{FF2B5EF4-FFF2-40B4-BE49-F238E27FC236}">
                <a16:creationId xmlns:a16="http://schemas.microsoft.com/office/drawing/2014/main" id="{38488BCF-8510-931B-93F6-2A49A8A2BE54}"/>
              </a:ext>
            </a:extLst>
          </p:cNvPr>
          <p:cNvSpPr/>
          <p:nvPr/>
        </p:nvSpPr>
        <p:spPr>
          <a:xfrm>
            <a:off x="6956920" y="3975654"/>
            <a:ext cx="1220728" cy="1220728"/>
          </a:xfrm>
          <a:prstGeom prst="ellipse">
            <a:avLst/>
          </a:prstGeom>
          <a:gradFill flip="none" rotWithShape="1">
            <a:gsLst>
              <a:gs pos="16000">
                <a:srgbClr val="75C6D6">
                  <a:alpha val="80000"/>
                </a:srgbClr>
              </a:gs>
              <a:gs pos="0">
                <a:srgbClr val="95CFD6">
                  <a:alpha val="80000"/>
                </a:srgbClr>
              </a:gs>
              <a:gs pos="39000">
                <a:srgbClr val="75B8D4">
                  <a:alpha val="80000"/>
                </a:srgbClr>
              </a:gs>
              <a:gs pos="70000">
                <a:srgbClr val="8CA3BA">
                  <a:alpha val="80000"/>
                </a:srgbClr>
              </a:gs>
              <a:gs pos="99000">
                <a:srgbClr val="9F9CBD">
                  <a:alpha val="80000"/>
                </a:srgbClr>
              </a:gs>
            </a:gsLst>
            <a:lin ang="5400000" scaled="1"/>
            <a:tileRect/>
          </a:gradFill>
          <a:ln w="12700">
            <a:solidFill>
              <a:schemeClr val="bg1">
                <a:alpha val="2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venir Medium" panose="02000503020000020003" pitchFamily="2" charset="0"/>
              </a:rPr>
              <a:t>CM</a:t>
            </a:r>
            <a:endParaRPr lang="en-US" dirty="0"/>
          </a:p>
        </p:txBody>
      </p:sp>
      <p:sp>
        <p:nvSpPr>
          <p:cNvPr id="28" name="Oval 27">
            <a:extLst>
              <a:ext uri="{FF2B5EF4-FFF2-40B4-BE49-F238E27FC236}">
                <a16:creationId xmlns:a16="http://schemas.microsoft.com/office/drawing/2014/main" id="{A41601FF-4D7B-DAE3-A0F0-837ABC0D9149}"/>
              </a:ext>
            </a:extLst>
          </p:cNvPr>
          <p:cNvSpPr/>
          <p:nvPr/>
        </p:nvSpPr>
        <p:spPr>
          <a:xfrm>
            <a:off x="9948884" y="3975654"/>
            <a:ext cx="1220728" cy="1220728"/>
          </a:xfrm>
          <a:prstGeom prst="ellipse">
            <a:avLst/>
          </a:prstGeom>
          <a:gradFill flip="none" rotWithShape="1">
            <a:gsLst>
              <a:gs pos="16000">
                <a:srgbClr val="75C6D6">
                  <a:alpha val="80000"/>
                </a:srgbClr>
              </a:gs>
              <a:gs pos="0">
                <a:srgbClr val="95CFD6">
                  <a:alpha val="80000"/>
                </a:srgbClr>
              </a:gs>
              <a:gs pos="39000">
                <a:srgbClr val="75B8D4">
                  <a:alpha val="80000"/>
                </a:srgbClr>
              </a:gs>
              <a:gs pos="70000">
                <a:srgbClr val="8CA3BA">
                  <a:alpha val="80000"/>
                </a:srgbClr>
              </a:gs>
              <a:gs pos="99000">
                <a:srgbClr val="9F9CBD">
                  <a:alpha val="80000"/>
                </a:srgbClr>
              </a:gs>
            </a:gsLst>
            <a:lin ang="5400000" scaled="1"/>
            <a:tileRect/>
          </a:gradFill>
          <a:ln w="12700">
            <a:solidFill>
              <a:schemeClr val="bg1">
                <a:alpha val="2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venir Medium" panose="02000503020000020003" pitchFamily="2" charset="0"/>
              </a:rPr>
              <a:t>TE</a:t>
            </a:r>
            <a:endParaRPr lang="en-US" dirty="0"/>
          </a:p>
        </p:txBody>
      </p:sp>
      <p:sp>
        <p:nvSpPr>
          <p:cNvPr id="29" name="TextBox 28">
            <a:extLst>
              <a:ext uri="{FF2B5EF4-FFF2-40B4-BE49-F238E27FC236}">
                <a16:creationId xmlns:a16="http://schemas.microsoft.com/office/drawing/2014/main" id="{1B29D9A3-059A-EE6E-3A6A-4145CBA17222}"/>
              </a:ext>
            </a:extLst>
          </p:cNvPr>
          <p:cNvSpPr txBox="1"/>
          <p:nvPr/>
        </p:nvSpPr>
        <p:spPr>
          <a:xfrm>
            <a:off x="411897" y="5302935"/>
            <a:ext cx="2349058" cy="1097865"/>
          </a:xfrm>
          <a:prstGeom prst="rect">
            <a:avLst/>
          </a:prstGeom>
          <a:noFill/>
        </p:spPr>
        <p:txBody>
          <a:bodyPr wrap="square" lIns="0" tIns="0" rIns="0" bIns="0" rtlCol="0">
            <a:spAutoFit/>
          </a:bodyPr>
          <a:lstStyle/>
          <a:p>
            <a:pPr algn="ctr">
              <a:lnSpc>
                <a:spcPct val="120000"/>
              </a:lnSpc>
            </a:pPr>
            <a:r>
              <a:rPr lang="en-US" sz="1200" b="1" dirty="0">
                <a:solidFill>
                  <a:schemeClr val="bg1"/>
                </a:solidFill>
                <a:latin typeface="Avenir Heavy" panose="02000503020000020003" pitchFamily="2" charset="0"/>
              </a:rPr>
              <a:t>The Pragmatic Saver</a:t>
            </a:r>
          </a:p>
          <a:p>
            <a:pPr algn="ctr">
              <a:lnSpc>
                <a:spcPct val="120000"/>
              </a:lnSpc>
            </a:pPr>
            <a:r>
              <a:rPr lang="en-US" sz="1200" dirty="0">
                <a:solidFill>
                  <a:schemeClr val="bg1"/>
                </a:solidFill>
                <a:latin typeface="Avenir Book" panose="02000503020000020003" pitchFamily="2" charset="0"/>
              </a:rPr>
              <a:t>Financially stable, budget-conscious, and seeks to maximize value for long-term goal setting.</a:t>
            </a:r>
          </a:p>
          <a:p>
            <a:pPr algn="ctr">
              <a:lnSpc>
                <a:spcPct val="120000"/>
              </a:lnSpc>
            </a:pPr>
            <a:endParaRPr lang="en-US" sz="1200" dirty="0">
              <a:solidFill>
                <a:schemeClr val="bg1"/>
              </a:solidFill>
              <a:latin typeface="Avenir Book" panose="02000503020000020003" pitchFamily="2" charset="0"/>
            </a:endParaRPr>
          </a:p>
        </p:txBody>
      </p:sp>
      <p:sp>
        <p:nvSpPr>
          <p:cNvPr id="30" name="TextBox 29">
            <a:extLst>
              <a:ext uri="{FF2B5EF4-FFF2-40B4-BE49-F238E27FC236}">
                <a16:creationId xmlns:a16="http://schemas.microsoft.com/office/drawing/2014/main" id="{FB57BDDA-08F1-D026-3FA8-CC8DD42E00F7}"/>
              </a:ext>
            </a:extLst>
          </p:cNvPr>
          <p:cNvSpPr txBox="1"/>
          <p:nvPr/>
        </p:nvSpPr>
        <p:spPr>
          <a:xfrm>
            <a:off x="9383697" y="5302935"/>
            <a:ext cx="2351103" cy="876266"/>
          </a:xfrm>
          <a:prstGeom prst="rect">
            <a:avLst/>
          </a:prstGeom>
          <a:noFill/>
        </p:spPr>
        <p:txBody>
          <a:bodyPr wrap="square" lIns="0" tIns="0" rIns="0" bIns="0" rtlCol="0">
            <a:spAutoFit/>
          </a:bodyPr>
          <a:lstStyle/>
          <a:p>
            <a:pPr algn="ctr">
              <a:lnSpc>
                <a:spcPct val="120000"/>
              </a:lnSpc>
            </a:pPr>
            <a:r>
              <a:rPr lang="en-US" sz="1200" b="1" dirty="0">
                <a:solidFill>
                  <a:schemeClr val="bg1"/>
                </a:solidFill>
                <a:latin typeface="Avenir Heavy" panose="02000503020000020003" pitchFamily="2" charset="0"/>
              </a:rPr>
              <a:t>The Trend-Forward Explorer</a:t>
            </a:r>
          </a:p>
          <a:p>
            <a:pPr algn="ctr">
              <a:lnSpc>
                <a:spcPct val="120000"/>
              </a:lnSpc>
            </a:pPr>
            <a:r>
              <a:rPr lang="en-US" sz="1200" dirty="0">
                <a:solidFill>
                  <a:schemeClr val="bg1"/>
                </a:solidFill>
                <a:latin typeface="Avenir Book" panose="02000503020000020003" pitchFamily="2" charset="0"/>
              </a:rPr>
              <a:t>Seeks experiences that blend real-life with digital culture and global relevance.</a:t>
            </a:r>
          </a:p>
        </p:txBody>
      </p:sp>
      <p:sp>
        <p:nvSpPr>
          <p:cNvPr id="34" name="TextBox 33">
            <a:extLst>
              <a:ext uri="{FF2B5EF4-FFF2-40B4-BE49-F238E27FC236}">
                <a16:creationId xmlns:a16="http://schemas.microsoft.com/office/drawing/2014/main" id="{F5F0A38B-665F-B0A6-8652-82028C8E936B}"/>
              </a:ext>
            </a:extLst>
          </p:cNvPr>
          <p:cNvSpPr txBox="1"/>
          <p:nvPr/>
        </p:nvSpPr>
        <p:spPr>
          <a:xfrm>
            <a:off x="3401815" y="5302935"/>
            <a:ext cx="2349058" cy="876266"/>
          </a:xfrm>
          <a:prstGeom prst="rect">
            <a:avLst/>
          </a:prstGeom>
          <a:noFill/>
        </p:spPr>
        <p:txBody>
          <a:bodyPr wrap="square" lIns="0" tIns="0" rIns="0" bIns="0" rtlCol="0">
            <a:spAutoFit/>
          </a:bodyPr>
          <a:lstStyle/>
          <a:p>
            <a:pPr algn="ctr">
              <a:lnSpc>
                <a:spcPct val="120000"/>
              </a:lnSpc>
            </a:pPr>
            <a:r>
              <a:rPr lang="en-US" sz="1200" b="1" dirty="0">
                <a:solidFill>
                  <a:schemeClr val="bg1"/>
                </a:solidFill>
                <a:latin typeface="Avenir Heavy" panose="02000503020000020003" pitchFamily="2" charset="0"/>
              </a:rPr>
              <a:t>The Multiplying Parent</a:t>
            </a:r>
          </a:p>
          <a:p>
            <a:pPr algn="ctr">
              <a:lnSpc>
                <a:spcPct val="120000"/>
              </a:lnSpc>
            </a:pPr>
            <a:r>
              <a:rPr lang="en-US" sz="1200" dirty="0">
                <a:solidFill>
                  <a:schemeClr val="bg1"/>
                </a:solidFill>
                <a:latin typeface="Avenir Book" panose="02000503020000020003" pitchFamily="2" charset="0"/>
              </a:rPr>
              <a:t>Balances work and parenting with practical tools and is driven by utility and durability.</a:t>
            </a:r>
          </a:p>
        </p:txBody>
      </p:sp>
      <p:sp>
        <p:nvSpPr>
          <p:cNvPr id="36" name="TextBox 35">
            <a:extLst>
              <a:ext uri="{FF2B5EF4-FFF2-40B4-BE49-F238E27FC236}">
                <a16:creationId xmlns:a16="http://schemas.microsoft.com/office/drawing/2014/main" id="{9CB68C7E-5EE9-3156-B8DC-3B621C12D1FB}"/>
              </a:ext>
            </a:extLst>
          </p:cNvPr>
          <p:cNvSpPr txBox="1"/>
          <p:nvPr/>
        </p:nvSpPr>
        <p:spPr>
          <a:xfrm>
            <a:off x="6391733" y="5302935"/>
            <a:ext cx="2351103" cy="876266"/>
          </a:xfrm>
          <a:prstGeom prst="rect">
            <a:avLst/>
          </a:prstGeom>
          <a:noFill/>
        </p:spPr>
        <p:txBody>
          <a:bodyPr wrap="square" lIns="0" tIns="0" rIns="0" bIns="0" rtlCol="0">
            <a:spAutoFit/>
          </a:bodyPr>
          <a:lstStyle/>
          <a:p>
            <a:pPr algn="ctr">
              <a:lnSpc>
                <a:spcPct val="120000"/>
              </a:lnSpc>
            </a:pPr>
            <a:r>
              <a:rPr lang="en-US" sz="1200" b="1" dirty="0">
                <a:solidFill>
                  <a:schemeClr val="bg1"/>
                </a:solidFill>
                <a:latin typeface="Avenir Heavy" panose="02000503020000020003" pitchFamily="2" charset="0"/>
              </a:rPr>
              <a:t>The Conscious Minimalist</a:t>
            </a:r>
          </a:p>
          <a:p>
            <a:pPr algn="ctr">
              <a:lnSpc>
                <a:spcPct val="120000"/>
              </a:lnSpc>
            </a:pPr>
            <a:r>
              <a:rPr lang="en-US" sz="1200" dirty="0">
                <a:solidFill>
                  <a:schemeClr val="bg1"/>
                </a:solidFill>
                <a:latin typeface="Avenir Book" panose="02000503020000020003" pitchFamily="2" charset="0"/>
              </a:rPr>
              <a:t>Values sustainability, avoids clutter, prioritizes long-lasting design, and focuses on ethics.</a:t>
            </a:r>
          </a:p>
        </p:txBody>
      </p:sp>
    </p:spTree>
    <p:extLst>
      <p:ext uri="{BB962C8B-B14F-4D97-AF65-F5344CB8AC3E}">
        <p14:creationId xmlns:p14="http://schemas.microsoft.com/office/powerpoint/2010/main" val="15301331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C0E15-E59A-4290-C4A7-F3500A58D0F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941A15A-4DAA-E0AC-59AB-8B805673FD60}"/>
              </a:ext>
            </a:extLst>
          </p:cNvPr>
          <p:cNvPicPr>
            <a:picLocks noChangeAspect="1"/>
          </p:cNvPicPr>
          <p:nvPr/>
        </p:nvPicPr>
        <p:blipFill>
          <a:blip r:embed="rId3"/>
          <a:srcRect/>
          <a:stretch/>
        </p:blipFill>
        <p:spPr>
          <a:xfrm>
            <a:off x="1265443" y="1611123"/>
            <a:ext cx="10475676" cy="4069988"/>
          </a:xfrm>
          <a:prstGeom prst="rect">
            <a:avLst/>
          </a:prstGeom>
        </p:spPr>
      </p:pic>
      <p:sp>
        <p:nvSpPr>
          <p:cNvPr id="11" name="TextBox 10">
            <a:extLst>
              <a:ext uri="{FF2B5EF4-FFF2-40B4-BE49-F238E27FC236}">
                <a16:creationId xmlns:a16="http://schemas.microsoft.com/office/drawing/2014/main" id="{10BAB554-B170-D48F-7D2C-53113E7FFE08}"/>
              </a:ext>
            </a:extLst>
          </p:cNvPr>
          <p:cNvSpPr txBox="1"/>
          <p:nvPr/>
        </p:nvSpPr>
        <p:spPr>
          <a:xfrm>
            <a:off x="1420333" y="2984190"/>
            <a:ext cx="810279" cy="502073"/>
          </a:xfrm>
          <a:prstGeom prst="rect">
            <a:avLst/>
          </a:prstGeom>
          <a:noFill/>
        </p:spPr>
        <p:txBody>
          <a:bodyPr wrap="square" rtlCol="0">
            <a:spAutoFit/>
          </a:bodyPr>
          <a:lstStyle/>
          <a:p>
            <a:pPr algn="ctr"/>
            <a:r>
              <a:rPr lang="en-US" sz="800" dirty="0">
                <a:solidFill>
                  <a:schemeClr val="bg1"/>
                </a:solidFill>
                <a:latin typeface="Avenir Book" panose="02000503020000020003" pitchFamily="2" charset="0"/>
              </a:rPr>
              <a:t>2020</a:t>
            </a:r>
          </a:p>
          <a:p>
            <a:pPr algn="ctr"/>
            <a:r>
              <a:rPr lang="en-US" sz="1200" dirty="0">
                <a:solidFill>
                  <a:schemeClr val="bg1"/>
                </a:solidFill>
                <a:latin typeface="Avenir Book" panose="02000503020000020003" pitchFamily="2" charset="0"/>
              </a:rPr>
              <a:t>$16.74</a:t>
            </a:r>
          </a:p>
          <a:p>
            <a:pPr algn="ctr"/>
            <a:r>
              <a:rPr lang="en-US" sz="800" dirty="0">
                <a:solidFill>
                  <a:schemeClr val="bg1"/>
                </a:solidFill>
                <a:latin typeface="Avenir Book" panose="02000503020000020003" pitchFamily="2" charset="0"/>
              </a:rPr>
              <a:t>23.75%</a:t>
            </a:r>
          </a:p>
        </p:txBody>
      </p:sp>
      <p:sp>
        <p:nvSpPr>
          <p:cNvPr id="13" name="TextBox 12">
            <a:extLst>
              <a:ext uri="{FF2B5EF4-FFF2-40B4-BE49-F238E27FC236}">
                <a16:creationId xmlns:a16="http://schemas.microsoft.com/office/drawing/2014/main" id="{228112E6-C81C-01AD-27C2-DCAA95B9474F}"/>
              </a:ext>
            </a:extLst>
          </p:cNvPr>
          <p:cNvSpPr txBox="1"/>
          <p:nvPr/>
        </p:nvSpPr>
        <p:spPr>
          <a:xfrm>
            <a:off x="2286392" y="2482117"/>
            <a:ext cx="810279" cy="502073"/>
          </a:xfrm>
          <a:prstGeom prst="rect">
            <a:avLst/>
          </a:prstGeom>
          <a:noFill/>
        </p:spPr>
        <p:txBody>
          <a:bodyPr wrap="square" rtlCol="0">
            <a:spAutoFit/>
          </a:bodyPr>
          <a:lstStyle/>
          <a:p>
            <a:pPr algn="ctr"/>
            <a:r>
              <a:rPr lang="en-US" sz="800" dirty="0">
                <a:solidFill>
                  <a:schemeClr val="bg1"/>
                </a:solidFill>
                <a:latin typeface="Avenir Book" panose="02000503020000020003" pitchFamily="2" charset="0"/>
              </a:rPr>
              <a:t>2022</a:t>
            </a:r>
          </a:p>
          <a:p>
            <a:pPr algn="ctr"/>
            <a:r>
              <a:rPr lang="en-US" sz="1200" dirty="0">
                <a:solidFill>
                  <a:schemeClr val="bg1"/>
                </a:solidFill>
                <a:latin typeface="Avenir Book" panose="02000503020000020003" pitchFamily="2" charset="0"/>
              </a:rPr>
              <a:t>$19.54</a:t>
            </a:r>
          </a:p>
          <a:p>
            <a:pPr algn="ctr"/>
            <a:r>
              <a:rPr lang="en-US" sz="800" dirty="0">
                <a:solidFill>
                  <a:schemeClr val="bg1"/>
                </a:solidFill>
                <a:latin typeface="Avenir Book" panose="02000503020000020003" pitchFamily="2" charset="0"/>
              </a:rPr>
              <a:t>36.74%</a:t>
            </a:r>
          </a:p>
        </p:txBody>
      </p:sp>
      <p:sp>
        <p:nvSpPr>
          <p:cNvPr id="14" name="TextBox 13">
            <a:extLst>
              <a:ext uri="{FF2B5EF4-FFF2-40B4-BE49-F238E27FC236}">
                <a16:creationId xmlns:a16="http://schemas.microsoft.com/office/drawing/2014/main" id="{C9E63B70-474C-50AC-AA01-62CCD953EF87}"/>
              </a:ext>
            </a:extLst>
          </p:cNvPr>
          <p:cNvSpPr txBox="1"/>
          <p:nvPr/>
        </p:nvSpPr>
        <p:spPr>
          <a:xfrm>
            <a:off x="3230649" y="2184591"/>
            <a:ext cx="810279" cy="502073"/>
          </a:xfrm>
          <a:prstGeom prst="rect">
            <a:avLst/>
          </a:prstGeom>
          <a:noFill/>
        </p:spPr>
        <p:txBody>
          <a:bodyPr wrap="square" rtlCol="0">
            <a:spAutoFit/>
          </a:bodyPr>
          <a:lstStyle/>
          <a:p>
            <a:pPr algn="ctr"/>
            <a:r>
              <a:rPr lang="en-US" sz="800" dirty="0">
                <a:solidFill>
                  <a:schemeClr val="bg1"/>
                </a:solidFill>
                <a:latin typeface="Avenir Book" panose="02000503020000020003" pitchFamily="2" charset="0"/>
              </a:rPr>
              <a:t>2023</a:t>
            </a:r>
          </a:p>
          <a:p>
            <a:pPr algn="ctr"/>
            <a:r>
              <a:rPr lang="en-US" sz="1200" dirty="0">
                <a:solidFill>
                  <a:schemeClr val="bg1"/>
                </a:solidFill>
                <a:latin typeface="Avenir Book" panose="02000503020000020003" pitchFamily="2" charset="0"/>
              </a:rPr>
              <a:t>$74.83</a:t>
            </a:r>
          </a:p>
          <a:p>
            <a:pPr algn="ctr"/>
            <a:r>
              <a:rPr lang="en-US" sz="800" dirty="0">
                <a:solidFill>
                  <a:schemeClr val="bg1"/>
                </a:solidFill>
                <a:latin typeface="Avenir Book" panose="02000503020000020003" pitchFamily="2" charset="0"/>
              </a:rPr>
              <a:t>19.38%</a:t>
            </a:r>
          </a:p>
        </p:txBody>
      </p:sp>
      <p:sp>
        <p:nvSpPr>
          <p:cNvPr id="15" name="TextBox 14">
            <a:extLst>
              <a:ext uri="{FF2B5EF4-FFF2-40B4-BE49-F238E27FC236}">
                <a16:creationId xmlns:a16="http://schemas.microsoft.com/office/drawing/2014/main" id="{5CC7BC86-D234-20BE-A9BE-3F839A1F27F5}"/>
              </a:ext>
            </a:extLst>
          </p:cNvPr>
          <p:cNvSpPr txBox="1"/>
          <p:nvPr/>
        </p:nvSpPr>
        <p:spPr>
          <a:xfrm>
            <a:off x="4363769" y="1968421"/>
            <a:ext cx="810279" cy="502073"/>
          </a:xfrm>
          <a:prstGeom prst="rect">
            <a:avLst/>
          </a:prstGeom>
          <a:noFill/>
        </p:spPr>
        <p:txBody>
          <a:bodyPr wrap="square" rtlCol="0">
            <a:spAutoFit/>
          </a:bodyPr>
          <a:lstStyle/>
          <a:p>
            <a:pPr algn="ctr"/>
            <a:r>
              <a:rPr lang="en-US" sz="800" dirty="0">
                <a:solidFill>
                  <a:schemeClr val="bg1"/>
                </a:solidFill>
                <a:latin typeface="Avenir Book" panose="02000503020000020003" pitchFamily="2" charset="0"/>
              </a:rPr>
              <a:t>2023</a:t>
            </a:r>
          </a:p>
          <a:p>
            <a:pPr algn="ctr"/>
            <a:r>
              <a:rPr lang="en-US" sz="1200" dirty="0">
                <a:solidFill>
                  <a:schemeClr val="bg1"/>
                </a:solidFill>
                <a:latin typeface="Avenir Book" panose="02000503020000020003" pitchFamily="2" charset="0"/>
              </a:rPr>
              <a:t>$69.03</a:t>
            </a:r>
          </a:p>
          <a:p>
            <a:pPr algn="ctr"/>
            <a:r>
              <a:rPr lang="en-US" sz="800" dirty="0">
                <a:solidFill>
                  <a:schemeClr val="bg1"/>
                </a:solidFill>
                <a:latin typeface="Avenir Book" panose="02000503020000020003" pitchFamily="2" charset="0"/>
              </a:rPr>
              <a:t>34.02%</a:t>
            </a:r>
          </a:p>
        </p:txBody>
      </p:sp>
      <p:sp>
        <p:nvSpPr>
          <p:cNvPr id="17" name="TextBox 16">
            <a:extLst>
              <a:ext uri="{FF2B5EF4-FFF2-40B4-BE49-F238E27FC236}">
                <a16:creationId xmlns:a16="http://schemas.microsoft.com/office/drawing/2014/main" id="{E769E229-1A66-2A9F-ADCE-D073E70A4755}"/>
              </a:ext>
            </a:extLst>
          </p:cNvPr>
          <p:cNvSpPr txBox="1"/>
          <p:nvPr/>
        </p:nvSpPr>
        <p:spPr>
          <a:xfrm>
            <a:off x="5609393" y="1812970"/>
            <a:ext cx="810279" cy="502073"/>
          </a:xfrm>
          <a:prstGeom prst="rect">
            <a:avLst/>
          </a:prstGeom>
          <a:noFill/>
        </p:spPr>
        <p:txBody>
          <a:bodyPr wrap="square" rtlCol="0">
            <a:spAutoFit/>
          </a:bodyPr>
          <a:lstStyle/>
          <a:p>
            <a:pPr algn="ctr"/>
            <a:r>
              <a:rPr lang="en-US" sz="800" dirty="0">
                <a:solidFill>
                  <a:schemeClr val="bg1"/>
                </a:solidFill>
                <a:latin typeface="Avenir Book" panose="02000503020000020003" pitchFamily="2" charset="0"/>
              </a:rPr>
              <a:t>2024</a:t>
            </a:r>
          </a:p>
          <a:p>
            <a:pPr algn="ctr"/>
            <a:r>
              <a:rPr lang="en-US" sz="1200" dirty="0">
                <a:solidFill>
                  <a:schemeClr val="bg1"/>
                </a:solidFill>
                <a:latin typeface="Avenir Book" panose="02000503020000020003" pitchFamily="2" charset="0"/>
              </a:rPr>
              <a:t>$102.44</a:t>
            </a:r>
          </a:p>
          <a:p>
            <a:pPr algn="ctr"/>
            <a:r>
              <a:rPr lang="en-US" sz="800" dirty="0">
                <a:solidFill>
                  <a:schemeClr val="bg1"/>
                </a:solidFill>
                <a:latin typeface="Avenir Book" panose="02000503020000020003" pitchFamily="2" charset="0"/>
              </a:rPr>
              <a:t>56.93%</a:t>
            </a:r>
          </a:p>
        </p:txBody>
      </p:sp>
      <p:sp>
        <p:nvSpPr>
          <p:cNvPr id="19" name="TextBox 18">
            <a:extLst>
              <a:ext uri="{FF2B5EF4-FFF2-40B4-BE49-F238E27FC236}">
                <a16:creationId xmlns:a16="http://schemas.microsoft.com/office/drawing/2014/main" id="{A07B871C-5CEA-262A-1187-08E4667D741B}"/>
              </a:ext>
            </a:extLst>
          </p:cNvPr>
          <p:cNvSpPr txBox="1"/>
          <p:nvPr/>
        </p:nvSpPr>
        <p:spPr>
          <a:xfrm>
            <a:off x="6934272" y="1812970"/>
            <a:ext cx="810279" cy="502073"/>
          </a:xfrm>
          <a:prstGeom prst="rect">
            <a:avLst/>
          </a:prstGeom>
          <a:noFill/>
        </p:spPr>
        <p:txBody>
          <a:bodyPr wrap="square" rtlCol="0">
            <a:spAutoFit/>
          </a:bodyPr>
          <a:lstStyle/>
          <a:p>
            <a:pPr algn="ctr"/>
            <a:r>
              <a:rPr lang="en-US" sz="800" dirty="0">
                <a:solidFill>
                  <a:schemeClr val="bg1"/>
                </a:solidFill>
                <a:latin typeface="Avenir Book" panose="02000503020000020003" pitchFamily="2" charset="0"/>
              </a:rPr>
              <a:t>2024</a:t>
            </a:r>
          </a:p>
          <a:p>
            <a:pPr algn="ctr"/>
            <a:r>
              <a:rPr lang="en-US" sz="1200" dirty="0">
                <a:solidFill>
                  <a:schemeClr val="bg1"/>
                </a:solidFill>
                <a:latin typeface="Avenir Book" panose="02000503020000020003" pitchFamily="2" charset="0"/>
              </a:rPr>
              <a:t>$138.44</a:t>
            </a:r>
          </a:p>
          <a:p>
            <a:pPr algn="ctr"/>
            <a:r>
              <a:rPr lang="en-US" sz="800" dirty="0">
                <a:solidFill>
                  <a:schemeClr val="bg1"/>
                </a:solidFill>
                <a:latin typeface="Avenir Book" panose="02000503020000020003" pitchFamily="2" charset="0"/>
              </a:rPr>
              <a:t>73.66%</a:t>
            </a:r>
          </a:p>
        </p:txBody>
      </p:sp>
      <p:sp>
        <p:nvSpPr>
          <p:cNvPr id="20" name="TextBox 19">
            <a:extLst>
              <a:ext uri="{FF2B5EF4-FFF2-40B4-BE49-F238E27FC236}">
                <a16:creationId xmlns:a16="http://schemas.microsoft.com/office/drawing/2014/main" id="{2A1278A6-892F-8C9E-BC30-F124FB9DB2F6}"/>
              </a:ext>
            </a:extLst>
          </p:cNvPr>
          <p:cNvSpPr txBox="1"/>
          <p:nvPr/>
        </p:nvSpPr>
        <p:spPr>
          <a:xfrm>
            <a:off x="8179896" y="1933554"/>
            <a:ext cx="810279" cy="502073"/>
          </a:xfrm>
          <a:prstGeom prst="rect">
            <a:avLst/>
          </a:prstGeom>
          <a:noFill/>
        </p:spPr>
        <p:txBody>
          <a:bodyPr wrap="square" rtlCol="0">
            <a:spAutoFit/>
          </a:bodyPr>
          <a:lstStyle/>
          <a:p>
            <a:pPr algn="ctr"/>
            <a:r>
              <a:rPr lang="en-US" sz="800" dirty="0">
                <a:solidFill>
                  <a:schemeClr val="bg1"/>
                </a:solidFill>
                <a:latin typeface="Avenir Book" panose="02000503020000020003" pitchFamily="2" charset="0"/>
              </a:rPr>
              <a:t>2024</a:t>
            </a:r>
          </a:p>
          <a:p>
            <a:pPr algn="ctr"/>
            <a:r>
              <a:rPr lang="en-US" sz="1200" dirty="0">
                <a:solidFill>
                  <a:schemeClr val="bg1"/>
                </a:solidFill>
                <a:latin typeface="Avenir Book" panose="02000503020000020003" pitchFamily="2" charset="0"/>
              </a:rPr>
              <a:t>$173.56</a:t>
            </a:r>
          </a:p>
          <a:p>
            <a:pPr algn="ctr"/>
            <a:r>
              <a:rPr lang="en-US" sz="800" dirty="0">
                <a:solidFill>
                  <a:schemeClr val="bg1"/>
                </a:solidFill>
                <a:latin typeface="Avenir Book" panose="02000503020000020003" pitchFamily="2" charset="0"/>
              </a:rPr>
              <a:t>81.43%</a:t>
            </a:r>
          </a:p>
        </p:txBody>
      </p:sp>
      <p:sp>
        <p:nvSpPr>
          <p:cNvPr id="21" name="TextBox 20">
            <a:extLst>
              <a:ext uri="{FF2B5EF4-FFF2-40B4-BE49-F238E27FC236}">
                <a16:creationId xmlns:a16="http://schemas.microsoft.com/office/drawing/2014/main" id="{C12899FC-701F-CC89-1093-66DE93302E78}"/>
              </a:ext>
            </a:extLst>
          </p:cNvPr>
          <p:cNvSpPr txBox="1"/>
          <p:nvPr/>
        </p:nvSpPr>
        <p:spPr>
          <a:xfrm>
            <a:off x="9307207" y="2178779"/>
            <a:ext cx="810279" cy="502073"/>
          </a:xfrm>
          <a:prstGeom prst="rect">
            <a:avLst/>
          </a:prstGeom>
          <a:noFill/>
        </p:spPr>
        <p:txBody>
          <a:bodyPr wrap="square" rtlCol="0">
            <a:spAutoFit/>
          </a:bodyPr>
          <a:lstStyle/>
          <a:p>
            <a:pPr algn="ctr"/>
            <a:r>
              <a:rPr lang="en-US" sz="800" dirty="0">
                <a:solidFill>
                  <a:schemeClr val="bg1"/>
                </a:solidFill>
                <a:latin typeface="Avenir Book" panose="02000503020000020003" pitchFamily="2" charset="0"/>
              </a:rPr>
              <a:t>2025</a:t>
            </a:r>
          </a:p>
          <a:p>
            <a:pPr algn="ctr"/>
            <a:r>
              <a:rPr lang="en-US" sz="1200" dirty="0">
                <a:solidFill>
                  <a:schemeClr val="bg1"/>
                </a:solidFill>
                <a:latin typeface="Avenir Book" panose="02000503020000020003" pitchFamily="2" charset="0"/>
              </a:rPr>
              <a:t>$2.08</a:t>
            </a:r>
          </a:p>
          <a:p>
            <a:pPr algn="ctr"/>
            <a:r>
              <a:rPr lang="en-US" sz="800" dirty="0">
                <a:solidFill>
                  <a:schemeClr val="bg1"/>
                </a:solidFill>
                <a:latin typeface="Avenir Book" panose="02000503020000020003" pitchFamily="2" charset="0"/>
              </a:rPr>
              <a:t>47.05%</a:t>
            </a:r>
          </a:p>
        </p:txBody>
      </p:sp>
      <p:sp>
        <p:nvSpPr>
          <p:cNvPr id="22" name="TextBox 21">
            <a:extLst>
              <a:ext uri="{FF2B5EF4-FFF2-40B4-BE49-F238E27FC236}">
                <a16:creationId xmlns:a16="http://schemas.microsoft.com/office/drawing/2014/main" id="{BD78E723-397C-BE89-FEA5-64FE038CF18A}"/>
              </a:ext>
            </a:extLst>
          </p:cNvPr>
          <p:cNvSpPr txBox="1"/>
          <p:nvPr/>
        </p:nvSpPr>
        <p:spPr>
          <a:xfrm>
            <a:off x="10294740" y="2511618"/>
            <a:ext cx="810279" cy="502073"/>
          </a:xfrm>
          <a:prstGeom prst="rect">
            <a:avLst/>
          </a:prstGeom>
          <a:noFill/>
        </p:spPr>
        <p:txBody>
          <a:bodyPr wrap="square" rtlCol="0">
            <a:spAutoFit/>
          </a:bodyPr>
          <a:lstStyle/>
          <a:p>
            <a:pPr algn="ctr"/>
            <a:r>
              <a:rPr lang="en-US" sz="800" dirty="0">
                <a:solidFill>
                  <a:schemeClr val="bg1"/>
                </a:solidFill>
                <a:latin typeface="Avenir Book" panose="02000503020000020003" pitchFamily="2" charset="0"/>
              </a:rPr>
              <a:t>2025</a:t>
            </a:r>
          </a:p>
          <a:p>
            <a:pPr algn="ctr"/>
            <a:r>
              <a:rPr lang="en-US" sz="1200" dirty="0">
                <a:solidFill>
                  <a:schemeClr val="bg1"/>
                </a:solidFill>
                <a:latin typeface="Avenir Book" panose="02000503020000020003" pitchFamily="2" charset="0"/>
              </a:rPr>
              <a:t>$1.98</a:t>
            </a:r>
          </a:p>
          <a:p>
            <a:pPr algn="ctr"/>
            <a:r>
              <a:rPr lang="en-US" sz="800" dirty="0">
                <a:solidFill>
                  <a:schemeClr val="bg1"/>
                </a:solidFill>
                <a:latin typeface="Avenir Book" panose="02000503020000020003" pitchFamily="2" charset="0"/>
              </a:rPr>
              <a:t>22.05%</a:t>
            </a:r>
          </a:p>
        </p:txBody>
      </p:sp>
      <p:sp>
        <p:nvSpPr>
          <p:cNvPr id="23" name="TextBox 22">
            <a:extLst>
              <a:ext uri="{FF2B5EF4-FFF2-40B4-BE49-F238E27FC236}">
                <a16:creationId xmlns:a16="http://schemas.microsoft.com/office/drawing/2014/main" id="{99CF6E64-3337-712A-3ECE-B1D62EA55F46}"/>
              </a:ext>
            </a:extLst>
          </p:cNvPr>
          <p:cNvSpPr txBox="1"/>
          <p:nvPr/>
        </p:nvSpPr>
        <p:spPr>
          <a:xfrm>
            <a:off x="11080874" y="2989856"/>
            <a:ext cx="810279" cy="383939"/>
          </a:xfrm>
          <a:prstGeom prst="rect">
            <a:avLst/>
          </a:prstGeom>
          <a:noFill/>
        </p:spPr>
        <p:txBody>
          <a:bodyPr wrap="square" rtlCol="0">
            <a:spAutoFit/>
          </a:bodyPr>
          <a:lstStyle/>
          <a:p>
            <a:pPr algn="ctr"/>
            <a:r>
              <a:rPr lang="en-US" sz="1200" dirty="0">
                <a:solidFill>
                  <a:schemeClr val="bg1"/>
                </a:solidFill>
                <a:latin typeface="Avenir Book" panose="02000503020000020003" pitchFamily="2" charset="0"/>
              </a:rPr>
              <a:t>$.98</a:t>
            </a:r>
          </a:p>
          <a:p>
            <a:pPr algn="ctr"/>
            <a:r>
              <a:rPr lang="en-US" sz="800" dirty="0">
                <a:solidFill>
                  <a:schemeClr val="bg1"/>
                </a:solidFill>
                <a:latin typeface="Avenir Book" panose="02000503020000020003" pitchFamily="2" charset="0"/>
              </a:rPr>
              <a:t>1.05%</a:t>
            </a:r>
          </a:p>
        </p:txBody>
      </p:sp>
      <p:sp>
        <p:nvSpPr>
          <p:cNvPr id="24" name="TextBox 23">
            <a:extLst>
              <a:ext uri="{FF2B5EF4-FFF2-40B4-BE49-F238E27FC236}">
                <a16:creationId xmlns:a16="http://schemas.microsoft.com/office/drawing/2014/main" id="{7F38673D-E9B0-59E6-E801-15D01E77C07E}"/>
              </a:ext>
            </a:extLst>
          </p:cNvPr>
          <p:cNvSpPr txBox="1"/>
          <p:nvPr/>
        </p:nvSpPr>
        <p:spPr>
          <a:xfrm>
            <a:off x="2901255" y="5391457"/>
            <a:ext cx="495531" cy="206736"/>
          </a:xfrm>
          <a:prstGeom prst="rect">
            <a:avLst/>
          </a:prstGeom>
          <a:noFill/>
        </p:spPr>
        <p:txBody>
          <a:bodyPr wrap="square" rtlCol="0">
            <a:spAutoFit/>
          </a:bodyPr>
          <a:lstStyle/>
          <a:p>
            <a:pPr algn="ctr"/>
            <a:r>
              <a:rPr lang="en-US" sz="800" dirty="0">
                <a:solidFill>
                  <a:schemeClr val="bg1"/>
                </a:solidFill>
                <a:latin typeface="Avenir Book" panose="02000503020000020003" pitchFamily="2" charset="0"/>
              </a:rPr>
              <a:t>JAN</a:t>
            </a:r>
          </a:p>
        </p:txBody>
      </p:sp>
      <p:sp>
        <p:nvSpPr>
          <p:cNvPr id="25" name="TextBox 24">
            <a:extLst>
              <a:ext uri="{FF2B5EF4-FFF2-40B4-BE49-F238E27FC236}">
                <a16:creationId xmlns:a16="http://schemas.microsoft.com/office/drawing/2014/main" id="{59A3E20C-126C-455A-7C6C-450BAC510BF7}"/>
              </a:ext>
            </a:extLst>
          </p:cNvPr>
          <p:cNvSpPr txBox="1"/>
          <p:nvPr/>
        </p:nvSpPr>
        <p:spPr>
          <a:xfrm>
            <a:off x="3772886" y="5391457"/>
            <a:ext cx="495531" cy="206736"/>
          </a:xfrm>
          <a:prstGeom prst="rect">
            <a:avLst/>
          </a:prstGeom>
          <a:noFill/>
        </p:spPr>
        <p:txBody>
          <a:bodyPr wrap="square" rtlCol="0">
            <a:spAutoFit/>
          </a:bodyPr>
          <a:lstStyle/>
          <a:p>
            <a:pPr algn="ctr"/>
            <a:r>
              <a:rPr lang="en-US" sz="800" dirty="0">
                <a:solidFill>
                  <a:schemeClr val="bg1"/>
                </a:solidFill>
                <a:latin typeface="Avenir Book" panose="02000503020000020003" pitchFamily="2" charset="0"/>
              </a:rPr>
              <a:t>FEB</a:t>
            </a:r>
          </a:p>
        </p:txBody>
      </p:sp>
      <p:sp>
        <p:nvSpPr>
          <p:cNvPr id="30" name="TextBox 29">
            <a:extLst>
              <a:ext uri="{FF2B5EF4-FFF2-40B4-BE49-F238E27FC236}">
                <a16:creationId xmlns:a16="http://schemas.microsoft.com/office/drawing/2014/main" id="{60ABE725-E58D-700D-FEC4-DE9C41559652}"/>
              </a:ext>
            </a:extLst>
          </p:cNvPr>
          <p:cNvSpPr txBox="1"/>
          <p:nvPr/>
        </p:nvSpPr>
        <p:spPr>
          <a:xfrm>
            <a:off x="4650329" y="5391457"/>
            <a:ext cx="495531" cy="206736"/>
          </a:xfrm>
          <a:prstGeom prst="rect">
            <a:avLst/>
          </a:prstGeom>
          <a:noFill/>
        </p:spPr>
        <p:txBody>
          <a:bodyPr wrap="square" rtlCol="0">
            <a:spAutoFit/>
          </a:bodyPr>
          <a:lstStyle/>
          <a:p>
            <a:pPr algn="ctr"/>
            <a:r>
              <a:rPr lang="en-US" sz="800" dirty="0">
                <a:solidFill>
                  <a:schemeClr val="bg1"/>
                </a:solidFill>
                <a:latin typeface="Avenir Book" panose="02000503020000020003" pitchFamily="2" charset="0"/>
              </a:rPr>
              <a:t>MAR</a:t>
            </a:r>
          </a:p>
        </p:txBody>
      </p:sp>
      <p:sp>
        <p:nvSpPr>
          <p:cNvPr id="44" name="TextBox 43">
            <a:extLst>
              <a:ext uri="{FF2B5EF4-FFF2-40B4-BE49-F238E27FC236}">
                <a16:creationId xmlns:a16="http://schemas.microsoft.com/office/drawing/2014/main" id="{5A7AF379-60FE-4CF3-A5EE-8AC342552F66}"/>
              </a:ext>
            </a:extLst>
          </p:cNvPr>
          <p:cNvSpPr txBox="1"/>
          <p:nvPr/>
        </p:nvSpPr>
        <p:spPr>
          <a:xfrm>
            <a:off x="5516149" y="5391457"/>
            <a:ext cx="495531" cy="206736"/>
          </a:xfrm>
          <a:prstGeom prst="rect">
            <a:avLst/>
          </a:prstGeom>
          <a:noFill/>
        </p:spPr>
        <p:txBody>
          <a:bodyPr wrap="square" rtlCol="0">
            <a:spAutoFit/>
          </a:bodyPr>
          <a:lstStyle/>
          <a:p>
            <a:pPr algn="ctr"/>
            <a:r>
              <a:rPr lang="en-US" sz="800" dirty="0">
                <a:solidFill>
                  <a:schemeClr val="bg1"/>
                </a:solidFill>
                <a:latin typeface="Avenir Book" panose="02000503020000020003" pitchFamily="2" charset="0"/>
              </a:rPr>
              <a:t>APR</a:t>
            </a:r>
          </a:p>
        </p:txBody>
      </p:sp>
      <p:sp>
        <p:nvSpPr>
          <p:cNvPr id="45" name="TextBox 44">
            <a:extLst>
              <a:ext uri="{FF2B5EF4-FFF2-40B4-BE49-F238E27FC236}">
                <a16:creationId xmlns:a16="http://schemas.microsoft.com/office/drawing/2014/main" id="{D42A3CD2-A12A-F6F6-7C05-5F19A14944BA}"/>
              </a:ext>
            </a:extLst>
          </p:cNvPr>
          <p:cNvSpPr txBox="1"/>
          <p:nvPr/>
        </p:nvSpPr>
        <p:spPr>
          <a:xfrm>
            <a:off x="6393593" y="5391457"/>
            <a:ext cx="495531" cy="206736"/>
          </a:xfrm>
          <a:prstGeom prst="rect">
            <a:avLst/>
          </a:prstGeom>
          <a:noFill/>
        </p:spPr>
        <p:txBody>
          <a:bodyPr wrap="square" rtlCol="0">
            <a:spAutoFit/>
          </a:bodyPr>
          <a:lstStyle/>
          <a:p>
            <a:pPr algn="ctr"/>
            <a:r>
              <a:rPr lang="en-US" sz="800" dirty="0">
                <a:solidFill>
                  <a:schemeClr val="bg1"/>
                </a:solidFill>
                <a:latin typeface="Avenir Book" panose="02000503020000020003" pitchFamily="2" charset="0"/>
              </a:rPr>
              <a:t>MAY</a:t>
            </a:r>
          </a:p>
        </p:txBody>
      </p:sp>
      <p:sp>
        <p:nvSpPr>
          <p:cNvPr id="46" name="TextBox 45">
            <a:extLst>
              <a:ext uri="{FF2B5EF4-FFF2-40B4-BE49-F238E27FC236}">
                <a16:creationId xmlns:a16="http://schemas.microsoft.com/office/drawing/2014/main" id="{F68D4976-3036-E280-8A1F-B8E55F9D1720}"/>
              </a:ext>
            </a:extLst>
          </p:cNvPr>
          <p:cNvSpPr txBox="1"/>
          <p:nvPr/>
        </p:nvSpPr>
        <p:spPr>
          <a:xfrm>
            <a:off x="7259414" y="5391457"/>
            <a:ext cx="495531" cy="206736"/>
          </a:xfrm>
          <a:prstGeom prst="rect">
            <a:avLst/>
          </a:prstGeom>
          <a:noFill/>
        </p:spPr>
        <p:txBody>
          <a:bodyPr wrap="square" rtlCol="0">
            <a:spAutoFit/>
          </a:bodyPr>
          <a:lstStyle/>
          <a:p>
            <a:pPr algn="ctr"/>
            <a:r>
              <a:rPr lang="en-US" sz="800" dirty="0">
                <a:solidFill>
                  <a:schemeClr val="bg1"/>
                </a:solidFill>
                <a:latin typeface="Avenir Book" panose="02000503020000020003" pitchFamily="2" charset="0"/>
              </a:rPr>
              <a:t>JUN</a:t>
            </a:r>
          </a:p>
        </p:txBody>
      </p:sp>
      <p:sp>
        <p:nvSpPr>
          <p:cNvPr id="47" name="TextBox 46">
            <a:extLst>
              <a:ext uri="{FF2B5EF4-FFF2-40B4-BE49-F238E27FC236}">
                <a16:creationId xmlns:a16="http://schemas.microsoft.com/office/drawing/2014/main" id="{9B4A9565-F150-B6F8-6751-B26927CD692A}"/>
              </a:ext>
            </a:extLst>
          </p:cNvPr>
          <p:cNvSpPr txBox="1"/>
          <p:nvPr/>
        </p:nvSpPr>
        <p:spPr>
          <a:xfrm>
            <a:off x="8136857" y="5391457"/>
            <a:ext cx="495531" cy="206736"/>
          </a:xfrm>
          <a:prstGeom prst="rect">
            <a:avLst/>
          </a:prstGeom>
          <a:noFill/>
        </p:spPr>
        <p:txBody>
          <a:bodyPr wrap="square" rtlCol="0">
            <a:spAutoFit/>
          </a:bodyPr>
          <a:lstStyle/>
          <a:p>
            <a:pPr algn="ctr"/>
            <a:r>
              <a:rPr lang="en-US" sz="800" dirty="0">
                <a:solidFill>
                  <a:schemeClr val="bg1"/>
                </a:solidFill>
                <a:latin typeface="Avenir Book" panose="02000503020000020003" pitchFamily="2" charset="0"/>
              </a:rPr>
              <a:t>JUL</a:t>
            </a:r>
          </a:p>
        </p:txBody>
      </p:sp>
      <p:sp>
        <p:nvSpPr>
          <p:cNvPr id="48" name="TextBox 47">
            <a:extLst>
              <a:ext uri="{FF2B5EF4-FFF2-40B4-BE49-F238E27FC236}">
                <a16:creationId xmlns:a16="http://schemas.microsoft.com/office/drawing/2014/main" id="{F3458738-B7CF-87AD-C27A-0C48B5BA49B2}"/>
              </a:ext>
            </a:extLst>
          </p:cNvPr>
          <p:cNvSpPr txBox="1"/>
          <p:nvPr/>
        </p:nvSpPr>
        <p:spPr>
          <a:xfrm>
            <a:off x="9008488" y="5391457"/>
            <a:ext cx="495531" cy="206736"/>
          </a:xfrm>
          <a:prstGeom prst="rect">
            <a:avLst/>
          </a:prstGeom>
          <a:noFill/>
        </p:spPr>
        <p:txBody>
          <a:bodyPr wrap="square" rtlCol="0">
            <a:spAutoFit/>
          </a:bodyPr>
          <a:lstStyle/>
          <a:p>
            <a:pPr algn="ctr"/>
            <a:r>
              <a:rPr lang="en-US" sz="800" dirty="0">
                <a:solidFill>
                  <a:schemeClr val="bg1"/>
                </a:solidFill>
                <a:latin typeface="Avenir Book" panose="02000503020000020003" pitchFamily="2" charset="0"/>
              </a:rPr>
              <a:t>AUG</a:t>
            </a:r>
          </a:p>
        </p:txBody>
      </p:sp>
      <p:sp>
        <p:nvSpPr>
          <p:cNvPr id="49" name="TextBox 48">
            <a:extLst>
              <a:ext uri="{FF2B5EF4-FFF2-40B4-BE49-F238E27FC236}">
                <a16:creationId xmlns:a16="http://schemas.microsoft.com/office/drawing/2014/main" id="{BF46A0BA-150E-7D35-C2A9-8D19E54C485D}"/>
              </a:ext>
            </a:extLst>
          </p:cNvPr>
          <p:cNvSpPr txBox="1"/>
          <p:nvPr/>
        </p:nvSpPr>
        <p:spPr>
          <a:xfrm>
            <a:off x="9880121" y="5391457"/>
            <a:ext cx="495531" cy="206736"/>
          </a:xfrm>
          <a:prstGeom prst="rect">
            <a:avLst/>
          </a:prstGeom>
          <a:noFill/>
        </p:spPr>
        <p:txBody>
          <a:bodyPr wrap="square" rtlCol="0">
            <a:spAutoFit/>
          </a:bodyPr>
          <a:lstStyle/>
          <a:p>
            <a:pPr algn="ctr"/>
            <a:r>
              <a:rPr lang="en-US" sz="800" dirty="0">
                <a:solidFill>
                  <a:schemeClr val="bg1"/>
                </a:solidFill>
                <a:latin typeface="Avenir Book" panose="02000503020000020003" pitchFamily="2" charset="0"/>
              </a:rPr>
              <a:t>SEP</a:t>
            </a:r>
          </a:p>
        </p:txBody>
      </p:sp>
      <p:sp>
        <p:nvSpPr>
          <p:cNvPr id="50" name="TextBox 49">
            <a:extLst>
              <a:ext uri="{FF2B5EF4-FFF2-40B4-BE49-F238E27FC236}">
                <a16:creationId xmlns:a16="http://schemas.microsoft.com/office/drawing/2014/main" id="{B4226341-657A-AC3B-82C0-DFA8C23990D8}"/>
              </a:ext>
            </a:extLst>
          </p:cNvPr>
          <p:cNvSpPr txBox="1"/>
          <p:nvPr/>
        </p:nvSpPr>
        <p:spPr>
          <a:xfrm>
            <a:off x="10745942" y="5391457"/>
            <a:ext cx="495531" cy="206736"/>
          </a:xfrm>
          <a:prstGeom prst="rect">
            <a:avLst/>
          </a:prstGeom>
          <a:noFill/>
        </p:spPr>
        <p:txBody>
          <a:bodyPr wrap="square" rtlCol="0">
            <a:spAutoFit/>
          </a:bodyPr>
          <a:lstStyle/>
          <a:p>
            <a:pPr algn="ctr"/>
            <a:r>
              <a:rPr lang="en-US" sz="800" dirty="0">
                <a:solidFill>
                  <a:schemeClr val="bg1"/>
                </a:solidFill>
                <a:latin typeface="Avenir Book" panose="02000503020000020003" pitchFamily="2" charset="0"/>
              </a:rPr>
              <a:t>OCT</a:t>
            </a:r>
          </a:p>
        </p:txBody>
      </p:sp>
      <p:grpSp>
        <p:nvGrpSpPr>
          <p:cNvPr id="7" name="Group 6">
            <a:extLst>
              <a:ext uri="{FF2B5EF4-FFF2-40B4-BE49-F238E27FC236}">
                <a16:creationId xmlns:a16="http://schemas.microsoft.com/office/drawing/2014/main" id="{43BBBD87-D43C-FBA0-8568-21506CCE497D}"/>
              </a:ext>
            </a:extLst>
          </p:cNvPr>
          <p:cNvGrpSpPr/>
          <p:nvPr/>
        </p:nvGrpSpPr>
        <p:grpSpPr>
          <a:xfrm>
            <a:off x="400466" y="848623"/>
            <a:ext cx="983685" cy="983685"/>
            <a:chOff x="8314500" y="387311"/>
            <a:chExt cx="972189" cy="972189"/>
          </a:xfrm>
        </p:grpSpPr>
        <p:sp>
          <p:nvSpPr>
            <p:cNvPr id="2" name="TextBox 1">
              <a:extLst>
                <a:ext uri="{FF2B5EF4-FFF2-40B4-BE49-F238E27FC236}">
                  <a16:creationId xmlns:a16="http://schemas.microsoft.com/office/drawing/2014/main" id="{9EFE3A5F-3CA8-A837-1972-C1ED704E7016}"/>
                </a:ext>
              </a:extLst>
            </p:cNvPr>
            <p:cNvSpPr txBox="1"/>
            <p:nvPr/>
          </p:nvSpPr>
          <p:spPr>
            <a:xfrm>
              <a:off x="8421584" y="667594"/>
              <a:ext cx="819344" cy="400110"/>
            </a:xfrm>
            <a:prstGeom prst="rect">
              <a:avLst/>
            </a:prstGeom>
            <a:noFill/>
          </p:spPr>
          <p:txBody>
            <a:bodyPr wrap="square" rtlCol="0">
              <a:spAutoFit/>
            </a:bodyPr>
            <a:lstStyle/>
            <a:p>
              <a:pPr algn="ctr"/>
              <a:r>
                <a:rPr lang="en-US" sz="2000" dirty="0">
                  <a:solidFill>
                    <a:schemeClr val="bg1"/>
                  </a:solidFill>
                  <a:latin typeface="Avenir Medium" panose="02000503020000020003" pitchFamily="2" charset="0"/>
                </a:rPr>
                <a:t>82%</a:t>
              </a:r>
            </a:p>
          </p:txBody>
        </p:sp>
        <p:grpSp>
          <p:nvGrpSpPr>
            <p:cNvPr id="3" name="Group 2">
              <a:extLst>
                <a:ext uri="{FF2B5EF4-FFF2-40B4-BE49-F238E27FC236}">
                  <a16:creationId xmlns:a16="http://schemas.microsoft.com/office/drawing/2014/main" id="{7277DB52-6672-4407-6315-8599C01F2076}"/>
                </a:ext>
              </a:extLst>
            </p:cNvPr>
            <p:cNvGrpSpPr/>
            <p:nvPr/>
          </p:nvGrpSpPr>
          <p:grpSpPr>
            <a:xfrm>
              <a:off x="8314500" y="387311"/>
              <a:ext cx="972189" cy="972189"/>
              <a:chOff x="6857999" y="1156266"/>
              <a:chExt cx="1696065" cy="1696065"/>
            </a:xfrm>
          </p:grpSpPr>
          <p:sp>
            <p:nvSpPr>
              <p:cNvPr id="4" name="Donut 3">
                <a:extLst>
                  <a:ext uri="{FF2B5EF4-FFF2-40B4-BE49-F238E27FC236}">
                    <a16:creationId xmlns:a16="http://schemas.microsoft.com/office/drawing/2014/main" id="{8E23905A-1FDC-BFAC-7D44-EF12F8BF8FA1}"/>
                  </a:ext>
                </a:extLst>
              </p:cNvPr>
              <p:cNvSpPr/>
              <p:nvPr/>
            </p:nvSpPr>
            <p:spPr>
              <a:xfrm>
                <a:off x="6858000" y="1156267"/>
                <a:ext cx="1696064" cy="1696064"/>
              </a:xfrm>
              <a:prstGeom prst="donut">
                <a:avLst>
                  <a:gd name="adj" fmla="val 7655"/>
                </a:avLst>
              </a:prstGeom>
              <a:solidFill>
                <a:schemeClr val="bg1">
                  <a:alpha val="2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Block Arc 5">
                <a:extLst>
                  <a:ext uri="{FF2B5EF4-FFF2-40B4-BE49-F238E27FC236}">
                    <a16:creationId xmlns:a16="http://schemas.microsoft.com/office/drawing/2014/main" id="{06B22688-834D-2AE4-9A8D-6D8B075B465F}"/>
                  </a:ext>
                </a:extLst>
              </p:cNvPr>
              <p:cNvSpPr/>
              <p:nvPr/>
            </p:nvSpPr>
            <p:spPr>
              <a:xfrm>
                <a:off x="6857999" y="1156266"/>
                <a:ext cx="1696065" cy="1696065"/>
              </a:xfrm>
              <a:prstGeom prst="blockArc">
                <a:avLst>
                  <a:gd name="adj1" fmla="val 16203921"/>
                  <a:gd name="adj2" fmla="val 10639780"/>
                  <a:gd name="adj3" fmla="val 7554"/>
                </a:avLst>
              </a:prstGeom>
              <a:solidFill>
                <a:srgbClr val="75D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pic>
        <p:nvPicPr>
          <p:cNvPr id="8" name="Picture 7">
            <a:extLst>
              <a:ext uri="{FF2B5EF4-FFF2-40B4-BE49-F238E27FC236}">
                <a16:creationId xmlns:a16="http://schemas.microsoft.com/office/drawing/2014/main" id="{04556F2D-84ED-26F3-90D1-3A4605360F02}"/>
              </a:ext>
            </a:extLst>
          </p:cNvPr>
          <p:cNvPicPr>
            <a:picLocks noChangeAspect="1"/>
          </p:cNvPicPr>
          <p:nvPr/>
        </p:nvPicPr>
        <p:blipFill>
          <a:blip r:embed="rId4"/>
          <a:srcRect/>
          <a:stretch/>
        </p:blipFill>
        <p:spPr>
          <a:xfrm>
            <a:off x="11484209" y="316699"/>
            <a:ext cx="295894" cy="233756"/>
          </a:xfrm>
          <a:prstGeom prst="rect">
            <a:avLst/>
          </a:prstGeom>
        </p:spPr>
      </p:pic>
      <p:sp>
        <p:nvSpPr>
          <p:cNvPr id="9" name="TextBox 8">
            <a:extLst>
              <a:ext uri="{FF2B5EF4-FFF2-40B4-BE49-F238E27FC236}">
                <a16:creationId xmlns:a16="http://schemas.microsoft.com/office/drawing/2014/main" id="{CD9ABC9F-F4E2-2096-B4C3-381685919A2F}"/>
              </a:ext>
            </a:extLst>
          </p:cNvPr>
          <p:cNvSpPr txBox="1"/>
          <p:nvPr/>
        </p:nvSpPr>
        <p:spPr>
          <a:xfrm>
            <a:off x="401638" y="5987763"/>
            <a:ext cx="3392614" cy="353366"/>
          </a:xfrm>
          <a:prstGeom prst="rect">
            <a:avLst/>
          </a:prstGeom>
          <a:noFill/>
        </p:spPr>
        <p:txBody>
          <a:bodyPr wrap="square" lIns="0" tIns="0" rIns="0" bIns="0" rtlCol="0">
            <a:spAutoFit/>
          </a:bodyPr>
          <a:lstStyle/>
          <a:p>
            <a:pPr>
              <a:lnSpc>
                <a:spcPct val="150000"/>
              </a:lnSpc>
            </a:pPr>
            <a:r>
              <a:rPr lang="en-US" sz="800" dirty="0">
                <a:solidFill>
                  <a:schemeClr val="bg1"/>
                </a:solidFill>
                <a:latin typeface="Avenir Book" panose="02000503020000020003" pitchFamily="2" charset="0"/>
              </a:rPr>
              <a:t>* Captured above are the sample size metrics of a singular department. Whole metrics for valuation can vary from cohort to class size.</a:t>
            </a:r>
          </a:p>
        </p:txBody>
      </p:sp>
      <p:sp>
        <p:nvSpPr>
          <p:cNvPr id="12" name="TextBox 11">
            <a:extLst>
              <a:ext uri="{FF2B5EF4-FFF2-40B4-BE49-F238E27FC236}">
                <a16:creationId xmlns:a16="http://schemas.microsoft.com/office/drawing/2014/main" id="{B568F8C6-B6C5-346F-4565-678B8C55EC49}"/>
              </a:ext>
            </a:extLst>
          </p:cNvPr>
          <p:cNvSpPr txBox="1"/>
          <p:nvPr/>
        </p:nvSpPr>
        <p:spPr>
          <a:xfrm>
            <a:off x="401638" y="316699"/>
            <a:ext cx="4743427" cy="307777"/>
          </a:xfrm>
          <a:prstGeom prst="rect">
            <a:avLst/>
          </a:prstGeom>
          <a:noFill/>
        </p:spPr>
        <p:txBody>
          <a:bodyPr wrap="square" lIns="0" tIns="0" rIns="0" bIns="0" rtlCol="0">
            <a:spAutoFit/>
          </a:bodyPr>
          <a:lstStyle/>
          <a:p>
            <a:r>
              <a:rPr lang="en-US" sz="2000" dirty="0">
                <a:solidFill>
                  <a:schemeClr val="bg1"/>
                </a:solidFill>
                <a:latin typeface="Avenir Medium" panose="02000503020000020003" pitchFamily="2" charset="0"/>
              </a:rPr>
              <a:t>FINANCIAL INSIGHTS</a:t>
            </a:r>
          </a:p>
        </p:txBody>
      </p:sp>
      <p:sp>
        <p:nvSpPr>
          <p:cNvPr id="18" name="TextBox 17">
            <a:extLst>
              <a:ext uri="{FF2B5EF4-FFF2-40B4-BE49-F238E27FC236}">
                <a16:creationId xmlns:a16="http://schemas.microsoft.com/office/drawing/2014/main" id="{94CF7578-EAA2-024A-342D-7BD48541D496}"/>
              </a:ext>
            </a:extLst>
          </p:cNvPr>
          <p:cNvSpPr txBox="1"/>
          <p:nvPr/>
        </p:nvSpPr>
        <p:spPr>
          <a:xfrm>
            <a:off x="1606086" y="1115659"/>
            <a:ext cx="1624563" cy="433067"/>
          </a:xfrm>
          <a:prstGeom prst="rect">
            <a:avLst/>
          </a:prstGeom>
          <a:noFill/>
        </p:spPr>
        <p:txBody>
          <a:bodyPr wrap="square" lIns="0" tIns="0" rIns="0" bIns="0" rtlCol="0">
            <a:spAutoFit/>
          </a:bodyPr>
          <a:lstStyle/>
          <a:p>
            <a:pPr>
              <a:lnSpc>
                <a:spcPct val="120000"/>
              </a:lnSpc>
            </a:pPr>
            <a:r>
              <a:rPr lang="en-US" sz="1200" dirty="0">
                <a:solidFill>
                  <a:schemeClr val="bg1"/>
                </a:solidFill>
                <a:latin typeface="Avenir Book" panose="02000503020000020003" pitchFamily="2" charset="0"/>
              </a:rPr>
              <a:t>Mid-quarter metrics increased in valuation.</a:t>
            </a:r>
          </a:p>
        </p:txBody>
      </p:sp>
    </p:spTree>
    <p:extLst>
      <p:ext uri="{BB962C8B-B14F-4D97-AF65-F5344CB8AC3E}">
        <p14:creationId xmlns:p14="http://schemas.microsoft.com/office/powerpoint/2010/main" val="42724609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2D29A-0674-0998-CC16-92AFF369BD37}"/>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3F8954ED-AD2C-4FDF-4B87-3F0D3A3ED3B0}"/>
              </a:ext>
            </a:extLst>
          </p:cNvPr>
          <p:cNvSpPr/>
          <p:nvPr/>
        </p:nvSpPr>
        <p:spPr>
          <a:xfrm>
            <a:off x="401638" y="647702"/>
            <a:ext cx="11373930" cy="5760982"/>
          </a:xfrm>
          <a:prstGeom prst="roundRect">
            <a:avLst>
              <a:gd name="adj" fmla="val 2003"/>
            </a:avLst>
          </a:prstGeom>
          <a:gradFill flip="none" rotWithShape="1">
            <a:gsLst>
              <a:gs pos="16000">
                <a:srgbClr val="75C6D6">
                  <a:alpha val="80000"/>
                </a:srgbClr>
              </a:gs>
              <a:gs pos="0">
                <a:srgbClr val="95CFD6">
                  <a:alpha val="80000"/>
                </a:srgbClr>
              </a:gs>
              <a:gs pos="39000">
                <a:srgbClr val="75B8D4">
                  <a:alpha val="80000"/>
                </a:srgbClr>
              </a:gs>
              <a:gs pos="70000">
                <a:srgbClr val="8CA3BA">
                  <a:alpha val="80000"/>
                </a:srgbClr>
              </a:gs>
              <a:gs pos="99000">
                <a:srgbClr val="9F9CBD">
                  <a:alpha val="80000"/>
                </a:srgbClr>
              </a:gs>
            </a:gsLst>
            <a:lin ang="5400000" scaled="1"/>
            <a:tileRect/>
          </a:gradFill>
          <a:ln w="12700">
            <a:solidFill>
              <a:schemeClr val="bg1">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DC52EBAA-CD0F-1108-6602-778AEEA048DA}"/>
              </a:ext>
            </a:extLst>
          </p:cNvPr>
          <p:cNvPicPr>
            <a:picLocks noChangeAspect="1"/>
          </p:cNvPicPr>
          <p:nvPr/>
        </p:nvPicPr>
        <p:blipFill>
          <a:blip r:embed="rId3"/>
          <a:srcRect/>
          <a:stretch/>
        </p:blipFill>
        <p:spPr>
          <a:xfrm>
            <a:off x="11484209" y="316699"/>
            <a:ext cx="295894" cy="233756"/>
          </a:xfrm>
          <a:prstGeom prst="rect">
            <a:avLst/>
          </a:prstGeom>
        </p:spPr>
      </p:pic>
      <p:sp>
        <p:nvSpPr>
          <p:cNvPr id="6" name="TextBox 5">
            <a:extLst>
              <a:ext uri="{FF2B5EF4-FFF2-40B4-BE49-F238E27FC236}">
                <a16:creationId xmlns:a16="http://schemas.microsoft.com/office/drawing/2014/main" id="{EC7CEAAA-1F02-B991-DD46-D392AF94BA2C}"/>
              </a:ext>
            </a:extLst>
          </p:cNvPr>
          <p:cNvSpPr txBox="1"/>
          <p:nvPr/>
        </p:nvSpPr>
        <p:spPr>
          <a:xfrm>
            <a:off x="3724287" y="935864"/>
            <a:ext cx="4743427" cy="307777"/>
          </a:xfrm>
          <a:prstGeom prst="rect">
            <a:avLst/>
          </a:prstGeom>
          <a:noFill/>
        </p:spPr>
        <p:txBody>
          <a:bodyPr wrap="square" lIns="0" tIns="0" rIns="0" bIns="0" rtlCol="0">
            <a:spAutoFit/>
          </a:bodyPr>
          <a:lstStyle/>
          <a:p>
            <a:pPr algn="ctr"/>
            <a:r>
              <a:rPr lang="en-US" sz="2000" dirty="0">
                <a:solidFill>
                  <a:schemeClr val="bg1"/>
                </a:solidFill>
                <a:latin typeface="Avenir Medium" panose="02000503020000020003" pitchFamily="2" charset="0"/>
              </a:rPr>
              <a:t>KPI METRICS OF GROWTH</a:t>
            </a:r>
          </a:p>
        </p:txBody>
      </p:sp>
      <p:sp>
        <p:nvSpPr>
          <p:cNvPr id="35" name="TextBox 34">
            <a:extLst>
              <a:ext uri="{FF2B5EF4-FFF2-40B4-BE49-F238E27FC236}">
                <a16:creationId xmlns:a16="http://schemas.microsoft.com/office/drawing/2014/main" id="{5C3D7113-8158-03F8-F6F1-33972495170E}"/>
              </a:ext>
            </a:extLst>
          </p:cNvPr>
          <p:cNvSpPr txBox="1"/>
          <p:nvPr/>
        </p:nvSpPr>
        <p:spPr>
          <a:xfrm>
            <a:off x="8697959" y="5823570"/>
            <a:ext cx="598653" cy="261034"/>
          </a:xfrm>
          <a:prstGeom prst="rect">
            <a:avLst/>
          </a:prstGeom>
          <a:noFill/>
        </p:spPr>
        <p:txBody>
          <a:bodyPr wrap="square" rtlCol="0">
            <a:spAutoFit/>
          </a:bodyPr>
          <a:lstStyle/>
          <a:p>
            <a:pPr algn="ctr">
              <a:lnSpc>
                <a:spcPct val="150000"/>
              </a:lnSpc>
            </a:pPr>
            <a:r>
              <a:rPr lang="en-US" sz="800" dirty="0">
                <a:solidFill>
                  <a:schemeClr val="bg1"/>
                </a:solidFill>
                <a:latin typeface="Avenir Book" panose="02000503020000020003" pitchFamily="2" charset="0"/>
              </a:rPr>
              <a:t>AUG</a:t>
            </a:r>
          </a:p>
        </p:txBody>
      </p:sp>
      <p:grpSp>
        <p:nvGrpSpPr>
          <p:cNvPr id="64" name="Group 63">
            <a:extLst>
              <a:ext uri="{FF2B5EF4-FFF2-40B4-BE49-F238E27FC236}">
                <a16:creationId xmlns:a16="http://schemas.microsoft.com/office/drawing/2014/main" id="{B7412A87-64BD-B941-53DC-5C262788E4E8}"/>
              </a:ext>
            </a:extLst>
          </p:cNvPr>
          <p:cNvGrpSpPr/>
          <p:nvPr/>
        </p:nvGrpSpPr>
        <p:grpSpPr>
          <a:xfrm>
            <a:off x="8791982" y="1921674"/>
            <a:ext cx="410607" cy="3867784"/>
            <a:chOff x="8787868" y="1921674"/>
            <a:chExt cx="410607" cy="3867784"/>
          </a:xfrm>
        </p:grpSpPr>
        <p:sp>
          <p:nvSpPr>
            <p:cNvPr id="17" name="Rounded Rectangle 16">
              <a:extLst>
                <a:ext uri="{FF2B5EF4-FFF2-40B4-BE49-F238E27FC236}">
                  <a16:creationId xmlns:a16="http://schemas.microsoft.com/office/drawing/2014/main" id="{04B7E6E9-78EF-5ADD-2575-C9B871ADC135}"/>
                </a:ext>
              </a:extLst>
            </p:cNvPr>
            <p:cNvSpPr/>
            <p:nvPr/>
          </p:nvSpPr>
          <p:spPr>
            <a:xfrm>
              <a:off x="8787868" y="1921674"/>
              <a:ext cx="410607" cy="3867784"/>
            </a:xfrm>
            <a:prstGeom prst="roundRect">
              <a:avLst>
                <a:gd name="adj" fmla="val 50000"/>
              </a:avLst>
            </a:prstGeom>
            <a:solidFill>
              <a:schemeClr val="bg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3" name="Rounded Rectangle 52">
              <a:extLst>
                <a:ext uri="{FF2B5EF4-FFF2-40B4-BE49-F238E27FC236}">
                  <a16:creationId xmlns:a16="http://schemas.microsoft.com/office/drawing/2014/main" id="{04FCBFED-61BA-8806-9E62-94AB93B163D7}"/>
                </a:ext>
              </a:extLst>
            </p:cNvPr>
            <p:cNvSpPr/>
            <p:nvPr/>
          </p:nvSpPr>
          <p:spPr>
            <a:xfrm rot="10800000">
              <a:off x="8787868" y="4420308"/>
              <a:ext cx="410607" cy="1369149"/>
            </a:xfrm>
            <a:prstGeom prst="roundRect">
              <a:avLst>
                <a:gd name="adj" fmla="val 50000"/>
              </a:avLst>
            </a:prstGeom>
            <a:solidFill>
              <a:srgbClr val="265E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36" name="TextBox 35">
            <a:extLst>
              <a:ext uri="{FF2B5EF4-FFF2-40B4-BE49-F238E27FC236}">
                <a16:creationId xmlns:a16="http://schemas.microsoft.com/office/drawing/2014/main" id="{58F9DE5B-8977-D3E6-4579-CAC4E30E9FCE}"/>
              </a:ext>
            </a:extLst>
          </p:cNvPr>
          <p:cNvSpPr txBox="1"/>
          <p:nvPr/>
        </p:nvSpPr>
        <p:spPr>
          <a:xfrm>
            <a:off x="9670387" y="5823570"/>
            <a:ext cx="598653" cy="261034"/>
          </a:xfrm>
          <a:prstGeom prst="rect">
            <a:avLst/>
          </a:prstGeom>
          <a:noFill/>
        </p:spPr>
        <p:txBody>
          <a:bodyPr wrap="square" rtlCol="0">
            <a:spAutoFit/>
          </a:bodyPr>
          <a:lstStyle/>
          <a:p>
            <a:pPr algn="ctr">
              <a:lnSpc>
                <a:spcPct val="150000"/>
              </a:lnSpc>
            </a:pPr>
            <a:r>
              <a:rPr lang="en-US" sz="800" dirty="0">
                <a:solidFill>
                  <a:schemeClr val="bg1"/>
                </a:solidFill>
                <a:latin typeface="Avenir Book" panose="02000503020000020003" pitchFamily="2" charset="0"/>
              </a:rPr>
              <a:t>SEP</a:t>
            </a:r>
          </a:p>
        </p:txBody>
      </p:sp>
      <p:grpSp>
        <p:nvGrpSpPr>
          <p:cNvPr id="63" name="Group 62">
            <a:extLst>
              <a:ext uri="{FF2B5EF4-FFF2-40B4-BE49-F238E27FC236}">
                <a16:creationId xmlns:a16="http://schemas.microsoft.com/office/drawing/2014/main" id="{17CF3FAB-0CCD-554C-B72C-A6C1E84BF35E}"/>
              </a:ext>
            </a:extLst>
          </p:cNvPr>
          <p:cNvGrpSpPr/>
          <p:nvPr/>
        </p:nvGrpSpPr>
        <p:grpSpPr>
          <a:xfrm>
            <a:off x="9764410" y="1921674"/>
            <a:ext cx="410607" cy="3867784"/>
            <a:chOff x="9763335" y="1921674"/>
            <a:chExt cx="410607" cy="3867784"/>
          </a:xfrm>
        </p:grpSpPr>
        <p:sp>
          <p:nvSpPr>
            <p:cNvPr id="52" name="Rounded Rectangle 51">
              <a:extLst>
                <a:ext uri="{FF2B5EF4-FFF2-40B4-BE49-F238E27FC236}">
                  <a16:creationId xmlns:a16="http://schemas.microsoft.com/office/drawing/2014/main" id="{8516A263-085B-5F65-C47C-21661B276470}"/>
                </a:ext>
              </a:extLst>
            </p:cNvPr>
            <p:cNvSpPr/>
            <p:nvPr/>
          </p:nvSpPr>
          <p:spPr>
            <a:xfrm>
              <a:off x="9763335" y="1921674"/>
              <a:ext cx="410607" cy="3867784"/>
            </a:xfrm>
            <a:prstGeom prst="roundRect">
              <a:avLst>
                <a:gd name="adj" fmla="val 50000"/>
              </a:avLst>
            </a:prstGeom>
            <a:solidFill>
              <a:schemeClr val="bg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4" name="Rounded Rectangle 53">
              <a:extLst>
                <a:ext uri="{FF2B5EF4-FFF2-40B4-BE49-F238E27FC236}">
                  <a16:creationId xmlns:a16="http://schemas.microsoft.com/office/drawing/2014/main" id="{70782457-CB2E-F1B3-55E5-1E0A0BA7A446}"/>
                </a:ext>
              </a:extLst>
            </p:cNvPr>
            <p:cNvSpPr/>
            <p:nvPr/>
          </p:nvSpPr>
          <p:spPr>
            <a:xfrm rot="10800000">
              <a:off x="9763335" y="5076847"/>
              <a:ext cx="410607" cy="712609"/>
            </a:xfrm>
            <a:prstGeom prst="roundRect">
              <a:avLst>
                <a:gd name="adj" fmla="val 50000"/>
              </a:avLst>
            </a:prstGeom>
            <a:solidFill>
              <a:srgbClr val="265E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30" name="TextBox 29">
            <a:extLst>
              <a:ext uri="{FF2B5EF4-FFF2-40B4-BE49-F238E27FC236}">
                <a16:creationId xmlns:a16="http://schemas.microsoft.com/office/drawing/2014/main" id="{C8E9E11C-342C-2680-7D5D-D18E3BA2BEE8}"/>
              </a:ext>
            </a:extLst>
          </p:cNvPr>
          <p:cNvSpPr txBox="1"/>
          <p:nvPr/>
        </p:nvSpPr>
        <p:spPr>
          <a:xfrm>
            <a:off x="3854371" y="5823570"/>
            <a:ext cx="598653" cy="261034"/>
          </a:xfrm>
          <a:prstGeom prst="rect">
            <a:avLst/>
          </a:prstGeom>
          <a:noFill/>
        </p:spPr>
        <p:txBody>
          <a:bodyPr wrap="square" rtlCol="0">
            <a:spAutoFit/>
          </a:bodyPr>
          <a:lstStyle/>
          <a:p>
            <a:pPr algn="ctr">
              <a:lnSpc>
                <a:spcPct val="150000"/>
              </a:lnSpc>
            </a:pPr>
            <a:r>
              <a:rPr lang="en-US" sz="800" dirty="0">
                <a:solidFill>
                  <a:schemeClr val="bg1"/>
                </a:solidFill>
                <a:latin typeface="Avenir Book" panose="02000503020000020003" pitchFamily="2" charset="0"/>
              </a:rPr>
              <a:t>MAR</a:t>
            </a:r>
          </a:p>
        </p:txBody>
      </p:sp>
      <p:grpSp>
        <p:nvGrpSpPr>
          <p:cNvPr id="69" name="Group 68">
            <a:extLst>
              <a:ext uri="{FF2B5EF4-FFF2-40B4-BE49-F238E27FC236}">
                <a16:creationId xmlns:a16="http://schemas.microsoft.com/office/drawing/2014/main" id="{46BEABC4-7743-15F3-8B1F-341972779489}"/>
              </a:ext>
            </a:extLst>
          </p:cNvPr>
          <p:cNvGrpSpPr/>
          <p:nvPr/>
        </p:nvGrpSpPr>
        <p:grpSpPr>
          <a:xfrm>
            <a:off x="3941014" y="1921674"/>
            <a:ext cx="410610" cy="3867784"/>
            <a:chOff x="3941014" y="1921674"/>
            <a:chExt cx="410610" cy="3867784"/>
          </a:xfrm>
        </p:grpSpPr>
        <p:sp>
          <p:nvSpPr>
            <p:cNvPr id="10" name="Rounded Rectangle 9">
              <a:extLst>
                <a:ext uri="{FF2B5EF4-FFF2-40B4-BE49-F238E27FC236}">
                  <a16:creationId xmlns:a16="http://schemas.microsoft.com/office/drawing/2014/main" id="{58D9F812-E355-0017-87A7-5477F44BB354}"/>
                </a:ext>
              </a:extLst>
            </p:cNvPr>
            <p:cNvSpPr/>
            <p:nvPr/>
          </p:nvSpPr>
          <p:spPr>
            <a:xfrm>
              <a:off x="3941017" y="1921674"/>
              <a:ext cx="410607" cy="3867784"/>
            </a:xfrm>
            <a:prstGeom prst="roundRect">
              <a:avLst>
                <a:gd name="adj" fmla="val 50000"/>
              </a:avLst>
            </a:prstGeom>
            <a:solidFill>
              <a:schemeClr val="bg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5" name="Rounded Rectangle 54">
              <a:extLst>
                <a:ext uri="{FF2B5EF4-FFF2-40B4-BE49-F238E27FC236}">
                  <a16:creationId xmlns:a16="http://schemas.microsoft.com/office/drawing/2014/main" id="{5E8462DF-2F21-38D1-BC3B-497DCCF10F76}"/>
                </a:ext>
              </a:extLst>
            </p:cNvPr>
            <p:cNvSpPr/>
            <p:nvPr/>
          </p:nvSpPr>
          <p:spPr>
            <a:xfrm rot="10800000">
              <a:off x="3941014" y="4992785"/>
              <a:ext cx="410607" cy="796669"/>
            </a:xfrm>
            <a:prstGeom prst="roundRect">
              <a:avLst>
                <a:gd name="adj" fmla="val 50000"/>
              </a:avLst>
            </a:prstGeom>
            <a:solidFill>
              <a:srgbClr val="265E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34" name="TextBox 33">
            <a:extLst>
              <a:ext uri="{FF2B5EF4-FFF2-40B4-BE49-F238E27FC236}">
                <a16:creationId xmlns:a16="http://schemas.microsoft.com/office/drawing/2014/main" id="{BCC95FC9-02F5-7B5D-4F76-8DF122656D1C}"/>
              </a:ext>
            </a:extLst>
          </p:cNvPr>
          <p:cNvSpPr txBox="1"/>
          <p:nvPr/>
        </p:nvSpPr>
        <p:spPr>
          <a:xfrm>
            <a:off x="7725918" y="5823570"/>
            <a:ext cx="598653" cy="261034"/>
          </a:xfrm>
          <a:prstGeom prst="rect">
            <a:avLst/>
          </a:prstGeom>
          <a:noFill/>
        </p:spPr>
        <p:txBody>
          <a:bodyPr wrap="square" rtlCol="0">
            <a:spAutoFit/>
          </a:bodyPr>
          <a:lstStyle/>
          <a:p>
            <a:pPr algn="ctr">
              <a:lnSpc>
                <a:spcPct val="150000"/>
              </a:lnSpc>
            </a:pPr>
            <a:r>
              <a:rPr lang="en-US" sz="800" dirty="0">
                <a:solidFill>
                  <a:schemeClr val="bg1"/>
                </a:solidFill>
                <a:latin typeface="Avenir Book" panose="02000503020000020003" pitchFamily="2" charset="0"/>
              </a:rPr>
              <a:t>JUL</a:t>
            </a:r>
          </a:p>
        </p:txBody>
      </p:sp>
      <p:grpSp>
        <p:nvGrpSpPr>
          <p:cNvPr id="65" name="Group 64">
            <a:extLst>
              <a:ext uri="{FF2B5EF4-FFF2-40B4-BE49-F238E27FC236}">
                <a16:creationId xmlns:a16="http://schemas.microsoft.com/office/drawing/2014/main" id="{FB6106B3-63A0-9C82-A594-A0F491E526E2}"/>
              </a:ext>
            </a:extLst>
          </p:cNvPr>
          <p:cNvGrpSpPr/>
          <p:nvPr/>
        </p:nvGrpSpPr>
        <p:grpSpPr>
          <a:xfrm>
            <a:off x="7819941" y="1921674"/>
            <a:ext cx="410607" cy="3867784"/>
            <a:chOff x="7817720" y="1921674"/>
            <a:chExt cx="410607" cy="3867784"/>
          </a:xfrm>
        </p:grpSpPr>
        <p:sp>
          <p:nvSpPr>
            <p:cNvPr id="16" name="Rounded Rectangle 15">
              <a:extLst>
                <a:ext uri="{FF2B5EF4-FFF2-40B4-BE49-F238E27FC236}">
                  <a16:creationId xmlns:a16="http://schemas.microsoft.com/office/drawing/2014/main" id="{9ADBEEE1-C341-A306-6008-D240B92C63D9}"/>
                </a:ext>
              </a:extLst>
            </p:cNvPr>
            <p:cNvSpPr/>
            <p:nvPr/>
          </p:nvSpPr>
          <p:spPr>
            <a:xfrm>
              <a:off x="7817720" y="1921674"/>
              <a:ext cx="410607" cy="3867784"/>
            </a:xfrm>
            <a:prstGeom prst="roundRect">
              <a:avLst>
                <a:gd name="adj" fmla="val 50000"/>
              </a:avLst>
            </a:prstGeom>
            <a:solidFill>
              <a:schemeClr val="bg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6" name="Rounded Rectangle 55">
              <a:extLst>
                <a:ext uri="{FF2B5EF4-FFF2-40B4-BE49-F238E27FC236}">
                  <a16:creationId xmlns:a16="http://schemas.microsoft.com/office/drawing/2014/main" id="{68F9F4BA-8147-A42B-CB0F-C798A3CA7DD4}"/>
                </a:ext>
              </a:extLst>
            </p:cNvPr>
            <p:cNvSpPr/>
            <p:nvPr/>
          </p:nvSpPr>
          <p:spPr>
            <a:xfrm rot="10800000">
              <a:off x="7817720" y="3085815"/>
              <a:ext cx="410607" cy="2703641"/>
            </a:xfrm>
            <a:prstGeom prst="roundRect">
              <a:avLst>
                <a:gd name="adj" fmla="val 50000"/>
              </a:avLst>
            </a:prstGeom>
            <a:solidFill>
              <a:srgbClr val="265E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32" name="TextBox 31">
            <a:extLst>
              <a:ext uri="{FF2B5EF4-FFF2-40B4-BE49-F238E27FC236}">
                <a16:creationId xmlns:a16="http://schemas.microsoft.com/office/drawing/2014/main" id="{2A0E9BDC-EAF4-0DB4-5918-7F088F7A41DC}"/>
              </a:ext>
            </a:extLst>
          </p:cNvPr>
          <p:cNvSpPr txBox="1"/>
          <p:nvPr/>
        </p:nvSpPr>
        <p:spPr>
          <a:xfrm>
            <a:off x="5787505" y="5823570"/>
            <a:ext cx="598653" cy="261034"/>
          </a:xfrm>
          <a:prstGeom prst="rect">
            <a:avLst/>
          </a:prstGeom>
          <a:noFill/>
        </p:spPr>
        <p:txBody>
          <a:bodyPr wrap="square" rtlCol="0">
            <a:spAutoFit/>
          </a:bodyPr>
          <a:lstStyle/>
          <a:p>
            <a:pPr algn="ctr">
              <a:lnSpc>
                <a:spcPct val="150000"/>
              </a:lnSpc>
            </a:pPr>
            <a:r>
              <a:rPr lang="en-US" sz="800" dirty="0">
                <a:solidFill>
                  <a:schemeClr val="bg1"/>
                </a:solidFill>
                <a:latin typeface="Avenir Book" panose="02000503020000020003" pitchFamily="2" charset="0"/>
              </a:rPr>
              <a:t>MAY</a:t>
            </a:r>
          </a:p>
        </p:txBody>
      </p:sp>
      <p:grpSp>
        <p:nvGrpSpPr>
          <p:cNvPr id="67" name="Group 66">
            <a:extLst>
              <a:ext uri="{FF2B5EF4-FFF2-40B4-BE49-F238E27FC236}">
                <a16:creationId xmlns:a16="http://schemas.microsoft.com/office/drawing/2014/main" id="{0AE0376B-6C71-16CF-0CE6-E4110308BD77}"/>
              </a:ext>
            </a:extLst>
          </p:cNvPr>
          <p:cNvGrpSpPr/>
          <p:nvPr/>
        </p:nvGrpSpPr>
        <p:grpSpPr>
          <a:xfrm>
            <a:off x="5881528" y="1921674"/>
            <a:ext cx="410607" cy="3879503"/>
            <a:chOff x="5882648" y="1921674"/>
            <a:chExt cx="410607" cy="3879503"/>
          </a:xfrm>
        </p:grpSpPr>
        <p:sp>
          <p:nvSpPr>
            <p:cNvPr id="14" name="Rounded Rectangle 13">
              <a:extLst>
                <a:ext uri="{FF2B5EF4-FFF2-40B4-BE49-F238E27FC236}">
                  <a16:creationId xmlns:a16="http://schemas.microsoft.com/office/drawing/2014/main" id="{99B01A6F-6C62-228D-F48D-C3EFFDB77C33}"/>
                </a:ext>
              </a:extLst>
            </p:cNvPr>
            <p:cNvSpPr/>
            <p:nvPr/>
          </p:nvSpPr>
          <p:spPr>
            <a:xfrm>
              <a:off x="5882648" y="1921674"/>
              <a:ext cx="410607" cy="3867784"/>
            </a:xfrm>
            <a:prstGeom prst="roundRect">
              <a:avLst>
                <a:gd name="adj" fmla="val 50000"/>
              </a:avLst>
            </a:prstGeom>
            <a:solidFill>
              <a:schemeClr val="bg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7" name="Rounded Rectangle 56">
              <a:extLst>
                <a:ext uri="{FF2B5EF4-FFF2-40B4-BE49-F238E27FC236}">
                  <a16:creationId xmlns:a16="http://schemas.microsoft.com/office/drawing/2014/main" id="{0DCC07D4-FB90-E094-8A79-4AE5AF4CBD92}"/>
                </a:ext>
              </a:extLst>
            </p:cNvPr>
            <p:cNvSpPr/>
            <p:nvPr/>
          </p:nvSpPr>
          <p:spPr>
            <a:xfrm rot="10800000">
              <a:off x="5882648" y="2193538"/>
              <a:ext cx="410607" cy="3607639"/>
            </a:xfrm>
            <a:prstGeom prst="roundRect">
              <a:avLst>
                <a:gd name="adj" fmla="val 50000"/>
              </a:avLst>
            </a:prstGeom>
            <a:solidFill>
              <a:srgbClr val="265E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33" name="TextBox 32">
            <a:extLst>
              <a:ext uri="{FF2B5EF4-FFF2-40B4-BE49-F238E27FC236}">
                <a16:creationId xmlns:a16="http://schemas.microsoft.com/office/drawing/2014/main" id="{C5736987-5331-7480-C72D-217431497A0C}"/>
              </a:ext>
            </a:extLst>
          </p:cNvPr>
          <p:cNvSpPr txBox="1"/>
          <p:nvPr/>
        </p:nvSpPr>
        <p:spPr>
          <a:xfrm>
            <a:off x="6753878" y="5823570"/>
            <a:ext cx="598653" cy="261034"/>
          </a:xfrm>
          <a:prstGeom prst="rect">
            <a:avLst/>
          </a:prstGeom>
          <a:noFill/>
        </p:spPr>
        <p:txBody>
          <a:bodyPr wrap="square" rtlCol="0">
            <a:spAutoFit/>
          </a:bodyPr>
          <a:lstStyle/>
          <a:p>
            <a:pPr algn="ctr">
              <a:lnSpc>
                <a:spcPct val="150000"/>
              </a:lnSpc>
            </a:pPr>
            <a:r>
              <a:rPr lang="en-US" sz="800" dirty="0">
                <a:solidFill>
                  <a:schemeClr val="bg1"/>
                </a:solidFill>
                <a:latin typeface="Avenir Book" panose="02000503020000020003" pitchFamily="2" charset="0"/>
              </a:rPr>
              <a:t>JUN</a:t>
            </a:r>
          </a:p>
        </p:txBody>
      </p:sp>
      <p:grpSp>
        <p:nvGrpSpPr>
          <p:cNvPr id="66" name="Group 65">
            <a:extLst>
              <a:ext uri="{FF2B5EF4-FFF2-40B4-BE49-F238E27FC236}">
                <a16:creationId xmlns:a16="http://schemas.microsoft.com/office/drawing/2014/main" id="{C752EE77-2492-3E2F-36E2-C42160445ED5}"/>
              </a:ext>
            </a:extLst>
          </p:cNvPr>
          <p:cNvGrpSpPr/>
          <p:nvPr/>
        </p:nvGrpSpPr>
        <p:grpSpPr>
          <a:xfrm>
            <a:off x="6847901" y="1921674"/>
            <a:ext cx="410607" cy="3879502"/>
            <a:chOff x="6858116" y="1921674"/>
            <a:chExt cx="410607" cy="3879502"/>
          </a:xfrm>
        </p:grpSpPr>
        <p:sp>
          <p:nvSpPr>
            <p:cNvPr id="15" name="Rounded Rectangle 14">
              <a:extLst>
                <a:ext uri="{FF2B5EF4-FFF2-40B4-BE49-F238E27FC236}">
                  <a16:creationId xmlns:a16="http://schemas.microsoft.com/office/drawing/2014/main" id="{AEB3054E-809B-5A49-90C8-F88BD5788644}"/>
                </a:ext>
              </a:extLst>
            </p:cNvPr>
            <p:cNvSpPr/>
            <p:nvPr/>
          </p:nvSpPr>
          <p:spPr>
            <a:xfrm>
              <a:off x="6858116" y="1921674"/>
              <a:ext cx="410607" cy="3867784"/>
            </a:xfrm>
            <a:prstGeom prst="roundRect">
              <a:avLst>
                <a:gd name="adj" fmla="val 50000"/>
              </a:avLst>
            </a:prstGeom>
            <a:solidFill>
              <a:schemeClr val="bg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8" name="Rounded Rectangle 57">
              <a:extLst>
                <a:ext uri="{FF2B5EF4-FFF2-40B4-BE49-F238E27FC236}">
                  <a16:creationId xmlns:a16="http://schemas.microsoft.com/office/drawing/2014/main" id="{D5BC4CF8-AED7-07EB-70A0-D83B29C6C94C}"/>
                </a:ext>
              </a:extLst>
            </p:cNvPr>
            <p:cNvSpPr/>
            <p:nvPr/>
          </p:nvSpPr>
          <p:spPr>
            <a:xfrm rot="10800000">
              <a:off x="6858116" y="3543015"/>
              <a:ext cx="410607" cy="2258161"/>
            </a:xfrm>
            <a:prstGeom prst="roundRect">
              <a:avLst>
                <a:gd name="adj" fmla="val 50000"/>
              </a:avLst>
            </a:prstGeom>
            <a:solidFill>
              <a:srgbClr val="265E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31" name="TextBox 30">
            <a:extLst>
              <a:ext uri="{FF2B5EF4-FFF2-40B4-BE49-F238E27FC236}">
                <a16:creationId xmlns:a16="http://schemas.microsoft.com/office/drawing/2014/main" id="{26DC57C5-185D-0A55-6B9A-2403D2ED3004}"/>
              </a:ext>
            </a:extLst>
          </p:cNvPr>
          <p:cNvSpPr txBox="1"/>
          <p:nvPr/>
        </p:nvSpPr>
        <p:spPr>
          <a:xfrm>
            <a:off x="4806963" y="5823570"/>
            <a:ext cx="598653" cy="261034"/>
          </a:xfrm>
          <a:prstGeom prst="rect">
            <a:avLst/>
          </a:prstGeom>
          <a:noFill/>
        </p:spPr>
        <p:txBody>
          <a:bodyPr wrap="square" rtlCol="0">
            <a:spAutoFit/>
          </a:bodyPr>
          <a:lstStyle/>
          <a:p>
            <a:pPr algn="ctr">
              <a:lnSpc>
                <a:spcPct val="150000"/>
              </a:lnSpc>
            </a:pPr>
            <a:r>
              <a:rPr lang="en-US" sz="800" dirty="0">
                <a:solidFill>
                  <a:schemeClr val="bg1"/>
                </a:solidFill>
                <a:latin typeface="Avenir Book" panose="02000503020000020003" pitchFamily="2" charset="0"/>
              </a:rPr>
              <a:t>APR</a:t>
            </a:r>
          </a:p>
        </p:txBody>
      </p:sp>
      <p:grpSp>
        <p:nvGrpSpPr>
          <p:cNvPr id="68" name="Group 67">
            <a:extLst>
              <a:ext uri="{FF2B5EF4-FFF2-40B4-BE49-F238E27FC236}">
                <a16:creationId xmlns:a16="http://schemas.microsoft.com/office/drawing/2014/main" id="{D46A16F4-AB89-AC6D-E4F8-511C48B89896}"/>
              </a:ext>
            </a:extLst>
          </p:cNvPr>
          <p:cNvGrpSpPr/>
          <p:nvPr/>
        </p:nvGrpSpPr>
        <p:grpSpPr>
          <a:xfrm>
            <a:off x="4900986" y="1921674"/>
            <a:ext cx="410607" cy="3879503"/>
            <a:chOff x="4912500" y="1921674"/>
            <a:chExt cx="410607" cy="3879503"/>
          </a:xfrm>
        </p:grpSpPr>
        <p:sp>
          <p:nvSpPr>
            <p:cNvPr id="11" name="Rounded Rectangle 10">
              <a:extLst>
                <a:ext uri="{FF2B5EF4-FFF2-40B4-BE49-F238E27FC236}">
                  <a16:creationId xmlns:a16="http://schemas.microsoft.com/office/drawing/2014/main" id="{BC06BED3-3B7B-839C-8E99-1E897DF696D0}"/>
                </a:ext>
              </a:extLst>
            </p:cNvPr>
            <p:cNvSpPr/>
            <p:nvPr/>
          </p:nvSpPr>
          <p:spPr>
            <a:xfrm>
              <a:off x="4912500" y="1921674"/>
              <a:ext cx="410607" cy="3867784"/>
            </a:xfrm>
            <a:prstGeom prst="roundRect">
              <a:avLst>
                <a:gd name="adj" fmla="val 50000"/>
              </a:avLst>
            </a:prstGeom>
            <a:solidFill>
              <a:schemeClr val="bg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9" name="Rounded Rectangle 58">
              <a:extLst>
                <a:ext uri="{FF2B5EF4-FFF2-40B4-BE49-F238E27FC236}">
                  <a16:creationId xmlns:a16="http://schemas.microsoft.com/office/drawing/2014/main" id="{D371B443-86FD-8F47-37EB-AC12EF3525B0}"/>
                </a:ext>
              </a:extLst>
            </p:cNvPr>
            <p:cNvSpPr/>
            <p:nvPr/>
          </p:nvSpPr>
          <p:spPr>
            <a:xfrm rot="10800000">
              <a:off x="4912500" y="2584371"/>
              <a:ext cx="410607" cy="3216806"/>
            </a:xfrm>
            <a:prstGeom prst="roundRect">
              <a:avLst>
                <a:gd name="adj" fmla="val 50000"/>
              </a:avLst>
            </a:prstGeom>
            <a:solidFill>
              <a:srgbClr val="265E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28" name="TextBox 27">
            <a:extLst>
              <a:ext uri="{FF2B5EF4-FFF2-40B4-BE49-F238E27FC236}">
                <a16:creationId xmlns:a16="http://schemas.microsoft.com/office/drawing/2014/main" id="{EF96BDB9-D970-49A2-9D51-EBBCACD38CFB}"/>
              </a:ext>
            </a:extLst>
          </p:cNvPr>
          <p:cNvSpPr txBox="1"/>
          <p:nvPr/>
        </p:nvSpPr>
        <p:spPr>
          <a:xfrm>
            <a:off x="1910290" y="5823570"/>
            <a:ext cx="598653" cy="261034"/>
          </a:xfrm>
          <a:prstGeom prst="rect">
            <a:avLst/>
          </a:prstGeom>
          <a:noFill/>
        </p:spPr>
        <p:txBody>
          <a:bodyPr wrap="square" rtlCol="0">
            <a:spAutoFit/>
          </a:bodyPr>
          <a:lstStyle/>
          <a:p>
            <a:pPr algn="ctr">
              <a:lnSpc>
                <a:spcPct val="150000"/>
              </a:lnSpc>
            </a:pPr>
            <a:r>
              <a:rPr lang="en-US" sz="800" dirty="0">
                <a:solidFill>
                  <a:schemeClr val="bg1"/>
                </a:solidFill>
                <a:latin typeface="Avenir Book" panose="02000503020000020003" pitchFamily="2" charset="0"/>
              </a:rPr>
              <a:t>JAN</a:t>
            </a:r>
          </a:p>
        </p:txBody>
      </p:sp>
      <p:grpSp>
        <p:nvGrpSpPr>
          <p:cNvPr id="71" name="Group 70">
            <a:extLst>
              <a:ext uri="{FF2B5EF4-FFF2-40B4-BE49-F238E27FC236}">
                <a16:creationId xmlns:a16="http://schemas.microsoft.com/office/drawing/2014/main" id="{E6A24866-0F2F-BBE6-7FB1-15113AB2EA02}"/>
              </a:ext>
            </a:extLst>
          </p:cNvPr>
          <p:cNvGrpSpPr/>
          <p:nvPr/>
        </p:nvGrpSpPr>
        <p:grpSpPr>
          <a:xfrm>
            <a:off x="2004313" y="1921674"/>
            <a:ext cx="410607" cy="3867784"/>
            <a:chOff x="2003979" y="1921674"/>
            <a:chExt cx="410607" cy="3867784"/>
          </a:xfrm>
        </p:grpSpPr>
        <p:sp>
          <p:nvSpPr>
            <p:cNvPr id="7" name="Rounded Rectangle 6">
              <a:extLst>
                <a:ext uri="{FF2B5EF4-FFF2-40B4-BE49-F238E27FC236}">
                  <a16:creationId xmlns:a16="http://schemas.microsoft.com/office/drawing/2014/main" id="{191CA06C-DDA7-31E7-2FFD-FDC6F49FD78C}"/>
                </a:ext>
              </a:extLst>
            </p:cNvPr>
            <p:cNvSpPr/>
            <p:nvPr/>
          </p:nvSpPr>
          <p:spPr>
            <a:xfrm>
              <a:off x="2003979" y="1921674"/>
              <a:ext cx="410607" cy="3867784"/>
            </a:xfrm>
            <a:prstGeom prst="roundRect">
              <a:avLst>
                <a:gd name="adj" fmla="val 50000"/>
              </a:avLst>
            </a:prstGeom>
            <a:solidFill>
              <a:schemeClr val="bg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0" name="Rounded Rectangle 59">
              <a:extLst>
                <a:ext uri="{FF2B5EF4-FFF2-40B4-BE49-F238E27FC236}">
                  <a16:creationId xmlns:a16="http://schemas.microsoft.com/office/drawing/2014/main" id="{8E33C9C6-30A9-7E6C-CA15-8E9587B6CAEF}"/>
                </a:ext>
              </a:extLst>
            </p:cNvPr>
            <p:cNvSpPr/>
            <p:nvPr/>
          </p:nvSpPr>
          <p:spPr>
            <a:xfrm rot="10800000">
              <a:off x="2003979" y="4051834"/>
              <a:ext cx="410607" cy="1737623"/>
            </a:xfrm>
            <a:prstGeom prst="roundRect">
              <a:avLst>
                <a:gd name="adj" fmla="val 50000"/>
              </a:avLst>
            </a:prstGeom>
            <a:solidFill>
              <a:srgbClr val="265E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29" name="TextBox 28">
            <a:extLst>
              <a:ext uri="{FF2B5EF4-FFF2-40B4-BE49-F238E27FC236}">
                <a16:creationId xmlns:a16="http://schemas.microsoft.com/office/drawing/2014/main" id="{D50664B8-7E79-3C6C-210F-F1CDFD1F5E07}"/>
              </a:ext>
            </a:extLst>
          </p:cNvPr>
          <p:cNvSpPr txBox="1"/>
          <p:nvPr/>
        </p:nvSpPr>
        <p:spPr>
          <a:xfrm>
            <a:off x="2870995" y="5823570"/>
            <a:ext cx="598653" cy="261034"/>
          </a:xfrm>
          <a:prstGeom prst="rect">
            <a:avLst/>
          </a:prstGeom>
          <a:noFill/>
        </p:spPr>
        <p:txBody>
          <a:bodyPr wrap="square" rtlCol="0">
            <a:spAutoFit/>
          </a:bodyPr>
          <a:lstStyle/>
          <a:p>
            <a:pPr algn="ctr">
              <a:lnSpc>
                <a:spcPct val="150000"/>
              </a:lnSpc>
            </a:pPr>
            <a:r>
              <a:rPr lang="en-US" sz="800" dirty="0">
                <a:solidFill>
                  <a:schemeClr val="bg1"/>
                </a:solidFill>
                <a:latin typeface="Avenir Book" panose="02000503020000020003" pitchFamily="2" charset="0"/>
              </a:rPr>
              <a:t>FEB</a:t>
            </a:r>
          </a:p>
        </p:txBody>
      </p:sp>
      <p:grpSp>
        <p:nvGrpSpPr>
          <p:cNvPr id="70" name="Group 69">
            <a:extLst>
              <a:ext uri="{FF2B5EF4-FFF2-40B4-BE49-F238E27FC236}">
                <a16:creationId xmlns:a16="http://schemas.microsoft.com/office/drawing/2014/main" id="{28D7F1CD-C446-D64C-C672-56A5AC220E94}"/>
              </a:ext>
            </a:extLst>
          </p:cNvPr>
          <p:cNvGrpSpPr/>
          <p:nvPr/>
        </p:nvGrpSpPr>
        <p:grpSpPr>
          <a:xfrm>
            <a:off x="2965018" y="1921674"/>
            <a:ext cx="410607" cy="3867784"/>
            <a:chOff x="2979448" y="1921674"/>
            <a:chExt cx="410607" cy="3867784"/>
          </a:xfrm>
        </p:grpSpPr>
        <p:sp>
          <p:nvSpPr>
            <p:cNvPr id="8" name="Rounded Rectangle 7">
              <a:extLst>
                <a:ext uri="{FF2B5EF4-FFF2-40B4-BE49-F238E27FC236}">
                  <a16:creationId xmlns:a16="http://schemas.microsoft.com/office/drawing/2014/main" id="{9B70608E-4557-F465-423B-55B6249573CD}"/>
                </a:ext>
              </a:extLst>
            </p:cNvPr>
            <p:cNvSpPr/>
            <p:nvPr/>
          </p:nvSpPr>
          <p:spPr>
            <a:xfrm>
              <a:off x="2979448" y="1921674"/>
              <a:ext cx="410607" cy="3867784"/>
            </a:xfrm>
            <a:prstGeom prst="roundRect">
              <a:avLst>
                <a:gd name="adj" fmla="val 50000"/>
              </a:avLst>
            </a:prstGeom>
            <a:solidFill>
              <a:schemeClr val="bg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1" name="Rounded Rectangle 60">
              <a:extLst>
                <a:ext uri="{FF2B5EF4-FFF2-40B4-BE49-F238E27FC236}">
                  <a16:creationId xmlns:a16="http://schemas.microsoft.com/office/drawing/2014/main" id="{F6A5D1D5-2D9F-E7A7-ABFB-42A58C6C5AA2}"/>
                </a:ext>
              </a:extLst>
            </p:cNvPr>
            <p:cNvSpPr/>
            <p:nvPr/>
          </p:nvSpPr>
          <p:spPr>
            <a:xfrm rot="10800000">
              <a:off x="2979448" y="3410280"/>
              <a:ext cx="410607" cy="2379177"/>
            </a:xfrm>
            <a:prstGeom prst="roundRect">
              <a:avLst>
                <a:gd name="adj" fmla="val 50000"/>
              </a:avLst>
            </a:prstGeom>
            <a:solidFill>
              <a:srgbClr val="265E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44" name="TextBox 43">
            <a:extLst>
              <a:ext uri="{FF2B5EF4-FFF2-40B4-BE49-F238E27FC236}">
                <a16:creationId xmlns:a16="http://schemas.microsoft.com/office/drawing/2014/main" id="{E118BF39-28B5-46FE-051D-16861092B4D9}"/>
              </a:ext>
            </a:extLst>
          </p:cNvPr>
          <p:cNvSpPr txBox="1"/>
          <p:nvPr/>
        </p:nvSpPr>
        <p:spPr>
          <a:xfrm>
            <a:off x="8697959" y="4520483"/>
            <a:ext cx="598653" cy="303225"/>
          </a:xfrm>
          <a:prstGeom prst="rect">
            <a:avLst/>
          </a:prstGeom>
          <a:noFill/>
        </p:spPr>
        <p:txBody>
          <a:bodyPr wrap="square" rtlCol="0">
            <a:spAutoFit/>
          </a:bodyPr>
          <a:lstStyle/>
          <a:p>
            <a:pPr algn="ctr">
              <a:lnSpc>
                <a:spcPct val="150000"/>
              </a:lnSpc>
            </a:pPr>
            <a:r>
              <a:rPr lang="en-US" sz="1000" dirty="0">
                <a:solidFill>
                  <a:schemeClr val="bg1"/>
                </a:solidFill>
                <a:latin typeface="Avenir Book" panose="02000503020000020003" pitchFamily="2" charset="0"/>
              </a:rPr>
              <a:t>27%</a:t>
            </a:r>
          </a:p>
        </p:txBody>
      </p:sp>
      <p:sp>
        <p:nvSpPr>
          <p:cNvPr id="45" name="TextBox 44">
            <a:extLst>
              <a:ext uri="{FF2B5EF4-FFF2-40B4-BE49-F238E27FC236}">
                <a16:creationId xmlns:a16="http://schemas.microsoft.com/office/drawing/2014/main" id="{C384347E-7A95-6692-D0D7-DAA88D4B9C64}"/>
              </a:ext>
            </a:extLst>
          </p:cNvPr>
          <p:cNvSpPr txBox="1"/>
          <p:nvPr/>
        </p:nvSpPr>
        <p:spPr>
          <a:xfrm>
            <a:off x="9670387" y="5161563"/>
            <a:ext cx="598653" cy="303225"/>
          </a:xfrm>
          <a:prstGeom prst="rect">
            <a:avLst/>
          </a:prstGeom>
          <a:noFill/>
        </p:spPr>
        <p:txBody>
          <a:bodyPr wrap="square" rtlCol="0">
            <a:spAutoFit/>
          </a:bodyPr>
          <a:lstStyle/>
          <a:p>
            <a:pPr algn="ctr">
              <a:lnSpc>
                <a:spcPct val="150000"/>
              </a:lnSpc>
            </a:pPr>
            <a:r>
              <a:rPr lang="en-US" sz="1000" dirty="0">
                <a:solidFill>
                  <a:schemeClr val="bg1"/>
                </a:solidFill>
                <a:latin typeface="Avenir Book" panose="02000503020000020003" pitchFamily="2" charset="0"/>
              </a:rPr>
              <a:t>12%</a:t>
            </a:r>
          </a:p>
        </p:txBody>
      </p:sp>
      <p:sp>
        <p:nvSpPr>
          <p:cNvPr id="39" name="TextBox 38">
            <a:extLst>
              <a:ext uri="{FF2B5EF4-FFF2-40B4-BE49-F238E27FC236}">
                <a16:creationId xmlns:a16="http://schemas.microsoft.com/office/drawing/2014/main" id="{23AD7021-5BD6-DE2B-DB29-E7F71C1ECD8C}"/>
              </a:ext>
            </a:extLst>
          </p:cNvPr>
          <p:cNvSpPr txBox="1"/>
          <p:nvPr/>
        </p:nvSpPr>
        <p:spPr>
          <a:xfrm>
            <a:off x="3826033" y="5084490"/>
            <a:ext cx="598653" cy="303225"/>
          </a:xfrm>
          <a:prstGeom prst="rect">
            <a:avLst/>
          </a:prstGeom>
          <a:noFill/>
        </p:spPr>
        <p:txBody>
          <a:bodyPr wrap="square" rtlCol="0">
            <a:spAutoFit/>
          </a:bodyPr>
          <a:lstStyle/>
          <a:p>
            <a:pPr algn="ctr">
              <a:lnSpc>
                <a:spcPct val="150000"/>
              </a:lnSpc>
            </a:pPr>
            <a:r>
              <a:rPr lang="en-US" sz="1000" dirty="0">
                <a:solidFill>
                  <a:schemeClr val="bg1"/>
                </a:solidFill>
                <a:latin typeface="Avenir Book" panose="02000503020000020003" pitchFamily="2" charset="0"/>
              </a:rPr>
              <a:t>15%</a:t>
            </a:r>
          </a:p>
        </p:txBody>
      </p:sp>
      <p:sp>
        <p:nvSpPr>
          <p:cNvPr id="43" name="TextBox 42">
            <a:extLst>
              <a:ext uri="{FF2B5EF4-FFF2-40B4-BE49-F238E27FC236}">
                <a16:creationId xmlns:a16="http://schemas.microsoft.com/office/drawing/2014/main" id="{849A8143-9017-71DC-1112-E107F152F7E6}"/>
              </a:ext>
            </a:extLst>
          </p:cNvPr>
          <p:cNvSpPr txBox="1"/>
          <p:nvPr/>
        </p:nvSpPr>
        <p:spPr>
          <a:xfrm>
            <a:off x="7725918" y="3212180"/>
            <a:ext cx="598653" cy="303225"/>
          </a:xfrm>
          <a:prstGeom prst="rect">
            <a:avLst/>
          </a:prstGeom>
          <a:noFill/>
        </p:spPr>
        <p:txBody>
          <a:bodyPr wrap="square" rtlCol="0">
            <a:spAutoFit/>
          </a:bodyPr>
          <a:lstStyle/>
          <a:p>
            <a:pPr algn="ctr">
              <a:lnSpc>
                <a:spcPct val="150000"/>
              </a:lnSpc>
            </a:pPr>
            <a:r>
              <a:rPr lang="en-US" sz="1000" dirty="0">
                <a:solidFill>
                  <a:schemeClr val="bg1"/>
                </a:solidFill>
                <a:latin typeface="Avenir Book" panose="02000503020000020003" pitchFamily="2" charset="0"/>
              </a:rPr>
              <a:t>70%</a:t>
            </a:r>
          </a:p>
        </p:txBody>
      </p:sp>
      <p:sp>
        <p:nvSpPr>
          <p:cNvPr id="41" name="TextBox 40">
            <a:extLst>
              <a:ext uri="{FF2B5EF4-FFF2-40B4-BE49-F238E27FC236}">
                <a16:creationId xmlns:a16="http://schemas.microsoft.com/office/drawing/2014/main" id="{C232F647-A610-4400-C391-52EF6E6FEF49}"/>
              </a:ext>
            </a:extLst>
          </p:cNvPr>
          <p:cNvSpPr txBox="1"/>
          <p:nvPr/>
        </p:nvSpPr>
        <p:spPr>
          <a:xfrm>
            <a:off x="5787505" y="2317274"/>
            <a:ext cx="598653" cy="303225"/>
          </a:xfrm>
          <a:prstGeom prst="rect">
            <a:avLst/>
          </a:prstGeom>
          <a:noFill/>
        </p:spPr>
        <p:txBody>
          <a:bodyPr wrap="square" rtlCol="0">
            <a:spAutoFit/>
          </a:bodyPr>
          <a:lstStyle/>
          <a:p>
            <a:pPr algn="ctr">
              <a:lnSpc>
                <a:spcPct val="150000"/>
              </a:lnSpc>
            </a:pPr>
            <a:r>
              <a:rPr lang="en-US" sz="1000" dirty="0">
                <a:solidFill>
                  <a:schemeClr val="bg1"/>
                </a:solidFill>
                <a:latin typeface="Avenir Book" panose="02000503020000020003" pitchFamily="2" charset="0"/>
              </a:rPr>
              <a:t>98%</a:t>
            </a:r>
          </a:p>
        </p:txBody>
      </p:sp>
      <p:sp>
        <p:nvSpPr>
          <p:cNvPr id="42" name="TextBox 41">
            <a:extLst>
              <a:ext uri="{FF2B5EF4-FFF2-40B4-BE49-F238E27FC236}">
                <a16:creationId xmlns:a16="http://schemas.microsoft.com/office/drawing/2014/main" id="{EFF7ED70-6B0E-157E-9A31-4E297378DB47}"/>
              </a:ext>
            </a:extLst>
          </p:cNvPr>
          <p:cNvSpPr txBox="1"/>
          <p:nvPr/>
        </p:nvSpPr>
        <p:spPr>
          <a:xfrm>
            <a:off x="6753878" y="3694132"/>
            <a:ext cx="598653" cy="303225"/>
          </a:xfrm>
          <a:prstGeom prst="rect">
            <a:avLst/>
          </a:prstGeom>
          <a:noFill/>
        </p:spPr>
        <p:txBody>
          <a:bodyPr wrap="square" rtlCol="0">
            <a:spAutoFit/>
          </a:bodyPr>
          <a:lstStyle/>
          <a:p>
            <a:pPr algn="ctr">
              <a:lnSpc>
                <a:spcPct val="150000"/>
              </a:lnSpc>
            </a:pPr>
            <a:r>
              <a:rPr lang="en-US" sz="1000" dirty="0">
                <a:solidFill>
                  <a:schemeClr val="bg1"/>
                </a:solidFill>
                <a:latin typeface="Avenir Book" panose="02000503020000020003" pitchFamily="2" charset="0"/>
              </a:rPr>
              <a:t>55%</a:t>
            </a:r>
          </a:p>
        </p:txBody>
      </p:sp>
      <p:sp>
        <p:nvSpPr>
          <p:cNvPr id="40" name="TextBox 39">
            <a:extLst>
              <a:ext uri="{FF2B5EF4-FFF2-40B4-BE49-F238E27FC236}">
                <a16:creationId xmlns:a16="http://schemas.microsoft.com/office/drawing/2014/main" id="{E354B622-062F-6F07-8759-CC15BB1AABC6}"/>
              </a:ext>
            </a:extLst>
          </p:cNvPr>
          <p:cNvSpPr txBox="1"/>
          <p:nvPr/>
        </p:nvSpPr>
        <p:spPr>
          <a:xfrm>
            <a:off x="4806963" y="2702160"/>
            <a:ext cx="598653" cy="303225"/>
          </a:xfrm>
          <a:prstGeom prst="rect">
            <a:avLst/>
          </a:prstGeom>
          <a:noFill/>
        </p:spPr>
        <p:txBody>
          <a:bodyPr wrap="square" rtlCol="0">
            <a:spAutoFit/>
          </a:bodyPr>
          <a:lstStyle/>
          <a:p>
            <a:pPr algn="ctr">
              <a:lnSpc>
                <a:spcPct val="150000"/>
              </a:lnSpc>
            </a:pPr>
            <a:r>
              <a:rPr lang="en-US" sz="1000" dirty="0">
                <a:solidFill>
                  <a:schemeClr val="bg1"/>
                </a:solidFill>
                <a:latin typeface="Avenir Book" panose="02000503020000020003" pitchFamily="2" charset="0"/>
              </a:rPr>
              <a:t>85%</a:t>
            </a:r>
          </a:p>
        </p:txBody>
      </p:sp>
      <p:sp>
        <p:nvSpPr>
          <p:cNvPr id="37" name="TextBox 36">
            <a:extLst>
              <a:ext uri="{FF2B5EF4-FFF2-40B4-BE49-F238E27FC236}">
                <a16:creationId xmlns:a16="http://schemas.microsoft.com/office/drawing/2014/main" id="{ED67A259-5E5D-DAE4-D222-F1A5030D7276}"/>
              </a:ext>
            </a:extLst>
          </p:cNvPr>
          <p:cNvSpPr txBox="1"/>
          <p:nvPr/>
        </p:nvSpPr>
        <p:spPr>
          <a:xfrm>
            <a:off x="1910290" y="4217258"/>
            <a:ext cx="598653" cy="303225"/>
          </a:xfrm>
          <a:prstGeom prst="rect">
            <a:avLst/>
          </a:prstGeom>
          <a:noFill/>
        </p:spPr>
        <p:txBody>
          <a:bodyPr wrap="square" rtlCol="0">
            <a:spAutoFit/>
          </a:bodyPr>
          <a:lstStyle/>
          <a:p>
            <a:pPr algn="ctr">
              <a:lnSpc>
                <a:spcPct val="150000"/>
              </a:lnSpc>
            </a:pPr>
            <a:r>
              <a:rPr lang="en-US" sz="1000" dirty="0">
                <a:solidFill>
                  <a:schemeClr val="bg1"/>
                </a:solidFill>
                <a:latin typeface="Avenir Book" panose="02000503020000020003" pitchFamily="2" charset="0"/>
              </a:rPr>
              <a:t>45%</a:t>
            </a:r>
          </a:p>
        </p:txBody>
      </p:sp>
      <p:sp>
        <p:nvSpPr>
          <p:cNvPr id="38" name="TextBox 37">
            <a:extLst>
              <a:ext uri="{FF2B5EF4-FFF2-40B4-BE49-F238E27FC236}">
                <a16:creationId xmlns:a16="http://schemas.microsoft.com/office/drawing/2014/main" id="{076B8A8F-5953-DEA3-E353-BE8FF2358A51}"/>
              </a:ext>
            </a:extLst>
          </p:cNvPr>
          <p:cNvSpPr txBox="1"/>
          <p:nvPr/>
        </p:nvSpPr>
        <p:spPr>
          <a:xfrm>
            <a:off x="2870995" y="3557596"/>
            <a:ext cx="598653" cy="303225"/>
          </a:xfrm>
          <a:prstGeom prst="rect">
            <a:avLst/>
          </a:prstGeom>
          <a:noFill/>
        </p:spPr>
        <p:txBody>
          <a:bodyPr wrap="square" rtlCol="0">
            <a:spAutoFit/>
          </a:bodyPr>
          <a:lstStyle/>
          <a:p>
            <a:pPr algn="ctr">
              <a:lnSpc>
                <a:spcPct val="150000"/>
              </a:lnSpc>
            </a:pPr>
            <a:r>
              <a:rPr lang="en-US" sz="1000" dirty="0">
                <a:solidFill>
                  <a:schemeClr val="bg1"/>
                </a:solidFill>
                <a:latin typeface="Avenir Book" panose="02000503020000020003" pitchFamily="2" charset="0"/>
              </a:rPr>
              <a:t>65%</a:t>
            </a:r>
          </a:p>
        </p:txBody>
      </p:sp>
    </p:spTree>
    <p:extLst>
      <p:ext uri="{BB962C8B-B14F-4D97-AF65-F5344CB8AC3E}">
        <p14:creationId xmlns:p14="http://schemas.microsoft.com/office/powerpoint/2010/main" val="14846513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E9741-32F9-7BEB-E640-078294FDA7E2}"/>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C9132674-D785-2D34-E26C-529BD5952F24}"/>
              </a:ext>
            </a:extLst>
          </p:cNvPr>
          <p:cNvSpPr/>
          <p:nvPr/>
        </p:nvSpPr>
        <p:spPr>
          <a:xfrm>
            <a:off x="401638" y="647702"/>
            <a:ext cx="11373930" cy="5760982"/>
          </a:xfrm>
          <a:prstGeom prst="roundRect">
            <a:avLst>
              <a:gd name="adj" fmla="val 2003"/>
            </a:avLst>
          </a:prstGeom>
          <a:gradFill flip="none" rotWithShape="1">
            <a:gsLst>
              <a:gs pos="16000">
                <a:srgbClr val="75C6D6">
                  <a:alpha val="80000"/>
                </a:srgbClr>
              </a:gs>
              <a:gs pos="0">
                <a:srgbClr val="95CFD6">
                  <a:alpha val="80000"/>
                </a:srgbClr>
              </a:gs>
              <a:gs pos="39000">
                <a:srgbClr val="75B8D4">
                  <a:alpha val="80000"/>
                </a:srgbClr>
              </a:gs>
              <a:gs pos="70000">
                <a:srgbClr val="8CA3BA">
                  <a:alpha val="80000"/>
                </a:srgbClr>
              </a:gs>
              <a:gs pos="99000">
                <a:srgbClr val="9F9CBD">
                  <a:alpha val="80000"/>
                </a:srgbClr>
              </a:gs>
            </a:gsLst>
            <a:lin ang="5400000" scaled="1"/>
            <a:tileRect/>
          </a:gradFill>
          <a:ln w="12700">
            <a:solidFill>
              <a:schemeClr val="bg1">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AC44B85E-4F36-F9C6-7A2B-5361CC410710}"/>
              </a:ext>
            </a:extLst>
          </p:cNvPr>
          <p:cNvPicPr>
            <a:picLocks noChangeAspect="1"/>
          </p:cNvPicPr>
          <p:nvPr/>
        </p:nvPicPr>
        <p:blipFill>
          <a:blip r:embed="rId3"/>
          <a:srcRect/>
          <a:stretch/>
        </p:blipFill>
        <p:spPr>
          <a:xfrm>
            <a:off x="11484209" y="316699"/>
            <a:ext cx="295894" cy="233756"/>
          </a:xfrm>
          <a:prstGeom prst="rect">
            <a:avLst/>
          </a:prstGeom>
        </p:spPr>
      </p:pic>
      <p:sp>
        <p:nvSpPr>
          <p:cNvPr id="5" name="Oval 4">
            <a:extLst>
              <a:ext uri="{FF2B5EF4-FFF2-40B4-BE49-F238E27FC236}">
                <a16:creationId xmlns:a16="http://schemas.microsoft.com/office/drawing/2014/main" id="{51DEA76F-D776-7072-3292-9DC8C5F4F7AE}"/>
              </a:ext>
            </a:extLst>
          </p:cNvPr>
          <p:cNvSpPr/>
          <p:nvPr/>
        </p:nvSpPr>
        <p:spPr>
          <a:xfrm>
            <a:off x="5153339" y="2919755"/>
            <a:ext cx="436113" cy="436113"/>
          </a:xfrm>
          <a:prstGeom prst="ellipse">
            <a:avLst/>
          </a:prstGeom>
          <a:solidFill>
            <a:srgbClr val="265E84">
              <a:alpha val="40000"/>
            </a:srgb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endParaRPr>
          </a:p>
        </p:txBody>
      </p:sp>
      <p:sp>
        <p:nvSpPr>
          <p:cNvPr id="6" name="Oval 5">
            <a:extLst>
              <a:ext uri="{FF2B5EF4-FFF2-40B4-BE49-F238E27FC236}">
                <a16:creationId xmlns:a16="http://schemas.microsoft.com/office/drawing/2014/main" id="{5F3CE389-68A1-8BF4-CB7F-C9B98D2B5F64}"/>
              </a:ext>
            </a:extLst>
          </p:cNvPr>
          <p:cNvSpPr/>
          <p:nvPr/>
        </p:nvSpPr>
        <p:spPr>
          <a:xfrm>
            <a:off x="5153339" y="3589190"/>
            <a:ext cx="436113" cy="436113"/>
          </a:xfrm>
          <a:prstGeom prst="ellipse">
            <a:avLst/>
          </a:prstGeom>
          <a:solidFill>
            <a:srgbClr val="265E84">
              <a:alpha val="40000"/>
            </a:srgb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endParaRPr>
          </a:p>
        </p:txBody>
      </p:sp>
      <p:sp>
        <p:nvSpPr>
          <p:cNvPr id="7" name="Oval 6">
            <a:extLst>
              <a:ext uri="{FF2B5EF4-FFF2-40B4-BE49-F238E27FC236}">
                <a16:creationId xmlns:a16="http://schemas.microsoft.com/office/drawing/2014/main" id="{4DF3C91E-81C2-4ADB-8E3D-C272ABF3E43C}"/>
              </a:ext>
            </a:extLst>
          </p:cNvPr>
          <p:cNvSpPr/>
          <p:nvPr/>
        </p:nvSpPr>
        <p:spPr>
          <a:xfrm>
            <a:off x="5153339" y="4258625"/>
            <a:ext cx="436113" cy="436113"/>
          </a:xfrm>
          <a:prstGeom prst="ellipse">
            <a:avLst/>
          </a:prstGeom>
          <a:solidFill>
            <a:srgbClr val="265E84">
              <a:alpha val="40000"/>
            </a:srgb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endParaRPr>
          </a:p>
        </p:txBody>
      </p:sp>
      <p:sp>
        <p:nvSpPr>
          <p:cNvPr id="8" name="Oval 7">
            <a:extLst>
              <a:ext uri="{FF2B5EF4-FFF2-40B4-BE49-F238E27FC236}">
                <a16:creationId xmlns:a16="http://schemas.microsoft.com/office/drawing/2014/main" id="{55B7095C-66CB-73CC-AEFD-9971FB1612CF}"/>
              </a:ext>
            </a:extLst>
          </p:cNvPr>
          <p:cNvSpPr/>
          <p:nvPr/>
        </p:nvSpPr>
        <p:spPr>
          <a:xfrm>
            <a:off x="5153339" y="4928060"/>
            <a:ext cx="436113" cy="436113"/>
          </a:xfrm>
          <a:prstGeom prst="ellipse">
            <a:avLst/>
          </a:prstGeom>
          <a:solidFill>
            <a:srgbClr val="265E84">
              <a:alpha val="40000"/>
            </a:srgb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endParaRPr>
          </a:p>
        </p:txBody>
      </p:sp>
      <p:sp>
        <p:nvSpPr>
          <p:cNvPr id="10" name="Oval 9">
            <a:extLst>
              <a:ext uri="{FF2B5EF4-FFF2-40B4-BE49-F238E27FC236}">
                <a16:creationId xmlns:a16="http://schemas.microsoft.com/office/drawing/2014/main" id="{C765436D-95C3-38A4-A365-D09F97911A3D}"/>
              </a:ext>
            </a:extLst>
          </p:cNvPr>
          <p:cNvSpPr/>
          <p:nvPr/>
        </p:nvSpPr>
        <p:spPr>
          <a:xfrm>
            <a:off x="5153339" y="5597495"/>
            <a:ext cx="436113" cy="436113"/>
          </a:xfrm>
          <a:prstGeom prst="ellipse">
            <a:avLst/>
          </a:prstGeom>
          <a:solidFill>
            <a:srgbClr val="265E84">
              <a:alpha val="40000"/>
            </a:srgb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endParaRPr>
          </a:p>
        </p:txBody>
      </p:sp>
      <p:sp>
        <p:nvSpPr>
          <p:cNvPr id="12" name="Oval 11">
            <a:extLst>
              <a:ext uri="{FF2B5EF4-FFF2-40B4-BE49-F238E27FC236}">
                <a16:creationId xmlns:a16="http://schemas.microsoft.com/office/drawing/2014/main" id="{D62815A8-029C-1F2C-7ABA-5C1BAEB28C3C}"/>
              </a:ext>
            </a:extLst>
          </p:cNvPr>
          <p:cNvSpPr/>
          <p:nvPr/>
        </p:nvSpPr>
        <p:spPr>
          <a:xfrm>
            <a:off x="5803802" y="2919755"/>
            <a:ext cx="436113" cy="436113"/>
          </a:xfrm>
          <a:prstGeom prst="ellipse">
            <a:avLst/>
          </a:prstGeom>
          <a:solidFill>
            <a:srgbClr val="265E84">
              <a:alpha val="40000"/>
            </a:srgb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endParaRPr>
          </a:p>
        </p:txBody>
      </p:sp>
      <p:sp>
        <p:nvSpPr>
          <p:cNvPr id="16" name="Oval 15">
            <a:extLst>
              <a:ext uri="{FF2B5EF4-FFF2-40B4-BE49-F238E27FC236}">
                <a16:creationId xmlns:a16="http://schemas.microsoft.com/office/drawing/2014/main" id="{D43C432D-D798-CA0E-D4BF-1D2C077130B8}"/>
              </a:ext>
            </a:extLst>
          </p:cNvPr>
          <p:cNvSpPr/>
          <p:nvPr/>
        </p:nvSpPr>
        <p:spPr>
          <a:xfrm>
            <a:off x="5803802" y="3589190"/>
            <a:ext cx="436113" cy="436113"/>
          </a:xfrm>
          <a:prstGeom prst="ellipse">
            <a:avLst/>
          </a:prstGeom>
          <a:solidFill>
            <a:srgbClr val="265E84">
              <a:alpha val="40000"/>
            </a:srgb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endParaRPr>
          </a:p>
        </p:txBody>
      </p:sp>
      <p:sp>
        <p:nvSpPr>
          <p:cNvPr id="18" name="Oval 17">
            <a:extLst>
              <a:ext uri="{FF2B5EF4-FFF2-40B4-BE49-F238E27FC236}">
                <a16:creationId xmlns:a16="http://schemas.microsoft.com/office/drawing/2014/main" id="{73A8599B-0B0F-161B-2617-B33E043E274A}"/>
              </a:ext>
            </a:extLst>
          </p:cNvPr>
          <p:cNvSpPr/>
          <p:nvPr/>
        </p:nvSpPr>
        <p:spPr>
          <a:xfrm>
            <a:off x="5803802" y="4258625"/>
            <a:ext cx="436113" cy="436113"/>
          </a:xfrm>
          <a:prstGeom prst="ellipse">
            <a:avLst/>
          </a:prstGeom>
          <a:solidFill>
            <a:srgbClr val="265E84">
              <a:alpha val="40000"/>
            </a:srgb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endParaRPr>
          </a:p>
        </p:txBody>
      </p:sp>
      <p:sp>
        <p:nvSpPr>
          <p:cNvPr id="19" name="Oval 18">
            <a:extLst>
              <a:ext uri="{FF2B5EF4-FFF2-40B4-BE49-F238E27FC236}">
                <a16:creationId xmlns:a16="http://schemas.microsoft.com/office/drawing/2014/main" id="{54788780-6487-FA74-034D-BF432E0C861B}"/>
              </a:ext>
            </a:extLst>
          </p:cNvPr>
          <p:cNvSpPr/>
          <p:nvPr/>
        </p:nvSpPr>
        <p:spPr>
          <a:xfrm>
            <a:off x="5803802" y="4928060"/>
            <a:ext cx="436113" cy="436113"/>
          </a:xfrm>
          <a:prstGeom prst="ellipse">
            <a:avLst/>
          </a:prstGeom>
          <a:solidFill>
            <a:srgbClr val="265E84">
              <a:alpha val="40000"/>
            </a:srgb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endParaRPr>
          </a:p>
        </p:txBody>
      </p:sp>
      <p:sp>
        <p:nvSpPr>
          <p:cNvPr id="20" name="Oval 19">
            <a:extLst>
              <a:ext uri="{FF2B5EF4-FFF2-40B4-BE49-F238E27FC236}">
                <a16:creationId xmlns:a16="http://schemas.microsoft.com/office/drawing/2014/main" id="{995B34AF-45BE-AF71-C2BB-44909B7750A2}"/>
              </a:ext>
            </a:extLst>
          </p:cNvPr>
          <p:cNvSpPr/>
          <p:nvPr/>
        </p:nvSpPr>
        <p:spPr>
          <a:xfrm>
            <a:off x="5803802" y="5597495"/>
            <a:ext cx="436113" cy="436113"/>
          </a:xfrm>
          <a:prstGeom prst="ellipse">
            <a:avLst/>
          </a:prstGeom>
          <a:solidFill>
            <a:srgbClr val="265E84">
              <a:alpha val="40000"/>
            </a:srgb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endParaRPr>
          </a:p>
        </p:txBody>
      </p:sp>
      <p:sp>
        <p:nvSpPr>
          <p:cNvPr id="44" name="Oval 43">
            <a:extLst>
              <a:ext uri="{FF2B5EF4-FFF2-40B4-BE49-F238E27FC236}">
                <a16:creationId xmlns:a16="http://schemas.microsoft.com/office/drawing/2014/main" id="{6A4BD1C1-AD5C-BCE1-88D0-0C263551C54E}"/>
              </a:ext>
            </a:extLst>
          </p:cNvPr>
          <p:cNvSpPr/>
          <p:nvPr/>
        </p:nvSpPr>
        <p:spPr>
          <a:xfrm>
            <a:off x="6454265" y="2919755"/>
            <a:ext cx="436113" cy="436113"/>
          </a:xfrm>
          <a:prstGeom prst="ellipse">
            <a:avLst/>
          </a:prstGeom>
          <a:solidFill>
            <a:srgbClr val="265E84">
              <a:alpha val="40000"/>
            </a:srgb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endParaRPr>
          </a:p>
        </p:txBody>
      </p:sp>
      <p:sp>
        <p:nvSpPr>
          <p:cNvPr id="45" name="Oval 44">
            <a:extLst>
              <a:ext uri="{FF2B5EF4-FFF2-40B4-BE49-F238E27FC236}">
                <a16:creationId xmlns:a16="http://schemas.microsoft.com/office/drawing/2014/main" id="{5B473B44-DBD4-D5EC-F411-71065F941434}"/>
              </a:ext>
            </a:extLst>
          </p:cNvPr>
          <p:cNvSpPr/>
          <p:nvPr/>
        </p:nvSpPr>
        <p:spPr>
          <a:xfrm>
            <a:off x="6454265" y="3589190"/>
            <a:ext cx="436113" cy="436113"/>
          </a:xfrm>
          <a:prstGeom prst="ellipse">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endParaRPr>
          </a:p>
        </p:txBody>
      </p:sp>
      <p:sp>
        <p:nvSpPr>
          <p:cNvPr id="46" name="Oval 45">
            <a:extLst>
              <a:ext uri="{FF2B5EF4-FFF2-40B4-BE49-F238E27FC236}">
                <a16:creationId xmlns:a16="http://schemas.microsoft.com/office/drawing/2014/main" id="{876CF7B9-589C-A73A-A2E9-BB4A64E00AC3}"/>
              </a:ext>
            </a:extLst>
          </p:cNvPr>
          <p:cNvSpPr/>
          <p:nvPr/>
        </p:nvSpPr>
        <p:spPr>
          <a:xfrm>
            <a:off x="6454265" y="4258625"/>
            <a:ext cx="436113" cy="436113"/>
          </a:xfrm>
          <a:prstGeom prst="ellipse">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endParaRPr>
          </a:p>
        </p:txBody>
      </p:sp>
      <p:sp>
        <p:nvSpPr>
          <p:cNvPr id="47" name="Oval 46">
            <a:extLst>
              <a:ext uri="{FF2B5EF4-FFF2-40B4-BE49-F238E27FC236}">
                <a16:creationId xmlns:a16="http://schemas.microsoft.com/office/drawing/2014/main" id="{E9E8AF98-83D0-28ED-EEAE-E22D1FD4783D}"/>
              </a:ext>
            </a:extLst>
          </p:cNvPr>
          <p:cNvSpPr/>
          <p:nvPr/>
        </p:nvSpPr>
        <p:spPr>
          <a:xfrm>
            <a:off x="6454265" y="4928060"/>
            <a:ext cx="436113" cy="436113"/>
          </a:xfrm>
          <a:prstGeom prst="ellipse">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endParaRPr>
          </a:p>
        </p:txBody>
      </p:sp>
      <p:sp>
        <p:nvSpPr>
          <p:cNvPr id="49" name="Oval 48">
            <a:extLst>
              <a:ext uri="{FF2B5EF4-FFF2-40B4-BE49-F238E27FC236}">
                <a16:creationId xmlns:a16="http://schemas.microsoft.com/office/drawing/2014/main" id="{DC972D5D-9C60-3797-2E8E-C75D20091BB6}"/>
              </a:ext>
            </a:extLst>
          </p:cNvPr>
          <p:cNvSpPr/>
          <p:nvPr/>
        </p:nvSpPr>
        <p:spPr>
          <a:xfrm>
            <a:off x="6454265" y="5597495"/>
            <a:ext cx="436113" cy="436113"/>
          </a:xfrm>
          <a:prstGeom prst="ellipse">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endParaRPr>
          </a:p>
        </p:txBody>
      </p:sp>
      <p:sp>
        <p:nvSpPr>
          <p:cNvPr id="51" name="Oval 50">
            <a:extLst>
              <a:ext uri="{FF2B5EF4-FFF2-40B4-BE49-F238E27FC236}">
                <a16:creationId xmlns:a16="http://schemas.microsoft.com/office/drawing/2014/main" id="{8B2B6B78-80C1-F8EC-E4DE-BE02A773F372}"/>
              </a:ext>
            </a:extLst>
          </p:cNvPr>
          <p:cNvSpPr/>
          <p:nvPr/>
        </p:nvSpPr>
        <p:spPr>
          <a:xfrm>
            <a:off x="7104728" y="2919755"/>
            <a:ext cx="436113" cy="436113"/>
          </a:xfrm>
          <a:prstGeom prst="ellipse">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endParaRPr>
          </a:p>
        </p:txBody>
      </p:sp>
      <p:sp>
        <p:nvSpPr>
          <p:cNvPr id="52" name="Oval 51">
            <a:extLst>
              <a:ext uri="{FF2B5EF4-FFF2-40B4-BE49-F238E27FC236}">
                <a16:creationId xmlns:a16="http://schemas.microsoft.com/office/drawing/2014/main" id="{2C48CF83-04E7-3D49-6CE4-6F719D06D517}"/>
              </a:ext>
            </a:extLst>
          </p:cNvPr>
          <p:cNvSpPr/>
          <p:nvPr/>
        </p:nvSpPr>
        <p:spPr>
          <a:xfrm>
            <a:off x="7104728" y="3589190"/>
            <a:ext cx="436113" cy="436113"/>
          </a:xfrm>
          <a:prstGeom prst="ellipse">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US" sz="800" dirty="0">
              <a:solidFill>
                <a:prstClr val="white"/>
              </a:solidFill>
              <a:latin typeface="Avenir Book" panose="02000503020000020003" pitchFamily="2" charset="0"/>
            </a:endParaRPr>
          </a:p>
        </p:txBody>
      </p:sp>
      <p:sp>
        <p:nvSpPr>
          <p:cNvPr id="53" name="Oval 52">
            <a:extLst>
              <a:ext uri="{FF2B5EF4-FFF2-40B4-BE49-F238E27FC236}">
                <a16:creationId xmlns:a16="http://schemas.microsoft.com/office/drawing/2014/main" id="{0963BBCA-63E1-E9FC-63B2-22660E7C25E1}"/>
              </a:ext>
            </a:extLst>
          </p:cNvPr>
          <p:cNvSpPr/>
          <p:nvPr/>
        </p:nvSpPr>
        <p:spPr>
          <a:xfrm>
            <a:off x="7104728" y="4258625"/>
            <a:ext cx="436113" cy="436113"/>
          </a:xfrm>
          <a:prstGeom prst="ellipse">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US" sz="800" dirty="0">
              <a:solidFill>
                <a:prstClr val="white"/>
              </a:solidFill>
              <a:latin typeface="Avenir Book" panose="02000503020000020003" pitchFamily="2" charset="0"/>
            </a:endParaRPr>
          </a:p>
        </p:txBody>
      </p:sp>
      <p:sp>
        <p:nvSpPr>
          <p:cNvPr id="54" name="Oval 53">
            <a:extLst>
              <a:ext uri="{FF2B5EF4-FFF2-40B4-BE49-F238E27FC236}">
                <a16:creationId xmlns:a16="http://schemas.microsoft.com/office/drawing/2014/main" id="{274F643C-5A55-99C3-6D1C-5E2EE2A9645F}"/>
              </a:ext>
            </a:extLst>
          </p:cNvPr>
          <p:cNvSpPr/>
          <p:nvPr/>
        </p:nvSpPr>
        <p:spPr>
          <a:xfrm>
            <a:off x="7104728" y="4928060"/>
            <a:ext cx="436113" cy="436113"/>
          </a:xfrm>
          <a:prstGeom prst="ellipse">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US" sz="800" dirty="0">
              <a:solidFill>
                <a:prstClr val="white"/>
              </a:solidFill>
              <a:latin typeface="Avenir Book" panose="02000503020000020003" pitchFamily="2" charset="0"/>
            </a:endParaRPr>
          </a:p>
        </p:txBody>
      </p:sp>
      <p:sp>
        <p:nvSpPr>
          <p:cNvPr id="55" name="Oval 54">
            <a:extLst>
              <a:ext uri="{FF2B5EF4-FFF2-40B4-BE49-F238E27FC236}">
                <a16:creationId xmlns:a16="http://schemas.microsoft.com/office/drawing/2014/main" id="{830BE6FC-FC78-D3F2-A087-4E6E29FB4D1D}"/>
              </a:ext>
            </a:extLst>
          </p:cNvPr>
          <p:cNvSpPr/>
          <p:nvPr/>
        </p:nvSpPr>
        <p:spPr>
          <a:xfrm>
            <a:off x="7104728" y="5597495"/>
            <a:ext cx="436113" cy="436113"/>
          </a:xfrm>
          <a:prstGeom prst="ellipse">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endParaRPr>
          </a:p>
        </p:txBody>
      </p:sp>
      <p:sp>
        <p:nvSpPr>
          <p:cNvPr id="59" name="Oval 58">
            <a:extLst>
              <a:ext uri="{FF2B5EF4-FFF2-40B4-BE49-F238E27FC236}">
                <a16:creationId xmlns:a16="http://schemas.microsoft.com/office/drawing/2014/main" id="{7EDB7CE5-86EA-9BF1-A6B3-89223EEE6CAF}"/>
              </a:ext>
            </a:extLst>
          </p:cNvPr>
          <p:cNvSpPr/>
          <p:nvPr/>
        </p:nvSpPr>
        <p:spPr>
          <a:xfrm>
            <a:off x="7755191" y="2919755"/>
            <a:ext cx="436113" cy="436113"/>
          </a:xfrm>
          <a:prstGeom prst="ellipse">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US" sz="800" dirty="0">
              <a:solidFill>
                <a:prstClr val="white"/>
              </a:solidFill>
              <a:latin typeface="Avenir Book" panose="02000503020000020003" pitchFamily="2" charset="0"/>
            </a:endParaRPr>
          </a:p>
        </p:txBody>
      </p:sp>
      <p:sp>
        <p:nvSpPr>
          <p:cNvPr id="60" name="Oval 59">
            <a:extLst>
              <a:ext uri="{FF2B5EF4-FFF2-40B4-BE49-F238E27FC236}">
                <a16:creationId xmlns:a16="http://schemas.microsoft.com/office/drawing/2014/main" id="{F8C0AA10-3D28-ADCC-4857-E6DC2EF83C1A}"/>
              </a:ext>
            </a:extLst>
          </p:cNvPr>
          <p:cNvSpPr/>
          <p:nvPr/>
        </p:nvSpPr>
        <p:spPr>
          <a:xfrm>
            <a:off x="7755191" y="3589190"/>
            <a:ext cx="436113" cy="436113"/>
          </a:xfrm>
          <a:prstGeom prst="ellipse">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US" sz="800" dirty="0">
              <a:solidFill>
                <a:prstClr val="white"/>
              </a:solidFill>
              <a:latin typeface="Avenir Book" panose="02000503020000020003" pitchFamily="2" charset="0"/>
            </a:endParaRPr>
          </a:p>
        </p:txBody>
      </p:sp>
      <p:sp>
        <p:nvSpPr>
          <p:cNvPr id="61" name="Oval 60">
            <a:extLst>
              <a:ext uri="{FF2B5EF4-FFF2-40B4-BE49-F238E27FC236}">
                <a16:creationId xmlns:a16="http://schemas.microsoft.com/office/drawing/2014/main" id="{FD5E5547-AB23-8A5F-4CB5-ECE70D70BAA1}"/>
              </a:ext>
            </a:extLst>
          </p:cNvPr>
          <p:cNvSpPr/>
          <p:nvPr/>
        </p:nvSpPr>
        <p:spPr>
          <a:xfrm>
            <a:off x="7755191" y="4258625"/>
            <a:ext cx="436113" cy="436113"/>
          </a:xfrm>
          <a:prstGeom prst="ellipse">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US" sz="800" dirty="0">
              <a:solidFill>
                <a:prstClr val="white"/>
              </a:solidFill>
              <a:latin typeface="Avenir Book" panose="02000503020000020003" pitchFamily="2" charset="0"/>
            </a:endParaRPr>
          </a:p>
        </p:txBody>
      </p:sp>
      <p:sp>
        <p:nvSpPr>
          <p:cNvPr id="62" name="Oval 61">
            <a:extLst>
              <a:ext uri="{FF2B5EF4-FFF2-40B4-BE49-F238E27FC236}">
                <a16:creationId xmlns:a16="http://schemas.microsoft.com/office/drawing/2014/main" id="{5C50F263-3448-ACBB-BF1B-806F7BE32E95}"/>
              </a:ext>
            </a:extLst>
          </p:cNvPr>
          <p:cNvSpPr/>
          <p:nvPr/>
        </p:nvSpPr>
        <p:spPr>
          <a:xfrm>
            <a:off x="7755191" y="4928060"/>
            <a:ext cx="436113" cy="436113"/>
          </a:xfrm>
          <a:prstGeom prst="ellipse">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endParaRPr>
          </a:p>
        </p:txBody>
      </p:sp>
      <p:sp>
        <p:nvSpPr>
          <p:cNvPr id="63" name="Oval 62">
            <a:extLst>
              <a:ext uri="{FF2B5EF4-FFF2-40B4-BE49-F238E27FC236}">
                <a16:creationId xmlns:a16="http://schemas.microsoft.com/office/drawing/2014/main" id="{5D711172-FC1C-E44F-077C-2398D6D98BD7}"/>
              </a:ext>
            </a:extLst>
          </p:cNvPr>
          <p:cNvSpPr/>
          <p:nvPr/>
        </p:nvSpPr>
        <p:spPr>
          <a:xfrm>
            <a:off x="7755191" y="5597495"/>
            <a:ext cx="436113" cy="436113"/>
          </a:xfrm>
          <a:prstGeom prst="ellipse">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endParaRPr>
          </a:p>
        </p:txBody>
      </p:sp>
      <p:sp>
        <p:nvSpPr>
          <p:cNvPr id="65" name="Oval 64">
            <a:extLst>
              <a:ext uri="{FF2B5EF4-FFF2-40B4-BE49-F238E27FC236}">
                <a16:creationId xmlns:a16="http://schemas.microsoft.com/office/drawing/2014/main" id="{D99A0B82-0CDD-B2F7-75DB-DC13FF4D653F}"/>
              </a:ext>
            </a:extLst>
          </p:cNvPr>
          <p:cNvSpPr/>
          <p:nvPr/>
        </p:nvSpPr>
        <p:spPr>
          <a:xfrm>
            <a:off x="8405654" y="2919755"/>
            <a:ext cx="436113" cy="436113"/>
          </a:xfrm>
          <a:prstGeom prst="ellipse">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US" sz="800" dirty="0">
              <a:solidFill>
                <a:prstClr val="white"/>
              </a:solidFill>
              <a:latin typeface="Avenir Book" panose="02000503020000020003" pitchFamily="2" charset="0"/>
            </a:endParaRPr>
          </a:p>
        </p:txBody>
      </p:sp>
      <p:sp>
        <p:nvSpPr>
          <p:cNvPr id="66" name="Oval 65">
            <a:extLst>
              <a:ext uri="{FF2B5EF4-FFF2-40B4-BE49-F238E27FC236}">
                <a16:creationId xmlns:a16="http://schemas.microsoft.com/office/drawing/2014/main" id="{C7E39C4A-F2C8-C1EE-F448-499FFE473752}"/>
              </a:ext>
            </a:extLst>
          </p:cNvPr>
          <p:cNvSpPr/>
          <p:nvPr/>
        </p:nvSpPr>
        <p:spPr>
          <a:xfrm>
            <a:off x="8405654" y="3589190"/>
            <a:ext cx="436113" cy="436113"/>
          </a:xfrm>
          <a:prstGeom prst="ellipse">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US" sz="800" dirty="0">
              <a:solidFill>
                <a:prstClr val="white"/>
              </a:solidFill>
              <a:latin typeface="Avenir Book" panose="02000503020000020003" pitchFamily="2" charset="0"/>
            </a:endParaRPr>
          </a:p>
        </p:txBody>
      </p:sp>
      <p:sp>
        <p:nvSpPr>
          <p:cNvPr id="67" name="Oval 66">
            <a:extLst>
              <a:ext uri="{FF2B5EF4-FFF2-40B4-BE49-F238E27FC236}">
                <a16:creationId xmlns:a16="http://schemas.microsoft.com/office/drawing/2014/main" id="{9F584DBB-131B-2AD2-E65A-39A13B3CC3E0}"/>
              </a:ext>
            </a:extLst>
          </p:cNvPr>
          <p:cNvSpPr/>
          <p:nvPr/>
        </p:nvSpPr>
        <p:spPr>
          <a:xfrm>
            <a:off x="8405654" y="4258625"/>
            <a:ext cx="436113" cy="436113"/>
          </a:xfrm>
          <a:prstGeom prst="ellipse">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endParaRPr>
          </a:p>
        </p:txBody>
      </p:sp>
      <p:sp>
        <p:nvSpPr>
          <p:cNvPr id="68" name="Oval 67">
            <a:extLst>
              <a:ext uri="{FF2B5EF4-FFF2-40B4-BE49-F238E27FC236}">
                <a16:creationId xmlns:a16="http://schemas.microsoft.com/office/drawing/2014/main" id="{199F6A25-EECF-B0AA-CE33-B1E37ED89552}"/>
              </a:ext>
            </a:extLst>
          </p:cNvPr>
          <p:cNvSpPr/>
          <p:nvPr/>
        </p:nvSpPr>
        <p:spPr>
          <a:xfrm>
            <a:off x="8405654" y="4928060"/>
            <a:ext cx="436113" cy="436113"/>
          </a:xfrm>
          <a:prstGeom prst="ellipse">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endParaRPr>
          </a:p>
        </p:txBody>
      </p:sp>
      <p:sp>
        <p:nvSpPr>
          <p:cNvPr id="69" name="Oval 68">
            <a:extLst>
              <a:ext uri="{FF2B5EF4-FFF2-40B4-BE49-F238E27FC236}">
                <a16:creationId xmlns:a16="http://schemas.microsoft.com/office/drawing/2014/main" id="{80A02266-8984-CFCC-6E44-B12A4E1CCEF4}"/>
              </a:ext>
            </a:extLst>
          </p:cNvPr>
          <p:cNvSpPr/>
          <p:nvPr/>
        </p:nvSpPr>
        <p:spPr>
          <a:xfrm>
            <a:off x="8405654" y="5597495"/>
            <a:ext cx="436113" cy="436113"/>
          </a:xfrm>
          <a:prstGeom prst="ellipse">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endParaRPr>
          </a:p>
        </p:txBody>
      </p:sp>
      <p:sp>
        <p:nvSpPr>
          <p:cNvPr id="71" name="Oval 70">
            <a:extLst>
              <a:ext uri="{FF2B5EF4-FFF2-40B4-BE49-F238E27FC236}">
                <a16:creationId xmlns:a16="http://schemas.microsoft.com/office/drawing/2014/main" id="{54B071B3-8304-A728-19D7-F6C697F08FAC}"/>
              </a:ext>
            </a:extLst>
          </p:cNvPr>
          <p:cNvSpPr/>
          <p:nvPr/>
        </p:nvSpPr>
        <p:spPr>
          <a:xfrm>
            <a:off x="9056117" y="2919755"/>
            <a:ext cx="436113" cy="436113"/>
          </a:xfrm>
          <a:prstGeom prst="ellipse">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endParaRPr>
          </a:p>
        </p:txBody>
      </p:sp>
      <p:sp>
        <p:nvSpPr>
          <p:cNvPr id="72" name="Oval 71">
            <a:extLst>
              <a:ext uri="{FF2B5EF4-FFF2-40B4-BE49-F238E27FC236}">
                <a16:creationId xmlns:a16="http://schemas.microsoft.com/office/drawing/2014/main" id="{DBBFC620-9CE3-35BE-947D-DCDECA72DE11}"/>
              </a:ext>
            </a:extLst>
          </p:cNvPr>
          <p:cNvSpPr/>
          <p:nvPr/>
        </p:nvSpPr>
        <p:spPr>
          <a:xfrm>
            <a:off x="9056117" y="3589190"/>
            <a:ext cx="436113" cy="436113"/>
          </a:xfrm>
          <a:prstGeom prst="ellipse">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endParaRPr>
          </a:p>
        </p:txBody>
      </p:sp>
      <p:sp>
        <p:nvSpPr>
          <p:cNvPr id="73" name="Oval 72">
            <a:extLst>
              <a:ext uri="{FF2B5EF4-FFF2-40B4-BE49-F238E27FC236}">
                <a16:creationId xmlns:a16="http://schemas.microsoft.com/office/drawing/2014/main" id="{47A816D7-2ED7-92B8-E0D1-211B5A618F70}"/>
              </a:ext>
            </a:extLst>
          </p:cNvPr>
          <p:cNvSpPr/>
          <p:nvPr/>
        </p:nvSpPr>
        <p:spPr>
          <a:xfrm>
            <a:off x="9056117" y="4258625"/>
            <a:ext cx="436113" cy="436113"/>
          </a:xfrm>
          <a:prstGeom prst="ellipse">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endParaRPr>
          </a:p>
        </p:txBody>
      </p:sp>
      <p:sp>
        <p:nvSpPr>
          <p:cNvPr id="74" name="Oval 73">
            <a:extLst>
              <a:ext uri="{FF2B5EF4-FFF2-40B4-BE49-F238E27FC236}">
                <a16:creationId xmlns:a16="http://schemas.microsoft.com/office/drawing/2014/main" id="{4B073496-6A02-F3DF-FD4D-55FF70079BA8}"/>
              </a:ext>
            </a:extLst>
          </p:cNvPr>
          <p:cNvSpPr/>
          <p:nvPr/>
        </p:nvSpPr>
        <p:spPr>
          <a:xfrm>
            <a:off x="9056117" y="4928060"/>
            <a:ext cx="436113" cy="436113"/>
          </a:xfrm>
          <a:prstGeom prst="ellipse">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endParaRPr>
          </a:p>
        </p:txBody>
      </p:sp>
      <p:sp>
        <p:nvSpPr>
          <p:cNvPr id="75" name="Oval 74">
            <a:extLst>
              <a:ext uri="{FF2B5EF4-FFF2-40B4-BE49-F238E27FC236}">
                <a16:creationId xmlns:a16="http://schemas.microsoft.com/office/drawing/2014/main" id="{62CC7A0A-F622-CAE1-7569-06D9FA919EBC}"/>
              </a:ext>
            </a:extLst>
          </p:cNvPr>
          <p:cNvSpPr/>
          <p:nvPr/>
        </p:nvSpPr>
        <p:spPr>
          <a:xfrm>
            <a:off x="9056117" y="5597495"/>
            <a:ext cx="436113" cy="436113"/>
          </a:xfrm>
          <a:prstGeom prst="ellipse">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endParaRPr>
          </a:p>
        </p:txBody>
      </p:sp>
      <p:sp>
        <p:nvSpPr>
          <p:cNvPr id="77" name="Oval 76">
            <a:extLst>
              <a:ext uri="{FF2B5EF4-FFF2-40B4-BE49-F238E27FC236}">
                <a16:creationId xmlns:a16="http://schemas.microsoft.com/office/drawing/2014/main" id="{A4A94063-0E10-1742-1D85-3D27D33CBF42}"/>
              </a:ext>
            </a:extLst>
          </p:cNvPr>
          <p:cNvSpPr/>
          <p:nvPr/>
        </p:nvSpPr>
        <p:spPr>
          <a:xfrm>
            <a:off x="9706580" y="2919755"/>
            <a:ext cx="436113" cy="436113"/>
          </a:xfrm>
          <a:prstGeom prst="ellipse">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endParaRPr>
          </a:p>
        </p:txBody>
      </p:sp>
      <p:sp>
        <p:nvSpPr>
          <p:cNvPr id="78" name="Oval 77">
            <a:extLst>
              <a:ext uri="{FF2B5EF4-FFF2-40B4-BE49-F238E27FC236}">
                <a16:creationId xmlns:a16="http://schemas.microsoft.com/office/drawing/2014/main" id="{2E4C3D3E-110F-A24F-6127-66711BEB8648}"/>
              </a:ext>
            </a:extLst>
          </p:cNvPr>
          <p:cNvSpPr/>
          <p:nvPr/>
        </p:nvSpPr>
        <p:spPr>
          <a:xfrm>
            <a:off x="9706580" y="3589190"/>
            <a:ext cx="436113" cy="436113"/>
          </a:xfrm>
          <a:prstGeom prst="ellipse">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endParaRPr>
          </a:p>
        </p:txBody>
      </p:sp>
      <p:sp>
        <p:nvSpPr>
          <p:cNvPr id="79" name="Oval 78">
            <a:extLst>
              <a:ext uri="{FF2B5EF4-FFF2-40B4-BE49-F238E27FC236}">
                <a16:creationId xmlns:a16="http://schemas.microsoft.com/office/drawing/2014/main" id="{0577DD26-69BF-99BC-3475-ADC40F42DF47}"/>
              </a:ext>
            </a:extLst>
          </p:cNvPr>
          <p:cNvSpPr/>
          <p:nvPr/>
        </p:nvSpPr>
        <p:spPr>
          <a:xfrm>
            <a:off x="9706580" y="4258625"/>
            <a:ext cx="436113" cy="436113"/>
          </a:xfrm>
          <a:prstGeom prst="ellipse">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endParaRPr>
          </a:p>
        </p:txBody>
      </p:sp>
      <p:sp>
        <p:nvSpPr>
          <p:cNvPr id="80" name="Oval 79">
            <a:extLst>
              <a:ext uri="{FF2B5EF4-FFF2-40B4-BE49-F238E27FC236}">
                <a16:creationId xmlns:a16="http://schemas.microsoft.com/office/drawing/2014/main" id="{8CEC0E50-A4B3-A1F9-9294-8F0598E5C198}"/>
              </a:ext>
            </a:extLst>
          </p:cNvPr>
          <p:cNvSpPr/>
          <p:nvPr/>
        </p:nvSpPr>
        <p:spPr>
          <a:xfrm>
            <a:off x="9706580" y="4928060"/>
            <a:ext cx="436113" cy="436113"/>
          </a:xfrm>
          <a:prstGeom prst="ellipse">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endParaRPr>
          </a:p>
        </p:txBody>
      </p:sp>
      <p:sp>
        <p:nvSpPr>
          <p:cNvPr id="81" name="Oval 80">
            <a:extLst>
              <a:ext uri="{FF2B5EF4-FFF2-40B4-BE49-F238E27FC236}">
                <a16:creationId xmlns:a16="http://schemas.microsoft.com/office/drawing/2014/main" id="{BEEDAA08-F4FF-289D-9523-14BB14BA454C}"/>
              </a:ext>
            </a:extLst>
          </p:cNvPr>
          <p:cNvSpPr/>
          <p:nvPr/>
        </p:nvSpPr>
        <p:spPr>
          <a:xfrm>
            <a:off x="9706580" y="5597495"/>
            <a:ext cx="436113" cy="436113"/>
          </a:xfrm>
          <a:prstGeom prst="ellipse">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endParaRPr>
          </a:p>
        </p:txBody>
      </p:sp>
      <p:sp>
        <p:nvSpPr>
          <p:cNvPr id="83" name="Oval 82">
            <a:extLst>
              <a:ext uri="{FF2B5EF4-FFF2-40B4-BE49-F238E27FC236}">
                <a16:creationId xmlns:a16="http://schemas.microsoft.com/office/drawing/2014/main" id="{7828E919-7965-0A7D-9D66-68662206A447}"/>
              </a:ext>
            </a:extLst>
          </p:cNvPr>
          <p:cNvSpPr/>
          <p:nvPr/>
        </p:nvSpPr>
        <p:spPr>
          <a:xfrm>
            <a:off x="10357043" y="2919755"/>
            <a:ext cx="436113" cy="436113"/>
          </a:xfrm>
          <a:prstGeom prst="ellipse">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endParaRPr>
          </a:p>
        </p:txBody>
      </p:sp>
      <p:sp>
        <p:nvSpPr>
          <p:cNvPr id="84" name="Oval 83">
            <a:extLst>
              <a:ext uri="{FF2B5EF4-FFF2-40B4-BE49-F238E27FC236}">
                <a16:creationId xmlns:a16="http://schemas.microsoft.com/office/drawing/2014/main" id="{01C90451-0A66-062B-D6D2-B764FBC18047}"/>
              </a:ext>
            </a:extLst>
          </p:cNvPr>
          <p:cNvSpPr/>
          <p:nvPr/>
        </p:nvSpPr>
        <p:spPr>
          <a:xfrm>
            <a:off x="10357043" y="3589190"/>
            <a:ext cx="436113" cy="436113"/>
          </a:xfrm>
          <a:prstGeom prst="ellipse">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endParaRPr>
          </a:p>
        </p:txBody>
      </p:sp>
      <p:sp>
        <p:nvSpPr>
          <p:cNvPr id="85" name="Oval 84">
            <a:extLst>
              <a:ext uri="{FF2B5EF4-FFF2-40B4-BE49-F238E27FC236}">
                <a16:creationId xmlns:a16="http://schemas.microsoft.com/office/drawing/2014/main" id="{AE94D57C-02C4-C44B-6738-770EA7B40D0E}"/>
              </a:ext>
            </a:extLst>
          </p:cNvPr>
          <p:cNvSpPr/>
          <p:nvPr/>
        </p:nvSpPr>
        <p:spPr>
          <a:xfrm>
            <a:off x="10357043" y="4258625"/>
            <a:ext cx="436113" cy="436113"/>
          </a:xfrm>
          <a:prstGeom prst="ellipse">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endParaRPr>
          </a:p>
        </p:txBody>
      </p:sp>
      <p:sp>
        <p:nvSpPr>
          <p:cNvPr id="86" name="Oval 85">
            <a:extLst>
              <a:ext uri="{FF2B5EF4-FFF2-40B4-BE49-F238E27FC236}">
                <a16:creationId xmlns:a16="http://schemas.microsoft.com/office/drawing/2014/main" id="{0787F713-44D6-911A-6393-40DC15ACD7BD}"/>
              </a:ext>
            </a:extLst>
          </p:cNvPr>
          <p:cNvSpPr/>
          <p:nvPr/>
        </p:nvSpPr>
        <p:spPr>
          <a:xfrm>
            <a:off x="10357043" y="4928060"/>
            <a:ext cx="436113" cy="436113"/>
          </a:xfrm>
          <a:prstGeom prst="ellipse">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endParaRPr>
          </a:p>
        </p:txBody>
      </p:sp>
      <p:sp>
        <p:nvSpPr>
          <p:cNvPr id="87" name="Oval 86">
            <a:extLst>
              <a:ext uri="{FF2B5EF4-FFF2-40B4-BE49-F238E27FC236}">
                <a16:creationId xmlns:a16="http://schemas.microsoft.com/office/drawing/2014/main" id="{620D95A4-004F-0B15-D9E2-A31AD33CCF1E}"/>
              </a:ext>
            </a:extLst>
          </p:cNvPr>
          <p:cNvSpPr/>
          <p:nvPr/>
        </p:nvSpPr>
        <p:spPr>
          <a:xfrm>
            <a:off x="10357043" y="5597495"/>
            <a:ext cx="436113" cy="436113"/>
          </a:xfrm>
          <a:prstGeom prst="ellipse">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endParaRPr>
          </a:p>
        </p:txBody>
      </p:sp>
      <p:sp>
        <p:nvSpPr>
          <p:cNvPr id="89" name="Oval 88">
            <a:extLst>
              <a:ext uri="{FF2B5EF4-FFF2-40B4-BE49-F238E27FC236}">
                <a16:creationId xmlns:a16="http://schemas.microsoft.com/office/drawing/2014/main" id="{961629B5-1DF4-AF08-FC7E-025634705AA1}"/>
              </a:ext>
            </a:extLst>
          </p:cNvPr>
          <p:cNvSpPr/>
          <p:nvPr/>
        </p:nvSpPr>
        <p:spPr>
          <a:xfrm>
            <a:off x="11007508" y="2919755"/>
            <a:ext cx="436113" cy="436113"/>
          </a:xfrm>
          <a:prstGeom prst="ellipse">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endParaRPr>
          </a:p>
        </p:txBody>
      </p:sp>
      <p:sp>
        <p:nvSpPr>
          <p:cNvPr id="90" name="Oval 89">
            <a:extLst>
              <a:ext uri="{FF2B5EF4-FFF2-40B4-BE49-F238E27FC236}">
                <a16:creationId xmlns:a16="http://schemas.microsoft.com/office/drawing/2014/main" id="{88FDB09D-D833-A015-8150-64CF96D1A7F0}"/>
              </a:ext>
            </a:extLst>
          </p:cNvPr>
          <p:cNvSpPr/>
          <p:nvPr/>
        </p:nvSpPr>
        <p:spPr>
          <a:xfrm>
            <a:off x="11007508" y="3589190"/>
            <a:ext cx="436113" cy="436113"/>
          </a:xfrm>
          <a:prstGeom prst="ellipse">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endParaRPr>
          </a:p>
        </p:txBody>
      </p:sp>
      <p:sp>
        <p:nvSpPr>
          <p:cNvPr id="91" name="Oval 90">
            <a:extLst>
              <a:ext uri="{FF2B5EF4-FFF2-40B4-BE49-F238E27FC236}">
                <a16:creationId xmlns:a16="http://schemas.microsoft.com/office/drawing/2014/main" id="{1C1C90FF-4139-2073-CE05-0E4364E7E849}"/>
              </a:ext>
            </a:extLst>
          </p:cNvPr>
          <p:cNvSpPr/>
          <p:nvPr/>
        </p:nvSpPr>
        <p:spPr>
          <a:xfrm>
            <a:off x="11007508" y="4258625"/>
            <a:ext cx="436113" cy="436113"/>
          </a:xfrm>
          <a:prstGeom prst="ellipse">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endParaRPr>
          </a:p>
        </p:txBody>
      </p:sp>
      <p:sp>
        <p:nvSpPr>
          <p:cNvPr id="92" name="Oval 91">
            <a:extLst>
              <a:ext uri="{FF2B5EF4-FFF2-40B4-BE49-F238E27FC236}">
                <a16:creationId xmlns:a16="http://schemas.microsoft.com/office/drawing/2014/main" id="{710DA1E3-1E5B-7D72-C287-DB6BEF84A384}"/>
              </a:ext>
            </a:extLst>
          </p:cNvPr>
          <p:cNvSpPr/>
          <p:nvPr/>
        </p:nvSpPr>
        <p:spPr>
          <a:xfrm>
            <a:off x="11007508" y="4928060"/>
            <a:ext cx="436113" cy="436113"/>
          </a:xfrm>
          <a:prstGeom prst="ellipse">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endParaRPr>
          </a:p>
        </p:txBody>
      </p:sp>
      <p:sp>
        <p:nvSpPr>
          <p:cNvPr id="93" name="Oval 92">
            <a:extLst>
              <a:ext uri="{FF2B5EF4-FFF2-40B4-BE49-F238E27FC236}">
                <a16:creationId xmlns:a16="http://schemas.microsoft.com/office/drawing/2014/main" id="{DBF4462D-AD1C-30D1-7446-953CCAA9F4FD}"/>
              </a:ext>
            </a:extLst>
          </p:cNvPr>
          <p:cNvSpPr/>
          <p:nvPr/>
        </p:nvSpPr>
        <p:spPr>
          <a:xfrm>
            <a:off x="11007508" y="5597495"/>
            <a:ext cx="436113" cy="436113"/>
          </a:xfrm>
          <a:prstGeom prst="ellipse">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white"/>
              </a:solidFill>
              <a:effectLst/>
              <a:uLnTx/>
              <a:uFillTx/>
              <a:latin typeface="Avenir Book" panose="02000503020000020003" pitchFamily="2" charset="0"/>
              <a:ea typeface="+mn-ea"/>
              <a:cs typeface="+mn-cs"/>
            </a:endParaRPr>
          </a:p>
        </p:txBody>
      </p:sp>
      <p:sp>
        <p:nvSpPr>
          <p:cNvPr id="94" name="TextBox 93">
            <a:extLst>
              <a:ext uri="{FF2B5EF4-FFF2-40B4-BE49-F238E27FC236}">
                <a16:creationId xmlns:a16="http://schemas.microsoft.com/office/drawing/2014/main" id="{62F4C5BC-D544-1F9E-95C3-8B6336C284FB}"/>
              </a:ext>
            </a:extLst>
          </p:cNvPr>
          <p:cNvSpPr txBox="1"/>
          <p:nvPr/>
        </p:nvSpPr>
        <p:spPr>
          <a:xfrm>
            <a:off x="1029203" y="1343405"/>
            <a:ext cx="819344" cy="400110"/>
          </a:xfrm>
          <a:prstGeom prst="rect">
            <a:avLst/>
          </a:prstGeom>
          <a:noFill/>
        </p:spPr>
        <p:txBody>
          <a:bodyPr wrap="square" rtlCol="0">
            <a:spAutoFit/>
          </a:bodyPr>
          <a:lstStyle/>
          <a:p>
            <a:pPr algn="ctr"/>
            <a:r>
              <a:rPr lang="en-US" sz="2000" dirty="0">
                <a:solidFill>
                  <a:schemeClr val="bg1"/>
                </a:solidFill>
                <a:latin typeface="Avenir Medium" panose="02000503020000020003" pitchFamily="2" charset="0"/>
              </a:rPr>
              <a:t>78%</a:t>
            </a:r>
          </a:p>
        </p:txBody>
      </p:sp>
      <p:sp>
        <p:nvSpPr>
          <p:cNvPr id="96" name="Donut 95">
            <a:extLst>
              <a:ext uri="{FF2B5EF4-FFF2-40B4-BE49-F238E27FC236}">
                <a16:creationId xmlns:a16="http://schemas.microsoft.com/office/drawing/2014/main" id="{9749ED7D-4DE3-0481-C584-3E362D484090}"/>
              </a:ext>
            </a:extLst>
          </p:cNvPr>
          <p:cNvSpPr/>
          <p:nvPr/>
        </p:nvSpPr>
        <p:spPr>
          <a:xfrm>
            <a:off x="922120" y="1017610"/>
            <a:ext cx="972188" cy="972188"/>
          </a:xfrm>
          <a:prstGeom prst="donut">
            <a:avLst>
              <a:gd name="adj" fmla="val 7655"/>
            </a:avLst>
          </a:prstGeom>
          <a:solidFill>
            <a:srgbClr val="265E84">
              <a:alpha val="40000"/>
            </a:srgb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US" sz="800">
              <a:solidFill>
                <a:prstClr val="white"/>
              </a:solidFill>
              <a:latin typeface="Avenir Book" panose="02000503020000020003" pitchFamily="2" charset="0"/>
            </a:endParaRPr>
          </a:p>
        </p:txBody>
      </p:sp>
      <p:sp>
        <p:nvSpPr>
          <p:cNvPr id="97" name="Block Arc 96">
            <a:extLst>
              <a:ext uri="{FF2B5EF4-FFF2-40B4-BE49-F238E27FC236}">
                <a16:creationId xmlns:a16="http://schemas.microsoft.com/office/drawing/2014/main" id="{B40F212E-542B-B5C0-0A1C-74C1A17801E5}"/>
              </a:ext>
            </a:extLst>
          </p:cNvPr>
          <p:cNvSpPr/>
          <p:nvPr/>
        </p:nvSpPr>
        <p:spPr>
          <a:xfrm>
            <a:off x="922119" y="1017609"/>
            <a:ext cx="972189" cy="972189"/>
          </a:xfrm>
          <a:prstGeom prst="blockArc">
            <a:avLst>
              <a:gd name="adj1" fmla="val 16203921"/>
              <a:gd name="adj2" fmla="val 10639780"/>
              <a:gd name="adj3" fmla="val 755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8" name="TextBox 97">
            <a:extLst>
              <a:ext uri="{FF2B5EF4-FFF2-40B4-BE49-F238E27FC236}">
                <a16:creationId xmlns:a16="http://schemas.microsoft.com/office/drawing/2014/main" id="{9657635E-F371-353C-C34B-B0FA4D6A641A}"/>
              </a:ext>
            </a:extLst>
          </p:cNvPr>
          <p:cNvSpPr txBox="1"/>
          <p:nvPr/>
        </p:nvSpPr>
        <p:spPr>
          <a:xfrm>
            <a:off x="922119" y="2901503"/>
            <a:ext cx="3581399" cy="876266"/>
          </a:xfrm>
          <a:prstGeom prst="rect">
            <a:avLst/>
          </a:prstGeom>
          <a:noFill/>
        </p:spPr>
        <p:txBody>
          <a:bodyPr wrap="square" lIns="0" tIns="0" rIns="0" bIns="0" rtlCol="0">
            <a:spAutoFit/>
          </a:bodyPr>
          <a:lstStyle/>
          <a:p>
            <a:pPr>
              <a:lnSpc>
                <a:spcPct val="120000"/>
              </a:lnSpc>
            </a:pPr>
            <a:r>
              <a:rPr lang="en-US" sz="1200" dirty="0">
                <a:solidFill>
                  <a:schemeClr val="bg1"/>
                </a:solidFill>
                <a:latin typeface="Avenir Book" panose="02000503020000020003" pitchFamily="2" charset="0"/>
              </a:rPr>
              <a:t>People favor a grand gesture of a communal experience above all else. Design is a huge part of facilitating those experiences.</a:t>
            </a:r>
          </a:p>
          <a:p>
            <a:pPr>
              <a:lnSpc>
                <a:spcPct val="120000"/>
              </a:lnSpc>
            </a:pPr>
            <a:endParaRPr lang="en-US" sz="1200" dirty="0">
              <a:solidFill>
                <a:schemeClr val="bg1"/>
              </a:solidFill>
              <a:latin typeface="Avenir Book" panose="02000503020000020003" pitchFamily="2" charset="0"/>
            </a:endParaRPr>
          </a:p>
        </p:txBody>
      </p:sp>
      <p:sp>
        <p:nvSpPr>
          <p:cNvPr id="99" name="TextBox 98">
            <a:extLst>
              <a:ext uri="{FF2B5EF4-FFF2-40B4-BE49-F238E27FC236}">
                <a16:creationId xmlns:a16="http://schemas.microsoft.com/office/drawing/2014/main" id="{790C2261-6347-A405-5985-B5719647A1D5}"/>
              </a:ext>
            </a:extLst>
          </p:cNvPr>
          <p:cNvSpPr txBox="1"/>
          <p:nvPr/>
        </p:nvSpPr>
        <p:spPr>
          <a:xfrm>
            <a:off x="922119" y="2322938"/>
            <a:ext cx="3187620" cy="307777"/>
          </a:xfrm>
          <a:prstGeom prst="rect">
            <a:avLst/>
          </a:prstGeom>
          <a:noFill/>
        </p:spPr>
        <p:txBody>
          <a:bodyPr wrap="square" lIns="0" tIns="0" rIns="0" bIns="0" rtlCol="0">
            <a:spAutoFit/>
          </a:bodyPr>
          <a:lstStyle/>
          <a:p>
            <a:r>
              <a:rPr lang="en-US" sz="2000" dirty="0">
                <a:solidFill>
                  <a:schemeClr val="bg1"/>
                </a:solidFill>
                <a:latin typeface="Avenir Medium" panose="02000503020000020003" pitchFamily="2" charset="0"/>
              </a:rPr>
              <a:t>KEY INSIGHT DETAIL</a:t>
            </a:r>
          </a:p>
        </p:txBody>
      </p:sp>
    </p:spTree>
    <p:extLst>
      <p:ext uri="{BB962C8B-B14F-4D97-AF65-F5344CB8AC3E}">
        <p14:creationId xmlns:p14="http://schemas.microsoft.com/office/powerpoint/2010/main" val="12540420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E56A6-D4F6-31ED-DA02-9065064CB9F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86DF004-A49E-6B81-531D-DE2889920BD3}"/>
              </a:ext>
            </a:extLst>
          </p:cNvPr>
          <p:cNvPicPr>
            <a:picLocks noChangeAspect="1"/>
          </p:cNvPicPr>
          <p:nvPr/>
        </p:nvPicPr>
        <p:blipFill>
          <a:blip r:embed="rId3"/>
          <a:srcRect/>
          <a:stretch/>
        </p:blipFill>
        <p:spPr>
          <a:xfrm>
            <a:off x="3422975" y="539687"/>
            <a:ext cx="6485389" cy="5778624"/>
          </a:xfrm>
          <a:prstGeom prst="rect">
            <a:avLst/>
          </a:prstGeom>
        </p:spPr>
      </p:pic>
      <p:sp>
        <p:nvSpPr>
          <p:cNvPr id="2" name="Title 1">
            <a:extLst>
              <a:ext uri="{FF2B5EF4-FFF2-40B4-BE49-F238E27FC236}">
                <a16:creationId xmlns:a16="http://schemas.microsoft.com/office/drawing/2014/main" id="{58E5117C-122E-7E51-0743-A8C66E47A6BA}"/>
              </a:ext>
            </a:extLst>
          </p:cNvPr>
          <p:cNvSpPr>
            <a:spLocks noGrp="1"/>
          </p:cNvSpPr>
          <p:nvPr>
            <p:ph type="ctrTitle" idx="4294967295"/>
          </p:nvPr>
        </p:nvSpPr>
        <p:spPr>
          <a:xfrm>
            <a:off x="0" y="1122363"/>
            <a:ext cx="9144000" cy="2387600"/>
          </a:xfrm>
        </p:spPr>
        <p:txBody>
          <a:bodyPr/>
          <a:lstStyle/>
          <a:p>
            <a:r>
              <a:rPr lang="en-US" dirty="0"/>
              <a:t> </a:t>
            </a:r>
          </a:p>
        </p:txBody>
      </p:sp>
      <p:grpSp>
        <p:nvGrpSpPr>
          <p:cNvPr id="26" name="Group 25">
            <a:extLst>
              <a:ext uri="{FF2B5EF4-FFF2-40B4-BE49-F238E27FC236}">
                <a16:creationId xmlns:a16="http://schemas.microsoft.com/office/drawing/2014/main" id="{53FF4D99-8EE9-BAFC-5411-FF88BC37C95B}"/>
              </a:ext>
            </a:extLst>
          </p:cNvPr>
          <p:cNvGrpSpPr/>
          <p:nvPr/>
        </p:nvGrpSpPr>
        <p:grpSpPr>
          <a:xfrm>
            <a:off x="2034936" y="3356719"/>
            <a:ext cx="2383027" cy="1416677"/>
            <a:chOff x="7680613" y="1962874"/>
            <a:chExt cx="2383027" cy="1416677"/>
          </a:xfrm>
        </p:grpSpPr>
        <p:sp>
          <p:nvSpPr>
            <p:cNvPr id="27" name="TextBox 26">
              <a:extLst>
                <a:ext uri="{FF2B5EF4-FFF2-40B4-BE49-F238E27FC236}">
                  <a16:creationId xmlns:a16="http://schemas.microsoft.com/office/drawing/2014/main" id="{C8E4E6DE-2EE9-E25E-092E-103248F7854D}"/>
                </a:ext>
              </a:extLst>
            </p:cNvPr>
            <p:cNvSpPr txBox="1"/>
            <p:nvPr/>
          </p:nvSpPr>
          <p:spPr>
            <a:xfrm>
              <a:off x="7680613" y="2390819"/>
              <a:ext cx="2383027" cy="988732"/>
            </a:xfrm>
            <a:prstGeom prst="rect">
              <a:avLst/>
            </a:prstGeom>
            <a:noFill/>
          </p:spPr>
          <p:txBody>
            <a:bodyPr wrap="square" rtlCol="0">
              <a:spAutoFit/>
            </a:bodyPr>
            <a:lstStyle/>
            <a:p>
              <a:pPr>
                <a:lnSpc>
                  <a:spcPct val="150000"/>
                </a:lnSpc>
              </a:pPr>
              <a:r>
                <a:rPr lang="en-US" sz="1000" dirty="0">
                  <a:solidFill>
                    <a:schemeClr val="bg1"/>
                  </a:solidFill>
                  <a:latin typeface="Gotham Rounded Book" pitchFamily="2" charset="0"/>
                </a:rPr>
                <a:t>Defining the physical shape of these items being curated will help allow the focus to shift in the right direction for best practices.</a:t>
              </a:r>
            </a:p>
          </p:txBody>
        </p:sp>
        <p:cxnSp>
          <p:nvCxnSpPr>
            <p:cNvPr id="28" name="Straight Connector 27">
              <a:extLst>
                <a:ext uri="{FF2B5EF4-FFF2-40B4-BE49-F238E27FC236}">
                  <a16:creationId xmlns:a16="http://schemas.microsoft.com/office/drawing/2014/main" id="{3E795BB0-156D-BFBD-1AF3-2A4BDAD14215}"/>
                </a:ext>
              </a:extLst>
            </p:cNvPr>
            <p:cNvCxnSpPr>
              <a:cxnSpLocks/>
            </p:cNvCxnSpPr>
            <p:nvPr/>
          </p:nvCxnSpPr>
          <p:spPr>
            <a:xfrm>
              <a:off x="7777800" y="1962874"/>
              <a:ext cx="2176869" cy="0"/>
            </a:xfrm>
            <a:prstGeom prst="line">
              <a:avLst/>
            </a:prstGeom>
            <a:ln>
              <a:solidFill>
                <a:schemeClr val="bg1"/>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29" name="TextBox 28">
              <a:extLst>
                <a:ext uri="{FF2B5EF4-FFF2-40B4-BE49-F238E27FC236}">
                  <a16:creationId xmlns:a16="http://schemas.microsoft.com/office/drawing/2014/main" id="{39752D50-96F1-6A79-C4E8-1FB24869ED34}"/>
                </a:ext>
              </a:extLst>
            </p:cNvPr>
            <p:cNvSpPr txBox="1"/>
            <p:nvPr/>
          </p:nvSpPr>
          <p:spPr>
            <a:xfrm>
              <a:off x="7683912" y="2097342"/>
              <a:ext cx="2204142" cy="276999"/>
            </a:xfrm>
            <a:prstGeom prst="rect">
              <a:avLst/>
            </a:prstGeom>
            <a:noFill/>
          </p:spPr>
          <p:txBody>
            <a:bodyPr wrap="square" rtlCol="0">
              <a:spAutoFit/>
            </a:bodyPr>
            <a:lstStyle/>
            <a:p>
              <a:r>
                <a:rPr lang="en-US" sz="1200" dirty="0">
                  <a:solidFill>
                    <a:schemeClr val="bg1"/>
                  </a:solidFill>
                  <a:latin typeface="Avenir Medium" panose="02000503020000020003" pitchFamily="2" charset="0"/>
                </a:rPr>
                <a:t>Design Heuristics</a:t>
              </a:r>
            </a:p>
          </p:txBody>
        </p:sp>
      </p:grpSp>
      <p:sp>
        <p:nvSpPr>
          <p:cNvPr id="31" name="TextBox 30">
            <a:extLst>
              <a:ext uri="{FF2B5EF4-FFF2-40B4-BE49-F238E27FC236}">
                <a16:creationId xmlns:a16="http://schemas.microsoft.com/office/drawing/2014/main" id="{79E6CC64-32F3-F17F-EB1B-A8ADB4AE2FAB}"/>
              </a:ext>
            </a:extLst>
          </p:cNvPr>
          <p:cNvSpPr txBox="1"/>
          <p:nvPr/>
        </p:nvSpPr>
        <p:spPr>
          <a:xfrm>
            <a:off x="9218665" y="3693953"/>
            <a:ext cx="2250800" cy="757900"/>
          </a:xfrm>
          <a:prstGeom prst="rect">
            <a:avLst/>
          </a:prstGeom>
          <a:noFill/>
        </p:spPr>
        <p:txBody>
          <a:bodyPr wrap="square" rtlCol="0">
            <a:spAutoFit/>
          </a:bodyPr>
          <a:lstStyle/>
          <a:p>
            <a:pPr>
              <a:lnSpc>
                <a:spcPct val="150000"/>
              </a:lnSpc>
            </a:pPr>
            <a:r>
              <a:rPr lang="en-US" sz="1000" dirty="0">
                <a:solidFill>
                  <a:schemeClr val="bg1"/>
                </a:solidFill>
                <a:latin typeface="Avenir Book" panose="02000503020000020003" pitchFamily="2" charset="0"/>
              </a:rPr>
              <a:t>These goals help to uncover </a:t>
            </a:r>
          </a:p>
          <a:p>
            <a:pPr>
              <a:lnSpc>
                <a:spcPct val="150000"/>
              </a:lnSpc>
            </a:pPr>
            <a:r>
              <a:rPr lang="en-US" sz="1000" dirty="0">
                <a:solidFill>
                  <a:schemeClr val="bg1"/>
                </a:solidFill>
                <a:latin typeface="Avenir Book" panose="02000503020000020003" pitchFamily="2" charset="0"/>
              </a:rPr>
              <a:t>any unmet needs that ground decisions in evidence and truth.</a:t>
            </a:r>
          </a:p>
        </p:txBody>
      </p:sp>
      <p:sp>
        <p:nvSpPr>
          <p:cNvPr id="6" name="TextBox 5">
            <a:extLst>
              <a:ext uri="{FF2B5EF4-FFF2-40B4-BE49-F238E27FC236}">
                <a16:creationId xmlns:a16="http://schemas.microsoft.com/office/drawing/2014/main" id="{1F7B26A2-9709-CC0F-35DC-1D5A1CB0AD12}"/>
              </a:ext>
            </a:extLst>
          </p:cNvPr>
          <p:cNvSpPr txBox="1"/>
          <p:nvPr/>
        </p:nvSpPr>
        <p:spPr>
          <a:xfrm>
            <a:off x="4815739" y="4463977"/>
            <a:ext cx="1529915" cy="809452"/>
          </a:xfrm>
          <a:prstGeom prst="rect">
            <a:avLst/>
          </a:prstGeom>
          <a:noFill/>
        </p:spPr>
        <p:txBody>
          <a:bodyPr wrap="square" rtlCol="0">
            <a:spAutoFit/>
          </a:bodyPr>
          <a:lstStyle/>
          <a:p>
            <a:pPr algn="ctr">
              <a:lnSpc>
                <a:spcPct val="150000"/>
              </a:lnSpc>
            </a:pPr>
            <a:r>
              <a:rPr lang="en-US" sz="800" dirty="0">
                <a:solidFill>
                  <a:schemeClr val="bg1"/>
                </a:solidFill>
                <a:latin typeface="Avenir Book" panose="02000503020000020003" pitchFamily="2" charset="0"/>
              </a:rPr>
              <a:t>Usage analytics reveal patterns in navigation, performance and overall</a:t>
            </a:r>
          </a:p>
          <a:p>
            <a:pPr algn="ctr">
              <a:lnSpc>
                <a:spcPct val="150000"/>
              </a:lnSpc>
            </a:pPr>
            <a:r>
              <a:rPr lang="en-US" sz="800" dirty="0">
                <a:solidFill>
                  <a:schemeClr val="bg1"/>
                </a:solidFill>
                <a:latin typeface="Avenir Book" panose="02000503020000020003" pitchFamily="2" charset="0"/>
              </a:rPr>
              <a:t>engagement.</a:t>
            </a:r>
          </a:p>
        </p:txBody>
      </p:sp>
      <p:sp>
        <p:nvSpPr>
          <p:cNvPr id="7" name="TextBox 6">
            <a:extLst>
              <a:ext uri="{FF2B5EF4-FFF2-40B4-BE49-F238E27FC236}">
                <a16:creationId xmlns:a16="http://schemas.microsoft.com/office/drawing/2014/main" id="{AD27F88D-A87E-104D-9409-0E79FE262936}"/>
              </a:ext>
            </a:extLst>
          </p:cNvPr>
          <p:cNvSpPr txBox="1"/>
          <p:nvPr/>
        </p:nvSpPr>
        <p:spPr>
          <a:xfrm>
            <a:off x="6936361" y="4463977"/>
            <a:ext cx="1529915" cy="809452"/>
          </a:xfrm>
          <a:prstGeom prst="rect">
            <a:avLst/>
          </a:prstGeom>
          <a:noFill/>
        </p:spPr>
        <p:txBody>
          <a:bodyPr wrap="square" rtlCol="0">
            <a:spAutoFit/>
          </a:bodyPr>
          <a:lstStyle/>
          <a:p>
            <a:pPr algn="ctr">
              <a:lnSpc>
                <a:spcPct val="150000"/>
              </a:lnSpc>
            </a:pPr>
            <a:r>
              <a:rPr lang="en-US" sz="800" dirty="0">
                <a:solidFill>
                  <a:schemeClr val="bg1"/>
                </a:solidFill>
                <a:latin typeface="Avenir Book" panose="02000503020000020003" pitchFamily="2" charset="0"/>
              </a:rPr>
              <a:t>Data helps designers </a:t>
            </a:r>
          </a:p>
          <a:p>
            <a:pPr algn="ctr">
              <a:lnSpc>
                <a:spcPct val="150000"/>
              </a:lnSpc>
            </a:pPr>
            <a:r>
              <a:rPr lang="en-US" sz="800" dirty="0">
                <a:solidFill>
                  <a:schemeClr val="bg1"/>
                </a:solidFill>
                <a:latin typeface="Avenir Book" panose="02000503020000020003" pitchFamily="2" charset="0"/>
              </a:rPr>
              <a:t>strike the right balance between desirability </a:t>
            </a:r>
          </a:p>
          <a:p>
            <a:pPr algn="ctr">
              <a:lnSpc>
                <a:spcPct val="150000"/>
              </a:lnSpc>
            </a:pPr>
            <a:r>
              <a:rPr lang="en-US" sz="800" dirty="0">
                <a:solidFill>
                  <a:schemeClr val="bg1"/>
                </a:solidFill>
                <a:latin typeface="Avenir Book" panose="02000503020000020003" pitchFamily="2" charset="0"/>
              </a:rPr>
              <a:t>and usability.</a:t>
            </a:r>
          </a:p>
        </p:txBody>
      </p:sp>
      <p:sp>
        <p:nvSpPr>
          <p:cNvPr id="33" name="TextBox 32">
            <a:extLst>
              <a:ext uri="{FF2B5EF4-FFF2-40B4-BE49-F238E27FC236}">
                <a16:creationId xmlns:a16="http://schemas.microsoft.com/office/drawing/2014/main" id="{A674B6B9-F28B-5234-397E-3A10D3B7A87F}"/>
              </a:ext>
            </a:extLst>
          </p:cNvPr>
          <p:cNvSpPr txBox="1"/>
          <p:nvPr/>
        </p:nvSpPr>
        <p:spPr>
          <a:xfrm>
            <a:off x="5909387" y="2502421"/>
            <a:ext cx="1524715" cy="809452"/>
          </a:xfrm>
          <a:prstGeom prst="rect">
            <a:avLst/>
          </a:prstGeom>
          <a:noFill/>
        </p:spPr>
        <p:txBody>
          <a:bodyPr wrap="square" rtlCol="0">
            <a:spAutoFit/>
          </a:bodyPr>
          <a:lstStyle/>
          <a:p>
            <a:pPr algn="ctr">
              <a:lnSpc>
                <a:spcPct val="150000"/>
              </a:lnSpc>
            </a:pPr>
            <a:r>
              <a:rPr lang="en-US" sz="800" dirty="0">
                <a:solidFill>
                  <a:schemeClr val="bg1"/>
                </a:solidFill>
                <a:latin typeface="Avenir Book" panose="02000503020000020003" pitchFamily="2" charset="0"/>
              </a:rPr>
              <a:t>Designers incorporate</a:t>
            </a:r>
          </a:p>
          <a:p>
            <a:pPr algn="ctr">
              <a:lnSpc>
                <a:spcPct val="150000"/>
              </a:lnSpc>
            </a:pPr>
            <a:r>
              <a:rPr lang="en-US" sz="800" dirty="0">
                <a:solidFill>
                  <a:schemeClr val="bg1"/>
                </a:solidFill>
                <a:latin typeface="Avenir Book" panose="02000503020000020003" pitchFamily="2" charset="0"/>
              </a:rPr>
              <a:t>quantitative and qualitative insights for measurements </a:t>
            </a:r>
          </a:p>
          <a:p>
            <a:pPr algn="ctr">
              <a:lnSpc>
                <a:spcPct val="150000"/>
              </a:lnSpc>
            </a:pPr>
            <a:r>
              <a:rPr lang="en-US" sz="800" dirty="0">
                <a:solidFill>
                  <a:schemeClr val="bg1"/>
                </a:solidFill>
                <a:latin typeface="Avenir Book" panose="02000503020000020003" pitchFamily="2" charset="0"/>
              </a:rPr>
              <a:t>of growth.</a:t>
            </a:r>
          </a:p>
        </p:txBody>
      </p:sp>
      <p:grpSp>
        <p:nvGrpSpPr>
          <p:cNvPr id="35" name="Group 34">
            <a:extLst>
              <a:ext uri="{FF2B5EF4-FFF2-40B4-BE49-F238E27FC236}">
                <a16:creationId xmlns:a16="http://schemas.microsoft.com/office/drawing/2014/main" id="{4A349745-0EEB-895C-ACA9-E0745C48D58F}"/>
              </a:ext>
            </a:extLst>
          </p:cNvPr>
          <p:cNvGrpSpPr/>
          <p:nvPr/>
        </p:nvGrpSpPr>
        <p:grpSpPr>
          <a:xfrm>
            <a:off x="7769126" y="1171885"/>
            <a:ext cx="2455534" cy="1185845"/>
            <a:chOff x="7680614" y="1962874"/>
            <a:chExt cx="2455534" cy="1185845"/>
          </a:xfrm>
        </p:grpSpPr>
        <p:sp>
          <p:nvSpPr>
            <p:cNvPr id="36" name="TextBox 35">
              <a:extLst>
                <a:ext uri="{FF2B5EF4-FFF2-40B4-BE49-F238E27FC236}">
                  <a16:creationId xmlns:a16="http://schemas.microsoft.com/office/drawing/2014/main" id="{1BAA6D76-ADBD-CC88-2C9B-97374E0F6C9F}"/>
                </a:ext>
              </a:extLst>
            </p:cNvPr>
            <p:cNvSpPr txBox="1"/>
            <p:nvPr/>
          </p:nvSpPr>
          <p:spPr>
            <a:xfrm>
              <a:off x="7680614" y="2390819"/>
              <a:ext cx="2455534" cy="757900"/>
            </a:xfrm>
            <a:prstGeom prst="rect">
              <a:avLst/>
            </a:prstGeom>
            <a:noFill/>
          </p:spPr>
          <p:txBody>
            <a:bodyPr wrap="square" rtlCol="0">
              <a:spAutoFit/>
            </a:bodyPr>
            <a:lstStyle/>
            <a:p>
              <a:pPr>
                <a:lnSpc>
                  <a:spcPct val="150000"/>
                </a:lnSpc>
              </a:pPr>
              <a:r>
                <a:rPr lang="en-US" sz="1000" dirty="0">
                  <a:solidFill>
                    <a:schemeClr val="bg1"/>
                  </a:solidFill>
                  <a:latin typeface="Avenir Book" panose="02000503020000020003" pitchFamily="2" charset="0"/>
                </a:rPr>
                <a:t>Performance drivers are valued </a:t>
              </a:r>
            </a:p>
            <a:p>
              <a:pPr>
                <a:lnSpc>
                  <a:spcPct val="150000"/>
                </a:lnSpc>
              </a:pPr>
              <a:r>
                <a:rPr lang="en-US" sz="1000" dirty="0">
                  <a:solidFill>
                    <a:schemeClr val="bg1"/>
                  </a:solidFill>
                  <a:latin typeface="Avenir Book" panose="02000503020000020003" pitchFamily="2" charset="0"/>
                </a:rPr>
                <a:t>based on iterative testing for </a:t>
              </a:r>
            </a:p>
            <a:p>
              <a:pPr>
                <a:lnSpc>
                  <a:spcPct val="150000"/>
                </a:lnSpc>
              </a:pPr>
              <a:r>
                <a:rPr lang="en-US" sz="1000" dirty="0">
                  <a:solidFill>
                    <a:schemeClr val="bg1"/>
                  </a:solidFill>
                  <a:latin typeface="Avenir Book" panose="02000503020000020003" pitchFamily="2" charset="0"/>
                </a:rPr>
                <a:t>consumers worldwide.</a:t>
              </a:r>
            </a:p>
          </p:txBody>
        </p:sp>
        <p:cxnSp>
          <p:nvCxnSpPr>
            <p:cNvPr id="37" name="Straight Connector 36">
              <a:extLst>
                <a:ext uri="{FF2B5EF4-FFF2-40B4-BE49-F238E27FC236}">
                  <a16:creationId xmlns:a16="http://schemas.microsoft.com/office/drawing/2014/main" id="{5DF0D0CA-0F7B-A6D1-B692-264F63430B8B}"/>
                </a:ext>
              </a:extLst>
            </p:cNvPr>
            <p:cNvCxnSpPr>
              <a:cxnSpLocks/>
            </p:cNvCxnSpPr>
            <p:nvPr/>
          </p:nvCxnSpPr>
          <p:spPr>
            <a:xfrm>
              <a:off x="7777800" y="1962874"/>
              <a:ext cx="2176869" cy="0"/>
            </a:xfrm>
            <a:prstGeom prst="line">
              <a:avLst/>
            </a:prstGeom>
            <a:ln>
              <a:solidFill>
                <a:schemeClr val="bg1"/>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38" name="TextBox 37">
              <a:extLst>
                <a:ext uri="{FF2B5EF4-FFF2-40B4-BE49-F238E27FC236}">
                  <a16:creationId xmlns:a16="http://schemas.microsoft.com/office/drawing/2014/main" id="{952C0C4F-CD2A-AC63-A7C0-B27FC57DC8F9}"/>
                </a:ext>
              </a:extLst>
            </p:cNvPr>
            <p:cNvSpPr txBox="1"/>
            <p:nvPr/>
          </p:nvSpPr>
          <p:spPr>
            <a:xfrm>
              <a:off x="7683912" y="2097342"/>
              <a:ext cx="2204142" cy="276999"/>
            </a:xfrm>
            <a:prstGeom prst="rect">
              <a:avLst/>
            </a:prstGeom>
            <a:noFill/>
          </p:spPr>
          <p:txBody>
            <a:bodyPr wrap="square" rtlCol="0">
              <a:spAutoFit/>
            </a:bodyPr>
            <a:lstStyle/>
            <a:p>
              <a:r>
                <a:rPr lang="en-US" sz="1200" dirty="0">
                  <a:solidFill>
                    <a:schemeClr val="bg1"/>
                  </a:solidFill>
                  <a:latin typeface="Avenir Medium" panose="02000503020000020003" pitchFamily="2" charset="0"/>
                </a:rPr>
                <a:t>Consumer Insight</a:t>
              </a:r>
            </a:p>
          </p:txBody>
        </p:sp>
      </p:grpSp>
      <p:sp>
        <p:nvSpPr>
          <p:cNvPr id="39" name="TextBox 38">
            <a:extLst>
              <a:ext uri="{FF2B5EF4-FFF2-40B4-BE49-F238E27FC236}">
                <a16:creationId xmlns:a16="http://schemas.microsoft.com/office/drawing/2014/main" id="{C2864233-7BC1-7824-C26E-C82EDC12CAE5}"/>
              </a:ext>
            </a:extLst>
          </p:cNvPr>
          <p:cNvSpPr txBox="1"/>
          <p:nvPr/>
        </p:nvSpPr>
        <p:spPr>
          <a:xfrm>
            <a:off x="8913076" y="5540348"/>
            <a:ext cx="775919" cy="338554"/>
          </a:xfrm>
          <a:prstGeom prst="rect">
            <a:avLst/>
          </a:prstGeom>
          <a:noFill/>
        </p:spPr>
        <p:txBody>
          <a:bodyPr wrap="square" rtlCol="0">
            <a:spAutoFit/>
          </a:bodyPr>
          <a:lstStyle/>
          <a:p>
            <a:pPr algn="ctr"/>
            <a:r>
              <a:rPr lang="en-US" sz="1600" dirty="0">
                <a:solidFill>
                  <a:schemeClr val="bg1"/>
                </a:solidFill>
                <a:latin typeface="Avenir Book" panose="02000503020000020003" pitchFamily="2" charset="0"/>
              </a:rPr>
              <a:t>86%</a:t>
            </a:r>
          </a:p>
        </p:txBody>
      </p:sp>
      <p:sp>
        <p:nvSpPr>
          <p:cNvPr id="40" name="TextBox 39">
            <a:extLst>
              <a:ext uri="{FF2B5EF4-FFF2-40B4-BE49-F238E27FC236}">
                <a16:creationId xmlns:a16="http://schemas.microsoft.com/office/drawing/2014/main" id="{F76FC07E-0A6E-169E-8F57-5A5857D7E4DC}"/>
              </a:ext>
            </a:extLst>
          </p:cNvPr>
          <p:cNvSpPr txBox="1"/>
          <p:nvPr/>
        </p:nvSpPr>
        <p:spPr>
          <a:xfrm>
            <a:off x="3642044" y="5540348"/>
            <a:ext cx="775919" cy="338554"/>
          </a:xfrm>
          <a:prstGeom prst="rect">
            <a:avLst/>
          </a:prstGeom>
          <a:noFill/>
        </p:spPr>
        <p:txBody>
          <a:bodyPr wrap="square" rtlCol="0">
            <a:spAutoFit/>
          </a:bodyPr>
          <a:lstStyle/>
          <a:p>
            <a:pPr algn="ctr"/>
            <a:r>
              <a:rPr lang="en-US" sz="1600" dirty="0">
                <a:solidFill>
                  <a:schemeClr val="bg1"/>
                </a:solidFill>
                <a:latin typeface="Avenir Book" panose="02000503020000020003" pitchFamily="2" charset="0"/>
              </a:rPr>
              <a:t>50%</a:t>
            </a:r>
          </a:p>
        </p:txBody>
      </p:sp>
      <p:sp>
        <p:nvSpPr>
          <p:cNvPr id="41" name="TextBox 40">
            <a:extLst>
              <a:ext uri="{FF2B5EF4-FFF2-40B4-BE49-F238E27FC236}">
                <a16:creationId xmlns:a16="http://schemas.microsoft.com/office/drawing/2014/main" id="{1AB7A4F9-1382-8DC5-4058-08910FC88BA7}"/>
              </a:ext>
            </a:extLst>
          </p:cNvPr>
          <p:cNvSpPr txBox="1"/>
          <p:nvPr/>
        </p:nvSpPr>
        <p:spPr>
          <a:xfrm>
            <a:off x="6288074" y="971254"/>
            <a:ext cx="775919" cy="338554"/>
          </a:xfrm>
          <a:prstGeom prst="rect">
            <a:avLst/>
          </a:prstGeom>
          <a:noFill/>
        </p:spPr>
        <p:txBody>
          <a:bodyPr wrap="square" rtlCol="0">
            <a:spAutoFit/>
          </a:bodyPr>
          <a:lstStyle/>
          <a:p>
            <a:pPr algn="ctr"/>
            <a:r>
              <a:rPr lang="en-US" sz="1600" dirty="0">
                <a:solidFill>
                  <a:schemeClr val="bg1"/>
                </a:solidFill>
                <a:latin typeface="Avenir Book" panose="02000503020000020003" pitchFamily="2" charset="0"/>
              </a:rPr>
              <a:t>25%</a:t>
            </a:r>
          </a:p>
        </p:txBody>
      </p:sp>
      <p:pic>
        <p:nvPicPr>
          <p:cNvPr id="4" name="Picture 3">
            <a:extLst>
              <a:ext uri="{FF2B5EF4-FFF2-40B4-BE49-F238E27FC236}">
                <a16:creationId xmlns:a16="http://schemas.microsoft.com/office/drawing/2014/main" id="{A9546BBF-BE39-90ED-A977-141E406B8D88}"/>
              </a:ext>
            </a:extLst>
          </p:cNvPr>
          <p:cNvPicPr>
            <a:picLocks noChangeAspect="1"/>
          </p:cNvPicPr>
          <p:nvPr/>
        </p:nvPicPr>
        <p:blipFill>
          <a:blip r:embed="rId4"/>
          <a:srcRect/>
          <a:stretch/>
        </p:blipFill>
        <p:spPr>
          <a:xfrm>
            <a:off x="11484209" y="316699"/>
            <a:ext cx="295894" cy="233756"/>
          </a:xfrm>
          <a:prstGeom prst="rect">
            <a:avLst/>
          </a:prstGeom>
        </p:spPr>
      </p:pic>
      <p:sp>
        <p:nvSpPr>
          <p:cNvPr id="8" name="TextBox 7">
            <a:extLst>
              <a:ext uri="{FF2B5EF4-FFF2-40B4-BE49-F238E27FC236}">
                <a16:creationId xmlns:a16="http://schemas.microsoft.com/office/drawing/2014/main" id="{05A99560-2791-E86E-DAE6-5C7CA563C2FC}"/>
              </a:ext>
            </a:extLst>
          </p:cNvPr>
          <p:cNvSpPr txBox="1"/>
          <p:nvPr/>
        </p:nvSpPr>
        <p:spPr>
          <a:xfrm>
            <a:off x="401638" y="316699"/>
            <a:ext cx="4743427" cy="615553"/>
          </a:xfrm>
          <a:prstGeom prst="rect">
            <a:avLst/>
          </a:prstGeom>
          <a:noFill/>
        </p:spPr>
        <p:txBody>
          <a:bodyPr wrap="square" lIns="0" tIns="0" rIns="0" bIns="0" rtlCol="0">
            <a:spAutoFit/>
          </a:bodyPr>
          <a:lstStyle/>
          <a:p>
            <a:r>
              <a:rPr lang="en-US" sz="2000" dirty="0">
                <a:solidFill>
                  <a:schemeClr val="bg1"/>
                </a:solidFill>
                <a:latin typeface="Avenir Medium" panose="02000503020000020003" pitchFamily="2" charset="0"/>
              </a:rPr>
              <a:t>CROSS-FUNCTIONAL</a:t>
            </a:r>
          </a:p>
          <a:p>
            <a:r>
              <a:rPr lang="en-US" sz="2000" dirty="0">
                <a:solidFill>
                  <a:schemeClr val="bg1"/>
                </a:solidFill>
                <a:latin typeface="Avenir Medium" panose="02000503020000020003" pitchFamily="2" charset="0"/>
              </a:rPr>
              <a:t>DATA &amp; USAGE</a:t>
            </a:r>
          </a:p>
        </p:txBody>
      </p:sp>
      <p:sp>
        <p:nvSpPr>
          <p:cNvPr id="11" name="TextBox 10">
            <a:extLst>
              <a:ext uri="{FF2B5EF4-FFF2-40B4-BE49-F238E27FC236}">
                <a16:creationId xmlns:a16="http://schemas.microsoft.com/office/drawing/2014/main" id="{8EE55E5A-DDD0-2245-B397-9E185D8D464D}"/>
              </a:ext>
            </a:extLst>
          </p:cNvPr>
          <p:cNvSpPr txBox="1"/>
          <p:nvPr/>
        </p:nvSpPr>
        <p:spPr>
          <a:xfrm>
            <a:off x="401638" y="5987763"/>
            <a:ext cx="1633298" cy="353366"/>
          </a:xfrm>
          <a:prstGeom prst="rect">
            <a:avLst/>
          </a:prstGeom>
          <a:noFill/>
        </p:spPr>
        <p:txBody>
          <a:bodyPr wrap="square" lIns="0" tIns="0" rIns="0" bIns="0" rtlCol="0">
            <a:spAutoFit/>
          </a:bodyPr>
          <a:lstStyle/>
          <a:p>
            <a:pPr>
              <a:lnSpc>
                <a:spcPct val="150000"/>
              </a:lnSpc>
            </a:pPr>
            <a:r>
              <a:rPr lang="en-US" sz="800" dirty="0">
                <a:solidFill>
                  <a:schemeClr val="bg1"/>
                </a:solidFill>
                <a:latin typeface="Avenir Book" panose="02000503020000020003" pitchFamily="2" charset="0"/>
              </a:rPr>
              <a:t>Emerging behaviors remain relevant in real-world motivations.</a:t>
            </a:r>
          </a:p>
        </p:txBody>
      </p:sp>
      <p:sp>
        <p:nvSpPr>
          <p:cNvPr id="13" name="Donut 12">
            <a:extLst>
              <a:ext uri="{FF2B5EF4-FFF2-40B4-BE49-F238E27FC236}">
                <a16:creationId xmlns:a16="http://schemas.microsoft.com/office/drawing/2014/main" id="{300FF6F5-BCAE-4811-94EE-54CDBECF7E86}"/>
              </a:ext>
            </a:extLst>
          </p:cNvPr>
          <p:cNvSpPr/>
          <p:nvPr/>
        </p:nvSpPr>
        <p:spPr>
          <a:xfrm>
            <a:off x="3579231" y="5273429"/>
            <a:ext cx="883661" cy="883661"/>
          </a:xfrm>
          <a:prstGeom prst="donut">
            <a:avLst>
              <a:gd name="adj" fmla="val 7655"/>
            </a:avLst>
          </a:prstGeom>
          <a:solidFill>
            <a:schemeClr val="bg1">
              <a:alpha val="2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Block Arc 13">
            <a:extLst>
              <a:ext uri="{FF2B5EF4-FFF2-40B4-BE49-F238E27FC236}">
                <a16:creationId xmlns:a16="http://schemas.microsoft.com/office/drawing/2014/main" id="{C2166B77-A344-31CB-F360-F6243B31BAF5}"/>
              </a:ext>
            </a:extLst>
          </p:cNvPr>
          <p:cNvSpPr/>
          <p:nvPr/>
        </p:nvSpPr>
        <p:spPr>
          <a:xfrm>
            <a:off x="3579231" y="5273429"/>
            <a:ext cx="883661" cy="883661"/>
          </a:xfrm>
          <a:prstGeom prst="blockArc">
            <a:avLst>
              <a:gd name="adj1" fmla="val 16203921"/>
              <a:gd name="adj2" fmla="val 5393001"/>
              <a:gd name="adj3" fmla="val 7628"/>
            </a:avLst>
          </a:prstGeom>
          <a:solidFill>
            <a:srgbClr val="75D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 name="Donut 14">
            <a:extLst>
              <a:ext uri="{FF2B5EF4-FFF2-40B4-BE49-F238E27FC236}">
                <a16:creationId xmlns:a16="http://schemas.microsoft.com/office/drawing/2014/main" id="{89E36250-A755-3844-DC5A-99736F4114EA}"/>
              </a:ext>
            </a:extLst>
          </p:cNvPr>
          <p:cNvSpPr/>
          <p:nvPr/>
        </p:nvSpPr>
        <p:spPr>
          <a:xfrm>
            <a:off x="6223840" y="694297"/>
            <a:ext cx="883661" cy="883661"/>
          </a:xfrm>
          <a:prstGeom prst="donut">
            <a:avLst>
              <a:gd name="adj" fmla="val 7655"/>
            </a:avLst>
          </a:prstGeom>
          <a:solidFill>
            <a:schemeClr val="bg1">
              <a:alpha val="2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Block Arc 16">
            <a:extLst>
              <a:ext uri="{FF2B5EF4-FFF2-40B4-BE49-F238E27FC236}">
                <a16:creationId xmlns:a16="http://schemas.microsoft.com/office/drawing/2014/main" id="{144B09D9-8D40-BE6C-70D5-106FC6B3EF68}"/>
              </a:ext>
            </a:extLst>
          </p:cNvPr>
          <p:cNvSpPr/>
          <p:nvPr/>
        </p:nvSpPr>
        <p:spPr>
          <a:xfrm>
            <a:off x="6223840" y="694297"/>
            <a:ext cx="883661" cy="883661"/>
          </a:xfrm>
          <a:prstGeom prst="blockArc">
            <a:avLst>
              <a:gd name="adj1" fmla="val 16203921"/>
              <a:gd name="adj2" fmla="val 20192"/>
              <a:gd name="adj3" fmla="val 7680"/>
            </a:avLst>
          </a:prstGeom>
          <a:solidFill>
            <a:srgbClr val="75D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Donut 18">
            <a:extLst>
              <a:ext uri="{FF2B5EF4-FFF2-40B4-BE49-F238E27FC236}">
                <a16:creationId xmlns:a16="http://schemas.microsoft.com/office/drawing/2014/main" id="{6397859B-9BFD-A4E5-1FA5-8D6D28CCF957}"/>
              </a:ext>
            </a:extLst>
          </p:cNvPr>
          <p:cNvSpPr/>
          <p:nvPr/>
        </p:nvSpPr>
        <p:spPr>
          <a:xfrm>
            <a:off x="8868451" y="5273429"/>
            <a:ext cx="883661" cy="883661"/>
          </a:xfrm>
          <a:prstGeom prst="donut">
            <a:avLst>
              <a:gd name="adj" fmla="val 7655"/>
            </a:avLst>
          </a:prstGeom>
          <a:solidFill>
            <a:schemeClr val="bg1">
              <a:alpha val="2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 name="Block Arc 19">
            <a:extLst>
              <a:ext uri="{FF2B5EF4-FFF2-40B4-BE49-F238E27FC236}">
                <a16:creationId xmlns:a16="http://schemas.microsoft.com/office/drawing/2014/main" id="{6AF47AAF-E5E5-A752-B559-19EA60F20645}"/>
              </a:ext>
            </a:extLst>
          </p:cNvPr>
          <p:cNvSpPr/>
          <p:nvPr/>
        </p:nvSpPr>
        <p:spPr>
          <a:xfrm>
            <a:off x="8868451" y="5273429"/>
            <a:ext cx="883661" cy="883661"/>
          </a:xfrm>
          <a:prstGeom prst="blockArc">
            <a:avLst>
              <a:gd name="adj1" fmla="val 16203921"/>
              <a:gd name="adj2" fmla="val 12509002"/>
              <a:gd name="adj3" fmla="val 7637"/>
            </a:avLst>
          </a:prstGeom>
          <a:solidFill>
            <a:srgbClr val="75D0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5141577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AAED2-D42F-7B90-F189-3822FADC7E39}"/>
            </a:ext>
          </a:extLst>
        </p:cNvPr>
        <p:cNvGrpSpPr/>
        <p:nvPr/>
      </p:nvGrpSpPr>
      <p:grpSpPr>
        <a:xfrm>
          <a:off x="0" y="0"/>
          <a:ext cx="0" cy="0"/>
          <a:chOff x="0" y="0"/>
          <a:chExt cx="0" cy="0"/>
        </a:xfrm>
      </p:grpSpPr>
      <p:grpSp>
        <p:nvGrpSpPr>
          <p:cNvPr id="26" name="Group 25">
            <a:extLst>
              <a:ext uri="{FF2B5EF4-FFF2-40B4-BE49-F238E27FC236}">
                <a16:creationId xmlns:a16="http://schemas.microsoft.com/office/drawing/2014/main" id="{A33D3E2A-277F-C72D-4591-D54C9DC2DBF8}"/>
              </a:ext>
            </a:extLst>
          </p:cNvPr>
          <p:cNvGrpSpPr/>
          <p:nvPr/>
        </p:nvGrpSpPr>
        <p:grpSpPr>
          <a:xfrm>
            <a:off x="315738" y="1589523"/>
            <a:ext cx="2661615" cy="1052731"/>
            <a:chOff x="7680613" y="1962874"/>
            <a:chExt cx="2661615" cy="1052731"/>
          </a:xfrm>
        </p:grpSpPr>
        <p:sp>
          <p:nvSpPr>
            <p:cNvPr id="27" name="TextBox 26">
              <a:extLst>
                <a:ext uri="{FF2B5EF4-FFF2-40B4-BE49-F238E27FC236}">
                  <a16:creationId xmlns:a16="http://schemas.microsoft.com/office/drawing/2014/main" id="{470EA0AE-0CC7-7C45-A666-327AB8682A5B}"/>
                </a:ext>
              </a:extLst>
            </p:cNvPr>
            <p:cNvSpPr txBox="1"/>
            <p:nvPr/>
          </p:nvSpPr>
          <p:spPr>
            <a:xfrm>
              <a:off x="7680613" y="2390819"/>
              <a:ext cx="2661615" cy="624786"/>
            </a:xfrm>
            <a:prstGeom prst="rect">
              <a:avLst/>
            </a:prstGeom>
            <a:noFill/>
          </p:spPr>
          <p:txBody>
            <a:bodyPr wrap="square" rtlCol="0">
              <a:spAutoFit/>
            </a:bodyPr>
            <a:lstStyle/>
            <a:p>
              <a:pPr>
                <a:lnSpc>
                  <a:spcPct val="150000"/>
                </a:lnSpc>
              </a:pPr>
              <a:r>
                <a:rPr lang="en-US" sz="800" dirty="0">
                  <a:solidFill>
                    <a:schemeClr val="bg1"/>
                  </a:solidFill>
                  <a:latin typeface="Avenir Book" panose="02000503020000020003" pitchFamily="2" charset="0"/>
                </a:rPr>
                <a:t>Michalle Gal &amp; Jonathan Ventura, Introduction to Design Theory: Philosophy, Critique, History </a:t>
              </a:r>
            </a:p>
            <a:p>
              <a:pPr>
                <a:lnSpc>
                  <a:spcPct val="150000"/>
                </a:lnSpc>
              </a:pPr>
              <a:r>
                <a:rPr lang="en-US" sz="800" dirty="0">
                  <a:solidFill>
                    <a:schemeClr val="bg1"/>
                  </a:solidFill>
                  <a:latin typeface="Avenir Book" panose="02000503020000020003" pitchFamily="2" charset="0"/>
                </a:rPr>
                <a:t>and Practice. Routledge, 2023.</a:t>
              </a:r>
            </a:p>
          </p:txBody>
        </p:sp>
        <p:cxnSp>
          <p:nvCxnSpPr>
            <p:cNvPr id="28" name="Straight Connector 27">
              <a:extLst>
                <a:ext uri="{FF2B5EF4-FFF2-40B4-BE49-F238E27FC236}">
                  <a16:creationId xmlns:a16="http://schemas.microsoft.com/office/drawing/2014/main" id="{D30D7AAC-8D49-E8E2-9177-D48AD2E8D3C1}"/>
                </a:ext>
              </a:extLst>
            </p:cNvPr>
            <p:cNvCxnSpPr>
              <a:cxnSpLocks/>
            </p:cNvCxnSpPr>
            <p:nvPr/>
          </p:nvCxnSpPr>
          <p:spPr>
            <a:xfrm>
              <a:off x="7777800" y="1962874"/>
              <a:ext cx="2176869" cy="0"/>
            </a:xfrm>
            <a:prstGeom prst="line">
              <a:avLst/>
            </a:prstGeom>
            <a:ln>
              <a:solidFill>
                <a:schemeClr val="bg1"/>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29" name="TextBox 28">
              <a:extLst>
                <a:ext uri="{FF2B5EF4-FFF2-40B4-BE49-F238E27FC236}">
                  <a16:creationId xmlns:a16="http://schemas.microsoft.com/office/drawing/2014/main" id="{05AF42F0-2B8A-ABA0-2192-8B6B4F684A74}"/>
                </a:ext>
              </a:extLst>
            </p:cNvPr>
            <p:cNvSpPr txBox="1"/>
            <p:nvPr/>
          </p:nvSpPr>
          <p:spPr>
            <a:xfrm>
              <a:off x="7683912" y="2097342"/>
              <a:ext cx="2204142" cy="276999"/>
            </a:xfrm>
            <a:prstGeom prst="rect">
              <a:avLst/>
            </a:prstGeom>
            <a:noFill/>
          </p:spPr>
          <p:txBody>
            <a:bodyPr wrap="square" rtlCol="0">
              <a:spAutoFit/>
            </a:bodyPr>
            <a:lstStyle/>
            <a:p>
              <a:r>
                <a:rPr lang="en-US" sz="1200" dirty="0">
                  <a:solidFill>
                    <a:schemeClr val="bg1"/>
                  </a:solidFill>
                  <a:latin typeface="Avenir Medium" panose="02000503020000020003" pitchFamily="2" charset="0"/>
                </a:rPr>
                <a:t>Design Theory</a:t>
              </a:r>
            </a:p>
          </p:txBody>
        </p:sp>
      </p:grpSp>
      <p:grpSp>
        <p:nvGrpSpPr>
          <p:cNvPr id="8" name="Group 7">
            <a:extLst>
              <a:ext uri="{FF2B5EF4-FFF2-40B4-BE49-F238E27FC236}">
                <a16:creationId xmlns:a16="http://schemas.microsoft.com/office/drawing/2014/main" id="{858188B0-D0E4-C00B-CA34-FF472EA2F4F9}"/>
              </a:ext>
            </a:extLst>
          </p:cNvPr>
          <p:cNvGrpSpPr/>
          <p:nvPr/>
        </p:nvGrpSpPr>
        <p:grpSpPr>
          <a:xfrm>
            <a:off x="4359016" y="1589523"/>
            <a:ext cx="2661615" cy="873644"/>
            <a:chOff x="7680613" y="1962874"/>
            <a:chExt cx="2661615" cy="873644"/>
          </a:xfrm>
        </p:grpSpPr>
        <p:sp>
          <p:nvSpPr>
            <p:cNvPr id="9" name="TextBox 8">
              <a:extLst>
                <a:ext uri="{FF2B5EF4-FFF2-40B4-BE49-F238E27FC236}">
                  <a16:creationId xmlns:a16="http://schemas.microsoft.com/office/drawing/2014/main" id="{35E67959-15A0-FC2B-360C-1B3C715B5F14}"/>
                </a:ext>
              </a:extLst>
            </p:cNvPr>
            <p:cNvSpPr txBox="1"/>
            <p:nvPr/>
          </p:nvSpPr>
          <p:spPr>
            <a:xfrm>
              <a:off x="7680613" y="2390819"/>
              <a:ext cx="2661615" cy="445699"/>
            </a:xfrm>
            <a:prstGeom prst="rect">
              <a:avLst/>
            </a:prstGeom>
            <a:noFill/>
          </p:spPr>
          <p:txBody>
            <a:bodyPr wrap="square" rtlCol="0">
              <a:spAutoFit/>
            </a:bodyPr>
            <a:lstStyle/>
            <a:p>
              <a:pPr>
                <a:lnSpc>
                  <a:spcPct val="150000"/>
                </a:lnSpc>
              </a:pPr>
              <a:r>
                <a:rPr lang="en-US" sz="800" dirty="0">
                  <a:solidFill>
                    <a:schemeClr val="bg1"/>
                  </a:solidFill>
                  <a:latin typeface="Avenir Book" panose="02000503020000020003" pitchFamily="2" charset="0"/>
                </a:rPr>
                <a:t>Donald A. Norman, The Design of Everyday Things. MIT Press (revised edition).</a:t>
              </a:r>
            </a:p>
          </p:txBody>
        </p:sp>
        <p:cxnSp>
          <p:nvCxnSpPr>
            <p:cNvPr id="11" name="Straight Connector 10">
              <a:extLst>
                <a:ext uri="{FF2B5EF4-FFF2-40B4-BE49-F238E27FC236}">
                  <a16:creationId xmlns:a16="http://schemas.microsoft.com/office/drawing/2014/main" id="{DD4F05F2-39FC-8E15-895B-3D2A1CF2B168}"/>
                </a:ext>
              </a:extLst>
            </p:cNvPr>
            <p:cNvCxnSpPr>
              <a:cxnSpLocks/>
            </p:cNvCxnSpPr>
            <p:nvPr/>
          </p:nvCxnSpPr>
          <p:spPr>
            <a:xfrm>
              <a:off x="7777800" y="1962874"/>
              <a:ext cx="2176869" cy="0"/>
            </a:xfrm>
            <a:prstGeom prst="line">
              <a:avLst/>
            </a:prstGeom>
            <a:ln>
              <a:solidFill>
                <a:schemeClr val="bg1"/>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DF98659E-7448-15BF-D374-924214EE9501}"/>
                </a:ext>
              </a:extLst>
            </p:cNvPr>
            <p:cNvSpPr txBox="1"/>
            <p:nvPr/>
          </p:nvSpPr>
          <p:spPr>
            <a:xfrm>
              <a:off x="7683912" y="2097342"/>
              <a:ext cx="2204142" cy="276999"/>
            </a:xfrm>
            <a:prstGeom prst="rect">
              <a:avLst/>
            </a:prstGeom>
            <a:noFill/>
          </p:spPr>
          <p:txBody>
            <a:bodyPr wrap="square" rtlCol="0">
              <a:spAutoFit/>
            </a:bodyPr>
            <a:lstStyle/>
            <a:p>
              <a:r>
                <a:rPr lang="en-US" sz="1200" dirty="0">
                  <a:solidFill>
                    <a:schemeClr val="bg1"/>
                  </a:solidFill>
                  <a:latin typeface="Avenir Medium" panose="02000503020000020003" pitchFamily="2" charset="0"/>
                </a:rPr>
                <a:t>Industrial Design</a:t>
              </a:r>
            </a:p>
          </p:txBody>
        </p:sp>
      </p:grpSp>
      <p:grpSp>
        <p:nvGrpSpPr>
          <p:cNvPr id="20" name="Group 19">
            <a:extLst>
              <a:ext uri="{FF2B5EF4-FFF2-40B4-BE49-F238E27FC236}">
                <a16:creationId xmlns:a16="http://schemas.microsoft.com/office/drawing/2014/main" id="{41E50D84-0F15-C6D4-45AB-778049A2CBB9}"/>
              </a:ext>
            </a:extLst>
          </p:cNvPr>
          <p:cNvGrpSpPr/>
          <p:nvPr/>
        </p:nvGrpSpPr>
        <p:grpSpPr>
          <a:xfrm>
            <a:off x="8692667" y="1589523"/>
            <a:ext cx="2661615" cy="1052731"/>
            <a:chOff x="7680613" y="1962874"/>
            <a:chExt cx="2661615" cy="1052731"/>
          </a:xfrm>
        </p:grpSpPr>
        <p:sp>
          <p:nvSpPr>
            <p:cNvPr id="21" name="TextBox 20">
              <a:extLst>
                <a:ext uri="{FF2B5EF4-FFF2-40B4-BE49-F238E27FC236}">
                  <a16:creationId xmlns:a16="http://schemas.microsoft.com/office/drawing/2014/main" id="{2F81E7F4-0DD2-2D74-2270-7F8ADE7E4BE1}"/>
                </a:ext>
              </a:extLst>
            </p:cNvPr>
            <p:cNvSpPr txBox="1"/>
            <p:nvPr/>
          </p:nvSpPr>
          <p:spPr>
            <a:xfrm>
              <a:off x="7680613" y="2390819"/>
              <a:ext cx="2661615" cy="624786"/>
            </a:xfrm>
            <a:prstGeom prst="rect">
              <a:avLst/>
            </a:prstGeom>
            <a:noFill/>
          </p:spPr>
          <p:txBody>
            <a:bodyPr wrap="square" rtlCol="0">
              <a:spAutoFit/>
            </a:bodyPr>
            <a:lstStyle/>
            <a:p>
              <a:pPr>
                <a:lnSpc>
                  <a:spcPct val="150000"/>
                </a:lnSpc>
              </a:pPr>
              <a:r>
                <a:rPr lang="en-US" sz="800" dirty="0">
                  <a:solidFill>
                    <a:schemeClr val="bg1"/>
                  </a:solidFill>
                  <a:latin typeface="Avenir Book" panose="02000503020000020003" pitchFamily="2" charset="0"/>
                </a:rPr>
                <a:t>William Lidwell, Universal Principles of Design. Rockport Publishers. (Listed among popular design theory books).</a:t>
              </a:r>
            </a:p>
          </p:txBody>
        </p:sp>
        <p:cxnSp>
          <p:nvCxnSpPr>
            <p:cNvPr id="22" name="Straight Connector 21">
              <a:extLst>
                <a:ext uri="{FF2B5EF4-FFF2-40B4-BE49-F238E27FC236}">
                  <a16:creationId xmlns:a16="http://schemas.microsoft.com/office/drawing/2014/main" id="{AB1F94F9-84C7-270F-C49C-36D4BF049F60}"/>
                </a:ext>
              </a:extLst>
            </p:cNvPr>
            <p:cNvCxnSpPr>
              <a:cxnSpLocks/>
            </p:cNvCxnSpPr>
            <p:nvPr/>
          </p:nvCxnSpPr>
          <p:spPr>
            <a:xfrm>
              <a:off x="7777800" y="1962874"/>
              <a:ext cx="2176869" cy="0"/>
            </a:xfrm>
            <a:prstGeom prst="line">
              <a:avLst/>
            </a:prstGeom>
            <a:ln>
              <a:solidFill>
                <a:schemeClr val="bg1"/>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23" name="TextBox 22">
              <a:extLst>
                <a:ext uri="{FF2B5EF4-FFF2-40B4-BE49-F238E27FC236}">
                  <a16:creationId xmlns:a16="http://schemas.microsoft.com/office/drawing/2014/main" id="{456F1622-0BCB-2AEE-05AB-0E5AC8927845}"/>
                </a:ext>
              </a:extLst>
            </p:cNvPr>
            <p:cNvSpPr txBox="1"/>
            <p:nvPr/>
          </p:nvSpPr>
          <p:spPr>
            <a:xfrm>
              <a:off x="7683912" y="2097342"/>
              <a:ext cx="2204142" cy="276999"/>
            </a:xfrm>
            <a:prstGeom prst="rect">
              <a:avLst/>
            </a:prstGeom>
            <a:noFill/>
          </p:spPr>
          <p:txBody>
            <a:bodyPr wrap="square" rtlCol="0">
              <a:spAutoFit/>
            </a:bodyPr>
            <a:lstStyle/>
            <a:p>
              <a:r>
                <a:rPr lang="en-US" sz="1200" dirty="0">
                  <a:solidFill>
                    <a:schemeClr val="bg1"/>
                  </a:solidFill>
                  <a:latin typeface="Avenir Medium" panose="02000503020000020003" pitchFamily="2" charset="0"/>
                </a:rPr>
                <a:t>Design Principles</a:t>
              </a:r>
            </a:p>
          </p:txBody>
        </p:sp>
      </p:grpSp>
      <p:grpSp>
        <p:nvGrpSpPr>
          <p:cNvPr id="24" name="Group 23">
            <a:extLst>
              <a:ext uri="{FF2B5EF4-FFF2-40B4-BE49-F238E27FC236}">
                <a16:creationId xmlns:a16="http://schemas.microsoft.com/office/drawing/2014/main" id="{E25F768B-7D9B-657E-F9E6-3C87CEF3E1DE}"/>
              </a:ext>
            </a:extLst>
          </p:cNvPr>
          <p:cNvGrpSpPr/>
          <p:nvPr/>
        </p:nvGrpSpPr>
        <p:grpSpPr>
          <a:xfrm>
            <a:off x="315738" y="3231535"/>
            <a:ext cx="2661615" cy="873644"/>
            <a:chOff x="7680613" y="1962874"/>
            <a:chExt cx="2661615" cy="873644"/>
          </a:xfrm>
        </p:grpSpPr>
        <p:sp>
          <p:nvSpPr>
            <p:cNvPr id="25" name="TextBox 24">
              <a:extLst>
                <a:ext uri="{FF2B5EF4-FFF2-40B4-BE49-F238E27FC236}">
                  <a16:creationId xmlns:a16="http://schemas.microsoft.com/office/drawing/2014/main" id="{BB239E53-B9A1-0A33-D14C-3FBEDBE04855}"/>
                </a:ext>
              </a:extLst>
            </p:cNvPr>
            <p:cNvSpPr txBox="1"/>
            <p:nvPr/>
          </p:nvSpPr>
          <p:spPr>
            <a:xfrm>
              <a:off x="7680613" y="2390819"/>
              <a:ext cx="2661615" cy="445699"/>
            </a:xfrm>
            <a:prstGeom prst="rect">
              <a:avLst/>
            </a:prstGeom>
            <a:noFill/>
          </p:spPr>
          <p:txBody>
            <a:bodyPr wrap="square" rtlCol="0">
              <a:spAutoFit/>
            </a:bodyPr>
            <a:lstStyle/>
            <a:p>
              <a:pPr>
                <a:lnSpc>
                  <a:spcPct val="150000"/>
                </a:lnSpc>
              </a:pPr>
              <a:r>
                <a:rPr lang="en-US" sz="800" dirty="0">
                  <a:solidFill>
                    <a:schemeClr val="bg1"/>
                  </a:solidFill>
                  <a:latin typeface="Avenir Book" panose="02000503020000020003" pitchFamily="2" charset="0"/>
                </a:rPr>
                <a:t>Johan </a:t>
              </a:r>
              <a:r>
                <a:rPr lang="en-US" sz="800" dirty="0" err="1">
                  <a:solidFill>
                    <a:schemeClr val="bg1"/>
                  </a:solidFill>
                  <a:latin typeface="Avenir Book" panose="02000503020000020003" pitchFamily="2" charset="0"/>
                </a:rPr>
                <a:t>Redstrom</a:t>
              </a:r>
              <a:r>
                <a:rPr lang="en-US" sz="800" dirty="0">
                  <a:solidFill>
                    <a:schemeClr val="bg1"/>
                  </a:solidFill>
                  <a:latin typeface="Avenir Book" panose="02000503020000020003" pitchFamily="2" charset="0"/>
                </a:rPr>
                <a:t>, Making Design Theory: </a:t>
              </a:r>
            </a:p>
            <a:p>
              <a:pPr>
                <a:lnSpc>
                  <a:spcPct val="150000"/>
                </a:lnSpc>
              </a:pPr>
              <a:r>
                <a:rPr lang="en-US" sz="800" dirty="0">
                  <a:solidFill>
                    <a:schemeClr val="bg1"/>
                  </a:solidFill>
                  <a:latin typeface="Avenir Book" panose="02000503020000020003" pitchFamily="2" charset="0"/>
                </a:rPr>
                <a:t>Thinking Through Practice. MIT Press.</a:t>
              </a:r>
            </a:p>
          </p:txBody>
        </p:sp>
        <p:cxnSp>
          <p:nvCxnSpPr>
            <p:cNvPr id="30" name="Straight Connector 29">
              <a:extLst>
                <a:ext uri="{FF2B5EF4-FFF2-40B4-BE49-F238E27FC236}">
                  <a16:creationId xmlns:a16="http://schemas.microsoft.com/office/drawing/2014/main" id="{6CF9AB11-3CFF-99F0-A06B-89DE9E69A26A}"/>
                </a:ext>
              </a:extLst>
            </p:cNvPr>
            <p:cNvCxnSpPr>
              <a:cxnSpLocks/>
            </p:cNvCxnSpPr>
            <p:nvPr/>
          </p:nvCxnSpPr>
          <p:spPr>
            <a:xfrm>
              <a:off x="7777800" y="1962874"/>
              <a:ext cx="2176869" cy="0"/>
            </a:xfrm>
            <a:prstGeom prst="line">
              <a:avLst/>
            </a:prstGeom>
            <a:ln>
              <a:solidFill>
                <a:schemeClr val="bg1"/>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44" name="TextBox 43">
              <a:extLst>
                <a:ext uri="{FF2B5EF4-FFF2-40B4-BE49-F238E27FC236}">
                  <a16:creationId xmlns:a16="http://schemas.microsoft.com/office/drawing/2014/main" id="{7C73C5A3-293E-DFAC-9B95-E574F8F01CFC}"/>
                </a:ext>
              </a:extLst>
            </p:cNvPr>
            <p:cNvSpPr txBox="1"/>
            <p:nvPr/>
          </p:nvSpPr>
          <p:spPr>
            <a:xfrm>
              <a:off x="7683912" y="2097342"/>
              <a:ext cx="2204142" cy="276999"/>
            </a:xfrm>
            <a:prstGeom prst="rect">
              <a:avLst/>
            </a:prstGeom>
            <a:noFill/>
          </p:spPr>
          <p:txBody>
            <a:bodyPr wrap="square" rtlCol="0">
              <a:spAutoFit/>
            </a:bodyPr>
            <a:lstStyle/>
            <a:p>
              <a:r>
                <a:rPr lang="en-US" sz="1200" dirty="0">
                  <a:solidFill>
                    <a:schemeClr val="bg1"/>
                  </a:solidFill>
                  <a:latin typeface="Avenir Medium" panose="02000503020000020003" pitchFamily="2" charset="0"/>
                </a:rPr>
                <a:t>Creative Pathways</a:t>
              </a:r>
            </a:p>
          </p:txBody>
        </p:sp>
      </p:grpSp>
      <p:grpSp>
        <p:nvGrpSpPr>
          <p:cNvPr id="45" name="Group 44">
            <a:extLst>
              <a:ext uri="{FF2B5EF4-FFF2-40B4-BE49-F238E27FC236}">
                <a16:creationId xmlns:a16="http://schemas.microsoft.com/office/drawing/2014/main" id="{1D6EBB90-9B36-5DFD-5630-ECBDD27427BE}"/>
              </a:ext>
            </a:extLst>
          </p:cNvPr>
          <p:cNvGrpSpPr/>
          <p:nvPr/>
        </p:nvGrpSpPr>
        <p:grpSpPr>
          <a:xfrm>
            <a:off x="4359016" y="3231535"/>
            <a:ext cx="2661615" cy="1052731"/>
            <a:chOff x="7680613" y="1962874"/>
            <a:chExt cx="2661615" cy="1052731"/>
          </a:xfrm>
        </p:grpSpPr>
        <p:sp>
          <p:nvSpPr>
            <p:cNvPr id="46" name="TextBox 45">
              <a:extLst>
                <a:ext uri="{FF2B5EF4-FFF2-40B4-BE49-F238E27FC236}">
                  <a16:creationId xmlns:a16="http://schemas.microsoft.com/office/drawing/2014/main" id="{1641C3CA-6EDA-A80A-A034-95A9B8927EAA}"/>
                </a:ext>
              </a:extLst>
            </p:cNvPr>
            <p:cNvSpPr txBox="1"/>
            <p:nvPr/>
          </p:nvSpPr>
          <p:spPr>
            <a:xfrm>
              <a:off x="7680613" y="2390819"/>
              <a:ext cx="2661615" cy="624786"/>
            </a:xfrm>
            <a:prstGeom prst="rect">
              <a:avLst/>
            </a:prstGeom>
            <a:noFill/>
          </p:spPr>
          <p:txBody>
            <a:bodyPr wrap="square" rtlCol="0">
              <a:spAutoFit/>
            </a:bodyPr>
            <a:lstStyle/>
            <a:p>
              <a:pPr>
                <a:lnSpc>
                  <a:spcPct val="150000"/>
                </a:lnSpc>
              </a:pPr>
              <a:r>
                <a:rPr lang="en-US" sz="800" dirty="0">
                  <a:solidFill>
                    <a:schemeClr val="bg1"/>
                  </a:solidFill>
                  <a:latin typeface="Avenir Book" panose="02000503020000020003" pitchFamily="2" charset="0"/>
                </a:rPr>
                <a:t>P. Cash et al., “Evaluating the Efficacy </a:t>
              </a:r>
            </a:p>
            <a:p>
              <a:pPr>
                <a:lnSpc>
                  <a:spcPct val="150000"/>
                </a:lnSpc>
              </a:pPr>
              <a:r>
                <a:rPr lang="en-US" sz="800" dirty="0">
                  <a:solidFill>
                    <a:schemeClr val="bg1"/>
                  </a:solidFill>
                  <a:latin typeface="Avenir Book" panose="02000503020000020003" pitchFamily="2" charset="0"/>
                </a:rPr>
                <a:t>and Effectiveness of Design Methods,” </a:t>
              </a:r>
            </a:p>
            <a:p>
              <a:pPr>
                <a:lnSpc>
                  <a:spcPct val="150000"/>
                </a:lnSpc>
              </a:pPr>
              <a:r>
                <a:rPr lang="en-US" sz="800" dirty="0">
                  <a:solidFill>
                    <a:schemeClr val="bg1"/>
                  </a:solidFill>
                  <a:latin typeface="Avenir Book" panose="02000503020000020003" pitchFamily="2" charset="0"/>
                </a:rPr>
                <a:t>ScienceDirect, 2023.</a:t>
              </a:r>
            </a:p>
          </p:txBody>
        </p:sp>
        <p:cxnSp>
          <p:nvCxnSpPr>
            <p:cNvPr id="47" name="Straight Connector 46">
              <a:extLst>
                <a:ext uri="{FF2B5EF4-FFF2-40B4-BE49-F238E27FC236}">
                  <a16:creationId xmlns:a16="http://schemas.microsoft.com/office/drawing/2014/main" id="{C5A0D972-6EDF-0A74-1365-50B9414F6EB4}"/>
                </a:ext>
              </a:extLst>
            </p:cNvPr>
            <p:cNvCxnSpPr>
              <a:cxnSpLocks/>
            </p:cNvCxnSpPr>
            <p:nvPr/>
          </p:nvCxnSpPr>
          <p:spPr>
            <a:xfrm>
              <a:off x="7777800" y="1962874"/>
              <a:ext cx="2176869" cy="0"/>
            </a:xfrm>
            <a:prstGeom prst="line">
              <a:avLst/>
            </a:prstGeom>
            <a:ln>
              <a:solidFill>
                <a:schemeClr val="bg1"/>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48" name="TextBox 47">
              <a:extLst>
                <a:ext uri="{FF2B5EF4-FFF2-40B4-BE49-F238E27FC236}">
                  <a16:creationId xmlns:a16="http://schemas.microsoft.com/office/drawing/2014/main" id="{3E8C6A29-44FA-B744-13EF-5A2F977AB00C}"/>
                </a:ext>
              </a:extLst>
            </p:cNvPr>
            <p:cNvSpPr txBox="1"/>
            <p:nvPr/>
          </p:nvSpPr>
          <p:spPr>
            <a:xfrm>
              <a:off x="7683912" y="2097342"/>
              <a:ext cx="2204142" cy="276999"/>
            </a:xfrm>
            <a:prstGeom prst="rect">
              <a:avLst/>
            </a:prstGeom>
            <a:noFill/>
          </p:spPr>
          <p:txBody>
            <a:bodyPr wrap="square" rtlCol="0">
              <a:spAutoFit/>
            </a:bodyPr>
            <a:lstStyle/>
            <a:p>
              <a:r>
                <a:rPr lang="en-US" sz="1200" dirty="0">
                  <a:solidFill>
                    <a:schemeClr val="bg1"/>
                  </a:solidFill>
                  <a:latin typeface="Avenir Medium" panose="02000503020000020003" pitchFamily="2" charset="0"/>
                </a:rPr>
                <a:t>Methodology</a:t>
              </a:r>
            </a:p>
          </p:txBody>
        </p:sp>
      </p:grpSp>
      <p:grpSp>
        <p:nvGrpSpPr>
          <p:cNvPr id="49" name="Group 48">
            <a:extLst>
              <a:ext uri="{FF2B5EF4-FFF2-40B4-BE49-F238E27FC236}">
                <a16:creationId xmlns:a16="http://schemas.microsoft.com/office/drawing/2014/main" id="{8C7D7B85-2726-706F-B7F0-1FE46CB76C85}"/>
              </a:ext>
            </a:extLst>
          </p:cNvPr>
          <p:cNvGrpSpPr/>
          <p:nvPr/>
        </p:nvGrpSpPr>
        <p:grpSpPr>
          <a:xfrm>
            <a:off x="8692667" y="3231535"/>
            <a:ext cx="2661615" cy="873644"/>
            <a:chOff x="7680613" y="1962874"/>
            <a:chExt cx="2661615" cy="873644"/>
          </a:xfrm>
        </p:grpSpPr>
        <p:sp>
          <p:nvSpPr>
            <p:cNvPr id="50" name="TextBox 49">
              <a:extLst>
                <a:ext uri="{FF2B5EF4-FFF2-40B4-BE49-F238E27FC236}">
                  <a16:creationId xmlns:a16="http://schemas.microsoft.com/office/drawing/2014/main" id="{8A0DDFFB-35B8-803D-4FA8-368BAF274F70}"/>
                </a:ext>
              </a:extLst>
            </p:cNvPr>
            <p:cNvSpPr txBox="1"/>
            <p:nvPr/>
          </p:nvSpPr>
          <p:spPr>
            <a:xfrm>
              <a:off x="7680613" y="2390819"/>
              <a:ext cx="2661615" cy="445699"/>
            </a:xfrm>
            <a:prstGeom prst="rect">
              <a:avLst/>
            </a:prstGeom>
            <a:noFill/>
          </p:spPr>
          <p:txBody>
            <a:bodyPr wrap="square" rtlCol="0">
              <a:spAutoFit/>
            </a:bodyPr>
            <a:lstStyle/>
            <a:p>
              <a:pPr>
                <a:lnSpc>
                  <a:spcPct val="150000"/>
                </a:lnSpc>
              </a:pPr>
              <a:r>
                <a:rPr lang="en-US" sz="800" dirty="0">
                  <a:solidFill>
                    <a:schemeClr val="bg1"/>
                  </a:solidFill>
                  <a:latin typeface="Avenir Book" panose="02000503020000020003" pitchFamily="2" charset="0"/>
                </a:rPr>
                <a:t>Y. Lamine, “Understanding and Supporting the Design Systems Practice,” </a:t>
              </a:r>
              <a:r>
                <a:rPr lang="en-US" sz="800" dirty="0" err="1">
                  <a:solidFill>
                    <a:schemeClr val="bg1"/>
                  </a:solidFill>
                  <a:latin typeface="Avenir Book" panose="02000503020000020003" pitchFamily="2" charset="0"/>
                </a:rPr>
                <a:t>arXiv</a:t>
              </a:r>
              <a:r>
                <a:rPr lang="en-US" sz="800" dirty="0">
                  <a:solidFill>
                    <a:schemeClr val="bg1"/>
                  </a:solidFill>
                  <a:latin typeface="Avenir Book" panose="02000503020000020003" pitchFamily="2" charset="0"/>
                </a:rPr>
                <a:t> preprint, 2022.</a:t>
              </a:r>
            </a:p>
          </p:txBody>
        </p:sp>
        <p:cxnSp>
          <p:nvCxnSpPr>
            <p:cNvPr id="51" name="Straight Connector 50">
              <a:extLst>
                <a:ext uri="{FF2B5EF4-FFF2-40B4-BE49-F238E27FC236}">
                  <a16:creationId xmlns:a16="http://schemas.microsoft.com/office/drawing/2014/main" id="{BE40D507-BFCE-0517-01D9-88617D65435D}"/>
                </a:ext>
              </a:extLst>
            </p:cNvPr>
            <p:cNvCxnSpPr>
              <a:cxnSpLocks/>
            </p:cNvCxnSpPr>
            <p:nvPr/>
          </p:nvCxnSpPr>
          <p:spPr>
            <a:xfrm>
              <a:off x="7777800" y="1962874"/>
              <a:ext cx="2176869" cy="0"/>
            </a:xfrm>
            <a:prstGeom prst="line">
              <a:avLst/>
            </a:prstGeom>
            <a:ln>
              <a:solidFill>
                <a:schemeClr val="bg1"/>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52" name="TextBox 51">
              <a:extLst>
                <a:ext uri="{FF2B5EF4-FFF2-40B4-BE49-F238E27FC236}">
                  <a16:creationId xmlns:a16="http://schemas.microsoft.com/office/drawing/2014/main" id="{CF57C92E-0471-29E0-CE99-E1EB18E5395E}"/>
                </a:ext>
              </a:extLst>
            </p:cNvPr>
            <p:cNvSpPr txBox="1"/>
            <p:nvPr/>
          </p:nvSpPr>
          <p:spPr>
            <a:xfrm>
              <a:off x="7683912" y="2097342"/>
              <a:ext cx="2204142" cy="276999"/>
            </a:xfrm>
            <a:prstGeom prst="rect">
              <a:avLst/>
            </a:prstGeom>
            <a:noFill/>
          </p:spPr>
          <p:txBody>
            <a:bodyPr wrap="square" rtlCol="0">
              <a:spAutoFit/>
            </a:bodyPr>
            <a:lstStyle/>
            <a:p>
              <a:r>
                <a:rPr lang="en-US" sz="1200" dirty="0">
                  <a:solidFill>
                    <a:schemeClr val="bg1"/>
                  </a:solidFill>
                  <a:latin typeface="Avenir Medium" panose="02000503020000020003" pitchFamily="2" charset="0"/>
                </a:rPr>
                <a:t>System Thinking</a:t>
              </a:r>
            </a:p>
          </p:txBody>
        </p:sp>
      </p:grpSp>
      <p:grpSp>
        <p:nvGrpSpPr>
          <p:cNvPr id="53" name="Group 52">
            <a:extLst>
              <a:ext uri="{FF2B5EF4-FFF2-40B4-BE49-F238E27FC236}">
                <a16:creationId xmlns:a16="http://schemas.microsoft.com/office/drawing/2014/main" id="{439472EC-F148-8BEA-5BC9-FEED058AA200}"/>
              </a:ext>
            </a:extLst>
          </p:cNvPr>
          <p:cNvGrpSpPr/>
          <p:nvPr/>
        </p:nvGrpSpPr>
        <p:grpSpPr>
          <a:xfrm>
            <a:off x="315739" y="4918167"/>
            <a:ext cx="2661614" cy="873644"/>
            <a:chOff x="7680614" y="1962874"/>
            <a:chExt cx="2661614" cy="873644"/>
          </a:xfrm>
        </p:grpSpPr>
        <p:sp>
          <p:nvSpPr>
            <p:cNvPr id="54" name="TextBox 53">
              <a:extLst>
                <a:ext uri="{FF2B5EF4-FFF2-40B4-BE49-F238E27FC236}">
                  <a16:creationId xmlns:a16="http://schemas.microsoft.com/office/drawing/2014/main" id="{0B5B6686-6764-079E-34BA-1485F30CAD7B}"/>
                </a:ext>
              </a:extLst>
            </p:cNvPr>
            <p:cNvSpPr txBox="1"/>
            <p:nvPr/>
          </p:nvSpPr>
          <p:spPr>
            <a:xfrm>
              <a:off x="7680614" y="2390819"/>
              <a:ext cx="2661614" cy="445699"/>
            </a:xfrm>
            <a:prstGeom prst="rect">
              <a:avLst/>
            </a:prstGeom>
            <a:noFill/>
          </p:spPr>
          <p:txBody>
            <a:bodyPr wrap="square" rtlCol="0">
              <a:spAutoFit/>
            </a:bodyPr>
            <a:lstStyle/>
            <a:p>
              <a:pPr>
                <a:lnSpc>
                  <a:spcPct val="150000"/>
                </a:lnSpc>
              </a:pPr>
              <a:r>
                <a:rPr lang="en-US" sz="800" dirty="0">
                  <a:solidFill>
                    <a:schemeClr val="bg1"/>
                  </a:solidFill>
                  <a:latin typeface="Avenir Book" panose="02000503020000020003" pitchFamily="2" charset="0"/>
                </a:rPr>
                <a:t>L. </a:t>
              </a:r>
              <a:r>
                <a:rPr lang="en-US" sz="800" dirty="0" err="1">
                  <a:solidFill>
                    <a:schemeClr val="bg1"/>
                  </a:solidFill>
                  <a:latin typeface="Avenir Book" panose="02000503020000020003" pitchFamily="2" charset="0"/>
                </a:rPr>
                <a:t>Gradisar</a:t>
              </a:r>
              <a:r>
                <a:rPr lang="en-US" sz="800" dirty="0">
                  <a:solidFill>
                    <a:schemeClr val="bg1"/>
                  </a:solidFill>
                  <a:latin typeface="Avenir Book" panose="02000503020000020003" pitchFamily="2" charset="0"/>
                </a:rPr>
                <a:t>, “Generative Design Methodology and Framework Exploiting…” MDPI Buildings, 2022. </a:t>
              </a:r>
            </a:p>
          </p:txBody>
        </p:sp>
        <p:cxnSp>
          <p:nvCxnSpPr>
            <p:cNvPr id="55" name="Straight Connector 54">
              <a:extLst>
                <a:ext uri="{FF2B5EF4-FFF2-40B4-BE49-F238E27FC236}">
                  <a16:creationId xmlns:a16="http://schemas.microsoft.com/office/drawing/2014/main" id="{7F179727-37D1-6A98-16E7-3664B41CC7BB}"/>
                </a:ext>
              </a:extLst>
            </p:cNvPr>
            <p:cNvCxnSpPr>
              <a:cxnSpLocks/>
            </p:cNvCxnSpPr>
            <p:nvPr/>
          </p:nvCxnSpPr>
          <p:spPr>
            <a:xfrm>
              <a:off x="7777800" y="1962874"/>
              <a:ext cx="2176869" cy="0"/>
            </a:xfrm>
            <a:prstGeom prst="line">
              <a:avLst/>
            </a:prstGeom>
            <a:ln>
              <a:solidFill>
                <a:schemeClr val="bg1"/>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56" name="TextBox 55">
              <a:extLst>
                <a:ext uri="{FF2B5EF4-FFF2-40B4-BE49-F238E27FC236}">
                  <a16:creationId xmlns:a16="http://schemas.microsoft.com/office/drawing/2014/main" id="{1CAF6C90-7890-81E2-CE68-0EE310799B99}"/>
                </a:ext>
              </a:extLst>
            </p:cNvPr>
            <p:cNvSpPr txBox="1"/>
            <p:nvPr/>
          </p:nvSpPr>
          <p:spPr>
            <a:xfrm>
              <a:off x="7683912" y="2097342"/>
              <a:ext cx="2204142" cy="276999"/>
            </a:xfrm>
            <a:prstGeom prst="rect">
              <a:avLst/>
            </a:prstGeom>
            <a:noFill/>
          </p:spPr>
          <p:txBody>
            <a:bodyPr wrap="square" rtlCol="0">
              <a:spAutoFit/>
            </a:bodyPr>
            <a:lstStyle/>
            <a:p>
              <a:r>
                <a:rPr lang="en-US" sz="1200" dirty="0">
                  <a:solidFill>
                    <a:schemeClr val="bg1"/>
                  </a:solidFill>
                  <a:latin typeface="Avenir Medium" panose="02000503020000020003" pitchFamily="2" charset="0"/>
                </a:rPr>
                <a:t>Growth Metrics</a:t>
              </a:r>
            </a:p>
          </p:txBody>
        </p:sp>
      </p:grpSp>
      <p:grpSp>
        <p:nvGrpSpPr>
          <p:cNvPr id="57" name="Group 56">
            <a:extLst>
              <a:ext uri="{FF2B5EF4-FFF2-40B4-BE49-F238E27FC236}">
                <a16:creationId xmlns:a16="http://schemas.microsoft.com/office/drawing/2014/main" id="{4C7CBEBC-3EC7-3A51-0A8C-2D891CD05AD2}"/>
              </a:ext>
            </a:extLst>
          </p:cNvPr>
          <p:cNvGrpSpPr/>
          <p:nvPr/>
        </p:nvGrpSpPr>
        <p:grpSpPr>
          <a:xfrm>
            <a:off x="4359016" y="4918167"/>
            <a:ext cx="2661615" cy="873644"/>
            <a:chOff x="7680613" y="1962874"/>
            <a:chExt cx="2661615" cy="873644"/>
          </a:xfrm>
        </p:grpSpPr>
        <p:sp>
          <p:nvSpPr>
            <p:cNvPr id="58" name="TextBox 57">
              <a:extLst>
                <a:ext uri="{FF2B5EF4-FFF2-40B4-BE49-F238E27FC236}">
                  <a16:creationId xmlns:a16="http://schemas.microsoft.com/office/drawing/2014/main" id="{46E6FB6C-D2F1-6D50-17DF-70B94D250650}"/>
                </a:ext>
              </a:extLst>
            </p:cNvPr>
            <p:cNvSpPr txBox="1"/>
            <p:nvPr/>
          </p:nvSpPr>
          <p:spPr>
            <a:xfrm>
              <a:off x="7680613" y="2390819"/>
              <a:ext cx="2661615" cy="445699"/>
            </a:xfrm>
            <a:prstGeom prst="rect">
              <a:avLst/>
            </a:prstGeom>
            <a:noFill/>
          </p:spPr>
          <p:txBody>
            <a:bodyPr wrap="square" rtlCol="0">
              <a:spAutoFit/>
            </a:bodyPr>
            <a:lstStyle/>
            <a:p>
              <a:pPr>
                <a:lnSpc>
                  <a:spcPct val="150000"/>
                </a:lnSpc>
              </a:pPr>
              <a:r>
                <a:rPr lang="en-US" sz="800" dirty="0">
                  <a:solidFill>
                    <a:schemeClr val="bg1"/>
                  </a:solidFill>
                  <a:latin typeface="Avenir Book" panose="02000503020000020003" pitchFamily="2" charset="0"/>
                </a:rPr>
                <a:t>H. Armstrong, Graphic Design Theory: Readings From the Field. (2009)</a:t>
              </a:r>
            </a:p>
          </p:txBody>
        </p:sp>
        <p:cxnSp>
          <p:nvCxnSpPr>
            <p:cNvPr id="59" name="Straight Connector 58">
              <a:extLst>
                <a:ext uri="{FF2B5EF4-FFF2-40B4-BE49-F238E27FC236}">
                  <a16:creationId xmlns:a16="http://schemas.microsoft.com/office/drawing/2014/main" id="{D69744D8-057A-84B4-EE2C-0ECB651BCE7B}"/>
                </a:ext>
              </a:extLst>
            </p:cNvPr>
            <p:cNvCxnSpPr>
              <a:cxnSpLocks/>
            </p:cNvCxnSpPr>
            <p:nvPr/>
          </p:nvCxnSpPr>
          <p:spPr>
            <a:xfrm>
              <a:off x="7777800" y="1962874"/>
              <a:ext cx="2176869" cy="0"/>
            </a:xfrm>
            <a:prstGeom prst="line">
              <a:avLst/>
            </a:prstGeom>
            <a:ln>
              <a:solidFill>
                <a:schemeClr val="bg1"/>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60" name="TextBox 59">
              <a:extLst>
                <a:ext uri="{FF2B5EF4-FFF2-40B4-BE49-F238E27FC236}">
                  <a16:creationId xmlns:a16="http://schemas.microsoft.com/office/drawing/2014/main" id="{EDBC9A41-BCB3-6649-D886-A0F346BAFC36}"/>
                </a:ext>
              </a:extLst>
            </p:cNvPr>
            <p:cNvSpPr txBox="1"/>
            <p:nvPr/>
          </p:nvSpPr>
          <p:spPr>
            <a:xfrm>
              <a:off x="7683912" y="2097342"/>
              <a:ext cx="2204142" cy="276999"/>
            </a:xfrm>
            <a:prstGeom prst="rect">
              <a:avLst/>
            </a:prstGeom>
            <a:noFill/>
          </p:spPr>
          <p:txBody>
            <a:bodyPr wrap="square" rtlCol="0">
              <a:spAutoFit/>
            </a:bodyPr>
            <a:lstStyle/>
            <a:p>
              <a:r>
                <a:rPr lang="en-US" sz="1200" dirty="0">
                  <a:solidFill>
                    <a:schemeClr val="bg1"/>
                  </a:solidFill>
                  <a:latin typeface="Avenir Medium" panose="02000503020000020003" pitchFamily="2" charset="0"/>
                </a:rPr>
                <a:t>Field Insights</a:t>
              </a:r>
            </a:p>
          </p:txBody>
        </p:sp>
      </p:grpSp>
      <p:grpSp>
        <p:nvGrpSpPr>
          <p:cNvPr id="61" name="Group 60">
            <a:extLst>
              <a:ext uri="{FF2B5EF4-FFF2-40B4-BE49-F238E27FC236}">
                <a16:creationId xmlns:a16="http://schemas.microsoft.com/office/drawing/2014/main" id="{B4C05455-911B-6AEE-4F76-D34E72319348}"/>
              </a:ext>
            </a:extLst>
          </p:cNvPr>
          <p:cNvGrpSpPr/>
          <p:nvPr/>
        </p:nvGrpSpPr>
        <p:grpSpPr>
          <a:xfrm>
            <a:off x="8692667" y="4918167"/>
            <a:ext cx="2661615" cy="873644"/>
            <a:chOff x="7680613" y="1962874"/>
            <a:chExt cx="2661615" cy="873644"/>
          </a:xfrm>
        </p:grpSpPr>
        <p:sp>
          <p:nvSpPr>
            <p:cNvPr id="62" name="TextBox 61">
              <a:extLst>
                <a:ext uri="{FF2B5EF4-FFF2-40B4-BE49-F238E27FC236}">
                  <a16:creationId xmlns:a16="http://schemas.microsoft.com/office/drawing/2014/main" id="{DC773005-DD0F-FFAC-09DE-415C551012C1}"/>
                </a:ext>
              </a:extLst>
            </p:cNvPr>
            <p:cNvSpPr txBox="1"/>
            <p:nvPr/>
          </p:nvSpPr>
          <p:spPr>
            <a:xfrm>
              <a:off x="7680613" y="2390819"/>
              <a:ext cx="2661615" cy="445699"/>
            </a:xfrm>
            <a:prstGeom prst="rect">
              <a:avLst/>
            </a:prstGeom>
            <a:noFill/>
          </p:spPr>
          <p:txBody>
            <a:bodyPr wrap="square" rtlCol="0">
              <a:spAutoFit/>
            </a:bodyPr>
            <a:lstStyle/>
            <a:p>
              <a:pPr>
                <a:lnSpc>
                  <a:spcPct val="150000"/>
                </a:lnSpc>
              </a:pPr>
              <a:r>
                <a:rPr lang="en-US" sz="800" dirty="0">
                  <a:solidFill>
                    <a:schemeClr val="bg1"/>
                  </a:solidFill>
                  <a:latin typeface="Avenir Book" panose="02000503020000020003" pitchFamily="2" charset="0"/>
                </a:rPr>
                <a:t>J. Broadbent, “Generations In Design Methodology,” DRS Conference Papers, 2002.</a:t>
              </a:r>
            </a:p>
          </p:txBody>
        </p:sp>
        <p:cxnSp>
          <p:nvCxnSpPr>
            <p:cNvPr id="63" name="Straight Connector 62">
              <a:extLst>
                <a:ext uri="{FF2B5EF4-FFF2-40B4-BE49-F238E27FC236}">
                  <a16:creationId xmlns:a16="http://schemas.microsoft.com/office/drawing/2014/main" id="{D347E3F9-B6CF-EFAC-881B-7D8F8E7254CF}"/>
                </a:ext>
              </a:extLst>
            </p:cNvPr>
            <p:cNvCxnSpPr>
              <a:cxnSpLocks/>
            </p:cNvCxnSpPr>
            <p:nvPr/>
          </p:nvCxnSpPr>
          <p:spPr>
            <a:xfrm>
              <a:off x="7777800" y="1962874"/>
              <a:ext cx="2176869" cy="0"/>
            </a:xfrm>
            <a:prstGeom prst="line">
              <a:avLst/>
            </a:prstGeom>
            <a:ln>
              <a:solidFill>
                <a:schemeClr val="bg1"/>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64" name="TextBox 63">
              <a:extLst>
                <a:ext uri="{FF2B5EF4-FFF2-40B4-BE49-F238E27FC236}">
                  <a16:creationId xmlns:a16="http://schemas.microsoft.com/office/drawing/2014/main" id="{2A41D0D9-F08A-ABB0-3906-6F41FA8A0513}"/>
                </a:ext>
              </a:extLst>
            </p:cNvPr>
            <p:cNvSpPr txBox="1"/>
            <p:nvPr/>
          </p:nvSpPr>
          <p:spPr>
            <a:xfrm>
              <a:off x="7683912" y="2097342"/>
              <a:ext cx="2204142" cy="276999"/>
            </a:xfrm>
            <a:prstGeom prst="rect">
              <a:avLst/>
            </a:prstGeom>
            <a:noFill/>
          </p:spPr>
          <p:txBody>
            <a:bodyPr wrap="square" rtlCol="0">
              <a:spAutoFit/>
            </a:bodyPr>
            <a:lstStyle/>
            <a:p>
              <a:r>
                <a:rPr lang="en-US" sz="1200" dirty="0">
                  <a:solidFill>
                    <a:schemeClr val="bg1"/>
                  </a:solidFill>
                  <a:latin typeface="Avenir Medium" panose="02000503020000020003" pitchFamily="2" charset="0"/>
                </a:rPr>
                <a:t>Self Discovery</a:t>
              </a:r>
            </a:p>
          </p:txBody>
        </p:sp>
      </p:grpSp>
      <p:sp>
        <p:nvSpPr>
          <p:cNvPr id="66" name="TextBox 65">
            <a:extLst>
              <a:ext uri="{FF2B5EF4-FFF2-40B4-BE49-F238E27FC236}">
                <a16:creationId xmlns:a16="http://schemas.microsoft.com/office/drawing/2014/main" id="{8D8C7C0A-E4A0-2748-2AF3-E318FBDEF601}"/>
              </a:ext>
            </a:extLst>
          </p:cNvPr>
          <p:cNvSpPr txBox="1"/>
          <p:nvPr/>
        </p:nvSpPr>
        <p:spPr>
          <a:xfrm>
            <a:off x="9822222" y="6285901"/>
            <a:ext cx="1957881" cy="261034"/>
          </a:xfrm>
          <a:prstGeom prst="rect">
            <a:avLst/>
          </a:prstGeom>
          <a:noFill/>
        </p:spPr>
        <p:txBody>
          <a:bodyPr wrap="square" rtlCol="0">
            <a:spAutoFit/>
          </a:bodyPr>
          <a:lstStyle/>
          <a:p>
            <a:pPr algn="r">
              <a:lnSpc>
                <a:spcPct val="150000"/>
              </a:lnSpc>
            </a:pPr>
            <a:r>
              <a:rPr lang="en-US" sz="800" dirty="0">
                <a:solidFill>
                  <a:schemeClr val="bg1"/>
                </a:solidFill>
                <a:latin typeface="Avenir Book" panose="02000503020000020003" pitchFamily="2" charset="0"/>
              </a:rPr>
              <a:t>Copyright 2025 – Handshake AI</a:t>
            </a:r>
          </a:p>
        </p:txBody>
      </p:sp>
      <p:pic>
        <p:nvPicPr>
          <p:cNvPr id="2" name="Picture 1">
            <a:extLst>
              <a:ext uri="{FF2B5EF4-FFF2-40B4-BE49-F238E27FC236}">
                <a16:creationId xmlns:a16="http://schemas.microsoft.com/office/drawing/2014/main" id="{564C64DC-772E-8362-44DB-EDBF4E38F8AC}"/>
              </a:ext>
            </a:extLst>
          </p:cNvPr>
          <p:cNvPicPr>
            <a:picLocks noChangeAspect="1"/>
          </p:cNvPicPr>
          <p:nvPr/>
        </p:nvPicPr>
        <p:blipFill>
          <a:blip r:embed="rId3"/>
          <a:srcRect/>
          <a:stretch/>
        </p:blipFill>
        <p:spPr>
          <a:xfrm>
            <a:off x="11484209" y="316699"/>
            <a:ext cx="295894" cy="233756"/>
          </a:xfrm>
          <a:prstGeom prst="rect">
            <a:avLst/>
          </a:prstGeom>
        </p:spPr>
      </p:pic>
      <p:sp>
        <p:nvSpPr>
          <p:cNvPr id="3" name="TextBox 2">
            <a:extLst>
              <a:ext uri="{FF2B5EF4-FFF2-40B4-BE49-F238E27FC236}">
                <a16:creationId xmlns:a16="http://schemas.microsoft.com/office/drawing/2014/main" id="{1B40CFAA-19FA-8301-4EC6-B7653ABD395F}"/>
              </a:ext>
            </a:extLst>
          </p:cNvPr>
          <p:cNvSpPr txBox="1"/>
          <p:nvPr/>
        </p:nvSpPr>
        <p:spPr>
          <a:xfrm>
            <a:off x="401638" y="316699"/>
            <a:ext cx="4743427" cy="307777"/>
          </a:xfrm>
          <a:prstGeom prst="rect">
            <a:avLst/>
          </a:prstGeom>
          <a:noFill/>
        </p:spPr>
        <p:txBody>
          <a:bodyPr wrap="square" lIns="0" tIns="0" rIns="0" bIns="0" rtlCol="0">
            <a:spAutoFit/>
          </a:bodyPr>
          <a:lstStyle/>
          <a:p>
            <a:r>
              <a:rPr lang="en-US" sz="2000" dirty="0">
                <a:solidFill>
                  <a:schemeClr val="bg1"/>
                </a:solidFill>
                <a:latin typeface="Avenir Medium" panose="02000503020000020003" pitchFamily="2" charset="0"/>
              </a:rPr>
              <a:t>APPENDIX</a:t>
            </a:r>
          </a:p>
        </p:txBody>
      </p:sp>
    </p:spTree>
    <p:extLst>
      <p:ext uri="{BB962C8B-B14F-4D97-AF65-F5344CB8AC3E}">
        <p14:creationId xmlns:p14="http://schemas.microsoft.com/office/powerpoint/2010/main" val="26678651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1199</TotalTime>
  <Words>1212</Words>
  <Application>Microsoft Macintosh PowerPoint</Application>
  <PresentationFormat>Widescreen</PresentationFormat>
  <Paragraphs>244</Paragraphs>
  <Slides>14</Slides>
  <Notes>14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Aptos</vt:lpstr>
      <vt:lpstr>Aptos Display</vt:lpstr>
      <vt:lpstr>Arial</vt:lpstr>
      <vt:lpstr>Avenir Book</vt:lpstr>
      <vt:lpstr>Avenir Heavy</vt:lpstr>
      <vt:lpstr>Avenir Medium</vt:lpstr>
      <vt:lpstr>Gotham Rounded Book</vt:lpstr>
      <vt:lpstr>Office Theme</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Shedrick Turner Jr.</dc:creator>
  <cp:lastModifiedBy>Oona Gleeson</cp:lastModifiedBy>
  <cp:revision>26</cp:revision>
  <dcterms:created xsi:type="dcterms:W3CDTF">2025-10-26T19:50:56Z</dcterms:created>
  <dcterms:modified xsi:type="dcterms:W3CDTF">2026-01-27T02:30:26Z</dcterms:modified>
</cp:coreProperties>
</file>