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7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8" r:id="rId5"/>
  </p:sldMasterIdLst>
  <p:notesMasterIdLst>
    <p:notesMasterId r:id="rId17"/>
  </p:notesMasterIdLst>
  <p:sldIdLst>
    <p:sldId id="265" r:id="rId6"/>
    <p:sldId id="275" r:id="rId7"/>
    <p:sldId id="267" r:id="rId8"/>
    <p:sldId id="262" r:id="rId9"/>
    <p:sldId id="263" r:id="rId10"/>
    <p:sldId id="266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3330"/>
    <a:srgbClr val="15626A"/>
    <a:srgbClr val="1F8E8B"/>
    <a:srgbClr val="ABE534"/>
    <a:srgbClr val="6CE534"/>
    <a:srgbClr val="DFF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36"/>
    <p:restoredTop sz="94737"/>
  </p:normalViewPr>
  <p:slideViewPr>
    <p:cSldViewPr snapToGrid="0">
      <p:cViewPr>
        <p:scale>
          <a:sx n="49" d="100"/>
          <a:sy n="49" d="100"/>
        </p:scale>
        <p:origin x="3288" y="2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rgbClr val="0A3330"/>
              </a:solidFill>
              <a:latin typeface="Avenir Heavy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Ratio (%)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57150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65.5</c:v>
                </c:pt>
                <c:pt idx="3">
                  <c:v>66</c:v>
                </c:pt>
                <c:pt idx="4">
                  <c:v>67</c:v>
                </c:pt>
                <c:pt idx="5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6A-D144-BA10-B46B38FE2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6303632"/>
        <c:axId val="256727616"/>
      </c:lineChart>
      <c:catAx>
        <c:axId val="25630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727616"/>
        <c:crosses val="autoZero"/>
        <c:auto val="1"/>
        <c:lblAlgn val="ctr"/>
        <c:lblOffset val="100"/>
        <c:noMultiLvlLbl val="0"/>
      </c:catAx>
      <c:valAx>
        <c:axId val="256727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alpha val="10591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A3330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25630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18595466018768E-2"/>
          <c:y val="7.4682379800250318E-2"/>
          <c:w val="0.92494911894713083"/>
          <c:h val="0.811127456515647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333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Automation</c:v>
                </c:pt>
                <c:pt idx="1">
                  <c:v>Manual</c:v>
                </c:pt>
                <c:pt idx="2">
                  <c:v>Redundancy</c:v>
                </c:pt>
                <c:pt idx="3">
                  <c:v>Cycle</c:v>
                </c:pt>
                <c:pt idx="4">
                  <c:v>Benchmark</c:v>
                </c:pt>
                <c:pt idx="5">
                  <c:v>Leakage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72</c:v>
                </c:pt>
                <c:pt idx="2">
                  <c:v>18</c:v>
                </c:pt>
                <c:pt idx="3">
                  <c:v>12</c:v>
                </c:pt>
                <c:pt idx="4">
                  <c:v>5</c:v>
                </c:pt>
                <c:pt idx="5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AC-8A4B-BF11-A31C2DF759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Automation</c:v>
                </c:pt>
                <c:pt idx="1">
                  <c:v>Manual</c:v>
                </c:pt>
                <c:pt idx="2">
                  <c:v>Redundancy</c:v>
                </c:pt>
                <c:pt idx="3">
                  <c:v>Cycle</c:v>
                </c:pt>
                <c:pt idx="4">
                  <c:v>Benchmark</c:v>
                </c:pt>
                <c:pt idx="5">
                  <c:v>Leakage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AC-8A4B-BF11-A31C2DF759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7729951"/>
        <c:axId val="1657731663"/>
      </c:barChart>
      <c:catAx>
        <c:axId val="1657729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A3330">
                <a:alpha val="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31663"/>
        <c:crosses val="autoZero"/>
        <c:auto val="1"/>
        <c:lblAlgn val="ctr"/>
        <c:lblOffset val="100"/>
        <c:noMultiLvlLbl val="0"/>
      </c:catAx>
      <c:valAx>
        <c:axId val="165773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A3330">
                  <a:alpha val="12018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29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18595466018768E-2"/>
          <c:y val="7.4682379800250318E-2"/>
          <c:w val="0.92494911894713083"/>
          <c:h val="0.811127456515647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333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Current</c:v>
                </c:pt>
                <c:pt idx="1">
                  <c:v>Projected</c:v>
                </c:pt>
                <c:pt idx="2">
                  <c:v>Savings</c:v>
                </c:pt>
                <c:pt idx="3">
                  <c:v>Pricing</c:v>
                </c:pt>
                <c:pt idx="4">
                  <c:v>Forecast</c:v>
                </c:pt>
                <c:pt idx="5">
                  <c:v>ROI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12.8</c:v>
                </c:pt>
                <c:pt idx="1">
                  <c:v>15.6</c:v>
                </c:pt>
                <c:pt idx="2">
                  <c:v>1.7</c:v>
                </c:pt>
                <c:pt idx="3">
                  <c:v>0.9</c:v>
                </c:pt>
                <c:pt idx="4">
                  <c:v>16</c:v>
                </c:pt>
                <c:pt idx="5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9B-CB48-B0E3-1ACCDA7490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Current</c:v>
                </c:pt>
                <c:pt idx="1">
                  <c:v>Projected</c:v>
                </c:pt>
                <c:pt idx="2">
                  <c:v>Savings</c:v>
                </c:pt>
                <c:pt idx="3">
                  <c:v>Pricing</c:v>
                </c:pt>
                <c:pt idx="4">
                  <c:v>Forecast</c:v>
                </c:pt>
                <c:pt idx="5">
                  <c:v>ROI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9B-CB48-B0E3-1ACCDA749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7729951"/>
        <c:axId val="1657731663"/>
      </c:barChart>
      <c:catAx>
        <c:axId val="1657729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A3330">
                <a:alpha val="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31663"/>
        <c:crosses val="autoZero"/>
        <c:auto val="1"/>
        <c:lblAlgn val="ctr"/>
        <c:lblOffset val="100"/>
        <c:noMultiLvlLbl val="0"/>
      </c:catAx>
      <c:valAx>
        <c:axId val="165773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A3330">
                  <a:alpha val="12018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29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A3330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Claims Cycle (Days)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A33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8F2-0240-B6F7-26A02228610A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8F2-0240-B6F7-26A02228610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8F2-0240-B6F7-26A0222861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F2-0240-B6F7-26A02228610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918193061251058"/>
          <c:y val="0.15865856915658563"/>
          <c:w val="0.53816910759617265"/>
          <c:h val="7.4959749921691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A3330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Manual Review Ratio (%)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A33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8F-DF41-99EE-14312362A240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48F-DF41-99EE-14312362A24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948F-DF41-99EE-14312362A2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8F-DF41-99EE-14312362A24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5240851396211678"/>
          <c:y val="0.15865856915658563"/>
          <c:w val="0.51832923257176333"/>
          <c:h val="7.4959749921691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0A3330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r>
              <a:rPr lang="en-US" sz="1800" dirty="0">
                <a:solidFill>
                  <a:srgbClr val="0A3330"/>
                </a:solidFill>
                <a:latin typeface="Avenir Book" panose="02000503020000020003" pitchFamily="2" charset="0"/>
              </a:rPr>
              <a:t>Claims Coverage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A3330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Claims Automation Coverage (%)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A33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D1C-A641-B6BB-51834F914558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D1C-A641-B6BB-51834F914558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AD1C-A641-B6BB-51834F9145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1C-A641-B6BB-51834F91455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5240851396211678"/>
          <c:y val="0.15865856915658563"/>
          <c:w val="0.51832923257176333"/>
          <c:h val="7.4959749921691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bg1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r>
              <a:rPr lang="en-GB">
                <a:solidFill>
                  <a:schemeClr val="bg1"/>
                </a:solidFill>
                <a:latin typeface="Avenir Book" panose="02000503020000020003" pitchFamily="2" charset="0"/>
              </a:rPr>
              <a:t>Cost Efficiency &amp; Margin Improvement</a:t>
            </a:r>
            <a:endParaRPr lang="en-US">
              <a:solidFill>
                <a:schemeClr val="bg1"/>
              </a:solidFill>
              <a:latin typeface="Avenir Book" panose="02000503020000020003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bg1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CE53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Claims Automation</c:v>
                </c:pt>
                <c:pt idx="1">
                  <c:v>Process Optimization</c:v>
                </c:pt>
                <c:pt idx="2">
                  <c:v>Pricing &amp; Underwriting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0.45</c:v>
                </c:pt>
                <c:pt idx="1">
                  <c:v>0.25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BE-744F-85D0-219A434966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Claims Automation</c:v>
                </c:pt>
                <c:pt idx="1">
                  <c:v>Process Optimization</c:v>
                </c:pt>
                <c:pt idx="2">
                  <c:v>Pricing &amp; Underwriting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</c:v>
                </c:pt>
                <c:pt idx="1">
                  <c:v>0.9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BE-744F-85D0-219A434966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092100383"/>
        <c:axId val="1091909951"/>
      </c:barChart>
      <c:catAx>
        <c:axId val="1092100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bg1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091909951"/>
        <c:crosses val="autoZero"/>
        <c:auto val="1"/>
        <c:lblAlgn val="ctr"/>
        <c:lblOffset val="100"/>
        <c:noMultiLvlLbl val="0"/>
      </c:catAx>
      <c:valAx>
        <c:axId val="109190995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092100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0776247185224741"/>
          <c:y val="0.15045497560557833"/>
          <c:w val="0.76496561783344819"/>
          <c:h val="4.59767430173489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rgbClr val="0A3330"/>
              </a:solidFill>
              <a:latin typeface="Avenir Heavy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Ratio (%)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57150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65.5</c:v>
                </c:pt>
                <c:pt idx="3">
                  <c:v>66</c:v>
                </c:pt>
                <c:pt idx="4">
                  <c:v>67</c:v>
                </c:pt>
                <c:pt idx="5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6A-D144-BA10-B46B38FE2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6303632"/>
        <c:axId val="256727616"/>
      </c:lineChart>
      <c:catAx>
        <c:axId val="25630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727616"/>
        <c:crosses val="autoZero"/>
        <c:auto val="1"/>
        <c:lblAlgn val="ctr"/>
        <c:lblOffset val="100"/>
        <c:noMultiLvlLbl val="0"/>
      </c:catAx>
      <c:valAx>
        <c:axId val="256727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alpha val="10591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A3330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25630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18595466018768E-2"/>
          <c:y val="7.4682379800250318E-2"/>
          <c:w val="0.92494911894713083"/>
          <c:h val="0.811127456515647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333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Automation</c:v>
                </c:pt>
                <c:pt idx="1">
                  <c:v>Manual</c:v>
                </c:pt>
                <c:pt idx="2">
                  <c:v>Redundancy</c:v>
                </c:pt>
                <c:pt idx="3">
                  <c:v>Cycle</c:v>
                </c:pt>
                <c:pt idx="4">
                  <c:v>Benchmark</c:v>
                </c:pt>
                <c:pt idx="5">
                  <c:v>Leakage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72</c:v>
                </c:pt>
                <c:pt idx="2">
                  <c:v>18</c:v>
                </c:pt>
                <c:pt idx="3">
                  <c:v>12</c:v>
                </c:pt>
                <c:pt idx="4">
                  <c:v>5</c:v>
                </c:pt>
                <c:pt idx="5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AC-8A4B-BF11-A31C2DF759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Automation</c:v>
                </c:pt>
                <c:pt idx="1">
                  <c:v>Manual</c:v>
                </c:pt>
                <c:pt idx="2">
                  <c:v>Redundancy</c:v>
                </c:pt>
                <c:pt idx="3">
                  <c:v>Cycle</c:v>
                </c:pt>
                <c:pt idx="4">
                  <c:v>Benchmark</c:v>
                </c:pt>
                <c:pt idx="5">
                  <c:v>Leakage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AC-8A4B-BF11-A31C2DF759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7729951"/>
        <c:axId val="1657731663"/>
      </c:barChart>
      <c:catAx>
        <c:axId val="1657729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A3330">
                <a:alpha val="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31663"/>
        <c:crosses val="autoZero"/>
        <c:auto val="1"/>
        <c:lblAlgn val="ctr"/>
        <c:lblOffset val="100"/>
        <c:noMultiLvlLbl val="0"/>
      </c:catAx>
      <c:valAx>
        <c:axId val="165773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A3330">
                  <a:alpha val="12018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29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18595466018768E-2"/>
          <c:y val="7.4682379800250318E-2"/>
          <c:w val="0.92494911894713083"/>
          <c:h val="0.811127456515647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333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Current</c:v>
                </c:pt>
                <c:pt idx="1">
                  <c:v>Projected</c:v>
                </c:pt>
                <c:pt idx="2">
                  <c:v>Savings</c:v>
                </c:pt>
                <c:pt idx="3">
                  <c:v>Pricing</c:v>
                </c:pt>
                <c:pt idx="4">
                  <c:v>Forecast</c:v>
                </c:pt>
                <c:pt idx="5">
                  <c:v>ROI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12.8</c:v>
                </c:pt>
                <c:pt idx="1">
                  <c:v>15.6</c:v>
                </c:pt>
                <c:pt idx="2">
                  <c:v>1.7</c:v>
                </c:pt>
                <c:pt idx="3">
                  <c:v>0.9</c:v>
                </c:pt>
                <c:pt idx="4">
                  <c:v>16</c:v>
                </c:pt>
                <c:pt idx="5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9B-CB48-B0E3-1ACCDA7490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Current</c:v>
                </c:pt>
                <c:pt idx="1">
                  <c:v>Projected</c:v>
                </c:pt>
                <c:pt idx="2">
                  <c:v>Savings</c:v>
                </c:pt>
                <c:pt idx="3">
                  <c:v>Pricing</c:v>
                </c:pt>
                <c:pt idx="4">
                  <c:v>Forecast</c:v>
                </c:pt>
                <c:pt idx="5">
                  <c:v>ROI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9B-CB48-B0E3-1ACCDA749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7729951"/>
        <c:axId val="1657731663"/>
      </c:barChart>
      <c:catAx>
        <c:axId val="1657729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A3330">
                <a:alpha val="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31663"/>
        <c:crosses val="autoZero"/>
        <c:auto val="1"/>
        <c:lblAlgn val="ctr"/>
        <c:lblOffset val="100"/>
        <c:noMultiLvlLbl val="0"/>
      </c:catAx>
      <c:valAx>
        <c:axId val="165773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A3330">
                  <a:alpha val="12018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29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A3330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Claims Cycle (Days)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A33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8F2-0240-B6F7-26A02228610A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8F2-0240-B6F7-26A02228610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8F2-0240-B6F7-26A0222861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F2-0240-B6F7-26A02228610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918193061251058"/>
          <c:y val="0.15865856915658563"/>
          <c:w val="0.53816910759617265"/>
          <c:h val="7.4959749921691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A3330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Manual Review Ratio (%)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A33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8F-DF41-99EE-14312362A240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48F-DF41-99EE-14312362A24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948F-DF41-99EE-14312362A2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8F-DF41-99EE-14312362A24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5240851396211678"/>
          <c:y val="0.15865856915658563"/>
          <c:w val="0.51832923257176333"/>
          <c:h val="7.4959749921691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0A3330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r>
              <a:rPr lang="en-US" sz="1800" dirty="0">
                <a:solidFill>
                  <a:srgbClr val="0A3330"/>
                </a:solidFill>
                <a:latin typeface="Avenir Book" panose="02000503020000020003" pitchFamily="2" charset="0"/>
              </a:rPr>
              <a:t>Claims Coverage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A3330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Claims Automation Coverage (%)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A33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D1C-A641-B6BB-51834F914558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D1C-A641-B6BB-51834F914558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AD1C-A641-B6BB-51834F9145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1C-A641-B6BB-51834F91455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5240851396211678"/>
          <c:y val="0.15865856915658563"/>
          <c:w val="0.51832923257176333"/>
          <c:h val="7.4959749921691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bg1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r>
              <a:rPr lang="en-GB">
                <a:solidFill>
                  <a:schemeClr val="bg1"/>
                </a:solidFill>
                <a:latin typeface="Avenir Book" panose="02000503020000020003" pitchFamily="2" charset="0"/>
              </a:rPr>
              <a:t>Cost Efficiency &amp; Margin Improvement</a:t>
            </a:r>
            <a:endParaRPr lang="en-US">
              <a:solidFill>
                <a:schemeClr val="bg1"/>
              </a:solidFill>
              <a:latin typeface="Avenir Book" panose="02000503020000020003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bg1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CE53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Claims Automation</c:v>
                </c:pt>
                <c:pt idx="1">
                  <c:v>Process Optimization</c:v>
                </c:pt>
                <c:pt idx="2">
                  <c:v>Pricing &amp; Underwriting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0.45</c:v>
                </c:pt>
                <c:pt idx="1">
                  <c:v>0.25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BE-744F-85D0-219A434966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Claims Automation</c:v>
                </c:pt>
                <c:pt idx="1">
                  <c:v>Process Optimization</c:v>
                </c:pt>
                <c:pt idx="2">
                  <c:v>Pricing &amp; Underwriting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</c:v>
                </c:pt>
                <c:pt idx="1">
                  <c:v>0.9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BE-744F-85D0-219A434966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092100383"/>
        <c:axId val="1091909951"/>
      </c:barChart>
      <c:catAx>
        <c:axId val="1092100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bg1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091909951"/>
        <c:crosses val="autoZero"/>
        <c:auto val="1"/>
        <c:lblAlgn val="ctr"/>
        <c:lblOffset val="100"/>
        <c:noMultiLvlLbl val="0"/>
      </c:catAx>
      <c:valAx>
        <c:axId val="109190995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092100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0776247185224741"/>
          <c:y val="0.15045497560557833"/>
          <c:w val="0.76496561783344819"/>
          <c:h val="4.59767430173489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rgbClr val="0A3330"/>
              </a:solidFill>
              <a:latin typeface="Avenir Heavy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Ratio (%)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57150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65.5</c:v>
                </c:pt>
                <c:pt idx="3">
                  <c:v>66</c:v>
                </c:pt>
                <c:pt idx="4">
                  <c:v>67</c:v>
                </c:pt>
                <c:pt idx="5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682-BD4A-BA16-3D3F152E0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6303632"/>
        <c:axId val="256727616"/>
      </c:lineChart>
      <c:catAx>
        <c:axId val="25630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727616"/>
        <c:crosses val="autoZero"/>
        <c:auto val="1"/>
        <c:lblAlgn val="ctr"/>
        <c:lblOffset val="100"/>
        <c:noMultiLvlLbl val="0"/>
      </c:catAx>
      <c:valAx>
        <c:axId val="256727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alpha val="10591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A3330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25630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18595466018768E-2"/>
          <c:y val="7.4682379800250318E-2"/>
          <c:w val="0.92494911894713083"/>
          <c:h val="0.811127456515647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333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Automation</c:v>
                </c:pt>
                <c:pt idx="1">
                  <c:v>Manual</c:v>
                </c:pt>
                <c:pt idx="2">
                  <c:v>Redundancy</c:v>
                </c:pt>
                <c:pt idx="3">
                  <c:v>Cycle</c:v>
                </c:pt>
                <c:pt idx="4">
                  <c:v>Benchmark</c:v>
                </c:pt>
                <c:pt idx="5">
                  <c:v>Leakage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72</c:v>
                </c:pt>
                <c:pt idx="2">
                  <c:v>18</c:v>
                </c:pt>
                <c:pt idx="3">
                  <c:v>12</c:v>
                </c:pt>
                <c:pt idx="4">
                  <c:v>5</c:v>
                </c:pt>
                <c:pt idx="5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74-D948-B70E-E16B0192CA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Automation</c:v>
                </c:pt>
                <c:pt idx="1">
                  <c:v>Manual</c:v>
                </c:pt>
                <c:pt idx="2">
                  <c:v>Redundancy</c:v>
                </c:pt>
                <c:pt idx="3">
                  <c:v>Cycle</c:v>
                </c:pt>
                <c:pt idx="4">
                  <c:v>Benchmark</c:v>
                </c:pt>
                <c:pt idx="5">
                  <c:v>Leakage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74-D948-B70E-E16B0192C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7729951"/>
        <c:axId val="1657731663"/>
      </c:barChart>
      <c:catAx>
        <c:axId val="1657729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A3330">
                <a:alpha val="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31663"/>
        <c:crosses val="autoZero"/>
        <c:auto val="1"/>
        <c:lblAlgn val="ctr"/>
        <c:lblOffset val="100"/>
        <c:noMultiLvlLbl val="0"/>
      </c:catAx>
      <c:valAx>
        <c:axId val="165773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A3330">
                  <a:alpha val="12018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29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18595466018768E-2"/>
          <c:y val="7.4682379800250318E-2"/>
          <c:w val="0.92494911894713083"/>
          <c:h val="0.811127456515647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333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Current</c:v>
                </c:pt>
                <c:pt idx="1">
                  <c:v>Projected</c:v>
                </c:pt>
                <c:pt idx="2">
                  <c:v>Savings</c:v>
                </c:pt>
                <c:pt idx="3">
                  <c:v>Pricing</c:v>
                </c:pt>
                <c:pt idx="4">
                  <c:v>Forecast</c:v>
                </c:pt>
                <c:pt idx="5">
                  <c:v>ROI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12.8</c:v>
                </c:pt>
                <c:pt idx="1">
                  <c:v>15.6</c:v>
                </c:pt>
                <c:pt idx="2">
                  <c:v>1.7</c:v>
                </c:pt>
                <c:pt idx="3">
                  <c:v>0.9</c:v>
                </c:pt>
                <c:pt idx="4">
                  <c:v>16</c:v>
                </c:pt>
                <c:pt idx="5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74-D948-B70E-E16B0192CA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Current</c:v>
                </c:pt>
                <c:pt idx="1">
                  <c:v>Projected</c:v>
                </c:pt>
                <c:pt idx="2">
                  <c:v>Savings</c:v>
                </c:pt>
                <c:pt idx="3">
                  <c:v>Pricing</c:v>
                </c:pt>
                <c:pt idx="4">
                  <c:v>Forecast</c:v>
                </c:pt>
                <c:pt idx="5">
                  <c:v>ROI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74-D948-B70E-E16B0192C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7729951"/>
        <c:axId val="1657731663"/>
      </c:barChart>
      <c:catAx>
        <c:axId val="1657729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A3330">
                <a:alpha val="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31663"/>
        <c:crosses val="autoZero"/>
        <c:auto val="1"/>
        <c:lblAlgn val="ctr"/>
        <c:lblOffset val="100"/>
        <c:noMultiLvlLbl val="0"/>
      </c:catAx>
      <c:valAx>
        <c:axId val="165773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A3330">
                  <a:alpha val="12018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33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729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A3330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Claims Cycle (Days)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A33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99-4D47-84C6-0F4A3C50DD4D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B199-4D47-84C6-0F4A3C50DD4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B199-4D47-84C6-0F4A3C50DD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99-4D47-84C6-0F4A3C50DD4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918193061251058"/>
          <c:y val="0.15865856915658563"/>
          <c:w val="0.53816910759617265"/>
          <c:h val="7.4959749921691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A3330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Manual Review Ratio (%)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A33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99-4D47-84C6-0F4A3C50DD4D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B199-4D47-84C6-0F4A3C50DD4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B199-4D47-84C6-0F4A3C50DD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99-4D47-84C6-0F4A3C50DD4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5240851396211678"/>
          <c:y val="0.15865856915658563"/>
          <c:w val="0.51832923257176333"/>
          <c:h val="7.4959749921691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0A3330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r>
              <a:rPr lang="en-US" sz="1800" dirty="0">
                <a:solidFill>
                  <a:srgbClr val="0A3330"/>
                </a:solidFill>
                <a:latin typeface="Avenir Book" panose="02000503020000020003" pitchFamily="2" charset="0"/>
              </a:rPr>
              <a:t>Claims Coverage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0A3330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Claims Automation Coverage (%)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A33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99-4D47-84C6-0F4A3C50DD4D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B199-4D47-84C6-0F4A3C50DD4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Avenir Book" panose="020005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B199-4D47-84C6-0F4A3C50DD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99-4D47-84C6-0F4A3C50DD4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5240851396211678"/>
          <c:y val="0.15865856915658563"/>
          <c:w val="0.51832923257176333"/>
          <c:h val="7.4959749921691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bg1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r>
              <a:rPr lang="en-GB">
                <a:solidFill>
                  <a:schemeClr val="bg1"/>
                </a:solidFill>
                <a:latin typeface="Avenir Book" panose="02000503020000020003" pitchFamily="2" charset="0"/>
              </a:rPr>
              <a:t>Cost Efficiency &amp; Margin Improvement</a:t>
            </a:r>
            <a:endParaRPr lang="en-US">
              <a:solidFill>
                <a:schemeClr val="bg1"/>
              </a:solidFill>
              <a:latin typeface="Avenir Book" panose="02000503020000020003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bg1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CE53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Claims Automation</c:v>
                </c:pt>
                <c:pt idx="1">
                  <c:v>Process Optimization</c:v>
                </c:pt>
                <c:pt idx="2">
                  <c:v>Pricing &amp; Underwriting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0.45</c:v>
                </c:pt>
                <c:pt idx="1">
                  <c:v>0.25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5A-F74F-BA65-E6552BFEFF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Claims Automation</c:v>
                </c:pt>
                <c:pt idx="1">
                  <c:v>Process Optimization</c:v>
                </c:pt>
                <c:pt idx="2">
                  <c:v>Pricing &amp; Underwriting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</c:v>
                </c:pt>
                <c:pt idx="1">
                  <c:v>0.9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5A-F74F-BA65-E6552BFEFF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092100383"/>
        <c:axId val="1091909951"/>
      </c:barChart>
      <c:catAx>
        <c:axId val="1092100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bg1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091909951"/>
        <c:crosses val="autoZero"/>
        <c:auto val="1"/>
        <c:lblAlgn val="ctr"/>
        <c:lblOffset val="100"/>
        <c:noMultiLvlLbl val="0"/>
      </c:catAx>
      <c:valAx>
        <c:axId val="109190995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092100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0776247185224741"/>
          <c:y val="0.15045497560557833"/>
          <c:w val="0.76496561783344819"/>
          <c:h val="4.59767430173489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1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1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19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0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B7868-F65D-1744-B66E-2223AD509171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D71F1-5BEC-4543-AE1E-3437EBCBA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00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837FD-BDEB-EB37-F89C-F3159288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2C6F3-52BB-696C-7C6B-3379FD709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97BCB-574C-E3CE-3E7B-BFA0A51F5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555E3-8BFB-333A-7567-59CFE851E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D71F1-5BEC-4543-AE1E-3437EBCBAA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72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D71F1-5BEC-4543-AE1E-3437EBCBAA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96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D71F1-5BEC-4543-AE1E-3437EBCBAA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9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69521-68E8-907D-5622-FA58FE09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1FE3F-BF5E-8C50-AEE1-058400C66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BC760-3AD7-717D-6EA4-172911416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4D019-C492-AF4F-0933-8D3BE51A0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D71F1-5BEC-4543-AE1E-3437EBCBAA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42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934F-2222-7E1F-5955-F7DEDFFA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B1242-413E-39AF-AB2A-5C9CCE8B9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E4A27-7167-6ACC-5944-66208A15D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89BA9-71D2-9E02-F763-81A425778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D71F1-5BEC-4543-AE1E-3437EBCBAA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55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9C933-91D0-07A3-42D3-4C44B41B0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69B88-4320-D526-3E4D-F7322B1CA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D88FF-B9F6-BEF9-3D83-EC2EA3751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D1EBF-2C8A-C242-7C87-EC4D34C9D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D71F1-5BEC-4543-AE1E-3437EBCBAA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25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8D7AD-A841-38BE-9CCA-D74AF9BA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A69395-C751-692B-A43C-080F6BD47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7177B-68DD-E3BF-FB40-8C9962725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70EB2-47FA-5453-971A-65E96F2A0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D71F1-5BEC-4543-AE1E-3437EBCBAA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08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FFE3-E7F6-2CEA-D7B1-550559D2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856977-0867-B3D5-3992-307D39B18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6A4D2-BD29-CD95-0FEB-EDA547C47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01EBE-6846-EC99-8DF7-BD3668FFD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D71F1-5BEC-4543-AE1E-3437EBCBAA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37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5.wdp"/><Relationship Id="rId4" Type="http://schemas.openxmlformats.org/officeDocument/2006/relationships/image" Target="../media/image6.png"/><Relationship Id="rId9" Type="http://schemas.microsoft.com/office/2007/relationships/hdphoto" Target="../media/hdphoto7.wdp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6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chart" Target="../charts/chart7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7" Type="http://schemas.microsoft.com/office/2007/relationships/hdphoto" Target="../media/hdphoto1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microsoft.com/office/2007/relationships/hdphoto" Target="../media/hdphoto10.wdp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4.wdp"/><Relationship Id="rId7" Type="http://schemas.microsoft.com/office/2007/relationships/hdphoto" Target="../media/hdphoto1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microsoft.com/office/2007/relationships/hdphoto" Target="../media/hdphoto12.wdp"/><Relationship Id="rId4" Type="http://schemas.openxmlformats.org/officeDocument/2006/relationships/image" Target="../media/image6.png"/><Relationship Id="rId9" Type="http://schemas.microsoft.com/office/2007/relationships/hdphoto" Target="../media/hdphoto14.wdp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Master" Target="../slideMasters/slideMaster2.xml"/><Relationship Id="rId4" Type="http://schemas.openxmlformats.org/officeDocument/2006/relationships/chart" Target="../charts/chart13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chart" Target="../charts/chart14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Single Corner of Rectangle 6">
            <a:extLst>
              <a:ext uri="{FF2B5EF4-FFF2-40B4-BE49-F238E27FC236}">
                <a16:creationId xmlns:a16="http://schemas.microsoft.com/office/drawing/2014/main" id="{2F305A48-0E59-F098-E929-E99D7912119D}"/>
              </a:ext>
            </a:extLst>
          </p:cNvPr>
          <p:cNvSpPr/>
          <p:nvPr userDrawn="1"/>
        </p:nvSpPr>
        <p:spPr>
          <a:xfrm>
            <a:off x="524718" y="1113182"/>
            <a:ext cx="5744795" cy="5078377"/>
          </a:xfrm>
          <a:prstGeom prst="snip1Rect">
            <a:avLst>
              <a:gd name="adj" fmla="val 21846"/>
            </a:avLst>
          </a:prstGeom>
          <a:solidFill>
            <a:srgbClr val="0A3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E61FE7-3886-B3BC-B8F1-DB04A4F2F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8" y="1712197"/>
            <a:ext cx="4788061" cy="3149169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>
                <a:solidFill>
                  <a:schemeClr val="bg1"/>
                </a:solidFill>
                <a:latin typeface="Avenir Heavy" panose="02000503020000020003" pitchFamily="2" charset="0"/>
              </a:rPr>
              <a:t>INSURANCE CONSULTING PROPOSAL TEMPLATE</a:t>
            </a:r>
            <a:endParaRPr lang="en-US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DE0A5E7-57CD-B6DC-89AE-4C154ECFDE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7028" y="5145803"/>
            <a:ext cx="4502554" cy="396433"/>
          </a:xfrm>
        </p:spPr>
        <p:txBody>
          <a:bodyPr>
            <a:normAutofit fontScale="92500" lnSpcReduction="10000"/>
          </a:bodyPr>
          <a:lstStyle>
            <a:lvl1pPr>
              <a:buNone/>
              <a:defRPr/>
            </a:lvl1pPr>
          </a:lstStyle>
          <a:p>
            <a:pPr algn="l"/>
            <a:r>
              <a:rPr lang="en-US" dirty="0">
                <a:solidFill>
                  <a:srgbClr val="ABE534"/>
                </a:solidFill>
                <a:latin typeface="Avenir Book" panose="02000503020000020003" pitchFamily="2" charset="0"/>
              </a:rPr>
              <a:t>October 2025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FE03F-96F5-88B5-9C08-936CF830F612}"/>
              </a:ext>
            </a:extLst>
          </p:cNvPr>
          <p:cNvCxnSpPr>
            <a:cxnSpLocks/>
          </p:cNvCxnSpPr>
          <p:nvPr userDrawn="1"/>
        </p:nvCxnSpPr>
        <p:spPr>
          <a:xfrm>
            <a:off x="524719" y="6191560"/>
            <a:ext cx="5744794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25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A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F891-7167-2F83-2663-4A86642C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ABE534"/>
                </a:solidFill>
                <a:latin typeface="Avenir Heavy" panose="02000503020000020003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4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0A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DD0D57C8-CA71-2B29-B572-5241BC0BA13B}"/>
              </a:ext>
            </a:extLst>
          </p:cNvPr>
          <p:cNvSpPr/>
          <p:nvPr userDrawn="1"/>
        </p:nvSpPr>
        <p:spPr>
          <a:xfrm>
            <a:off x="4344628" y="3825592"/>
            <a:ext cx="3490732" cy="2482645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A95716FE-1250-9E12-726F-8D7DE350B227}"/>
              </a:ext>
            </a:extLst>
          </p:cNvPr>
          <p:cNvSpPr/>
          <p:nvPr userDrawn="1"/>
        </p:nvSpPr>
        <p:spPr>
          <a:xfrm>
            <a:off x="8140544" y="3825592"/>
            <a:ext cx="3490732" cy="2482645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nip Single Corner of Rectangle 4">
            <a:extLst>
              <a:ext uri="{FF2B5EF4-FFF2-40B4-BE49-F238E27FC236}">
                <a16:creationId xmlns:a16="http://schemas.microsoft.com/office/drawing/2014/main" id="{0D8D15DB-31FF-B8A8-F04A-9E86BF934457}"/>
              </a:ext>
            </a:extLst>
          </p:cNvPr>
          <p:cNvSpPr/>
          <p:nvPr userDrawn="1"/>
        </p:nvSpPr>
        <p:spPr>
          <a:xfrm>
            <a:off x="524719" y="3825592"/>
            <a:ext cx="3490732" cy="2482645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2E5C2F-17F8-FF6C-7BF7-FCAD871A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473748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Unlocking Operational Value Through Data-Driven Strategy</a:t>
            </a:r>
            <a:endParaRPr lang="en-US" b="1" dirty="0">
              <a:solidFill>
                <a:srgbClr val="ABE534"/>
              </a:solidFill>
              <a:latin typeface="Avenir Heavy" panose="02000503020000020003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BAAC60-1E74-3450-EF65-BE04028D2FB3}"/>
              </a:ext>
            </a:extLst>
          </p:cNvPr>
          <p:cNvSpPr txBox="1">
            <a:spLocks/>
          </p:cNvSpPr>
          <p:nvPr userDrawn="1"/>
        </p:nvSpPr>
        <p:spPr>
          <a:xfrm>
            <a:off x="449893" y="2001019"/>
            <a:ext cx="10515600" cy="742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ABE534"/>
                </a:solidFill>
                <a:latin typeface="Avenir Book" panose="02000503020000020003" pitchFamily="2" charset="0"/>
              </a:rPr>
              <a:t>Our engagement aims to identify, quantify, and capture improvement opportunities across underwriting, claims, and policy management.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5A2C1A-3C68-EAEF-F49E-B8949D2D5D34}"/>
              </a:ext>
            </a:extLst>
          </p:cNvPr>
          <p:cNvSpPr txBox="1">
            <a:spLocks/>
          </p:cNvSpPr>
          <p:nvPr userDrawn="1"/>
        </p:nvSpPr>
        <p:spPr>
          <a:xfrm>
            <a:off x="781494" y="4630400"/>
            <a:ext cx="2806874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Combined Ratio improvement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016E47-875E-AFF2-3AC6-F1F6AB1183D9}"/>
              </a:ext>
            </a:extLst>
          </p:cNvPr>
          <p:cNvSpPr txBox="1">
            <a:spLocks/>
          </p:cNvSpPr>
          <p:nvPr userDrawn="1"/>
        </p:nvSpPr>
        <p:spPr>
          <a:xfrm>
            <a:off x="4657024" y="4659503"/>
            <a:ext cx="2956143" cy="889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Annual cost savings potential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0CCD07-05C4-DBB2-2D35-A573EF6BEB39}"/>
              </a:ext>
            </a:extLst>
          </p:cNvPr>
          <p:cNvSpPr txBox="1">
            <a:spLocks/>
          </p:cNvSpPr>
          <p:nvPr userDrawn="1"/>
        </p:nvSpPr>
        <p:spPr>
          <a:xfrm>
            <a:off x="8394332" y="4660248"/>
            <a:ext cx="2848627" cy="42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ROI within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537DFE8-B5F5-CF72-2915-514DF9A3F2B0}"/>
              </a:ext>
            </a:extLst>
          </p:cNvPr>
          <p:cNvSpPr txBox="1">
            <a:spLocks/>
          </p:cNvSpPr>
          <p:nvPr userDrawn="1"/>
        </p:nvSpPr>
        <p:spPr>
          <a:xfrm>
            <a:off x="449893" y="3093188"/>
            <a:ext cx="10515600" cy="4430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latin typeface="Avenir Book" panose="02000503020000020003" pitchFamily="2" charset="0"/>
              </a:rPr>
              <a:t>Key Outcomes Expected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F62223-DCCF-4071-19E4-358C5601AB68}"/>
              </a:ext>
            </a:extLst>
          </p:cNvPr>
          <p:cNvCxnSpPr/>
          <p:nvPr userDrawn="1"/>
        </p:nvCxnSpPr>
        <p:spPr>
          <a:xfrm>
            <a:off x="524719" y="3598832"/>
            <a:ext cx="11142562" cy="0"/>
          </a:xfrm>
          <a:prstGeom prst="line">
            <a:avLst/>
          </a:prstGeom>
          <a:ln w="635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6F568B-CB46-7AA0-63EC-808E703FCFE7}"/>
              </a:ext>
            </a:extLst>
          </p:cNvPr>
          <p:cNvSpPr txBox="1">
            <a:spLocks/>
          </p:cNvSpPr>
          <p:nvPr userDrawn="1"/>
        </p:nvSpPr>
        <p:spPr>
          <a:xfrm>
            <a:off x="781494" y="5393565"/>
            <a:ext cx="2806874" cy="751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200" b="1" spc="-300" dirty="0">
                <a:solidFill>
                  <a:srgbClr val="0A3330"/>
                </a:solidFill>
                <a:latin typeface="Avenir Book" panose="02000503020000020003" pitchFamily="2" charset="0"/>
              </a:rPr>
              <a:t>4 - 6 </a:t>
            </a:r>
            <a:r>
              <a:rPr lang="en-GB" sz="4200" b="1" dirty="0">
                <a:solidFill>
                  <a:srgbClr val="0A3330"/>
                </a:solidFill>
                <a:latin typeface="Avenir Book" panose="02000503020000020003" pitchFamily="2" charset="0"/>
              </a:rPr>
              <a:t>pts</a:t>
            </a:r>
            <a:endParaRPr lang="en-GB" sz="420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D612F1F-1947-336B-2D96-4122D84F9C06}"/>
              </a:ext>
            </a:extLst>
          </p:cNvPr>
          <p:cNvSpPr txBox="1">
            <a:spLocks/>
          </p:cNvSpPr>
          <p:nvPr userDrawn="1"/>
        </p:nvSpPr>
        <p:spPr>
          <a:xfrm>
            <a:off x="4668507" y="5393565"/>
            <a:ext cx="2806874" cy="751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200" b="1" spc="-300" dirty="0">
                <a:solidFill>
                  <a:srgbClr val="0A3330"/>
                </a:solidFill>
                <a:latin typeface="Avenir Book" panose="02000503020000020003" pitchFamily="2" charset="0"/>
              </a:rPr>
              <a:t>$3 - 4.5M</a:t>
            </a:r>
            <a:endParaRPr lang="en-GB" sz="420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4FA026F-E82B-5326-F97D-BC9C28100BCD}"/>
              </a:ext>
            </a:extLst>
          </p:cNvPr>
          <p:cNvSpPr txBox="1">
            <a:spLocks/>
          </p:cNvSpPr>
          <p:nvPr userDrawn="1"/>
        </p:nvSpPr>
        <p:spPr>
          <a:xfrm>
            <a:off x="8364253" y="5027183"/>
            <a:ext cx="2806874" cy="75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200" b="1" spc="-150" dirty="0">
                <a:solidFill>
                  <a:srgbClr val="0A3330"/>
                </a:solidFill>
                <a:latin typeface="Avenir Book" panose="02000503020000020003" pitchFamily="2" charset="0"/>
              </a:rPr>
              <a:t>12 months</a:t>
            </a:r>
            <a:endParaRPr lang="en-GB" sz="4200" spc="-15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89768D2-06B0-A342-B1F5-3AA6F15B653E}"/>
              </a:ext>
            </a:extLst>
          </p:cNvPr>
          <p:cNvSpPr txBox="1">
            <a:spLocks/>
          </p:cNvSpPr>
          <p:nvPr userDrawn="1"/>
        </p:nvSpPr>
        <p:spPr>
          <a:xfrm>
            <a:off x="8435897" y="5579196"/>
            <a:ext cx="2848627" cy="42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post-implementation</a:t>
            </a:r>
          </a:p>
        </p:txBody>
      </p:sp>
      <p:pic>
        <p:nvPicPr>
          <p:cNvPr id="17" name="Picture 16" descr="A green arrow pointing up&#10;&#10;AI-generated content may be incorrect.">
            <a:extLst>
              <a:ext uri="{FF2B5EF4-FFF2-40B4-BE49-F238E27FC236}">
                <a16:creationId xmlns:a16="http://schemas.microsoft.com/office/drawing/2014/main" id="{42F1FF01-D831-8198-9DB8-6E9F37CE58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993305"/>
            <a:ext cx="538908" cy="538908"/>
          </a:xfrm>
          <a:prstGeom prst="rect">
            <a:avLst/>
          </a:prstGeom>
        </p:spPr>
      </p:pic>
      <p:pic>
        <p:nvPicPr>
          <p:cNvPr id="18" name="Picture 17" descr="A green piggy bank with a coin in it&#10;&#10;AI-generated content may be incorrect.">
            <a:extLst>
              <a:ext uri="{FF2B5EF4-FFF2-40B4-BE49-F238E27FC236}">
                <a16:creationId xmlns:a16="http://schemas.microsoft.com/office/drawing/2014/main" id="{077EB59D-9767-D403-20ED-268609ABE9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024" y="3953206"/>
            <a:ext cx="678533" cy="6785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1237D3-A77E-2226-BAE6-361B5355909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9650" y="3906098"/>
            <a:ext cx="713321" cy="71332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D8E994B-8107-4568-1CF0-820CB0C822CE}"/>
              </a:ext>
            </a:extLst>
          </p:cNvPr>
          <p:cNvCxnSpPr>
            <a:cxnSpLocks/>
          </p:cNvCxnSpPr>
          <p:nvPr userDrawn="1"/>
        </p:nvCxnSpPr>
        <p:spPr>
          <a:xfrm>
            <a:off x="524719" y="6308237"/>
            <a:ext cx="3490732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E4852B-9BE9-9580-D66F-105516B13070}"/>
              </a:ext>
            </a:extLst>
          </p:cNvPr>
          <p:cNvCxnSpPr>
            <a:cxnSpLocks/>
          </p:cNvCxnSpPr>
          <p:nvPr userDrawn="1"/>
        </p:nvCxnSpPr>
        <p:spPr>
          <a:xfrm>
            <a:off x="4344628" y="6308237"/>
            <a:ext cx="3490732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D52BD7-7C8E-2CBD-DF23-0448DFFEB087}"/>
              </a:ext>
            </a:extLst>
          </p:cNvPr>
          <p:cNvCxnSpPr>
            <a:cxnSpLocks/>
          </p:cNvCxnSpPr>
          <p:nvPr userDrawn="1"/>
        </p:nvCxnSpPr>
        <p:spPr>
          <a:xfrm>
            <a:off x="8141713" y="6308237"/>
            <a:ext cx="3490732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58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ABE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EB8B88-D66E-47EE-4CAE-F6040C5A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1659698"/>
            <a:ext cx="4184737" cy="347195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Operational Inefficiencies Hindering Insurance Performance</a:t>
            </a:r>
            <a:endParaRPr lang="en-US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FFE95138-F14C-5A55-2AA9-AA16EF2DD9F5}"/>
              </a:ext>
            </a:extLst>
          </p:cNvPr>
          <p:cNvSpPr/>
          <p:nvPr userDrawn="1"/>
        </p:nvSpPr>
        <p:spPr>
          <a:xfrm>
            <a:off x="4960308" y="431457"/>
            <a:ext cx="6781800" cy="5995086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3D239A-2CD6-C880-A205-1796BA19DAC5}"/>
              </a:ext>
            </a:extLst>
          </p:cNvPr>
          <p:cNvSpPr txBox="1">
            <a:spLocks/>
          </p:cNvSpPr>
          <p:nvPr userDrawn="1"/>
        </p:nvSpPr>
        <p:spPr>
          <a:xfrm>
            <a:off x="449893" y="5131648"/>
            <a:ext cx="4184737" cy="133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0A3330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47638AA-6C66-8745-2494-0CA3DA334F3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016051463"/>
              </p:ext>
            </p:extLst>
          </p:nvPr>
        </p:nvGraphicFramePr>
        <p:xfrm>
          <a:off x="5532155" y="807348"/>
          <a:ext cx="58164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D1B498-3A56-E5BD-617E-E3D5143DAE2A}"/>
              </a:ext>
            </a:extLst>
          </p:cNvPr>
          <p:cNvCxnSpPr>
            <a:cxnSpLocks/>
          </p:cNvCxnSpPr>
          <p:nvPr userDrawn="1"/>
        </p:nvCxnSpPr>
        <p:spPr>
          <a:xfrm>
            <a:off x="10833904" y="431457"/>
            <a:ext cx="908204" cy="0"/>
          </a:xfrm>
          <a:prstGeom prst="line">
            <a:avLst/>
          </a:prstGeom>
          <a:ln w="6350">
            <a:solidFill>
              <a:srgbClr val="0A33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86E72-DCBA-99BD-FEE2-AF354A805077}"/>
              </a:ext>
            </a:extLst>
          </p:cNvPr>
          <p:cNvCxnSpPr>
            <a:cxnSpLocks/>
          </p:cNvCxnSpPr>
          <p:nvPr userDrawn="1"/>
        </p:nvCxnSpPr>
        <p:spPr>
          <a:xfrm>
            <a:off x="11742108" y="431457"/>
            <a:ext cx="0" cy="888056"/>
          </a:xfrm>
          <a:prstGeom prst="line">
            <a:avLst/>
          </a:prstGeom>
          <a:ln w="6350">
            <a:solidFill>
              <a:srgbClr val="0A33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987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rgbClr val="ABE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EB8B88-D66E-47EE-4CAE-F6040C5A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1659698"/>
            <a:ext cx="4184737" cy="347195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Operational Inefficiencies Hindering Insurance Performance</a:t>
            </a:r>
            <a:endParaRPr lang="en-US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3D239A-2CD6-C880-A205-1796BA19DAC5}"/>
              </a:ext>
            </a:extLst>
          </p:cNvPr>
          <p:cNvSpPr txBox="1">
            <a:spLocks/>
          </p:cNvSpPr>
          <p:nvPr userDrawn="1"/>
        </p:nvSpPr>
        <p:spPr>
          <a:xfrm>
            <a:off x="449893" y="5131648"/>
            <a:ext cx="4184737" cy="133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0A3330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</p:spTree>
    <p:extLst>
      <p:ext uri="{BB962C8B-B14F-4D97-AF65-F5344CB8AC3E}">
        <p14:creationId xmlns:p14="http://schemas.microsoft.com/office/powerpoint/2010/main" val="4255389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Single Corner of Rectangle 6">
            <a:extLst>
              <a:ext uri="{FF2B5EF4-FFF2-40B4-BE49-F238E27FC236}">
                <a16:creationId xmlns:a16="http://schemas.microsoft.com/office/drawing/2014/main" id="{573A7056-F3EA-BB1E-87FC-23303C39072A}"/>
              </a:ext>
            </a:extLst>
          </p:cNvPr>
          <p:cNvSpPr/>
          <p:nvPr userDrawn="1"/>
        </p:nvSpPr>
        <p:spPr>
          <a:xfrm>
            <a:off x="524718" y="2523280"/>
            <a:ext cx="5350803" cy="3784957"/>
          </a:xfrm>
          <a:prstGeom prst="snip1Rect">
            <a:avLst>
              <a:gd name="adj" fmla="val 2184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276CFC-D17B-9426-00E1-4AE57E26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2" y="473748"/>
            <a:ext cx="11333135" cy="1325563"/>
          </a:xfrm>
        </p:spPr>
        <p:txBody>
          <a:bodyPr/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Operational Diagnostics vs.</a:t>
            </a:r>
            <a:b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</a:br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Financial Validation</a:t>
            </a:r>
            <a:endParaRPr lang="en-US" b="1" dirty="0">
              <a:solidFill>
                <a:srgbClr val="ABE534"/>
              </a:solidFill>
              <a:latin typeface="Avenir Heavy" panose="02000503020000020003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60B80BE-F24F-620B-A3C0-0F1216DD3833}"/>
              </a:ext>
            </a:extLst>
          </p:cNvPr>
          <p:cNvSpPr txBox="1">
            <a:spLocks/>
          </p:cNvSpPr>
          <p:nvPr userDrawn="1"/>
        </p:nvSpPr>
        <p:spPr>
          <a:xfrm>
            <a:off x="449891" y="2087994"/>
            <a:ext cx="3601247" cy="416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chemeClr val="bg1"/>
                </a:solidFill>
                <a:latin typeface="Avenir Book" panose="02000503020000020003" pitchFamily="2" charset="0"/>
              </a:rPr>
              <a:t>Operational Diagnostic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BFCD38-A0C0-7B35-A3BF-7CE067737B19}"/>
              </a:ext>
            </a:extLst>
          </p:cNvPr>
          <p:cNvCxnSpPr/>
          <p:nvPr userDrawn="1"/>
        </p:nvCxnSpPr>
        <p:spPr>
          <a:xfrm>
            <a:off x="524719" y="1943652"/>
            <a:ext cx="11142562" cy="0"/>
          </a:xfrm>
          <a:prstGeom prst="line">
            <a:avLst/>
          </a:prstGeom>
          <a:ln w="635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8545CCF-2C8C-A058-DE2B-9920653022FE}"/>
              </a:ext>
            </a:extLst>
          </p:cNvPr>
          <p:cNvSpPr txBox="1">
            <a:spLocks/>
          </p:cNvSpPr>
          <p:nvPr userDrawn="1"/>
        </p:nvSpPr>
        <p:spPr>
          <a:xfrm>
            <a:off x="679632" y="5538181"/>
            <a:ext cx="1380522" cy="881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spc="-300" dirty="0">
                <a:solidFill>
                  <a:srgbClr val="1F8E8B"/>
                </a:solidFill>
                <a:latin typeface="Avenir Heavy" panose="02000503020000020003" pitchFamily="2" charset="0"/>
              </a:rPr>
              <a:t>$2M</a:t>
            </a:r>
            <a:endParaRPr lang="en-GB" sz="4400" b="1" dirty="0">
              <a:solidFill>
                <a:srgbClr val="1F8E8B"/>
              </a:solidFill>
              <a:latin typeface="Avenir Heavy" panose="02000503020000020003" pitchFamily="2" charset="0"/>
            </a:endParaRPr>
          </a:p>
        </p:txBody>
      </p:sp>
      <p:sp>
        <p:nvSpPr>
          <p:cNvPr id="12" name="Snip Single Corner of Rectangle 11">
            <a:extLst>
              <a:ext uri="{FF2B5EF4-FFF2-40B4-BE49-F238E27FC236}">
                <a16:creationId xmlns:a16="http://schemas.microsoft.com/office/drawing/2014/main" id="{3B2398C4-4447-8742-6C5A-29751BCC8D45}"/>
              </a:ext>
            </a:extLst>
          </p:cNvPr>
          <p:cNvSpPr/>
          <p:nvPr userDrawn="1"/>
        </p:nvSpPr>
        <p:spPr>
          <a:xfrm flipH="1">
            <a:off x="6316475" y="2523280"/>
            <a:ext cx="5350805" cy="3784958"/>
          </a:xfrm>
          <a:prstGeom prst="snip1Rect">
            <a:avLst>
              <a:gd name="adj" fmla="val 2184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D6E81B2-BCD2-0496-2A8F-4689D96B0A3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946845234"/>
              </p:ext>
            </p:extLst>
          </p:nvPr>
        </p:nvGraphicFramePr>
        <p:xfrm>
          <a:off x="760164" y="2634574"/>
          <a:ext cx="4682169" cy="2726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8718E-37EC-58A0-1C6E-6F147C6B7354}"/>
              </a:ext>
            </a:extLst>
          </p:cNvPr>
          <p:cNvSpPr txBox="1">
            <a:spLocks/>
          </p:cNvSpPr>
          <p:nvPr userDrawn="1"/>
        </p:nvSpPr>
        <p:spPr>
          <a:xfrm>
            <a:off x="2060154" y="5494113"/>
            <a:ext cx="3591499" cy="621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350" dirty="0">
                <a:solidFill>
                  <a:srgbClr val="0A3330"/>
                </a:solidFill>
                <a:latin typeface="Avenir Book" panose="02000503020000020003" pitchFamily="2" charset="0"/>
              </a:rPr>
              <a:t>Automation and process redesign can recover up to $2M annually and improve cycle time by 50%.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D875F21-CB1D-4181-ADE5-144F4703711B}"/>
              </a:ext>
            </a:extLst>
          </p:cNvPr>
          <p:cNvSpPr txBox="1">
            <a:spLocks/>
          </p:cNvSpPr>
          <p:nvPr userDrawn="1"/>
        </p:nvSpPr>
        <p:spPr>
          <a:xfrm>
            <a:off x="8181780" y="2066378"/>
            <a:ext cx="3601247" cy="416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2200" dirty="0">
                <a:solidFill>
                  <a:schemeClr val="bg1"/>
                </a:solidFill>
                <a:latin typeface="Avenir Book" panose="02000503020000020003" pitchFamily="2" charset="0"/>
              </a:rPr>
              <a:t>Financial Validation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0805D4C-775C-2922-22CC-D1CA46B8A037}"/>
              </a:ext>
            </a:extLst>
          </p:cNvPr>
          <p:cNvSpPr txBox="1">
            <a:spLocks/>
          </p:cNvSpPr>
          <p:nvPr userDrawn="1"/>
        </p:nvSpPr>
        <p:spPr>
          <a:xfrm>
            <a:off x="6573655" y="5538181"/>
            <a:ext cx="1766113" cy="881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b="1" spc="-300" dirty="0">
                <a:solidFill>
                  <a:srgbClr val="1F8E8B"/>
                </a:solidFill>
                <a:latin typeface="Avenir Heavy" panose="02000503020000020003" pitchFamily="2" charset="0"/>
              </a:rPr>
              <a:t>210%</a:t>
            </a:r>
            <a:endParaRPr lang="en-GB" sz="4000" b="1" dirty="0">
              <a:solidFill>
                <a:srgbClr val="1F8E8B"/>
              </a:solidFill>
              <a:latin typeface="Avenir Heavy" panose="02000503020000020003" pitchFamily="2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115CAC-B621-58D0-97CA-C3E30DC25EB5}"/>
              </a:ext>
            </a:extLst>
          </p:cNvPr>
          <p:cNvSpPr txBox="1">
            <a:spLocks/>
          </p:cNvSpPr>
          <p:nvPr userDrawn="1"/>
        </p:nvSpPr>
        <p:spPr>
          <a:xfrm>
            <a:off x="8073563" y="5576622"/>
            <a:ext cx="3591499" cy="583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350" dirty="0">
                <a:solidFill>
                  <a:srgbClr val="0A3330"/>
                </a:solidFill>
                <a:latin typeface="Avenir Book" panose="02000503020000020003" pitchFamily="2" charset="0"/>
              </a:rPr>
              <a:t>Transformation initiatives are projected to deliver a 210% ROI within one fiscal year.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4410DBD5-305C-64A4-D6C1-80BC1155ED9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219242192"/>
              </p:ext>
            </p:extLst>
          </p:nvPr>
        </p:nvGraphicFramePr>
        <p:xfrm>
          <a:off x="6797407" y="2897436"/>
          <a:ext cx="4516916" cy="246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7540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nip Single Corner of Rectangle 1">
            <a:extLst>
              <a:ext uri="{FF2B5EF4-FFF2-40B4-BE49-F238E27FC236}">
                <a16:creationId xmlns:a16="http://schemas.microsoft.com/office/drawing/2014/main" id="{991FF6C7-E8B7-3FC4-C601-6C8161C1EEBE}"/>
              </a:ext>
            </a:extLst>
          </p:cNvPr>
          <p:cNvSpPr/>
          <p:nvPr userDrawn="1"/>
        </p:nvSpPr>
        <p:spPr>
          <a:xfrm>
            <a:off x="-4" y="4791919"/>
            <a:ext cx="5058139" cy="2089147"/>
          </a:xfrm>
          <a:prstGeom prst="snip1Rect">
            <a:avLst>
              <a:gd name="adj" fmla="val 49677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CB9EF13B-7B14-2F11-3D57-0C056FD81DFA}"/>
              </a:ext>
            </a:extLst>
          </p:cNvPr>
          <p:cNvSpPr/>
          <p:nvPr userDrawn="1"/>
        </p:nvSpPr>
        <p:spPr>
          <a:xfrm rot="5400000">
            <a:off x="133107" y="-133110"/>
            <a:ext cx="4791919" cy="5058139"/>
          </a:xfrm>
          <a:prstGeom prst="snip1Rect">
            <a:avLst>
              <a:gd name="adj" fmla="val 21846"/>
            </a:avLst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24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44512-F251-2788-D083-401B405A61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6740" y="628698"/>
            <a:ext cx="4184650" cy="34718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Heavy" panose="02000503020000020003" pitchFamily="2" charset="0"/>
              </a:rPr>
              <a:t>The Need for Transformation in a Shifting Insurance Landscape</a:t>
            </a:r>
            <a:endParaRPr lang="en-US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C2C248-3265-6114-F731-24C7D5A0C45C}"/>
              </a:ext>
            </a:extLst>
          </p:cNvPr>
          <p:cNvSpPr txBox="1">
            <a:spLocks/>
          </p:cNvSpPr>
          <p:nvPr userDrawn="1"/>
        </p:nvSpPr>
        <p:spPr>
          <a:xfrm>
            <a:off x="449893" y="5294575"/>
            <a:ext cx="3942493" cy="11878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rgbClr val="0A3330"/>
                </a:solidFill>
                <a:latin typeface="Avenir Book" panose="02000503020000020003" pitchFamily="2" charset="0"/>
              </a:rPr>
              <a:t>Rising claims volume, manual processing, and fragmented data systems have eroded profitability and agility.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80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88E39C-44E8-B8B8-F789-CF753FFAE3E7}"/>
              </a:ext>
            </a:extLst>
          </p:cNvPr>
          <p:cNvSpPr txBox="1">
            <a:spLocks/>
          </p:cNvSpPr>
          <p:nvPr userDrawn="1"/>
        </p:nvSpPr>
        <p:spPr>
          <a:xfrm>
            <a:off x="7509164" y="1112497"/>
            <a:ext cx="3768436" cy="1175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>
                <a:solidFill>
                  <a:srgbClr val="ABE534"/>
                </a:solidFill>
                <a:latin typeface="Avenir Book" panose="02000503020000020003" pitchFamily="2" charset="0"/>
              </a:rPr>
              <a:t>Claims processing averages </a:t>
            </a: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12 days vs.</a:t>
            </a:r>
            <a:b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</a:b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5-day benchmark</a:t>
            </a:r>
            <a:endParaRPr lang="en-US" sz="2600" dirty="0">
              <a:solidFill>
                <a:srgbClr val="ABE534"/>
              </a:solidFill>
              <a:latin typeface="Avenir Book" panose="02000503020000020003" pitchFamily="2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8931A86-F51C-805E-747C-668799F37AEF}"/>
              </a:ext>
            </a:extLst>
          </p:cNvPr>
          <p:cNvSpPr txBox="1">
            <a:spLocks/>
          </p:cNvSpPr>
          <p:nvPr userDrawn="1"/>
        </p:nvSpPr>
        <p:spPr>
          <a:xfrm>
            <a:off x="7509164" y="3103046"/>
            <a:ext cx="3607884" cy="843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>
                <a:solidFill>
                  <a:srgbClr val="ABE534"/>
                </a:solidFill>
                <a:latin typeface="Avenir Book" panose="02000503020000020003" pitchFamily="2" charset="0"/>
              </a:rPr>
              <a:t>Loss ratio deterioration </a:t>
            </a: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+5 pts YoY</a:t>
            </a:r>
            <a:endParaRPr lang="en-US" sz="2600" dirty="0">
              <a:solidFill>
                <a:srgbClr val="ABE534"/>
              </a:solidFill>
              <a:latin typeface="Avenir Book" panose="02000503020000020003" pitchFamily="2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DB4FB9F-E62A-906D-E1E6-A91B41AECC81}"/>
              </a:ext>
            </a:extLst>
          </p:cNvPr>
          <p:cNvSpPr txBox="1">
            <a:spLocks/>
          </p:cNvSpPr>
          <p:nvPr userDrawn="1"/>
        </p:nvSpPr>
        <p:spPr>
          <a:xfrm>
            <a:off x="7509164" y="4966558"/>
            <a:ext cx="3311236" cy="824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>
                <a:solidFill>
                  <a:srgbClr val="ABE534"/>
                </a:solidFill>
                <a:latin typeface="Avenir Book" panose="02000503020000020003" pitchFamily="2" charset="0"/>
              </a:rPr>
              <a:t>Customer retention down </a:t>
            </a: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8% YoY</a:t>
            </a:r>
            <a:endParaRPr lang="en-US" sz="2600" dirty="0">
              <a:solidFill>
                <a:srgbClr val="ABE534"/>
              </a:solidFill>
              <a:latin typeface="Avenir Book" panose="02000503020000020003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B6357D-7B36-90B8-BC44-0CC0284F920A}"/>
              </a:ext>
            </a:extLst>
          </p:cNvPr>
          <p:cNvCxnSpPr>
            <a:cxnSpLocks/>
          </p:cNvCxnSpPr>
          <p:nvPr userDrawn="1"/>
        </p:nvCxnSpPr>
        <p:spPr>
          <a:xfrm>
            <a:off x="6276109" y="4333464"/>
            <a:ext cx="500149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62E6C1-6ECB-4184-CF37-13E98DA8602F}"/>
              </a:ext>
            </a:extLst>
          </p:cNvPr>
          <p:cNvCxnSpPr>
            <a:cxnSpLocks/>
          </p:cNvCxnSpPr>
          <p:nvPr userDrawn="1"/>
        </p:nvCxnSpPr>
        <p:spPr>
          <a:xfrm>
            <a:off x="6276109" y="2561086"/>
            <a:ext cx="500149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green shield with a white paper and a check mark&#10;&#10;AI-generated content may be incorrect.">
            <a:extLst>
              <a:ext uri="{FF2B5EF4-FFF2-40B4-BE49-F238E27FC236}">
                <a16:creationId xmlns:a16="http://schemas.microsoft.com/office/drawing/2014/main" id="{86779019-4D70-ABB9-587D-6D3830847A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026916"/>
            <a:ext cx="1260764" cy="1260764"/>
          </a:xfrm>
          <a:prstGeom prst="rect">
            <a:avLst/>
          </a:prstGeom>
        </p:spPr>
      </p:pic>
      <p:pic>
        <p:nvPicPr>
          <p:cNvPr id="24" name="Picture 23" descr="A green arrow pointing down with a white circle with a percent sign&#10;&#10;AI-generated content may be incorrect.">
            <a:extLst>
              <a:ext uri="{FF2B5EF4-FFF2-40B4-BE49-F238E27FC236}">
                <a16:creationId xmlns:a16="http://schemas.microsoft.com/office/drawing/2014/main" id="{E554774B-D536-BA91-8EEA-9A01E48360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0133" y="2926557"/>
            <a:ext cx="1112497" cy="1112497"/>
          </a:xfrm>
          <a:prstGeom prst="rect">
            <a:avLst/>
          </a:prstGeom>
        </p:spPr>
      </p:pic>
      <p:pic>
        <p:nvPicPr>
          <p:cNvPr id="25" name="Picture 24" descr="A white figure with a green arrow&#10;&#10;AI-generated content may be incorrect.">
            <a:extLst>
              <a:ext uri="{FF2B5EF4-FFF2-40B4-BE49-F238E27FC236}">
                <a16:creationId xmlns:a16="http://schemas.microsoft.com/office/drawing/2014/main" id="{82B43270-04A3-85B8-E34B-5048FF78E8B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4764" y="4793218"/>
            <a:ext cx="1037866" cy="103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2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ABE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2F47-F5A0-2631-8D3E-7CE6638E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431456"/>
            <a:ext cx="11292208" cy="13324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From Assessment to Execution</a:t>
            </a:r>
            <a:b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</a:br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12-Week Consulting Journey</a:t>
            </a:r>
            <a:endParaRPr lang="en-US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5AD663FF-019E-93D1-EF94-75300ED4F544}"/>
              </a:ext>
            </a:extLst>
          </p:cNvPr>
          <p:cNvSpPr/>
          <p:nvPr userDrawn="1"/>
        </p:nvSpPr>
        <p:spPr>
          <a:xfrm>
            <a:off x="567565" y="1876097"/>
            <a:ext cx="11174543" cy="4550445"/>
          </a:xfrm>
          <a:prstGeom prst="snip1Rect">
            <a:avLst>
              <a:gd name="adj" fmla="val 10759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36BD53-D1EF-AED6-1025-8540D796F60A}"/>
              </a:ext>
            </a:extLst>
          </p:cNvPr>
          <p:cNvGrpSpPr/>
          <p:nvPr userDrawn="1"/>
        </p:nvGrpSpPr>
        <p:grpSpPr>
          <a:xfrm>
            <a:off x="11459952" y="1876097"/>
            <a:ext cx="282156" cy="275897"/>
            <a:chOff x="10833904" y="431457"/>
            <a:chExt cx="908204" cy="88805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4E20C7B-2AF7-2C66-F128-722E8BB9C39B}"/>
                </a:ext>
              </a:extLst>
            </p:cNvPr>
            <p:cNvCxnSpPr>
              <a:cxnSpLocks/>
            </p:cNvCxnSpPr>
            <p:nvPr/>
          </p:nvCxnSpPr>
          <p:spPr>
            <a:xfrm>
              <a:off x="10833904" y="431457"/>
              <a:ext cx="908204" cy="0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C85BC75-55D3-F68B-1232-06CE2D27AEC5}"/>
                </a:ext>
              </a:extLst>
            </p:cNvPr>
            <p:cNvCxnSpPr>
              <a:cxnSpLocks/>
            </p:cNvCxnSpPr>
            <p:nvPr/>
          </p:nvCxnSpPr>
          <p:spPr>
            <a:xfrm>
              <a:off x="11742108" y="431457"/>
              <a:ext cx="0" cy="888056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A3E698-A197-D42F-8ADE-B700F5A0AF0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90836641"/>
              </p:ext>
            </p:extLst>
          </p:nvPr>
        </p:nvGraphicFramePr>
        <p:xfrm>
          <a:off x="779295" y="2191406"/>
          <a:ext cx="10728000" cy="4059231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728000">
                  <a:extLst>
                    <a:ext uri="{9D8B030D-6E8A-4147-A177-3AD203B41FA5}">
                      <a16:colId xmlns:a16="http://schemas.microsoft.com/office/drawing/2014/main" val="415042209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618713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1412498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75973093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3022305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28686535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10353856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6714076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1297297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3037426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60345811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123191738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517913777"/>
                    </a:ext>
                  </a:extLst>
                </a:gridCol>
              </a:tblGrid>
              <a:tr h="321679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1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2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3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4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5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6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7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8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9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 10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11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Deliverables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04878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Phase 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05574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Avenir Book" panose="02000503020000020003" pitchFamily="2" charset="0"/>
                        </a:rPr>
                        <a:t>Diagnostic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Baseline KPI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839230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Phase 2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95791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Analytical Deep Dive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Opportunity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937812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Phase 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335055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Strategy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Implementation Blueprint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84861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Phase 4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570555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Avenir Book" panose="02000503020000020003" pitchFamily="2" charset="0"/>
                        </a:rPr>
                        <a:t>Validation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Financial Impact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321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64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26966F-684E-D9BF-8A8F-0C2034D9718D}"/>
              </a:ext>
            </a:extLst>
          </p:cNvPr>
          <p:cNvSpPr/>
          <p:nvPr userDrawn="1"/>
        </p:nvSpPr>
        <p:spPr>
          <a:xfrm>
            <a:off x="509753" y="5869326"/>
            <a:ext cx="3542105" cy="463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1282A4-0FE7-A830-DB39-8A470287F4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1115" y="431800"/>
            <a:ext cx="6881813" cy="133191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Operational Insights &amp; Efficiency Opportunities</a:t>
            </a:r>
            <a:endParaRPr lang="en-US" b="1" dirty="0">
              <a:solidFill>
                <a:srgbClr val="ABE534"/>
              </a:solidFill>
              <a:latin typeface="Avenir Heavy" panose="02000503020000020003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3C652AD-7B89-3BA2-122F-AD9089EEC859}"/>
              </a:ext>
            </a:extLst>
          </p:cNvPr>
          <p:cNvGrpSpPr/>
          <p:nvPr userDrawn="1"/>
        </p:nvGrpSpPr>
        <p:grpSpPr>
          <a:xfrm>
            <a:off x="11177796" y="1876097"/>
            <a:ext cx="564312" cy="551793"/>
            <a:chOff x="10833904" y="431457"/>
            <a:chExt cx="908204" cy="88805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A303222-B21C-4A47-2478-AB9496BE6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833904" y="431457"/>
              <a:ext cx="908204" cy="0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8E75148-EAF9-18FF-C134-726DEE965A5E}"/>
                </a:ext>
              </a:extLst>
            </p:cNvPr>
            <p:cNvCxnSpPr>
              <a:cxnSpLocks/>
            </p:cNvCxnSpPr>
            <p:nvPr/>
          </p:nvCxnSpPr>
          <p:spPr>
            <a:xfrm>
              <a:off x="11742108" y="431457"/>
              <a:ext cx="0" cy="888056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nip Single Corner of Rectangle 7">
            <a:extLst>
              <a:ext uri="{FF2B5EF4-FFF2-40B4-BE49-F238E27FC236}">
                <a16:creationId xmlns:a16="http://schemas.microsoft.com/office/drawing/2014/main" id="{E6E18E35-02F3-C88A-ACF7-F4ADDB84E7B0}"/>
              </a:ext>
            </a:extLst>
          </p:cNvPr>
          <p:cNvSpPr/>
          <p:nvPr userDrawn="1"/>
        </p:nvSpPr>
        <p:spPr>
          <a:xfrm>
            <a:off x="8140263" y="2320055"/>
            <a:ext cx="3527012" cy="3549271"/>
          </a:xfrm>
          <a:prstGeom prst="snip1Rect">
            <a:avLst>
              <a:gd name="adj" fmla="val 1290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C428BC-50B7-C7C1-891C-C15DB2643910}"/>
              </a:ext>
            </a:extLst>
          </p:cNvPr>
          <p:cNvSpPr txBox="1">
            <a:spLocks/>
          </p:cNvSpPr>
          <p:nvPr userDrawn="1"/>
        </p:nvSpPr>
        <p:spPr>
          <a:xfrm>
            <a:off x="8140263" y="549157"/>
            <a:ext cx="3660622" cy="1451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Quantitative analysis uncovered inefficiencies and improvement levers across claims, underwriting, and customer experience.</a:t>
            </a:r>
          </a:p>
        </p:txBody>
      </p:sp>
      <p:sp>
        <p:nvSpPr>
          <p:cNvPr id="10" name="Snip Single Corner of Rectangle 9">
            <a:extLst>
              <a:ext uri="{FF2B5EF4-FFF2-40B4-BE49-F238E27FC236}">
                <a16:creationId xmlns:a16="http://schemas.microsoft.com/office/drawing/2014/main" id="{F1208C77-2B41-7D85-9595-CFFD87878553}"/>
              </a:ext>
            </a:extLst>
          </p:cNvPr>
          <p:cNvSpPr/>
          <p:nvPr userDrawn="1"/>
        </p:nvSpPr>
        <p:spPr>
          <a:xfrm>
            <a:off x="4325008" y="2320055"/>
            <a:ext cx="3527012" cy="3549271"/>
          </a:xfrm>
          <a:prstGeom prst="snip1Rect">
            <a:avLst>
              <a:gd name="adj" fmla="val 1290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Single Corner of Rectangle 10">
            <a:extLst>
              <a:ext uri="{FF2B5EF4-FFF2-40B4-BE49-F238E27FC236}">
                <a16:creationId xmlns:a16="http://schemas.microsoft.com/office/drawing/2014/main" id="{012DABA7-88FA-C0F6-535E-44ECF1DEE39D}"/>
              </a:ext>
            </a:extLst>
          </p:cNvPr>
          <p:cNvSpPr/>
          <p:nvPr userDrawn="1"/>
        </p:nvSpPr>
        <p:spPr>
          <a:xfrm>
            <a:off x="509753" y="2320055"/>
            <a:ext cx="3527012" cy="3549271"/>
          </a:xfrm>
          <a:prstGeom prst="snip1Rect">
            <a:avLst>
              <a:gd name="adj" fmla="val 1290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9EACD9F-1BE6-B630-6F60-692B37E83B7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986100504"/>
              </p:ext>
            </p:extLst>
          </p:nvPr>
        </p:nvGraphicFramePr>
        <p:xfrm>
          <a:off x="316691" y="2444966"/>
          <a:ext cx="3840750" cy="346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72F9E2E-893F-CA7F-064D-D35D285187E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32278183"/>
              </p:ext>
            </p:extLst>
          </p:nvPr>
        </p:nvGraphicFramePr>
        <p:xfrm>
          <a:off x="4126691" y="2444966"/>
          <a:ext cx="3840750" cy="346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B8EA499D-72E8-BDE6-9192-BC7C00F60B2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99706922"/>
              </p:ext>
            </p:extLst>
          </p:nvPr>
        </p:nvGraphicFramePr>
        <p:xfrm>
          <a:off x="7960138" y="2444966"/>
          <a:ext cx="3840750" cy="346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62E929C3-A117-FAD1-7A2B-6BC29BF8D86F}"/>
              </a:ext>
            </a:extLst>
          </p:cNvPr>
          <p:cNvSpPr txBox="1">
            <a:spLocks/>
          </p:cNvSpPr>
          <p:nvPr userDrawn="1"/>
        </p:nvSpPr>
        <p:spPr>
          <a:xfrm>
            <a:off x="2011419" y="5828227"/>
            <a:ext cx="1446831" cy="588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Improvement</a:t>
            </a:r>
            <a:endParaRPr lang="en-US" sz="16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E126617-D51D-375A-6FD8-FDCA05EF1FF0}"/>
              </a:ext>
            </a:extLst>
          </p:cNvPr>
          <p:cNvSpPr txBox="1">
            <a:spLocks/>
          </p:cNvSpPr>
          <p:nvPr userDrawn="1"/>
        </p:nvSpPr>
        <p:spPr>
          <a:xfrm>
            <a:off x="1068770" y="5797990"/>
            <a:ext cx="1146105" cy="690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chemeClr val="bg1"/>
                </a:solidFill>
                <a:latin typeface="Avenir Heavy" panose="02000503020000020003" pitchFamily="2" charset="0"/>
              </a:rPr>
              <a:t>–58%</a:t>
            </a:r>
            <a:endParaRPr lang="en-US" sz="2400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496F58-7616-2140-8C57-B2BC6835EFAC}"/>
              </a:ext>
            </a:extLst>
          </p:cNvPr>
          <p:cNvSpPr/>
          <p:nvPr userDrawn="1"/>
        </p:nvSpPr>
        <p:spPr>
          <a:xfrm>
            <a:off x="4317824" y="5869326"/>
            <a:ext cx="3542105" cy="463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1B6A30B-0FD4-6819-4356-EDDB3BB255F9}"/>
              </a:ext>
            </a:extLst>
          </p:cNvPr>
          <p:cNvSpPr txBox="1">
            <a:spLocks/>
          </p:cNvSpPr>
          <p:nvPr userDrawn="1"/>
        </p:nvSpPr>
        <p:spPr>
          <a:xfrm>
            <a:off x="5940204" y="5828227"/>
            <a:ext cx="1414025" cy="588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Improvement</a:t>
            </a:r>
            <a:endParaRPr lang="en-US" sz="16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EBD345B-7E8A-FD95-FFE3-B7DFB5B05EFB}"/>
              </a:ext>
            </a:extLst>
          </p:cNvPr>
          <p:cNvSpPr txBox="1">
            <a:spLocks/>
          </p:cNvSpPr>
          <p:nvPr userDrawn="1"/>
        </p:nvSpPr>
        <p:spPr>
          <a:xfrm>
            <a:off x="4794099" y="5763265"/>
            <a:ext cx="1146105" cy="690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chemeClr val="bg1"/>
                </a:solidFill>
                <a:latin typeface="Avenir Heavy" panose="02000503020000020003" pitchFamily="2" charset="0"/>
              </a:rPr>
              <a:t>–42 pts</a:t>
            </a:r>
            <a:endParaRPr lang="en-US" sz="2400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01B2F4-C365-5971-5EB2-2A84A2CD4681}"/>
              </a:ext>
            </a:extLst>
          </p:cNvPr>
          <p:cNvSpPr/>
          <p:nvPr userDrawn="1"/>
        </p:nvSpPr>
        <p:spPr>
          <a:xfrm>
            <a:off x="8125895" y="5869326"/>
            <a:ext cx="3542105" cy="463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AE3B908-ED02-4916-41DE-693A0FDA4E02}"/>
              </a:ext>
            </a:extLst>
          </p:cNvPr>
          <p:cNvSpPr txBox="1">
            <a:spLocks/>
          </p:cNvSpPr>
          <p:nvPr userDrawn="1"/>
        </p:nvSpPr>
        <p:spPr>
          <a:xfrm>
            <a:off x="9748275" y="5828227"/>
            <a:ext cx="1414025" cy="588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Improvement</a:t>
            </a:r>
            <a:endParaRPr lang="en-US" sz="16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EF23BF2-C079-F173-E8A0-E53C35FE0D03}"/>
              </a:ext>
            </a:extLst>
          </p:cNvPr>
          <p:cNvSpPr txBox="1">
            <a:spLocks/>
          </p:cNvSpPr>
          <p:nvPr userDrawn="1"/>
        </p:nvSpPr>
        <p:spPr>
          <a:xfrm>
            <a:off x="8602170" y="5763265"/>
            <a:ext cx="1253617" cy="690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chemeClr val="bg1"/>
                </a:solidFill>
                <a:latin typeface="Avenir Heavy" panose="02000503020000020003" pitchFamily="2" charset="0"/>
              </a:rPr>
              <a:t>+42 pts</a:t>
            </a:r>
            <a:endParaRPr lang="en-US" sz="2400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58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Single Corner of Rectangle 4">
            <a:extLst>
              <a:ext uri="{FF2B5EF4-FFF2-40B4-BE49-F238E27FC236}">
                <a16:creationId xmlns:a16="http://schemas.microsoft.com/office/drawing/2014/main" id="{0F3FAC8E-908D-6279-5B52-641795CAF454}"/>
              </a:ext>
            </a:extLst>
          </p:cNvPr>
          <p:cNvSpPr/>
          <p:nvPr userDrawn="1"/>
        </p:nvSpPr>
        <p:spPr>
          <a:xfrm rot="10800000" flipH="1">
            <a:off x="-3415" y="-774"/>
            <a:ext cx="6084425" cy="6847200"/>
          </a:xfrm>
          <a:prstGeom prst="snip1Rect">
            <a:avLst>
              <a:gd name="adj" fmla="val 30899"/>
            </a:avLst>
          </a:prstGeom>
          <a:blipFill dpi="0" rotWithShape="0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46"/>
                      </a14:imgEffect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04A36A-05B2-E716-C754-7CB72CA996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2922" y="1296794"/>
            <a:ext cx="5111750" cy="2971800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Heavy" panose="02000503020000020003" pitchFamily="2" charset="0"/>
              </a:rPr>
              <a:t>Quantifying Value Creation Across Operations &amp; Financial Performance</a:t>
            </a:r>
            <a:endParaRPr lang="en-US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87C258-556F-BCC1-DE09-6B779FF6806A}"/>
              </a:ext>
            </a:extLst>
          </p:cNvPr>
          <p:cNvSpPr txBox="1">
            <a:spLocks/>
          </p:cNvSpPr>
          <p:nvPr userDrawn="1"/>
        </p:nvSpPr>
        <p:spPr>
          <a:xfrm>
            <a:off x="449893" y="4666953"/>
            <a:ext cx="4886605" cy="133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3E1AB0B-A6F7-F28B-F147-5E80CE276D48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75320534"/>
              </p:ext>
            </p:extLst>
          </p:nvPr>
        </p:nvGraphicFramePr>
        <p:xfrm>
          <a:off x="6534319" y="539647"/>
          <a:ext cx="5207787" cy="56512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28437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4C8C54A-124D-5C17-E525-686A58B81B14}"/>
              </a:ext>
            </a:extLst>
          </p:cNvPr>
          <p:cNvGrpSpPr/>
          <p:nvPr userDrawn="1"/>
        </p:nvGrpSpPr>
        <p:grpSpPr>
          <a:xfrm rot="10800000" flipV="1">
            <a:off x="1666765" y="4604592"/>
            <a:ext cx="5909969" cy="1125729"/>
            <a:chOff x="1580023" y="4418778"/>
            <a:chExt cx="5909969" cy="112572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495EAF-662F-43AB-F881-77D6DD9D04A8}"/>
                </a:ext>
              </a:extLst>
            </p:cNvPr>
            <p:cNvCxnSpPr>
              <a:cxnSpLocks/>
            </p:cNvCxnSpPr>
            <p:nvPr/>
          </p:nvCxnSpPr>
          <p:spPr>
            <a:xfrm>
              <a:off x="1580023" y="5544507"/>
              <a:ext cx="1928641" cy="0"/>
            </a:xfrm>
            <a:prstGeom prst="line">
              <a:avLst/>
            </a:prstGeom>
            <a:ln w="4953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FD3B1E-AAC5-9D4D-EC27-E6B6BFDFE1D1}"/>
                </a:ext>
              </a:extLst>
            </p:cNvPr>
            <p:cNvCxnSpPr>
              <a:cxnSpLocks/>
            </p:cNvCxnSpPr>
            <p:nvPr/>
          </p:nvCxnSpPr>
          <p:spPr>
            <a:xfrm>
              <a:off x="4701978" y="4418778"/>
              <a:ext cx="2788014" cy="13578"/>
            </a:xfrm>
            <a:prstGeom prst="line">
              <a:avLst/>
            </a:prstGeom>
            <a:ln w="4953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A8CB00C6-64BD-F8C2-4413-9185C56DC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0197" y="4420244"/>
              <a:ext cx="1199370" cy="1124263"/>
            </a:xfrm>
            <a:prstGeom prst="curvedConnector3">
              <a:avLst>
                <a:gd name="adj1" fmla="val 50000"/>
              </a:avLst>
            </a:prstGeom>
            <a:ln w="4953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C2E0A6-0925-0C66-E176-74024B5EDF73}"/>
              </a:ext>
            </a:extLst>
          </p:cNvPr>
          <p:cNvCxnSpPr>
            <a:cxnSpLocks/>
          </p:cNvCxnSpPr>
          <p:nvPr userDrawn="1"/>
        </p:nvCxnSpPr>
        <p:spPr>
          <a:xfrm>
            <a:off x="1630456" y="4609476"/>
            <a:ext cx="4588228" cy="0"/>
          </a:xfrm>
          <a:prstGeom prst="line">
            <a:avLst/>
          </a:prstGeom>
          <a:ln w="508000">
            <a:solidFill>
              <a:srgbClr val="1F8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0077E40C-D7A7-3500-7786-EE960CBF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87" y="218296"/>
            <a:ext cx="6738534" cy="2333036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Transformation Pathway:</a:t>
            </a:r>
            <a:b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</a:br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From Diagnosis to Measurable Impact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7F6C80-B24E-C629-8465-88B4622515B4}"/>
              </a:ext>
            </a:extLst>
          </p:cNvPr>
          <p:cNvSpPr txBox="1">
            <a:spLocks/>
          </p:cNvSpPr>
          <p:nvPr userDrawn="1"/>
        </p:nvSpPr>
        <p:spPr>
          <a:xfrm>
            <a:off x="8104682" y="604619"/>
            <a:ext cx="3637425" cy="164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  <p:sp>
        <p:nvSpPr>
          <p:cNvPr id="10" name="Snip Single Corner of Rectangle 9">
            <a:extLst>
              <a:ext uri="{FF2B5EF4-FFF2-40B4-BE49-F238E27FC236}">
                <a16:creationId xmlns:a16="http://schemas.microsoft.com/office/drawing/2014/main" id="{D6CD0C4D-9B10-B81A-14D0-66081B51B5AA}"/>
              </a:ext>
            </a:extLst>
          </p:cNvPr>
          <p:cNvSpPr/>
          <p:nvPr userDrawn="1"/>
        </p:nvSpPr>
        <p:spPr>
          <a:xfrm>
            <a:off x="6218684" y="4183619"/>
            <a:ext cx="844508" cy="844423"/>
          </a:xfrm>
          <a:prstGeom prst="snip1Rect">
            <a:avLst>
              <a:gd name="adj" fmla="val 12906"/>
            </a:avLst>
          </a:prstGeom>
          <a:solidFill>
            <a:schemeClr val="bg1"/>
          </a:solidFill>
          <a:ln w="31750">
            <a:solidFill>
              <a:srgbClr val="0A3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Single Corner of Rectangle 10">
            <a:extLst>
              <a:ext uri="{FF2B5EF4-FFF2-40B4-BE49-F238E27FC236}">
                <a16:creationId xmlns:a16="http://schemas.microsoft.com/office/drawing/2014/main" id="{55B62198-6DB8-2F7C-FF61-DC1BE14E4FE1}"/>
              </a:ext>
            </a:extLst>
          </p:cNvPr>
          <p:cNvSpPr/>
          <p:nvPr userDrawn="1"/>
        </p:nvSpPr>
        <p:spPr>
          <a:xfrm>
            <a:off x="7576734" y="5295770"/>
            <a:ext cx="844508" cy="844423"/>
          </a:xfrm>
          <a:prstGeom prst="snip1Rect">
            <a:avLst>
              <a:gd name="adj" fmla="val 12906"/>
            </a:avLst>
          </a:prstGeom>
          <a:solidFill>
            <a:schemeClr val="bg1"/>
          </a:solidFill>
          <a:ln w="31750">
            <a:solidFill>
              <a:srgbClr val="0A3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960F07-BE1E-9EF2-8D81-7E912FEA00B2}"/>
              </a:ext>
            </a:extLst>
          </p:cNvPr>
          <p:cNvCxnSpPr>
            <a:cxnSpLocks/>
          </p:cNvCxnSpPr>
          <p:nvPr userDrawn="1"/>
        </p:nvCxnSpPr>
        <p:spPr>
          <a:xfrm>
            <a:off x="1672789" y="4605831"/>
            <a:ext cx="1980538" cy="0"/>
          </a:xfrm>
          <a:prstGeom prst="line">
            <a:avLst/>
          </a:prstGeom>
          <a:ln w="508000">
            <a:solidFill>
              <a:srgbClr val="DFF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00B2D5-96EE-4FA2-60BA-14D41C645FB5}"/>
              </a:ext>
            </a:extLst>
          </p:cNvPr>
          <p:cNvCxnSpPr>
            <a:cxnSpLocks/>
          </p:cNvCxnSpPr>
          <p:nvPr userDrawn="1"/>
        </p:nvCxnSpPr>
        <p:spPr>
          <a:xfrm>
            <a:off x="4794744" y="3480102"/>
            <a:ext cx="2788014" cy="13578"/>
          </a:xfrm>
          <a:prstGeom prst="line">
            <a:avLst/>
          </a:prstGeom>
          <a:ln w="508000">
            <a:solidFill>
              <a:srgbClr val="DFF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3183870D-5ED3-1176-663C-0011E46E33D4}"/>
              </a:ext>
            </a:extLst>
          </p:cNvPr>
          <p:cNvCxnSpPr>
            <a:cxnSpLocks/>
          </p:cNvCxnSpPr>
          <p:nvPr userDrawn="1"/>
        </p:nvCxnSpPr>
        <p:spPr>
          <a:xfrm flipV="1">
            <a:off x="3601430" y="3481568"/>
            <a:ext cx="1199370" cy="1124263"/>
          </a:xfrm>
          <a:prstGeom prst="curvedConnector3">
            <a:avLst>
              <a:gd name="adj1" fmla="val 50000"/>
            </a:avLst>
          </a:prstGeom>
          <a:ln w="508000">
            <a:solidFill>
              <a:srgbClr val="DFF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nip Single Corner of Rectangle 14">
            <a:extLst>
              <a:ext uri="{FF2B5EF4-FFF2-40B4-BE49-F238E27FC236}">
                <a16:creationId xmlns:a16="http://schemas.microsoft.com/office/drawing/2014/main" id="{4D2C2285-8E46-EA29-9F58-62B4B7481246}"/>
              </a:ext>
            </a:extLst>
          </p:cNvPr>
          <p:cNvSpPr/>
          <p:nvPr userDrawn="1"/>
        </p:nvSpPr>
        <p:spPr>
          <a:xfrm>
            <a:off x="536951" y="3832263"/>
            <a:ext cx="1567584" cy="1567425"/>
          </a:xfrm>
          <a:prstGeom prst="snip1Rect">
            <a:avLst>
              <a:gd name="adj" fmla="val 12906"/>
            </a:avLst>
          </a:prstGeom>
          <a:solidFill>
            <a:srgbClr val="0A3330"/>
          </a:solidFill>
          <a:ln>
            <a:solidFill>
              <a:srgbClr val="DFF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Single Corner of Rectangle 15">
            <a:extLst>
              <a:ext uri="{FF2B5EF4-FFF2-40B4-BE49-F238E27FC236}">
                <a16:creationId xmlns:a16="http://schemas.microsoft.com/office/drawing/2014/main" id="{A6D59A3E-BD4F-12F5-6944-7FFE22EF2B06}"/>
              </a:ext>
            </a:extLst>
          </p:cNvPr>
          <p:cNvSpPr/>
          <p:nvPr userDrawn="1"/>
        </p:nvSpPr>
        <p:spPr>
          <a:xfrm>
            <a:off x="7455855" y="3053381"/>
            <a:ext cx="844508" cy="844423"/>
          </a:xfrm>
          <a:prstGeom prst="snip1Rect">
            <a:avLst>
              <a:gd name="adj" fmla="val 12906"/>
            </a:avLst>
          </a:prstGeom>
          <a:solidFill>
            <a:schemeClr val="bg1"/>
          </a:solidFill>
          <a:ln w="31750">
            <a:solidFill>
              <a:srgbClr val="0A3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E67A916-6252-EEE9-BAFA-EE647AA2A5C3}"/>
              </a:ext>
            </a:extLst>
          </p:cNvPr>
          <p:cNvSpPr txBox="1">
            <a:spLocks/>
          </p:cNvSpPr>
          <p:nvPr userDrawn="1"/>
        </p:nvSpPr>
        <p:spPr>
          <a:xfrm>
            <a:off x="7455855" y="3164240"/>
            <a:ext cx="844509" cy="7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spc="-150" dirty="0">
                <a:solidFill>
                  <a:srgbClr val="0A3330"/>
                </a:solidFill>
                <a:latin typeface="Avenir Heavy" panose="02000503020000020003" pitchFamily="2" charset="0"/>
              </a:rPr>
              <a:t>12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C273497-E0CD-370D-DE3B-22B5B747AE86}"/>
              </a:ext>
            </a:extLst>
          </p:cNvPr>
          <p:cNvSpPr txBox="1">
            <a:spLocks/>
          </p:cNvSpPr>
          <p:nvPr userDrawn="1"/>
        </p:nvSpPr>
        <p:spPr>
          <a:xfrm>
            <a:off x="8421242" y="3208863"/>
            <a:ext cx="3320865" cy="666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12-day claim cycle vs. 5-day industry benchmark.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F6F2EA5-F0A0-4390-41AE-D15996354E7C}"/>
              </a:ext>
            </a:extLst>
          </p:cNvPr>
          <p:cNvSpPr txBox="1">
            <a:spLocks/>
          </p:cNvSpPr>
          <p:nvPr userDrawn="1"/>
        </p:nvSpPr>
        <p:spPr>
          <a:xfrm>
            <a:off x="6206919" y="4279362"/>
            <a:ext cx="898419" cy="7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spc="-150" dirty="0">
                <a:solidFill>
                  <a:srgbClr val="0A3330"/>
                </a:solidFill>
                <a:latin typeface="Avenir Heavy" panose="02000503020000020003" pitchFamily="2" charset="0"/>
              </a:rPr>
              <a:t>42%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3F0E21C-58CF-3593-5611-0BA1FE396EA9}"/>
              </a:ext>
            </a:extLst>
          </p:cNvPr>
          <p:cNvSpPr txBox="1">
            <a:spLocks/>
          </p:cNvSpPr>
          <p:nvPr userDrawn="1"/>
        </p:nvSpPr>
        <p:spPr>
          <a:xfrm>
            <a:off x="7183457" y="4335136"/>
            <a:ext cx="3637425" cy="666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42 % process acceleration and 18 % system redundancy reduction.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00A9203-DE0C-0FAD-8810-7A81D841D360}"/>
              </a:ext>
            </a:extLst>
          </p:cNvPr>
          <p:cNvSpPr txBox="1">
            <a:spLocks/>
          </p:cNvSpPr>
          <p:nvPr userDrawn="1"/>
        </p:nvSpPr>
        <p:spPr>
          <a:xfrm>
            <a:off x="7545065" y="5383333"/>
            <a:ext cx="898419" cy="7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spc="-150" dirty="0">
                <a:solidFill>
                  <a:srgbClr val="0A3330"/>
                </a:solidFill>
                <a:latin typeface="Avenir Heavy" panose="02000503020000020003" pitchFamily="2" charset="0"/>
              </a:rPr>
              <a:t>22%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004D9D8-5E82-7069-1F44-6B52F2F7BF8D}"/>
              </a:ext>
            </a:extLst>
          </p:cNvPr>
          <p:cNvSpPr txBox="1">
            <a:spLocks/>
          </p:cNvSpPr>
          <p:nvPr userDrawn="1"/>
        </p:nvSpPr>
        <p:spPr>
          <a:xfrm>
            <a:off x="8538265" y="5383333"/>
            <a:ext cx="3086817" cy="93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+22 % operating margin uplift and 210 % ROI within 12 months.</a:t>
            </a:r>
          </a:p>
        </p:txBody>
      </p:sp>
      <p:pic>
        <p:nvPicPr>
          <p:cNvPr id="23" name="Picture 22" descr="A green shield with a white paper and a check mark&#10;&#10;AI-generated content may be incorrect.">
            <a:extLst>
              <a:ext uri="{FF2B5EF4-FFF2-40B4-BE49-F238E27FC236}">
                <a16:creationId xmlns:a16="http://schemas.microsoft.com/office/drawing/2014/main" id="{C5D63BDB-B18A-AE87-D358-400686AAA9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361" y="3987789"/>
            <a:ext cx="1260764" cy="1260764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CC5A2D5-2EB5-ED31-9E0E-BE55F0DCDFC0}"/>
              </a:ext>
            </a:extLst>
          </p:cNvPr>
          <p:cNvSpPr txBox="1">
            <a:spLocks/>
          </p:cNvSpPr>
          <p:nvPr userDrawn="1"/>
        </p:nvSpPr>
        <p:spPr>
          <a:xfrm>
            <a:off x="566918" y="5499200"/>
            <a:ext cx="1583997" cy="610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Operational Assessment</a:t>
            </a:r>
          </a:p>
        </p:txBody>
      </p:sp>
    </p:spTree>
    <p:extLst>
      <p:ext uri="{BB962C8B-B14F-4D97-AF65-F5344CB8AC3E}">
        <p14:creationId xmlns:p14="http://schemas.microsoft.com/office/powerpoint/2010/main" val="62213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11B19-04E3-BA43-0FB8-44D26DDD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BD684-B626-EC84-E1C2-413B812E2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F3F75-C8A2-0104-06B9-77205365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2E468-974E-6B9D-239F-449AD1E9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958CF-0C80-31EE-6A68-EF5D8FA8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09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BFBC-5BDD-D439-AFC3-70F3A608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092E4-ED1E-1638-92AA-8AE4DDA5A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87A20-71FD-BC72-FF6C-64A5E58EE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87074-80AE-3BA3-FE38-F6911797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964A7-D896-CF59-4AD8-F03D8429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068BC-1848-1BE9-CE77-35D1420E7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76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0C65-0FCD-CC64-4ADC-5A76232D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4F402-3F97-9462-A46C-AFA8F3A13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7E8FA-C834-7519-5128-F44524EE8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BE311-736C-52FF-6D1C-0B2378C9E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EC0D4-049F-D5CE-4B6D-72FA9AE58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3D374C-E3CD-0455-7DAE-2E7223C1A9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B40527-2F98-FCBC-E2E9-4BE841ED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6FD5A-2DAC-2861-232B-F735A02A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01F6-C054-7E7B-3297-493C2D31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65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C252-F98C-844C-223D-897AEEB7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80E50-7DE9-C0C1-DCBD-726779858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EF747-1079-F640-A9A7-9DB7FEB41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375A4-BB2F-0812-DBA3-6B3D52AC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415C0-D4D7-80B0-A2E2-8395B404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9F293-3A96-BF68-4F58-B50FE218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18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3A9-54B6-B5FF-2A3D-A891066A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872E1-5824-357B-2D6D-E3A64A476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30CAE-D979-369D-C96E-2580FBD9A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477FF-D4BB-43CC-68B7-FD49A012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9B5E7-5C3F-C363-57C2-88F3676E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58CBA-BDF4-F758-C81A-96D30ED8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04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6FBD-E7D9-46F2-011E-1AD2B70E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9D54F-9479-B7AB-5CB8-680088280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6DD0D-13FB-78A6-236E-C7CA3A20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71F58-5A85-8502-22DB-D42553C7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5006B-1463-15FC-7FD1-85288C8C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4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0FAAC-7893-FDFD-1A48-230CF422C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10BD7-06C5-B880-BE21-6B01A806A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1E78-8FCD-1724-B2C5-0C963F3E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810C6-B366-CB13-C3EE-046F08C7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D946E-FEF4-12BB-3CA4-29517C3D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20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Single Corner of Rectangle 6">
            <a:extLst>
              <a:ext uri="{FF2B5EF4-FFF2-40B4-BE49-F238E27FC236}">
                <a16:creationId xmlns:a16="http://schemas.microsoft.com/office/drawing/2014/main" id="{2F305A48-0E59-F098-E929-E99D7912119D}"/>
              </a:ext>
            </a:extLst>
          </p:cNvPr>
          <p:cNvSpPr/>
          <p:nvPr userDrawn="1"/>
        </p:nvSpPr>
        <p:spPr>
          <a:xfrm>
            <a:off x="524718" y="1113182"/>
            <a:ext cx="5744795" cy="5078377"/>
          </a:xfrm>
          <a:prstGeom prst="snip1Rect">
            <a:avLst>
              <a:gd name="adj" fmla="val 21846"/>
            </a:avLst>
          </a:prstGeom>
          <a:solidFill>
            <a:srgbClr val="0A3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E61FE7-3886-B3BC-B8F1-DB04A4F2F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8" y="1712197"/>
            <a:ext cx="4788061" cy="3149169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>
                <a:solidFill>
                  <a:schemeClr val="bg1"/>
                </a:solidFill>
                <a:latin typeface="Avenir Heavy" panose="02000503020000020003" pitchFamily="2" charset="0"/>
              </a:rPr>
              <a:t>INSURANCE CONSULTING PROPOSAL TEMPLATE</a:t>
            </a:r>
            <a:endParaRPr lang="en-US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DE0A5E7-57CD-B6DC-89AE-4C154ECFDE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7028" y="5145803"/>
            <a:ext cx="4502554" cy="396433"/>
          </a:xfrm>
        </p:spPr>
        <p:txBody>
          <a:bodyPr>
            <a:normAutofit fontScale="92500" lnSpcReduction="10000"/>
          </a:bodyPr>
          <a:lstStyle>
            <a:lvl1pPr>
              <a:buNone/>
              <a:defRPr/>
            </a:lvl1pPr>
          </a:lstStyle>
          <a:p>
            <a:pPr algn="l"/>
            <a:r>
              <a:rPr lang="en-US" dirty="0">
                <a:solidFill>
                  <a:srgbClr val="ABE534"/>
                </a:solidFill>
                <a:latin typeface="Avenir Book" panose="02000503020000020003" pitchFamily="2" charset="0"/>
              </a:rPr>
              <a:t>October 2025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FE03F-96F5-88B5-9C08-936CF830F612}"/>
              </a:ext>
            </a:extLst>
          </p:cNvPr>
          <p:cNvCxnSpPr>
            <a:cxnSpLocks/>
          </p:cNvCxnSpPr>
          <p:nvPr userDrawn="1"/>
        </p:nvCxnSpPr>
        <p:spPr>
          <a:xfrm>
            <a:off x="524719" y="6191560"/>
            <a:ext cx="5744794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3189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F891-7167-2F83-2663-4A86642C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ABE534"/>
                </a:solidFill>
                <a:latin typeface="Avenir Heavy" panose="02000503020000020003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102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DD0D57C8-CA71-2B29-B572-5241BC0BA13B}"/>
              </a:ext>
            </a:extLst>
          </p:cNvPr>
          <p:cNvSpPr/>
          <p:nvPr userDrawn="1"/>
        </p:nvSpPr>
        <p:spPr>
          <a:xfrm>
            <a:off x="4344628" y="3825592"/>
            <a:ext cx="3490732" cy="2482645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A95716FE-1250-9E12-726F-8D7DE350B227}"/>
              </a:ext>
            </a:extLst>
          </p:cNvPr>
          <p:cNvSpPr/>
          <p:nvPr userDrawn="1"/>
        </p:nvSpPr>
        <p:spPr>
          <a:xfrm>
            <a:off x="8140544" y="3825592"/>
            <a:ext cx="3490732" cy="2482645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nip Single Corner of Rectangle 4">
            <a:extLst>
              <a:ext uri="{FF2B5EF4-FFF2-40B4-BE49-F238E27FC236}">
                <a16:creationId xmlns:a16="http://schemas.microsoft.com/office/drawing/2014/main" id="{0D8D15DB-31FF-B8A8-F04A-9E86BF934457}"/>
              </a:ext>
            </a:extLst>
          </p:cNvPr>
          <p:cNvSpPr/>
          <p:nvPr userDrawn="1"/>
        </p:nvSpPr>
        <p:spPr>
          <a:xfrm>
            <a:off x="524719" y="3825592"/>
            <a:ext cx="3490732" cy="2482645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2E5C2F-17F8-FF6C-7BF7-FCAD871A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473748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Unlocking Operational Value Through Data-Driven Strategy</a:t>
            </a:r>
            <a:endParaRPr lang="en-US" b="1" dirty="0">
              <a:solidFill>
                <a:srgbClr val="ABE534"/>
              </a:solidFill>
              <a:latin typeface="Avenir Heavy" panose="02000503020000020003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BAAC60-1E74-3450-EF65-BE04028D2FB3}"/>
              </a:ext>
            </a:extLst>
          </p:cNvPr>
          <p:cNvSpPr txBox="1">
            <a:spLocks/>
          </p:cNvSpPr>
          <p:nvPr userDrawn="1"/>
        </p:nvSpPr>
        <p:spPr>
          <a:xfrm>
            <a:off x="449893" y="2001019"/>
            <a:ext cx="10515600" cy="742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ABE534"/>
                </a:solidFill>
                <a:latin typeface="Avenir Book" panose="02000503020000020003" pitchFamily="2" charset="0"/>
              </a:rPr>
              <a:t>Our engagement aims to identify, quantify, and capture improvement opportunities across underwriting, claims, and policy management.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5A2C1A-3C68-EAEF-F49E-B8949D2D5D34}"/>
              </a:ext>
            </a:extLst>
          </p:cNvPr>
          <p:cNvSpPr txBox="1">
            <a:spLocks/>
          </p:cNvSpPr>
          <p:nvPr userDrawn="1"/>
        </p:nvSpPr>
        <p:spPr>
          <a:xfrm>
            <a:off x="781494" y="4630400"/>
            <a:ext cx="2806874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Combined Ratio improvement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016E47-875E-AFF2-3AC6-F1F6AB1183D9}"/>
              </a:ext>
            </a:extLst>
          </p:cNvPr>
          <p:cNvSpPr txBox="1">
            <a:spLocks/>
          </p:cNvSpPr>
          <p:nvPr userDrawn="1"/>
        </p:nvSpPr>
        <p:spPr>
          <a:xfrm>
            <a:off x="4657024" y="4659503"/>
            <a:ext cx="2956143" cy="889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Annual cost savings potential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0CCD07-05C4-DBB2-2D35-A573EF6BEB39}"/>
              </a:ext>
            </a:extLst>
          </p:cNvPr>
          <p:cNvSpPr txBox="1">
            <a:spLocks/>
          </p:cNvSpPr>
          <p:nvPr userDrawn="1"/>
        </p:nvSpPr>
        <p:spPr>
          <a:xfrm>
            <a:off x="8394332" y="4660248"/>
            <a:ext cx="2848627" cy="42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ROI within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537DFE8-B5F5-CF72-2915-514DF9A3F2B0}"/>
              </a:ext>
            </a:extLst>
          </p:cNvPr>
          <p:cNvSpPr txBox="1">
            <a:spLocks/>
          </p:cNvSpPr>
          <p:nvPr userDrawn="1"/>
        </p:nvSpPr>
        <p:spPr>
          <a:xfrm>
            <a:off x="449893" y="3093188"/>
            <a:ext cx="10515600" cy="4430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latin typeface="Avenir Book" panose="02000503020000020003" pitchFamily="2" charset="0"/>
              </a:rPr>
              <a:t>Key Outcomes Expected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F62223-DCCF-4071-19E4-358C5601AB68}"/>
              </a:ext>
            </a:extLst>
          </p:cNvPr>
          <p:cNvCxnSpPr/>
          <p:nvPr userDrawn="1"/>
        </p:nvCxnSpPr>
        <p:spPr>
          <a:xfrm>
            <a:off x="524719" y="3598832"/>
            <a:ext cx="11142562" cy="0"/>
          </a:xfrm>
          <a:prstGeom prst="line">
            <a:avLst/>
          </a:prstGeom>
          <a:ln w="635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6F568B-CB46-7AA0-63EC-808E703FCFE7}"/>
              </a:ext>
            </a:extLst>
          </p:cNvPr>
          <p:cNvSpPr txBox="1">
            <a:spLocks/>
          </p:cNvSpPr>
          <p:nvPr userDrawn="1"/>
        </p:nvSpPr>
        <p:spPr>
          <a:xfrm>
            <a:off x="781494" y="5393565"/>
            <a:ext cx="2806874" cy="751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200" b="1" spc="-300" dirty="0">
                <a:solidFill>
                  <a:srgbClr val="0A3330"/>
                </a:solidFill>
                <a:latin typeface="Avenir Book" panose="02000503020000020003" pitchFamily="2" charset="0"/>
              </a:rPr>
              <a:t>4 - 6 </a:t>
            </a:r>
            <a:r>
              <a:rPr lang="en-GB" sz="4200" b="1" dirty="0">
                <a:solidFill>
                  <a:srgbClr val="0A3330"/>
                </a:solidFill>
                <a:latin typeface="Avenir Book" panose="02000503020000020003" pitchFamily="2" charset="0"/>
              </a:rPr>
              <a:t>pts</a:t>
            </a:r>
            <a:endParaRPr lang="en-GB" sz="420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D612F1F-1947-336B-2D96-4122D84F9C06}"/>
              </a:ext>
            </a:extLst>
          </p:cNvPr>
          <p:cNvSpPr txBox="1">
            <a:spLocks/>
          </p:cNvSpPr>
          <p:nvPr userDrawn="1"/>
        </p:nvSpPr>
        <p:spPr>
          <a:xfrm>
            <a:off x="4668507" y="5393565"/>
            <a:ext cx="2806874" cy="751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200" b="1" spc="-300" dirty="0">
                <a:solidFill>
                  <a:srgbClr val="0A3330"/>
                </a:solidFill>
                <a:latin typeface="Avenir Book" panose="02000503020000020003" pitchFamily="2" charset="0"/>
              </a:rPr>
              <a:t>$3 - 4.5M</a:t>
            </a:r>
            <a:endParaRPr lang="en-GB" sz="420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4FA026F-E82B-5326-F97D-BC9C28100BCD}"/>
              </a:ext>
            </a:extLst>
          </p:cNvPr>
          <p:cNvSpPr txBox="1">
            <a:spLocks/>
          </p:cNvSpPr>
          <p:nvPr userDrawn="1"/>
        </p:nvSpPr>
        <p:spPr>
          <a:xfrm>
            <a:off x="8364253" y="5027183"/>
            <a:ext cx="2806874" cy="75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200" b="1" spc="-150" dirty="0">
                <a:solidFill>
                  <a:srgbClr val="0A3330"/>
                </a:solidFill>
                <a:latin typeface="Avenir Book" panose="02000503020000020003" pitchFamily="2" charset="0"/>
              </a:rPr>
              <a:t>12 months</a:t>
            </a:r>
            <a:endParaRPr lang="en-GB" sz="4200" spc="-15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89768D2-06B0-A342-B1F5-3AA6F15B653E}"/>
              </a:ext>
            </a:extLst>
          </p:cNvPr>
          <p:cNvSpPr txBox="1">
            <a:spLocks/>
          </p:cNvSpPr>
          <p:nvPr userDrawn="1"/>
        </p:nvSpPr>
        <p:spPr>
          <a:xfrm>
            <a:off x="8435897" y="5579196"/>
            <a:ext cx="2848627" cy="42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post-implementation</a:t>
            </a:r>
          </a:p>
        </p:txBody>
      </p:sp>
      <p:pic>
        <p:nvPicPr>
          <p:cNvPr id="17" name="Picture 16" descr="A green arrow pointing up&#10;&#10;AI-generated content may be incorrect.">
            <a:extLst>
              <a:ext uri="{FF2B5EF4-FFF2-40B4-BE49-F238E27FC236}">
                <a16:creationId xmlns:a16="http://schemas.microsoft.com/office/drawing/2014/main" id="{42F1FF01-D831-8198-9DB8-6E9F37CE58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993305"/>
            <a:ext cx="538908" cy="538908"/>
          </a:xfrm>
          <a:prstGeom prst="rect">
            <a:avLst/>
          </a:prstGeom>
        </p:spPr>
      </p:pic>
      <p:pic>
        <p:nvPicPr>
          <p:cNvPr id="18" name="Picture 17" descr="A green piggy bank with a coin in it&#10;&#10;AI-generated content may be incorrect.">
            <a:extLst>
              <a:ext uri="{FF2B5EF4-FFF2-40B4-BE49-F238E27FC236}">
                <a16:creationId xmlns:a16="http://schemas.microsoft.com/office/drawing/2014/main" id="{077EB59D-9767-D403-20ED-268609ABE9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024" y="3953206"/>
            <a:ext cx="678533" cy="6785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1237D3-A77E-2226-BAE6-361B5355909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9650" y="3906098"/>
            <a:ext cx="713321" cy="71332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D8E994B-8107-4568-1CF0-820CB0C822CE}"/>
              </a:ext>
            </a:extLst>
          </p:cNvPr>
          <p:cNvCxnSpPr>
            <a:cxnSpLocks/>
          </p:cNvCxnSpPr>
          <p:nvPr userDrawn="1"/>
        </p:nvCxnSpPr>
        <p:spPr>
          <a:xfrm>
            <a:off x="524719" y="6308237"/>
            <a:ext cx="3490732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E4852B-9BE9-9580-D66F-105516B13070}"/>
              </a:ext>
            </a:extLst>
          </p:cNvPr>
          <p:cNvCxnSpPr>
            <a:cxnSpLocks/>
          </p:cNvCxnSpPr>
          <p:nvPr userDrawn="1"/>
        </p:nvCxnSpPr>
        <p:spPr>
          <a:xfrm>
            <a:off x="4344628" y="6308237"/>
            <a:ext cx="3490732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D52BD7-7C8E-2CBD-DF23-0448DFFEB087}"/>
              </a:ext>
            </a:extLst>
          </p:cNvPr>
          <p:cNvCxnSpPr>
            <a:cxnSpLocks/>
          </p:cNvCxnSpPr>
          <p:nvPr userDrawn="1"/>
        </p:nvCxnSpPr>
        <p:spPr>
          <a:xfrm>
            <a:off x="8141713" y="6308237"/>
            <a:ext cx="3490732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228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EB8B88-D66E-47EE-4CAE-F6040C5A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1659698"/>
            <a:ext cx="4184737" cy="347195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Operational Inefficiencies Hindering Insurance Performance</a:t>
            </a:r>
            <a:endParaRPr lang="en-US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FFE95138-F14C-5A55-2AA9-AA16EF2DD9F5}"/>
              </a:ext>
            </a:extLst>
          </p:cNvPr>
          <p:cNvSpPr/>
          <p:nvPr userDrawn="1"/>
        </p:nvSpPr>
        <p:spPr>
          <a:xfrm>
            <a:off x="4960308" y="431457"/>
            <a:ext cx="6781800" cy="5995086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3D239A-2CD6-C880-A205-1796BA19DAC5}"/>
              </a:ext>
            </a:extLst>
          </p:cNvPr>
          <p:cNvSpPr txBox="1">
            <a:spLocks/>
          </p:cNvSpPr>
          <p:nvPr userDrawn="1"/>
        </p:nvSpPr>
        <p:spPr>
          <a:xfrm>
            <a:off x="449893" y="5131648"/>
            <a:ext cx="4184737" cy="133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0A3330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47638AA-6C66-8745-2494-0CA3DA334F3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016051463"/>
              </p:ext>
            </p:extLst>
          </p:nvPr>
        </p:nvGraphicFramePr>
        <p:xfrm>
          <a:off x="5532155" y="807348"/>
          <a:ext cx="58164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D1B498-3A56-E5BD-617E-E3D5143DAE2A}"/>
              </a:ext>
            </a:extLst>
          </p:cNvPr>
          <p:cNvCxnSpPr>
            <a:cxnSpLocks/>
          </p:cNvCxnSpPr>
          <p:nvPr userDrawn="1"/>
        </p:nvCxnSpPr>
        <p:spPr>
          <a:xfrm>
            <a:off x="10833904" y="431457"/>
            <a:ext cx="908204" cy="0"/>
          </a:xfrm>
          <a:prstGeom prst="line">
            <a:avLst/>
          </a:prstGeom>
          <a:ln w="6350">
            <a:solidFill>
              <a:srgbClr val="0A33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86E72-DCBA-99BD-FEE2-AF354A805077}"/>
              </a:ext>
            </a:extLst>
          </p:cNvPr>
          <p:cNvCxnSpPr>
            <a:cxnSpLocks/>
          </p:cNvCxnSpPr>
          <p:nvPr userDrawn="1"/>
        </p:nvCxnSpPr>
        <p:spPr>
          <a:xfrm>
            <a:off x="11742108" y="431457"/>
            <a:ext cx="0" cy="888056"/>
          </a:xfrm>
          <a:prstGeom prst="line">
            <a:avLst/>
          </a:prstGeom>
          <a:ln w="6350">
            <a:solidFill>
              <a:srgbClr val="0A33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6886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EB8B88-D66E-47EE-4CAE-F6040C5A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1659698"/>
            <a:ext cx="4184737" cy="347195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Operational Inefficiencies Hindering Insurance Performance</a:t>
            </a:r>
            <a:endParaRPr lang="en-US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3D239A-2CD6-C880-A205-1796BA19DAC5}"/>
              </a:ext>
            </a:extLst>
          </p:cNvPr>
          <p:cNvSpPr txBox="1">
            <a:spLocks/>
          </p:cNvSpPr>
          <p:nvPr userDrawn="1"/>
        </p:nvSpPr>
        <p:spPr>
          <a:xfrm>
            <a:off x="449893" y="5131648"/>
            <a:ext cx="4184737" cy="133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0A3330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</p:spTree>
    <p:extLst>
      <p:ext uri="{BB962C8B-B14F-4D97-AF65-F5344CB8AC3E}">
        <p14:creationId xmlns:p14="http://schemas.microsoft.com/office/powerpoint/2010/main" val="1883456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Single Corner of Rectangle 6">
            <a:extLst>
              <a:ext uri="{FF2B5EF4-FFF2-40B4-BE49-F238E27FC236}">
                <a16:creationId xmlns:a16="http://schemas.microsoft.com/office/drawing/2014/main" id="{573A7056-F3EA-BB1E-87FC-23303C39072A}"/>
              </a:ext>
            </a:extLst>
          </p:cNvPr>
          <p:cNvSpPr/>
          <p:nvPr userDrawn="1"/>
        </p:nvSpPr>
        <p:spPr>
          <a:xfrm>
            <a:off x="524718" y="2523280"/>
            <a:ext cx="5350803" cy="3784957"/>
          </a:xfrm>
          <a:prstGeom prst="snip1Rect">
            <a:avLst>
              <a:gd name="adj" fmla="val 2184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276CFC-D17B-9426-00E1-4AE57E26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2" y="473748"/>
            <a:ext cx="11333135" cy="1325563"/>
          </a:xfrm>
        </p:spPr>
        <p:txBody>
          <a:bodyPr/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Operational Diagnostics vs.</a:t>
            </a:r>
            <a:b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</a:br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Financial Validation</a:t>
            </a:r>
            <a:endParaRPr lang="en-US" b="1" dirty="0">
              <a:solidFill>
                <a:srgbClr val="ABE534"/>
              </a:solidFill>
              <a:latin typeface="Avenir Heavy" panose="02000503020000020003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60B80BE-F24F-620B-A3C0-0F1216DD3833}"/>
              </a:ext>
            </a:extLst>
          </p:cNvPr>
          <p:cNvSpPr txBox="1">
            <a:spLocks/>
          </p:cNvSpPr>
          <p:nvPr userDrawn="1"/>
        </p:nvSpPr>
        <p:spPr>
          <a:xfrm>
            <a:off x="449891" y="2087994"/>
            <a:ext cx="3601247" cy="416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chemeClr val="bg1"/>
                </a:solidFill>
                <a:latin typeface="Avenir Book" panose="02000503020000020003" pitchFamily="2" charset="0"/>
              </a:rPr>
              <a:t>Operational Diagnostic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BFCD38-A0C0-7B35-A3BF-7CE067737B19}"/>
              </a:ext>
            </a:extLst>
          </p:cNvPr>
          <p:cNvCxnSpPr/>
          <p:nvPr userDrawn="1"/>
        </p:nvCxnSpPr>
        <p:spPr>
          <a:xfrm>
            <a:off x="524719" y="1943652"/>
            <a:ext cx="11142562" cy="0"/>
          </a:xfrm>
          <a:prstGeom prst="line">
            <a:avLst/>
          </a:prstGeom>
          <a:ln w="635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8545CCF-2C8C-A058-DE2B-9920653022FE}"/>
              </a:ext>
            </a:extLst>
          </p:cNvPr>
          <p:cNvSpPr txBox="1">
            <a:spLocks/>
          </p:cNvSpPr>
          <p:nvPr userDrawn="1"/>
        </p:nvSpPr>
        <p:spPr>
          <a:xfrm>
            <a:off x="679632" y="5538181"/>
            <a:ext cx="1380522" cy="881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spc="-300" dirty="0">
                <a:solidFill>
                  <a:srgbClr val="1F8E8B"/>
                </a:solidFill>
                <a:latin typeface="Avenir Heavy" panose="02000503020000020003" pitchFamily="2" charset="0"/>
              </a:rPr>
              <a:t>$2M</a:t>
            </a:r>
            <a:endParaRPr lang="en-GB" sz="4400" b="1" dirty="0">
              <a:solidFill>
                <a:srgbClr val="1F8E8B"/>
              </a:solidFill>
              <a:latin typeface="Avenir Heavy" panose="02000503020000020003" pitchFamily="2" charset="0"/>
            </a:endParaRPr>
          </a:p>
        </p:txBody>
      </p:sp>
      <p:sp>
        <p:nvSpPr>
          <p:cNvPr id="12" name="Snip Single Corner of Rectangle 11">
            <a:extLst>
              <a:ext uri="{FF2B5EF4-FFF2-40B4-BE49-F238E27FC236}">
                <a16:creationId xmlns:a16="http://schemas.microsoft.com/office/drawing/2014/main" id="{3B2398C4-4447-8742-6C5A-29751BCC8D45}"/>
              </a:ext>
            </a:extLst>
          </p:cNvPr>
          <p:cNvSpPr/>
          <p:nvPr userDrawn="1"/>
        </p:nvSpPr>
        <p:spPr>
          <a:xfrm flipH="1">
            <a:off x="6316475" y="2523280"/>
            <a:ext cx="5350805" cy="3784958"/>
          </a:xfrm>
          <a:prstGeom prst="snip1Rect">
            <a:avLst>
              <a:gd name="adj" fmla="val 2184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D6E81B2-BCD2-0496-2A8F-4689D96B0A3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946845234"/>
              </p:ext>
            </p:extLst>
          </p:nvPr>
        </p:nvGraphicFramePr>
        <p:xfrm>
          <a:off x="760164" y="2634574"/>
          <a:ext cx="4682169" cy="2726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8718E-37EC-58A0-1C6E-6F147C6B7354}"/>
              </a:ext>
            </a:extLst>
          </p:cNvPr>
          <p:cNvSpPr txBox="1">
            <a:spLocks/>
          </p:cNvSpPr>
          <p:nvPr userDrawn="1"/>
        </p:nvSpPr>
        <p:spPr>
          <a:xfrm>
            <a:off x="2060154" y="5494113"/>
            <a:ext cx="3591499" cy="621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350" dirty="0">
                <a:solidFill>
                  <a:srgbClr val="0A3330"/>
                </a:solidFill>
                <a:latin typeface="Avenir Book" panose="02000503020000020003" pitchFamily="2" charset="0"/>
              </a:rPr>
              <a:t>Automation and process redesign can recover up to $2M annually and improve cycle time by 50%.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D875F21-CB1D-4181-ADE5-144F4703711B}"/>
              </a:ext>
            </a:extLst>
          </p:cNvPr>
          <p:cNvSpPr txBox="1">
            <a:spLocks/>
          </p:cNvSpPr>
          <p:nvPr userDrawn="1"/>
        </p:nvSpPr>
        <p:spPr>
          <a:xfrm>
            <a:off x="8181780" y="2066378"/>
            <a:ext cx="3601247" cy="416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2200" dirty="0">
                <a:solidFill>
                  <a:schemeClr val="bg1"/>
                </a:solidFill>
                <a:latin typeface="Avenir Book" panose="02000503020000020003" pitchFamily="2" charset="0"/>
              </a:rPr>
              <a:t>Financial Validation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0805D4C-775C-2922-22CC-D1CA46B8A037}"/>
              </a:ext>
            </a:extLst>
          </p:cNvPr>
          <p:cNvSpPr txBox="1">
            <a:spLocks/>
          </p:cNvSpPr>
          <p:nvPr userDrawn="1"/>
        </p:nvSpPr>
        <p:spPr>
          <a:xfrm>
            <a:off x="6573655" y="5538181"/>
            <a:ext cx="1766113" cy="881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b="1" spc="-300" dirty="0">
                <a:solidFill>
                  <a:srgbClr val="1F8E8B"/>
                </a:solidFill>
                <a:latin typeface="Avenir Heavy" panose="02000503020000020003" pitchFamily="2" charset="0"/>
              </a:rPr>
              <a:t>210%</a:t>
            </a:r>
            <a:endParaRPr lang="en-GB" sz="4000" b="1" dirty="0">
              <a:solidFill>
                <a:srgbClr val="1F8E8B"/>
              </a:solidFill>
              <a:latin typeface="Avenir Heavy" panose="02000503020000020003" pitchFamily="2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115CAC-B621-58D0-97CA-C3E30DC25EB5}"/>
              </a:ext>
            </a:extLst>
          </p:cNvPr>
          <p:cNvSpPr txBox="1">
            <a:spLocks/>
          </p:cNvSpPr>
          <p:nvPr userDrawn="1"/>
        </p:nvSpPr>
        <p:spPr>
          <a:xfrm>
            <a:off x="8073563" y="5576622"/>
            <a:ext cx="3591499" cy="583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350" dirty="0">
                <a:solidFill>
                  <a:srgbClr val="0A3330"/>
                </a:solidFill>
                <a:latin typeface="Avenir Book" panose="02000503020000020003" pitchFamily="2" charset="0"/>
              </a:rPr>
              <a:t>Transformation initiatives are projected to deliver a 210% ROI within one fiscal year.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4410DBD5-305C-64A4-D6C1-80BC1155ED9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219242192"/>
              </p:ext>
            </p:extLst>
          </p:nvPr>
        </p:nvGraphicFramePr>
        <p:xfrm>
          <a:off x="6797407" y="2897436"/>
          <a:ext cx="4516916" cy="246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000371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nip Single Corner of Rectangle 1">
            <a:extLst>
              <a:ext uri="{FF2B5EF4-FFF2-40B4-BE49-F238E27FC236}">
                <a16:creationId xmlns:a16="http://schemas.microsoft.com/office/drawing/2014/main" id="{991FF6C7-E8B7-3FC4-C601-6C8161C1EEBE}"/>
              </a:ext>
            </a:extLst>
          </p:cNvPr>
          <p:cNvSpPr/>
          <p:nvPr userDrawn="1"/>
        </p:nvSpPr>
        <p:spPr>
          <a:xfrm>
            <a:off x="-4" y="4791919"/>
            <a:ext cx="5058139" cy="2089147"/>
          </a:xfrm>
          <a:prstGeom prst="snip1Rect">
            <a:avLst>
              <a:gd name="adj" fmla="val 49677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CB9EF13B-7B14-2F11-3D57-0C056FD81DFA}"/>
              </a:ext>
            </a:extLst>
          </p:cNvPr>
          <p:cNvSpPr/>
          <p:nvPr userDrawn="1"/>
        </p:nvSpPr>
        <p:spPr>
          <a:xfrm rot="5400000">
            <a:off x="133107" y="-133110"/>
            <a:ext cx="4791919" cy="5058139"/>
          </a:xfrm>
          <a:prstGeom prst="snip1Rect">
            <a:avLst>
              <a:gd name="adj" fmla="val 21846"/>
            </a:avLst>
          </a:prstGeom>
          <a:blipFill dpi="0" rotWithShape="1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24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44512-F251-2788-D083-401B405A61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6740" y="628698"/>
            <a:ext cx="4184650" cy="34718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Heavy" panose="02000503020000020003" pitchFamily="2" charset="0"/>
              </a:rPr>
              <a:t>The Need for Transformation in a Shifting Insurance Landscape</a:t>
            </a:r>
            <a:endParaRPr lang="en-US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C2C248-3265-6114-F731-24C7D5A0C45C}"/>
              </a:ext>
            </a:extLst>
          </p:cNvPr>
          <p:cNvSpPr txBox="1">
            <a:spLocks/>
          </p:cNvSpPr>
          <p:nvPr userDrawn="1"/>
        </p:nvSpPr>
        <p:spPr>
          <a:xfrm>
            <a:off x="449893" y="5294575"/>
            <a:ext cx="3942493" cy="11878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rgbClr val="0A3330"/>
                </a:solidFill>
                <a:latin typeface="Avenir Book" panose="02000503020000020003" pitchFamily="2" charset="0"/>
              </a:rPr>
              <a:t>Rising claims volume, manual processing, and fragmented data systems have eroded profitability and agility.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80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88E39C-44E8-B8B8-F789-CF753FFAE3E7}"/>
              </a:ext>
            </a:extLst>
          </p:cNvPr>
          <p:cNvSpPr txBox="1">
            <a:spLocks/>
          </p:cNvSpPr>
          <p:nvPr userDrawn="1"/>
        </p:nvSpPr>
        <p:spPr>
          <a:xfrm>
            <a:off x="7509164" y="1112497"/>
            <a:ext cx="3768436" cy="1175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>
                <a:solidFill>
                  <a:srgbClr val="ABE534"/>
                </a:solidFill>
                <a:latin typeface="Avenir Book" panose="02000503020000020003" pitchFamily="2" charset="0"/>
              </a:rPr>
              <a:t>Claims processing averages </a:t>
            </a: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12 days vs.</a:t>
            </a:r>
            <a:b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</a:b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5-day benchmark</a:t>
            </a:r>
            <a:endParaRPr lang="en-US" sz="2600" dirty="0">
              <a:solidFill>
                <a:srgbClr val="ABE534"/>
              </a:solidFill>
              <a:latin typeface="Avenir Book" panose="02000503020000020003" pitchFamily="2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8931A86-F51C-805E-747C-668799F37AEF}"/>
              </a:ext>
            </a:extLst>
          </p:cNvPr>
          <p:cNvSpPr txBox="1">
            <a:spLocks/>
          </p:cNvSpPr>
          <p:nvPr userDrawn="1"/>
        </p:nvSpPr>
        <p:spPr>
          <a:xfrm>
            <a:off x="7509164" y="3103046"/>
            <a:ext cx="3607884" cy="843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>
                <a:solidFill>
                  <a:srgbClr val="ABE534"/>
                </a:solidFill>
                <a:latin typeface="Avenir Book" panose="02000503020000020003" pitchFamily="2" charset="0"/>
              </a:rPr>
              <a:t>Loss ratio deterioration </a:t>
            </a: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+5 pts YoY</a:t>
            </a:r>
            <a:endParaRPr lang="en-US" sz="2600" dirty="0">
              <a:solidFill>
                <a:srgbClr val="ABE534"/>
              </a:solidFill>
              <a:latin typeface="Avenir Book" panose="02000503020000020003" pitchFamily="2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DB4FB9F-E62A-906D-E1E6-A91B41AECC81}"/>
              </a:ext>
            </a:extLst>
          </p:cNvPr>
          <p:cNvSpPr txBox="1">
            <a:spLocks/>
          </p:cNvSpPr>
          <p:nvPr userDrawn="1"/>
        </p:nvSpPr>
        <p:spPr>
          <a:xfrm>
            <a:off x="7509164" y="4966558"/>
            <a:ext cx="3311236" cy="824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>
                <a:solidFill>
                  <a:srgbClr val="ABE534"/>
                </a:solidFill>
                <a:latin typeface="Avenir Book" panose="02000503020000020003" pitchFamily="2" charset="0"/>
              </a:rPr>
              <a:t>Customer retention down </a:t>
            </a: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8% YoY</a:t>
            </a:r>
            <a:endParaRPr lang="en-US" sz="2600" dirty="0">
              <a:solidFill>
                <a:srgbClr val="ABE534"/>
              </a:solidFill>
              <a:latin typeface="Avenir Book" panose="02000503020000020003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B6357D-7B36-90B8-BC44-0CC0284F920A}"/>
              </a:ext>
            </a:extLst>
          </p:cNvPr>
          <p:cNvCxnSpPr>
            <a:cxnSpLocks/>
          </p:cNvCxnSpPr>
          <p:nvPr userDrawn="1"/>
        </p:nvCxnSpPr>
        <p:spPr>
          <a:xfrm>
            <a:off x="6276109" y="4333464"/>
            <a:ext cx="500149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62E6C1-6ECB-4184-CF37-13E98DA8602F}"/>
              </a:ext>
            </a:extLst>
          </p:cNvPr>
          <p:cNvCxnSpPr>
            <a:cxnSpLocks/>
          </p:cNvCxnSpPr>
          <p:nvPr userDrawn="1"/>
        </p:nvCxnSpPr>
        <p:spPr>
          <a:xfrm>
            <a:off x="6276109" y="2561086"/>
            <a:ext cx="500149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green shield with a white paper and a check mark&#10;&#10;AI-generated content may be incorrect.">
            <a:extLst>
              <a:ext uri="{FF2B5EF4-FFF2-40B4-BE49-F238E27FC236}">
                <a16:creationId xmlns:a16="http://schemas.microsoft.com/office/drawing/2014/main" id="{86779019-4D70-ABB9-587D-6D3830847A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026916"/>
            <a:ext cx="1260764" cy="1260764"/>
          </a:xfrm>
          <a:prstGeom prst="rect">
            <a:avLst/>
          </a:prstGeom>
        </p:spPr>
      </p:pic>
      <p:pic>
        <p:nvPicPr>
          <p:cNvPr id="24" name="Picture 23" descr="A green arrow pointing down with a white circle with a percent sign&#10;&#10;AI-generated content may be incorrect.">
            <a:extLst>
              <a:ext uri="{FF2B5EF4-FFF2-40B4-BE49-F238E27FC236}">
                <a16:creationId xmlns:a16="http://schemas.microsoft.com/office/drawing/2014/main" id="{E554774B-D536-BA91-8EEA-9A01E483608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0133" y="2926557"/>
            <a:ext cx="1112497" cy="1112497"/>
          </a:xfrm>
          <a:prstGeom prst="rect">
            <a:avLst/>
          </a:prstGeom>
        </p:spPr>
      </p:pic>
      <p:pic>
        <p:nvPicPr>
          <p:cNvPr id="25" name="Picture 24" descr="A white figure with a green arrow&#10;&#10;AI-generated content may be incorrect.">
            <a:extLst>
              <a:ext uri="{FF2B5EF4-FFF2-40B4-BE49-F238E27FC236}">
                <a16:creationId xmlns:a16="http://schemas.microsoft.com/office/drawing/2014/main" id="{82B43270-04A3-85B8-E34B-5048FF78E8B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4764" y="4793218"/>
            <a:ext cx="1037866" cy="103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466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2F47-F5A0-2631-8D3E-7CE6638E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431456"/>
            <a:ext cx="11292208" cy="13324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From Assessment to Execution</a:t>
            </a:r>
            <a:b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</a:br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12-Week Consulting Journey</a:t>
            </a:r>
            <a:endParaRPr lang="en-US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5AD663FF-019E-93D1-EF94-75300ED4F544}"/>
              </a:ext>
            </a:extLst>
          </p:cNvPr>
          <p:cNvSpPr/>
          <p:nvPr userDrawn="1"/>
        </p:nvSpPr>
        <p:spPr>
          <a:xfrm>
            <a:off x="567565" y="1876097"/>
            <a:ext cx="11174543" cy="4550445"/>
          </a:xfrm>
          <a:prstGeom prst="snip1Rect">
            <a:avLst>
              <a:gd name="adj" fmla="val 10759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36BD53-D1EF-AED6-1025-8540D796F60A}"/>
              </a:ext>
            </a:extLst>
          </p:cNvPr>
          <p:cNvGrpSpPr/>
          <p:nvPr userDrawn="1"/>
        </p:nvGrpSpPr>
        <p:grpSpPr>
          <a:xfrm>
            <a:off x="11459952" y="1876097"/>
            <a:ext cx="282156" cy="275897"/>
            <a:chOff x="10833904" y="431457"/>
            <a:chExt cx="908204" cy="88805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4E20C7B-2AF7-2C66-F128-722E8BB9C39B}"/>
                </a:ext>
              </a:extLst>
            </p:cNvPr>
            <p:cNvCxnSpPr>
              <a:cxnSpLocks/>
            </p:cNvCxnSpPr>
            <p:nvPr/>
          </p:nvCxnSpPr>
          <p:spPr>
            <a:xfrm>
              <a:off x="10833904" y="431457"/>
              <a:ext cx="908204" cy="0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C85BC75-55D3-F68B-1232-06CE2D27AEC5}"/>
                </a:ext>
              </a:extLst>
            </p:cNvPr>
            <p:cNvCxnSpPr>
              <a:cxnSpLocks/>
            </p:cNvCxnSpPr>
            <p:nvPr/>
          </p:nvCxnSpPr>
          <p:spPr>
            <a:xfrm>
              <a:off x="11742108" y="431457"/>
              <a:ext cx="0" cy="888056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A3E698-A197-D42F-8ADE-B700F5A0AF0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90836641"/>
              </p:ext>
            </p:extLst>
          </p:nvPr>
        </p:nvGraphicFramePr>
        <p:xfrm>
          <a:off x="779295" y="2191406"/>
          <a:ext cx="10728000" cy="4059231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728000">
                  <a:extLst>
                    <a:ext uri="{9D8B030D-6E8A-4147-A177-3AD203B41FA5}">
                      <a16:colId xmlns:a16="http://schemas.microsoft.com/office/drawing/2014/main" val="415042209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618713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1412498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75973093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3022305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28686535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10353856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6714076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1297297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3037426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60345811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123191738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517913777"/>
                    </a:ext>
                  </a:extLst>
                </a:gridCol>
              </a:tblGrid>
              <a:tr h="321679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1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2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3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4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5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6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7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8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9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 10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11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Deliverables</a:t>
                      </a:r>
                    </a:p>
                  </a:txBody>
                  <a:tcPr anchor="ctr">
                    <a:solidFill>
                      <a:srgbClr val="1F8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04878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Phase 1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05574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Avenir Book" panose="02000503020000020003" pitchFamily="2" charset="0"/>
                        </a:rPr>
                        <a:t>Diagnostic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Baseline KPI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839230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Phase 2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95791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Analytical Deep Dive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Opportunity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937812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Phase 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335055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Strategy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Implementation Blueprint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84861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Phase 4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570555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Avenir Book" panose="02000503020000020003" pitchFamily="2" charset="0"/>
                        </a:rPr>
                        <a:t>Validation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Financial Impact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321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5372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26966F-684E-D9BF-8A8F-0C2034D9718D}"/>
              </a:ext>
            </a:extLst>
          </p:cNvPr>
          <p:cNvSpPr/>
          <p:nvPr userDrawn="1"/>
        </p:nvSpPr>
        <p:spPr>
          <a:xfrm>
            <a:off x="509753" y="5869326"/>
            <a:ext cx="3542105" cy="463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1282A4-0FE7-A830-DB39-8A470287F4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1115" y="431800"/>
            <a:ext cx="6881813" cy="133191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Operational Insights &amp; Efficiency Opportunities</a:t>
            </a:r>
            <a:endParaRPr lang="en-US" b="1" dirty="0">
              <a:solidFill>
                <a:srgbClr val="ABE534"/>
              </a:solidFill>
              <a:latin typeface="Avenir Heavy" panose="02000503020000020003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3C652AD-7B89-3BA2-122F-AD9089EEC859}"/>
              </a:ext>
            </a:extLst>
          </p:cNvPr>
          <p:cNvGrpSpPr/>
          <p:nvPr userDrawn="1"/>
        </p:nvGrpSpPr>
        <p:grpSpPr>
          <a:xfrm>
            <a:off x="11177796" y="1876097"/>
            <a:ext cx="564312" cy="551793"/>
            <a:chOff x="10833904" y="431457"/>
            <a:chExt cx="908204" cy="88805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A303222-B21C-4A47-2478-AB9496BE6FFA}"/>
                </a:ext>
              </a:extLst>
            </p:cNvPr>
            <p:cNvCxnSpPr>
              <a:cxnSpLocks/>
            </p:cNvCxnSpPr>
            <p:nvPr/>
          </p:nvCxnSpPr>
          <p:spPr>
            <a:xfrm>
              <a:off x="10833904" y="431457"/>
              <a:ext cx="908204" cy="0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8E75148-EAF9-18FF-C134-726DEE965A5E}"/>
                </a:ext>
              </a:extLst>
            </p:cNvPr>
            <p:cNvCxnSpPr>
              <a:cxnSpLocks/>
            </p:cNvCxnSpPr>
            <p:nvPr/>
          </p:nvCxnSpPr>
          <p:spPr>
            <a:xfrm>
              <a:off x="11742108" y="431457"/>
              <a:ext cx="0" cy="888056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nip Single Corner of Rectangle 7">
            <a:extLst>
              <a:ext uri="{FF2B5EF4-FFF2-40B4-BE49-F238E27FC236}">
                <a16:creationId xmlns:a16="http://schemas.microsoft.com/office/drawing/2014/main" id="{E6E18E35-02F3-C88A-ACF7-F4ADDB84E7B0}"/>
              </a:ext>
            </a:extLst>
          </p:cNvPr>
          <p:cNvSpPr/>
          <p:nvPr userDrawn="1"/>
        </p:nvSpPr>
        <p:spPr>
          <a:xfrm>
            <a:off x="8140263" y="2320055"/>
            <a:ext cx="3527012" cy="3549271"/>
          </a:xfrm>
          <a:prstGeom prst="snip1Rect">
            <a:avLst>
              <a:gd name="adj" fmla="val 1290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C428BC-50B7-C7C1-891C-C15DB2643910}"/>
              </a:ext>
            </a:extLst>
          </p:cNvPr>
          <p:cNvSpPr txBox="1">
            <a:spLocks/>
          </p:cNvSpPr>
          <p:nvPr userDrawn="1"/>
        </p:nvSpPr>
        <p:spPr>
          <a:xfrm>
            <a:off x="8140263" y="549157"/>
            <a:ext cx="3660622" cy="1451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Quantitative analysis uncovered inefficiencies and improvement levers across claims, underwriting, and customer experience.</a:t>
            </a:r>
          </a:p>
        </p:txBody>
      </p:sp>
      <p:sp>
        <p:nvSpPr>
          <p:cNvPr id="10" name="Snip Single Corner of Rectangle 9">
            <a:extLst>
              <a:ext uri="{FF2B5EF4-FFF2-40B4-BE49-F238E27FC236}">
                <a16:creationId xmlns:a16="http://schemas.microsoft.com/office/drawing/2014/main" id="{F1208C77-2B41-7D85-9595-CFFD87878553}"/>
              </a:ext>
            </a:extLst>
          </p:cNvPr>
          <p:cNvSpPr/>
          <p:nvPr userDrawn="1"/>
        </p:nvSpPr>
        <p:spPr>
          <a:xfrm>
            <a:off x="4325008" y="2320055"/>
            <a:ext cx="3527012" cy="3549271"/>
          </a:xfrm>
          <a:prstGeom prst="snip1Rect">
            <a:avLst>
              <a:gd name="adj" fmla="val 1290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Single Corner of Rectangle 10">
            <a:extLst>
              <a:ext uri="{FF2B5EF4-FFF2-40B4-BE49-F238E27FC236}">
                <a16:creationId xmlns:a16="http://schemas.microsoft.com/office/drawing/2014/main" id="{012DABA7-88FA-C0F6-535E-44ECF1DEE39D}"/>
              </a:ext>
            </a:extLst>
          </p:cNvPr>
          <p:cNvSpPr/>
          <p:nvPr userDrawn="1"/>
        </p:nvSpPr>
        <p:spPr>
          <a:xfrm>
            <a:off x="509753" y="2320055"/>
            <a:ext cx="3527012" cy="3549271"/>
          </a:xfrm>
          <a:prstGeom prst="snip1Rect">
            <a:avLst>
              <a:gd name="adj" fmla="val 1290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9EACD9F-1BE6-B630-6F60-692B37E83B7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986100504"/>
              </p:ext>
            </p:extLst>
          </p:nvPr>
        </p:nvGraphicFramePr>
        <p:xfrm>
          <a:off x="316691" y="2444966"/>
          <a:ext cx="3840750" cy="346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72F9E2E-893F-CA7F-064D-D35D285187E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32278183"/>
              </p:ext>
            </p:extLst>
          </p:nvPr>
        </p:nvGraphicFramePr>
        <p:xfrm>
          <a:off x="4126691" y="2444966"/>
          <a:ext cx="3840750" cy="346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B8EA499D-72E8-BDE6-9192-BC7C00F60B2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99706922"/>
              </p:ext>
            </p:extLst>
          </p:nvPr>
        </p:nvGraphicFramePr>
        <p:xfrm>
          <a:off x="7960138" y="2444966"/>
          <a:ext cx="3840750" cy="346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62E929C3-A117-FAD1-7A2B-6BC29BF8D86F}"/>
              </a:ext>
            </a:extLst>
          </p:cNvPr>
          <p:cNvSpPr txBox="1">
            <a:spLocks/>
          </p:cNvSpPr>
          <p:nvPr userDrawn="1"/>
        </p:nvSpPr>
        <p:spPr>
          <a:xfrm>
            <a:off x="2011419" y="5828227"/>
            <a:ext cx="1446831" cy="588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Improvement</a:t>
            </a:r>
            <a:endParaRPr lang="en-US" sz="16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E126617-D51D-375A-6FD8-FDCA05EF1FF0}"/>
              </a:ext>
            </a:extLst>
          </p:cNvPr>
          <p:cNvSpPr txBox="1">
            <a:spLocks/>
          </p:cNvSpPr>
          <p:nvPr userDrawn="1"/>
        </p:nvSpPr>
        <p:spPr>
          <a:xfrm>
            <a:off x="1068770" y="5797990"/>
            <a:ext cx="1146105" cy="690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chemeClr val="bg1"/>
                </a:solidFill>
                <a:latin typeface="Avenir Heavy" panose="02000503020000020003" pitchFamily="2" charset="0"/>
              </a:rPr>
              <a:t>–58%</a:t>
            </a:r>
            <a:endParaRPr lang="en-US" sz="2400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496F58-7616-2140-8C57-B2BC6835EFAC}"/>
              </a:ext>
            </a:extLst>
          </p:cNvPr>
          <p:cNvSpPr/>
          <p:nvPr userDrawn="1"/>
        </p:nvSpPr>
        <p:spPr>
          <a:xfrm>
            <a:off x="4317824" y="5869326"/>
            <a:ext cx="3542105" cy="463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1B6A30B-0FD4-6819-4356-EDDB3BB255F9}"/>
              </a:ext>
            </a:extLst>
          </p:cNvPr>
          <p:cNvSpPr txBox="1">
            <a:spLocks/>
          </p:cNvSpPr>
          <p:nvPr userDrawn="1"/>
        </p:nvSpPr>
        <p:spPr>
          <a:xfrm>
            <a:off x="5940204" y="5828227"/>
            <a:ext cx="1414025" cy="588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Improvement</a:t>
            </a:r>
            <a:endParaRPr lang="en-US" sz="16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EBD345B-7E8A-FD95-FFE3-B7DFB5B05EFB}"/>
              </a:ext>
            </a:extLst>
          </p:cNvPr>
          <p:cNvSpPr txBox="1">
            <a:spLocks/>
          </p:cNvSpPr>
          <p:nvPr userDrawn="1"/>
        </p:nvSpPr>
        <p:spPr>
          <a:xfrm>
            <a:off x="4794099" y="5763265"/>
            <a:ext cx="1146105" cy="690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chemeClr val="bg1"/>
                </a:solidFill>
                <a:latin typeface="Avenir Heavy" panose="02000503020000020003" pitchFamily="2" charset="0"/>
              </a:rPr>
              <a:t>–42 pts</a:t>
            </a:r>
            <a:endParaRPr lang="en-US" sz="2400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01B2F4-C365-5971-5EB2-2A84A2CD4681}"/>
              </a:ext>
            </a:extLst>
          </p:cNvPr>
          <p:cNvSpPr/>
          <p:nvPr userDrawn="1"/>
        </p:nvSpPr>
        <p:spPr>
          <a:xfrm>
            <a:off x="8125895" y="5869326"/>
            <a:ext cx="3542105" cy="463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AE3B908-ED02-4916-41DE-693A0FDA4E02}"/>
              </a:ext>
            </a:extLst>
          </p:cNvPr>
          <p:cNvSpPr txBox="1">
            <a:spLocks/>
          </p:cNvSpPr>
          <p:nvPr userDrawn="1"/>
        </p:nvSpPr>
        <p:spPr>
          <a:xfrm>
            <a:off x="9748275" y="5828227"/>
            <a:ext cx="1414025" cy="588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Improvement</a:t>
            </a:r>
            <a:endParaRPr lang="en-US" sz="16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EF23BF2-C079-F173-E8A0-E53C35FE0D03}"/>
              </a:ext>
            </a:extLst>
          </p:cNvPr>
          <p:cNvSpPr txBox="1">
            <a:spLocks/>
          </p:cNvSpPr>
          <p:nvPr userDrawn="1"/>
        </p:nvSpPr>
        <p:spPr>
          <a:xfrm>
            <a:off x="8602170" y="5763265"/>
            <a:ext cx="1253617" cy="690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chemeClr val="bg1"/>
                </a:solidFill>
                <a:latin typeface="Avenir Heavy" panose="02000503020000020003" pitchFamily="2" charset="0"/>
              </a:rPr>
              <a:t>+42 pts</a:t>
            </a:r>
            <a:endParaRPr lang="en-US" sz="2400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5510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Single Corner of Rectangle 4">
            <a:extLst>
              <a:ext uri="{FF2B5EF4-FFF2-40B4-BE49-F238E27FC236}">
                <a16:creationId xmlns:a16="http://schemas.microsoft.com/office/drawing/2014/main" id="{0F3FAC8E-908D-6279-5B52-641795CAF454}"/>
              </a:ext>
            </a:extLst>
          </p:cNvPr>
          <p:cNvSpPr/>
          <p:nvPr userDrawn="1"/>
        </p:nvSpPr>
        <p:spPr>
          <a:xfrm rot="10800000" flipH="1">
            <a:off x="-3415" y="-774"/>
            <a:ext cx="6084425" cy="6847200"/>
          </a:xfrm>
          <a:prstGeom prst="snip1Rect">
            <a:avLst>
              <a:gd name="adj" fmla="val 30899"/>
            </a:avLst>
          </a:prstGeom>
          <a:blipFill dpi="0" rotWithShape="0"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46"/>
                      </a14:imgEffect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04A36A-05B2-E716-C754-7CB72CA996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2922" y="1296794"/>
            <a:ext cx="5111750" cy="2971800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Heavy" panose="02000503020000020003" pitchFamily="2" charset="0"/>
              </a:rPr>
              <a:t>Quantifying Value Creation Across Operations &amp; Financial Performance</a:t>
            </a:r>
            <a:endParaRPr lang="en-US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87C258-556F-BCC1-DE09-6B779FF6806A}"/>
              </a:ext>
            </a:extLst>
          </p:cNvPr>
          <p:cNvSpPr txBox="1">
            <a:spLocks/>
          </p:cNvSpPr>
          <p:nvPr userDrawn="1"/>
        </p:nvSpPr>
        <p:spPr>
          <a:xfrm>
            <a:off x="449893" y="4666953"/>
            <a:ext cx="4886605" cy="133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3E1AB0B-A6F7-F28B-F147-5E80CE276D48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75320534"/>
              </p:ext>
            </p:extLst>
          </p:nvPr>
        </p:nvGraphicFramePr>
        <p:xfrm>
          <a:off x="6534319" y="539647"/>
          <a:ext cx="5207787" cy="56512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236780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4C8C54A-124D-5C17-E525-686A58B81B14}"/>
              </a:ext>
            </a:extLst>
          </p:cNvPr>
          <p:cNvGrpSpPr/>
          <p:nvPr userDrawn="1"/>
        </p:nvGrpSpPr>
        <p:grpSpPr>
          <a:xfrm rot="10800000" flipV="1">
            <a:off x="1666765" y="4604592"/>
            <a:ext cx="5909969" cy="1125729"/>
            <a:chOff x="1580023" y="4418778"/>
            <a:chExt cx="5909969" cy="112572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495EAF-662F-43AB-F881-77D6DD9D04A8}"/>
                </a:ext>
              </a:extLst>
            </p:cNvPr>
            <p:cNvCxnSpPr>
              <a:cxnSpLocks/>
            </p:cNvCxnSpPr>
            <p:nvPr/>
          </p:nvCxnSpPr>
          <p:spPr>
            <a:xfrm>
              <a:off x="1580023" y="5544507"/>
              <a:ext cx="1928641" cy="0"/>
            </a:xfrm>
            <a:prstGeom prst="line">
              <a:avLst/>
            </a:prstGeom>
            <a:ln w="4953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FD3B1E-AAC5-9D4D-EC27-E6B6BFDFE1D1}"/>
                </a:ext>
              </a:extLst>
            </p:cNvPr>
            <p:cNvCxnSpPr>
              <a:cxnSpLocks/>
            </p:cNvCxnSpPr>
            <p:nvPr/>
          </p:nvCxnSpPr>
          <p:spPr>
            <a:xfrm>
              <a:off x="4701978" y="4418778"/>
              <a:ext cx="2788014" cy="13578"/>
            </a:xfrm>
            <a:prstGeom prst="line">
              <a:avLst/>
            </a:prstGeom>
            <a:ln w="4953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A8CB00C6-64BD-F8C2-4413-9185C56DC8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0197" y="4420244"/>
              <a:ext cx="1199370" cy="1124263"/>
            </a:xfrm>
            <a:prstGeom prst="curvedConnector3">
              <a:avLst>
                <a:gd name="adj1" fmla="val 50000"/>
              </a:avLst>
            </a:prstGeom>
            <a:ln w="4953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C2E0A6-0925-0C66-E176-74024B5EDF73}"/>
              </a:ext>
            </a:extLst>
          </p:cNvPr>
          <p:cNvCxnSpPr>
            <a:cxnSpLocks/>
          </p:cNvCxnSpPr>
          <p:nvPr userDrawn="1"/>
        </p:nvCxnSpPr>
        <p:spPr>
          <a:xfrm>
            <a:off x="1630456" y="4609476"/>
            <a:ext cx="4588228" cy="0"/>
          </a:xfrm>
          <a:prstGeom prst="line">
            <a:avLst/>
          </a:prstGeom>
          <a:ln w="508000">
            <a:solidFill>
              <a:srgbClr val="1F8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0077E40C-D7A7-3500-7786-EE960CBF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87" y="218296"/>
            <a:ext cx="6738534" cy="2333036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Transformation Pathway:</a:t>
            </a:r>
            <a:b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</a:br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From Diagnosis to Measurable Impact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7F6C80-B24E-C629-8465-88B4622515B4}"/>
              </a:ext>
            </a:extLst>
          </p:cNvPr>
          <p:cNvSpPr txBox="1">
            <a:spLocks/>
          </p:cNvSpPr>
          <p:nvPr userDrawn="1"/>
        </p:nvSpPr>
        <p:spPr>
          <a:xfrm>
            <a:off x="8104682" y="604619"/>
            <a:ext cx="3637425" cy="164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  <p:sp>
        <p:nvSpPr>
          <p:cNvPr id="10" name="Snip Single Corner of Rectangle 9">
            <a:extLst>
              <a:ext uri="{FF2B5EF4-FFF2-40B4-BE49-F238E27FC236}">
                <a16:creationId xmlns:a16="http://schemas.microsoft.com/office/drawing/2014/main" id="{D6CD0C4D-9B10-B81A-14D0-66081B51B5AA}"/>
              </a:ext>
            </a:extLst>
          </p:cNvPr>
          <p:cNvSpPr/>
          <p:nvPr userDrawn="1"/>
        </p:nvSpPr>
        <p:spPr>
          <a:xfrm>
            <a:off x="6218684" y="4183619"/>
            <a:ext cx="844508" cy="844423"/>
          </a:xfrm>
          <a:prstGeom prst="snip1Rect">
            <a:avLst>
              <a:gd name="adj" fmla="val 12906"/>
            </a:avLst>
          </a:prstGeom>
          <a:solidFill>
            <a:schemeClr val="bg1"/>
          </a:solidFill>
          <a:ln w="31750">
            <a:solidFill>
              <a:srgbClr val="0A3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Single Corner of Rectangle 10">
            <a:extLst>
              <a:ext uri="{FF2B5EF4-FFF2-40B4-BE49-F238E27FC236}">
                <a16:creationId xmlns:a16="http://schemas.microsoft.com/office/drawing/2014/main" id="{55B62198-6DB8-2F7C-FF61-DC1BE14E4FE1}"/>
              </a:ext>
            </a:extLst>
          </p:cNvPr>
          <p:cNvSpPr/>
          <p:nvPr userDrawn="1"/>
        </p:nvSpPr>
        <p:spPr>
          <a:xfrm>
            <a:off x="7576734" y="5295770"/>
            <a:ext cx="844508" cy="844423"/>
          </a:xfrm>
          <a:prstGeom prst="snip1Rect">
            <a:avLst>
              <a:gd name="adj" fmla="val 12906"/>
            </a:avLst>
          </a:prstGeom>
          <a:solidFill>
            <a:schemeClr val="bg1"/>
          </a:solidFill>
          <a:ln w="31750">
            <a:solidFill>
              <a:srgbClr val="0A3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960F07-BE1E-9EF2-8D81-7E912FEA00B2}"/>
              </a:ext>
            </a:extLst>
          </p:cNvPr>
          <p:cNvCxnSpPr>
            <a:cxnSpLocks/>
          </p:cNvCxnSpPr>
          <p:nvPr userDrawn="1"/>
        </p:nvCxnSpPr>
        <p:spPr>
          <a:xfrm>
            <a:off x="1672789" y="4605831"/>
            <a:ext cx="1980538" cy="0"/>
          </a:xfrm>
          <a:prstGeom prst="line">
            <a:avLst/>
          </a:prstGeom>
          <a:ln w="508000">
            <a:solidFill>
              <a:srgbClr val="DFF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00B2D5-96EE-4FA2-60BA-14D41C645FB5}"/>
              </a:ext>
            </a:extLst>
          </p:cNvPr>
          <p:cNvCxnSpPr>
            <a:cxnSpLocks/>
          </p:cNvCxnSpPr>
          <p:nvPr userDrawn="1"/>
        </p:nvCxnSpPr>
        <p:spPr>
          <a:xfrm>
            <a:off x="4794744" y="3480102"/>
            <a:ext cx="2788014" cy="13578"/>
          </a:xfrm>
          <a:prstGeom prst="line">
            <a:avLst/>
          </a:prstGeom>
          <a:ln w="508000">
            <a:solidFill>
              <a:srgbClr val="DFF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3183870D-5ED3-1176-663C-0011E46E33D4}"/>
              </a:ext>
            </a:extLst>
          </p:cNvPr>
          <p:cNvCxnSpPr>
            <a:cxnSpLocks/>
          </p:cNvCxnSpPr>
          <p:nvPr userDrawn="1"/>
        </p:nvCxnSpPr>
        <p:spPr>
          <a:xfrm flipV="1">
            <a:off x="3601430" y="3481568"/>
            <a:ext cx="1199370" cy="1124263"/>
          </a:xfrm>
          <a:prstGeom prst="curvedConnector3">
            <a:avLst>
              <a:gd name="adj1" fmla="val 50000"/>
            </a:avLst>
          </a:prstGeom>
          <a:ln w="508000">
            <a:solidFill>
              <a:srgbClr val="DFF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nip Single Corner of Rectangle 14">
            <a:extLst>
              <a:ext uri="{FF2B5EF4-FFF2-40B4-BE49-F238E27FC236}">
                <a16:creationId xmlns:a16="http://schemas.microsoft.com/office/drawing/2014/main" id="{4D2C2285-8E46-EA29-9F58-62B4B7481246}"/>
              </a:ext>
            </a:extLst>
          </p:cNvPr>
          <p:cNvSpPr/>
          <p:nvPr userDrawn="1"/>
        </p:nvSpPr>
        <p:spPr>
          <a:xfrm>
            <a:off x="536951" y="3832263"/>
            <a:ext cx="1567584" cy="1567425"/>
          </a:xfrm>
          <a:prstGeom prst="snip1Rect">
            <a:avLst>
              <a:gd name="adj" fmla="val 12906"/>
            </a:avLst>
          </a:prstGeom>
          <a:solidFill>
            <a:srgbClr val="0A3330"/>
          </a:solidFill>
          <a:ln>
            <a:solidFill>
              <a:srgbClr val="DFF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Single Corner of Rectangle 15">
            <a:extLst>
              <a:ext uri="{FF2B5EF4-FFF2-40B4-BE49-F238E27FC236}">
                <a16:creationId xmlns:a16="http://schemas.microsoft.com/office/drawing/2014/main" id="{A6D59A3E-BD4F-12F5-6944-7FFE22EF2B06}"/>
              </a:ext>
            </a:extLst>
          </p:cNvPr>
          <p:cNvSpPr/>
          <p:nvPr userDrawn="1"/>
        </p:nvSpPr>
        <p:spPr>
          <a:xfrm>
            <a:off x="7455855" y="3053381"/>
            <a:ext cx="844508" cy="844423"/>
          </a:xfrm>
          <a:prstGeom prst="snip1Rect">
            <a:avLst>
              <a:gd name="adj" fmla="val 12906"/>
            </a:avLst>
          </a:prstGeom>
          <a:solidFill>
            <a:schemeClr val="bg1"/>
          </a:solidFill>
          <a:ln w="31750">
            <a:solidFill>
              <a:srgbClr val="0A3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E67A916-6252-EEE9-BAFA-EE647AA2A5C3}"/>
              </a:ext>
            </a:extLst>
          </p:cNvPr>
          <p:cNvSpPr txBox="1">
            <a:spLocks/>
          </p:cNvSpPr>
          <p:nvPr userDrawn="1"/>
        </p:nvSpPr>
        <p:spPr>
          <a:xfrm>
            <a:off x="7455855" y="3164240"/>
            <a:ext cx="844509" cy="7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spc="-150" dirty="0">
                <a:solidFill>
                  <a:srgbClr val="0A3330"/>
                </a:solidFill>
                <a:latin typeface="Avenir Heavy" panose="02000503020000020003" pitchFamily="2" charset="0"/>
              </a:rPr>
              <a:t>12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C273497-E0CD-370D-DE3B-22B5B747AE86}"/>
              </a:ext>
            </a:extLst>
          </p:cNvPr>
          <p:cNvSpPr txBox="1">
            <a:spLocks/>
          </p:cNvSpPr>
          <p:nvPr userDrawn="1"/>
        </p:nvSpPr>
        <p:spPr>
          <a:xfrm>
            <a:off x="8421242" y="3208863"/>
            <a:ext cx="3320865" cy="666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12-day claim cycle vs. 5-day industry benchmark.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F6F2EA5-F0A0-4390-41AE-D15996354E7C}"/>
              </a:ext>
            </a:extLst>
          </p:cNvPr>
          <p:cNvSpPr txBox="1">
            <a:spLocks/>
          </p:cNvSpPr>
          <p:nvPr userDrawn="1"/>
        </p:nvSpPr>
        <p:spPr>
          <a:xfrm>
            <a:off x="6206919" y="4279362"/>
            <a:ext cx="898419" cy="7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spc="-150" dirty="0">
                <a:solidFill>
                  <a:srgbClr val="0A3330"/>
                </a:solidFill>
                <a:latin typeface="Avenir Heavy" panose="02000503020000020003" pitchFamily="2" charset="0"/>
              </a:rPr>
              <a:t>42%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3F0E21C-58CF-3593-5611-0BA1FE396EA9}"/>
              </a:ext>
            </a:extLst>
          </p:cNvPr>
          <p:cNvSpPr txBox="1">
            <a:spLocks/>
          </p:cNvSpPr>
          <p:nvPr userDrawn="1"/>
        </p:nvSpPr>
        <p:spPr>
          <a:xfrm>
            <a:off x="7183457" y="4335136"/>
            <a:ext cx="3637425" cy="666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42 % process acceleration and 18 % system redundancy reduction.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00A9203-DE0C-0FAD-8810-7A81D841D360}"/>
              </a:ext>
            </a:extLst>
          </p:cNvPr>
          <p:cNvSpPr txBox="1">
            <a:spLocks/>
          </p:cNvSpPr>
          <p:nvPr userDrawn="1"/>
        </p:nvSpPr>
        <p:spPr>
          <a:xfrm>
            <a:off x="7545065" y="5383333"/>
            <a:ext cx="898419" cy="7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spc="-150" dirty="0">
                <a:solidFill>
                  <a:srgbClr val="0A3330"/>
                </a:solidFill>
                <a:latin typeface="Avenir Heavy" panose="02000503020000020003" pitchFamily="2" charset="0"/>
              </a:rPr>
              <a:t>22%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004D9D8-5E82-7069-1F44-6B52F2F7BF8D}"/>
              </a:ext>
            </a:extLst>
          </p:cNvPr>
          <p:cNvSpPr txBox="1">
            <a:spLocks/>
          </p:cNvSpPr>
          <p:nvPr userDrawn="1"/>
        </p:nvSpPr>
        <p:spPr>
          <a:xfrm>
            <a:off x="8538265" y="5383333"/>
            <a:ext cx="3086817" cy="93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+22 % operating margin uplift and 210 % ROI within 12 months.</a:t>
            </a:r>
          </a:p>
        </p:txBody>
      </p:sp>
      <p:pic>
        <p:nvPicPr>
          <p:cNvPr id="23" name="Picture 22" descr="A green shield with a white paper and a check mark&#10;&#10;AI-generated content may be incorrect.">
            <a:extLst>
              <a:ext uri="{FF2B5EF4-FFF2-40B4-BE49-F238E27FC236}">
                <a16:creationId xmlns:a16="http://schemas.microsoft.com/office/drawing/2014/main" id="{C5D63BDB-B18A-AE87-D358-400686AAA9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361" y="3987789"/>
            <a:ext cx="1260764" cy="1260764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CC5A2D5-2EB5-ED31-9E0E-BE55F0DCDFC0}"/>
              </a:ext>
            </a:extLst>
          </p:cNvPr>
          <p:cNvSpPr txBox="1">
            <a:spLocks/>
          </p:cNvSpPr>
          <p:nvPr userDrawn="1"/>
        </p:nvSpPr>
        <p:spPr>
          <a:xfrm>
            <a:off x="566918" y="5499200"/>
            <a:ext cx="1583997" cy="610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Operational Assessment</a:t>
            </a:r>
          </a:p>
        </p:txBody>
      </p:sp>
    </p:spTree>
    <p:extLst>
      <p:ext uri="{BB962C8B-B14F-4D97-AF65-F5344CB8AC3E}">
        <p14:creationId xmlns:p14="http://schemas.microsoft.com/office/powerpoint/2010/main" val="33676113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11B19-04E3-BA43-0FB8-44D26DDD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BD684-B626-EC84-E1C2-413B812E2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F3F75-C8A2-0104-06B9-77205365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2E468-974E-6B9D-239F-449AD1E9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958CF-0C80-31EE-6A68-EF5D8FA8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32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BFBC-5BDD-D439-AFC3-70F3A608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092E4-ED1E-1638-92AA-8AE4DDA5A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87A20-71FD-BC72-FF6C-64A5E58EE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87074-80AE-3BA3-FE38-F6911797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964A7-D896-CF59-4AD8-F03D8429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068BC-1848-1BE9-CE77-35D1420E7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377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0C65-0FCD-CC64-4ADC-5A76232D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4F402-3F97-9462-A46C-AFA8F3A13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7E8FA-C834-7519-5128-F44524EE8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BE311-736C-52FF-6D1C-0B2378C9E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EC0D4-049F-D5CE-4B6D-72FA9AE58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3D374C-E3CD-0455-7DAE-2E7223C1A9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B40527-2F98-FCBC-E2E9-4BE841ED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6FD5A-2DAC-2861-232B-F735A02A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34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01F6-C054-7E7B-3297-493C2D31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660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C252-F98C-844C-223D-897AEEB7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80E50-7DE9-C0C1-DCBD-726779858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EF747-1079-F640-A9A7-9DB7FEB41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375A4-BB2F-0812-DBA3-6B3D52AC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415C0-D4D7-80B0-A2E2-8395B404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9F293-3A96-BF68-4F58-B50FE218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641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3A9-54B6-B5FF-2A3D-A891066A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872E1-5824-357B-2D6D-E3A64A476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30CAE-D979-369D-C96E-2580FBD9A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477FF-D4BB-43CC-68B7-FD49A012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9B5E7-5C3F-C363-57C2-88F3676E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58CBA-BDF4-F758-C81A-96D30ED8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472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6FBD-E7D9-46F2-011E-1AD2B70E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9D54F-9479-B7AB-5CB8-680088280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6DD0D-13FB-78A6-236E-C7CA3A20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71F58-5A85-8502-22DB-D42553C7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5006B-1463-15FC-7FD1-85288C8C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331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0FAAC-7893-FDFD-1A48-230CF422C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10BD7-06C5-B880-BE21-6B01A806A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1E78-8FCD-1724-B2C5-0C963F3E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9C3C24-393C-9F4F-BA03-2475F7A54F93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810C6-B366-CB13-C3EE-046F08C7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D946E-FEF4-12BB-3CA4-29517C3D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781440-E65C-F24E-8FCE-3EEE7D886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7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23832-F2F3-CBBF-5DFC-26B58412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4A90E-0000-E12F-21E0-F13A6CE6F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3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2" r:id="rId3"/>
    <p:sldLayoutId id="2147483661" r:id="rId4"/>
    <p:sldLayoutId id="2147483664" r:id="rId5"/>
    <p:sldLayoutId id="2147483650" r:id="rId6"/>
    <p:sldLayoutId id="2147483663" r:id="rId7"/>
    <p:sldLayoutId id="2147483665" r:id="rId8"/>
    <p:sldLayoutId id="2147483666" r:id="rId9"/>
    <p:sldLayoutId id="2147483655" r:id="rId10"/>
    <p:sldLayoutId id="2147483667" r:id="rId11"/>
    <p:sldLayoutId id="2147483651" r:id="rId12"/>
    <p:sldLayoutId id="2147483652" r:id="rId13"/>
    <p:sldLayoutId id="2147483653" r:id="rId14"/>
    <p:sldLayoutId id="2147483654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ABE534"/>
          </a:solidFill>
          <a:latin typeface="Avenir Heavy" panose="0200050302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A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23832-F2F3-CBBF-5DFC-26B58412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4A90E-0000-E12F-21E0-F13A6CE6F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6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ABE534"/>
          </a:solidFill>
          <a:latin typeface="Avenir Heavy" panose="0200050302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venir Book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15.wdp"/><Relationship Id="rId7" Type="http://schemas.microsoft.com/office/2007/relationships/hdphoto" Target="../media/hdphoto1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microsoft.com/office/2007/relationships/hdphoto" Target="../media/hdphoto19.wdp"/><Relationship Id="rId5" Type="http://schemas.microsoft.com/office/2007/relationships/hdphoto" Target="../media/hdphoto16.wdp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microsoft.com/office/2007/relationships/hdphoto" Target="../media/hdphoto18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1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0.wdp"/><Relationship Id="rId5" Type="http://schemas.openxmlformats.org/officeDocument/2006/relationships/image" Target="../media/image3.png"/><Relationship Id="rId4" Type="http://schemas.microsoft.com/office/2007/relationships/hdphoto" Target="../media/hdphoto9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17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2.wdp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6.png"/><Relationship Id="rId10" Type="http://schemas.microsoft.com/office/2007/relationships/hdphoto" Target="../media/hdphoto23.wdp"/><Relationship Id="rId4" Type="http://schemas.microsoft.com/office/2007/relationships/hdphoto" Target="../media/hdphoto4.wdp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1.xml"/><Relationship Id="rId4" Type="http://schemas.microsoft.com/office/2007/relationships/hdphoto" Target="../media/hdphoto24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5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2F205-8D2B-2973-6163-458AC1C5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A3F7B69C-41E3-DD79-7480-C35D88EAB532}"/>
              </a:ext>
            </a:extLst>
          </p:cNvPr>
          <p:cNvSpPr/>
          <p:nvPr/>
        </p:nvSpPr>
        <p:spPr>
          <a:xfrm>
            <a:off x="524718" y="1113182"/>
            <a:ext cx="5744795" cy="5078377"/>
          </a:xfrm>
          <a:prstGeom prst="snip1Rect">
            <a:avLst>
              <a:gd name="adj" fmla="val 21846"/>
            </a:avLst>
          </a:prstGeom>
          <a:solidFill>
            <a:srgbClr val="0A3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64A6E-7404-B99B-1AB3-9118BB2C2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8" y="1712197"/>
            <a:ext cx="4788061" cy="3149169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chemeClr val="bg1"/>
                </a:solidFill>
                <a:latin typeface="Avenir Heavy" panose="02000503020000020003" pitchFamily="2" charset="0"/>
              </a:rPr>
              <a:t>INSURANCE CONSULTING PROPOSAL TEMPLATE</a:t>
            </a:r>
            <a:endParaRPr lang="en-US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6958B-9367-A196-E74F-1C661E94BB0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77028" y="5145803"/>
            <a:ext cx="4502554" cy="396433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ABE534"/>
                </a:solidFill>
                <a:latin typeface="Avenir Book" panose="02000503020000020003" pitchFamily="2" charset="0"/>
              </a:rPr>
              <a:t>October 2025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8BEC22-1A9A-0111-A848-6EC6647FB139}"/>
              </a:ext>
            </a:extLst>
          </p:cNvPr>
          <p:cNvCxnSpPr>
            <a:cxnSpLocks/>
          </p:cNvCxnSpPr>
          <p:nvPr/>
        </p:nvCxnSpPr>
        <p:spPr>
          <a:xfrm>
            <a:off x="524719" y="6191560"/>
            <a:ext cx="5744794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nip Single Corner of Rectangle 6">
            <a:extLst>
              <a:ext uri="{FF2B5EF4-FFF2-40B4-BE49-F238E27FC236}">
                <a16:creationId xmlns:a16="http://schemas.microsoft.com/office/drawing/2014/main" id="{5263DFAC-9060-F94D-8EE1-FBA584032CD8}"/>
              </a:ext>
            </a:extLst>
          </p:cNvPr>
          <p:cNvSpPr/>
          <p:nvPr/>
        </p:nvSpPr>
        <p:spPr>
          <a:xfrm>
            <a:off x="524718" y="1113182"/>
            <a:ext cx="5744795" cy="5078377"/>
          </a:xfrm>
          <a:prstGeom prst="snip1Rect">
            <a:avLst>
              <a:gd name="adj" fmla="val 21846"/>
            </a:avLst>
          </a:prstGeom>
          <a:solidFill>
            <a:srgbClr val="0A3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A68D0B-6BEC-5B15-51F0-4264C137431D}"/>
              </a:ext>
            </a:extLst>
          </p:cNvPr>
          <p:cNvSpPr txBox="1">
            <a:spLocks/>
          </p:cNvSpPr>
          <p:nvPr/>
        </p:nvSpPr>
        <p:spPr>
          <a:xfrm>
            <a:off x="914398" y="1712197"/>
            <a:ext cx="4788061" cy="3149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ABE534"/>
                </a:solidFill>
                <a:latin typeface="Avenir Heavy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INSURANCE CONSULTING PROPOSAL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3A99AC-877C-0B27-3FCF-B70D950061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7028" y="5145803"/>
            <a:ext cx="4502554" cy="396433"/>
          </a:xfrm>
        </p:spPr>
        <p:txBody>
          <a:bodyPr>
            <a:normAutofit fontScale="85000" lnSpcReduction="20000"/>
          </a:bodyPr>
          <a:lstStyle>
            <a:lvl1pPr>
              <a:buNone/>
              <a:defRPr/>
            </a:lvl1pPr>
          </a:lstStyle>
          <a:p>
            <a:pPr algn="l"/>
            <a:r>
              <a:rPr lang="en-US" dirty="0">
                <a:solidFill>
                  <a:srgbClr val="ABE534"/>
                </a:solidFill>
                <a:latin typeface="Avenir Book" panose="02000503020000020003" pitchFamily="2" charset="0"/>
              </a:rPr>
              <a:t>October 2025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20ABE4-08D1-A69A-C8D0-8D86254A4ABD}"/>
              </a:ext>
            </a:extLst>
          </p:cNvPr>
          <p:cNvCxnSpPr>
            <a:cxnSpLocks/>
          </p:cNvCxnSpPr>
          <p:nvPr/>
        </p:nvCxnSpPr>
        <p:spPr>
          <a:xfrm>
            <a:off x="524719" y="6191560"/>
            <a:ext cx="5744794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802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DBEB2-083F-6961-6D50-70B4F9445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nip Single Corner of Rectangle 11">
            <a:extLst>
              <a:ext uri="{FF2B5EF4-FFF2-40B4-BE49-F238E27FC236}">
                <a16:creationId xmlns:a16="http://schemas.microsoft.com/office/drawing/2014/main" id="{F57C0604-3B63-882D-1D4E-805DC256492B}"/>
              </a:ext>
            </a:extLst>
          </p:cNvPr>
          <p:cNvSpPr/>
          <p:nvPr/>
        </p:nvSpPr>
        <p:spPr>
          <a:xfrm>
            <a:off x="3391828" y="3780263"/>
            <a:ext cx="1113263" cy="2442118"/>
          </a:xfrm>
          <a:prstGeom prst="snip1Rect">
            <a:avLst>
              <a:gd name="adj" fmla="val 23957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B4EE4-7376-0BCB-1C17-14B2C07E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A3330"/>
                </a:solidFill>
                <a:latin typeface="Avenir Heavy" panose="02000503020000020003" pitchFamily="2" charset="0"/>
              </a:rPr>
              <a:t>Guideline</a:t>
            </a:r>
          </a:p>
        </p:txBody>
      </p:sp>
      <p:sp>
        <p:nvSpPr>
          <p:cNvPr id="7" name="Snip Single Corner of Rectangle 6">
            <a:extLst>
              <a:ext uri="{FF2B5EF4-FFF2-40B4-BE49-F238E27FC236}">
                <a16:creationId xmlns:a16="http://schemas.microsoft.com/office/drawing/2014/main" id="{3B48B910-2FA4-ED65-2B7C-35197129E952}"/>
              </a:ext>
            </a:extLst>
          </p:cNvPr>
          <p:cNvSpPr/>
          <p:nvPr/>
        </p:nvSpPr>
        <p:spPr>
          <a:xfrm>
            <a:off x="838200" y="1870228"/>
            <a:ext cx="421888" cy="4351339"/>
          </a:xfrm>
          <a:prstGeom prst="snip1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nip Single Corner of Rectangle 7">
            <a:extLst>
              <a:ext uri="{FF2B5EF4-FFF2-40B4-BE49-F238E27FC236}">
                <a16:creationId xmlns:a16="http://schemas.microsoft.com/office/drawing/2014/main" id="{1E1338E1-66C2-6647-D84D-80E1CE1A7B6C}"/>
              </a:ext>
            </a:extLst>
          </p:cNvPr>
          <p:cNvSpPr/>
          <p:nvPr/>
        </p:nvSpPr>
        <p:spPr>
          <a:xfrm>
            <a:off x="1451517" y="1870228"/>
            <a:ext cx="421888" cy="4351339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nip Single Corner of Rectangle 8">
            <a:extLst>
              <a:ext uri="{FF2B5EF4-FFF2-40B4-BE49-F238E27FC236}">
                <a16:creationId xmlns:a16="http://schemas.microsoft.com/office/drawing/2014/main" id="{42A5B924-67A5-7B34-FB0A-447E3952EF00}"/>
              </a:ext>
            </a:extLst>
          </p:cNvPr>
          <p:cNvSpPr/>
          <p:nvPr/>
        </p:nvSpPr>
        <p:spPr>
          <a:xfrm>
            <a:off x="2098287" y="1870228"/>
            <a:ext cx="1113263" cy="4351339"/>
          </a:xfrm>
          <a:prstGeom prst="snip1Rect">
            <a:avLst>
              <a:gd name="adj" fmla="val 23957"/>
            </a:avLst>
          </a:prstGeom>
          <a:solidFill>
            <a:srgbClr val="0A3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nip Single Corner of Rectangle 9">
            <a:extLst>
              <a:ext uri="{FF2B5EF4-FFF2-40B4-BE49-F238E27FC236}">
                <a16:creationId xmlns:a16="http://schemas.microsoft.com/office/drawing/2014/main" id="{D797CA27-C2B9-15B1-E0F0-DD5E9FD35916}"/>
              </a:ext>
            </a:extLst>
          </p:cNvPr>
          <p:cNvSpPr/>
          <p:nvPr/>
        </p:nvSpPr>
        <p:spPr>
          <a:xfrm>
            <a:off x="3391828" y="2693020"/>
            <a:ext cx="1113263" cy="2629289"/>
          </a:xfrm>
          <a:prstGeom prst="snip1Rect">
            <a:avLst>
              <a:gd name="adj" fmla="val 23957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Single Corner of Rectangle 10">
            <a:extLst>
              <a:ext uri="{FF2B5EF4-FFF2-40B4-BE49-F238E27FC236}">
                <a16:creationId xmlns:a16="http://schemas.microsoft.com/office/drawing/2014/main" id="{D263B22B-048B-CB19-8487-C09DBDECD468}"/>
              </a:ext>
            </a:extLst>
          </p:cNvPr>
          <p:cNvSpPr/>
          <p:nvPr/>
        </p:nvSpPr>
        <p:spPr>
          <a:xfrm>
            <a:off x="4752276" y="1870228"/>
            <a:ext cx="1113263" cy="4351339"/>
          </a:xfrm>
          <a:prstGeom prst="snip1Rect">
            <a:avLst>
              <a:gd name="adj" fmla="val 23957"/>
            </a:avLst>
          </a:prstGeom>
          <a:solidFill>
            <a:srgbClr val="1F8E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E7C96D0-1FEE-F9E7-4035-E2AF900E6D3C}"/>
              </a:ext>
            </a:extLst>
          </p:cNvPr>
          <p:cNvSpPr txBox="1">
            <a:spLocks/>
          </p:cNvSpPr>
          <p:nvPr/>
        </p:nvSpPr>
        <p:spPr>
          <a:xfrm>
            <a:off x="3458841" y="4676800"/>
            <a:ext cx="979236" cy="324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0A3330"/>
                </a:solidFill>
                <a:latin typeface="Avenir Book" panose="02000503020000020003" pitchFamily="2" charset="0"/>
              </a:rPr>
              <a:t>#ABE534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46357BA-AADF-CBD7-7C0E-8F6FE0E9C836}"/>
              </a:ext>
            </a:extLst>
          </p:cNvPr>
          <p:cNvSpPr txBox="1">
            <a:spLocks/>
          </p:cNvSpPr>
          <p:nvPr/>
        </p:nvSpPr>
        <p:spPr>
          <a:xfrm>
            <a:off x="3458841" y="5777041"/>
            <a:ext cx="979236" cy="324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0A3330"/>
                </a:solidFill>
                <a:latin typeface="Avenir Book" panose="02000503020000020003" pitchFamily="2" charset="0"/>
              </a:rPr>
              <a:t>#ABE534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41E7406-6969-B323-8366-170C60BDB09D}"/>
              </a:ext>
            </a:extLst>
          </p:cNvPr>
          <p:cNvSpPr txBox="1">
            <a:spLocks/>
          </p:cNvSpPr>
          <p:nvPr/>
        </p:nvSpPr>
        <p:spPr>
          <a:xfrm>
            <a:off x="2154149" y="5777041"/>
            <a:ext cx="979236" cy="324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#0A3330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D7B68C6-32E4-6963-3F8A-05FD0DF40B9D}"/>
              </a:ext>
            </a:extLst>
          </p:cNvPr>
          <p:cNvSpPr txBox="1">
            <a:spLocks/>
          </p:cNvSpPr>
          <p:nvPr/>
        </p:nvSpPr>
        <p:spPr>
          <a:xfrm>
            <a:off x="4830441" y="5777041"/>
            <a:ext cx="979236" cy="324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#1F8E8B</a:t>
            </a:r>
          </a:p>
        </p:txBody>
      </p:sp>
      <p:sp>
        <p:nvSpPr>
          <p:cNvPr id="17" name="Snip Single Corner of Rectangle 16">
            <a:extLst>
              <a:ext uri="{FF2B5EF4-FFF2-40B4-BE49-F238E27FC236}">
                <a16:creationId xmlns:a16="http://schemas.microsoft.com/office/drawing/2014/main" id="{8C3C9593-92C6-8B23-D3B1-408E4D78BECE}"/>
              </a:ext>
            </a:extLst>
          </p:cNvPr>
          <p:cNvSpPr/>
          <p:nvPr/>
        </p:nvSpPr>
        <p:spPr>
          <a:xfrm>
            <a:off x="3391828" y="1886498"/>
            <a:ext cx="1113263" cy="1191239"/>
          </a:xfrm>
          <a:prstGeom prst="snip1Rect">
            <a:avLst>
              <a:gd name="adj" fmla="val 23957"/>
            </a:avLst>
          </a:prstGeom>
          <a:solidFill>
            <a:srgbClr val="6C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D379514-83CF-3BF2-3715-99B6DE00DAA4}"/>
              </a:ext>
            </a:extLst>
          </p:cNvPr>
          <p:cNvSpPr txBox="1">
            <a:spLocks/>
          </p:cNvSpPr>
          <p:nvPr/>
        </p:nvSpPr>
        <p:spPr>
          <a:xfrm>
            <a:off x="3458841" y="2368498"/>
            <a:ext cx="979236" cy="324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0A3330"/>
                </a:solidFill>
                <a:latin typeface="Avenir Book" panose="02000503020000020003" pitchFamily="2" charset="0"/>
              </a:rPr>
              <a:t>#6CE534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F039CDA-454B-5154-FEB5-4743930C32E3}"/>
              </a:ext>
            </a:extLst>
          </p:cNvPr>
          <p:cNvSpPr txBox="1">
            <a:spLocks/>
          </p:cNvSpPr>
          <p:nvPr/>
        </p:nvSpPr>
        <p:spPr>
          <a:xfrm>
            <a:off x="6636830" y="1984761"/>
            <a:ext cx="3040561" cy="750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Heading 1</a:t>
            </a:r>
            <a:endParaRPr lang="en-US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0D2AB83-763C-5C55-E289-DD34EB2F2CDD}"/>
              </a:ext>
            </a:extLst>
          </p:cNvPr>
          <p:cNvSpPr txBox="1">
            <a:spLocks/>
          </p:cNvSpPr>
          <p:nvPr/>
        </p:nvSpPr>
        <p:spPr>
          <a:xfrm>
            <a:off x="6636831" y="2958310"/>
            <a:ext cx="4960437" cy="1189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rgbClr val="0A3330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F86C1D-E22F-5CD9-BDE5-B5EE6DCDC9E5}"/>
              </a:ext>
            </a:extLst>
          </p:cNvPr>
          <p:cNvGrpSpPr/>
          <p:nvPr/>
        </p:nvGrpSpPr>
        <p:grpSpPr>
          <a:xfrm>
            <a:off x="6729649" y="4402401"/>
            <a:ext cx="2462667" cy="1751474"/>
            <a:chOff x="6729649" y="3671230"/>
            <a:chExt cx="3490732" cy="2482645"/>
          </a:xfrm>
        </p:grpSpPr>
        <p:sp>
          <p:nvSpPr>
            <p:cNvPr id="23" name="Snip Single Corner of Rectangle 22">
              <a:extLst>
                <a:ext uri="{FF2B5EF4-FFF2-40B4-BE49-F238E27FC236}">
                  <a16:creationId xmlns:a16="http://schemas.microsoft.com/office/drawing/2014/main" id="{9FA7C6E8-B905-13FD-4A0E-79CFA74844DE}"/>
                </a:ext>
              </a:extLst>
            </p:cNvPr>
            <p:cNvSpPr/>
            <p:nvPr/>
          </p:nvSpPr>
          <p:spPr>
            <a:xfrm>
              <a:off x="6729649" y="3671230"/>
              <a:ext cx="3490732" cy="2482645"/>
            </a:xfrm>
            <a:prstGeom prst="snip1Rect">
              <a:avLst>
                <a:gd name="adj" fmla="val 21846"/>
              </a:avLst>
            </a:prstGeom>
            <a:solidFill>
              <a:srgbClr val="DFF6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BFB9F795-B170-7B88-F9B5-E63087C90ECD}"/>
                </a:ext>
              </a:extLst>
            </p:cNvPr>
            <p:cNvSpPr txBox="1">
              <a:spLocks/>
            </p:cNvSpPr>
            <p:nvPr/>
          </p:nvSpPr>
          <p:spPr>
            <a:xfrm>
              <a:off x="6986424" y="4476038"/>
              <a:ext cx="2806874" cy="9144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600" dirty="0">
                  <a:solidFill>
                    <a:srgbClr val="0A3330"/>
                  </a:solidFill>
                  <a:latin typeface="Avenir Book" panose="02000503020000020003" pitchFamily="2" charset="0"/>
                </a:rPr>
                <a:t>Combined Ratio improvement</a:t>
              </a:r>
            </a:p>
          </p:txBody>
        </p:sp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27619B48-8A9A-C517-CDF5-7E5520346444}"/>
                </a:ext>
              </a:extLst>
            </p:cNvPr>
            <p:cNvSpPr txBox="1">
              <a:spLocks/>
            </p:cNvSpPr>
            <p:nvPr/>
          </p:nvSpPr>
          <p:spPr>
            <a:xfrm>
              <a:off x="6986424" y="5239203"/>
              <a:ext cx="2806874" cy="75111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3200" b="1" spc="-300" dirty="0">
                  <a:solidFill>
                    <a:srgbClr val="0A3330"/>
                  </a:solidFill>
                  <a:latin typeface="Avenir Book" panose="02000503020000020003" pitchFamily="2" charset="0"/>
                </a:rPr>
                <a:t>4 - 6 </a:t>
              </a:r>
              <a:r>
                <a:rPr lang="en-GB" sz="3200" b="1" dirty="0">
                  <a:solidFill>
                    <a:srgbClr val="0A3330"/>
                  </a:solidFill>
                  <a:latin typeface="Avenir Book" panose="02000503020000020003" pitchFamily="2" charset="0"/>
                </a:rPr>
                <a:t>pts</a:t>
              </a:r>
              <a:endParaRPr lang="en-GB" sz="3200" dirty="0">
                <a:solidFill>
                  <a:srgbClr val="0A3330"/>
                </a:solidFill>
                <a:latin typeface="Avenir Book" panose="02000503020000020003" pitchFamily="2" charset="0"/>
              </a:endParaRPr>
            </a:p>
          </p:txBody>
        </p:sp>
        <p:pic>
          <p:nvPicPr>
            <p:cNvPr id="26" name="Picture 25" descr="A green arrow pointing up&#10;&#10;AI-generated content may be incorrect.">
              <a:extLst>
                <a:ext uri="{FF2B5EF4-FFF2-40B4-BE49-F238E27FC236}">
                  <a16:creationId xmlns:a16="http://schemas.microsoft.com/office/drawing/2014/main" id="{2DBD9C9B-A224-1336-B7FF-EE45A754C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0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43130" y="3838943"/>
              <a:ext cx="538908" cy="538908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EED62E-0C87-AAE7-6EE2-BEAEEDA693E9}"/>
                </a:ext>
              </a:extLst>
            </p:cNvPr>
            <p:cNvCxnSpPr>
              <a:cxnSpLocks/>
            </p:cNvCxnSpPr>
            <p:nvPr/>
          </p:nvCxnSpPr>
          <p:spPr>
            <a:xfrm>
              <a:off x="6729649" y="6153875"/>
              <a:ext cx="3490732" cy="0"/>
            </a:xfrm>
            <a:prstGeom prst="line">
              <a:avLst/>
            </a:prstGeom>
            <a:ln w="762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33508225-1211-5BDF-F7ED-EAD2C1A901B0}"/>
              </a:ext>
            </a:extLst>
          </p:cNvPr>
          <p:cNvSpPr txBox="1">
            <a:spLocks/>
          </p:cNvSpPr>
          <p:nvPr/>
        </p:nvSpPr>
        <p:spPr>
          <a:xfrm>
            <a:off x="6636831" y="1189824"/>
            <a:ext cx="3040561" cy="750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solidFill>
                  <a:srgbClr val="ABE534"/>
                </a:solidFill>
                <a:latin typeface="Avenir Medium" panose="02000503020000020003" pitchFamily="2" charset="0"/>
              </a:rPr>
              <a:t>SUPERTITLE</a:t>
            </a:r>
            <a:endParaRPr lang="en-US" sz="2400" dirty="0">
              <a:solidFill>
                <a:srgbClr val="ABE534"/>
              </a:solidFill>
              <a:latin typeface="Avenir Medium" panose="02000503020000020003" pitchFamily="2" charset="0"/>
            </a:endParaRPr>
          </a:p>
        </p:txBody>
      </p:sp>
      <p:pic>
        <p:nvPicPr>
          <p:cNvPr id="30" name="Picture 29" descr="A green shield with a white paper and a check mark&#10;&#10;AI-generated content may be incorrect.">
            <a:extLst>
              <a:ext uri="{FF2B5EF4-FFF2-40B4-BE49-F238E27FC236}">
                <a16:creationId xmlns:a16="http://schemas.microsoft.com/office/drawing/2014/main" id="{B76A3E8C-8DF3-9271-D34B-48BE1C22AF5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3467" y="4298762"/>
            <a:ext cx="923646" cy="923646"/>
          </a:xfrm>
          <a:prstGeom prst="rect">
            <a:avLst/>
          </a:prstGeom>
        </p:spPr>
      </p:pic>
      <p:pic>
        <p:nvPicPr>
          <p:cNvPr id="31" name="Picture 30" descr="A green arrow pointing down with a white circle with a percent sign&#10;&#10;AI-generated content may be incorrect.">
            <a:extLst>
              <a:ext uri="{FF2B5EF4-FFF2-40B4-BE49-F238E27FC236}">
                <a16:creationId xmlns:a16="http://schemas.microsoft.com/office/drawing/2014/main" id="{78C935DF-6CAB-BA84-3BCC-4FA242F8E87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9658" y="4378703"/>
            <a:ext cx="815024" cy="815024"/>
          </a:xfrm>
          <a:prstGeom prst="rect">
            <a:avLst/>
          </a:prstGeom>
        </p:spPr>
      </p:pic>
      <p:pic>
        <p:nvPicPr>
          <p:cNvPr id="32" name="Picture 31" descr="A white figure with a green arrow&#10;&#10;AI-generated content may be incorrect.">
            <a:extLst>
              <a:ext uri="{FF2B5EF4-FFF2-40B4-BE49-F238E27FC236}">
                <a16:creationId xmlns:a16="http://schemas.microsoft.com/office/drawing/2014/main" id="{28FAF5BA-17DC-741C-936B-03B6AC16950E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6550" y="5508586"/>
            <a:ext cx="760349" cy="760349"/>
          </a:xfrm>
          <a:prstGeom prst="rect">
            <a:avLst/>
          </a:prstGeom>
        </p:spPr>
      </p:pic>
      <p:pic>
        <p:nvPicPr>
          <p:cNvPr id="33" name="Picture 32" descr="A green piggy bank with a coin in it&#10;&#10;AI-generated content may be incorrect.">
            <a:extLst>
              <a:ext uri="{FF2B5EF4-FFF2-40B4-BE49-F238E27FC236}">
                <a16:creationId xmlns:a16="http://schemas.microsoft.com/office/drawing/2014/main" id="{975E147A-DDB2-08DB-6191-05383F4096C7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458" y="5447244"/>
            <a:ext cx="769301" cy="76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90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3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F20B0-2CEE-4D07-4E88-A12BF48B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nip Single Corner of Rectangle 14">
            <a:extLst>
              <a:ext uri="{FF2B5EF4-FFF2-40B4-BE49-F238E27FC236}">
                <a16:creationId xmlns:a16="http://schemas.microsoft.com/office/drawing/2014/main" id="{0E7DC1EE-D0B7-3411-8842-BF999D0AEE24}"/>
              </a:ext>
            </a:extLst>
          </p:cNvPr>
          <p:cNvSpPr/>
          <p:nvPr/>
        </p:nvSpPr>
        <p:spPr>
          <a:xfrm>
            <a:off x="4344628" y="3825592"/>
            <a:ext cx="3490732" cy="2482645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Single Corner of Rectangle 15">
            <a:extLst>
              <a:ext uri="{FF2B5EF4-FFF2-40B4-BE49-F238E27FC236}">
                <a16:creationId xmlns:a16="http://schemas.microsoft.com/office/drawing/2014/main" id="{FB766EFA-E2DC-5DBF-2FEA-316BCDA0711C}"/>
              </a:ext>
            </a:extLst>
          </p:cNvPr>
          <p:cNvSpPr/>
          <p:nvPr/>
        </p:nvSpPr>
        <p:spPr>
          <a:xfrm>
            <a:off x="8140544" y="3825592"/>
            <a:ext cx="3490732" cy="2482645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nip Single Corner of Rectangle 11">
            <a:extLst>
              <a:ext uri="{FF2B5EF4-FFF2-40B4-BE49-F238E27FC236}">
                <a16:creationId xmlns:a16="http://schemas.microsoft.com/office/drawing/2014/main" id="{9EA0C72E-7F50-9CAF-21BB-038B5D2FACE1}"/>
              </a:ext>
            </a:extLst>
          </p:cNvPr>
          <p:cNvSpPr/>
          <p:nvPr/>
        </p:nvSpPr>
        <p:spPr>
          <a:xfrm>
            <a:off x="524719" y="3825592"/>
            <a:ext cx="3490732" cy="2482645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BFF443-4261-2FF5-D650-B55B19B9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386066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Unlocking </a:t>
            </a:r>
            <a:r>
              <a:rPr lang="en-GB" dirty="0"/>
              <a:t>o</a:t>
            </a:r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perational value through data-driven strategy</a:t>
            </a:r>
            <a:endParaRPr lang="en-US" b="1" dirty="0">
              <a:solidFill>
                <a:srgbClr val="ABE534"/>
              </a:solidFill>
              <a:latin typeface="Avenir Heavy" panose="02000503020000020003" pitchFamily="2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CDC7C4-C5F9-7C2F-2344-A22628E8AEFF}"/>
              </a:ext>
            </a:extLst>
          </p:cNvPr>
          <p:cNvSpPr txBox="1">
            <a:spLocks/>
          </p:cNvSpPr>
          <p:nvPr/>
        </p:nvSpPr>
        <p:spPr>
          <a:xfrm>
            <a:off x="449893" y="2001019"/>
            <a:ext cx="10515600" cy="742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ABE534"/>
                </a:solidFill>
                <a:latin typeface="Avenir Book" panose="02000503020000020003" pitchFamily="2" charset="0"/>
              </a:rPr>
              <a:t>Our engagement aims to identify, quantify, and capture improvement opportunities across underwriting, claims, and policy management.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B8175E-63FA-4DA6-C3A7-D38246134415}"/>
              </a:ext>
            </a:extLst>
          </p:cNvPr>
          <p:cNvSpPr txBox="1">
            <a:spLocks/>
          </p:cNvSpPr>
          <p:nvPr/>
        </p:nvSpPr>
        <p:spPr>
          <a:xfrm>
            <a:off x="781494" y="4630400"/>
            <a:ext cx="2806874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Combined Ratio improvement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53F655-DFDB-AB5B-C98A-2C5FCBD4A8F4}"/>
              </a:ext>
            </a:extLst>
          </p:cNvPr>
          <p:cNvSpPr txBox="1">
            <a:spLocks/>
          </p:cNvSpPr>
          <p:nvPr/>
        </p:nvSpPr>
        <p:spPr>
          <a:xfrm>
            <a:off x="4657024" y="4659503"/>
            <a:ext cx="2956143" cy="889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Annual cost savings potential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B42ADA-99D6-B3B1-025A-3F735EAF4B40}"/>
              </a:ext>
            </a:extLst>
          </p:cNvPr>
          <p:cNvSpPr txBox="1">
            <a:spLocks/>
          </p:cNvSpPr>
          <p:nvPr/>
        </p:nvSpPr>
        <p:spPr>
          <a:xfrm>
            <a:off x="8394332" y="4660248"/>
            <a:ext cx="2848627" cy="42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ROI within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6DDF03-3266-89A2-A40D-A72CC99D8478}"/>
              </a:ext>
            </a:extLst>
          </p:cNvPr>
          <p:cNvSpPr txBox="1">
            <a:spLocks/>
          </p:cNvSpPr>
          <p:nvPr/>
        </p:nvSpPr>
        <p:spPr>
          <a:xfrm>
            <a:off x="449893" y="3093188"/>
            <a:ext cx="10515600" cy="4430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latin typeface="Avenir Book" panose="02000503020000020003" pitchFamily="2" charset="0"/>
              </a:rPr>
              <a:t>Key Outcomes Expected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5D5A183-DD79-4641-9075-7BC735EE14DD}"/>
              </a:ext>
            </a:extLst>
          </p:cNvPr>
          <p:cNvSpPr txBox="1">
            <a:spLocks/>
          </p:cNvSpPr>
          <p:nvPr/>
        </p:nvSpPr>
        <p:spPr>
          <a:xfrm>
            <a:off x="781494" y="5393565"/>
            <a:ext cx="2806874" cy="751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200" b="1" spc="-300" dirty="0">
                <a:solidFill>
                  <a:srgbClr val="0A3330"/>
                </a:solidFill>
                <a:latin typeface="Avenir Book" panose="02000503020000020003" pitchFamily="2" charset="0"/>
              </a:rPr>
              <a:t>4 - 6 </a:t>
            </a:r>
            <a:r>
              <a:rPr lang="en-GB" sz="4200" b="1" dirty="0">
                <a:solidFill>
                  <a:srgbClr val="0A3330"/>
                </a:solidFill>
                <a:latin typeface="Avenir Book" panose="02000503020000020003" pitchFamily="2" charset="0"/>
              </a:rPr>
              <a:t>pts</a:t>
            </a:r>
            <a:endParaRPr lang="en-GB" sz="420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CA3383A-0555-645E-D25F-5E8EA363566A}"/>
              </a:ext>
            </a:extLst>
          </p:cNvPr>
          <p:cNvSpPr txBox="1">
            <a:spLocks/>
          </p:cNvSpPr>
          <p:nvPr/>
        </p:nvSpPr>
        <p:spPr>
          <a:xfrm>
            <a:off x="4668507" y="5393565"/>
            <a:ext cx="2806874" cy="751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200" b="1" spc="-300" dirty="0">
                <a:solidFill>
                  <a:srgbClr val="0A3330"/>
                </a:solidFill>
                <a:latin typeface="Avenir Book" panose="02000503020000020003" pitchFamily="2" charset="0"/>
              </a:rPr>
              <a:t>$3 - 4.5M</a:t>
            </a:r>
            <a:endParaRPr lang="en-GB" sz="420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9B50874-9129-1048-012C-3074EB3EC965}"/>
              </a:ext>
            </a:extLst>
          </p:cNvPr>
          <p:cNvSpPr txBox="1">
            <a:spLocks/>
          </p:cNvSpPr>
          <p:nvPr/>
        </p:nvSpPr>
        <p:spPr>
          <a:xfrm>
            <a:off x="8364253" y="5027183"/>
            <a:ext cx="2806874" cy="75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200" b="1" spc="-150" dirty="0">
                <a:solidFill>
                  <a:srgbClr val="0A3330"/>
                </a:solidFill>
                <a:latin typeface="Avenir Book" panose="02000503020000020003" pitchFamily="2" charset="0"/>
              </a:rPr>
              <a:t>12 months</a:t>
            </a:r>
            <a:endParaRPr lang="en-GB" sz="4200" spc="-15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91EA23B-3B34-D849-4BAB-5F77DE6F5611}"/>
              </a:ext>
            </a:extLst>
          </p:cNvPr>
          <p:cNvSpPr txBox="1">
            <a:spLocks/>
          </p:cNvSpPr>
          <p:nvPr/>
        </p:nvSpPr>
        <p:spPr>
          <a:xfrm>
            <a:off x="8435897" y="5579196"/>
            <a:ext cx="2848627" cy="42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0A3330"/>
                </a:solidFill>
                <a:latin typeface="Avenir Book" panose="02000503020000020003" pitchFamily="2" charset="0"/>
              </a:rPr>
              <a:t>post-implementation</a:t>
            </a:r>
          </a:p>
        </p:txBody>
      </p:sp>
      <p:pic>
        <p:nvPicPr>
          <p:cNvPr id="8" name="Picture 7" descr="A green arrow pointing up&#10;&#10;AI-generated content may be incorrect.">
            <a:extLst>
              <a:ext uri="{FF2B5EF4-FFF2-40B4-BE49-F238E27FC236}">
                <a16:creationId xmlns:a16="http://schemas.microsoft.com/office/drawing/2014/main" id="{03C5E1D3-27DC-2041-74AB-F9E6A1C05C0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993305"/>
            <a:ext cx="538908" cy="538908"/>
          </a:xfrm>
          <a:prstGeom prst="rect">
            <a:avLst/>
          </a:prstGeom>
        </p:spPr>
      </p:pic>
      <p:pic>
        <p:nvPicPr>
          <p:cNvPr id="10" name="Picture 9" descr="A green piggy bank with a coin in it&#10;&#10;AI-generated content may be incorrect.">
            <a:extLst>
              <a:ext uri="{FF2B5EF4-FFF2-40B4-BE49-F238E27FC236}">
                <a16:creationId xmlns:a16="http://schemas.microsoft.com/office/drawing/2014/main" id="{71CEC2A6-66EA-D7D7-8E86-D8A09DDCD9C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024" y="3953206"/>
            <a:ext cx="678533" cy="6785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A6375B-844F-AC9F-D045-1EEB4622783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9650" y="3906098"/>
            <a:ext cx="713321" cy="71332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F86500-391D-14AA-DDF3-0EEEE6A90F9B}"/>
              </a:ext>
            </a:extLst>
          </p:cNvPr>
          <p:cNvCxnSpPr>
            <a:cxnSpLocks/>
          </p:cNvCxnSpPr>
          <p:nvPr/>
        </p:nvCxnSpPr>
        <p:spPr>
          <a:xfrm>
            <a:off x="524719" y="6308237"/>
            <a:ext cx="3490732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92F7E9-1CDD-17BF-B924-86C5DC50698C}"/>
              </a:ext>
            </a:extLst>
          </p:cNvPr>
          <p:cNvCxnSpPr>
            <a:cxnSpLocks/>
          </p:cNvCxnSpPr>
          <p:nvPr/>
        </p:nvCxnSpPr>
        <p:spPr>
          <a:xfrm>
            <a:off x="4344628" y="6308237"/>
            <a:ext cx="3490732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5F8D04-206A-642E-39E7-9E605B0AC040}"/>
              </a:ext>
            </a:extLst>
          </p:cNvPr>
          <p:cNvCxnSpPr>
            <a:cxnSpLocks/>
          </p:cNvCxnSpPr>
          <p:nvPr/>
        </p:nvCxnSpPr>
        <p:spPr>
          <a:xfrm>
            <a:off x="8141713" y="6308237"/>
            <a:ext cx="3490732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49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E5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FBF995-3744-3AA3-6D90-F8C1BC808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EBCF-DF02-AE2C-2F97-FB3C2F5B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2" y="1726352"/>
            <a:ext cx="4322830" cy="3405296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Operational inefficiencies hindering insurance performance</a:t>
            </a:r>
            <a:endParaRPr lang="en-US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7E2EAE2F-63CE-6EAF-0B8D-035A44FA235C}"/>
              </a:ext>
            </a:extLst>
          </p:cNvPr>
          <p:cNvSpPr/>
          <p:nvPr/>
        </p:nvSpPr>
        <p:spPr>
          <a:xfrm>
            <a:off x="4960308" y="431457"/>
            <a:ext cx="6781800" cy="5995086"/>
          </a:xfrm>
          <a:prstGeom prst="snip1Rect">
            <a:avLst>
              <a:gd name="adj" fmla="val 21846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A81B26-1092-156C-007C-35DCDA01084C}"/>
              </a:ext>
            </a:extLst>
          </p:cNvPr>
          <p:cNvSpPr txBox="1">
            <a:spLocks/>
          </p:cNvSpPr>
          <p:nvPr/>
        </p:nvSpPr>
        <p:spPr>
          <a:xfrm>
            <a:off x="449893" y="5131648"/>
            <a:ext cx="4184737" cy="133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0A3330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B930ACC-E9DE-9458-A491-9AB32E476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1399696"/>
              </p:ext>
            </p:extLst>
          </p:nvPr>
        </p:nvGraphicFramePr>
        <p:xfrm>
          <a:off x="5532155" y="807348"/>
          <a:ext cx="58164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40A5E9-2992-27BE-D5F3-4432AF3FBC1D}"/>
              </a:ext>
            </a:extLst>
          </p:cNvPr>
          <p:cNvCxnSpPr>
            <a:cxnSpLocks/>
          </p:cNvCxnSpPr>
          <p:nvPr/>
        </p:nvCxnSpPr>
        <p:spPr>
          <a:xfrm>
            <a:off x="10833904" y="431457"/>
            <a:ext cx="908204" cy="0"/>
          </a:xfrm>
          <a:prstGeom prst="line">
            <a:avLst/>
          </a:prstGeom>
          <a:ln w="6350">
            <a:solidFill>
              <a:srgbClr val="0A33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E3DC5B9-59AB-0D97-C6BE-9E248870BBF0}"/>
              </a:ext>
            </a:extLst>
          </p:cNvPr>
          <p:cNvCxnSpPr>
            <a:cxnSpLocks/>
          </p:cNvCxnSpPr>
          <p:nvPr/>
        </p:nvCxnSpPr>
        <p:spPr>
          <a:xfrm>
            <a:off x="11742108" y="431457"/>
            <a:ext cx="0" cy="888056"/>
          </a:xfrm>
          <a:prstGeom prst="line">
            <a:avLst/>
          </a:prstGeom>
          <a:ln w="6350">
            <a:solidFill>
              <a:srgbClr val="0A33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43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3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373C2-7CD5-3E3A-EB54-3E5431F6C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nip Single Corner of Rectangle 11">
            <a:extLst>
              <a:ext uri="{FF2B5EF4-FFF2-40B4-BE49-F238E27FC236}">
                <a16:creationId xmlns:a16="http://schemas.microsoft.com/office/drawing/2014/main" id="{458C15DF-F285-740E-D0B6-52DEC581A7D1}"/>
              </a:ext>
            </a:extLst>
          </p:cNvPr>
          <p:cNvSpPr/>
          <p:nvPr/>
        </p:nvSpPr>
        <p:spPr>
          <a:xfrm>
            <a:off x="449891" y="2815201"/>
            <a:ext cx="5350803" cy="3493036"/>
          </a:xfrm>
          <a:prstGeom prst="snip1Rect">
            <a:avLst>
              <a:gd name="adj" fmla="val 2184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DB8F7A-427C-2EB6-3765-E071444BA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19" y="365125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Operational diagnostics vs.</a:t>
            </a:r>
            <a:b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</a:br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Financial validation</a:t>
            </a:r>
            <a:endParaRPr lang="en-US" b="1" dirty="0">
              <a:solidFill>
                <a:srgbClr val="ABE534"/>
              </a:solidFill>
              <a:latin typeface="Avenir Heavy" panose="02000503020000020003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21AD8A-F6C5-4828-E048-63F8C48DC681}"/>
              </a:ext>
            </a:extLst>
          </p:cNvPr>
          <p:cNvSpPr txBox="1">
            <a:spLocks/>
          </p:cNvSpPr>
          <p:nvPr/>
        </p:nvSpPr>
        <p:spPr>
          <a:xfrm>
            <a:off x="449891" y="2221376"/>
            <a:ext cx="3601247" cy="3784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chemeClr val="bg1"/>
                </a:solidFill>
                <a:latin typeface="Avenir Book" panose="02000503020000020003" pitchFamily="2" charset="0"/>
              </a:rPr>
              <a:t>Operational Diagnostic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90F7973-CD2C-2E65-01E6-F10FF380D94C}"/>
              </a:ext>
            </a:extLst>
          </p:cNvPr>
          <p:cNvSpPr txBox="1">
            <a:spLocks/>
          </p:cNvSpPr>
          <p:nvPr/>
        </p:nvSpPr>
        <p:spPr>
          <a:xfrm>
            <a:off x="737884" y="3064806"/>
            <a:ext cx="1380522" cy="728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spc="-300" dirty="0">
                <a:solidFill>
                  <a:srgbClr val="0A3330"/>
                </a:solidFill>
                <a:latin typeface="Avenir Heavy" panose="02000503020000020003" pitchFamily="2" charset="0"/>
              </a:rPr>
              <a:t>$2M</a:t>
            </a:r>
            <a:endParaRPr lang="en-GB" sz="4400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76E66E6B-49C5-42CE-570D-1C1EAA897327}"/>
              </a:ext>
            </a:extLst>
          </p:cNvPr>
          <p:cNvSpPr/>
          <p:nvPr/>
        </p:nvSpPr>
        <p:spPr>
          <a:xfrm>
            <a:off x="6316474" y="2815200"/>
            <a:ext cx="5350805" cy="3493037"/>
          </a:xfrm>
          <a:prstGeom prst="snip1Rect">
            <a:avLst>
              <a:gd name="adj" fmla="val 2184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8E95BC9-3453-A086-FD7D-4C92E07737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3958439"/>
              </p:ext>
            </p:extLst>
          </p:nvPr>
        </p:nvGraphicFramePr>
        <p:xfrm>
          <a:off x="760164" y="4010399"/>
          <a:ext cx="4682169" cy="1966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CD6DA3-D6A9-1D85-7A4B-D36447F93E41}"/>
              </a:ext>
            </a:extLst>
          </p:cNvPr>
          <p:cNvSpPr txBox="1">
            <a:spLocks/>
          </p:cNvSpPr>
          <p:nvPr/>
        </p:nvSpPr>
        <p:spPr>
          <a:xfrm>
            <a:off x="2118407" y="3042290"/>
            <a:ext cx="2879046" cy="5139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350" dirty="0">
                <a:solidFill>
                  <a:srgbClr val="0A3330"/>
                </a:solidFill>
                <a:latin typeface="Avenir Book" panose="02000503020000020003" pitchFamily="2" charset="0"/>
              </a:rPr>
              <a:t>Automation and process redesign can recover up to $2M annually and improve cycle time by 50%.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837457-14DD-6919-688C-E881714E118F}"/>
              </a:ext>
            </a:extLst>
          </p:cNvPr>
          <p:cNvSpPr txBox="1">
            <a:spLocks/>
          </p:cNvSpPr>
          <p:nvPr/>
        </p:nvSpPr>
        <p:spPr>
          <a:xfrm>
            <a:off x="6316474" y="2199760"/>
            <a:ext cx="3601247" cy="3784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chemeClr val="bg1"/>
                </a:solidFill>
                <a:latin typeface="Avenir Book" panose="02000503020000020003" pitchFamily="2" charset="0"/>
              </a:rPr>
              <a:t>Financial Validation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6719A8-9FE5-29F7-1AF1-F2DF00796253}"/>
              </a:ext>
            </a:extLst>
          </p:cNvPr>
          <p:cNvSpPr txBox="1">
            <a:spLocks/>
          </p:cNvSpPr>
          <p:nvPr/>
        </p:nvSpPr>
        <p:spPr>
          <a:xfrm>
            <a:off x="6602455" y="3064806"/>
            <a:ext cx="1766113" cy="728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000" b="1" spc="-300" dirty="0">
                <a:solidFill>
                  <a:srgbClr val="0A3330"/>
                </a:solidFill>
                <a:latin typeface="Avenir Heavy" panose="02000503020000020003" pitchFamily="2" charset="0"/>
              </a:rPr>
              <a:t>210%</a:t>
            </a:r>
            <a:endParaRPr lang="en-GB" sz="4000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883446D-AA2D-F84E-395E-D31FFEA5F510}"/>
              </a:ext>
            </a:extLst>
          </p:cNvPr>
          <p:cNvSpPr txBox="1">
            <a:spLocks/>
          </p:cNvSpPr>
          <p:nvPr/>
        </p:nvSpPr>
        <p:spPr>
          <a:xfrm>
            <a:off x="8072069" y="3038954"/>
            <a:ext cx="2799931" cy="482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350" dirty="0">
                <a:solidFill>
                  <a:srgbClr val="0A3330"/>
                </a:solidFill>
                <a:latin typeface="Avenir Book" panose="02000503020000020003" pitchFamily="2" charset="0"/>
              </a:rPr>
              <a:t>Transformation initiatives are projected to deliver a 210% ROI within one fiscal year.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7B5171D-716C-3866-841B-703AD3D0C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8532372"/>
              </p:ext>
            </p:extLst>
          </p:nvPr>
        </p:nvGraphicFramePr>
        <p:xfrm>
          <a:off x="6675007" y="4010399"/>
          <a:ext cx="4516916" cy="1966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16558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3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23738-652F-25F6-D836-0E54D6E3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A440A64D-53DA-8ECF-291E-9FBB0935CFE9}"/>
              </a:ext>
            </a:extLst>
          </p:cNvPr>
          <p:cNvSpPr/>
          <p:nvPr/>
        </p:nvSpPr>
        <p:spPr>
          <a:xfrm>
            <a:off x="-4" y="4791919"/>
            <a:ext cx="5058139" cy="2089147"/>
          </a:xfrm>
          <a:prstGeom prst="snip1Rect">
            <a:avLst>
              <a:gd name="adj" fmla="val 49677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Snip Single Corner of Rectangle 6">
            <a:extLst>
              <a:ext uri="{FF2B5EF4-FFF2-40B4-BE49-F238E27FC236}">
                <a16:creationId xmlns:a16="http://schemas.microsoft.com/office/drawing/2014/main" id="{B4D8FB5D-A01B-672C-B710-26EFEFAF5DBD}"/>
              </a:ext>
            </a:extLst>
          </p:cNvPr>
          <p:cNvSpPr/>
          <p:nvPr/>
        </p:nvSpPr>
        <p:spPr>
          <a:xfrm rot="5400000">
            <a:off x="133107" y="-133110"/>
            <a:ext cx="4791919" cy="5058139"/>
          </a:xfrm>
          <a:prstGeom prst="snip1Rect">
            <a:avLst>
              <a:gd name="adj" fmla="val 21846"/>
            </a:avLst>
          </a:prstGeom>
          <a:blipFill dpi="0" rotWithShape="1">
            <a:blip r:embed="rId3" cstate="hqprint">
              <a:alphaModFix amt="4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24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0414E-5D9E-AEC6-3590-F4EAF95E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748877"/>
            <a:ext cx="4219935" cy="3396271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Heavy" panose="02000503020000020003" pitchFamily="2" charset="0"/>
              </a:rPr>
              <a:t>The need for transformation in a shifting insurance landscape</a:t>
            </a:r>
            <a:endParaRPr lang="en-US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4C67CC-7C82-E398-6F6F-938D1759C168}"/>
              </a:ext>
            </a:extLst>
          </p:cNvPr>
          <p:cNvSpPr txBox="1">
            <a:spLocks/>
          </p:cNvSpPr>
          <p:nvPr/>
        </p:nvSpPr>
        <p:spPr>
          <a:xfrm>
            <a:off x="449893" y="5294575"/>
            <a:ext cx="3942493" cy="11878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rgbClr val="0A3330"/>
                </a:solidFill>
                <a:latin typeface="Avenir Book" panose="02000503020000020003" pitchFamily="2" charset="0"/>
              </a:rPr>
              <a:t>Rising claims volume, manual processing, and fragmented data systems have eroded profitability and agility.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800" dirty="0">
              <a:solidFill>
                <a:srgbClr val="0A3330"/>
              </a:solidFill>
              <a:latin typeface="Avenir Book" panose="02000503020000020003" pitchFamily="2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D66D27-BE10-F5DF-5BF5-BAF9F563472E}"/>
              </a:ext>
            </a:extLst>
          </p:cNvPr>
          <p:cNvSpPr txBox="1">
            <a:spLocks/>
          </p:cNvSpPr>
          <p:nvPr/>
        </p:nvSpPr>
        <p:spPr>
          <a:xfrm>
            <a:off x="7509164" y="1112497"/>
            <a:ext cx="3768436" cy="1175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>
                <a:solidFill>
                  <a:srgbClr val="ABE534"/>
                </a:solidFill>
                <a:latin typeface="Avenir Book" panose="02000503020000020003" pitchFamily="2" charset="0"/>
              </a:rPr>
              <a:t>Claims processing averages </a:t>
            </a: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12 days vs.</a:t>
            </a:r>
            <a:b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</a:b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5-day benchmark</a:t>
            </a:r>
            <a:endParaRPr lang="en-US" sz="2600" dirty="0">
              <a:solidFill>
                <a:srgbClr val="ABE534"/>
              </a:solidFill>
              <a:latin typeface="Avenir Book" panose="02000503020000020003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72B2FE-0E4D-622D-1277-BAFE5EA20D75}"/>
              </a:ext>
            </a:extLst>
          </p:cNvPr>
          <p:cNvSpPr txBox="1">
            <a:spLocks/>
          </p:cNvSpPr>
          <p:nvPr/>
        </p:nvSpPr>
        <p:spPr>
          <a:xfrm>
            <a:off x="7509164" y="3103046"/>
            <a:ext cx="3607884" cy="843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>
                <a:solidFill>
                  <a:srgbClr val="ABE534"/>
                </a:solidFill>
                <a:latin typeface="Avenir Book" panose="02000503020000020003" pitchFamily="2" charset="0"/>
              </a:rPr>
              <a:t>Loss ratio deterioration </a:t>
            </a: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+5 pts YoY</a:t>
            </a:r>
            <a:endParaRPr lang="en-US" sz="2600" dirty="0">
              <a:solidFill>
                <a:srgbClr val="ABE534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AF3612-7B93-30C1-191D-CDB412F80BAF}"/>
              </a:ext>
            </a:extLst>
          </p:cNvPr>
          <p:cNvSpPr txBox="1">
            <a:spLocks/>
          </p:cNvSpPr>
          <p:nvPr/>
        </p:nvSpPr>
        <p:spPr>
          <a:xfrm>
            <a:off x="7509164" y="4966558"/>
            <a:ext cx="3311236" cy="824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dirty="0">
                <a:solidFill>
                  <a:srgbClr val="ABE534"/>
                </a:solidFill>
                <a:latin typeface="Avenir Book" panose="02000503020000020003" pitchFamily="2" charset="0"/>
              </a:rPr>
              <a:t>Customer retention down </a:t>
            </a:r>
            <a:r>
              <a:rPr lang="en-GB" sz="2600" b="1" dirty="0">
                <a:solidFill>
                  <a:srgbClr val="ABE534"/>
                </a:solidFill>
                <a:latin typeface="Avenir Book" panose="02000503020000020003" pitchFamily="2" charset="0"/>
              </a:rPr>
              <a:t>8% YoY</a:t>
            </a:r>
            <a:endParaRPr lang="en-US" sz="2600" dirty="0">
              <a:solidFill>
                <a:srgbClr val="ABE534"/>
              </a:solidFill>
              <a:latin typeface="Avenir Book" panose="02000503020000020003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80B1E3-BF24-BE0A-DF94-B5D9C03D85C6}"/>
              </a:ext>
            </a:extLst>
          </p:cNvPr>
          <p:cNvCxnSpPr>
            <a:cxnSpLocks/>
          </p:cNvCxnSpPr>
          <p:nvPr/>
        </p:nvCxnSpPr>
        <p:spPr>
          <a:xfrm>
            <a:off x="6276109" y="4333464"/>
            <a:ext cx="500149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59008F-5AC7-9295-B9E6-DCA327975BBE}"/>
              </a:ext>
            </a:extLst>
          </p:cNvPr>
          <p:cNvCxnSpPr>
            <a:cxnSpLocks/>
          </p:cNvCxnSpPr>
          <p:nvPr/>
        </p:nvCxnSpPr>
        <p:spPr>
          <a:xfrm>
            <a:off x="6276109" y="2561086"/>
            <a:ext cx="500149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green shield with a white paper and a check mark&#10;&#10;AI-generated content may be incorrect.">
            <a:extLst>
              <a:ext uri="{FF2B5EF4-FFF2-40B4-BE49-F238E27FC236}">
                <a16:creationId xmlns:a16="http://schemas.microsoft.com/office/drawing/2014/main" id="{8C87634C-84D1-8CA1-3022-0FE47766888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026916"/>
            <a:ext cx="1260764" cy="1260764"/>
          </a:xfrm>
          <a:prstGeom prst="rect">
            <a:avLst/>
          </a:prstGeom>
        </p:spPr>
      </p:pic>
      <p:pic>
        <p:nvPicPr>
          <p:cNvPr id="18" name="Picture 17" descr="A green arrow pointing down with a white circle with a percent sign&#10;&#10;AI-generated content may be incorrect.">
            <a:extLst>
              <a:ext uri="{FF2B5EF4-FFF2-40B4-BE49-F238E27FC236}">
                <a16:creationId xmlns:a16="http://schemas.microsoft.com/office/drawing/2014/main" id="{9BCA209A-8B57-4410-51FD-21DE2B3D6AE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0133" y="2926557"/>
            <a:ext cx="1112497" cy="1112497"/>
          </a:xfrm>
          <a:prstGeom prst="rect">
            <a:avLst/>
          </a:prstGeom>
        </p:spPr>
      </p:pic>
      <p:pic>
        <p:nvPicPr>
          <p:cNvPr id="20" name="Picture 19" descr="A white figure with a green arrow&#10;&#10;AI-generated content may be incorrect.">
            <a:extLst>
              <a:ext uri="{FF2B5EF4-FFF2-40B4-BE49-F238E27FC236}">
                <a16:creationId xmlns:a16="http://schemas.microsoft.com/office/drawing/2014/main" id="{83645894-D645-40B3-A49C-3EE3E9217849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4764" y="4793218"/>
            <a:ext cx="1037866" cy="103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9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E5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88D3C-6A6B-6A6F-FB11-87E5810E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53D2-AA28-6548-5B8E-59E6312A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565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From assessment to execution</a:t>
            </a:r>
            <a:b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</a:br>
            <a:r>
              <a:rPr lang="en-GB" b="1" dirty="0">
                <a:solidFill>
                  <a:srgbClr val="0A3330"/>
                </a:solidFill>
                <a:latin typeface="Avenir Heavy" panose="02000503020000020003" pitchFamily="2" charset="0"/>
              </a:rPr>
              <a:t>12-week consulting journey</a:t>
            </a:r>
            <a:endParaRPr lang="en-US" b="1" dirty="0">
              <a:solidFill>
                <a:srgbClr val="0A3330"/>
              </a:solidFill>
              <a:latin typeface="Avenir Heavy" panose="02000503020000020003" pitchFamily="2" charset="0"/>
            </a:endParaRPr>
          </a:p>
        </p:txBody>
      </p:sp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49F8D756-008D-EEF4-8E3B-10B0EE8F53F9}"/>
              </a:ext>
            </a:extLst>
          </p:cNvPr>
          <p:cNvSpPr/>
          <p:nvPr/>
        </p:nvSpPr>
        <p:spPr>
          <a:xfrm>
            <a:off x="567565" y="1876097"/>
            <a:ext cx="11174543" cy="4550445"/>
          </a:xfrm>
          <a:prstGeom prst="snip1Rect">
            <a:avLst>
              <a:gd name="adj" fmla="val 10759"/>
            </a:avLst>
          </a:prstGeom>
          <a:solidFill>
            <a:srgbClr val="DFF6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369840-B75B-C69B-E2F5-EACA00FE0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909859"/>
              </p:ext>
            </p:extLst>
          </p:nvPr>
        </p:nvGraphicFramePr>
        <p:xfrm>
          <a:off x="779295" y="2191406"/>
          <a:ext cx="10727999" cy="4059231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727999">
                  <a:extLst>
                    <a:ext uri="{9D8B030D-6E8A-4147-A177-3AD203B41FA5}">
                      <a16:colId xmlns:a16="http://schemas.microsoft.com/office/drawing/2014/main" val="415042209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618713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1412498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75973093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3022305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28686535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10353856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6714076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1297297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3037426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60345811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123191738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517913777"/>
                    </a:ext>
                  </a:extLst>
                </a:gridCol>
              </a:tblGrid>
              <a:tr h="321679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 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W 11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Deliverables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8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04878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Phase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254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254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8105574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Avenir Book" panose="02000503020000020003" pitchFamily="2" charset="0"/>
                        </a:rPr>
                        <a:t>Diagnostic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Baseline KPI Dashboard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839230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Phase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2095791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Deep Dive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Opportunity Matrix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4937812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Phase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47335055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Strategy Design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Implementation Blueprint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2184861"/>
                  </a:ext>
                </a:extLst>
              </a:tr>
              <a:tr h="387534">
                <a:tc gridSpan="13"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Phase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42570555"/>
                  </a:ext>
                </a:extLst>
              </a:tr>
              <a:tr h="546854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latin typeface="Avenir Book" panose="02000503020000020003" pitchFamily="2" charset="0"/>
                        </a:rPr>
                        <a:t>Validation</a:t>
                      </a: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Avenir Book" panose="02000503020000020003" pitchFamily="2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33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dirty="0">
                          <a:latin typeface="Avenir Book" panose="02000503020000020003" pitchFamily="2" charset="0"/>
                        </a:rPr>
                        <a:t>Financial Impact Model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3E7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8321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850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3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F1344-7A77-3C17-9F94-B005948A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3C0536E-190C-019C-8028-551B8A26C1B5}"/>
              </a:ext>
            </a:extLst>
          </p:cNvPr>
          <p:cNvSpPr/>
          <p:nvPr/>
        </p:nvSpPr>
        <p:spPr>
          <a:xfrm>
            <a:off x="509753" y="5869326"/>
            <a:ext cx="3542105" cy="463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273CE-C0F9-BE9A-D794-EBB7DF2E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39" y="403819"/>
            <a:ext cx="6844990" cy="1325563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rgbClr val="ABE534"/>
                </a:solidFill>
                <a:latin typeface="Avenir Heavy" panose="02000503020000020003" pitchFamily="2" charset="0"/>
              </a:rPr>
              <a:t>Operational insights &amp; efficiency opportunities</a:t>
            </a:r>
            <a:endParaRPr lang="en-US" b="1" dirty="0">
              <a:solidFill>
                <a:srgbClr val="ABE534"/>
              </a:solidFill>
              <a:latin typeface="Avenir Heavy" panose="02000503020000020003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1C8C94-71D0-1E75-78B0-0C62FDEE322A}"/>
              </a:ext>
            </a:extLst>
          </p:cNvPr>
          <p:cNvGrpSpPr/>
          <p:nvPr/>
        </p:nvGrpSpPr>
        <p:grpSpPr>
          <a:xfrm>
            <a:off x="11177796" y="1876097"/>
            <a:ext cx="564312" cy="551793"/>
            <a:chOff x="10833904" y="431457"/>
            <a:chExt cx="908204" cy="8880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0EAC2F8-C0CC-1AFB-CF1B-3261151D4B9E}"/>
                </a:ext>
              </a:extLst>
            </p:cNvPr>
            <p:cNvCxnSpPr>
              <a:cxnSpLocks/>
            </p:cNvCxnSpPr>
            <p:nvPr/>
          </p:nvCxnSpPr>
          <p:spPr>
            <a:xfrm>
              <a:off x="10833904" y="431457"/>
              <a:ext cx="908204" cy="0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74D7D64-64ED-3D68-94C3-65C7E550E436}"/>
                </a:ext>
              </a:extLst>
            </p:cNvPr>
            <p:cNvCxnSpPr>
              <a:cxnSpLocks/>
            </p:cNvCxnSpPr>
            <p:nvPr/>
          </p:nvCxnSpPr>
          <p:spPr>
            <a:xfrm>
              <a:off x="11742108" y="431457"/>
              <a:ext cx="0" cy="888056"/>
            </a:xfrm>
            <a:prstGeom prst="line">
              <a:avLst/>
            </a:prstGeom>
            <a:ln w="6350">
              <a:solidFill>
                <a:srgbClr val="0A333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Snip Single Corner of Rectangle 10">
            <a:extLst>
              <a:ext uri="{FF2B5EF4-FFF2-40B4-BE49-F238E27FC236}">
                <a16:creationId xmlns:a16="http://schemas.microsoft.com/office/drawing/2014/main" id="{7C87BD79-594C-A7EB-F29D-4BC6ABE19875}"/>
              </a:ext>
            </a:extLst>
          </p:cNvPr>
          <p:cNvSpPr/>
          <p:nvPr/>
        </p:nvSpPr>
        <p:spPr>
          <a:xfrm>
            <a:off x="8140263" y="2320055"/>
            <a:ext cx="3527012" cy="3549271"/>
          </a:xfrm>
          <a:prstGeom prst="snip1Rect">
            <a:avLst>
              <a:gd name="adj" fmla="val 1290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3A0D143-2BE4-FCBF-E84C-D738B4BA96BB}"/>
              </a:ext>
            </a:extLst>
          </p:cNvPr>
          <p:cNvSpPr txBox="1">
            <a:spLocks/>
          </p:cNvSpPr>
          <p:nvPr/>
        </p:nvSpPr>
        <p:spPr>
          <a:xfrm>
            <a:off x="7358763" y="842556"/>
            <a:ext cx="4309237" cy="775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Quantitative analysis uncovered inefficiencies and improvement levers across claims, underwriting, and customer experience.</a:t>
            </a:r>
          </a:p>
        </p:txBody>
      </p:sp>
      <p:sp>
        <p:nvSpPr>
          <p:cNvPr id="15" name="Snip Single Corner of Rectangle 14">
            <a:extLst>
              <a:ext uri="{FF2B5EF4-FFF2-40B4-BE49-F238E27FC236}">
                <a16:creationId xmlns:a16="http://schemas.microsoft.com/office/drawing/2014/main" id="{19CF9B3E-061F-53D8-1B50-04519CEF6498}"/>
              </a:ext>
            </a:extLst>
          </p:cNvPr>
          <p:cNvSpPr/>
          <p:nvPr/>
        </p:nvSpPr>
        <p:spPr>
          <a:xfrm>
            <a:off x="4325008" y="2320055"/>
            <a:ext cx="3527012" cy="3549271"/>
          </a:xfrm>
          <a:prstGeom prst="snip1Rect">
            <a:avLst>
              <a:gd name="adj" fmla="val 1290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nip Single Corner of Rectangle 15">
            <a:extLst>
              <a:ext uri="{FF2B5EF4-FFF2-40B4-BE49-F238E27FC236}">
                <a16:creationId xmlns:a16="http://schemas.microsoft.com/office/drawing/2014/main" id="{62DC7C83-322F-917F-EA8F-2006700BFDD8}"/>
              </a:ext>
            </a:extLst>
          </p:cNvPr>
          <p:cNvSpPr/>
          <p:nvPr/>
        </p:nvSpPr>
        <p:spPr>
          <a:xfrm>
            <a:off x="509753" y="2320055"/>
            <a:ext cx="3527012" cy="3549271"/>
          </a:xfrm>
          <a:prstGeom prst="snip1Rect">
            <a:avLst>
              <a:gd name="adj" fmla="val 12906"/>
            </a:avLst>
          </a:prstGeom>
          <a:solidFill>
            <a:srgbClr val="ABE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B58B7E44-15C9-4370-ED1B-ACC7437601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2825895"/>
              </p:ext>
            </p:extLst>
          </p:nvPr>
        </p:nvGraphicFramePr>
        <p:xfrm>
          <a:off x="62581" y="2444966"/>
          <a:ext cx="4304587" cy="346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56DC7E9D-AAF6-C53D-92D2-F2837525DE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6597194"/>
              </p:ext>
            </p:extLst>
          </p:nvPr>
        </p:nvGraphicFramePr>
        <p:xfrm>
          <a:off x="4126691" y="2444966"/>
          <a:ext cx="3840750" cy="346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1EB47765-C8FC-57D2-9C5F-897BACB03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2434131"/>
              </p:ext>
            </p:extLst>
          </p:nvPr>
        </p:nvGraphicFramePr>
        <p:xfrm>
          <a:off x="7960138" y="2444966"/>
          <a:ext cx="3840750" cy="346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09E08F4D-8DA7-BD0B-2550-DDD94E7F5744}"/>
              </a:ext>
            </a:extLst>
          </p:cNvPr>
          <p:cNvSpPr txBox="1">
            <a:spLocks/>
          </p:cNvSpPr>
          <p:nvPr/>
        </p:nvSpPr>
        <p:spPr>
          <a:xfrm>
            <a:off x="2229243" y="5828227"/>
            <a:ext cx="1807522" cy="58844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Improvement</a:t>
            </a:r>
            <a:endParaRPr lang="en-US" sz="16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FCAA7D1-685D-4586-9882-19ED5D5E5040}"/>
              </a:ext>
            </a:extLst>
          </p:cNvPr>
          <p:cNvSpPr txBox="1">
            <a:spLocks/>
          </p:cNvSpPr>
          <p:nvPr/>
        </p:nvSpPr>
        <p:spPr>
          <a:xfrm>
            <a:off x="508576" y="5797990"/>
            <a:ext cx="1576545" cy="6909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400" b="1" dirty="0">
                <a:solidFill>
                  <a:schemeClr val="bg1"/>
                </a:solidFill>
                <a:latin typeface="Avenir Heavy" panose="02000503020000020003" pitchFamily="2" charset="0"/>
              </a:rPr>
              <a:t>–58%</a:t>
            </a:r>
            <a:endParaRPr lang="en-US" sz="2400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D4BC4E-AACF-672F-5E05-3E8F59DEF527}"/>
              </a:ext>
            </a:extLst>
          </p:cNvPr>
          <p:cNvSpPr/>
          <p:nvPr/>
        </p:nvSpPr>
        <p:spPr>
          <a:xfrm>
            <a:off x="4317824" y="5869326"/>
            <a:ext cx="3542105" cy="463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962CFC0-8F39-2FC1-07DE-04E2290C1DFF}"/>
              </a:ext>
            </a:extLst>
          </p:cNvPr>
          <p:cNvSpPr txBox="1">
            <a:spLocks/>
          </p:cNvSpPr>
          <p:nvPr/>
        </p:nvSpPr>
        <p:spPr>
          <a:xfrm>
            <a:off x="6055686" y="5828227"/>
            <a:ext cx="1801385" cy="58844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Improvement</a:t>
            </a:r>
            <a:endParaRPr lang="en-US" sz="16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5E535F3-7DFA-6125-0151-64ACE378B267}"/>
              </a:ext>
            </a:extLst>
          </p:cNvPr>
          <p:cNvSpPr txBox="1">
            <a:spLocks/>
          </p:cNvSpPr>
          <p:nvPr/>
        </p:nvSpPr>
        <p:spPr>
          <a:xfrm>
            <a:off x="4297624" y="5763265"/>
            <a:ext cx="1576545" cy="6909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400" b="1" dirty="0">
                <a:solidFill>
                  <a:schemeClr val="bg1"/>
                </a:solidFill>
                <a:latin typeface="Avenir Heavy" panose="02000503020000020003" pitchFamily="2" charset="0"/>
              </a:rPr>
              <a:t>–42 pts</a:t>
            </a:r>
            <a:endParaRPr lang="en-US" sz="2400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86FAC6-0BF2-D460-358A-40567DEB0F34}"/>
              </a:ext>
            </a:extLst>
          </p:cNvPr>
          <p:cNvSpPr/>
          <p:nvPr/>
        </p:nvSpPr>
        <p:spPr>
          <a:xfrm>
            <a:off x="8125895" y="5869326"/>
            <a:ext cx="3542105" cy="4635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859CCB58-FACA-9577-5B05-C15B438B3676}"/>
              </a:ext>
            </a:extLst>
          </p:cNvPr>
          <p:cNvSpPr txBox="1">
            <a:spLocks/>
          </p:cNvSpPr>
          <p:nvPr/>
        </p:nvSpPr>
        <p:spPr>
          <a:xfrm>
            <a:off x="9855787" y="5828227"/>
            <a:ext cx="1801385" cy="58844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Improvement</a:t>
            </a:r>
            <a:endParaRPr lang="en-US" sz="16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19AC0FFE-2236-3896-0927-A0381E95DB6D}"/>
              </a:ext>
            </a:extLst>
          </p:cNvPr>
          <p:cNvSpPr txBox="1">
            <a:spLocks/>
          </p:cNvSpPr>
          <p:nvPr/>
        </p:nvSpPr>
        <p:spPr>
          <a:xfrm>
            <a:off x="8120788" y="5763265"/>
            <a:ext cx="1576545" cy="6909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400" b="1" dirty="0">
                <a:solidFill>
                  <a:schemeClr val="bg1"/>
                </a:solidFill>
                <a:latin typeface="Avenir Heavy" panose="02000503020000020003" pitchFamily="2" charset="0"/>
              </a:rPr>
              <a:t>+42 pts</a:t>
            </a:r>
            <a:endParaRPr lang="en-US" sz="2400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3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6C3BF-F1A4-2D24-7F9B-A6B14943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nip Single Corner of Rectangle 13">
            <a:extLst>
              <a:ext uri="{FF2B5EF4-FFF2-40B4-BE49-F238E27FC236}">
                <a16:creationId xmlns:a16="http://schemas.microsoft.com/office/drawing/2014/main" id="{EC968A90-F1B8-3745-32B6-D8383D0577CB}"/>
              </a:ext>
            </a:extLst>
          </p:cNvPr>
          <p:cNvSpPr/>
          <p:nvPr/>
        </p:nvSpPr>
        <p:spPr>
          <a:xfrm rot="10800000" flipH="1">
            <a:off x="-3415" y="-774"/>
            <a:ext cx="6084425" cy="6847200"/>
          </a:xfrm>
          <a:prstGeom prst="snip1Rect">
            <a:avLst>
              <a:gd name="adj" fmla="val 30899"/>
            </a:avLst>
          </a:prstGeom>
          <a:blipFill dpi="0" rotWithShape="0">
            <a:blip r:embed="rId3" cstate="hqprint">
              <a:alphaModFix amt="4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 radius="46"/>
                      </a14:imgEffect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6B1CF-B5B0-664A-DE29-0C7DAAB3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93" y="1090339"/>
            <a:ext cx="5173141" cy="3208392"/>
          </a:xfrm>
        </p:spPr>
        <p:txBody>
          <a:bodyPr anchor="t">
            <a:no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Heavy" panose="02000503020000020003" pitchFamily="2" charset="0"/>
              </a:rPr>
              <a:t>Quantifying value creation across operations &amp; financial performance</a:t>
            </a:r>
            <a:endParaRPr lang="en-US" b="1" dirty="0">
              <a:solidFill>
                <a:schemeClr val="bg1"/>
              </a:solidFill>
              <a:latin typeface="Avenir Heavy" panose="02000503020000020003" pitchFamily="2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AB9E92-B56E-C330-7025-67F00F3C7D8C}"/>
              </a:ext>
            </a:extLst>
          </p:cNvPr>
          <p:cNvSpPr txBox="1">
            <a:spLocks/>
          </p:cNvSpPr>
          <p:nvPr/>
        </p:nvSpPr>
        <p:spPr>
          <a:xfrm>
            <a:off x="449893" y="4666953"/>
            <a:ext cx="4886605" cy="13324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8436828A-EF25-808C-6A43-B4AD259F43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9367215"/>
              </p:ext>
            </p:extLst>
          </p:nvPr>
        </p:nvGraphicFramePr>
        <p:xfrm>
          <a:off x="6534319" y="539647"/>
          <a:ext cx="5207787" cy="56512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39360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3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FF25C4-E911-E465-66AD-A98E7B66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AF8F1FF8-FB1B-829E-91A6-20D8DA6A52D0}"/>
              </a:ext>
            </a:extLst>
          </p:cNvPr>
          <p:cNvGrpSpPr/>
          <p:nvPr/>
        </p:nvGrpSpPr>
        <p:grpSpPr>
          <a:xfrm rot="10800000" flipV="1">
            <a:off x="1666765" y="4604592"/>
            <a:ext cx="5909969" cy="1125729"/>
            <a:chOff x="1580023" y="4418778"/>
            <a:chExt cx="5909969" cy="1125729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CEDDAD1-C37B-13FC-F936-F36278FA1AF4}"/>
                </a:ext>
              </a:extLst>
            </p:cNvPr>
            <p:cNvCxnSpPr>
              <a:cxnSpLocks/>
            </p:cNvCxnSpPr>
            <p:nvPr/>
          </p:nvCxnSpPr>
          <p:spPr>
            <a:xfrm>
              <a:off x="1580023" y="5544507"/>
              <a:ext cx="1928641" cy="0"/>
            </a:xfrm>
            <a:prstGeom prst="line">
              <a:avLst/>
            </a:prstGeom>
            <a:ln w="4953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9A9D8C-33AD-63B4-BCA4-27DAEE5921B3}"/>
                </a:ext>
              </a:extLst>
            </p:cNvPr>
            <p:cNvCxnSpPr>
              <a:cxnSpLocks/>
            </p:cNvCxnSpPr>
            <p:nvPr/>
          </p:nvCxnSpPr>
          <p:spPr>
            <a:xfrm>
              <a:off x="4701978" y="4418778"/>
              <a:ext cx="2788014" cy="13578"/>
            </a:xfrm>
            <a:prstGeom prst="line">
              <a:avLst/>
            </a:prstGeom>
            <a:ln w="4953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6E2CC28D-5C6C-7926-7FC1-E5A0A4694F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0197" y="4420244"/>
              <a:ext cx="1199370" cy="1124263"/>
            </a:xfrm>
            <a:prstGeom prst="curvedConnector3">
              <a:avLst>
                <a:gd name="adj1" fmla="val 50000"/>
              </a:avLst>
            </a:prstGeom>
            <a:ln w="495300">
              <a:solidFill>
                <a:srgbClr val="ABE53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5584E5E-2216-33FE-3CE7-33C3A6B1273E}"/>
              </a:ext>
            </a:extLst>
          </p:cNvPr>
          <p:cNvCxnSpPr>
            <a:cxnSpLocks/>
          </p:cNvCxnSpPr>
          <p:nvPr/>
        </p:nvCxnSpPr>
        <p:spPr>
          <a:xfrm>
            <a:off x="1630456" y="4609476"/>
            <a:ext cx="4588228" cy="0"/>
          </a:xfrm>
          <a:prstGeom prst="line">
            <a:avLst/>
          </a:prstGeom>
          <a:ln w="508000">
            <a:solidFill>
              <a:srgbClr val="1F8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nip Single Corner of Rectangle 4">
            <a:extLst>
              <a:ext uri="{FF2B5EF4-FFF2-40B4-BE49-F238E27FC236}">
                <a16:creationId xmlns:a16="http://schemas.microsoft.com/office/drawing/2014/main" id="{1B5C2337-627C-7F07-1CE4-A701E29074FF}"/>
              </a:ext>
            </a:extLst>
          </p:cNvPr>
          <p:cNvSpPr/>
          <p:nvPr/>
        </p:nvSpPr>
        <p:spPr>
          <a:xfrm>
            <a:off x="6218684" y="4183619"/>
            <a:ext cx="844508" cy="844423"/>
          </a:xfrm>
          <a:prstGeom prst="snip1Rect">
            <a:avLst>
              <a:gd name="adj" fmla="val 12906"/>
            </a:avLst>
          </a:prstGeom>
          <a:solidFill>
            <a:schemeClr val="bg1"/>
          </a:solidFill>
          <a:ln w="31750">
            <a:solidFill>
              <a:srgbClr val="0A3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nip Single Corner of Rectangle 5">
            <a:extLst>
              <a:ext uri="{FF2B5EF4-FFF2-40B4-BE49-F238E27FC236}">
                <a16:creationId xmlns:a16="http://schemas.microsoft.com/office/drawing/2014/main" id="{D03D1975-3589-72F3-98A1-252E8B6F2CED}"/>
              </a:ext>
            </a:extLst>
          </p:cNvPr>
          <p:cNvSpPr/>
          <p:nvPr/>
        </p:nvSpPr>
        <p:spPr>
          <a:xfrm>
            <a:off x="7576734" y="5295770"/>
            <a:ext cx="844508" cy="844423"/>
          </a:xfrm>
          <a:prstGeom prst="snip1Rect">
            <a:avLst>
              <a:gd name="adj" fmla="val 12906"/>
            </a:avLst>
          </a:prstGeom>
          <a:solidFill>
            <a:schemeClr val="bg1"/>
          </a:solidFill>
          <a:ln w="31750">
            <a:solidFill>
              <a:srgbClr val="0A3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F52148-FE45-3A6D-1A55-475F11EF6034}"/>
              </a:ext>
            </a:extLst>
          </p:cNvPr>
          <p:cNvCxnSpPr>
            <a:cxnSpLocks/>
          </p:cNvCxnSpPr>
          <p:nvPr/>
        </p:nvCxnSpPr>
        <p:spPr>
          <a:xfrm>
            <a:off x="1672789" y="4605831"/>
            <a:ext cx="1980538" cy="0"/>
          </a:xfrm>
          <a:prstGeom prst="line">
            <a:avLst/>
          </a:prstGeom>
          <a:ln w="508000">
            <a:solidFill>
              <a:srgbClr val="DFF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21BA79-EA08-9547-78E6-D5A98B01CDFC}"/>
              </a:ext>
            </a:extLst>
          </p:cNvPr>
          <p:cNvCxnSpPr>
            <a:cxnSpLocks/>
          </p:cNvCxnSpPr>
          <p:nvPr/>
        </p:nvCxnSpPr>
        <p:spPr>
          <a:xfrm>
            <a:off x="4794744" y="3480102"/>
            <a:ext cx="2788014" cy="13578"/>
          </a:xfrm>
          <a:prstGeom prst="line">
            <a:avLst/>
          </a:prstGeom>
          <a:ln w="508000">
            <a:solidFill>
              <a:srgbClr val="DFF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0308F06B-9F52-3429-9146-15EB002B6F69}"/>
              </a:ext>
            </a:extLst>
          </p:cNvPr>
          <p:cNvCxnSpPr>
            <a:cxnSpLocks/>
          </p:cNvCxnSpPr>
          <p:nvPr/>
        </p:nvCxnSpPr>
        <p:spPr>
          <a:xfrm flipV="1">
            <a:off x="3601430" y="3481568"/>
            <a:ext cx="1199370" cy="1124263"/>
          </a:xfrm>
          <a:prstGeom prst="curvedConnector3">
            <a:avLst>
              <a:gd name="adj1" fmla="val 50000"/>
            </a:avLst>
          </a:prstGeom>
          <a:ln w="508000">
            <a:solidFill>
              <a:srgbClr val="DFF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3C4D77C9-6C3C-4D6F-DCC6-E1F1E4079CE1}"/>
              </a:ext>
            </a:extLst>
          </p:cNvPr>
          <p:cNvSpPr/>
          <p:nvPr/>
        </p:nvSpPr>
        <p:spPr>
          <a:xfrm>
            <a:off x="536951" y="3832263"/>
            <a:ext cx="1567584" cy="1567425"/>
          </a:xfrm>
          <a:prstGeom prst="snip1Rect">
            <a:avLst>
              <a:gd name="adj" fmla="val 12906"/>
            </a:avLst>
          </a:prstGeom>
          <a:solidFill>
            <a:srgbClr val="0A3330"/>
          </a:solidFill>
          <a:ln>
            <a:solidFill>
              <a:srgbClr val="DFF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EF9B157B-46DA-C0F3-DEDA-61C613356604}"/>
              </a:ext>
            </a:extLst>
          </p:cNvPr>
          <p:cNvSpPr/>
          <p:nvPr/>
        </p:nvSpPr>
        <p:spPr>
          <a:xfrm>
            <a:off x="7455855" y="3053381"/>
            <a:ext cx="844508" cy="844423"/>
          </a:xfrm>
          <a:prstGeom prst="snip1Rect">
            <a:avLst>
              <a:gd name="adj" fmla="val 12906"/>
            </a:avLst>
          </a:prstGeom>
          <a:solidFill>
            <a:schemeClr val="bg1"/>
          </a:solidFill>
          <a:ln w="31750">
            <a:solidFill>
              <a:srgbClr val="0A3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5C4AAD26-BFF6-CB10-7D2B-2BCB196C6559}"/>
              </a:ext>
            </a:extLst>
          </p:cNvPr>
          <p:cNvSpPr txBox="1">
            <a:spLocks/>
          </p:cNvSpPr>
          <p:nvPr/>
        </p:nvSpPr>
        <p:spPr>
          <a:xfrm>
            <a:off x="7455855" y="3097659"/>
            <a:ext cx="844509" cy="7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spc="-150" dirty="0">
                <a:solidFill>
                  <a:srgbClr val="0A3330"/>
                </a:solidFill>
                <a:latin typeface="Avenir Heavy" panose="02000503020000020003" pitchFamily="2" charset="0"/>
              </a:rPr>
              <a:t>12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CB73ACE-CA03-BF90-1A74-C52C6B49AB34}"/>
              </a:ext>
            </a:extLst>
          </p:cNvPr>
          <p:cNvSpPr txBox="1">
            <a:spLocks/>
          </p:cNvSpPr>
          <p:nvPr/>
        </p:nvSpPr>
        <p:spPr>
          <a:xfrm>
            <a:off x="8421242" y="3208863"/>
            <a:ext cx="3320865" cy="666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12-day claim cycle vs. </a:t>
            </a:r>
            <a:b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</a:b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5-day industry benchmark.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660200EA-DB31-010E-897D-C30C96605D54}"/>
              </a:ext>
            </a:extLst>
          </p:cNvPr>
          <p:cNvSpPr txBox="1">
            <a:spLocks/>
          </p:cNvSpPr>
          <p:nvPr/>
        </p:nvSpPr>
        <p:spPr>
          <a:xfrm>
            <a:off x="6206919" y="4222245"/>
            <a:ext cx="898419" cy="7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spc="-150" dirty="0">
                <a:solidFill>
                  <a:srgbClr val="0A3330"/>
                </a:solidFill>
                <a:latin typeface="Avenir Heavy" panose="02000503020000020003" pitchFamily="2" charset="0"/>
              </a:rPr>
              <a:t>42%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391E4B8D-ACEE-874C-4E4A-19609C385CB5}"/>
              </a:ext>
            </a:extLst>
          </p:cNvPr>
          <p:cNvSpPr txBox="1">
            <a:spLocks/>
          </p:cNvSpPr>
          <p:nvPr/>
        </p:nvSpPr>
        <p:spPr>
          <a:xfrm>
            <a:off x="7183457" y="4335136"/>
            <a:ext cx="3484543" cy="666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42 % process acceleration, </a:t>
            </a:r>
            <a:b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</a:b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18 % system redundancy reduction.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BB5E8A97-517D-D728-0183-1D04AB73AE54}"/>
              </a:ext>
            </a:extLst>
          </p:cNvPr>
          <p:cNvSpPr txBox="1">
            <a:spLocks/>
          </p:cNvSpPr>
          <p:nvPr/>
        </p:nvSpPr>
        <p:spPr>
          <a:xfrm>
            <a:off x="7545065" y="5324981"/>
            <a:ext cx="898419" cy="75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spc="-150" dirty="0">
                <a:solidFill>
                  <a:srgbClr val="0A3330"/>
                </a:solidFill>
                <a:latin typeface="Avenir Heavy" panose="02000503020000020003" pitchFamily="2" charset="0"/>
              </a:rPr>
              <a:t>22%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61DA7B13-E109-41AD-E504-740EEE75F25E}"/>
              </a:ext>
            </a:extLst>
          </p:cNvPr>
          <p:cNvSpPr txBox="1">
            <a:spLocks/>
          </p:cNvSpPr>
          <p:nvPr/>
        </p:nvSpPr>
        <p:spPr>
          <a:xfrm>
            <a:off x="8538265" y="5295771"/>
            <a:ext cx="3320865" cy="8142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+22 % operating margin uplift, 210 % ROI within 12 months.</a:t>
            </a:r>
          </a:p>
        </p:txBody>
      </p:sp>
      <p:pic>
        <p:nvPicPr>
          <p:cNvPr id="49" name="Picture 48" descr="A green shield with a white paper and a check mark&#10;&#10;AI-generated content may be incorrect.">
            <a:extLst>
              <a:ext uri="{FF2B5EF4-FFF2-40B4-BE49-F238E27FC236}">
                <a16:creationId xmlns:a16="http://schemas.microsoft.com/office/drawing/2014/main" id="{F31B7AE2-37FD-870A-3452-98CC6C4FADD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361" y="3987789"/>
            <a:ext cx="1260764" cy="1260764"/>
          </a:xfrm>
          <a:prstGeom prst="rect">
            <a:avLst/>
          </a:prstGeom>
        </p:spPr>
      </p:pic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52244D5E-E349-E767-E790-DF34D71B7F1E}"/>
              </a:ext>
            </a:extLst>
          </p:cNvPr>
          <p:cNvSpPr txBox="1">
            <a:spLocks/>
          </p:cNvSpPr>
          <p:nvPr/>
        </p:nvSpPr>
        <p:spPr>
          <a:xfrm>
            <a:off x="566918" y="5499200"/>
            <a:ext cx="1583997" cy="610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600" dirty="0">
                <a:solidFill>
                  <a:srgbClr val="ABE534"/>
                </a:solidFill>
                <a:latin typeface="Avenir Book" panose="02000503020000020003" pitchFamily="2" charset="0"/>
              </a:rPr>
              <a:t>Operational assessment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FE7A7BA-8948-9735-883C-78737599183A}"/>
              </a:ext>
            </a:extLst>
          </p:cNvPr>
          <p:cNvSpPr txBox="1">
            <a:spLocks/>
          </p:cNvSpPr>
          <p:nvPr/>
        </p:nvSpPr>
        <p:spPr>
          <a:xfrm>
            <a:off x="509239" y="403819"/>
            <a:ext cx="68495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ABE534"/>
                </a:solidFill>
                <a:latin typeface="Avenir Heavy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GB" dirty="0"/>
              <a:t>Transformation pathway:</a:t>
            </a:r>
            <a:br>
              <a:rPr lang="en-GB" dirty="0"/>
            </a:br>
            <a:r>
              <a:rPr lang="en-GB" dirty="0"/>
              <a:t>diagnosis to impact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B5CEF1-411C-14D9-A89F-5936F70E3468}"/>
              </a:ext>
            </a:extLst>
          </p:cNvPr>
          <p:cNvSpPr txBox="1">
            <a:spLocks/>
          </p:cNvSpPr>
          <p:nvPr/>
        </p:nvSpPr>
        <p:spPr>
          <a:xfrm>
            <a:off x="509239" y="1897883"/>
            <a:ext cx="5141076" cy="775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The insurance sector is experiencing rising operational pressure from increasing claim volumes, outdated systems, and evolving customer expectations.</a:t>
            </a:r>
          </a:p>
        </p:txBody>
      </p:sp>
    </p:spTree>
    <p:extLst>
      <p:ext uri="{BB962C8B-B14F-4D97-AF65-F5344CB8AC3E}">
        <p14:creationId xmlns:p14="http://schemas.microsoft.com/office/powerpoint/2010/main" val="2023891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25010-153C-66BD-15AA-D280E3F2B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984E94F2-6042-0585-C439-529FD64438E0}"/>
              </a:ext>
            </a:extLst>
          </p:cNvPr>
          <p:cNvSpPr/>
          <p:nvPr/>
        </p:nvSpPr>
        <p:spPr>
          <a:xfrm>
            <a:off x="524718" y="4181708"/>
            <a:ext cx="10949887" cy="2009851"/>
          </a:xfrm>
          <a:prstGeom prst="snip1Rect">
            <a:avLst>
              <a:gd name="adj" fmla="val 21846"/>
            </a:avLst>
          </a:prstGeom>
          <a:solidFill>
            <a:srgbClr val="0A3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64802-1591-2F12-3201-68FBD8401BF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14397" y="4503109"/>
            <a:ext cx="4502150" cy="395287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ABE534"/>
                </a:solidFill>
                <a:latin typeface="Avenir Book" panose="02000503020000020003" pitchFamily="2" charset="0"/>
              </a:rPr>
              <a:t>ABC Holding Group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F271C8-DD23-72E4-A92B-D1BC0FB89725}"/>
              </a:ext>
            </a:extLst>
          </p:cNvPr>
          <p:cNvCxnSpPr>
            <a:cxnSpLocks/>
          </p:cNvCxnSpPr>
          <p:nvPr/>
        </p:nvCxnSpPr>
        <p:spPr>
          <a:xfrm>
            <a:off x="524719" y="6191560"/>
            <a:ext cx="10949886" cy="0"/>
          </a:xfrm>
          <a:prstGeom prst="line">
            <a:avLst/>
          </a:prstGeom>
          <a:ln w="76200">
            <a:solidFill>
              <a:srgbClr val="ABE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EC1BA45-DE32-3EFC-85FD-35E3B5A61520}"/>
              </a:ext>
            </a:extLst>
          </p:cNvPr>
          <p:cNvSpPr txBox="1">
            <a:spLocks/>
          </p:cNvSpPr>
          <p:nvPr/>
        </p:nvSpPr>
        <p:spPr>
          <a:xfrm>
            <a:off x="8320403" y="4503109"/>
            <a:ext cx="2957200" cy="13670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123-456-789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Media@abcholding.group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www.abcholding.group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5</a:t>
            </a:r>
            <a:r>
              <a:rPr lang="en-GB" sz="1600" baseline="30000" dirty="0">
                <a:solidFill>
                  <a:schemeClr val="bg1"/>
                </a:solidFill>
                <a:latin typeface="Avenir Book" panose="02000503020000020003" pitchFamily="2" charset="0"/>
              </a:rPr>
              <a:t>th</a:t>
            </a:r>
            <a:r>
              <a:rPr lang="en-GB" sz="1600" dirty="0">
                <a:solidFill>
                  <a:schemeClr val="bg1"/>
                </a:solidFill>
                <a:latin typeface="Avenir Book" panose="02000503020000020003" pitchFamily="2" charset="0"/>
              </a:rPr>
              <a:t> Avenue, New York US</a:t>
            </a:r>
          </a:p>
        </p:txBody>
      </p:sp>
    </p:spTree>
    <p:extLst>
      <p:ext uri="{BB962C8B-B14F-4D97-AF65-F5344CB8AC3E}">
        <p14:creationId xmlns:p14="http://schemas.microsoft.com/office/powerpoint/2010/main" val="2850781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844016c-0c50-4da6-8b82-860d6f605335">
      <Terms xmlns="http://schemas.microsoft.com/office/infopath/2007/PartnerControls"/>
    </lcf76f155ced4ddcb4097134ff3c332f>
    <TaxCatchAll xmlns="c462f2cf-72a5-4d94-863f-876efe88e18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CA834DC3A7C6408CC7CDD43288D673" ma:contentTypeVersion="14" ma:contentTypeDescription="Create a new document." ma:contentTypeScope="" ma:versionID="ac91173658e3a86f30ed4a847a273d24">
  <xsd:schema xmlns:xsd="http://www.w3.org/2001/XMLSchema" xmlns:xs="http://www.w3.org/2001/XMLSchema" xmlns:p="http://schemas.microsoft.com/office/2006/metadata/properties" xmlns:ns2="2844016c-0c50-4da6-8b82-860d6f605335" xmlns:ns3="c462f2cf-72a5-4d94-863f-876efe88e181" targetNamespace="http://schemas.microsoft.com/office/2006/metadata/properties" ma:root="true" ma:fieldsID="4c0630e1dff526c339373395ce8b63c6" ns2:_="" ns3:_="">
    <xsd:import namespace="2844016c-0c50-4da6-8b82-860d6f605335"/>
    <xsd:import namespace="c462f2cf-72a5-4d94-863f-876efe88e18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4016c-0c50-4da6-8b82-860d6f60533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6e55408-b488-4806-928c-04569d5b07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2f2cf-72a5-4d94-863f-876efe88e18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bdd9747-1658-4f9d-a970-3baf5d1f95b7}" ma:internalName="TaxCatchAll" ma:showField="CatchAllData" ma:web="c462f2cf-72a5-4d94-863f-876efe88e1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55393E-E18D-40CD-BA0A-0907420778B6}">
  <ds:schemaRefs>
    <ds:schemaRef ds:uri="2844016c-0c50-4da6-8b82-860d6f605335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c462f2cf-72a5-4d94-863f-876efe88e181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1654F58-0880-4349-8953-77E35EDA93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EB257B-357F-4F27-BDAB-19E9F8EF1F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4016c-0c50-4da6-8b82-860d6f605335"/>
    <ds:schemaRef ds:uri="c462f2cf-72a5-4d94-863f-876efe88e1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466</Words>
  <Application>Microsoft Macintosh PowerPoint</Application>
  <PresentationFormat>Widescreen</PresentationFormat>
  <Paragraphs>104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Avenir Book</vt:lpstr>
      <vt:lpstr>Avenir Heavy</vt:lpstr>
      <vt:lpstr>Avenir Medium</vt:lpstr>
      <vt:lpstr>Office Theme</vt:lpstr>
      <vt:lpstr>1_Office Theme</vt:lpstr>
      <vt:lpstr>INSURANCE CONSULTING PROPOSAL TEMPLATE</vt:lpstr>
      <vt:lpstr>Guideline</vt:lpstr>
      <vt:lpstr>Unlocking operational value through data-driven strategy</vt:lpstr>
      <vt:lpstr>Operational inefficiencies hindering insurance performance</vt:lpstr>
      <vt:lpstr>Operational diagnostics vs. Financial validation</vt:lpstr>
      <vt:lpstr>The need for transformation in a shifting insurance landscape</vt:lpstr>
      <vt:lpstr>From assessment to execution 12-week consulting journey</vt:lpstr>
      <vt:lpstr>Operational insights &amp; efficiency opportunities</vt:lpstr>
      <vt:lpstr>Quantifying value creation across operations &amp; financial performance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Farin Sadiq</dc:creator>
  <cp:lastModifiedBy>Oona Gleeson</cp:lastModifiedBy>
  <cp:revision>6</cp:revision>
  <dcterms:created xsi:type="dcterms:W3CDTF">2025-10-29T17:38:42Z</dcterms:created>
  <dcterms:modified xsi:type="dcterms:W3CDTF">2026-01-29T19:51:13Z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0x01010011CA834DC3A7C6408CC7CDD43288D673</vt:lpwstr>
  </property>
  <property fmtid="{D5CDD505-2E9C-101B-9397-08002B2CF9AE}" pid="3" name="MediaServiceImageTags">
    <vt:lpwstr/>
  </property>
</Properties>
</file>