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2" r:id="rId3"/>
    <p:sldId id="273" r:id="rId4"/>
    <p:sldId id="274" r:id="rId5"/>
    <p:sldId id="275" r:id="rId6"/>
    <p:sldId id="277" r:id="rId7"/>
    <p:sldId id="278" r:id="rId8"/>
    <p:sldId id="279" r:id="rId9"/>
    <p:sldId id="280" r:id="rId10"/>
    <p:sldId id="281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6" userDrawn="1">
          <p15:clr>
            <a:srgbClr val="A4A3A4"/>
          </p15:clr>
        </p15:guide>
        <p15:guide id="2" orient="horz" pos="1711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22B"/>
    <a:srgbClr val="30B07F"/>
    <a:srgbClr val="008050"/>
    <a:srgbClr val="95DDC5"/>
    <a:srgbClr val="004C2F"/>
    <a:srgbClr val="D66363"/>
    <a:srgbClr val="E0AB65"/>
    <a:srgbClr val="E6D470"/>
    <a:srgbClr val="07E993"/>
    <a:srgbClr val="8F2C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F5A3B-0F36-0CFA-37A3-C73EBDBEE453}" v="5" dt="2025-10-31T00:21:02.421"/>
    <p1510:client id="{50369C6F-C2F0-71BE-EA77-443548F53B6C}" v="2918" dt="2025-10-31T00:12:47.549"/>
    <p1510:client id="{5A0482CE-A5C0-AA9F-95E5-0691D7E526F2}" v="3477" dt="2025-10-31T20:53:07.7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18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312" y="168"/>
      </p:cViewPr>
      <p:guideLst>
        <p:guide orient="horz" pos="1106"/>
        <p:guide orient="horz" pos="171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3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1.png"/><Relationship Id="rId18" Type="http://schemas.openxmlformats.org/officeDocument/2006/relationships/image" Target="../media/image31.sv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0.svg"/><Relationship Id="rId17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28.png"/><Relationship Id="rId10" Type="http://schemas.openxmlformats.org/officeDocument/2006/relationships/image" Target="../media/image27.svg"/><Relationship Id="rId4" Type="http://schemas.openxmlformats.org/officeDocument/2006/relationships/image" Target="../media/image3.svg"/><Relationship Id="rId9" Type="http://schemas.openxmlformats.org/officeDocument/2006/relationships/image" Target="../media/image26.png"/><Relationship Id="rId1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arallelogram 38">
            <a:extLst>
              <a:ext uri="{FF2B5EF4-FFF2-40B4-BE49-F238E27FC236}">
                <a16:creationId xmlns:a16="http://schemas.microsoft.com/office/drawing/2014/main" id="{771693A9-2EE0-2B39-B8E0-2C8DB109CE4D}"/>
              </a:ext>
            </a:extLst>
          </p:cNvPr>
          <p:cNvSpPr/>
          <p:nvPr/>
        </p:nvSpPr>
        <p:spPr>
          <a:xfrm>
            <a:off x="-290700" y="6272234"/>
            <a:ext cx="10112427" cy="667919"/>
          </a:xfrm>
          <a:prstGeom prst="parallelogram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CA4AF2B1-7B7E-29B4-5D81-BEA8CEBD5DDE}"/>
              </a:ext>
            </a:extLst>
          </p:cNvPr>
          <p:cNvSpPr txBox="1">
            <a:spLocks/>
          </p:cNvSpPr>
          <p:nvPr/>
        </p:nvSpPr>
        <p:spPr>
          <a:xfrm>
            <a:off x="607415" y="1507030"/>
            <a:ext cx="7591712" cy="10280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dirty="0">
                <a:solidFill>
                  <a:srgbClr val="30B07F"/>
                </a:solidFill>
                <a:latin typeface="Consolas"/>
                <a:ea typeface="Gulim"/>
                <a:cs typeface="Arial"/>
              </a:rPr>
              <a:t>Expert </a:t>
            </a:r>
            <a:r>
              <a:rPr lang="en-US" sz="7200" dirty="0" err="1">
                <a:solidFill>
                  <a:srgbClr val="30B07F"/>
                </a:solidFill>
                <a:latin typeface="Consolas"/>
                <a:ea typeface="Gulim"/>
                <a:cs typeface="Arial"/>
              </a:rPr>
              <a:t>FinTECH</a:t>
            </a:r>
            <a:endParaRPr lang="en-US" sz="7200" dirty="0">
              <a:solidFill>
                <a:srgbClr val="30B07F"/>
              </a:solidFill>
              <a:latin typeface="Consolas"/>
              <a:ea typeface="Gulim"/>
              <a:cs typeface="Arial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36E0151-846A-DAFE-7D80-840FACCEAE79}"/>
              </a:ext>
            </a:extLst>
          </p:cNvPr>
          <p:cNvSpPr txBox="1">
            <a:spLocks/>
          </p:cNvSpPr>
          <p:nvPr/>
        </p:nvSpPr>
        <p:spPr>
          <a:xfrm>
            <a:off x="607415" y="2532005"/>
            <a:ext cx="9144000" cy="4908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rgbClr val="FFFFFF"/>
                </a:solidFill>
                <a:latin typeface="Consolas"/>
                <a:cs typeface="Arial"/>
              </a:rPr>
              <a:t>CONSULTING DECK TEMPLATE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3B0B5F-C865-4184-FFC9-63978D3415CF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Corbel"/>
                <a:cs typeface="Arial"/>
              </a:rPr>
              <a:t>01  Section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64C7BD27-9B79-8B56-6E84-9667E80021F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53D0F1F-F946-938A-79D3-3E4B0176A3B9}"/>
              </a:ext>
            </a:extLst>
          </p:cNvPr>
          <p:cNvGrpSpPr/>
          <p:nvPr/>
        </p:nvGrpSpPr>
        <p:grpSpPr>
          <a:xfrm>
            <a:off x="3620153" y="2535073"/>
            <a:ext cx="7781605" cy="3968052"/>
            <a:chOff x="3620153" y="2535073"/>
            <a:chExt cx="7781605" cy="3968052"/>
          </a:xfrm>
        </p:grpSpPr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85379D2-EC42-DE32-57FF-F707734F94B6}"/>
                </a:ext>
              </a:extLst>
            </p:cNvPr>
            <p:cNvSpPr/>
            <p:nvPr/>
          </p:nvSpPr>
          <p:spPr>
            <a:xfrm>
              <a:off x="3620153" y="5835206"/>
              <a:ext cx="40388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876A751-AAC7-C2B4-E3B6-E257B5F8C69B}"/>
                </a:ext>
              </a:extLst>
            </p:cNvPr>
            <p:cNvSpPr/>
            <p:nvPr/>
          </p:nvSpPr>
          <p:spPr>
            <a:xfrm>
              <a:off x="7110786" y="3157001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DF7AE55-60DB-FE05-6541-FD2FB7531600}"/>
                </a:ext>
              </a:extLst>
            </p:cNvPr>
            <p:cNvSpPr/>
            <p:nvPr/>
          </p:nvSpPr>
          <p:spPr>
            <a:xfrm>
              <a:off x="5278624" y="3493177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EE193D2A-4FFC-407F-E4E2-EEDCB2FE25CE}"/>
                </a:ext>
              </a:extLst>
            </p:cNvPr>
            <p:cNvSpPr/>
            <p:nvPr/>
          </p:nvSpPr>
          <p:spPr>
            <a:xfrm>
              <a:off x="8304211" y="4255175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85023978-DA1D-F93A-1939-A0029558D297}"/>
                </a:ext>
              </a:extLst>
            </p:cNvPr>
            <p:cNvSpPr/>
            <p:nvPr/>
          </p:nvSpPr>
          <p:spPr>
            <a:xfrm>
              <a:off x="8858901" y="4669795"/>
              <a:ext cx="19377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109D4610-CE69-B119-7BD2-AF9571EA8F89}"/>
                </a:ext>
              </a:extLst>
            </p:cNvPr>
            <p:cNvSpPr/>
            <p:nvPr/>
          </p:nvSpPr>
          <p:spPr>
            <a:xfrm>
              <a:off x="10293254" y="2535073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9EAD3827-0573-0291-279D-6FFFCDCAB355}"/>
                </a:ext>
              </a:extLst>
            </p:cNvPr>
            <p:cNvSpPr/>
            <p:nvPr/>
          </p:nvSpPr>
          <p:spPr>
            <a:xfrm>
              <a:off x="5799696" y="4630574"/>
              <a:ext cx="1209357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E70DD2E-052F-F475-2077-5A6B77793CBC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008050"/>
                </a:solidFill>
                <a:latin typeface="Corbel"/>
              </a:rPr>
              <a:t>Company Name</a:t>
            </a:r>
            <a:endParaRPr lang="en-US" sz="1200">
              <a:solidFill>
                <a:srgbClr val="008050"/>
              </a:solidFill>
              <a:latin typeface="Corbel"/>
            </a:endParaRPr>
          </a:p>
        </p:txBody>
      </p: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1E4707B0-FABC-C598-3EFA-CAE35A681814}"/>
              </a:ext>
            </a:extLst>
          </p:cNvPr>
          <p:cNvSpPr/>
          <p:nvPr/>
        </p:nvSpPr>
        <p:spPr>
          <a:xfrm>
            <a:off x="2684461" y="6255426"/>
            <a:ext cx="1282194" cy="247699"/>
          </a:xfrm>
          <a:prstGeom prst="parallelogram">
            <a:avLst/>
          </a:prstGeom>
          <a:solidFill>
            <a:srgbClr val="11322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7873AB4C-967B-682D-2E21-23AD87DDA5C6}"/>
              </a:ext>
            </a:extLst>
          </p:cNvPr>
          <p:cNvSpPr/>
          <p:nvPr/>
        </p:nvSpPr>
        <p:spPr>
          <a:xfrm>
            <a:off x="3838667" y="6602809"/>
            <a:ext cx="643459" cy="264506"/>
          </a:xfrm>
          <a:prstGeom prst="parallelogram">
            <a:avLst/>
          </a:prstGeom>
          <a:solidFill>
            <a:srgbClr val="11322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897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AF7AE-6B21-C10B-4B48-8E8BF9AD1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16E1FE2-C665-1A63-FFD9-ECB44086017E}"/>
              </a:ext>
            </a:extLst>
          </p:cNvPr>
          <p:cNvSpPr/>
          <p:nvPr/>
        </p:nvSpPr>
        <p:spPr>
          <a:xfrm>
            <a:off x="8119780" y="-1"/>
            <a:ext cx="4074833" cy="3138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420D4F-DFFF-CD51-D152-193E9BC8FEF9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02  Section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129D3784-0B8F-BFD2-2512-852FAD5A838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3165796-2E5E-6C1C-C2D9-BA264C306443}"/>
              </a:ext>
            </a:extLst>
          </p:cNvPr>
          <p:cNvSpPr/>
          <p:nvPr/>
        </p:nvSpPr>
        <p:spPr>
          <a:xfrm>
            <a:off x="-4484" y="0"/>
            <a:ext cx="4069231" cy="6406789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595032-DC9E-F8AC-86BF-D7EE0CF590FD}"/>
              </a:ext>
            </a:extLst>
          </p:cNvPr>
          <p:cNvSpPr/>
          <p:nvPr/>
        </p:nvSpPr>
        <p:spPr>
          <a:xfrm>
            <a:off x="4063252" y="0"/>
            <a:ext cx="4074833" cy="3138101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805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EA469F-6322-00DB-421E-74D40BFE2D40}"/>
              </a:ext>
            </a:extLst>
          </p:cNvPr>
          <p:cNvSpPr/>
          <p:nvPr/>
        </p:nvSpPr>
        <p:spPr>
          <a:xfrm>
            <a:off x="8125217" y="3143250"/>
            <a:ext cx="4074833" cy="3121042"/>
          </a:xfrm>
          <a:prstGeom prst="rect">
            <a:avLst/>
          </a:prstGeom>
          <a:solidFill>
            <a:srgbClr val="004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B3AAEC-F9D4-970F-5E22-40F4EEF162A2}"/>
              </a:ext>
            </a:extLst>
          </p:cNvPr>
          <p:cNvSpPr txBox="1"/>
          <p:nvPr/>
        </p:nvSpPr>
        <p:spPr>
          <a:xfrm>
            <a:off x="364191" y="465044"/>
            <a:ext cx="3693624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Executive Summary</a:t>
            </a:r>
            <a:endParaRPr lang="en-US" dirty="0">
              <a:solidFill>
                <a:srgbClr val="30B07F"/>
              </a:solidFill>
            </a:endParaRPr>
          </a:p>
        </p:txBody>
      </p:sp>
      <p:pic>
        <p:nvPicPr>
          <p:cNvPr id="23" name="Graphic 22" descr="Eye with solid fill">
            <a:extLst>
              <a:ext uri="{FF2B5EF4-FFF2-40B4-BE49-F238E27FC236}">
                <a16:creationId xmlns:a16="http://schemas.microsoft.com/office/drawing/2014/main" id="{6696A5F8-2071-E5CB-DAAA-0E788E37F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432" y="2943786"/>
            <a:ext cx="382121" cy="382121"/>
          </a:xfrm>
          <a:prstGeom prst="rect">
            <a:avLst/>
          </a:prstGeom>
        </p:spPr>
      </p:pic>
      <p:pic>
        <p:nvPicPr>
          <p:cNvPr id="25" name="Graphic 24" descr="Trophy with solid fill">
            <a:extLst>
              <a:ext uri="{FF2B5EF4-FFF2-40B4-BE49-F238E27FC236}">
                <a16:creationId xmlns:a16="http://schemas.microsoft.com/office/drawing/2014/main" id="{D8085940-7119-B527-56E5-00A30F3E3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432" y="4691904"/>
            <a:ext cx="382121" cy="3821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EDCB6CE-AEC7-B1E4-883C-26A02D748280}"/>
              </a:ext>
            </a:extLst>
          </p:cNvPr>
          <p:cNvSpPr txBox="1"/>
          <p:nvPr/>
        </p:nvSpPr>
        <p:spPr>
          <a:xfrm>
            <a:off x="820398" y="2944061"/>
            <a:ext cx="2993274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</a:rPr>
              <a:t>Vision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Empower individuals and businesses to achieve financial freedom through seamless, transparent, and intelligent money management technology.</a:t>
            </a:r>
            <a:r>
              <a:rPr lang="en-US" sz="13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2FB63-E20A-5EE1-C495-B3F2AD897F4A}"/>
              </a:ext>
            </a:extLst>
          </p:cNvPr>
          <p:cNvSpPr txBox="1"/>
          <p:nvPr/>
        </p:nvSpPr>
        <p:spPr>
          <a:xfrm>
            <a:off x="820397" y="4624943"/>
            <a:ext cx="2993274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</a:rPr>
              <a:t>Mission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Simplify financial decision-making with smart tools that automate, educate, and optimize every step of the money journey. 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86C901-B2A9-1BAE-1927-519370694CEC}"/>
              </a:ext>
            </a:extLst>
          </p:cNvPr>
          <p:cNvSpPr txBox="1"/>
          <p:nvPr/>
        </p:nvSpPr>
        <p:spPr>
          <a:xfrm>
            <a:off x="4456706" y="679444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Consolas"/>
              </a:rPr>
              <a:t>Problem</a:t>
            </a:r>
            <a:endParaRPr lang="en-US" dirty="0">
              <a:solidFill>
                <a:schemeClr val="bg1"/>
              </a:solidFill>
              <a:latin typeface="Aptos" panose="020B0004020202020204"/>
            </a:endParaRPr>
          </a:p>
        </p:txBody>
      </p:sp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85525928-4A81-C2F6-FDBF-79D7F151D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3093" y="1096024"/>
            <a:ext cx="169210" cy="16921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9B6DD7B-59D5-5042-F3E1-3E153D3BD17F}"/>
              </a:ext>
            </a:extLst>
          </p:cNvPr>
          <p:cNvSpPr txBox="1"/>
          <p:nvPr/>
        </p:nvSpPr>
        <p:spPr>
          <a:xfrm>
            <a:off x="8513234" y="3431516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onsolas"/>
              </a:rPr>
              <a:t>The Facts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0AE6A4-CB65-0FF7-F34C-1D9DF8351112}"/>
              </a:ext>
            </a:extLst>
          </p:cNvPr>
          <p:cNvSpPr txBox="1"/>
          <p:nvPr/>
        </p:nvSpPr>
        <p:spPr>
          <a:xfrm>
            <a:off x="9541976" y="3740006"/>
            <a:ext cx="2328415" cy="703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95DDC5"/>
                </a:solidFill>
                <a:latin typeface="Corbel"/>
                <a:ea typeface="+mn-lt"/>
                <a:cs typeface="+mn-lt"/>
              </a:rPr>
              <a:t>Users worldwide actively managing finances through our platform daily. </a:t>
            </a:r>
            <a:endParaRPr lang="en-US" dirty="0">
              <a:latin typeface="Corbe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60EAAF-A123-6AFD-8EEB-14261BB61654}"/>
              </a:ext>
            </a:extLst>
          </p:cNvPr>
          <p:cNvSpPr txBox="1"/>
          <p:nvPr/>
        </p:nvSpPr>
        <p:spPr>
          <a:xfrm>
            <a:off x="8513234" y="3732016"/>
            <a:ext cx="96263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30B07F"/>
                </a:solidFill>
                <a:latin typeface="Consolas"/>
              </a:rPr>
              <a:t>24M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2BDBCB-6933-3C68-84AE-A387E73A6AE6}"/>
              </a:ext>
            </a:extLst>
          </p:cNvPr>
          <p:cNvSpPr txBox="1"/>
          <p:nvPr/>
        </p:nvSpPr>
        <p:spPr>
          <a:xfrm>
            <a:off x="9530687" y="4542564"/>
            <a:ext cx="2321957" cy="6981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95DDC5"/>
                </a:solidFill>
                <a:latin typeface="Corbel"/>
                <a:ea typeface="+mn-lt"/>
                <a:cs typeface="+mn-lt"/>
              </a:rPr>
              <a:t>Seamless transactions processed securely across 70+ countries each month.</a:t>
            </a:r>
            <a:endParaRPr lang="en-US" dirty="0">
              <a:latin typeface="Corbe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7CC7E1-0216-91E7-4B0D-7717DA4163A3}"/>
              </a:ext>
            </a:extLst>
          </p:cNvPr>
          <p:cNvSpPr txBox="1"/>
          <p:nvPr/>
        </p:nvSpPr>
        <p:spPr>
          <a:xfrm>
            <a:off x="8507631" y="4500455"/>
            <a:ext cx="96263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30B07F"/>
                </a:solidFill>
                <a:latin typeface="Consolas"/>
              </a:rPr>
              <a:t>18M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0C8F91-4461-175A-F94C-C1C67462B911}"/>
              </a:ext>
            </a:extLst>
          </p:cNvPr>
          <p:cNvSpPr txBox="1"/>
          <p:nvPr/>
        </p:nvSpPr>
        <p:spPr>
          <a:xfrm>
            <a:off x="9541559" y="5356077"/>
            <a:ext cx="2333329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95DDC5"/>
                </a:solidFill>
                <a:latin typeface="Corbel"/>
                <a:ea typeface="+mn-lt"/>
                <a:cs typeface="+mn-lt"/>
              </a:rPr>
              <a:t>Business accounts leveraging smart insights to scale growth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261976-25CF-6E69-5D54-30F032D7B910}"/>
              </a:ext>
            </a:extLst>
          </p:cNvPr>
          <p:cNvSpPr txBox="1"/>
          <p:nvPr/>
        </p:nvSpPr>
        <p:spPr>
          <a:xfrm>
            <a:off x="8524440" y="5290803"/>
            <a:ext cx="147810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solidFill>
                  <a:srgbClr val="30B07F"/>
                </a:solidFill>
                <a:latin typeface="Consolas"/>
              </a:rPr>
              <a:t>111K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3C25C0-C934-20F5-CF49-7F08952F0A9B}"/>
              </a:ext>
            </a:extLst>
          </p:cNvPr>
          <p:cNvSpPr txBox="1"/>
          <p:nvPr/>
        </p:nvSpPr>
        <p:spPr>
          <a:xfrm>
            <a:off x="4456706" y="3431516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008050"/>
                </a:solidFill>
                <a:latin typeface="Consolas"/>
              </a:rPr>
              <a:t>Financial Projections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F40728-04E0-6966-A9AC-B28C58AE8DCD}"/>
              </a:ext>
            </a:extLst>
          </p:cNvPr>
          <p:cNvSpPr txBox="1"/>
          <p:nvPr/>
        </p:nvSpPr>
        <p:spPr>
          <a:xfrm>
            <a:off x="4703405" y="1032548"/>
            <a:ext cx="3074406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Managing multiple financial accounts is confusing and time-consuming</a:t>
            </a:r>
            <a:r>
              <a:rPr lang="en-US" sz="1300" baseline="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.</a:t>
            </a:r>
            <a:r>
              <a:rPr lang="en-US" sz="1300" baseline="0" dirty="0">
                <a:solidFill>
                  <a:srgbClr val="FFFFFF"/>
                </a:solidFill>
                <a:latin typeface="Corbel"/>
                <a:ea typeface="Segoe UI"/>
                <a:cs typeface="Segoe UI"/>
              </a:rPr>
              <a:t> </a:t>
            </a:r>
            <a:r>
              <a:rPr lang="en-US" sz="1300" dirty="0">
                <a:solidFill>
                  <a:srgbClr val="FFFFFF"/>
                </a:solidFill>
                <a:latin typeface="Corbel"/>
                <a:ea typeface="Segoe UI"/>
                <a:cs typeface="Segoe UI"/>
              </a:rPr>
              <a:t>​</a:t>
            </a:r>
            <a:endParaRPr lang="en-US" dirty="0">
              <a:solidFill>
                <a:srgbClr val="FFFFFF"/>
              </a:solidFill>
              <a:latin typeface="Corbel"/>
            </a:endParaRPr>
          </a:p>
          <a:p>
            <a:pPr rtl="0"/>
            <a:r>
              <a:rPr lang="en-US" sz="1300" dirty="0">
                <a:solidFill>
                  <a:srgbClr val="FFFFFF"/>
                </a:solidFill>
                <a:latin typeface="Corbel"/>
                <a:ea typeface="Segoe UI"/>
                <a:cs typeface="Segoe UI"/>
              </a:rPr>
              <a:t>​</a:t>
            </a:r>
          </a:p>
          <a:p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Hidden fees and poor transparency reduce trust in institutions</a:t>
            </a:r>
            <a:r>
              <a:rPr lang="en-US" sz="1300" baseline="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.</a:t>
            </a:r>
            <a:endParaRPr lang="en-US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rtl="0"/>
            <a:r>
              <a:rPr lang="en-US" sz="1300" dirty="0">
                <a:solidFill>
                  <a:srgbClr val="FFFFFF"/>
                </a:solidFill>
                <a:latin typeface="Corbel"/>
                <a:ea typeface="Segoe UI"/>
                <a:cs typeface="Segoe UI"/>
              </a:rPr>
              <a:t>​</a:t>
            </a:r>
          </a:p>
          <a:p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Financial literacy gaps limit informed decision-making. </a:t>
            </a:r>
            <a:endParaRPr lang="en-US" dirty="0">
              <a:solidFill>
                <a:srgbClr val="FFFFFF"/>
              </a:solidFill>
              <a:latin typeface="Corbel"/>
            </a:endParaRPr>
          </a:p>
        </p:txBody>
      </p:sp>
      <p:pic>
        <p:nvPicPr>
          <p:cNvPr id="53" name="Graphic 52" descr="Close with solid fill">
            <a:extLst>
              <a:ext uri="{FF2B5EF4-FFF2-40B4-BE49-F238E27FC236}">
                <a16:creationId xmlns:a16="http://schemas.microsoft.com/office/drawing/2014/main" id="{8BAAEA4A-32EE-A8A1-50A9-57FFC78399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0551" y="1074123"/>
            <a:ext cx="177561" cy="190739"/>
          </a:xfrm>
          <a:prstGeom prst="rect">
            <a:avLst/>
          </a:prstGeom>
        </p:spPr>
      </p:pic>
      <p:pic>
        <p:nvPicPr>
          <p:cNvPr id="54" name="Graphic 53" descr="Close with solid fill">
            <a:extLst>
              <a:ext uri="{FF2B5EF4-FFF2-40B4-BE49-F238E27FC236}">
                <a16:creationId xmlns:a16="http://schemas.microsoft.com/office/drawing/2014/main" id="{DA29EF44-D561-8769-6957-C31755978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7739" y="1666117"/>
            <a:ext cx="177561" cy="190739"/>
          </a:xfrm>
          <a:prstGeom prst="rect">
            <a:avLst/>
          </a:prstGeom>
        </p:spPr>
      </p:pic>
      <p:pic>
        <p:nvPicPr>
          <p:cNvPr id="55" name="Graphic 54" descr="Close with solid fill">
            <a:extLst>
              <a:ext uri="{FF2B5EF4-FFF2-40B4-BE49-F238E27FC236}">
                <a16:creationId xmlns:a16="http://schemas.microsoft.com/office/drawing/2014/main" id="{B75CD3C4-EABF-EB79-3865-34AE111103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0550" y="2244005"/>
            <a:ext cx="177561" cy="19073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3889886-62AB-30B9-63C7-7AFA4DE8F485}"/>
              </a:ext>
            </a:extLst>
          </p:cNvPr>
          <p:cNvSpPr txBox="1"/>
          <p:nvPr/>
        </p:nvSpPr>
        <p:spPr>
          <a:xfrm>
            <a:off x="8525498" y="679443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>
                <a:solidFill>
                  <a:srgbClr val="008050"/>
                </a:solidFill>
                <a:latin typeface="Consolas"/>
              </a:rPr>
              <a:t>Solution</a:t>
            </a:r>
            <a:endParaRPr lang="en-US" dirty="0">
              <a:solidFill>
                <a:srgbClr val="008050"/>
              </a:solidFill>
              <a:latin typeface="Aptos" panose="020B0004020202020204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24FE5D-D65B-582D-ECB4-72C0CCC5F3ED}"/>
              </a:ext>
            </a:extLst>
          </p:cNvPr>
          <p:cNvSpPr txBox="1"/>
          <p:nvPr/>
        </p:nvSpPr>
        <p:spPr>
          <a:xfrm>
            <a:off x="8772197" y="1032548"/>
            <a:ext cx="3080447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latin typeface="Corbel"/>
                <a:ea typeface="+mn-lt"/>
                <a:cs typeface="+mn-lt"/>
              </a:rPr>
              <a:t>Unified dashboard integrates banking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,</a:t>
            </a:r>
            <a:r>
              <a:rPr lang="en-US" sz="1300" dirty="0">
                <a:latin typeface="Corbel"/>
                <a:ea typeface="+mn-lt"/>
                <a:cs typeface="+mn-lt"/>
              </a:rPr>
              <a:t> investing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, </a:t>
            </a:r>
            <a:r>
              <a:rPr lang="en-US" sz="1300" dirty="0">
                <a:latin typeface="Corbel"/>
                <a:ea typeface="+mn-lt"/>
                <a:cs typeface="+mn-lt"/>
              </a:rPr>
              <a:t>and budgeting in real-time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.</a:t>
            </a:r>
            <a:endParaRPr lang="en-US" dirty="0">
              <a:latin typeface="Corbel"/>
              <a:ea typeface="+mn-lt"/>
              <a:cs typeface="+mn-lt"/>
            </a:endParaRPr>
          </a:p>
          <a:p>
            <a:endParaRPr lang="en-US" sz="1300" dirty="0">
              <a:latin typeface="Corbel"/>
              <a:ea typeface="+mn-lt"/>
              <a:cs typeface="+mn-lt"/>
            </a:endParaRPr>
          </a:p>
          <a:p>
            <a:r>
              <a:rPr lang="en-US" sz="1300" dirty="0">
                <a:latin typeface="Corbel"/>
                <a:ea typeface="+mn-lt"/>
                <a:cs typeface="+mn-lt"/>
              </a:rPr>
              <a:t>Transparent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, </a:t>
            </a:r>
            <a:r>
              <a:rPr lang="en-US" sz="1300" dirty="0">
                <a:latin typeface="Corbel"/>
                <a:ea typeface="+mn-lt"/>
                <a:cs typeface="+mn-lt"/>
              </a:rPr>
              <a:t>fee-free financial ecosystem builds user trust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.</a:t>
            </a:r>
            <a:endParaRPr lang="en-US" dirty="0">
              <a:latin typeface="Corbel"/>
              <a:ea typeface="+mn-lt"/>
              <a:cs typeface="+mn-lt"/>
            </a:endParaRPr>
          </a:p>
          <a:p>
            <a:endParaRPr lang="en-US" sz="1300" dirty="0">
              <a:latin typeface="Corbel"/>
              <a:ea typeface="+mn-lt"/>
              <a:cs typeface="+mn-lt"/>
            </a:endParaRPr>
          </a:p>
          <a:p>
            <a:r>
              <a:rPr lang="en-US" sz="1300" dirty="0">
                <a:latin typeface="Corbel"/>
                <a:ea typeface="+mn-lt"/>
                <a:cs typeface="+mn-lt"/>
              </a:rPr>
              <a:t>AI-powered insights personalize guidance for smarter financial growth. 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pic>
        <p:nvPicPr>
          <p:cNvPr id="61" name="Graphic 60" descr="Checkmark with solid fill">
            <a:extLst>
              <a:ext uri="{FF2B5EF4-FFF2-40B4-BE49-F238E27FC236}">
                <a16:creationId xmlns:a16="http://schemas.microsoft.com/office/drawing/2014/main" id="{19E7BE94-C739-F8F5-2C0B-862D689D9A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8715" y="1664681"/>
            <a:ext cx="169210" cy="169210"/>
          </a:xfrm>
          <a:prstGeom prst="rect">
            <a:avLst/>
          </a:prstGeom>
        </p:spPr>
      </p:pic>
      <p:pic>
        <p:nvPicPr>
          <p:cNvPr id="62" name="Graphic 61" descr="Checkmark with solid fill">
            <a:extLst>
              <a:ext uri="{FF2B5EF4-FFF2-40B4-BE49-F238E27FC236}">
                <a16:creationId xmlns:a16="http://schemas.microsoft.com/office/drawing/2014/main" id="{7839CE79-7128-6137-6625-D46A92D3EC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8716" y="2265588"/>
            <a:ext cx="169210" cy="169210"/>
          </a:xfrm>
          <a:prstGeom prst="rect">
            <a:avLst/>
          </a:prstGeom>
        </p:spPr>
      </p:pic>
      <p:sp>
        <p:nvSpPr>
          <p:cNvPr id="39" name="Parallelogram 38">
            <a:extLst>
              <a:ext uri="{FF2B5EF4-FFF2-40B4-BE49-F238E27FC236}">
                <a16:creationId xmlns:a16="http://schemas.microsoft.com/office/drawing/2014/main" id="{EFB0DFEA-F0A3-7068-9830-8A3E37737145}"/>
              </a:ext>
            </a:extLst>
          </p:cNvPr>
          <p:cNvSpPr/>
          <p:nvPr/>
        </p:nvSpPr>
        <p:spPr>
          <a:xfrm>
            <a:off x="-290700" y="6272234"/>
            <a:ext cx="10112427" cy="667919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E813B0-3854-A0B3-6A69-CB1E1CD394C2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 dirty="0">
              <a:solidFill>
                <a:srgbClr val="30B07F"/>
              </a:solidFill>
              <a:latin typeface="Corbel"/>
            </a:endParaRPr>
          </a:p>
        </p:txBody>
      </p:sp>
      <p:pic>
        <p:nvPicPr>
          <p:cNvPr id="7" name="Picture 6" descr="A graph of green bars&#10;&#10;AI-generated content may be incorrect.">
            <a:extLst>
              <a:ext uri="{FF2B5EF4-FFF2-40B4-BE49-F238E27FC236}">
                <a16:creationId xmlns:a16="http://schemas.microsoft.com/office/drawing/2014/main" id="{A80B53A7-E95A-A617-D758-2577870E15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0255" y="3576053"/>
            <a:ext cx="3497806" cy="24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4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C9892-9874-6B1C-A0C6-B95596E3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miling at camera&#10;&#10;AI-generated content may be incorrect.">
            <a:extLst>
              <a:ext uri="{FF2B5EF4-FFF2-40B4-BE49-F238E27FC236}">
                <a16:creationId xmlns:a16="http://schemas.microsoft.com/office/drawing/2014/main" id="{6763C4F9-C406-41B3-4445-3EB413C4B24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" t="-41"/>
          <a:stretch>
            <a:fillRect/>
          </a:stretch>
        </p:blipFill>
        <p:spPr>
          <a:xfrm>
            <a:off x="7339768" y="3134237"/>
            <a:ext cx="4846019" cy="3132516"/>
          </a:xfrm>
          <a:prstGeom prst="rect">
            <a:avLst/>
          </a:prstGeom>
        </p:spPr>
      </p:pic>
      <p:sp>
        <p:nvSpPr>
          <p:cNvPr id="32" name="Parallelogram 31">
            <a:extLst>
              <a:ext uri="{FF2B5EF4-FFF2-40B4-BE49-F238E27FC236}">
                <a16:creationId xmlns:a16="http://schemas.microsoft.com/office/drawing/2014/main" id="{0F2AF8D0-8313-4BB3-2546-F98A5FEF9BB9}"/>
              </a:ext>
            </a:extLst>
          </p:cNvPr>
          <p:cNvSpPr/>
          <p:nvPr/>
        </p:nvSpPr>
        <p:spPr>
          <a:xfrm>
            <a:off x="6889010" y="1789655"/>
            <a:ext cx="2856620" cy="667919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E16C3483-1A5C-F223-A527-3109AD48FE79}"/>
              </a:ext>
            </a:extLst>
          </p:cNvPr>
          <p:cNvSpPr/>
          <p:nvPr/>
        </p:nvSpPr>
        <p:spPr>
          <a:xfrm>
            <a:off x="6834847" y="2080675"/>
            <a:ext cx="1044754" cy="650986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A0A93220-D672-EACA-00E9-21DC62695F3E}"/>
              </a:ext>
            </a:extLst>
          </p:cNvPr>
          <p:cNvSpPr/>
          <p:nvPr/>
        </p:nvSpPr>
        <p:spPr>
          <a:xfrm>
            <a:off x="7636524" y="3237784"/>
            <a:ext cx="1481038" cy="684851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C10E89EF-268B-0D01-7821-414857DF7F36}"/>
              </a:ext>
            </a:extLst>
          </p:cNvPr>
          <p:cNvSpPr/>
          <p:nvPr/>
        </p:nvSpPr>
        <p:spPr>
          <a:xfrm>
            <a:off x="8591970" y="2709783"/>
            <a:ext cx="1937738" cy="667919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42FA585B-F6B0-0CAB-B6AC-BA670667C302}"/>
              </a:ext>
            </a:extLst>
          </p:cNvPr>
          <p:cNvSpPr/>
          <p:nvPr/>
        </p:nvSpPr>
        <p:spPr>
          <a:xfrm>
            <a:off x="10071478" y="1167727"/>
            <a:ext cx="1108504" cy="667919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17B1A4-FDBC-3450-EC58-A39233D3C6EA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03  Section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E28FDE99-B047-73EC-5D98-51799BD05B8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9C7C50-06AC-F79A-78B7-D0751FD992E7}"/>
              </a:ext>
            </a:extLst>
          </p:cNvPr>
          <p:cNvSpPr/>
          <p:nvPr/>
        </p:nvSpPr>
        <p:spPr>
          <a:xfrm>
            <a:off x="-4484" y="0"/>
            <a:ext cx="7350380" cy="6258938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C6ED1-6E2B-26AC-7C25-013C84ECD15C}"/>
              </a:ext>
            </a:extLst>
          </p:cNvPr>
          <p:cNvSpPr txBox="1"/>
          <p:nvPr/>
        </p:nvSpPr>
        <p:spPr>
          <a:xfrm>
            <a:off x="364190" y="465044"/>
            <a:ext cx="4992963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The Problem</a:t>
            </a:r>
            <a:endParaRPr lang="en-US" dirty="0">
              <a:solidFill>
                <a:srgbClr val="30B07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7E25D3-DEF1-8254-A9D8-772C9DFE2D7E}"/>
              </a:ext>
            </a:extLst>
          </p:cNvPr>
          <p:cNvSpPr txBox="1"/>
          <p:nvPr/>
        </p:nvSpPr>
        <p:spPr>
          <a:xfrm>
            <a:off x="364191" y="2505017"/>
            <a:ext cx="3172499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Fragmented Finances</a:t>
            </a:r>
            <a:endParaRPr lang="en-US" b="1" dirty="0">
              <a:solidFill>
                <a:srgbClr val="30B07F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People juggle multiple apps and accounts, making it difficult to see a full, accurate picture of their financial health.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910649-3FF7-B808-3625-7183B0EA52EB}"/>
              </a:ext>
            </a:extLst>
          </p:cNvPr>
          <p:cNvSpPr txBox="1"/>
          <p:nvPr/>
        </p:nvSpPr>
        <p:spPr>
          <a:xfrm>
            <a:off x="364191" y="3890198"/>
            <a:ext cx="3172499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Lack of Trust</a:t>
            </a:r>
            <a:endParaRPr lang="en-US" b="1" dirty="0">
              <a:solidFill>
                <a:srgbClr val="30B07F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Hidden fees, unclear policies, and data insecurity have eroded confidence in traditional financial institutions. 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C65885CB-4E76-1CCF-114A-8308131206C7}"/>
              </a:ext>
            </a:extLst>
          </p:cNvPr>
          <p:cNvSpPr/>
          <p:nvPr/>
        </p:nvSpPr>
        <p:spPr>
          <a:xfrm>
            <a:off x="-290700" y="6272234"/>
            <a:ext cx="7644457" cy="667919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B09F2-5892-8506-264D-F64BDF95B673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>
              <a:solidFill>
                <a:srgbClr val="30B07F"/>
              </a:solidFill>
              <a:latin typeface="Corbel"/>
            </a:endParaRPr>
          </a:p>
        </p:txBody>
      </p:sp>
      <p:sp>
        <p:nvSpPr>
          <p:cNvPr id="64" name="Title 6">
            <a:extLst>
              <a:ext uri="{FF2B5EF4-FFF2-40B4-BE49-F238E27FC236}">
                <a16:creationId xmlns:a16="http://schemas.microsoft.com/office/drawing/2014/main" id="{FA0900CA-91AE-F5A0-F5DD-5B1E224705E9}"/>
              </a:ext>
            </a:extLst>
          </p:cNvPr>
          <p:cNvSpPr txBox="1">
            <a:spLocks/>
          </p:cNvSpPr>
          <p:nvPr/>
        </p:nvSpPr>
        <p:spPr>
          <a:xfrm>
            <a:off x="364191" y="1373609"/>
            <a:ext cx="2456598" cy="4908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rgbClr val="FFFFFF"/>
                </a:solidFill>
                <a:latin typeface="Consolas"/>
                <a:cs typeface="Arial"/>
              </a:rPr>
              <a:t>GOING DEEPER</a:t>
            </a:r>
          </a:p>
        </p:txBody>
      </p:sp>
      <p:pic>
        <p:nvPicPr>
          <p:cNvPr id="15" name="Picture 14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3E092C92-D0D9-AA2A-A159-0D329D8198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73000"/>
                    </a14:imgEffect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7645" y="4442375"/>
            <a:ext cx="1798835" cy="1415117"/>
          </a:xfrm>
          <a:prstGeom prst="rect">
            <a:avLst/>
          </a:prstGeom>
        </p:spPr>
      </p:pic>
      <p:pic>
        <p:nvPicPr>
          <p:cNvPr id="5" name="Picture 4" descr="A green circle with black background&#10;&#10;AI-generated content may be incorrect.">
            <a:extLst>
              <a:ext uri="{FF2B5EF4-FFF2-40B4-BE49-F238E27FC236}">
                <a16:creationId xmlns:a16="http://schemas.microsoft.com/office/drawing/2014/main" id="{D4C9C3FB-0EF4-88FF-BCA6-ACCBDE116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107" y="2709783"/>
            <a:ext cx="2149729" cy="21298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D052F5-BE3D-D5F6-203E-182568BCAA21}"/>
              </a:ext>
            </a:extLst>
          </p:cNvPr>
          <p:cNvSpPr txBox="1"/>
          <p:nvPr/>
        </p:nvSpPr>
        <p:spPr>
          <a:xfrm>
            <a:off x="5275845" y="4277383"/>
            <a:ext cx="642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/>
              </a:rPr>
              <a:t>66%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41FC4-56AD-C02D-0CD7-A178E01991EE}"/>
              </a:ext>
            </a:extLst>
          </p:cNvPr>
          <p:cNvSpPr txBox="1"/>
          <p:nvPr/>
        </p:nvSpPr>
        <p:spPr>
          <a:xfrm>
            <a:off x="4111842" y="3531779"/>
            <a:ext cx="6423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nsolas"/>
              </a:rPr>
              <a:t>20%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C77D57-962E-A5C2-7C33-46A49F5A7916}"/>
              </a:ext>
            </a:extLst>
          </p:cNvPr>
          <p:cNvSpPr txBox="1"/>
          <p:nvPr/>
        </p:nvSpPr>
        <p:spPr>
          <a:xfrm>
            <a:off x="4576148" y="2885501"/>
            <a:ext cx="6423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nsolas"/>
              </a:rPr>
              <a:t>13%</a:t>
            </a:r>
          </a:p>
        </p:txBody>
      </p:sp>
    </p:spTree>
    <p:extLst>
      <p:ext uri="{BB962C8B-B14F-4D97-AF65-F5344CB8AC3E}">
        <p14:creationId xmlns:p14="http://schemas.microsoft.com/office/powerpoint/2010/main" val="263066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2BBD1-ED65-4073-3303-B8DDE37D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holding a cell phone&#10;&#10;AI-generated content may be incorrect.">
            <a:extLst>
              <a:ext uri="{FF2B5EF4-FFF2-40B4-BE49-F238E27FC236}">
                <a16:creationId xmlns:a16="http://schemas.microsoft.com/office/drawing/2014/main" id="{42AAFEFB-F81A-18DD-EC45-4E7EB160936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63"/>
          <a:stretch>
            <a:fillRect/>
          </a:stretch>
        </p:blipFill>
        <p:spPr>
          <a:xfrm>
            <a:off x="-5627" y="3137460"/>
            <a:ext cx="7385721" cy="3155242"/>
          </a:xfrm>
          <a:prstGeom prst="rect">
            <a:avLst/>
          </a:prstGeom>
        </p:spPr>
      </p:pic>
      <p:sp>
        <p:nvSpPr>
          <p:cNvPr id="18" name="Parallelogram 17">
            <a:extLst>
              <a:ext uri="{FF2B5EF4-FFF2-40B4-BE49-F238E27FC236}">
                <a16:creationId xmlns:a16="http://schemas.microsoft.com/office/drawing/2014/main" id="{2799A9C9-E001-E62E-4C07-5FD615DFF42B}"/>
              </a:ext>
            </a:extLst>
          </p:cNvPr>
          <p:cNvSpPr/>
          <p:nvPr/>
        </p:nvSpPr>
        <p:spPr>
          <a:xfrm>
            <a:off x="254515" y="5666027"/>
            <a:ext cx="7303810" cy="1259125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99E25A-42ED-EE5A-02E3-14CA89A3D197}"/>
              </a:ext>
            </a:extLst>
          </p:cNvPr>
          <p:cNvSpPr/>
          <p:nvPr/>
        </p:nvSpPr>
        <p:spPr>
          <a:xfrm>
            <a:off x="7331655" y="3143250"/>
            <a:ext cx="4858077" cy="3133427"/>
          </a:xfrm>
          <a:prstGeom prst="rect">
            <a:avLst/>
          </a:prstGeom>
          <a:solidFill>
            <a:srgbClr val="004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464A2BAD-867A-541C-42F7-184B3A9CF747}"/>
              </a:ext>
            </a:extLst>
          </p:cNvPr>
          <p:cNvSpPr/>
          <p:nvPr/>
        </p:nvSpPr>
        <p:spPr>
          <a:xfrm>
            <a:off x="7181451" y="6277921"/>
            <a:ext cx="5267473" cy="662233"/>
          </a:xfrm>
          <a:prstGeom prst="parallelogram">
            <a:avLst/>
          </a:prstGeom>
          <a:solidFill>
            <a:srgbClr val="004C2F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0B3DA-E0A8-5A4B-D18A-AC65BC00305D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30B07F"/>
                </a:solidFill>
                <a:latin typeface="Corbel"/>
                <a:cs typeface="Arial"/>
              </a:rPr>
              <a:t>04  Section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71AF29E4-EEEE-A86E-2D1E-64E27157FB1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ECB3664-DA21-DE61-4B04-7FDC6D1140D6}"/>
              </a:ext>
            </a:extLst>
          </p:cNvPr>
          <p:cNvSpPr/>
          <p:nvPr/>
        </p:nvSpPr>
        <p:spPr>
          <a:xfrm>
            <a:off x="-4484" y="0"/>
            <a:ext cx="7350380" cy="3142699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16526F-14A8-81E1-7B06-0BA33FDDDFC8}"/>
              </a:ext>
            </a:extLst>
          </p:cNvPr>
          <p:cNvSpPr txBox="1"/>
          <p:nvPr/>
        </p:nvSpPr>
        <p:spPr>
          <a:xfrm>
            <a:off x="364191" y="465044"/>
            <a:ext cx="345141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The</a:t>
            </a:r>
            <a:br>
              <a:rPr lang="en-US" sz="5100" dirty="0">
                <a:solidFill>
                  <a:srgbClr val="30B07F"/>
                </a:solidFill>
                <a:latin typeface="Consolas"/>
              </a:rPr>
            </a:br>
            <a:r>
              <a:rPr lang="en-US" sz="5100" dirty="0">
                <a:solidFill>
                  <a:srgbClr val="30B07F"/>
                </a:solidFill>
                <a:latin typeface="Consolas"/>
              </a:rPr>
              <a:t>Solution</a:t>
            </a:r>
            <a:endParaRPr lang="en-US" dirty="0">
              <a:solidFill>
                <a:srgbClr val="30B07F"/>
              </a:solidFill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79ED304A-E960-A6CB-ECF2-B4BE8A430BC1}"/>
              </a:ext>
            </a:extLst>
          </p:cNvPr>
          <p:cNvSpPr/>
          <p:nvPr/>
        </p:nvSpPr>
        <p:spPr>
          <a:xfrm>
            <a:off x="-302073" y="6277920"/>
            <a:ext cx="7638771" cy="662233"/>
          </a:xfrm>
          <a:prstGeom prst="parallelogram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280886-3D23-BEE4-5357-9E46E8A0FACC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008050"/>
                </a:solidFill>
                <a:latin typeface="Corbel"/>
              </a:rPr>
              <a:t>Company Name</a:t>
            </a:r>
            <a:endParaRPr lang="en-US" sz="1200">
              <a:solidFill>
                <a:srgbClr val="008050"/>
              </a:solidFill>
              <a:latin typeface="Corbe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A9B78-DA00-2B19-7DE2-157A84A6D49E}"/>
              </a:ext>
            </a:extLst>
          </p:cNvPr>
          <p:cNvSpPr/>
          <p:nvPr/>
        </p:nvSpPr>
        <p:spPr>
          <a:xfrm>
            <a:off x="7346407" y="-1"/>
            <a:ext cx="4074833" cy="3138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F614754D-15BA-3351-51D2-25ED5D5F8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9720" y="1096024"/>
            <a:ext cx="169210" cy="16921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1D50A5D-8271-EB95-46F1-5D7B15FE510D}"/>
              </a:ext>
            </a:extLst>
          </p:cNvPr>
          <p:cNvSpPr txBox="1"/>
          <p:nvPr/>
        </p:nvSpPr>
        <p:spPr>
          <a:xfrm>
            <a:off x="7915620" y="3557109"/>
            <a:ext cx="3948313" cy="2125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We’re redefining financial freedom—helping people feel informed, empowered, and in control of their money every single day. </a:t>
            </a:r>
            <a:endParaRPr lang="en-US">
              <a:solidFill>
                <a:srgbClr val="30B07F"/>
              </a:solidFill>
              <a:latin typeface="Consola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2D94BB-33F2-1A3E-3665-2FF7023B7AD0}"/>
              </a:ext>
            </a:extLst>
          </p:cNvPr>
          <p:cNvSpPr txBox="1"/>
          <p:nvPr/>
        </p:nvSpPr>
        <p:spPr>
          <a:xfrm>
            <a:off x="7752125" y="316280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008050"/>
                </a:solidFill>
                <a:latin typeface="Consolas"/>
              </a:rPr>
              <a:t>Solution-Oriented Features</a:t>
            </a:r>
            <a:endParaRPr lang="en-US">
              <a:solidFill>
                <a:srgbClr val="00805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EF5219-D87E-8546-735C-F75146F876FF}"/>
              </a:ext>
            </a:extLst>
          </p:cNvPr>
          <p:cNvSpPr txBox="1"/>
          <p:nvPr/>
        </p:nvSpPr>
        <p:spPr>
          <a:xfrm>
            <a:off x="7998824" y="1032548"/>
            <a:ext cx="3325398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latin typeface="Corbel"/>
                <a:ea typeface="+mn-lt"/>
                <a:cs typeface="+mn-lt"/>
              </a:rPr>
              <a:t>Seamlessly connects all financial accounts for complete real-time visibility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.</a:t>
            </a:r>
            <a:endParaRPr lang="en-US" dirty="0">
              <a:latin typeface="Corbel"/>
              <a:ea typeface="+mn-lt"/>
              <a:cs typeface="+mn-lt"/>
            </a:endParaRPr>
          </a:p>
          <a:p>
            <a:endParaRPr lang="en-US" sz="1300" dirty="0">
              <a:latin typeface="Corbel"/>
              <a:ea typeface="+mn-lt"/>
              <a:cs typeface="+mn-lt"/>
            </a:endParaRPr>
          </a:p>
          <a:p>
            <a:r>
              <a:rPr lang="en-US" sz="1300" dirty="0">
                <a:latin typeface="Corbel"/>
                <a:ea typeface="+mn-lt"/>
                <a:cs typeface="+mn-lt"/>
              </a:rPr>
              <a:t>Zero hidden fees and clear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, </a:t>
            </a:r>
            <a:r>
              <a:rPr lang="en-US" sz="1300" dirty="0">
                <a:latin typeface="Corbel"/>
                <a:ea typeface="+mn-lt"/>
                <a:cs typeface="+mn-lt"/>
              </a:rPr>
              <a:t>accessible data policies</a:t>
            </a:r>
            <a:r>
              <a:rPr lang="en-US" sz="1300" baseline="0" dirty="0">
                <a:latin typeface="Corbel"/>
                <a:ea typeface="+mn-lt"/>
                <a:cs typeface="+mn-lt"/>
              </a:rPr>
              <a:t>.</a:t>
            </a:r>
            <a:endParaRPr lang="en-US" dirty="0">
              <a:latin typeface="Corbel"/>
              <a:ea typeface="+mn-lt"/>
              <a:cs typeface="+mn-lt"/>
            </a:endParaRPr>
          </a:p>
          <a:p>
            <a:endParaRPr lang="en-US" sz="1300" dirty="0">
              <a:latin typeface="Corbel"/>
              <a:ea typeface="+mn-lt"/>
              <a:cs typeface="+mn-lt"/>
            </a:endParaRPr>
          </a:p>
          <a:p>
            <a:r>
              <a:rPr lang="en-US" sz="1300" dirty="0">
                <a:latin typeface="Corbel"/>
                <a:ea typeface="+mn-lt"/>
                <a:cs typeface="+mn-lt"/>
              </a:rPr>
              <a:t>AI-powered tools guide smarter saving, spending, and investing decisions. 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pic>
        <p:nvPicPr>
          <p:cNvPr id="58" name="Graphic 57" descr="Checkmark with solid fill">
            <a:extLst>
              <a:ext uri="{FF2B5EF4-FFF2-40B4-BE49-F238E27FC236}">
                <a16:creationId xmlns:a16="http://schemas.microsoft.com/office/drawing/2014/main" id="{A0C66F7D-ADF2-BD41-1EB9-D0220B0DF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5342" y="1658695"/>
            <a:ext cx="169210" cy="169210"/>
          </a:xfrm>
          <a:prstGeom prst="rect">
            <a:avLst/>
          </a:prstGeom>
        </p:spPr>
      </p:pic>
      <p:pic>
        <p:nvPicPr>
          <p:cNvPr id="62" name="Graphic 61" descr="Checkmark with solid fill">
            <a:extLst>
              <a:ext uri="{FF2B5EF4-FFF2-40B4-BE49-F238E27FC236}">
                <a16:creationId xmlns:a16="http://schemas.microsoft.com/office/drawing/2014/main" id="{C62FD2BA-4520-F86C-5D8A-417CBAC35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5343" y="2239995"/>
            <a:ext cx="169210" cy="16921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663CEEE-204F-4670-E6EA-B9A5D274FA9A}"/>
              </a:ext>
            </a:extLst>
          </p:cNvPr>
          <p:cNvSpPr txBox="1"/>
          <p:nvPr/>
        </p:nvSpPr>
        <p:spPr>
          <a:xfrm>
            <a:off x="365473" y="2301479"/>
            <a:ext cx="622125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A unified financial platform designed to simplify money management, increase transparency, and build user confidence through intelligent automation.</a:t>
            </a:r>
            <a:endParaRPr lang="en-US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4CC4F440-1A5B-177C-AF65-7AEF84C8E37C}"/>
              </a:ext>
            </a:extLst>
          </p:cNvPr>
          <p:cNvSpPr/>
          <p:nvPr/>
        </p:nvSpPr>
        <p:spPr>
          <a:xfrm>
            <a:off x="-511273" y="5189193"/>
            <a:ext cx="1779471" cy="648213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928EB249-A920-EB8C-CDEC-F10FC327F060}"/>
              </a:ext>
            </a:extLst>
          </p:cNvPr>
          <p:cNvSpPr/>
          <p:nvPr/>
        </p:nvSpPr>
        <p:spPr>
          <a:xfrm>
            <a:off x="257294" y="4341797"/>
            <a:ext cx="669318" cy="556248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58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9F0D3-233B-A60F-AA2E-A9844DF8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E72F8F6-DCEC-7E14-C4C3-993D83595604}"/>
              </a:ext>
            </a:extLst>
          </p:cNvPr>
          <p:cNvSpPr/>
          <p:nvPr/>
        </p:nvSpPr>
        <p:spPr>
          <a:xfrm>
            <a:off x="7335035" y="-1"/>
            <a:ext cx="4870950" cy="3143787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6079B6EA-B80C-EBB5-0F0C-062075D8C0EC}"/>
              </a:ext>
            </a:extLst>
          </p:cNvPr>
          <p:cNvSpPr/>
          <p:nvPr/>
        </p:nvSpPr>
        <p:spPr>
          <a:xfrm>
            <a:off x="7090737" y="6277921"/>
            <a:ext cx="5358187" cy="662233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008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B4203C-7900-A47D-0251-9312C6D80384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05  Section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B33CCAA8-56E6-16DD-D39F-CF289EF34B7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7E06B0-14C3-AB11-E298-5081B72C5C40}"/>
              </a:ext>
            </a:extLst>
          </p:cNvPr>
          <p:cNvSpPr/>
          <p:nvPr/>
        </p:nvSpPr>
        <p:spPr>
          <a:xfrm>
            <a:off x="-4484" y="0"/>
            <a:ext cx="7350380" cy="3142699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0B6EA9-55C9-54D5-7B7D-C28C6FBD2467}"/>
              </a:ext>
            </a:extLst>
          </p:cNvPr>
          <p:cNvSpPr txBox="1"/>
          <p:nvPr/>
        </p:nvSpPr>
        <p:spPr>
          <a:xfrm>
            <a:off x="364191" y="465044"/>
            <a:ext cx="345141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The</a:t>
            </a:r>
            <a:br>
              <a:rPr lang="en-US" sz="5100" dirty="0">
                <a:solidFill>
                  <a:srgbClr val="30B07F"/>
                </a:solidFill>
                <a:latin typeface="Consolas"/>
              </a:rPr>
            </a:br>
            <a:r>
              <a:rPr lang="en-US" sz="5100" dirty="0">
                <a:solidFill>
                  <a:srgbClr val="30B07F"/>
                </a:solidFill>
                <a:latin typeface="Consolas"/>
              </a:rPr>
              <a:t>Approach</a:t>
            </a:r>
            <a:endParaRPr lang="en-US" dirty="0">
              <a:solidFill>
                <a:srgbClr val="30B07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1B9638-14B9-2E9B-8DEC-F1F7C0C308CE}"/>
              </a:ext>
            </a:extLst>
          </p:cNvPr>
          <p:cNvSpPr txBox="1"/>
          <p:nvPr/>
        </p:nvSpPr>
        <p:spPr>
          <a:xfrm>
            <a:off x="365473" y="2301479"/>
            <a:ext cx="622125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We combine innovation, transparency, and user-centric design to deliver financial solutions that scale seamlessly and empower sustainable growth.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10399F55-FF83-FA4B-CE14-FD824F4AF2ED}"/>
              </a:ext>
            </a:extLst>
          </p:cNvPr>
          <p:cNvSpPr/>
          <p:nvPr/>
        </p:nvSpPr>
        <p:spPr>
          <a:xfrm>
            <a:off x="-302073" y="6277920"/>
            <a:ext cx="7638771" cy="662233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008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057C9-5C04-329E-04EF-C7AC99B03CD1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008050"/>
                </a:solidFill>
                <a:latin typeface="Corbel"/>
              </a:rPr>
              <a:t>Company Name</a:t>
            </a:r>
            <a:endParaRPr lang="en-US" sz="1200">
              <a:solidFill>
                <a:srgbClr val="008050"/>
              </a:solidFill>
              <a:latin typeface="Corbe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E6BD48-4039-B8A7-4759-DFD4DF8AC566}"/>
              </a:ext>
            </a:extLst>
          </p:cNvPr>
          <p:cNvSpPr txBox="1"/>
          <p:nvPr/>
        </p:nvSpPr>
        <p:spPr>
          <a:xfrm>
            <a:off x="7752125" y="316280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nsolas"/>
                <a:ea typeface="+mn-lt"/>
                <a:cs typeface="+mn-lt"/>
              </a:rPr>
              <a:t>Core Focus Areas</a:t>
            </a:r>
            <a:endParaRPr lang="en-US" b="1">
              <a:solidFill>
                <a:schemeClr val="bg1"/>
              </a:solidFill>
              <a:latin typeface="Consola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E99D7-E433-823A-2187-D8121DE0FA9E}"/>
              </a:ext>
            </a:extLst>
          </p:cNvPr>
          <p:cNvSpPr txBox="1"/>
          <p:nvPr/>
        </p:nvSpPr>
        <p:spPr>
          <a:xfrm>
            <a:off x="8277015" y="1032548"/>
            <a:ext cx="3325398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User First Design. Built for clarity</a:t>
            </a:r>
            <a:r>
              <a:rPr lang="en-US" sz="1300" baseline="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,</a:t>
            </a: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 simplicity</a:t>
            </a:r>
            <a:r>
              <a:rPr lang="en-US" sz="1300" baseline="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, </a:t>
            </a: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and intuitive daily use</a:t>
            </a:r>
            <a:r>
              <a:rPr lang="en-US" sz="1300" baseline="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latin typeface="Corbel"/>
              <a:ea typeface="+mn-lt"/>
              <a:cs typeface="+mn-lt"/>
            </a:endParaRPr>
          </a:p>
          <a:p>
            <a:endParaRPr lang="en-US" sz="1300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  <a:p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Data You Trust. Security and transparency at every digital touchpoint</a:t>
            </a:r>
            <a:r>
              <a:rPr lang="en-US" sz="1300" baseline="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  <a:latin typeface="Corbel"/>
              <a:ea typeface="+mn-lt"/>
              <a:cs typeface="+mn-lt"/>
            </a:endParaRPr>
          </a:p>
          <a:p>
            <a:endParaRPr lang="en-US" sz="1300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  <a:p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Smart Growth Engine. Adaptive AI that evolves with user habits and goals. 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529A66-A6DA-5FD0-9FF9-2629AEF1435A}"/>
              </a:ext>
            </a:extLst>
          </p:cNvPr>
          <p:cNvSpPr/>
          <p:nvPr/>
        </p:nvSpPr>
        <p:spPr>
          <a:xfrm>
            <a:off x="7840383" y="1054386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/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6D0129-FB5F-C35D-12C7-9F3666449448}"/>
              </a:ext>
            </a:extLst>
          </p:cNvPr>
          <p:cNvSpPr/>
          <p:nvPr/>
        </p:nvSpPr>
        <p:spPr>
          <a:xfrm>
            <a:off x="7840383" y="1677065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D39B85-0684-DD2F-6F2E-14CA50F96443}"/>
              </a:ext>
            </a:extLst>
          </p:cNvPr>
          <p:cNvSpPr/>
          <p:nvPr/>
        </p:nvSpPr>
        <p:spPr>
          <a:xfrm>
            <a:off x="7840383" y="2299744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3</a:t>
            </a: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69256E3A-D355-4AAC-1F44-885C331135E5}"/>
              </a:ext>
            </a:extLst>
          </p:cNvPr>
          <p:cNvSpPr/>
          <p:nvPr/>
        </p:nvSpPr>
        <p:spPr>
          <a:xfrm>
            <a:off x="1188426" y="3579509"/>
            <a:ext cx="4908609" cy="310645"/>
          </a:xfrm>
          <a:prstGeom prst="parallelogram">
            <a:avLst/>
          </a:prstGeom>
          <a:noFill/>
          <a:ln w="12700">
            <a:solidFill>
              <a:srgbClr val="30B0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C564B5-F4AF-62F4-2198-53DD96AF3A80}"/>
              </a:ext>
            </a:extLst>
          </p:cNvPr>
          <p:cNvSpPr/>
          <p:nvPr/>
        </p:nvSpPr>
        <p:spPr>
          <a:xfrm>
            <a:off x="1119092" y="3733438"/>
            <a:ext cx="4978041" cy="232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32F7C-A402-9DC1-8603-1A9C3F83B85C}"/>
              </a:ext>
            </a:extLst>
          </p:cNvPr>
          <p:cNvSpPr txBox="1"/>
          <p:nvPr/>
        </p:nvSpPr>
        <p:spPr>
          <a:xfrm>
            <a:off x="1895308" y="3634843"/>
            <a:ext cx="3419766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dirty="0">
                <a:solidFill>
                  <a:srgbClr val="11322B"/>
                </a:solidFill>
                <a:latin typeface="Consolas"/>
              </a:rPr>
              <a:t>PHASE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C63A0E-BBA9-E738-A6F2-445626F5713C}"/>
              </a:ext>
            </a:extLst>
          </p:cNvPr>
          <p:cNvGrpSpPr/>
          <p:nvPr/>
        </p:nvGrpSpPr>
        <p:grpSpPr>
          <a:xfrm>
            <a:off x="8629627" y="3585195"/>
            <a:ext cx="2504385" cy="374672"/>
            <a:chOff x="1181645" y="3713279"/>
            <a:chExt cx="5341981" cy="420164"/>
          </a:xfrm>
        </p:grpSpPr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9FF894C8-3DE9-E4A2-7C8C-52E384C19727}"/>
                </a:ext>
              </a:extLst>
            </p:cNvPr>
            <p:cNvSpPr/>
            <p:nvPr/>
          </p:nvSpPr>
          <p:spPr>
            <a:xfrm>
              <a:off x="1256048" y="3713279"/>
              <a:ext cx="5267473" cy="338099"/>
            </a:xfrm>
            <a:prstGeom prst="parallelogram">
              <a:avLst/>
            </a:prstGeom>
            <a:noFill/>
            <a:ln w="12700">
              <a:solidFill>
                <a:srgbClr val="30B0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04C2F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921B849-BD32-515D-F85A-D7B5122E10C2}"/>
                </a:ext>
              </a:extLst>
            </p:cNvPr>
            <p:cNvSpPr/>
            <p:nvPr/>
          </p:nvSpPr>
          <p:spPr>
            <a:xfrm>
              <a:off x="1181645" y="3880812"/>
              <a:ext cx="5341981" cy="252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B306BB5-E744-3B22-CE0D-CF8BBC27F46F}"/>
              </a:ext>
            </a:extLst>
          </p:cNvPr>
          <p:cNvSpPr txBox="1"/>
          <p:nvPr/>
        </p:nvSpPr>
        <p:spPr>
          <a:xfrm>
            <a:off x="8171858" y="3623470"/>
            <a:ext cx="3419766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dirty="0">
                <a:solidFill>
                  <a:srgbClr val="11322B"/>
                </a:solidFill>
                <a:latin typeface="Consolas"/>
              </a:rPr>
              <a:t>PHASE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89E8D2-DC1C-2710-42A8-AEC57CA54050}"/>
              </a:ext>
            </a:extLst>
          </p:cNvPr>
          <p:cNvSpPr txBox="1"/>
          <p:nvPr/>
        </p:nvSpPr>
        <p:spPr>
          <a:xfrm>
            <a:off x="243239" y="4346204"/>
            <a:ext cx="1952632" cy="15850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Launch Platform</a:t>
            </a: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Build MVP beta. Introduce core app with unified account integration and AI insights to analyze performance.</a:t>
            </a:r>
          </a:p>
        </p:txBody>
      </p:sp>
      <p:pic>
        <p:nvPicPr>
          <p:cNvPr id="43" name="Graphic 42" descr="Bullseye with solid fill">
            <a:extLst>
              <a:ext uri="{FF2B5EF4-FFF2-40B4-BE49-F238E27FC236}">
                <a16:creationId xmlns:a16="http://schemas.microsoft.com/office/drawing/2014/main" id="{A541BD7F-DE48-5BCA-528C-D05132A15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406" y="3981336"/>
            <a:ext cx="387264" cy="38204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D47B0BE-F657-2460-9513-60A012523A90}"/>
              </a:ext>
            </a:extLst>
          </p:cNvPr>
          <p:cNvSpPr txBox="1"/>
          <p:nvPr/>
        </p:nvSpPr>
        <p:spPr>
          <a:xfrm>
            <a:off x="2683453" y="4346204"/>
            <a:ext cx="1952632" cy="15850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Build Community</a:t>
            </a: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Engage early adopters through feedback loops and learning events. Build a network of beta testers and reward through gift cards.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pic>
        <p:nvPicPr>
          <p:cNvPr id="49" name="Graphic 48" descr="Bullseye with solid fill">
            <a:extLst>
              <a:ext uri="{FF2B5EF4-FFF2-40B4-BE49-F238E27FC236}">
                <a16:creationId xmlns:a16="http://schemas.microsoft.com/office/drawing/2014/main" id="{1D0FEED6-A7D6-FE96-5294-04DD98968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6620" y="3981336"/>
            <a:ext cx="387264" cy="38204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3B50197-2F3B-864D-5410-128E97C1222E}"/>
              </a:ext>
            </a:extLst>
          </p:cNvPr>
          <p:cNvSpPr txBox="1"/>
          <p:nvPr/>
        </p:nvSpPr>
        <p:spPr>
          <a:xfrm>
            <a:off x="5123667" y="4346204"/>
            <a:ext cx="195263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Refine Experience</a:t>
            </a:r>
            <a:endParaRPr lang="en-US" b="1" dirty="0">
              <a:solidFill>
                <a:srgbClr val="30B07F"/>
              </a:solidFill>
              <a:latin typeface="Consolas"/>
            </a:endParaRP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Scale improvements incrementally. Optimize UX and add customizable financial goal features to the core app.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pic>
        <p:nvPicPr>
          <p:cNvPr id="52" name="Graphic 51" descr="Bullseye with solid fill">
            <a:extLst>
              <a:ext uri="{FF2B5EF4-FFF2-40B4-BE49-F238E27FC236}">
                <a16:creationId xmlns:a16="http://schemas.microsoft.com/office/drawing/2014/main" id="{6B72D670-8BB3-A3F1-91C9-B20C6A069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834" y="3981336"/>
            <a:ext cx="387264" cy="38204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4C91258-D924-AD81-6BC6-F7EB4E41CB61}"/>
              </a:ext>
            </a:extLst>
          </p:cNvPr>
          <p:cNvSpPr txBox="1"/>
          <p:nvPr/>
        </p:nvSpPr>
        <p:spPr>
          <a:xfrm>
            <a:off x="7563880" y="4346204"/>
            <a:ext cx="1952632" cy="15850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Scale Globally</a:t>
            </a:r>
            <a:endParaRPr lang="en-US" b="1" dirty="0">
              <a:solidFill>
                <a:srgbClr val="30B07F"/>
              </a:solidFill>
              <a:latin typeface="Consolas"/>
            </a:endParaRP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Expand into new markets with multilingual and multicurrency support. Apply community building model to new markets.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pic>
        <p:nvPicPr>
          <p:cNvPr id="64" name="Graphic 63" descr="Bullseye with solid fill">
            <a:extLst>
              <a:ext uri="{FF2B5EF4-FFF2-40B4-BE49-F238E27FC236}">
                <a16:creationId xmlns:a16="http://schemas.microsoft.com/office/drawing/2014/main" id="{E8FEAB75-47DD-00AD-960F-B9BEF8883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047" y="3981336"/>
            <a:ext cx="387264" cy="38204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97B5AFD-5CA2-F5F5-692E-3570DF25FF1B}"/>
              </a:ext>
            </a:extLst>
          </p:cNvPr>
          <p:cNvSpPr txBox="1"/>
          <p:nvPr/>
        </p:nvSpPr>
        <p:spPr>
          <a:xfrm>
            <a:off x="10004094" y="4346204"/>
            <a:ext cx="195263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Partnership</a:t>
            </a:r>
            <a:r>
              <a:rPr lang="en-US" sz="1400" b="1" dirty="0">
                <a:solidFill>
                  <a:srgbClr val="07E993"/>
                </a:solidFill>
                <a:latin typeface="Consolas"/>
                <a:ea typeface="+mn-lt"/>
                <a:cs typeface="+mn-lt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Grow strategic partnerships. Integrate with major banks and fintech partners for scalability.</a:t>
            </a:r>
          </a:p>
        </p:txBody>
      </p:sp>
      <p:pic>
        <p:nvPicPr>
          <p:cNvPr id="68" name="Graphic 67" descr="Bullseye with solid fill">
            <a:extLst>
              <a:ext uri="{FF2B5EF4-FFF2-40B4-BE49-F238E27FC236}">
                <a16:creationId xmlns:a16="http://schemas.microsoft.com/office/drawing/2014/main" id="{7E89180B-0AF7-6E30-2B3D-3AD356558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7261" y="3981336"/>
            <a:ext cx="387264" cy="38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6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92D79-9EBF-6448-A5C6-1BA4AD5B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arallelogram 106">
            <a:extLst>
              <a:ext uri="{FF2B5EF4-FFF2-40B4-BE49-F238E27FC236}">
                <a16:creationId xmlns:a16="http://schemas.microsoft.com/office/drawing/2014/main" id="{7F80F621-47AD-1F5B-F470-9049CEB6C968}"/>
              </a:ext>
            </a:extLst>
          </p:cNvPr>
          <p:cNvSpPr/>
          <p:nvPr/>
        </p:nvSpPr>
        <p:spPr>
          <a:xfrm>
            <a:off x="3709015" y="6272359"/>
            <a:ext cx="8739909" cy="667795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008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07315E-3EF8-D84F-40BD-B6C3F5193426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02  Section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B75CCEF5-18F1-819B-DD78-4C6F8ABAB99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D1FE053-BA94-BA5D-3182-A1AEF4653E33}"/>
              </a:ext>
            </a:extLst>
          </p:cNvPr>
          <p:cNvSpPr/>
          <p:nvPr/>
        </p:nvSpPr>
        <p:spPr>
          <a:xfrm>
            <a:off x="-4484" y="0"/>
            <a:ext cx="4074379" cy="6298668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CA27B-26D4-38CF-FFDC-CDBB436B98E0}"/>
              </a:ext>
            </a:extLst>
          </p:cNvPr>
          <p:cNvSpPr txBox="1"/>
          <p:nvPr/>
        </p:nvSpPr>
        <p:spPr>
          <a:xfrm>
            <a:off x="364191" y="465044"/>
            <a:ext cx="3451412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The Plan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88ED7C-A09F-DFE1-BD12-B6237309D7D0}"/>
              </a:ext>
            </a:extLst>
          </p:cNvPr>
          <p:cNvSpPr txBox="1"/>
          <p:nvPr/>
        </p:nvSpPr>
        <p:spPr>
          <a:xfrm>
            <a:off x="820398" y="2496368"/>
            <a:ext cx="288861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</a:rPr>
              <a:t>Phase 1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Laying the foundation through seamless integration, user engagement, and continuous refinement to deliver a unified, intelligent financial platform.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95578F-EE00-F2ED-92E1-076469037E79}"/>
              </a:ext>
            </a:extLst>
          </p:cNvPr>
          <p:cNvSpPr txBox="1"/>
          <p:nvPr/>
        </p:nvSpPr>
        <p:spPr>
          <a:xfrm>
            <a:off x="820397" y="4177250"/>
            <a:ext cx="2888617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</a:rPr>
              <a:t>Phase 2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Expanding global reach and strategic partnerships to scale impact, accessibility, and innovation across diverse financial ecosystems.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6AD4F13A-15FA-472F-54EF-0411F319B19B}"/>
              </a:ext>
            </a:extLst>
          </p:cNvPr>
          <p:cNvSpPr/>
          <p:nvPr/>
        </p:nvSpPr>
        <p:spPr>
          <a:xfrm>
            <a:off x="-290700" y="6272234"/>
            <a:ext cx="4361387" cy="667919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1362A9-1AB9-426C-5391-A0EC30346575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 dirty="0">
              <a:solidFill>
                <a:srgbClr val="30B07F"/>
              </a:solidFill>
              <a:latin typeface="Corbel"/>
            </a:endParaRP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F2DBD1D2-A811-A3D2-9C95-7E3E502F9A68}"/>
              </a:ext>
            </a:extLst>
          </p:cNvPr>
          <p:cNvSpPr txBox="1">
            <a:spLocks/>
          </p:cNvSpPr>
          <p:nvPr/>
        </p:nvSpPr>
        <p:spPr>
          <a:xfrm>
            <a:off x="364191" y="1372167"/>
            <a:ext cx="2456598" cy="4908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rgbClr val="FFFFFF"/>
                </a:solidFill>
                <a:latin typeface="Consolas"/>
                <a:cs typeface="Arial"/>
              </a:rPr>
              <a:t>2026 – 2027</a:t>
            </a:r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8731A7DC-9CF3-202B-8276-D4CF119A97B3}"/>
              </a:ext>
            </a:extLst>
          </p:cNvPr>
          <p:cNvSpPr/>
          <p:nvPr/>
        </p:nvSpPr>
        <p:spPr>
          <a:xfrm>
            <a:off x="4641018" y="1056392"/>
            <a:ext cx="7004109" cy="269456"/>
          </a:xfrm>
          <a:prstGeom prst="parallelogram">
            <a:avLst/>
          </a:prstGeom>
          <a:noFill/>
          <a:ln w="28575">
            <a:solidFill>
              <a:srgbClr val="30B0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E0C538-93CE-EFE8-54A3-8CDF97EFD89D}"/>
              </a:ext>
            </a:extLst>
          </p:cNvPr>
          <p:cNvSpPr/>
          <p:nvPr/>
        </p:nvSpPr>
        <p:spPr>
          <a:xfrm>
            <a:off x="4571684" y="1200024"/>
            <a:ext cx="7104433" cy="201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F72B10-BC05-A195-7398-A02A933C813A}"/>
              </a:ext>
            </a:extLst>
          </p:cNvPr>
          <p:cNvSpPr txBox="1"/>
          <p:nvPr/>
        </p:nvSpPr>
        <p:spPr>
          <a:xfrm>
            <a:off x="6434266" y="1055091"/>
            <a:ext cx="3419766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dirty="0">
                <a:solidFill>
                  <a:srgbClr val="11322B"/>
                </a:solidFill>
                <a:latin typeface="Consolas"/>
              </a:rPr>
              <a:t>PHASE 1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AE835D9-ECBF-E4C3-7061-14ACF165A0BC}"/>
              </a:ext>
            </a:extLst>
          </p:cNvPr>
          <p:cNvGrpSpPr/>
          <p:nvPr/>
        </p:nvGrpSpPr>
        <p:grpSpPr>
          <a:xfrm>
            <a:off x="4576582" y="3486010"/>
            <a:ext cx="4834998" cy="351679"/>
            <a:chOff x="4734114" y="3703342"/>
            <a:chExt cx="7104433" cy="346158"/>
          </a:xfrm>
        </p:grpSpPr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F4A4B56D-1246-E8E6-0F45-84D993A307F8}"/>
                </a:ext>
              </a:extLst>
            </p:cNvPr>
            <p:cNvSpPr/>
            <p:nvPr/>
          </p:nvSpPr>
          <p:spPr>
            <a:xfrm>
              <a:off x="4803448" y="3704643"/>
              <a:ext cx="7004109" cy="269456"/>
            </a:xfrm>
            <a:prstGeom prst="parallelogram">
              <a:avLst/>
            </a:prstGeom>
            <a:noFill/>
            <a:ln w="28575">
              <a:solidFill>
                <a:srgbClr val="30B07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04C2F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AF44A79-4A43-B11B-151A-64305787C90F}"/>
                </a:ext>
              </a:extLst>
            </p:cNvPr>
            <p:cNvSpPr/>
            <p:nvPr/>
          </p:nvSpPr>
          <p:spPr>
            <a:xfrm>
              <a:off x="4734114" y="3848275"/>
              <a:ext cx="7104433" cy="201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D37F67A-24B8-8B13-ECD0-C18074B70BE2}"/>
                </a:ext>
              </a:extLst>
            </p:cNvPr>
            <p:cNvSpPr txBox="1"/>
            <p:nvPr/>
          </p:nvSpPr>
          <p:spPr>
            <a:xfrm>
              <a:off x="6596696" y="3703342"/>
              <a:ext cx="3419766" cy="2923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dirty="0">
                  <a:solidFill>
                    <a:srgbClr val="11322B"/>
                  </a:solidFill>
                  <a:latin typeface="Consolas"/>
                </a:rPr>
                <a:t>PHASE 2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EAF6BD-FF63-B20D-1720-84B9DE957A6B}"/>
              </a:ext>
            </a:extLst>
          </p:cNvPr>
          <p:cNvGrpSpPr/>
          <p:nvPr/>
        </p:nvGrpSpPr>
        <p:grpSpPr>
          <a:xfrm>
            <a:off x="4561547" y="1277931"/>
            <a:ext cx="7039507" cy="261610"/>
            <a:chOff x="4790238" y="1353622"/>
            <a:chExt cx="7822101" cy="23398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343691-CA2E-5A0B-09EA-766D7BA17B4F}"/>
                </a:ext>
              </a:extLst>
            </p:cNvPr>
            <p:cNvSpPr txBox="1"/>
            <p:nvPr/>
          </p:nvSpPr>
          <p:spPr>
            <a:xfrm>
              <a:off x="4790238" y="1353622"/>
              <a:ext cx="553514" cy="2339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solidFill>
                    <a:srgbClr val="008050"/>
                  </a:solidFill>
                  <a:latin typeface="Consolas"/>
                </a:rPr>
                <a:t>1/11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713A809-09C7-84A8-837F-6697F02E099F}"/>
                </a:ext>
              </a:extLst>
            </p:cNvPr>
            <p:cNvCxnSpPr/>
            <p:nvPr/>
          </p:nvCxnSpPr>
          <p:spPr>
            <a:xfrm flipV="1">
              <a:off x="5265298" y="1484913"/>
              <a:ext cx="2105717" cy="1816"/>
            </a:xfrm>
            <a:prstGeom prst="straightConnector1">
              <a:avLst/>
            </a:prstGeom>
            <a:ln w="12700">
              <a:solidFill>
                <a:srgbClr val="30B0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35060E-76A2-8078-8941-4216508199AD}"/>
                </a:ext>
              </a:extLst>
            </p:cNvPr>
            <p:cNvSpPr txBox="1"/>
            <p:nvPr/>
          </p:nvSpPr>
          <p:spPr>
            <a:xfrm>
              <a:off x="7426346" y="1353622"/>
              <a:ext cx="553514" cy="2339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solidFill>
                    <a:srgbClr val="008050"/>
                  </a:solidFill>
                  <a:latin typeface="Consolas"/>
                </a:rPr>
                <a:t>3/11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4F381E5-3209-8F49-56C1-3ADB30FC6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1406" y="1484913"/>
              <a:ext cx="2105717" cy="1816"/>
            </a:xfrm>
            <a:prstGeom prst="straightConnector1">
              <a:avLst/>
            </a:prstGeom>
            <a:ln w="12700">
              <a:solidFill>
                <a:srgbClr val="30B0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0B80C18-E4F0-C9CF-F710-67DAFBF801D2}"/>
                </a:ext>
              </a:extLst>
            </p:cNvPr>
            <p:cNvSpPr txBox="1"/>
            <p:nvPr/>
          </p:nvSpPr>
          <p:spPr>
            <a:xfrm>
              <a:off x="10031562" y="1353622"/>
              <a:ext cx="553514" cy="2339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solidFill>
                    <a:srgbClr val="008050"/>
                  </a:solidFill>
                  <a:latin typeface="Consolas"/>
                </a:rPr>
                <a:t>6/11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967075C-FFDF-47AD-EEB1-7E31CDE1E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6622" y="1484913"/>
              <a:ext cx="2105717" cy="1816"/>
            </a:xfrm>
            <a:prstGeom prst="straightConnector1">
              <a:avLst/>
            </a:prstGeom>
            <a:ln w="12700">
              <a:solidFill>
                <a:srgbClr val="30B0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62F98EA-0C59-250E-2376-F8F292A2B4B8}"/>
              </a:ext>
            </a:extLst>
          </p:cNvPr>
          <p:cNvSpPr txBox="1"/>
          <p:nvPr/>
        </p:nvSpPr>
        <p:spPr>
          <a:xfrm>
            <a:off x="4560364" y="1617579"/>
            <a:ext cx="119017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Launch</a:t>
            </a:r>
            <a:endParaRPr lang="en-US" dirty="0"/>
          </a:p>
          <a:p>
            <a:pPr algn="l"/>
            <a:r>
              <a:rPr lang="en-US" sz="1300" b="1" dirty="0">
                <a:solidFill>
                  <a:srgbClr val="11322B"/>
                </a:solidFill>
                <a:latin typeface="Consolas"/>
              </a:rPr>
              <a:t>Platform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94EB00C-A07C-F773-0AFA-01D185773C9F}"/>
              </a:ext>
            </a:extLst>
          </p:cNvPr>
          <p:cNvCxnSpPr/>
          <p:nvPr/>
        </p:nvCxnSpPr>
        <p:spPr>
          <a:xfrm flipV="1">
            <a:off x="5432016" y="1813960"/>
            <a:ext cx="2282110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lowchart: Data 64">
            <a:extLst>
              <a:ext uri="{FF2B5EF4-FFF2-40B4-BE49-F238E27FC236}">
                <a16:creationId xmlns:a16="http://schemas.microsoft.com/office/drawing/2014/main" id="{89E123F6-308D-9B5A-CA25-F62DE7DB3564}"/>
              </a:ext>
            </a:extLst>
          </p:cNvPr>
          <p:cNvSpPr/>
          <p:nvPr/>
        </p:nvSpPr>
        <p:spPr>
          <a:xfrm>
            <a:off x="7708171" y="1765617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01AC444-D4AE-34A2-AA8A-769A4B8E8086}"/>
              </a:ext>
            </a:extLst>
          </p:cNvPr>
          <p:cNvSpPr txBox="1"/>
          <p:nvPr/>
        </p:nvSpPr>
        <p:spPr>
          <a:xfrm>
            <a:off x="6962320" y="2017749"/>
            <a:ext cx="119017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Build Community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14692F2-B615-3FD2-49D7-775579050299}"/>
              </a:ext>
            </a:extLst>
          </p:cNvPr>
          <p:cNvCxnSpPr>
            <a:cxnSpLocks/>
          </p:cNvCxnSpPr>
          <p:nvPr/>
        </p:nvCxnSpPr>
        <p:spPr>
          <a:xfrm flipV="1">
            <a:off x="7790958" y="2194960"/>
            <a:ext cx="2376440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lowchart: Data 91">
            <a:extLst>
              <a:ext uri="{FF2B5EF4-FFF2-40B4-BE49-F238E27FC236}">
                <a16:creationId xmlns:a16="http://schemas.microsoft.com/office/drawing/2014/main" id="{0C259C72-6E6F-E9BD-3352-E7FD72ED8B44}"/>
              </a:ext>
            </a:extLst>
          </p:cNvPr>
          <p:cNvSpPr/>
          <p:nvPr/>
        </p:nvSpPr>
        <p:spPr>
          <a:xfrm>
            <a:off x="10110127" y="2146617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FE2238D-1902-4B1F-040A-1A7B78C5BC4B}"/>
              </a:ext>
            </a:extLst>
          </p:cNvPr>
          <p:cNvSpPr txBox="1"/>
          <p:nvPr/>
        </p:nvSpPr>
        <p:spPr>
          <a:xfrm>
            <a:off x="9314581" y="2401978"/>
            <a:ext cx="119017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Refine Experience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06AE7CF-EE91-E67F-B789-F325ED6D194C}"/>
              </a:ext>
            </a:extLst>
          </p:cNvPr>
          <p:cNvCxnSpPr>
            <a:cxnSpLocks/>
          </p:cNvCxnSpPr>
          <p:nvPr/>
        </p:nvCxnSpPr>
        <p:spPr>
          <a:xfrm flipV="1">
            <a:off x="10076125" y="2598359"/>
            <a:ext cx="1465575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lowchart: Data 94">
            <a:extLst>
              <a:ext uri="{FF2B5EF4-FFF2-40B4-BE49-F238E27FC236}">
                <a16:creationId xmlns:a16="http://schemas.microsoft.com/office/drawing/2014/main" id="{41A3C014-AE67-0CE8-0709-4FFA5417CA40}"/>
              </a:ext>
            </a:extLst>
          </p:cNvPr>
          <p:cNvSpPr/>
          <p:nvPr/>
        </p:nvSpPr>
        <p:spPr>
          <a:xfrm>
            <a:off x="11490562" y="2550016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883CEF2-3C56-4073-EC34-6D54C91EA13B}"/>
              </a:ext>
            </a:extLst>
          </p:cNvPr>
          <p:cNvSpPr txBox="1"/>
          <p:nvPr/>
        </p:nvSpPr>
        <p:spPr>
          <a:xfrm>
            <a:off x="4571963" y="3726877"/>
            <a:ext cx="49813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solidFill>
                  <a:srgbClr val="008050"/>
                </a:solidFill>
                <a:latin typeface="Consolas"/>
              </a:rPr>
              <a:t>9/11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F2E9CA2-5751-C590-9F18-75A3E46E828E}"/>
              </a:ext>
            </a:extLst>
          </p:cNvPr>
          <p:cNvCxnSpPr>
            <a:cxnSpLocks/>
          </p:cNvCxnSpPr>
          <p:nvPr/>
        </p:nvCxnSpPr>
        <p:spPr>
          <a:xfrm flipV="1">
            <a:off x="4999493" y="3846062"/>
            <a:ext cx="1895041" cy="2030"/>
          </a:xfrm>
          <a:prstGeom prst="straightConnector1">
            <a:avLst/>
          </a:prstGeom>
          <a:ln w="12700">
            <a:solidFill>
              <a:srgbClr val="30B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055ACD5-09A2-C658-DAB0-9BBF634C6D30}"/>
              </a:ext>
            </a:extLst>
          </p:cNvPr>
          <p:cNvSpPr txBox="1"/>
          <p:nvPr/>
        </p:nvSpPr>
        <p:spPr>
          <a:xfrm>
            <a:off x="6905678" y="3726877"/>
            <a:ext cx="63617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solidFill>
                  <a:srgbClr val="008050"/>
                </a:solidFill>
                <a:latin typeface="Consolas"/>
              </a:rPr>
              <a:t>12/11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86141A-8927-F4F3-CCA9-71EE7BDD111D}"/>
              </a:ext>
            </a:extLst>
          </p:cNvPr>
          <p:cNvCxnSpPr>
            <a:cxnSpLocks/>
          </p:cNvCxnSpPr>
          <p:nvPr/>
        </p:nvCxnSpPr>
        <p:spPr>
          <a:xfrm flipV="1">
            <a:off x="7443643" y="3846062"/>
            <a:ext cx="1895041" cy="2030"/>
          </a:xfrm>
          <a:prstGeom prst="straightConnector1">
            <a:avLst/>
          </a:prstGeom>
          <a:ln w="12700">
            <a:solidFill>
              <a:srgbClr val="30B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9F61429-C794-5735-A3A9-32D5A583E23B}"/>
              </a:ext>
            </a:extLst>
          </p:cNvPr>
          <p:cNvSpPr txBox="1"/>
          <p:nvPr/>
        </p:nvSpPr>
        <p:spPr>
          <a:xfrm>
            <a:off x="4570783" y="4029329"/>
            <a:ext cx="119017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Scale Globally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3BBB590-C9C1-8D01-7766-F3B2E196F415}"/>
              </a:ext>
            </a:extLst>
          </p:cNvPr>
          <p:cNvCxnSpPr>
            <a:cxnSpLocks/>
          </p:cNvCxnSpPr>
          <p:nvPr/>
        </p:nvCxnSpPr>
        <p:spPr>
          <a:xfrm flipV="1">
            <a:off x="5380252" y="4235294"/>
            <a:ext cx="2376440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lowchart: Data 87">
            <a:extLst>
              <a:ext uri="{FF2B5EF4-FFF2-40B4-BE49-F238E27FC236}">
                <a16:creationId xmlns:a16="http://schemas.microsoft.com/office/drawing/2014/main" id="{AB4EC9C8-00D1-4990-0388-61116E412E50}"/>
              </a:ext>
            </a:extLst>
          </p:cNvPr>
          <p:cNvSpPr/>
          <p:nvPr/>
        </p:nvSpPr>
        <p:spPr>
          <a:xfrm>
            <a:off x="7718590" y="4186951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37B4449-A4EE-3BF9-6738-C30F466116BC}"/>
              </a:ext>
            </a:extLst>
          </p:cNvPr>
          <p:cNvSpPr txBox="1"/>
          <p:nvPr/>
        </p:nvSpPr>
        <p:spPr>
          <a:xfrm>
            <a:off x="4570783" y="4554415"/>
            <a:ext cx="1190174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300" b="1" dirty="0">
                <a:solidFill>
                  <a:srgbClr val="11322B"/>
                </a:solidFill>
                <a:latin typeface="Consolas"/>
              </a:rPr>
              <a:t>Partnership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A020D0A-B68D-7160-9161-C04527754A92}"/>
              </a:ext>
            </a:extLst>
          </p:cNvPr>
          <p:cNvCxnSpPr>
            <a:cxnSpLocks/>
          </p:cNvCxnSpPr>
          <p:nvPr/>
        </p:nvCxnSpPr>
        <p:spPr>
          <a:xfrm flipV="1">
            <a:off x="5751458" y="4702764"/>
            <a:ext cx="727737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lowchart: Data 98">
            <a:extLst>
              <a:ext uri="{FF2B5EF4-FFF2-40B4-BE49-F238E27FC236}">
                <a16:creationId xmlns:a16="http://schemas.microsoft.com/office/drawing/2014/main" id="{6F053A29-FEC6-E896-BB4B-112C6CF6C972}"/>
              </a:ext>
            </a:extLst>
          </p:cNvPr>
          <p:cNvSpPr/>
          <p:nvPr/>
        </p:nvSpPr>
        <p:spPr>
          <a:xfrm>
            <a:off x="6445539" y="4653966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FBEFFB-464E-1622-CDEE-C3513CBA970F}"/>
              </a:ext>
            </a:extLst>
          </p:cNvPr>
          <p:cNvSpPr txBox="1"/>
          <p:nvPr/>
        </p:nvSpPr>
        <p:spPr>
          <a:xfrm>
            <a:off x="6918392" y="5362190"/>
            <a:ext cx="119017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Data Analysis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C064A77-6CB4-69D1-9DDF-DD583DC2EB26}"/>
              </a:ext>
            </a:extLst>
          </p:cNvPr>
          <p:cNvCxnSpPr>
            <a:cxnSpLocks/>
          </p:cNvCxnSpPr>
          <p:nvPr/>
        </p:nvCxnSpPr>
        <p:spPr>
          <a:xfrm flipV="1">
            <a:off x="7516993" y="5558464"/>
            <a:ext cx="1739269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lowchart: Data 101">
            <a:extLst>
              <a:ext uri="{FF2B5EF4-FFF2-40B4-BE49-F238E27FC236}">
                <a16:creationId xmlns:a16="http://schemas.microsoft.com/office/drawing/2014/main" id="{EE1E1EE9-4747-619E-29E9-86FCFD6385B5}"/>
              </a:ext>
            </a:extLst>
          </p:cNvPr>
          <p:cNvSpPr/>
          <p:nvPr/>
        </p:nvSpPr>
        <p:spPr>
          <a:xfrm>
            <a:off x="9215033" y="5509666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0F35951-85CB-6502-48D5-9C821B74121C}"/>
              </a:ext>
            </a:extLst>
          </p:cNvPr>
          <p:cNvSpPr txBox="1"/>
          <p:nvPr/>
        </p:nvSpPr>
        <p:spPr>
          <a:xfrm>
            <a:off x="4923630" y="4950116"/>
            <a:ext cx="119017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Beta Testing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23236E1-4739-463C-F486-FD88B3AB3676}"/>
              </a:ext>
            </a:extLst>
          </p:cNvPr>
          <p:cNvCxnSpPr>
            <a:cxnSpLocks/>
          </p:cNvCxnSpPr>
          <p:nvPr/>
        </p:nvCxnSpPr>
        <p:spPr>
          <a:xfrm flipV="1">
            <a:off x="5531817" y="5146497"/>
            <a:ext cx="3747698" cy="2030"/>
          </a:xfrm>
          <a:prstGeom prst="straightConnector1">
            <a:avLst/>
          </a:prstGeom>
          <a:ln w="12700">
            <a:solidFill>
              <a:srgbClr val="1132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lowchart: Data 104">
            <a:extLst>
              <a:ext uri="{FF2B5EF4-FFF2-40B4-BE49-F238E27FC236}">
                <a16:creationId xmlns:a16="http://schemas.microsoft.com/office/drawing/2014/main" id="{01423E4B-D4B2-FCBC-DFA2-A7DC55CAB6A4}"/>
              </a:ext>
            </a:extLst>
          </p:cNvPr>
          <p:cNvSpPr/>
          <p:nvPr/>
        </p:nvSpPr>
        <p:spPr>
          <a:xfrm>
            <a:off x="9220068" y="5098154"/>
            <a:ext cx="118247" cy="98075"/>
          </a:xfrm>
          <a:prstGeom prst="flowChartInputOutpu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367D5373-6171-AF30-FEB5-5F9FB17D4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667" y="2543139"/>
            <a:ext cx="418216" cy="406403"/>
          </a:xfrm>
          <a:prstGeom prst="rect">
            <a:avLst/>
          </a:prstGeom>
        </p:spPr>
      </p:pic>
      <p:pic>
        <p:nvPicPr>
          <p:cNvPr id="7" name="Graphic 6" descr="Venn diagram with solid fill">
            <a:extLst>
              <a:ext uri="{FF2B5EF4-FFF2-40B4-BE49-F238E27FC236}">
                <a16:creationId xmlns:a16="http://schemas.microsoft.com/office/drawing/2014/main" id="{D310ACDF-1C5F-840F-43A2-50E692C55B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445" y="4168324"/>
            <a:ext cx="476191" cy="45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1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6E870-E94D-56AF-0481-C99E5AA3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arallelogram 47">
            <a:extLst>
              <a:ext uri="{FF2B5EF4-FFF2-40B4-BE49-F238E27FC236}">
                <a16:creationId xmlns:a16="http://schemas.microsoft.com/office/drawing/2014/main" id="{8544A835-9BAD-0A73-F416-77533F68BE96}"/>
              </a:ext>
            </a:extLst>
          </p:cNvPr>
          <p:cNvSpPr/>
          <p:nvPr/>
        </p:nvSpPr>
        <p:spPr>
          <a:xfrm>
            <a:off x="7090737" y="6277921"/>
            <a:ext cx="5358187" cy="662233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008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59" name="Parallelogram 58">
            <a:extLst>
              <a:ext uri="{FF2B5EF4-FFF2-40B4-BE49-F238E27FC236}">
                <a16:creationId xmlns:a16="http://schemas.microsoft.com/office/drawing/2014/main" id="{88BB7C34-AB08-C319-6054-F8E250503B4D}"/>
              </a:ext>
            </a:extLst>
          </p:cNvPr>
          <p:cNvSpPr/>
          <p:nvPr/>
        </p:nvSpPr>
        <p:spPr>
          <a:xfrm>
            <a:off x="5451172" y="3467498"/>
            <a:ext cx="1209357" cy="667919"/>
          </a:xfrm>
          <a:prstGeom prst="parallelogram">
            <a:avLst/>
          </a:prstGeom>
          <a:noFill/>
          <a:ln w="12700">
            <a:solidFill>
              <a:srgbClr val="07E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7E99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5EC334-03FF-7226-596F-9860AF838D58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03  Section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44BDE25A-59EA-E3F5-8FE5-AC89F712A3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43A358-64B5-02EB-A398-D890F94DC490}"/>
              </a:ext>
            </a:extLst>
          </p:cNvPr>
          <p:cNvSpPr/>
          <p:nvPr/>
        </p:nvSpPr>
        <p:spPr>
          <a:xfrm>
            <a:off x="-4484" y="0"/>
            <a:ext cx="7350380" cy="6303434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C95887-292A-51AF-6406-65760E3CF1EA}"/>
              </a:ext>
            </a:extLst>
          </p:cNvPr>
          <p:cNvSpPr txBox="1"/>
          <p:nvPr/>
        </p:nvSpPr>
        <p:spPr>
          <a:xfrm>
            <a:off x="364191" y="465044"/>
            <a:ext cx="6525496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Financial Impact</a:t>
            </a: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85A0BDA4-E733-1B4D-1100-D16669B6589C}"/>
              </a:ext>
            </a:extLst>
          </p:cNvPr>
          <p:cNvSpPr/>
          <p:nvPr/>
        </p:nvSpPr>
        <p:spPr>
          <a:xfrm>
            <a:off x="-290700" y="6272234"/>
            <a:ext cx="7644457" cy="667919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4F815B-E8BB-2B60-A5E8-862867818D93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>
              <a:solidFill>
                <a:srgbClr val="30B07F"/>
              </a:solidFill>
              <a:latin typeface="Corbe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70534-9BF1-E947-36AF-08C53F6BD1C5}"/>
              </a:ext>
            </a:extLst>
          </p:cNvPr>
          <p:cNvSpPr txBox="1"/>
          <p:nvPr/>
        </p:nvSpPr>
        <p:spPr>
          <a:xfrm>
            <a:off x="7626957" y="1293175"/>
            <a:ext cx="2771077" cy="5958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004C2F"/>
                </a:solidFill>
                <a:latin typeface="Consolas"/>
              </a:rPr>
              <a:t>Labor Force Reduction</a:t>
            </a:r>
            <a:endParaRPr lang="en-US" b="1" dirty="0">
              <a:solidFill>
                <a:srgbClr val="004C2F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78FA0-26DB-305C-A13D-DDFC478329D8}"/>
              </a:ext>
            </a:extLst>
          </p:cNvPr>
          <p:cNvSpPr txBox="1"/>
          <p:nvPr/>
        </p:nvSpPr>
        <p:spPr>
          <a:xfrm>
            <a:off x="10140849" y="1100681"/>
            <a:ext cx="16968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3200" b="1" dirty="0">
                <a:solidFill>
                  <a:srgbClr val="30B07F"/>
                </a:solidFill>
                <a:latin typeface="Consolas"/>
              </a:rPr>
              <a:t>$8M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603DCD-6F3C-4986-045F-C093842C3A49}"/>
              </a:ext>
            </a:extLst>
          </p:cNvPr>
          <p:cNvSpPr txBox="1"/>
          <p:nvPr/>
        </p:nvSpPr>
        <p:spPr>
          <a:xfrm>
            <a:off x="7626957" y="1508919"/>
            <a:ext cx="2132683" cy="4036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300000"/>
              </a:lnSpc>
              <a:spcAft>
                <a:spcPts val="7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</a:rPr>
              <a:t>Support Staff</a:t>
            </a:r>
            <a:endParaRPr lang="en-US">
              <a:solidFill>
                <a:srgbClr val="11322B"/>
              </a:solidFill>
            </a:endParaRPr>
          </a:p>
          <a:p>
            <a:pPr>
              <a:lnSpc>
                <a:spcPct val="300000"/>
              </a:lnSpc>
              <a:spcAft>
                <a:spcPts val="7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</a:rPr>
              <a:t>IT</a:t>
            </a:r>
            <a:endParaRPr lang="en-US" sz="1300">
              <a:solidFill>
                <a:srgbClr val="11322B"/>
              </a:solidFill>
              <a:latin typeface="Corbel"/>
            </a:endParaRPr>
          </a:p>
          <a:p>
            <a:pPr>
              <a:lnSpc>
                <a:spcPct val="300000"/>
              </a:lnSpc>
              <a:spcAft>
                <a:spcPts val="7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</a:rPr>
              <a:t>Programmers</a:t>
            </a:r>
            <a:endParaRPr lang="en-US" sz="1300">
              <a:solidFill>
                <a:srgbClr val="11322B"/>
              </a:solidFill>
              <a:latin typeface="Corbel"/>
            </a:endParaRPr>
          </a:p>
          <a:p>
            <a:pPr>
              <a:lnSpc>
                <a:spcPct val="300000"/>
              </a:lnSpc>
              <a:spcAft>
                <a:spcPts val="7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</a:rPr>
              <a:t>Developers</a:t>
            </a:r>
            <a:endParaRPr lang="en-US" sz="1300">
              <a:solidFill>
                <a:srgbClr val="11322B"/>
              </a:solidFill>
              <a:latin typeface="Corbel"/>
            </a:endParaRPr>
          </a:p>
          <a:p>
            <a:pPr>
              <a:lnSpc>
                <a:spcPct val="300000"/>
              </a:lnSpc>
              <a:spcAft>
                <a:spcPts val="7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</a:rPr>
              <a:t>Product Designers</a:t>
            </a:r>
            <a:endParaRPr lang="en-US" sz="1300">
              <a:solidFill>
                <a:srgbClr val="11322B"/>
              </a:solidFill>
              <a:latin typeface="Corbel"/>
            </a:endParaRPr>
          </a:p>
          <a:p>
            <a:pPr>
              <a:lnSpc>
                <a:spcPct val="300000"/>
              </a:lnSpc>
              <a:spcAft>
                <a:spcPts val="7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</a:rPr>
              <a:t>Operations</a:t>
            </a:r>
            <a:endParaRPr lang="en-US" sz="1300">
              <a:solidFill>
                <a:srgbClr val="11322B"/>
              </a:solidFill>
              <a:latin typeface="Corbe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9DCB19-B7E6-62B6-457F-768A014204D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5"/>
          <a:stretch>
            <a:fillRect/>
          </a:stretch>
        </p:blipFill>
        <p:spPr>
          <a:xfrm>
            <a:off x="8549344" y="1476500"/>
            <a:ext cx="3288819" cy="4433155"/>
          </a:xfrm>
          <a:prstGeom prst="rect">
            <a:avLst/>
          </a:prstGeom>
        </p:spPr>
      </p:pic>
      <p:pic>
        <p:nvPicPr>
          <p:cNvPr id="30" name="Picture 29" descr="A green circle with a black background&#10;&#10;AI-generated content may be incorrect.">
            <a:extLst>
              <a:ext uri="{FF2B5EF4-FFF2-40B4-BE49-F238E27FC236}">
                <a16:creationId xmlns:a16="http://schemas.microsoft.com/office/drawing/2014/main" id="{6DBA5EE5-AACB-9DE2-B6AE-336FFE86D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35" y="3137921"/>
            <a:ext cx="2194227" cy="218546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FE85DD0-E90E-EFAB-BA6B-F106B80008D9}"/>
              </a:ext>
            </a:extLst>
          </p:cNvPr>
          <p:cNvSpPr txBox="1"/>
          <p:nvPr/>
        </p:nvSpPr>
        <p:spPr>
          <a:xfrm>
            <a:off x="5646782" y="3425835"/>
            <a:ext cx="642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nsolas"/>
              </a:rPr>
              <a:t>59%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8299CC-D220-2430-5B47-3A4B9CC0001D}"/>
              </a:ext>
            </a:extLst>
          </p:cNvPr>
          <p:cNvSpPr txBox="1"/>
          <p:nvPr/>
        </p:nvSpPr>
        <p:spPr>
          <a:xfrm>
            <a:off x="4284538" y="4033552"/>
            <a:ext cx="6423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nsolas"/>
              </a:rPr>
              <a:t>35%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DB0CD5-6B71-A5A1-C042-2FFC18259CD0}"/>
              </a:ext>
            </a:extLst>
          </p:cNvPr>
          <p:cNvSpPr txBox="1"/>
          <p:nvPr/>
        </p:nvSpPr>
        <p:spPr>
          <a:xfrm>
            <a:off x="4966385" y="3286617"/>
            <a:ext cx="64231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nsolas"/>
              </a:rPr>
              <a:t>5%</a:t>
            </a:r>
          </a:p>
        </p:txBody>
      </p:sp>
      <p:pic>
        <p:nvPicPr>
          <p:cNvPr id="37" name="Graphic 36" descr="Eye with solid fill">
            <a:extLst>
              <a:ext uri="{FF2B5EF4-FFF2-40B4-BE49-F238E27FC236}">
                <a16:creationId xmlns:a16="http://schemas.microsoft.com/office/drawing/2014/main" id="{89DECFA8-7BE6-C63C-A892-ADC29F866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432" y="2513808"/>
            <a:ext cx="382121" cy="382121"/>
          </a:xfrm>
          <a:prstGeom prst="rect">
            <a:avLst/>
          </a:prstGeom>
        </p:spPr>
      </p:pic>
      <p:pic>
        <p:nvPicPr>
          <p:cNvPr id="42" name="Graphic 41" descr="Trophy with solid fill">
            <a:extLst>
              <a:ext uri="{FF2B5EF4-FFF2-40B4-BE49-F238E27FC236}">
                <a16:creationId xmlns:a16="http://schemas.microsoft.com/office/drawing/2014/main" id="{3CB1E6D4-EDED-0B77-E207-5238054F93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432" y="4261926"/>
            <a:ext cx="382121" cy="3821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6A20E13-F4A0-A1C1-03F8-6986F955B6E7}"/>
              </a:ext>
            </a:extLst>
          </p:cNvPr>
          <p:cNvSpPr txBox="1"/>
          <p:nvPr/>
        </p:nvSpPr>
        <p:spPr>
          <a:xfrm>
            <a:off x="820398" y="2514083"/>
            <a:ext cx="2993274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</a:rPr>
              <a:t>Projections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Forecasted performance shows exponential efficiency gains through automation, lowering operational costs while increasing accuracy and scalability.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AF7933-7D25-25D8-898F-1A0755A3B1B1}"/>
              </a:ext>
            </a:extLst>
          </p:cNvPr>
          <p:cNvSpPr txBox="1"/>
          <p:nvPr/>
        </p:nvSpPr>
        <p:spPr>
          <a:xfrm>
            <a:off x="820397" y="4194965"/>
            <a:ext cx="2993274" cy="1184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</a:rPr>
              <a:t>Savings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Reduced labor demand translates into measurable long-term savings and higher profit margins across departments and global operations.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363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B0265-B256-283E-60B5-18F5F70AE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35F24AC-6F83-3924-996C-5F7E30F6F695}"/>
              </a:ext>
            </a:extLst>
          </p:cNvPr>
          <p:cNvSpPr/>
          <p:nvPr/>
        </p:nvSpPr>
        <p:spPr>
          <a:xfrm>
            <a:off x="3809132" y="6272359"/>
            <a:ext cx="8639792" cy="667795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008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25A746-FF8D-4CFA-F782-F43E90A8B048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02  Section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4EF89918-7516-D450-68AE-B87CAC4681D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007819A-1816-90A4-13F7-7A37BDD9EF9B}"/>
              </a:ext>
            </a:extLst>
          </p:cNvPr>
          <p:cNvSpPr/>
          <p:nvPr/>
        </p:nvSpPr>
        <p:spPr>
          <a:xfrm>
            <a:off x="-4484" y="0"/>
            <a:ext cx="4074379" cy="6298668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638EF9-592C-FAF8-A7DA-1629A5211A16}"/>
              </a:ext>
            </a:extLst>
          </p:cNvPr>
          <p:cNvSpPr txBox="1"/>
          <p:nvPr/>
        </p:nvSpPr>
        <p:spPr>
          <a:xfrm>
            <a:off x="364191" y="465044"/>
            <a:ext cx="3885334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The Risks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624996-94D4-33F3-3E05-2262F8B49F36}"/>
              </a:ext>
            </a:extLst>
          </p:cNvPr>
          <p:cNvSpPr txBox="1"/>
          <p:nvPr/>
        </p:nvSpPr>
        <p:spPr>
          <a:xfrm>
            <a:off x="364191" y="2501544"/>
            <a:ext cx="29932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Operational Vulnerabilities</a:t>
            </a:r>
            <a:endParaRPr lang="en-US" b="1" dirty="0"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Early-stage scaling may expose gaps in system reliability, partner readiness, and data security protocols.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9C06A0-27EB-43BE-4F03-4778A386BBC8}"/>
              </a:ext>
            </a:extLst>
          </p:cNvPr>
          <p:cNvSpPr txBox="1"/>
          <p:nvPr/>
        </p:nvSpPr>
        <p:spPr>
          <a:xfrm>
            <a:off x="364191" y="3781959"/>
            <a:ext cx="29932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30B07F"/>
                </a:solidFill>
                <a:latin typeface="Consolas"/>
                <a:ea typeface="+mn-lt"/>
                <a:cs typeface="+mn-lt"/>
              </a:rPr>
              <a:t>Market Sensitivities</a:t>
            </a: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Fluctuating regulations and user adoption rates may influence growth pace and platform optimization cycles. </a:t>
            </a: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D5878DFD-8FCC-2D08-25A5-A2744D9AA252}"/>
              </a:ext>
            </a:extLst>
          </p:cNvPr>
          <p:cNvSpPr/>
          <p:nvPr/>
        </p:nvSpPr>
        <p:spPr>
          <a:xfrm>
            <a:off x="-290700" y="6272234"/>
            <a:ext cx="4361387" cy="667919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47D804-8DCD-1258-0121-263525472551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 dirty="0">
              <a:solidFill>
                <a:srgbClr val="30B07F"/>
              </a:solidFill>
              <a:latin typeface="Corbel"/>
            </a:endParaRP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B44C3E56-EB97-2609-40BC-715E3006730D}"/>
              </a:ext>
            </a:extLst>
          </p:cNvPr>
          <p:cNvSpPr txBox="1">
            <a:spLocks/>
          </p:cNvSpPr>
          <p:nvPr/>
        </p:nvSpPr>
        <p:spPr>
          <a:xfrm>
            <a:off x="364191" y="1392325"/>
            <a:ext cx="2456598" cy="4908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rgbClr val="FFFFFF"/>
                </a:solidFill>
                <a:latin typeface="Consolas"/>
                <a:cs typeface="Arial"/>
              </a:rPr>
              <a:t>ANALYSIS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3A2B9A-9B08-EE49-BFDD-989378038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39851"/>
              </p:ext>
            </p:extLst>
          </p:nvPr>
        </p:nvGraphicFramePr>
        <p:xfrm>
          <a:off x="4627619" y="1257021"/>
          <a:ext cx="7047399" cy="4510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479">
                  <a:extLst>
                    <a:ext uri="{9D8B030D-6E8A-4147-A177-3AD203B41FA5}">
                      <a16:colId xmlns:a16="http://schemas.microsoft.com/office/drawing/2014/main" val="2423807204"/>
                    </a:ext>
                  </a:extLst>
                </a:gridCol>
                <a:gridCol w="1409479">
                  <a:extLst>
                    <a:ext uri="{9D8B030D-6E8A-4147-A177-3AD203B41FA5}">
                      <a16:colId xmlns:a16="http://schemas.microsoft.com/office/drawing/2014/main" val="2696417932"/>
                    </a:ext>
                  </a:extLst>
                </a:gridCol>
                <a:gridCol w="1361513">
                  <a:extLst>
                    <a:ext uri="{9D8B030D-6E8A-4147-A177-3AD203B41FA5}">
                      <a16:colId xmlns:a16="http://schemas.microsoft.com/office/drawing/2014/main" val="1448062246"/>
                    </a:ext>
                  </a:extLst>
                </a:gridCol>
                <a:gridCol w="1457449">
                  <a:extLst>
                    <a:ext uri="{9D8B030D-6E8A-4147-A177-3AD203B41FA5}">
                      <a16:colId xmlns:a16="http://schemas.microsoft.com/office/drawing/2014/main" val="681377981"/>
                    </a:ext>
                  </a:extLst>
                </a:gridCol>
                <a:gridCol w="1409479">
                  <a:extLst>
                    <a:ext uri="{9D8B030D-6E8A-4147-A177-3AD203B41FA5}">
                      <a16:colId xmlns:a16="http://schemas.microsoft.com/office/drawing/2014/main" val="1232964215"/>
                    </a:ext>
                  </a:extLst>
                </a:gridCol>
              </a:tblGrid>
              <a:tr h="85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Employee turnover in non-critical departments</a:t>
                      </a:r>
                      <a:endParaRPr lang="en-US" sz="1050" b="0" dirty="0">
                        <a:solidFill>
                          <a:schemeClr val="tx1"/>
                        </a:solidFill>
                        <a:latin typeface="Corbel"/>
                      </a:endParaRPr>
                    </a:p>
                  </a:txBody>
                  <a:tcPr marL="182880" marT="137160" marB="137160">
                    <a:lnL w="12700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DC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Minor bugs impacting app dashboard display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47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Slower-than-expected user adoption in key markets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AB6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latin typeface="Corbel"/>
                          <a:ea typeface="+mn-ea"/>
                          <a:cs typeface="+mn-cs"/>
                        </a:rPr>
                        <a:t>Critical system outage during peak transaction periods</a:t>
                      </a:r>
                      <a:endParaRPr lang="en-US" sz="1050" b="0" i="0" u="none" strike="noStrike" kern="1200" dirty="0">
                        <a:solidFill>
                          <a:schemeClr val="tx1"/>
                        </a:solidFill>
                        <a:latin typeface="Corbel"/>
                        <a:ea typeface="+mn-ea"/>
                        <a:cs typeface="+mn-cs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6363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Major data breach compromising sensitive financial records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12700"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63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90922"/>
                  </a:ext>
                </a:extLst>
              </a:tr>
              <a:tr h="85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Competitor acquisition of key tech partner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12700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07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Slight variance in projected cost savings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DC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Miscommunication between dev and design teams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47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AI model errors causing inaccurate financial insights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AB6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kern="1200" noProof="0" dirty="0">
                          <a:solidFill>
                            <a:schemeClr val="tx1"/>
                          </a:solidFill>
                          <a:latin typeface="Corbel"/>
                          <a:ea typeface="+mn-ea"/>
                          <a:cs typeface="+mn-cs"/>
                        </a:rPr>
                        <a:t>Regulatory non-compliance resulting in heavy fines</a:t>
                      </a:r>
                      <a:endParaRPr lang="en-US" sz="1050" b="0" i="0" u="none" strike="noStrike" kern="1200" dirty="0">
                        <a:solidFill>
                          <a:schemeClr val="tx1"/>
                        </a:solidFill>
                        <a:latin typeface="Corbel"/>
                        <a:ea typeface="+mn-ea"/>
                        <a:cs typeface="+mn-cs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63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187926"/>
                  </a:ext>
                </a:extLst>
              </a:tr>
              <a:tr h="85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Global cybersecurity incident </a:t>
                      </a:r>
                    </a:p>
                  </a:txBody>
                  <a:tcPr marL="182880" marT="137160" marB="137160">
                    <a:lnL w="12700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07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Delayed feedback from early user testing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DC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Marketing message misalignment across regions</a:t>
                      </a:r>
                      <a:endParaRPr lang="en-US" sz="1050" b="0" dirty="0">
                        <a:solidFill>
                          <a:schemeClr val="tx1"/>
                        </a:solidFill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47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API downtime affecting partner app performance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AB6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Integration delays with partner institutions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AB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832736"/>
                  </a:ext>
                </a:extLst>
              </a:tr>
              <a:tr h="85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Public relations challenge tied to market speculation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12700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07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Minor discrepancies in monthly usage data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DC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Mild backlash over UI changes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DC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Temporary fluctuation in customer satisfaction ratings</a:t>
                      </a:r>
                      <a:endParaRPr lang="en-US" sz="1050" b="0" dirty="0">
                        <a:solidFill>
                          <a:schemeClr val="tx1"/>
                        </a:solidFill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47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Inconsistent customer support during global expansion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AB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068429"/>
                  </a:ext>
                </a:extLst>
              </a:tr>
              <a:tr h="8533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Data center outage due to natural disaster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12700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07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Sudden government restrictions on AI in finance</a:t>
                      </a:r>
                      <a:endParaRPr lang="en-US" sz="1050">
                        <a:latin typeface="Corbel"/>
                      </a:endParaRPr>
                    </a:p>
                    <a:p>
                      <a:pPr lvl="0">
                        <a:buNone/>
                      </a:pPr>
                      <a:endParaRPr lang="en-US" sz="1050" b="0" dirty="0">
                        <a:solidFill>
                          <a:schemeClr val="tx1"/>
                        </a:solidFill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07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Infrequent lag in analytics reports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DC5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Low engagement with initial onboarding tutorials</a:t>
                      </a:r>
                      <a:endParaRPr lang="en-US" sz="105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47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Corbel"/>
                        </a:rPr>
                        <a:t>Inaccurate localization in multilingual rollout</a:t>
                      </a:r>
                      <a:endParaRPr lang="en-US" sz="1050" dirty="0">
                        <a:latin typeface="Corbel"/>
                      </a:endParaRPr>
                    </a:p>
                  </a:txBody>
                  <a:tcPr marL="182880" marT="137160" marB="13716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noFill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86075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91DA359-D3A5-AC10-27AE-84C6D5032A5A}"/>
              </a:ext>
            </a:extLst>
          </p:cNvPr>
          <p:cNvSpPr txBox="1"/>
          <p:nvPr/>
        </p:nvSpPr>
        <p:spPr>
          <a:xfrm>
            <a:off x="4756055" y="950521"/>
            <a:ext cx="120531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solidFill>
                  <a:srgbClr val="11322B"/>
                </a:solidFill>
                <a:latin typeface="Consolas"/>
              </a:rPr>
              <a:t>Negligible</a:t>
            </a:r>
            <a:endParaRPr lang="en-US" dirty="0" err="1">
              <a:solidFill>
                <a:srgbClr val="11322B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61319B-19EF-286B-CDE7-23FC06AAEAB1}"/>
              </a:ext>
            </a:extLst>
          </p:cNvPr>
          <p:cNvSpPr txBox="1"/>
          <p:nvPr/>
        </p:nvSpPr>
        <p:spPr>
          <a:xfrm>
            <a:off x="6141003" y="950521"/>
            <a:ext cx="120531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solidFill>
                  <a:srgbClr val="11322B"/>
                </a:solidFill>
                <a:latin typeface="Consolas"/>
              </a:rPr>
              <a:t>Minor</a:t>
            </a:r>
            <a:endParaRPr lang="en-US" dirty="0">
              <a:solidFill>
                <a:srgbClr val="11322B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401D1D-6193-7B5A-1D49-3345BA9119E1}"/>
              </a:ext>
            </a:extLst>
          </p:cNvPr>
          <p:cNvSpPr txBox="1"/>
          <p:nvPr/>
        </p:nvSpPr>
        <p:spPr>
          <a:xfrm>
            <a:off x="7525953" y="950521"/>
            <a:ext cx="120531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solidFill>
                  <a:srgbClr val="11322B"/>
                </a:solidFill>
                <a:latin typeface="Consolas"/>
              </a:rPr>
              <a:t>Moderate</a:t>
            </a:r>
            <a:endParaRPr lang="en-US" dirty="0">
              <a:solidFill>
                <a:srgbClr val="11322B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9ED9E9-4EDE-87B1-2EFE-C1669CA9A192}"/>
              </a:ext>
            </a:extLst>
          </p:cNvPr>
          <p:cNvSpPr txBox="1"/>
          <p:nvPr/>
        </p:nvSpPr>
        <p:spPr>
          <a:xfrm>
            <a:off x="8944274" y="950521"/>
            <a:ext cx="120531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solidFill>
                  <a:srgbClr val="11322B"/>
                </a:solidFill>
                <a:latin typeface="Consolas"/>
              </a:rPr>
              <a:t>Significant</a:t>
            </a:r>
            <a:endParaRPr lang="en-US" dirty="0">
              <a:solidFill>
                <a:srgbClr val="11322B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D0532A-5FD7-57FE-FEA9-CDE17BA8B61D}"/>
              </a:ext>
            </a:extLst>
          </p:cNvPr>
          <p:cNvSpPr txBox="1"/>
          <p:nvPr/>
        </p:nvSpPr>
        <p:spPr>
          <a:xfrm>
            <a:off x="10373719" y="950521"/>
            <a:ext cx="120531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 b="1" dirty="0">
                <a:solidFill>
                  <a:srgbClr val="11322B"/>
                </a:solidFill>
                <a:latin typeface="Consolas"/>
              </a:rPr>
              <a:t>Severe</a:t>
            </a:r>
            <a:endParaRPr lang="en-US" dirty="0">
              <a:solidFill>
                <a:srgbClr val="11322B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BF6D38-8850-A313-C13D-A1248F529E24}"/>
              </a:ext>
            </a:extLst>
          </p:cNvPr>
          <p:cNvSpPr txBox="1"/>
          <p:nvPr/>
        </p:nvSpPr>
        <p:spPr>
          <a:xfrm rot="16200000">
            <a:off x="3821631" y="5138738"/>
            <a:ext cx="120531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>
                <a:solidFill>
                  <a:srgbClr val="11322B"/>
                </a:solidFill>
                <a:latin typeface="Consolas"/>
              </a:rPr>
              <a:t>Likelihood</a:t>
            </a:r>
            <a:endParaRPr lang="en-US" dirty="0">
              <a:solidFill>
                <a:srgbClr val="1132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5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8E879-E349-4D39-7A74-993783BE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F82B1B5F-4CED-6B1E-A72A-41887C3C923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16"/>
          <a:stretch>
            <a:fillRect/>
          </a:stretch>
        </p:blipFill>
        <p:spPr>
          <a:xfrm flipH="1">
            <a:off x="-194767" y="444"/>
            <a:ext cx="6266825" cy="630593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9D9AF0E-F00E-C417-CA8E-7BE2F1E417F2}"/>
              </a:ext>
            </a:extLst>
          </p:cNvPr>
          <p:cNvSpPr/>
          <p:nvPr/>
        </p:nvSpPr>
        <p:spPr>
          <a:xfrm>
            <a:off x="4878119" y="3147700"/>
            <a:ext cx="7334987" cy="3129545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85A4B2F-C159-7264-729F-1165720F3B5F}"/>
              </a:ext>
            </a:extLst>
          </p:cNvPr>
          <p:cNvGrpSpPr/>
          <p:nvPr/>
        </p:nvGrpSpPr>
        <p:grpSpPr>
          <a:xfrm>
            <a:off x="-2298285" y="3652337"/>
            <a:ext cx="6435815" cy="3273649"/>
            <a:chOff x="3620153" y="2535073"/>
            <a:chExt cx="7781605" cy="3968052"/>
          </a:xfrm>
        </p:grpSpPr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BF64D966-B385-4CBB-57E7-8161A86D1D8D}"/>
                </a:ext>
              </a:extLst>
            </p:cNvPr>
            <p:cNvSpPr/>
            <p:nvPr/>
          </p:nvSpPr>
          <p:spPr>
            <a:xfrm>
              <a:off x="3620153" y="5835206"/>
              <a:ext cx="40388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55333284-E189-8011-F0A0-20B663078685}"/>
                </a:ext>
              </a:extLst>
            </p:cNvPr>
            <p:cNvSpPr/>
            <p:nvPr/>
          </p:nvSpPr>
          <p:spPr>
            <a:xfrm>
              <a:off x="7110786" y="3157001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0B68BB69-778E-AC5B-D432-9CA933600CDB}"/>
                </a:ext>
              </a:extLst>
            </p:cNvPr>
            <p:cNvSpPr/>
            <p:nvPr/>
          </p:nvSpPr>
          <p:spPr>
            <a:xfrm>
              <a:off x="5278624" y="3493177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C9CC15AF-1A46-7BB3-B28D-A38C0052DCEE}"/>
                </a:ext>
              </a:extLst>
            </p:cNvPr>
            <p:cNvSpPr/>
            <p:nvPr/>
          </p:nvSpPr>
          <p:spPr>
            <a:xfrm>
              <a:off x="8304211" y="4255175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41E58542-03CA-1D30-CC43-2FFF9268FEC3}"/>
                </a:ext>
              </a:extLst>
            </p:cNvPr>
            <p:cNvSpPr/>
            <p:nvPr/>
          </p:nvSpPr>
          <p:spPr>
            <a:xfrm>
              <a:off x="8858901" y="4669795"/>
              <a:ext cx="19377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5163C056-DE0B-CC44-6A8B-19D9E996042C}"/>
                </a:ext>
              </a:extLst>
            </p:cNvPr>
            <p:cNvSpPr/>
            <p:nvPr/>
          </p:nvSpPr>
          <p:spPr>
            <a:xfrm>
              <a:off x="10293254" y="2535073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CD190CB-F4BF-CDF3-DECB-1EAE62F77AA1}"/>
                </a:ext>
              </a:extLst>
            </p:cNvPr>
            <p:cNvSpPr/>
            <p:nvPr/>
          </p:nvSpPr>
          <p:spPr>
            <a:xfrm>
              <a:off x="5799696" y="4630574"/>
              <a:ext cx="1209357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</p:grp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EF8E2E7C-387A-54FD-0C55-523B9C50A556}"/>
              </a:ext>
            </a:extLst>
          </p:cNvPr>
          <p:cNvSpPr/>
          <p:nvPr/>
        </p:nvSpPr>
        <p:spPr>
          <a:xfrm>
            <a:off x="3913613" y="6272234"/>
            <a:ext cx="8535311" cy="662233"/>
          </a:xfrm>
          <a:prstGeom prst="parallelogram">
            <a:avLst/>
          </a:prstGeom>
          <a:solidFill>
            <a:srgbClr val="00805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F3F980-EACC-84E8-3367-B98243797D3B}"/>
              </a:ext>
            </a:extLst>
          </p:cNvPr>
          <p:cNvSpPr/>
          <p:nvPr/>
        </p:nvSpPr>
        <p:spPr>
          <a:xfrm>
            <a:off x="4880862" y="0"/>
            <a:ext cx="7323754" cy="3145144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1C412C-9A12-3F67-DC6F-5D7155FD448B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rbel"/>
                <a:cs typeface="Arial"/>
              </a:rPr>
              <a:t>02  Section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6A907C8D-387E-36BC-9FC6-8A05BEDD7D2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A2DB96-A49E-5E62-0D34-CAF05FFE9E8E}"/>
              </a:ext>
            </a:extLst>
          </p:cNvPr>
          <p:cNvSpPr txBox="1"/>
          <p:nvPr/>
        </p:nvSpPr>
        <p:spPr>
          <a:xfrm>
            <a:off x="5249537" y="465044"/>
            <a:ext cx="6527897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Our</a:t>
            </a:r>
          </a:p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Recommendations</a:t>
            </a: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B13A938D-6F68-D7CB-7E16-F23B0CB7DC7A}"/>
              </a:ext>
            </a:extLst>
          </p:cNvPr>
          <p:cNvSpPr/>
          <p:nvPr/>
        </p:nvSpPr>
        <p:spPr>
          <a:xfrm>
            <a:off x="-290700" y="6275828"/>
            <a:ext cx="5166382" cy="660731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56DFC9-CA36-D48A-527A-86DF628A8A75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 dirty="0">
              <a:solidFill>
                <a:srgbClr val="30B07F"/>
              </a:solidFill>
              <a:latin typeface="Corbe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41781-64D7-5590-CD8F-07D2069C9C41}"/>
              </a:ext>
            </a:extLst>
          </p:cNvPr>
          <p:cNvSpPr txBox="1"/>
          <p:nvPr/>
        </p:nvSpPr>
        <p:spPr>
          <a:xfrm>
            <a:off x="5293548" y="2301479"/>
            <a:ext cx="622125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To strengthen growth and scalability, we recommend refining systems, expanding partnerships, and enhancing user experience with data-driven precision. </a:t>
            </a:r>
            <a:endParaRPr lang="en-US" sz="1300">
              <a:solidFill>
                <a:schemeClr val="bg1"/>
              </a:solidFill>
              <a:latin typeface="Corbe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332801-2DD0-3118-ED6F-F72BD1A8B7C2}"/>
              </a:ext>
            </a:extLst>
          </p:cNvPr>
          <p:cNvSpPr txBox="1"/>
          <p:nvPr/>
        </p:nvSpPr>
        <p:spPr>
          <a:xfrm>
            <a:off x="5153126" y="3990128"/>
            <a:ext cx="1952632" cy="1800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95DDC5"/>
                </a:solidFill>
                <a:latin typeface="Consolas"/>
                <a:ea typeface="+mn-lt"/>
                <a:cs typeface="+mn-lt"/>
              </a:rPr>
              <a:t>Optimize Operations</a:t>
            </a:r>
            <a:endParaRPr lang="en-US" sz="1300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Streamline workflows and automate manual tasks to improve efficiency, reduce costs, and ensure consistent performance.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17D86B-5C74-E381-A05E-7BDCF8323209}"/>
              </a:ext>
            </a:extLst>
          </p:cNvPr>
          <p:cNvSpPr/>
          <p:nvPr/>
        </p:nvSpPr>
        <p:spPr>
          <a:xfrm>
            <a:off x="5966531" y="3596759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/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472F08-B7D4-7561-8F9A-487B343F4C1D}"/>
              </a:ext>
            </a:extLst>
          </p:cNvPr>
          <p:cNvSpPr txBox="1"/>
          <p:nvPr/>
        </p:nvSpPr>
        <p:spPr>
          <a:xfrm>
            <a:off x="7663933" y="3990128"/>
            <a:ext cx="1777252" cy="1800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95DDC5"/>
                </a:solidFill>
                <a:latin typeface="Consolas"/>
                <a:ea typeface="+mn-lt"/>
                <a:cs typeface="+mn-lt"/>
              </a:rPr>
              <a:t>Expand Partnerships</a:t>
            </a:r>
            <a:endParaRPr lang="en-US" sz="1300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Collaborate with trusted institutions to accelerate adoption, build credibility, and open new revenue streams.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24E5107-5CC2-5B7A-991C-87337BF57FAB}"/>
              </a:ext>
            </a:extLst>
          </p:cNvPr>
          <p:cNvSpPr/>
          <p:nvPr/>
        </p:nvSpPr>
        <p:spPr>
          <a:xfrm>
            <a:off x="8392671" y="3596759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4D77FF-AC94-B258-C7DB-1CF407C76872}"/>
              </a:ext>
            </a:extLst>
          </p:cNvPr>
          <p:cNvSpPr txBox="1"/>
          <p:nvPr/>
        </p:nvSpPr>
        <p:spPr>
          <a:xfrm>
            <a:off x="10061470" y="3990128"/>
            <a:ext cx="1662347" cy="1800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95DDC5"/>
                </a:solidFill>
                <a:latin typeface="Consolas"/>
                <a:ea typeface="+mn-lt"/>
                <a:cs typeface="+mn-lt"/>
              </a:rPr>
              <a:t>Elevate Experience</a:t>
            </a:r>
            <a:endParaRPr lang="en-US" sz="1300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Leverage user insights and AI personalization to enhance satisfaction and long-term engagement.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FDE1D37-3DAA-F2F2-725C-225BA62CDEC6}"/>
              </a:ext>
            </a:extLst>
          </p:cNvPr>
          <p:cNvSpPr/>
          <p:nvPr/>
        </p:nvSpPr>
        <p:spPr>
          <a:xfrm>
            <a:off x="10729732" y="3596759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3711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0E22A-0B26-F042-D441-26FA095D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arallelogram 69">
            <a:extLst>
              <a:ext uri="{FF2B5EF4-FFF2-40B4-BE49-F238E27FC236}">
                <a16:creationId xmlns:a16="http://schemas.microsoft.com/office/drawing/2014/main" id="{0444A79D-9952-369E-F8D6-6BDB372EBE12}"/>
              </a:ext>
            </a:extLst>
          </p:cNvPr>
          <p:cNvSpPr/>
          <p:nvPr/>
        </p:nvSpPr>
        <p:spPr>
          <a:xfrm>
            <a:off x="3809132" y="6272359"/>
            <a:ext cx="8639792" cy="667795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008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0EA5C2-EF9E-0265-7D88-CDCC5A4ED913}"/>
              </a:ext>
            </a:extLst>
          </p:cNvPr>
          <p:cNvSpPr/>
          <p:nvPr/>
        </p:nvSpPr>
        <p:spPr>
          <a:xfrm>
            <a:off x="-4484" y="0"/>
            <a:ext cx="4069231" cy="6406789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727CA2-2C6A-809F-10B6-2EBD00DAD5EB}"/>
              </a:ext>
            </a:extLst>
          </p:cNvPr>
          <p:cNvGrpSpPr/>
          <p:nvPr/>
        </p:nvGrpSpPr>
        <p:grpSpPr>
          <a:xfrm>
            <a:off x="-2540384" y="2628067"/>
            <a:ext cx="6925143" cy="3955457"/>
            <a:chOff x="3620153" y="2535073"/>
            <a:chExt cx="7781605" cy="3968052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F49A7C1F-3BE4-EA64-6A5B-E1665D12C483}"/>
                </a:ext>
              </a:extLst>
            </p:cNvPr>
            <p:cNvSpPr/>
            <p:nvPr/>
          </p:nvSpPr>
          <p:spPr>
            <a:xfrm>
              <a:off x="3620153" y="5835206"/>
              <a:ext cx="40388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3474AEB6-0FC0-3913-1443-938B3C618F9C}"/>
                </a:ext>
              </a:extLst>
            </p:cNvPr>
            <p:cNvSpPr/>
            <p:nvPr/>
          </p:nvSpPr>
          <p:spPr>
            <a:xfrm>
              <a:off x="7110786" y="3157001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5D544FD2-FEA3-1F09-247E-9318A0701979}"/>
                </a:ext>
              </a:extLst>
            </p:cNvPr>
            <p:cNvSpPr/>
            <p:nvPr/>
          </p:nvSpPr>
          <p:spPr>
            <a:xfrm>
              <a:off x="8304211" y="4255175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78446A7-BF62-F4E4-2991-3889DE13088D}"/>
                </a:ext>
              </a:extLst>
            </p:cNvPr>
            <p:cNvSpPr/>
            <p:nvPr/>
          </p:nvSpPr>
          <p:spPr>
            <a:xfrm>
              <a:off x="8858901" y="4669795"/>
              <a:ext cx="19377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69B38491-3E19-5477-BD49-8ED51681F480}"/>
                </a:ext>
              </a:extLst>
            </p:cNvPr>
            <p:cNvSpPr/>
            <p:nvPr/>
          </p:nvSpPr>
          <p:spPr>
            <a:xfrm>
              <a:off x="10293254" y="2535073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A582CEFD-177C-9EB1-05A6-CD0E64B4C382}"/>
                </a:ext>
              </a:extLst>
            </p:cNvPr>
            <p:cNvSpPr/>
            <p:nvPr/>
          </p:nvSpPr>
          <p:spPr>
            <a:xfrm>
              <a:off x="5799696" y="4630574"/>
              <a:ext cx="1209357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960B4F3D-CE2F-93AF-8D35-18448B67A0F8}"/>
                </a:ext>
              </a:extLst>
            </p:cNvPr>
            <p:cNvSpPr/>
            <p:nvPr/>
          </p:nvSpPr>
          <p:spPr>
            <a:xfrm>
              <a:off x="5278624" y="3493177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4E56EC11-DFEA-0E20-D7D3-2DACE9E7554D}"/>
              </a:ext>
            </a:extLst>
          </p:cNvPr>
          <p:cNvSpPr/>
          <p:nvPr/>
        </p:nvSpPr>
        <p:spPr>
          <a:xfrm>
            <a:off x="4063251" y="3129867"/>
            <a:ext cx="4074833" cy="3138101"/>
          </a:xfrm>
          <a:prstGeom prst="rect">
            <a:avLst/>
          </a:prstGeom>
          <a:solidFill>
            <a:srgbClr val="004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8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DAA515-8425-5253-47FE-5245C9016A24}"/>
              </a:ext>
            </a:extLst>
          </p:cNvPr>
          <p:cNvSpPr/>
          <p:nvPr/>
        </p:nvSpPr>
        <p:spPr>
          <a:xfrm>
            <a:off x="8119780" y="-1"/>
            <a:ext cx="4074833" cy="3138101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95DDC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E69249-5F6B-84CB-F668-CE30C4E5EB53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8050"/>
                </a:solidFill>
                <a:latin typeface="Corbel"/>
                <a:cs typeface="Arial"/>
              </a:rPr>
              <a:t>02  Section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EF9AF1F9-3AD3-69FC-2D4E-022894D7E40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3F2989C-5A97-D22B-68FE-9C3AAE9D93A5}"/>
              </a:ext>
            </a:extLst>
          </p:cNvPr>
          <p:cNvSpPr/>
          <p:nvPr/>
        </p:nvSpPr>
        <p:spPr>
          <a:xfrm>
            <a:off x="4063252" y="0"/>
            <a:ext cx="4074833" cy="3138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805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5139F1-038F-CFD8-4149-A7A88CAFB05A}"/>
              </a:ext>
            </a:extLst>
          </p:cNvPr>
          <p:cNvSpPr/>
          <p:nvPr/>
        </p:nvSpPr>
        <p:spPr>
          <a:xfrm>
            <a:off x="8125217" y="3143250"/>
            <a:ext cx="4074833" cy="3121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D26CF0-CBC5-ECB6-D7F8-A15F3175B7A3}"/>
              </a:ext>
            </a:extLst>
          </p:cNvPr>
          <p:cNvSpPr txBox="1"/>
          <p:nvPr/>
        </p:nvSpPr>
        <p:spPr>
          <a:xfrm>
            <a:off x="364191" y="465044"/>
            <a:ext cx="345141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Next</a:t>
            </a:r>
          </a:p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Steps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B752DC-F90D-F560-494F-115FF652E4CC}"/>
              </a:ext>
            </a:extLst>
          </p:cNvPr>
          <p:cNvSpPr txBox="1"/>
          <p:nvPr/>
        </p:nvSpPr>
        <p:spPr>
          <a:xfrm>
            <a:off x="4427610" y="899949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008050"/>
                </a:solidFill>
                <a:latin typeface="Consolas"/>
                <a:ea typeface="+mn-lt"/>
                <a:cs typeface="+mn-lt"/>
              </a:rPr>
              <a:t>Implementation Plan</a:t>
            </a:r>
            <a:endParaRPr lang="en-US" b="1" dirty="0">
              <a:latin typeface="Consola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E3038B-3A6C-8BFD-5DEE-2D860736A18C}"/>
              </a:ext>
            </a:extLst>
          </p:cNvPr>
          <p:cNvSpPr txBox="1"/>
          <p:nvPr/>
        </p:nvSpPr>
        <p:spPr>
          <a:xfrm>
            <a:off x="4427610" y="1233213"/>
            <a:ext cx="3325398" cy="15234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Finalize feature roadmap and assign key deliverables</a:t>
            </a:r>
            <a:r>
              <a:rPr lang="en-US" sz="1300" baseline="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.</a:t>
            </a:r>
            <a:endParaRPr lang="en-US" sz="1300" dirty="0">
              <a:solidFill>
                <a:srgbClr val="11322B"/>
              </a:solidFill>
              <a:latin typeface="Corbel"/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Establish cross-functional launch team for coordination</a:t>
            </a:r>
            <a:r>
              <a:rPr lang="en-US" sz="1300" baseline="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.</a:t>
            </a:r>
            <a:endParaRPr lang="en-US" sz="1300" dirty="0">
              <a:solidFill>
                <a:srgbClr val="11322B"/>
              </a:solidFill>
              <a:latin typeface="Corbel"/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Begin phased rollout by quarter-end.</a:t>
            </a:r>
            <a:endParaRPr lang="en-US" dirty="0">
              <a:latin typeface="Corbel"/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 dirty="0">
              <a:solidFill>
                <a:srgbClr val="11322B"/>
              </a:solidFill>
              <a:latin typeface="Corbel"/>
              <a:cs typeface="Segoe UI"/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A73F30A4-B1D7-BB4E-7D91-E2CF864BF545}"/>
              </a:ext>
            </a:extLst>
          </p:cNvPr>
          <p:cNvSpPr/>
          <p:nvPr/>
        </p:nvSpPr>
        <p:spPr>
          <a:xfrm>
            <a:off x="-290700" y="6265937"/>
            <a:ext cx="4369089" cy="674216"/>
          </a:xfrm>
          <a:prstGeom prst="parallelogram">
            <a:avLst/>
          </a:prstGeom>
          <a:solidFill>
            <a:srgbClr val="11322B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C27DE4-A8CE-E723-949D-4617FF1A47E7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30B07F"/>
                </a:solidFill>
                <a:latin typeface="Corbel"/>
              </a:rPr>
              <a:t>Company Name</a:t>
            </a:r>
            <a:endParaRPr lang="en-US" sz="1200" dirty="0">
              <a:solidFill>
                <a:srgbClr val="30B07F"/>
              </a:solidFill>
              <a:latin typeface="Corbel"/>
            </a:endParaRPr>
          </a:p>
        </p:txBody>
      </p:sp>
      <p:sp>
        <p:nvSpPr>
          <p:cNvPr id="71" name="Parallelogram 70">
            <a:extLst>
              <a:ext uri="{FF2B5EF4-FFF2-40B4-BE49-F238E27FC236}">
                <a16:creationId xmlns:a16="http://schemas.microsoft.com/office/drawing/2014/main" id="{6DE243B6-1866-E92C-C9CE-FD30E329D53C}"/>
              </a:ext>
            </a:extLst>
          </p:cNvPr>
          <p:cNvSpPr/>
          <p:nvPr/>
        </p:nvSpPr>
        <p:spPr>
          <a:xfrm>
            <a:off x="3890853" y="6265938"/>
            <a:ext cx="4243139" cy="674216"/>
          </a:xfrm>
          <a:prstGeom prst="parallelogram">
            <a:avLst/>
          </a:prstGeom>
          <a:solidFill>
            <a:srgbClr val="004C2F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F45FE6-A29B-2259-5D21-44A21A790566}"/>
              </a:ext>
            </a:extLst>
          </p:cNvPr>
          <p:cNvSpPr/>
          <p:nvPr/>
        </p:nvSpPr>
        <p:spPr>
          <a:xfrm>
            <a:off x="4516107" y="493660"/>
            <a:ext cx="323711" cy="311042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49FDA5-E06E-313E-F86A-63907D7056E1}"/>
              </a:ext>
            </a:extLst>
          </p:cNvPr>
          <p:cNvSpPr txBox="1"/>
          <p:nvPr/>
        </p:nvSpPr>
        <p:spPr>
          <a:xfrm>
            <a:off x="8534566" y="89994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95DDC5"/>
                </a:solidFill>
                <a:latin typeface="Consolas"/>
                <a:ea typeface="+mn-lt"/>
                <a:cs typeface="+mn-lt"/>
              </a:rPr>
              <a:t>Strategic Partnerships</a:t>
            </a:r>
            <a:endParaRPr lang="en-US" b="1">
              <a:latin typeface="Consola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03037-34B8-8B01-AF4F-832E8D474E13}"/>
              </a:ext>
            </a:extLst>
          </p:cNvPr>
          <p:cNvSpPr txBox="1"/>
          <p:nvPr/>
        </p:nvSpPr>
        <p:spPr>
          <a:xfrm>
            <a:off x="8534566" y="1233212"/>
            <a:ext cx="3325398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Initiate talks with leading financial institutions</a:t>
            </a:r>
            <a:r>
              <a:rPr lang="en-US" sz="1300" baseline="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.</a:t>
            </a:r>
            <a:endParaRPr lang="en-US" sz="1300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Define co-marketing and integration frameworks</a:t>
            </a:r>
            <a:r>
              <a:rPr lang="en-US" sz="1300" baseline="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.</a:t>
            </a:r>
            <a:endParaRPr lang="en-US" sz="1300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orbel"/>
                <a:ea typeface="+mn-lt"/>
                <a:cs typeface="+mn-lt"/>
              </a:rPr>
              <a:t>Secure pilot collaborations in target markets.</a:t>
            </a:r>
            <a:endParaRPr lang="en-US" dirty="0">
              <a:solidFill>
                <a:srgbClr val="FFFFFF"/>
              </a:solidFill>
              <a:latin typeface="Corbel"/>
              <a:ea typeface="+mn-lt"/>
              <a:cs typeface="+mn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9AA201-A842-F597-3E68-3AEFE7BD8C39}"/>
              </a:ext>
            </a:extLst>
          </p:cNvPr>
          <p:cNvSpPr/>
          <p:nvPr/>
        </p:nvSpPr>
        <p:spPr>
          <a:xfrm>
            <a:off x="8611857" y="493660"/>
            <a:ext cx="323711" cy="311042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3ED6DF-924E-9A25-7E54-FA811D815383}"/>
              </a:ext>
            </a:extLst>
          </p:cNvPr>
          <p:cNvSpPr txBox="1"/>
          <p:nvPr/>
        </p:nvSpPr>
        <p:spPr>
          <a:xfrm>
            <a:off x="4438815" y="408241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95DDC5"/>
                </a:solidFill>
                <a:latin typeface="Consolas"/>
                <a:ea typeface="+mn-lt"/>
                <a:cs typeface="+mn-lt"/>
              </a:rPr>
              <a:t>User Engagement</a:t>
            </a:r>
            <a:endParaRPr lang="en-US" sz="1400" b="1" dirty="0">
              <a:latin typeface="Consola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39841F-B7AC-775E-751C-7CE815EBE04D}"/>
              </a:ext>
            </a:extLst>
          </p:cNvPr>
          <p:cNvSpPr txBox="1"/>
          <p:nvPr/>
        </p:nvSpPr>
        <p:spPr>
          <a:xfrm>
            <a:off x="4438815" y="4415682"/>
            <a:ext cx="332539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Launch onboarding campaigns for early adopters</a:t>
            </a:r>
            <a:r>
              <a:rPr lang="en-US" sz="1300" baseline="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latin typeface="Corbel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Collect feedback through in-app surveys</a:t>
            </a:r>
            <a:r>
              <a:rPr lang="en-US" sz="1300" baseline="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  <a:latin typeface="Corbel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Corbel"/>
                <a:ea typeface="+mn-lt"/>
                <a:cs typeface="+mn-lt"/>
              </a:rPr>
              <a:t>Refine UX based on user behavior insights.</a:t>
            </a:r>
            <a:endParaRPr lang="en-US" dirty="0">
              <a:solidFill>
                <a:schemeClr val="bg1"/>
              </a:solidFill>
              <a:latin typeface="Corbel"/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 dirty="0">
              <a:solidFill>
                <a:schemeClr val="bg1"/>
              </a:solidFill>
              <a:latin typeface="Corbel"/>
              <a:cs typeface="Segoe UI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4DF866B-9578-75D6-2694-A2858C6C50DA}"/>
              </a:ext>
            </a:extLst>
          </p:cNvPr>
          <p:cNvSpPr/>
          <p:nvPr/>
        </p:nvSpPr>
        <p:spPr>
          <a:xfrm>
            <a:off x="4527312" y="3676130"/>
            <a:ext cx="323711" cy="311042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EAE5AA-D23D-A9B6-B3A0-27368B56387A}"/>
              </a:ext>
            </a:extLst>
          </p:cNvPr>
          <p:cNvSpPr txBox="1"/>
          <p:nvPr/>
        </p:nvSpPr>
        <p:spPr>
          <a:xfrm>
            <a:off x="8512154" y="408241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008050"/>
                </a:solidFill>
                <a:latin typeface="Consolas"/>
                <a:ea typeface="+mn-lt"/>
                <a:cs typeface="+mn-lt"/>
              </a:rPr>
              <a:t>Performance Tracking</a:t>
            </a:r>
            <a:endParaRPr lang="en-US" sz="1400" b="1" dirty="0">
              <a:latin typeface="Consola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14D155-78B9-D907-7CC2-209285DBDB60}"/>
              </a:ext>
            </a:extLst>
          </p:cNvPr>
          <p:cNvSpPr txBox="1"/>
          <p:nvPr/>
        </p:nvSpPr>
        <p:spPr>
          <a:xfrm>
            <a:off x="8512154" y="4415682"/>
            <a:ext cx="3325398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Set up analytics dashboards and KPIs</a:t>
            </a:r>
            <a:r>
              <a:rPr lang="en-US" sz="1300" baseline="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.</a:t>
            </a:r>
            <a:endParaRPr lang="en-US" dirty="0">
              <a:latin typeface="Corbel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Monitor adoption trends weekly</a:t>
            </a:r>
            <a:r>
              <a:rPr lang="en-US" sz="1300" baseline="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.</a:t>
            </a:r>
            <a:endParaRPr lang="en-US" dirty="0">
              <a:latin typeface="Corbel"/>
            </a:endParaRPr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Report key metrics to stakeholders monthly.</a:t>
            </a:r>
            <a:endParaRPr lang="en-US" dirty="0">
              <a:latin typeface="Corbel"/>
              <a:ea typeface="+mn-lt"/>
              <a:cs typeface="+mn-lt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BE0F752-C83B-25AE-B4C5-9C39B8AA4A3D}"/>
              </a:ext>
            </a:extLst>
          </p:cNvPr>
          <p:cNvSpPr/>
          <p:nvPr/>
        </p:nvSpPr>
        <p:spPr>
          <a:xfrm>
            <a:off x="8589445" y="3676130"/>
            <a:ext cx="323711" cy="311042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0370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5EC65-CF43-F7B9-CC4D-5AFD97FDB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DDA3B0B-BEC3-1D84-1DC1-6DDE80690703}"/>
              </a:ext>
            </a:extLst>
          </p:cNvPr>
          <p:cNvSpPr/>
          <p:nvPr/>
        </p:nvSpPr>
        <p:spPr>
          <a:xfrm>
            <a:off x="7331655" y="3143250"/>
            <a:ext cx="4858077" cy="3133427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686CC32-068D-51FE-14A3-913CDC9881FA}"/>
              </a:ext>
            </a:extLst>
          </p:cNvPr>
          <p:cNvGrpSpPr/>
          <p:nvPr/>
        </p:nvGrpSpPr>
        <p:grpSpPr>
          <a:xfrm>
            <a:off x="4808823" y="3736430"/>
            <a:ext cx="6925143" cy="3955457"/>
            <a:chOff x="3620153" y="2535073"/>
            <a:chExt cx="7781605" cy="3968052"/>
          </a:xfrm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E8D1B830-A836-C783-D903-B399236CE26A}"/>
                </a:ext>
              </a:extLst>
            </p:cNvPr>
            <p:cNvSpPr/>
            <p:nvPr/>
          </p:nvSpPr>
          <p:spPr>
            <a:xfrm>
              <a:off x="3620153" y="5835206"/>
              <a:ext cx="40388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EEDC2E2-54DD-460B-B665-BD8B2CC5DA8A}"/>
                </a:ext>
              </a:extLst>
            </p:cNvPr>
            <p:cNvSpPr/>
            <p:nvPr/>
          </p:nvSpPr>
          <p:spPr>
            <a:xfrm>
              <a:off x="7110786" y="3157001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235B24BC-74EA-693A-A751-E3156E69F72B}"/>
                </a:ext>
              </a:extLst>
            </p:cNvPr>
            <p:cNvSpPr/>
            <p:nvPr/>
          </p:nvSpPr>
          <p:spPr>
            <a:xfrm>
              <a:off x="8304211" y="4255175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D5D876A6-F00D-A0E9-EB53-A69994456C65}"/>
                </a:ext>
              </a:extLst>
            </p:cNvPr>
            <p:cNvSpPr/>
            <p:nvPr/>
          </p:nvSpPr>
          <p:spPr>
            <a:xfrm>
              <a:off x="8858901" y="4669795"/>
              <a:ext cx="1937738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67D8E2D8-6D7D-2F3E-BABF-C80521249160}"/>
                </a:ext>
              </a:extLst>
            </p:cNvPr>
            <p:cNvSpPr/>
            <p:nvPr/>
          </p:nvSpPr>
          <p:spPr>
            <a:xfrm>
              <a:off x="10293254" y="2535073"/>
              <a:ext cx="1108504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3105F5DA-4C8A-EC20-CFF4-62BE46190A22}"/>
                </a:ext>
              </a:extLst>
            </p:cNvPr>
            <p:cNvSpPr/>
            <p:nvPr/>
          </p:nvSpPr>
          <p:spPr>
            <a:xfrm>
              <a:off x="5799696" y="4630574"/>
              <a:ext cx="1209357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8FDA3EA0-DAD5-D56E-29ED-D3E8FCD2C7D9}"/>
                </a:ext>
              </a:extLst>
            </p:cNvPr>
            <p:cNvSpPr/>
            <p:nvPr/>
          </p:nvSpPr>
          <p:spPr>
            <a:xfrm>
              <a:off x="5278624" y="3493177"/>
              <a:ext cx="2856620" cy="667919"/>
            </a:xfrm>
            <a:prstGeom prst="parallelogram">
              <a:avLst/>
            </a:prstGeom>
            <a:noFill/>
            <a:ln w="12700">
              <a:solidFill>
                <a:srgbClr val="07E9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>
                <a:solidFill>
                  <a:srgbClr val="07E993"/>
                </a:solidFill>
              </a:endParaRPr>
            </a:p>
          </p:txBody>
        </p:sp>
      </p:grp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B28D46EB-0E19-ED46-D270-780AE5BEFE08}"/>
              </a:ext>
            </a:extLst>
          </p:cNvPr>
          <p:cNvSpPr/>
          <p:nvPr/>
        </p:nvSpPr>
        <p:spPr>
          <a:xfrm>
            <a:off x="6841385" y="6277921"/>
            <a:ext cx="5607539" cy="662233"/>
          </a:xfrm>
          <a:prstGeom prst="parallelogram">
            <a:avLst/>
          </a:prstGeom>
          <a:solidFill>
            <a:srgbClr val="004C2F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6BC846-52CD-7D48-AC00-7E61D5A043B5}"/>
              </a:ext>
            </a:extLst>
          </p:cNvPr>
          <p:cNvSpPr txBox="1"/>
          <p:nvPr/>
        </p:nvSpPr>
        <p:spPr>
          <a:xfrm>
            <a:off x="10485822" y="6437779"/>
            <a:ext cx="138459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30B07F"/>
                </a:solidFill>
                <a:latin typeface="Corbel"/>
                <a:cs typeface="Arial"/>
              </a:rPr>
              <a:t>04  Section</a:t>
            </a:r>
          </a:p>
        </p:txBody>
      </p:sp>
      <p:pic>
        <p:nvPicPr>
          <p:cNvPr id="28" name="Picture 27" descr="A green rectangles on a black background&#10;&#10;AI-generated content may be incorrect.">
            <a:extLst>
              <a:ext uri="{FF2B5EF4-FFF2-40B4-BE49-F238E27FC236}">
                <a16:creationId xmlns:a16="http://schemas.microsoft.com/office/drawing/2014/main" id="{E052FAB1-2D6D-7D36-B649-435D61CEA4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2667" y="316286"/>
            <a:ext cx="387724" cy="2975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AC4481-583F-15CD-96D5-BED05B54EE81}"/>
              </a:ext>
            </a:extLst>
          </p:cNvPr>
          <p:cNvSpPr/>
          <p:nvPr/>
        </p:nvSpPr>
        <p:spPr>
          <a:xfrm>
            <a:off x="-4484" y="0"/>
            <a:ext cx="7350380" cy="3142699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E0D528-9F6E-1BF4-5C6E-ED5B648FB257}"/>
              </a:ext>
            </a:extLst>
          </p:cNvPr>
          <p:cNvSpPr txBox="1"/>
          <p:nvPr/>
        </p:nvSpPr>
        <p:spPr>
          <a:xfrm>
            <a:off x="363194" y="465044"/>
            <a:ext cx="345141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100" dirty="0">
                <a:solidFill>
                  <a:srgbClr val="30B07F"/>
                </a:solidFill>
                <a:latin typeface="Consolas"/>
              </a:rPr>
              <a:t>Theme</a:t>
            </a:r>
            <a:br>
              <a:rPr lang="en-US" sz="5100" dirty="0">
                <a:solidFill>
                  <a:srgbClr val="30B07F"/>
                </a:solidFill>
                <a:latin typeface="Consolas"/>
              </a:rPr>
            </a:br>
            <a:r>
              <a:rPr lang="en-US" sz="5100" dirty="0">
                <a:solidFill>
                  <a:srgbClr val="30B07F"/>
                </a:solidFill>
                <a:latin typeface="Consolas"/>
              </a:rPr>
              <a:t>Style</a:t>
            </a:r>
            <a:endParaRPr lang="en-US" dirty="0">
              <a:solidFill>
                <a:srgbClr val="30B07F"/>
              </a:solidFill>
            </a:endParaRPr>
          </a:p>
        </p:txBody>
      </p: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56F95C19-ADB6-1AF5-8E48-5AFED768AE26}"/>
              </a:ext>
            </a:extLst>
          </p:cNvPr>
          <p:cNvSpPr/>
          <p:nvPr/>
        </p:nvSpPr>
        <p:spPr>
          <a:xfrm>
            <a:off x="-302073" y="6277920"/>
            <a:ext cx="7638771" cy="662233"/>
          </a:xfrm>
          <a:prstGeom prst="parallelogram">
            <a:avLst/>
          </a:prstGeom>
          <a:solidFill>
            <a:schemeClr val="bg1"/>
          </a:solidFill>
          <a:ln w="12700">
            <a:solidFill>
              <a:srgbClr val="30B0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004C2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6BC54B-1CBB-5638-0470-994EA19937D5}"/>
              </a:ext>
            </a:extLst>
          </p:cNvPr>
          <p:cNvSpPr txBox="1"/>
          <p:nvPr/>
        </p:nvSpPr>
        <p:spPr>
          <a:xfrm>
            <a:off x="493059" y="6437779"/>
            <a:ext cx="60960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aseline="0" dirty="0">
                <a:solidFill>
                  <a:srgbClr val="008050"/>
                </a:solidFill>
                <a:latin typeface="Corbel"/>
              </a:rPr>
              <a:t>Company Name</a:t>
            </a:r>
            <a:endParaRPr lang="en-US" sz="1200">
              <a:solidFill>
                <a:srgbClr val="008050"/>
              </a:solidFill>
              <a:latin typeface="Corbe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EE342A-E640-7F74-BBD8-A6599CB639C8}"/>
              </a:ext>
            </a:extLst>
          </p:cNvPr>
          <p:cNvSpPr txBox="1"/>
          <p:nvPr/>
        </p:nvSpPr>
        <p:spPr>
          <a:xfrm>
            <a:off x="7693509" y="32479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008050"/>
                </a:solidFill>
                <a:latin typeface="Consolas"/>
              </a:rPr>
              <a:t>Colors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151B7-82FD-33F2-B60D-557AB915ADCD}"/>
              </a:ext>
            </a:extLst>
          </p:cNvPr>
          <p:cNvSpPr txBox="1"/>
          <p:nvPr/>
        </p:nvSpPr>
        <p:spPr>
          <a:xfrm>
            <a:off x="4441612" y="32479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30B07F"/>
                </a:solidFill>
                <a:latin typeface="Consolas"/>
              </a:rPr>
              <a:t>Numerals Style</a:t>
            </a:r>
            <a:endParaRPr lang="en-US" dirty="0">
              <a:solidFill>
                <a:srgbClr val="30B07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547D0A-5D8F-4B89-C04C-2900D22F3304}"/>
              </a:ext>
            </a:extLst>
          </p:cNvPr>
          <p:cNvSpPr/>
          <p:nvPr/>
        </p:nvSpPr>
        <p:spPr>
          <a:xfrm>
            <a:off x="4555614" y="719417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nsolas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8C476D-596B-CCD6-09A2-8C54F68F25CC}"/>
              </a:ext>
            </a:extLst>
          </p:cNvPr>
          <p:cNvSpPr/>
          <p:nvPr/>
        </p:nvSpPr>
        <p:spPr>
          <a:xfrm>
            <a:off x="5165729" y="719417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973B0E6-3CBF-48FC-3F7D-5F0A5DB7E07A}"/>
              </a:ext>
            </a:extLst>
          </p:cNvPr>
          <p:cNvSpPr/>
          <p:nvPr/>
        </p:nvSpPr>
        <p:spPr>
          <a:xfrm>
            <a:off x="5775844" y="719417"/>
            <a:ext cx="323711" cy="317339"/>
          </a:xfrm>
          <a:prstGeom prst="ellipse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latin typeface="Consola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33C49E-6014-C932-0C28-A163C36A7844}"/>
              </a:ext>
            </a:extLst>
          </p:cNvPr>
          <p:cNvSpPr txBox="1"/>
          <p:nvPr/>
        </p:nvSpPr>
        <p:spPr>
          <a:xfrm>
            <a:off x="4441612" y="1593084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30B07F"/>
                </a:solidFill>
                <a:latin typeface="Consolas"/>
              </a:rPr>
              <a:t>Icons</a:t>
            </a:r>
            <a:endParaRPr lang="en-US">
              <a:solidFill>
                <a:srgbClr val="30B07F"/>
              </a:solidFill>
            </a:endParaRPr>
          </a:p>
        </p:txBody>
      </p:sp>
      <p:pic>
        <p:nvPicPr>
          <p:cNvPr id="32" name="Graphic 31" descr="Eye with solid fill">
            <a:extLst>
              <a:ext uri="{FF2B5EF4-FFF2-40B4-BE49-F238E27FC236}">
                <a16:creationId xmlns:a16="http://schemas.microsoft.com/office/drawing/2014/main" id="{B0093AD1-9FDF-D86C-6C19-A682072C2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09" y="1904921"/>
            <a:ext cx="382121" cy="382121"/>
          </a:xfrm>
          <a:prstGeom prst="rect">
            <a:avLst/>
          </a:prstGeom>
        </p:spPr>
      </p:pic>
      <p:pic>
        <p:nvPicPr>
          <p:cNvPr id="35" name="Graphic 34" descr="Trophy with solid fill">
            <a:extLst>
              <a:ext uri="{FF2B5EF4-FFF2-40B4-BE49-F238E27FC236}">
                <a16:creationId xmlns:a16="http://schemas.microsoft.com/office/drawing/2014/main" id="{7B459462-DACC-2A81-31C8-7CD5F5E35B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4394" y="1904921"/>
            <a:ext cx="382121" cy="382121"/>
          </a:xfrm>
          <a:prstGeom prst="rect">
            <a:avLst/>
          </a:prstGeom>
        </p:spPr>
      </p:pic>
      <p:pic>
        <p:nvPicPr>
          <p:cNvPr id="37" name="Graphic 36" descr="Bullseye with solid fill">
            <a:extLst>
              <a:ext uri="{FF2B5EF4-FFF2-40B4-BE49-F238E27FC236}">
                <a16:creationId xmlns:a16="http://schemas.microsoft.com/office/drawing/2014/main" id="{1E6A5326-7CC0-7ECE-0611-4F9206334E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2178" y="1904921"/>
            <a:ext cx="387264" cy="382044"/>
          </a:xfrm>
          <a:prstGeom prst="rect">
            <a:avLst/>
          </a:prstGeom>
        </p:spPr>
      </p:pic>
      <p:pic>
        <p:nvPicPr>
          <p:cNvPr id="38" name="Graphic 37" descr="Checkmark with solid fill">
            <a:extLst>
              <a:ext uri="{FF2B5EF4-FFF2-40B4-BE49-F238E27FC236}">
                <a16:creationId xmlns:a16="http://schemas.microsoft.com/office/drawing/2014/main" id="{2C28F9FC-16EA-40D2-8BFD-A7856F451C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0123" y="1902381"/>
            <a:ext cx="374702" cy="38188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54FDFE8-B056-90DF-3AE2-75C0F2EA5FE6}"/>
              </a:ext>
            </a:extLst>
          </p:cNvPr>
          <p:cNvSpPr/>
          <p:nvPr/>
        </p:nvSpPr>
        <p:spPr>
          <a:xfrm>
            <a:off x="7826532" y="893165"/>
            <a:ext cx="3919680" cy="385274"/>
          </a:xfrm>
          <a:prstGeom prst="rect">
            <a:avLst/>
          </a:prstGeom>
          <a:solidFill>
            <a:srgbClr val="113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latin typeface="Consolas"/>
              </a:rPr>
              <a:t>Dark Green #</a:t>
            </a:r>
            <a:r>
              <a:rPr lang="en-US" sz="1300" b="1" dirty="0">
                <a:latin typeface="Consolas"/>
                <a:ea typeface="+mn-lt"/>
                <a:cs typeface="+mn-lt"/>
              </a:rPr>
              <a:t>11322b</a:t>
            </a:r>
            <a:endParaRPr lang="en-US" b="1" dirty="0">
              <a:latin typeface="Consola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8118E8E-68BF-2C66-6A4C-0134D44CD9C1}"/>
              </a:ext>
            </a:extLst>
          </p:cNvPr>
          <p:cNvSpPr/>
          <p:nvPr/>
        </p:nvSpPr>
        <p:spPr>
          <a:xfrm>
            <a:off x="7826532" y="1607546"/>
            <a:ext cx="3919680" cy="385274"/>
          </a:xfrm>
          <a:prstGeom prst="rect">
            <a:avLst/>
          </a:prstGeom>
          <a:solidFill>
            <a:srgbClr val="008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300" b="1" dirty="0">
                <a:latin typeface="Consolas"/>
              </a:rPr>
              <a:t>Golf Green #</a:t>
            </a:r>
            <a:r>
              <a:rPr lang="en-US" sz="1300" b="1" dirty="0">
                <a:latin typeface="Consolas"/>
                <a:ea typeface="+mn-lt"/>
                <a:cs typeface="+mn-lt"/>
              </a:rPr>
              <a:t>008050</a:t>
            </a:r>
            <a:endParaRPr lang="en-US" b="1" dirty="0">
              <a:latin typeface="Consola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0A82F8-D9C0-20DC-ECF5-2BD8603EC2EA}"/>
              </a:ext>
            </a:extLst>
          </p:cNvPr>
          <p:cNvSpPr/>
          <p:nvPr/>
        </p:nvSpPr>
        <p:spPr>
          <a:xfrm>
            <a:off x="7826532" y="1961935"/>
            <a:ext cx="3919680" cy="378977"/>
          </a:xfrm>
          <a:prstGeom prst="rect">
            <a:avLst/>
          </a:prstGeom>
          <a:solidFill>
            <a:srgbClr val="30B0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300" b="1" dirty="0">
                <a:latin typeface="Consolas"/>
              </a:rPr>
              <a:t>Soft Green #</a:t>
            </a:r>
            <a:r>
              <a:rPr lang="en-US" sz="1300" b="1" dirty="0">
                <a:latin typeface="Consolas"/>
                <a:ea typeface="+mn-lt"/>
                <a:cs typeface="+mn-lt"/>
              </a:rPr>
              <a:t>30b07f</a:t>
            </a:r>
            <a:endParaRPr lang="en-US" b="1" dirty="0">
              <a:latin typeface="Consola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DA116E-78EF-D451-49A7-4A4E1925CC00}"/>
              </a:ext>
            </a:extLst>
          </p:cNvPr>
          <p:cNvSpPr/>
          <p:nvPr/>
        </p:nvSpPr>
        <p:spPr>
          <a:xfrm>
            <a:off x="7826532" y="1247554"/>
            <a:ext cx="3919680" cy="385274"/>
          </a:xfrm>
          <a:prstGeom prst="rect">
            <a:avLst/>
          </a:prstGeom>
          <a:solidFill>
            <a:srgbClr val="004C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300" b="1" dirty="0">
                <a:latin typeface="Consolas"/>
              </a:rPr>
              <a:t>Moss #</a:t>
            </a:r>
            <a:r>
              <a:rPr lang="en-US" sz="1300" b="1" dirty="0">
                <a:latin typeface="Consolas"/>
                <a:ea typeface="+mn-lt"/>
                <a:cs typeface="+mn-lt"/>
              </a:rPr>
              <a:t>004c2f</a:t>
            </a:r>
            <a:endParaRPr lang="en-US" b="1" dirty="0">
              <a:latin typeface="Consola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A5AC0A-50D9-0DC4-AC0F-37247DC99963}"/>
              </a:ext>
            </a:extLst>
          </p:cNvPr>
          <p:cNvSpPr/>
          <p:nvPr/>
        </p:nvSpPr>
        <p:spPr>
          <a:xfrm>
            <a:off x="7826532" y="2316324"/>
            <a:ext cx="3919680" cy="385274"/>
          </a:xfrm>
          <a:prstGeom prst="rect">
            <a:avLst/>
          </a:prstGeom>
          <a:solidFill>
            <a:srgbClr val="95DD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300" b="1" dirty="0">
                <a:latin typeface="Consolas"/>
              </a:rPr>
              <a:t>Mint #</a:t>
            </a:r>
            <a:r>
              <a:rPr lang="en-US" sz="1300" b="1" dirty="0">
                <a:latin typeface="Consolas"/>
                <a:ea typeface="+mn-lt"/>
                <a:cs typeface="+mn-lt"/>
              </a:rPr>
              <a:t>30b07f</a:t>
            </a:r>
            <a:endParaRPr lang="en-US" b="1" dirty="0">
              <a:latin typeface="Consola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1B5391-8695-7EE2-81F6-A22A0F2CE8B6}"/>
              </a:ext>
            </a:extLst>
          </p:cNvPr>
          <p:cNvSpPr txBox="1"/>
          <p:nvPr/>
        </p:nvSpPr>
        <p:spPr>
          <a:xfrm>
            <a:off x="7693509" y="348873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onsolas"/>
              </a:rPr>
              <a:t>Treatments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C763C0-8445-7081-0DF6-09F76E67897F}"/>
              </a:ext>
            </a:extLst>
          </p:cNvPr>
          <p:cNvSpPr txBox="1"/>
          <p:nvPr/>
        </p:nvSpPr>
        <p:spPr>
          <a:xfrm>
            <a:off x="363194" y="3488738"/>
            <a:ext cx="2993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11322B"/>
                </a:solidFill>
                <a:latin typeface="Consolas"/>
              </a:rPr>
              <a:t>Typography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AA3F7C-969C-4C16-6A9B-5061DBA8347A}"/>
              </a:ext>
            </a:extLst>
          </p:cNvPr>
          <p:cNvSpPr txBox="1"/>
          <p:nvPr/>
        </p:nvSpPr>
        <p:spPr>
          <a:xfrm>
            <a:off x="363194" y="3884597"/>
            <a:ext cx="694653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solidFill>
                  <a:srgbClr val="30B07F"/>
                </a:solidFill>
                <a:latin typeface="Consolas"/>
              </a:rPr>
              <a:t>Headline in Consolas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C5357E-681A-4F62-D0B2-8A672E66FCA2}"/>
              </a:ext>
            </a:extLst>
          </p:cNvPr>
          <p:cNvSpPr txBox="1"/>
          <p:nvPr/>
        </p:nvSpPr>
        <p:spPr>
          <a:xfrm>
            <a:off x="363194" y="4589919"/>
            <a:ext cx="694653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30B07F"/>
                </a:solidFill>
                <a:latin typeface="Consolas"/>
              </a:rPr>
              <a:t>Subhead in Consolas Bold</a:t>
            </a:r>
            <a:endParaRPr lang="en-US" sz="1400" b="1" dirty="0">
              <a:latin typeface="Consola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B34CCA-15D1-63CF-C59B-52A1BB1DD39E}"/>
              </a:ext>
            </a:extLst>
          </p:cNvPr>
          <p:cNvSpPr txBox="1"/>
          <p:nvPr/>
        </p:nvSpPr>
        <p:spPr>
          <a:xfrm>
            <a:off x="363194" y="5242421"/>
            <a:ext cx="5761539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Paragraph font is in Corbel. Lorem ipsum dolor sit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amet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,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consectetur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adipiscing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elit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, sed do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eiusmod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tempor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incididunt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ut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labore et dolore magna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aliqua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. Ut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enim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ad minim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veniam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,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quis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nostrud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exercitation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ullamco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laboris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nisi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ut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 </a:t>
            </a:r>
            <a:r>
              <a:rPr lang="en-US" sz="1300" dirty="0" err="1">
                <a:solidFill>
                  <a:srgbClr val="11322B"/>
                </a:solidFill>
                <a:latin typeface="Corbel"/>
                <a:ea typeface="+mn-lt"/>
                <a:cs typeface="+mn-lt"/>
              </a:rPr>
              <a:t>aliquip</a:t>
            </a:r>
            <a:r>
              <a:rPr lang="en-US" sz="1300" dirty="0">
                <a:solidFill>
                  <a:srgbClr val="11322B"/>
                </a:solidFill>
                <a:latin typeface="Corbel"/>
                <a:ea typeface="+mn-lt"/>
                <a:cs typeface="+mn-lt"/>
              </a:rPr>
              <a:t>.</a:t>
            </a:r>
          </a:p>
        </p:txBody>
      </p:sp>
      <p:pic>
        <p:nvPicPr>
          <p:cNvPr id="68" name="Graphic 67" descr="Database with solid fill">
            <a:extLst>
              <a:ext uri="{FF2B5EF4-FFF2-40B4-BE49-F238E27FC236}">
                <a16:creationId xmlns:a16="http://schemas.microsoft.com/office/drawing/2014/main" id="{1F709FDE-FEEC-879D-DCC4-3C53CA2B67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12161" y="2361339"/>
            <a:ext cx="418216" cy="406403"/>
          </a:xfrm>
          <a:prstGeom prst="rect">
            <a:avLst/>
          </a:prstGeom>
        </p:spPr>
      </p:pic>
      <p:pic>
        <p:nvPicPr>
          <p:cNvPr id="70" name="Graphic 69" descr="Venn diagram with solid fill">
            <a:extLst>
              <a:ext uri="{FF2B5EF4-FFF2-40B4-BE49-F238E27FC236}">
                <a16:creationId xmlns:a16="http://schemas.microsoft.com/office/drawing/2014/main" id="{47783879-02F2-0905-955E-0C80143A57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25169" y="2338479"/>
            <a:ext cx="476191" cy="453547"/>
          </a:xfrm>
          <a:prstGeom prst="rect">
            <a:avLst/>
          </a:prstGeom>
        </p:spPr>
      </p:pic>
      <p:pic>
        <p:nvPicPr>
          <p:cNvPr id="71" name="Graphic 70" descr="Lightning bolt with solid fill">
            <a:extLst>
              <a:ext uri="{FF2B5EF4-FFF2-40B4-BE49-F238E27FC236}">
                <a16:creationId xmlns:a16="http://schemas.microsoft.com/office/drawing/2014/main" id="{35540B4B-509E-8B3C-05DC-216E825EC83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94056" y="2346099"/>
            <a:ext cx="443754" cy="438149"/>
          </a:xfrm>
          <a:prstGeom prst="rect">
            <a:avLst/>
          </a:prstGeom>
        </p:spPr>
      </p:pic>
      <p:pic>
        <p:nvPicPr>
          <p:cNvPr id="72" name="Graphic 71" descr="Earth globe: Americas with solid fill">
            <a:extLst>
              <a:ext uri="{FF2B5EF4-FFF2-40B4-BE49-F238E27FC236}">
                <a16:creationId xmlns:a16="http://schemas.microsoft.com/office/drawing/2014/main" id="{A4CD791C-23B0-8F6C-0055-9017A155928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32464" y="2353719"/>
            <a:ext cx="418401" cy="4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79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1074</Words>
  <Application>Microsoft Macintosh PowerPoint</Application>
  <PresentationFormat>Widescreen</PresentationFormat>
  <Paragraphs>215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Oona Gleeson</cp:lastModifiedBy>
  <cp:revision>2581</cp:revision>
  <dcterms:created xsi:type="dcterms:W3CDTF">2025-10-27T21:45:09Z</dcterms:created>
  <dcterms:modified xsi:type="dcterms:W3CDTF">2026-01-29T19:52:49Z</dcterms:modified>
</cp:coreProperties>
</file>