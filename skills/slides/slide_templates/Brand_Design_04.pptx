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3" r:id="rId8"/>
    <p:sldId id="265" r:id="rId9"/>
    <p:sldId id="267" r:id="rId10"/>
    <p:sldId id="269" r:id="rId11"/>
    <p:sldId id="271" r:id="rId12"/>
    <p:sldId id="270" r:id="rId1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lvl9pPr>
  </p:defaultTextStyle>
  <p:extLst>
    <p:ext uri="{EFAFB233-063F-42B5-8137-9DF3F51BA10A}">
      <p15:sldGuideLst xmlns:p15="http://schemas.microsoft.com/office/powerpoint/2012/main">
        <p15:guide id="1" orient="horz" pos="213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4241"/>
    <a:srgbClr val="D8B989"/>
    <a:srgbClr val="FFFBF6"/>
    <a:srgbClr val="000000"/>
    <a:srgbClr val="E88D8A"/>
    <a:srgbClr val="CF5685"/>
    <a:srgbClr val="F69D3B"/>
    <a:srgbClr val="B08342"/>
    <a:srgbClr val="B38D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a:tcStyle>
        <a:tcBdr/>
        <a:fill>
          <a:solidFill>
            <a:srgbClr val="E7E9EC"/>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a:tcStyle>
        <a:tcBdr/>
        <a:fill>
          <a:solidFill>
            <a:srgbClr val="E7EA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a:tcStyle>
        <a:tcBdr/>
        <a:fill>
          <a:solidFill>
            <a:srgbClr val="E8F0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72"/>
    <p:restoredTop sz="94678"/>
  </p:normalViewPr>
  <p:slideViewPr>
    <p:cSldViewPr snapToGrid="0" showGuides="1">
      <p:cViewPr varScale="1">
        <p:scale>
          <a:sx n="134" d="100"/>
          <a:sy n="134" d="100"/>
        </p:scale>
        <p:origin x="208" y="264"/>
      </p:cViewPr>
      <p:guideLst>
        <p:guide orient="horz" pos="2136"/>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Aptos"/>
      </a:defRPr>
    </a:lvl1pPr>
    <a:lvl2pPr indent="228600" latinLnBrk="0">
      <a:defRPr sz="1200">
        <a:latin typeface="+mn-lt"/>
        <a:ea typeface="+mn-ea"/>
        <a:cs typeface="+mn-cs"/>
        <a:sym typeface="Aptos"/>
      </a:defRPr>
    </a:lvl2pPr>
    <a:lvl3pPr indent="457200" latinLnBrk="0">
      <a:defRPr sz="1200">
        <a:latin typeface="+mn-lt"/>
        <a:ea typeface="+mn-ea"/>
        <a:cs typeface="+mn-cs"/>
        <a:sym typeface="Aptos"/>
      </a:defRPr>
    </a:lvl3pPr>
    <a:lvl4pPr indent="685800" latinLnBrk="0">
      <a:defRPr sz="1200">
        <a:latin typeface="+mn-lt"/>
        <a:ea typeface="+mn-ea"/>
        <a:cs typeface="+mn-cs"/>
        <a:sym typeface="Aptos"/>
      </a:defRPr>
    </a:lvl4pPr>
    <a:lvl5pPr indent="914400" latinLnBrk="0">
      <a:defRPr sz="1200">
        <a:latin typeface="+mn-lt"/>
        <a:ea typeface="+mn-ea"/>
        <a:cs typeface="+mn-cs"/>
        <a:sym typeface="Aptos"/>
      </a:defRPr>
    </a:lvl5pPr>
    <a:lvl6pPr indent="1143000" latinLnBrk="0">
      <a:defRPr sz="1200">
        <a:latin typeface="+mn-lt"/>
        <a:ea typeface="+mn-ea"/>
        <a:cs typeface="+mn-cs"/>
        <a:sym typeface="Aptos"/>
      </a:defRPr>
    </a:lvl6pPr>
    <a:lvl7pPr indent="1371600" latinLnBrk="0">
      <a:defRPr sz="1200">
        <a:latin typeface="+mn-lt"/>
        <a:ea typeface="+mn-ea"/>
        <a:cs typeface="+mn-cs"/>
        <a:sym typeface="Aptos"/>
      </a:defRPr>
    </a:lvl7pPr>
    <a:lvl8pPr indent="1600200" latinLnBrk="0">
      <a:defRPr sz="1200">
        <a:latin typeface="+mn-lt"/>
        <a:ea typeface="+mn-ea"/>
        <a:cs typeface="+mn-cs"/>
        <a:sym typeface="Aptos"/>
      </a:defRPr>
    </a:lvl8pPr>
    <a:lvl9pPr indent="1828800" latinLnBrk="0">
      <a:defRPr sz="1200">
        <a:latin typeface="+mn-lt"/>
        <a:ea typeface="+mn-ea"/>
        <a:cs typeface="+mn-cs"/>
        <a:sym typeface="Apto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71945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12"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30"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757575"/>
                </a:solidFill>
              </a:defRPr>
            </a:lvl1pPr>
            <a:lvl2pPr marL="0" indent="457200">
              <a:buSzTx/>
              <a:buFontTx/>
              <a:buNone/>
              <a:defRPr sz="2400">
                <a:solidFill>
                  <a:srgbClr val="757575"/>
                </a:solidFill>
              </a:defRPr>
            </a:lvl2pPr>
            <a:lvl3pPr marL="0" indent="914400">
              <a:buSzTx/>
              <a:buFontTx/>
              <a:buNone/>
              <a:defRPr sz="2400">
                <a:solidFill>
                  <a:srgbClr val="757575"/>
                </a:solidFill>
              </a:defRPr>
            </a:lvl3pPr>
            <a:lvl4pPr marL="0" indent="1371600">
              <a:buSzTx/>
              <a:buFontTx/>
              <a:buNone/>
              <a:defRPr sz="2400">
                <a:solidFill>
                  <a:srgbClr val="757575"/>
                </a:solidFill>
              </a:defRPr>
            </a:lvl4pPr>
            <a:lvl5pPr marL="0" indent="1828800">
              <a:buSzTx/>
              <a:buFontTx/>
              <a:buNone/>
              <a:defRPr sz="2400">
                <a:solidFill>
                  <a:srgbClr val="757575"/>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48"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6172200" y="1681163"/>
            <a:ext cx="5183188" cy="823913"/>
          </a:xfrm>
          <a:prstGeom prst="rect">
            <a:avLst/>
          </a:prstGeom>
        </p:spPr>
        <p:txBody>
          <a:bodyPr anchor="b"/>
          <a:lstStyle/>
          <a:p>
            <a:pPr marL="0" indent="0">
              <a:buSzTx/>
              <a:buFontTx/>
              <a:buNone/>
              <a:defRPr sz="2400" b="1"/>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73" name="Body Level One…"/>
          <p:cNvSpPr txBox="1">
            <a:spLocks noGrp="1"/>
          </p:cNvSpPr>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83"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84"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080144" y="6404292"/>
            <a:ext cx="273657" cy="269241"/>
          </a:xfrm>
          <a:prstGeom prst="rect">
            <a:avLst/>
          </a:prstGeom>
          <a:ln w="12700">
            <a:miter lim="400000"/>
          </a:ln>
        </p:spPr>
        <p:txBody>
          <a:bodyPr wrap="none" lIns="45719" rIns="45719" anchor="ctr">
            <a:spAutoFit/>
          </a:bodyPr>
          <a:lstStyle>
            <a:lvl1pPr algn="r">
              <a:defRPr sz="1200">
                <a:solidFill>
                  <a:srgbClr val="757575"/>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Aptos"/>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pic>
        <p:nvPicPr>
          <p:cNvPr id="94" name="1761945179_img_0.jpeg" descr="1761945179_img_0.jpeg"/>
          <p:cNvPicPr>
            <a:picLocks noChangeAspect="1"/>
          </p:cNvPicPr>
          <p:nvPr/>
        </p:nvPicPr>
        <p:blipFill>
          <a:blip r:embed="rId2" cstate="hqprint">
            <a:alphaModFix amt="55856"/>
            <a:extLst>
              <a:ext uri="{28A0092B-C50C-407E-A947-70E740481C1C}">
                <a14:useLocalDpi xmlns:a14="http://schemas.microsoft.com/office/drawing/2010/main"/>
              </a:ext>
            </a:extLst>
          </a:blip>
          <a:srcRect/>
          <a:stretch>
            <a:fillRect/>
          </a:stretch>
        </p:blipFill>
        <p:spPr>
          <a:xfrm>
            <a:off x="0" y="0"/>
            <a:ext cx="12192000" cy="6858000"/>
          </a:xfrm>
          <a:prstGeom prst="rect">
            <a:avLst/>
          </a:prstGeom>
          <a:ln w="12700">
            <a:miter lim="400000"/>
          </a:ln>
        </p:spPr>
      </p:pic>
      <p:sp>
        <p:nvSpPr>
          <p:cNvPr id="95" name="Rounded Rectangle 8"/>
          <p:cNvSpPr/>
          <p:nvPr/>
        </p:nvSpPr>
        <p:spPr>
          <a:xfrm>
            <a:off x="579796" y="5989503"/>
            <a:ext cx="6581168" cy="490245"/>
          </a:xfrm>
          <a:prstGeom prst="roundRect">
            <a:avLst>
              <a:gd name="adj" fmla="val 16667"/>
            </a:avLst>
          </a:prstGeom>
          <a:solidFill>
            <a:srgbClr val="D8B989"/>
          </a:solidFill>
          <a:ln w="12700">
            <a:miter lim="400000"/>
          </a:ln>
        </p:spPr>
        <p:txBody>
          <a:bodyPr lIns="45719" rIns="45719" anchor="ctr"/>
          <a:lstStyle/>
          <a:p>
            <a:pPr algn="ctr">
              <a:defRPr sz="1500"/>
            </a:pPr>
            <a:endParaRPr/>
          </a:p>
        </p:txBody>
      </p:sp>
      <p:sp>
        <p:nvSpPr>
          <p:cNvPr id="96" name="TextBox 7"/>
          <p:cNvSpPr txBox="1"/>
          <p:nvPr/>
        </p:nvSpPr>
        <p:spPr>
          <a:xfrm>
            <a:off x="900018" y="6082040"/>
            <a:ext cx="1623577"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gn="ctr">
              <a:defRPr sz="1200">
                <a:solidFill>
                  <a:srgbClr val="FFFFFF"/>
                </a:solidFill>
                <a:latin typeface="Aptos Light"/>
                <a:ea typeface="Aptos Light"/>
                <a:cs typeface="Aptos Light"/>
                <a:sym typeface="Aptos Light"/>
              </a:defRPr>
            </a:lvl1pPr>
          </a:lstStyle>
          <a:p>
            <a:pPr algn="l"/>
            <a:r>
              <a:rPr lang="en-US" sz="1400" b="1" dirty="0">
                <a:solidFill>
                  <a:srgbClr val="194241"/>
                </a:solidFill>
                <a:latin typeface="Avenir" panose="02000503020000020003" pitchFamily="2" charset="0"/>
              </a:rPr>
              <a:t>Maison </a:t>
            </a:r>
            <a:r>
              <a:rPr lang="en-US" sz="1400" b="1" dirty="0" err="1">
                <a:solidFill>
                  <a:srgbClr val="194241"/>
                </a:solidFill>
                <a:latin typeface="Avenir" panose="02000503020000020003" pitchFamily="2" charset="0"/>
              </a:rPr>
              <a:t>Lepluplu</a:t>
            </a:r>
            <a:endParaRPr sz="1400" b="1" dirty="0">
              <a:solidFill>
                <a:srgbClr val="194241"/>
              </a:solidFill>
              <a:latin typeface="Avenir" panose="02000503020000020003" pitchFamily="2" charset="0"/>
            </a:endParaRPr>
          </a:p>
        </p:txBody>
      </p:sp>
      <p:sp>
        <p:nvSpPr>
          <p:cNvPr id="100" name="TextBox 6"/>
          <p:cNvSpPr txBox="1"/>
          <p:nvPr/>
        </p:nvSpPr>
        <p:spPr>
          <a:xfrm>
            <a:off x="432040" y="3859153"/>
            <a:ext cx="9195921" cy="21329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a:lnSpc>
                <a:spcPts val="7660"/>
              </a:lnSpc>
              <a:defRPr sz="8800" b="1">
                <a:solidFill>
                  <a:srgbClr val="FFFFFF"/>
                </a:solidFill>
              </a:defRPr>
            </a:pPr>
            <a:r>
              <a:rPr b="1" dirty="0">
                <a:ln w="3175">
                  <a:solidFill>
                    <a:srgbClr val="B08342"/>
                  </a:solidFill>
                </a:ln>
                <a:latin typeface="Avenir Heavy" panose="02000503020000020003" pitchFamily="2" charset="0"/>
              </a:rPr>
              <a:t>BRAND</a:t>
            </a:r>
            <a:br>
              <a:rPr b="1" dirty="0">
                <a:ln w="3175">
                  <a:solidFill>
                    <a:srgbClr val="B08342"/>
                  </a:solidFill>
                </a:ln>
                <a:latin typeface="Avenir Heavy" panose="02000503020000020003" pitchFamily="2" charset="0"/>
              </a:rPr>
            </a:br>
            <a:r>
              <a:rPr b="1" dirty="0">
                <a:ln w="3175">
                  <a:solidFill>
                    <a:srgbClr val="B08342"/>
                  </a:solidFill>
                </a:ln>
                <a:latin typeface="Avenir Heavy" panose="02000503020000020003" pitchFamily="2" charset="0"/>
              </a:rPr>
              <a:t>GUIDELINES </a:t>
            </a:r>
          </a:p>
        </p:txBody>
      </p:sp>
      <p:sp>
        <p:nvSpPr>
          <p:cNvPr id="101" name="Text"/>
          <p:cNvSpPr txBox="1"/>
          <p:nvPr/>
        </p:nvSpPr>
        <p:spPr>
          <a:xfrm>
            <a:off x="-1778000" y="-2370667"/>
            <a:ext cx="127000" cy="5232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defTabSz="457200">
              <a:defRPr sz="1400">
                <a:solidFill>
                  <a:srgbClr val="FFFFFF"/>
                </a:solidFill>
                <a:latin typeface="+mj-lt"/>
                <a:ea typeface="+mj-ea"/>
                <a:cs typeface="+mj-cs"/>
                <a:sym typeface="Helvetica"/>
              </a:defRPr>
            </a:pPr>
            <a:endParaRPr/>
          </a:p>
        </p:txBody>
      </p:sp>
      <p:pic>
        <p:nvPicPr>
          <p:cNvPr id="2" name="Picture 1" descr="A white paw print with brown outline&#10;&#10;AI-generated content may be incorrect.">
            <a:extLst>
              <a:ext uri="{FF2B5EF4-FFF2-40B4-BE49-F238E27FC236}">
                <a16:creationId xmlns:a16="http://schemas.microsoft.com/office/drawing/2014/main" id="{92FA93AE-47E0-9A9A-CDF4-7624D7EA193F}"/>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rot="18944103">
            <a:off x="-360878" y="219322"/>
            <a:ext cx="2521793" cy="1681197"/>
          </a:xfrm>
          <a:prstGeom prst="rect">
            <a:avLst/>
          </a:prstGeom>
        </p:spPr>
      </p:pic>
      <p:pic>
        <p:nvPicPr>
          <p:cNvPr id="3" name="Picture 2" descr="A yellow dog with bow tie and bow tie and bow tie and bow tie and bow tie and bow tie and bow tie and bow tie and bow tie and bow tie and bow tie and bow tie&#10;&#10;AI-generated content may be incorrect.">
            <a:extLst>
              <a:ext uri="{FF2B5EF4-FFF2-40B4-BE49-F238E27FC236}">
                <a16:creationId xmlns:a16="http://schemas.microsoft.com/office/drawing/2014/main" id="{8AA00961-9E56-D651-B0CE-C5E1B63B05F4}"/>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9608678" y="4511377"/>
            <a:ext cx="2151282" cy="1723249"/>
          </a:xfrm>
          <a:prstGeom prst="rect">
            <a:avLst/>
          </a:prstGeom>
        </p:spPr>
      </p:pic>
      <p:sp>
        <p:nvSpPr>
          <p:cNvPr id="4" name="TextBox 7">
            <a:extLst>
              <a:ext uri="{FF2B5EF4-FFF2-40B4-BE49-F238E27FC236}">
                <a16:creationId xmlns:a16="http://schemas.microsoft.com/office/drawing/2014/main" id="{C57BAD23-C5DF-342A-46CA-F29718921667}"/>
              </a:ext>
            </a:extLst>
          </p:cNvPr>
          <p:cNvSpPr txBox="1"/>
          <p:nvPr/>
        </p:nvSpPr>
        <p:spPr>
          <a:xfrm>
            <a:off x="3060762" y="6082040"/>
            <a:ext cx="1623577"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gn="ctr">
              <a:defRPr sz="1200">
                <a:solidFill>
                  <a:srgbClr val="FFFFFF"/>
                </a:solidFill>
                <a:latin typeface="Aptos Light"/>
                <a:ea typeface="Aptos Light"/>
                <a:cs typeface="Aptos Light"/>
                <a:sym typeface="Aptos Light"/>
              </a:defRPr>
            </a:lvl1pPr>
          </a:lstStyle>
          <a:p>
            <a:pPr algn="l"/>
            <a:r>
              <a:rPr sz="1400" dirty="0">
                <a:solidFill>
                  <a:srgbClr val="194241"/>
                </a:solidFill>
                <a:latin typeface="Avenir" panose="02000503020000020003" pitchFamily="2" charset="0"/>
              </a:rPr>
              <a:t>10/23/2025</a:t>
            </a:r>
          </a:p>
        </p:txBody>
      </p:sp>
      <p:sp>
        <p:nvSpPr>
          <p:cNvPr id="5" name="TextBox 7">
            <a:extLst>
              <a:ext uri="{FF2B5EF4-FFF2-40B4-BE49-F238E27FC236}">
                <a16:creationId xmlns:a16="http://schemas.microsoft.com/office/drawing/2014/main" id="{E9F39156-E937-AB99-432E-8AA87D55CCA1}"/>
              </a:ext>
            </a:extLst>
          </p:cNvPr>
          <p:cNvSpPr txBox="1"/>
          <p:nvPr/>
        </p:nvSpPr>
        <p:spPr>
          <a:xfrm>
            <a:off x="5221506" y="6082040"/>
            <a:ext cx="1748987"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gn="ctr">
              <a:defRPr sz="1200">
                <a:solidFill>
                  <a:srgbClr val="FFFFFF"/>
                </a:solidFill>
                <a:latin typeface="Aptos Light"/>
                <a:ea typeface="Aptos Light"/>
                <a:cs typeface="Aptos Light"/>
                <a:sym typeface="Aptos Light"/>
              </a:defRPr>
            </a:lvl1pPr>
          </a:lstStyle>
          <a:p>
            <a:pPr algn="l"/>
            <a:r>
              <a:rPr sz="1400" b="1" dirty="0">
                <a:solidFill>
                  <a:srgbClr val="194241"/>
                </a:solidFill>
                <a:latin typeface="Avenir" panose="02000503020000020003" pitchFamily="2" charset="0"/>
              </a:rPr>
              <a:t>Prepared by (name) </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8B989"/>
        </a:solidFill>
        <a:effectLst/>
      </p:bgPr>
    </p:bg>
    <p:spTree>
      <p:nvGrpSpPr>
        <p:cNvPr id="1" name=""/>
        <p:cNvGrpSpPr/>
        <p:nvPr/>
      </p:nvGrpSpPr>
      <p:grpSpPr>
        <a:xfrm>
          <a:off x="0" y="0"/>
          <a:ext cx="0" cy="0"/>
          <a:chOff x="0" y="0"/>
          <a:chExt cx="0" cy="0"/>
        </a:xfrm>
      </p:grpSpPr>
      <p:sp>
        <p:nvSpPr>
          <p:cNvPr id="106" name="Straight Connector 12"/>
          <p:cNvSpPr/>
          <p:nvPr/>
        </p:nvSpPr>
        <p:spPr>
          <a:xfrm>
            <a:off x="587828" y="694185"/>
            <a:ext cx="11041026" cy="30499"/>
          </a:xfrm>
          <a:prstGeom prst="line">
            <a:avLst/>
          </a:prstGeom>
          <a:ln w="19050">
            <a:solidFill>
              <a:srgbClr val="194241"/>
            </a:solidFill>
            <a:miter/>
          </a:ln>
        </p:spPr>
        <p:txBody>
          <a:bodyPr lIns="45719" rIns="45719"/>
          <a:lstStyle/>
          <a:p>
            <a:endParaRPr>
              <a:solidFill>
                <a:srgbClr val="FFFBF6"/>
              </a:solidFill>
            </a:endParaRPr>
          </a:p>
        </p:txBody>
      </p:sp>
      <p:sp>
        <p:nvSpPr>
          <p:cNvPr id="107" name="TextBox 73"/>
          <p:cNvSpPr txBox="1"/>
          <p:nvPr/>
        </p:nvSpPr>
        <p:spPr>
          <a:xfrm>
            <a:off x="586766" y="752988"/>
            <a:ext cx="1183976"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194241"/>
                </a:solidFill>
                <a:latin typeface="Avenir Medium" panose="02000503020000020003" pitchFamily="2" charset="0"/>
              </a:rPr>
              <a:t>Maison </a:t>
            </a:r>
            <a:r>
              <a:rPr sz="1100" dirty="0" err="1">
                <a:solidFill>
                  <a:srgbClr val="194241"/>
                </a:solidFill>
                <a:latin typeface="Avenir Medium" panose="02000503020000020003" pitchFamily="2" charset="0"/>
              </a:rPr>
              <a:t>Lepluplu</a:t>
            </a:r>
            <a:endParaRPr sz="1100" dirty="0">
              <a:solidFill>
                <a:srgbClr val="194241"/>
              </a:solidFill>
              <a:latin typeface="Avenir Medium" panose="02000503020000020003" pitchFamily="2" charset="0"/>
            </a:endParaRPr>
          </a:p>
        </p:txBody>
      </p:sp>
      <p:sp>
        <p:nvSpPr>
          <p:cNvPr id="108" name="TextBox 74"/>
          <p:cNvSpPr txBox="1"/>
          <p:nvPr/>
        </p:nvSpPr>
        <p:spPr>
          <a:xfrm>
            <a:off x="9713976" y="768633"/>
            <a:ext cx="82971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194241"/>
                </a:solidFill>
                <a:latin typeface="Avenir Medium" panose="02000503020000020003" pitchFamily="2" charset="0"/>
              </a:rPr>
              <a:t>10/23/2025</a:t>
            </a:r>
          </a:p>
        </p:txBody>
      </p:sp>
      <p:sp>
        <p:nvSpPr>
          <p:cNvPr id="109" name="TextBox 75"/>
          <p:cNvSpPr txBox="1"/>
          <p:nvPr/>
        </p:nvSpPr>
        <p:spPr>
          <a:xfrm>
            <a:off x="11383131" y="786797"/>
            <a:ext cx="259043"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194241"/>
                </a:solidFill>
                <a:latin typeface="Avenir Medium" panose="02000503020000020003" pitchFamily="2" charset="0"/>
              </a:rPr>
              <a:t>02</a:t>
            </a:r>
          </a:p>
        </p:txBody>
      </p:sp>
      <p:grpSp>
        <p:nvGrpSpPr>
          <p:cNvPr id="9" name="Group 8">
            <a:extLst>
              <a:ext uri="{FF2B5EF4-FFF2-40B4-BE49-F238E27FC236}">
                <a16:creationId xmlns:a16="http://schemas.microsoft.com/office/drawing/2014/main" id="{7945EE82-4FCB-4237-12B9-76844CED45F0}"/>
              </a:ext>
            </a:extLst>
          </p:cNvPr>
          <p:cNvGrpSpPr/>
          <p:nvPr/>
        </p:nvGrpSpPr>
        <p:grpSpPr>
          <a:xfrm>
            <a:off x="11492677" y="6147173"/>
            <a:ext cx="435703" cy="408620"/>
            <a:chOff x="10837571" y="6294296"/>
            <a:chExt cx="435703" cy="408620"/>
          </a:xfrm>
        </p:grpSpPr>
        <p:sp>
          <p:nvSpPr>
            <p:cNvPr id="8" name="Rounded Rectangle 7">
              <a:extLst>
                <a:ext uri="{FF2B5EF4-FFF2-40B4-BE49-F238E27FC236}">
                  <a16:creationId xmlns:a16="http://schemas.microsoft.com/office/drawing/2014/main" id="{E8FA2641-8F49-4F36-F081-F87D5CC6C1A4}"/>
                </a:ext>
              </a:extLst>
            </p:cNvPr>
            <p:cNvSpPr/>
            <p:nvPr/>
          </p:nvSpPr>
          <p:spPr>
            <a:xfrm>
              <a:off x="10837571" y="6294296"/>
              <a:ext cx="435703" cy="408620"/>
            </a:xfrm>
            <a:prstGeom prst="roundRect">
              <a:avLst/>
            </a:prstGeom>
            <a:solidFill>
              <a:srgbClr val="FFFBF6"/>
            </a:solidFill>
            <a:ln w="19050" cap="flat">
              <a:solidFill>
                <a:srgbClr val="FFFBF6"/>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194241"/>
                </a:solidFill>
                <a:effectLst/>
                <a:uFillTx/>
                <a:latin typeface="+mn-lt"/>
                <a:ea typeface="+mn-ea"/>
                <a:cs typeface="+mn-cs"/>
                <a:sym typeface="Aptos"/>
              </a:endParaRPr>
            </a:p>
          </p:txBody>
        </p:sp>
        <p:pic>
          <p:nvPicPr>
            <p:cNvPr id="2" name="Picture 1" descr="A yellow dog with bow tie and bow tie and bow tie and bow tie and bow tie and bow tie and bow tie and bow tie and bow tie and bow tie and bow tie and bow tie&#10;&#10;AI-generated content may be incorrect.">
              <a:extLst>
                <a:ext uri="{FF2B5EF4-FFF2-40B4-BE49-F238E27FC236}">
                  <a16:creationId xmlns:a16="http://schemas.microsoft.com/office/drawing/2014/main" id="{B898931B-EDC7-2E18-C41A-054CE2416AC5}"/>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0857461" y="6329205"/>
              <a:ext cx="395921" cy="317146"/>
            </a:xfrm>
            <a:prstGeom prst="rect">
              <a:avLst/>
            </a:prstGeom>
          </p:spPr>
        </p:pic>
      </p:grpSp>
      <p:sp>
        <p:nvSpPr>
          <p:cNvPr id="104" name="TextBox 4"/>
          <p:cNvSpPr txBox="1"/>
          <p:nvPr/>
        </p:nvSpPr>
        <p:spPr>
          <a:xfrm>
            <a:off x="586766" y="1366439"/>
            <a:ext cx="2424701" cy="830997"/>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4800" b="1">
                <a:solidFill>
                  <a:srgbClr val="F19C3E"/>
                </a:solidFill>
              </a:defRPr>
            </a:lvl1pPr>
          </a:lstStyle>
          <a:p>
            <a:r>
              <a:rPr dirty="0">
                <a:ln w="3175">
                  <a:noFill/>
                </a:ln>
                <a:solidFill>
                  <a:srgbClr val="194241"/>
                </a:solidFill>
                <a:latin typeface="Avenir Heavy" panose="02000503020000020003" pitchFamily="2" charset="0"/>
              </a:rPr>
              <a:t>C</a:t>
            </a:r>
            <a:r>
              <a:rPr lang="en-US" dirty="0">
                <a:ln w="3175">
                  <a:noFill/>
                </a:ln>
                <a:solidFill>
                  <a:srgbClr val="194241"/>
                </a:solidFill>
                <a:latin typeface="Avenir Heavy" panose="02000503020000020003" pitchFamily="2" charset="0"/>
              </a:rPr>
              <a:t>ontent</a:t>
            </a:r>
            <a:endParaRPr dirty="0">
              <a:ln w="3175">
                <a:noFill/>
              </a:ln>
              <a:solidFill>
                <a:srgbClr val="194241"/>
              </a:solidFill>
              <a:latin typeface="Avenir Heavy" panose="02000503020000020003" pitchFamily="2" charset="0"/>
            </a:endParaRPr>
          </a:p>
        </p:txBody>
      </p:sp>
      <p:sp>
        <p:nvSpPr>
          <p:cNvPr id="125" name="TextBox 24"/>
          <p:cNvSpPr txBox="1"/>
          <p:nvPr/>
        </p:nvSpPr>
        <p:spPr>
          <a:xfrm>
            <a:off x="7255535" y="3243299"/>
            <a:ext cx="2130552" cy="101566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noAutofit/>
          </a:bodyPr>
          <a:lstStyle>
            <a:lvl1pPr>
              <a:defRPr sz="1600"/>
            </a:lvl1pPr>
          </a:lstStyle>
          <a:p>
            <a:pPr>
              <a:spcAft>
                <a:spcPts val="1000"/>
              </a:spcAft>
            </a:pPr>
            <a:r>
              <a:rPr lang="en-US" sz="2000" b="1" dirty="0">
                <a:ln w="3175">
                  <a:noFill/>
                </a:ln>
                <a:solidFill>
                  <a:schemeClr val="bg1"/>
                </a:solidFill>
                <a:latin typeface="Avenir Heavy" panose="02000503020000020003" pitchFamily="2" charset="0"/>
              </a:rPr>
              <a:t>04</a:t>
            </a:r>
          </a:p>
          <a:p>
            <a:pPr>
              <a:spcAft>
                <a:spcPts val="1000"/>
              </a:spcAft>
            </a:pPr>
            <a:r>
              <a:rPr lang="en-US" sz="2000" b="1" dirty="0">
                <a:ln w="3175">
                  <a:noFill/>
                </a:ln>
                <a:solidFill>
                  <a:srgbClr val="194241"/>
                </a:solidFill>
                <a:latin typeface="Avenir Heavy" panose="02000503020000020003" pitchFamily="2" charset="0"/>
              </a:rPr>
              <a:t>Typography</a:t>
            </a:r>
          </a:p>
          <a:p>
            <a:pPr>
              <a:spcAft>
                <a:spcPts val="1000"/>
              </a:spcAft>
            </a:pPr>
            <a:endParaRPr sz="2000" b="1" dirty="0">
              <a:ln w="3175">
                <a:noFill/>
              </a:ln>
              <a:solidFill>
                <a:srgbClr val="194241"/>
              </a:solidFill>
              <a:latin typeface="Avenir Heavy" panose="02000503020000020003" pitchFamily="2" charset="0"/>
            </a:endParaRPr>
          </a:p>
        </p:txBody>
      </p:sp>
      <p:sp>
        <p:nvSpPr>
          <p:cNvPr id="18" name="TextBox 24">
            <a:extLst>
              <a:ext uri="{FF2B5EF4-FFF2-40B4-BE49-F238E27FC236}">
                <a16:creationId xmlns:a16="http://schemas.microsoft.com/office/drawing/2014/main" id="{D570DBBF-9ECD-E6F6-FA6D-6A36585DF283}"/>
              </a:ext>
            </a:extLst>
          </p:cNvPr>
          <p:cNvSpPr txBox="1"/>
          <p:nvPr/>
        </p:nvSpPr>
        <p:spPr>
          <a:xfrm>
            <a:off x="5030477" y="3267868"/>
            <a:ext cx="2130552" cy="70788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noAutofit/>
          </a:bodyPr>
          <a:lstStyle>
            <a:lvl1pPr>
              <a:defRPr sz="1600"/>
            </a:lvl1pPr>
          </a:lstStyle>
          <a:p>
            <a:pPr>
              <a:spcAft>
                <a:spcPts val="1000"/>
              </a:spcAft>
            </a:pPr>
            <a:r>
              <a:rPr lang="en-US" sz="2000" b="1" dirty="0">
                <a:ln w="3175">
                  <a:noFill/>
                </a:ln>
                <a:solidFill>
                  <a:schemeClr val="bg1"/>
                </a:solidFill>
                <a:latin typeface="Avenir Heavy" panose="02000503020000020003" pitchFamily="2" charset="0"/>
              </a:rPr>
              <a:t>03</a:t>
            </a:r>
          </a:p>
          <a:p>
            <a:pPr>
              <a:spcAft>
                <a:spcPts val="1000"/>
              </a:spcAft>
            </a:pPr>
            <a:r>
              <a:rPr lang="en-US" sz="2000" b="1" dirty="0">
                <a:ln w="3175">
                  <a:noFill/>
                </a:ln>
                <a:solidFill>
                  <a:srgbClr val="194241"/>
                </a:solidFill>
                <a:latin typeface="Avenir Heavy" panose="02000503020000020003" pitchFamily="2" charset="0"/>
              </a:rPr>
              <a:t>Colors</a:t>
            </a:r>
            <a:endParaRPr sz="2000" b="1" dirty="0">
              <a:ln w="3175">
                <a:noFill/>
              </a:ln>
              <a:solidFill>
                <a:srgbClr val="194241"/>
              </a:solidFill>
              <a:latin typeface="Avenir Heavy" panose="02000503020000020003" pitchFamily="2" charset="0"/>
            </a:endParaRPr>
          </a:p>
        </p:txBody>
      </p:sp>
      <p:sp>
        <p:nvSpPr>
          <p:cNvPr id="34" name="TextBox 24">
            <a:extLst>
              <a:ext uri="{FF2B5EF4-FFF2-40B4-BE49-F238E27FC236}">
                <a16:creationId xmlns:a16="http://schemas.microsoft.com/office/drawing/2014/main" id="{E9B5E221-75BB-89D9-32C9-280FD582B76A}"/>
              </a:ext>
            </a:extLst>
          </p:cNvPr>
          <p:cNvSpPr txBox="1"/>
          <p:nvPr/>
        </p:nvSpPr>
        <p:spPr>
          <a:xfrm>
            <a:off x="9486385" y="3207123"/>
            <a:ext cx="2130552" cy="132343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noAutofit/>
          </a:bodyPr>
          <a:lstStyle>
            <a:lvl1pPr>
              <a:defRPr sz="1600"/>
            </a:lvl1pPr>
          </a:lstStyle>
          <a:p>
            <a:pPr>
              <a:spcAft>
                <a:spcPts val="1000"/>
              </a:spcAft>
            </a:pPr>
            <a:r>
              <a:rPr lang="en-US" sz="2000" b="1" dirty="0">
                <a:ln w="3175">
                  <a:noFill/>
                </a:ln>
                <a:solidFill>
                  <a:schemeClr val="bg1"/>
                </a:solidFill>
                <a:latin typeface="Avenir Heavy" panose="02000503020000020003" pitchFamily="2" charset="0"/>
              </a:rPr>
              <a:t>05</a:t>
            </a:r>
          </a:p>
          <a:p>
            <a:pPr>
              <a:spcAft>
                <a:spcPts val="1000"/>
              </a:spcAft>
            </a:pPr>
            <a:r>
              <a:rPr lang="en-US" sz="2000" b="1" dirty="0">
                <a:ln w="3175">
                  <a:noFill/>
                </a:ln>
                <a:solidFill>
                  <a:srgbClr val="194241"/>
                </a:solidFill>
                <a:latin typeface="Avenir Heavy" panose="02000503020000020003" pitchFamily="2" charset="0"/>
              </a:rPr>
              <a:t>Graphic Elements</a:t>
            </a:r>
          </a:p>
          <a:p>
            <a:pPr>
              <a:spcAft>
                <a:spcPts val="1000"/>
              </a:spcAft>
            </a:pPr>
            <a:endParaRPr sz="2000" b="1" dirty="0">
              <a:ln w="3175">
                <a:noFill/>
              </a:ln>
              <a:solidFill>
                <a:srgbClr val="194241"/>
              </a:solidFill>
              <a:latin typeface="Avenir Heavy" panose="02000503020000020003" pitchFamily="2" charset="0"/>
            </a:endParaRPr>
          </a:p>
        </p:txBody>
      </p:sp>
      <p:sp>
        <p:nvSpPr>
          <p:cNvPr id="11" name="TextBox 24">
            <a:extLst>
              <a:ext uri="{FF2B5EF4-FFF2-40B4-BE49-F238E27FC236}">
                <a16:creationId xmlns:a16="http://schemas.microsoft.com/office/drawing/2014/main" id="{468B92F3-5051-A4E2-1ACD-C40869E2034D}"/>
              </a:ext>
            </a:extLst>
          </p:cNvPr>
          <p:cNvSpPr txBox="1"/>
          <p:nvPr/>
        </p:nvSpPr>
        <p:spPr>
          <a:xfrm>
            <a:off x="557699" y="3264690"/>
            <a:ext cx="2130552" cy="110799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noAutofit/>
          </a:bodyPr>
          <a:lstStyle>
            <a:lvl1pPr>
              <a:defRPr sz="1600"/>
            </a:lvl1pPr>
          </a:lstStyle>
          <a:p>
            <a:pPr>
              <a:spcAft>
                <a:spcPts val="1000"/>
              </a:spcAft>
            </a:pPr>
            <a:r>
              <a:rPr lang="en-US" sz="2200" b="1" dirty="0">
                <a:ln w="3175">
                  <a:noFill/>
                </a:ln>
                <a:solidFill>
                  <a:schemeClr val="bg1"/>
                </a:solidFill>
                <a:latin typeface="Avenir Heavy" panose="02000503020000020003" pitchFamily="2" charset="0"/>
              </a:rPr>
              <a:t>01</a:t>
            </a:r>
          </a:p>
          <a:p>
            <a:pPr>
              <a:spcAft>
                <a:spcPts val="1000"/>
              </a:spcAft>
            </a:pPr>
            <a:r>
              <a:rPr sz="2200" b="1" dirty="0">
                <a:ln w="3175">
                  <a:noFill/>
                </a:ln>
                <a:solidFill>
                  <a:srgbClr val="194241"/>
                </a:solidFill>
                <a:latin typeface="Avenir Heavy" panose="02000503020000020003" pitchFamily="2" charset="0"/>
              </a:rPr>
              <a:t>About </a:t>
            </a:r>
            <a:br>
              <a:rPr lang="en-US" sz="2200" b="1" dirty="0">
                <a:ln w="3175">
                  <a:noFill/>
                </a:ln>
                <a:solidFill>
                  <a:srgbClr val="194241"/>
                </a:solidFill>
                <a:latin typeface="Avenir Heavy" panose="02000503020000020003" pitchFamily="2" charset="0"/>
              </a:rPr>
            </a:br>
            <a:r>
              <a:rPr sz="2200" b="1" dirty="0">
                <a:ln w="3175">
                  <a:noFill/>
                </a:ln>
                <a:solidFill>
                  <a:srgbClr val="194241"/>
                </a:solidFill>
                <a:latin typeface="Avenir Heavy" panose="02000503020000020003" pitchFamily="2" charset="0"/>
              </a:rPr>
              <a:t>the Brand </a:t>
            </a:r>
          </a:p>
        </p:txBody>
      </p:sp>
      <p:sp>
        <p:nvSpPr>
          <p:cNvPr id="27" name="TextBox 24">
            <a:extLst>
              <a:ext uri="{FF2B5EF4-FFF2-40B4-BE49-F238E27FC236}">
                <a16:creationId xmlns:a16="http://schemas.microsoft.com/office/drawing/2014/main" id="{CA300544-B784-F5ED-BB83-ED6C1C8D2B3D}"/>
              </a:ext>
            </a:extLst>
          </p:cNvPr>
          <p:cNvSpPr txBox="1"/>
          <p:nvPr/>
        </p:nvSpPr>
        <p:spPr>
          <a:xfrm>
            <a:off x="2765495" y="3275962"/>
            <a:ext cx="2130552" cy="110799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noAutofit/>
          </a:bodyPr>
          <a:lstStyle>
            <a:lvl1pPr>
              <a:defRPr sz="1600"/>
            </a:lvl1pPr>
          </a:lstStyle>
          <a:p>
            <a:pPr>
              <a:spcAft>
                <a:spcPts val="1000"/>
              </a:spcAft>
            </a:pPr>
            <a:r>
              <a:rPr lang="en-US" sz="2200" b="1" dirty="0">
                <a:ln w="3175">
                  <a:noFill/>
                </a:ln>
                <a:solidFill>
                  <a:schemeClr val="bg1"/>
                </a:solidFill>
                <a:latin typeface="Avenir Heavy" panose="02000503020000020003" pitchFamily="2" charset="0"/>
              </a:rPr>
              <a:t>02</a:t>
            </a:r>
          </a:p>
          <a:p>
            <a:pPr>
              <a:spcAft>
                <a:spcPts val="1000"/>
              </a:spcAft>
            </a:pPr>
            <a:r>
              <a:rPr lang="en-US" sz="2200" b="1" dirty="0">
                <a:ln w="3175">
                  <a:noFill/>
                </a:ln>
                <a:solidFill>
                  <a:srgbClr val="194241"/>
                </a:solidFill>
                <a:latin typeface="Avenir Heavy" panose="02000503020000020003" pitchFamily="2" charset="0"/>
              </a:rPr>
              <a:t>Brandmarks</a:t>
            </a:r>
          </a:p>
          <a:p>
            <a:pPr>
              <a:spcAft>
                <a:spcPts val="1000"/>
              </a:spcAft>
            </a:pPr>
            <a:endParaRPr sz="2200" b="1" dirty="0">
              <a:ln w="3175">
                <a:noFill/>
              </a:ln>
              <a:solidFill>
                <a:srgbClr val="194241"/>
              </a:solidFill>
              <a:latin typeface="Avenir Heavy" panose="02000503020000020003" pitchFamily="2" charset="0"/>
            </a:endParaRPr>
          </a:p>
        </p:txBody>
      </p:sp>
      <p:sp>
        <p:nvSpPr>
          <p:cNvPr id="81" name="TextBox 80">
            <a:extLst>
              <a:ext uri="{FF2B5EF4-FFF2-40B4-BE49-F238E27FC236}">
                <a16:creationId xmlns:a16="http://schemas.microsoft.com/office/drawing/2014/main" id="{B8A1258F-0504-ECA7-B9D6-5CB68323800B}"/>
              </a:ext>
            </a:extLst>
          </p:cNvPr>
          <p:cNvSpPr txBox="1"/>
          <p:nvPr/>
        </p:nvSpPr>
        <p:spPr>
          <a:xfrm>
            <a:off x="503601" y="4729999"/>
            <a:ext cx="2130552" cy="8335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spcAft>
                <a:spcPts val="1000"/>
              </a:spcAft>
            </a:pPr>
            <a:r>
              <a:rPr lang="en-US" altLang="en-US" sz="1050" b="1" dirty="0">
                <a:solidFill>
                  <a:srgbClr val="194241"/>
                </a:solidFill>
                <a:latin typeface="Lato" panose="020F0502020204030203" pitchFamily="34" charset="77"/>
              </a:rPr>
              <a:t>Brand Essence &amp; Story</a:t>
            </a:r>
          </a:p>
          <a:p>
            <a:pPr>
              <a:spcAft>
                <a:spcPts val="1000"/>
              </a:spcAft>
            </a:pPr>
            <a:r>
              <a:rPr lang="en-US" altLang="en-US" sz="1050" b="1" dirty="0">
                <a:solidFill>
                  <a:srgbClr val="194241"/>
                </a:solidFill>
                <a:latin typeface="Lato" panose="020F0502020204030203" pitchFamily="34" charset="77"/>
              </a:rPr>
              <a:t>Mission, Vision &amp; Values</a:t>
            </a:r>
          </a:p>
          <a:p>
            <a:pPr>
              <a:spcAft>
                <a:spcPts val="1000"/>
              </a:spcAft>
            </a:pPr>
            <a:r>
              <a:rPr lang="en-US" altLang="en-US" sz="1050" b="1" dirty="0">
                <a:solidFill>
                  <a:srgbClr val="194241"/>
                </a:solidFill>
                <a:latin typeface="Lato" panose="020F0502020204030203" pitchFamily="34" charset="77"/>
              </a:rPr>
              <a:t>Tone of Voice &amp; Personality</a:t>
            </a:r>
          </a:p>
        </p:txBody>
      </p:sp>
      <p:sp>
        <p:nvSpPr>
          <p:cNvPr id="87" name="TextBox 86">
            <a:extLst>
              <a:ext uri="{FF2B5EF4-FFF2-40B4-BE49-F238E27FC236}">
                <a16:creationId xmlns:a16="http://schemas.microsoft.com/office/drawing/2014/main" id="{D5BB1D52-E64B-ABFD-FF98-831EB1A8975C}"/>
              </a:ext>
            </a:extLst>
          </p:cNvPr>
          <p:cNvSpPr txBox="1"/>
          <p:nvPr/>
        </p:nvSpPr>
        <p:spPr>
          <a:xfrm>
            <a:off x="2736300" y="4729999"/>
            <a:ext cx="2130552" cy="17030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spcAft>
                <a:spcPts val="1000"/>
              </a:spcAft>
            </a:pPr>
            <a:r>
              <a:rPr lang="en-US" altLang="en-US" sz="1050" b="1" dirty="0">
                <a:solidFill>
                  <a:srgbClr val="194241"/>
                </a:solidFill>
                <a:latin typeface="Lato" panose="020F0502020204030203" pitchFamily="34" charset="77"/>
              </a:rPr>
              <a:t>Primary Logo &amp; Usage</a:t>
            </a:r>
          </a:p>
          <a:p>
            <a:pPr>
              <a:spcAft>
                <a:spcPts val="1000"/>
              </a:spcAft>
            </a:pPr>
            <a:r>
              <a:rPr lang="en-US" altLang="en-US" sz="1050" b="1" dirty="0">
                <a:solidFill>
                  <a:srgbClr val="194241"/>
                </a:solidFill>
                <a:latin typeface="Lato" panose="020F0502020204030203" pitchFamily="34" charset="77"/>
              </a:rPr>
              <a:t>Secondary Marks &amp; Variations</a:t>
            </a:r>
          </a:p>
          <a:p>
            <a:pPr>
              <a:spcAft>
                <a:spcPts val="1000"/>
              </a:spcAft>
            </a:pPr>
            <a:r>
              <a:rPr lang="en-US" altLang="en-US" sz="1050" b="1" dirty="0">
                <a:solidFill>
                  <a:srgbClr val="194241"/>
                </a:solidFill>
                <a:latin typeface="Lato" panose="020F0502020204030203" pitchFamily="34" charset="77"/>
              </a:rPr>
              <a:t>Clear Space &amp; Minimum Size</a:t>
            </a:r>
          </a:p>
          <a:p>
            <a:pPr>
              <a:spcAft>
                <a:spcPts val="1000"/>
              </a:spcAft>
            </a:pPr>
            <a:r>
              <a:rPr lang="en-US" altLang="en-US" sz="1050" b="1" dirty="0">
                <a:solidFill>
                  <a:srgbClr val="194241"/>
                </a:solidFill>
                <a:latin typeface="Lato" panose="020F0502020204030203" pitchFamily="34" charset="77"/>
              </a:rPr>
              <a:t>Incorrect Applications</a:t>
            </a:r>
          </a:p>
          <a:p>
            <a:pPr>
              <a:spcAft>
                <a:spcPts val="1000"/>
              </a:spcAft>
            </a:pPr>
            <a:endParaRPr lang="en-US" altLang="en-US" sz="1050" b="1" dirty="0">
              <a:solidFill>
                <a:srgbClr val="194241"/>
              </a:solidFill>
              <a:latin typeface="Lato" panose="020F0502020204030203" pitchFamily="34" charset="77"/>
            </a:endParaRPr>
          </a:p>
          <a:p>
            <a:pPr>
              <a:spcAft>
                <a:spcPts val="1000"/>
              </a:spcAft>
            </a:pPr>
            <a:endParaRPr lang="en-US" altLang="en-US" sz="1050" b="1" dirty="0">
              <a:solidFill>
                <a:srgbClr val="194241"/>
              </a:solidFill>
              <a:latin typeface="Lato" panose="020F0502020204030203" pitchFamily="34" charset="77"/>
            </a:endParaRPr>
          </a:p>
        </p:txBody>
      </p:sp>
      <p:sp>
        <p:nvSpPr>
          <p:cNvPr id="98" name="TextBox 97">
            <a:extLst>
              <a:ext uri="{FF2B5EF4-FFF2-40B4-BE49-F238E27FC236}">
                <a16:creationId xmlns:a16="http://schemas.microsoft.com/office/drawing/2014/main" id="{CE7497AA-CEED-2662-C6B1-8962B17EAC70}"/>
              </a:ext>
            </a:extLst>
          </p:cNvPr>
          <p:cNvSpPr txBox="1"/>
          <p:nvPr/>
        </p:nvSpPr>
        <p:spPr>
          <a:xfrm>
            <a:off x="4973165" y="4729999"/>
            <a:ext cx="2130552" cy="5437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spcAft>
                <a:spcPts val="1000"/>
              </a:spcAft>
            </a:pPr>
            <a:r>
              <a:rPr lang="en-US" altLang="en-US" sz="1050" b="1" dirty="0">
                <a:solidFill>
                  <a:srgbClr val="194241"/>
                </a:solidFill>
                <a:latin typeface="Lato" panose="020F0502020204030203" pitchFamily="34" charset="77"/>
              </a:rPr>
              <a:t>Core Palette</a:t>
            </a:r>
          </a:p>
          <a:p>
            <a:pPr>
              <a:spcAft>
                <a:spcPts val="1000"/>
              </a:spcAft>
            </a:pPr>
            <a:r>
              <a:rPr lang="en-US" altLang="en-US" sz="1050" b="1" dirty="0">
                <a:solidFill>
                  <a:srgbClr val="194241"/>
                </a:solidFill>
                <a:latin typeface="Lato" panose="020F0502020204030203" pitchFamily="34" charset="77"/>
              </a:rPr>
              <a:t>Extended Palette &amp; Use Cases</a:t>
            </a:r>
          </a:p>
        </p:txBody>
      </p:sp>
      <p:sp>
        <p:nvSpPr>
          <p:cNvPr id="100" name="TextBox 99">
            <a:extLst>
              <a:ext uri="{FF2B5EF4-FFF2-40B4-BE49-F238E27FC236}">
                <a16:creationId xmlns:a16="http://schemas.microsoft.com/office/drawing/2014/main" id="{96000702-10F9-F56C-4815-D514930F642A}"/>
              </a:ext>
            </a:extLst>
          </p:cNvPr>
          <p:cNvSpPr txBox="1"/>
          <p:nvPr/>
        </p:nvSpPr>
        <p:spPr>
          <a:xfrm>
            <a:off x="7219572" y="4729999"/>
            <a:ext cx="2130552" cy="17030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spcAft>
                <a:spcPts val="1000"/>
              </a:spcAft>
            </a:pPr>
            <a:r>
              <a:rPr lang="en-US" altLang="en-US" sz="1050" b="1" dirty="0">
                <a:solidFill>
                  <a:srgbClr val="194241"/>
                </a:solidFill>
                <a:latin typeface="Lato" panose="020F0502020204030203" pitchFamily="34" charset="77"/>
              </a:rPr>
              <a:t>Primary Typeface</a:t>
            </a:r>
          </a:p>
          <a:p>
            <a:pPr>
              <a:spcAft>
                <a:spcPts val="1000"/>
              </a:spcAft>
            </a:pPr>
            <a:r>
              <a:rPr lang="en-US" altLang="en-US" sz="1050" b="1" dirty="0">
                <a:solidFill>
                  <a:srgbClr val="194241"/>
                </a:solidFill>
                <a:latin typeface="Lato" panose="020F0502020204030203" pitchFamily="34" charset="77"/>
              </a:rPr>
              <a:t>Secondary Typeface                    </a:t>
            </a:r>
          </a:p>
          <a:p>
            <a:pPr>
              <a:spcAft>
                <a:spcPts val="1000"/>
              </a:spcAft>
            </a:pPr>
            <a:r>
              <a:rPr lang="en-US" altLang="en-US" sz="1050" b="1" dirty="0">
                <a:solidFill>
                  <a:srgbClr val="194241"/>
                </a:solidFill>
                <a:latin typeface="Lato" panose="020F0502020204030203" pitchFamily="34" charset="77"/>
              </a:rPr>
              <a:t>Hierarchy &amp; Scale                          </a:t>
            </a:r>
          </a:p>
          <a:p>
            <a:pPr>
              <a:spcAft>
                <a:spcPts val="1000"/>
              </a:spcAft>
            </a:pPr>
            <a:r>
              <a:rPr lang="en-US" altLang="en-US" sz="1050" b="1" dirty="0">
                <a:solidFill>
                  <a:srgbClr val="194241"/>
                </a:solidFill>
                <a:latin typeface="Lato" panose="020F0502020204030203" pitchFamily="34" charset="77"/>
              </a:rPr>
              <a:t>Usage in Layouts</a:t>
            </a:r>
          </a:p>
          <a:p>
            <a:pPr>
              <a:spcAft>
                <a:spcPts val="1000"/>
              </a:spcAft>
            </a:pPr>
            <a:r>
              <a:rPr lang="en-US" altLang="en-US" sz="1050" b="1" dirty="0">
                <a:solidFill>
                  <a:srgbClr val="194241"/>
                </a:solidFill>
                <a:latin typeface="Lato" panose="020F0502020204030203" pitchFamily="34" charset="77"/>
              </a:rPr>
              <a:t>Accessibility Considerations</a:t>
            </a:r>
          </a:p>
          <a:p>
            <a:pPr>
              <a:spcAft>
                <a:spcPts val="1000"/>
              </a:spcAft>
            </a:pPr>
            <a:endParaRPr lang="en-US" altLang="en-US" sz="1050" b="1" dirty="0">
              <a:solidFill>
                <a:srgbClr val="194241"/>
              </a:solidFill>
              <a:latin typeface="Lato" panose="020F0502020204030203" pitchFamily="34" charset="77"/>
            </a:endParaRPr>
          </a:p>
        </p:txBody>
      </p:sp>
      <p:sp>
        <p:nvSpPr>
          <p:cNvPr id="110" name="TextBox 109">
            <a:extLst>
              <a:ext uri="{FF2B5EF4-FFF2-40B4-BE49-F238E27FC236}">
                <a16:creationId xmlns:a16="http://schemas.microsoft.com/office/drawing/2014/main" id="{7D509369-CC63-4B9C-5C38-0B6977378914}"/>
              </a:ext>
            </a:extLst>
          </p:cNvPr>
          <p:cNvSpPr txBox="1"/>
          <p:nvPr/>
        </p:nvSpPr>
        <p:spPr>
          <a:xfrm>
            <a:off x="9443547" y="4729999"/>
            <a:ext cx="2130552" cy="8335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spcAft>
                <a:spcPts val="1000"/>
              </a:spcAft>
            </a:pPr>
            <a:r>
              <a:rPr lang="en-US" altLang="en-US" sz="1050" b="1" dirty="0">
                <a:solidFill>
                  <a:srgbClr val="194241"/>
                </a:solidFill>
                <a:latin typeface="Lato" panose="020F0502020204030203" pitchFamily="34" charset="77"/>
              </a:rPr>
              <a:t>Iconography &amp; Illustrations</a:t>
            </a:r>
          </a:p>
          <a:p>
            <a:pPr>
              <a:spcAft>
                <a:spcPts val="1000"/>
              </a:spcAft>
            </a:pPr>
            <a:r>
              <a:rPr lang="en-US" altLang="en-US" sz="1050" b="1" dirty="0">
                <a:solidFill>
                  <a:srgbClr val="194241"/>
                </a:solidFill>
                <a:latin typeface="Lato" panose="020F0502020204030203" pitchFamily="34" charset="77"/>
              </a:rPr>
              <a:t>Patterns &amp; Textures                    </a:t>
            </a:r>
          </a:p>
          <a:p>
            <a:pPr>
              <a:spcAft>
                <a:spcPts val="1000"/>
              </a:spcAft>
            </a:pPr>
            <a:r>
              <a:rPr lang="en-US" altLang="en-US" sz="1050" b="1" dirty="0">
                <a:solidFill>
                  <a:srgbClr val="194241"/>
                </a:solidFill>
                <a:latin typeface="Lato" panose="020F0502020204030203" pitchFamily="34" charset="77"/>
              </a:rPr>
              <a:t>Photography &amp; Composition</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pic>
        <p:nvPicPr>
          <p:cNvPr id="175" name="pasted-movie.png" descr="pasted-movie.png"/>
          <p:cNvPicPr>
            <a:picLocks noChangeAspect="1"/>
          </p:cNvPicPr>
          <p:nvPr/>
        </p:nvPicPr>
        <p:blipFill>
          <a:blip r:embed="rId2" cstate="hqprint">
            <a:alphaModFix amt="50000"/>
            <a:extLst>
              <a:ext uri="{28A0092B-C50C-407E-A947-70E740481C1C}">
                <a14:useLocalDpi xmlns:a14="http://schemas.microsoft.com/office/drawing/2010/main"/>
              </a:ext>
            </a:extLst>
          </a:blip>
          <a:srcRect/>
          <a:stretch>
            <a:fillRect/>
          </a:stretch>
        </p:blipFill>
        <p:spPr>
          <a:xfrm>
            <a:off x="0" y="-1"/>
            <a:ext cx="12192000" cy="6858001"/>
          </a:xfrm>
          <a:prstGeom prst="rect">
            <a:avLst/>
          </a:prstGeom>
          <a:ln w="12700">
            <a:noFill/>
            <a:miter lim="400000"/>
          </a:ln>
        </p:spPr>
      </p:pic>
      <p:sp>
        <p:nvSpPr>
          <p:cNvPr id="176" name="TextBox 6"/>
          <p:cNvSpPr txBox="1"/>
          <p:nvPr/>
        </p:nvSpPr>
        <p:spPr>
          <a:xfrm>
            <a:off x="550250" y="3285748"/>
            <a:ext cx="1762660" cy="17851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1000" b="1">
                <a:solidFill>
                  <a:srgbClr val="CF5785"/>
                </a:solidFill>
                <a:latin typeface="Roboto Black"/>
                <a:ea typeface="Roboto Black"/>
                <a:cs typeface="Roboto Black"/>
                <a:sym typeface="Roboto"/>
              </a:defRPr>
            </a:lvl1pPr>
          </a:lstStyle>
          <a:p>
            <a:r>
              <a:rPr dirty="0">
                <a:ln>
                  <a:solidFill>
                    <a:schemeClr val="tx1"/>
                  </a:solidFill>
                </a:ln>
                <a:solidFill>
                  <a:srgbClr val="D8B989"/>
                </a:solidFill>
                <a:latin typeface="Avenir Heavy" panose="02000503020000020003" pitchFamily="2" charset="0"/>
              </a:rPr>
              <a:t>01</a:t>
            </a:r>
          </a:p>
        </p:txBody>
      </p:sp>
      <p:sp>
        <p:nvSpPr>
          <p:cNvPr id="184" name="TextBox 4"/>
          <p:cNvSpPr txBox="1"/>
          <p:nvPr/>
        </p:nvSpPr>
        <p:spPr>
          <a:xfrm>
            <a:off x="606322" y="4760753"/>
            <a:ext cx="4746728" cy="707886"/>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4000" b="1">
                <a:solidFill>
                  <a:srgbClr val="FFFFFF"/>
                </a:solidFill>
                <a:latin typeface="Roboto Black"/>
                <a:ea typeface="Roboto Black"/>
                <a:cs typeface="Roboto Black"/>
                <a:sym typeface="Roboto"/>
              </a:defRPr>
            </a:lvl1pPr>
          </a:lstStyle>
          <a:p>
            <a:r>
              <a:rPr dirty="0">
                <a:solidFill>
                  <a:srgbClr val="FFFBF6"/>
                </a:solidFill>
                <a:latin typeface="Avenir Heavy" panose="02000503020000020003" pitchFamily="2" charset="0"/>
              </a:rPr>
              <a:t>About the Brand</a:t>
            </a:r>
          </a:p>
        </p:txBody>
      </p:sp>
      <p:sp>
        <p:nvSpPr>
          <p:cNvPr id="4" name="Straight Connector 12">
            <a:extLst>
              <a:ext uri="{FF2B5EF4-FFF2-40B4-BE49-F238E27FC236}">
                <a16:creationId xmlns:a16="http://schemas.microsoft.com/office/drawing/2014/main" id="{2BB702D6-04CB-0073-F690-8EE266FE0496}"/>
              </a:ext>
            </a:extLst>
          </p:cNvPr>
          <p:cNvSpPr/>
          <p:nvPr/>
        </p:nvSpPr>
        <p:spPr>
          <a:xfrm>
            <a:off x="587828" y="694185"/>
            <a:ext cx="11041026" cy="30499"/>
          </a:xfrm>
          <a:prstGeom prst="line">
            <a:avLst/>
          </a:prstGeom>
          <a:ln w="19050">
            <a:solidFill>
              <a:schemeClr val="bg1"/>
            </a:solidFill>
            <a:miter/>
          </a:ln>
        </p:spPr>
        <p:txBody>
          <a:bodyPr lIns="45719" rIns="45719"/>
          <a:lstStyle/>
          <a:p>
            <a:endParaRPr>
              <a:solidFill>
                <a:schemeClr val="bg1"/>
              </a:solidFill>
            </a:endParaRPr>
          </a:p>
        </p:txBody>
      </p:sp>
      <p:sp>
        <p:nvSpPr>
          <p:cNvPr id="5" name="TextBox 73">
            <a:extLst>
              <a:ext uri="{FF2B5EF4-FFF2-40B4-BE49-F238E27FC236}">
                <a16:creationId xmlns:a16="http://schemas.microsoft.com/office/drawing/2014/main" id="{3C905639-B11A-7043-E348-51CE1A489ED9}"/>
              </a:ext>
            </a:extLst>
          </p:cNvPr>
          <p:cNvSpPr txBox="1"/>
          <p:nvPr/>
        </p:nvSpPr>
        <p:spPr>
          <a:xfrm>
            <a:off x="586766" y="752988"/>
            <a:ext cx="1183976" cy="261610"/>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chemeClr val="bg1"/>
                </a:solidFill>
                <a:latin typeface="Avenir Medium" panose="02000503020000020003" pitchFamily="2" charset="0"/>
              </a:rPr>
              <a:t>Maison </a:t>
            </a:r>
            <a:r>
              <a:rPr sz="1100" dirty="0" err="1">
                <a:solidFill>
                  <a:schemeClr val="bg1"/>
                </a:solidFill>
                <a:latin typeface="Avenir Medium" panose="02000503020000020003" pitchFamily="2" charset="0"/>
              </a:rPr>
              <a:t>Lepluplu</a:t>
            </a:r>
            <a:endParaRPr sz="1100" dirty="0">
              <a:solidFill>
                <a:schemeClr val="bg1"/>
              </a:solidFill>
              <a:latin typeface="Avenir Medium" panose="02000503020000020003" pitchFamily="2" charset="0"/>
            </a:endParaRPr>
          </a:p>
        </p:txBody>
      </p:sp>
      <p:sp>
        <p:nvSpPr>
          <p:cNvPr id="6" name="TextBox 74">
            <a:extLst>
              <a:ext uri="{FF2B5EF4-FFF2-40B4-BE49-F238E27FC236}">
                <a16:creationId xmlns:a16="http://schemas.microsoft.com/office/drawing/2014/main" id="{2F1AFFF2-8BB2-2534-24E3-C2762B9DE787}"/>
              </a:ext>
            </a:extLst>
          </p:cNvPr>
          <p:cNvSpPr txBox="1"/>
          <p:nvPr/>
        </p:nvSpPr>
        <p:spPr>
          <a:xfrm>
            <a:off x="9713976" y="768633"/>
            <a:ext cx="829712" cy="261610"/>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chemeClr val="bg1"/>
                </a:solidFill>
                <a:latin typeface="Avenir Medium" panose="02000503020000020003" pitchFamily="2" charset="0"/>
              </a:rPr>
              <a:t>10/23/2025</a:t>
            </a:r>
          </a:p>
        </p:txBody>
      </p:sp>
      <p:sp>
        <p:nvSpPr>
          <p:cNvPr id="7" name="TextBox 75">
            <a:extLst>
              <a:ext uri="{FF2B5EF4-FFF2-40B4-BE49-F238E27FC236}">
                <a16:creationId xmlns:a16="http://schemas.microsoft.com/office/drawing/2014/main" id="{2DC30CA8-B930-E3B6-67EE-179F8AD86C82}"/>
              </a:ext>
            </a:extLst>
          </p:cNvPr>
          <p:cNvSpPr txBox="1"/>
          <p:nvPr/>
        </p:nvSpPr>
        <p:spPr>
          <a:xfrm>
            <a:off x="11383131" y="786797"/>
            <a:ext cx="259043" cy="261610"/>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chemeClr val="bg1"/>
                </a:solidFill>
                <a:latin typeface="Avenir Medium" panose="02000503020000020003" pitchFamily="2" charset="0"/>
              </a:rPr>
              <a:t>0</a:t>
            </a:r>
            <a:r>
              <a:rPr lang="en-US" sz="1100" dirty="0">
                <a:solidFill>
                  <a:schemeClr val="bg1"/>
                </a:solidFill>
                <a:latin typeface="Avenir Medium" panose="02000503020000020003" pitchFamily="2" charset="0"/>
              </a:rPr>
              <a:t>3</a:t>
            </a:r>
            <a:endParaRPr sz="1100" dirty="0">
              <a:solidFill>
                <a:schemeClr val="bg1"/>
              </a:solidFill>
              <a:latin typeface="Avenir Medium" panose="02000503020000020003" pitchFamily="2" charset="0"/>
            </a:endParaRPr>
          </a:p>
        </p:txBody>
      </p:sp>
      <p:pic>
        <p:nvPicPr>
          <p:cNvPr id="8" name="Picture 7" descr="A white paw print with brown outline&#10;&#10;AI-generated content may be incorrect.">
            <a:extLst>
              <a:ext uri="{FF2B5EF4-FFF2-40B4-BE49-F238E27FC236}">
                <a16:creationId xmlns:a16="http://schemas.microsoft.com/office/drawing/2014/main" id="{6AC00640-AAFC-7FE4-E888-ECA819EF9FE2}"/>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rot="20004065">
            <a:off x="4715611" y="4608512"/>
            <a:ext cx="1387021" cy="924681"/>
          </a:xfrm>
          <a:prstGeom prst="rect">
            <a:avLst/>
          </a:prstGeom>
        </p:spPr>
      </p:pic>
      <p:sp>
        <p:nvSpPr>
          <p:cNvPr id="12" name="Rectangle 1">
            <a:extLst>
              <a:ext uri="{FF2B5EF4-FFF2-40B4-BE49-F238E27FC236}">
                <a16:creationId xmlns:a16="http://schemas.microsoft.com/office/drawing/2014/main" id="{68D6285A-5278-4EFD-7314-B11A5A20AEC1}"/>
              </a:ext>
            </a:extLst>
          </p:cNvPr>
          <p:cNvSpPr>
            <a:spLocks noChangeArrowheads="1"/>
          </p:cNvSpPr>
          <p:nvPr/>
        </p:nvSpPr>
        <p:spPr bwMode="auto">
          <a:xfrm>
            <a:off x="550250" y="5384545"/>
            <a:ext cx="2361544" cy="953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1300" u="none" strike="noStrike" cap="none" normalizeH="0" baseline="0" dirty="0">
                <a:ln>
                  <a:noFill/>
                </a:ln>
                <a:solidFill>
                  <a:srgbClr val="FFFBF6"/>
                </a:solidFill>
                <a:effectLst/>
                <a:latin typeface="Lato" panose="020F0502020204030203" pitchFamily="34" charset="77"/>
              </a:rPr>
              <a:t>1. Brand Essence &amp; Story</a:t>
            </a:r>
          </a:p>
          <a:p>
            <a:pPr marL="0" marR="0" lvl="0" indent="0" algn="l" defTabSz="914400" rtl="0" eaLnBrk="0" fontAlgn="base" latinLnBrk="0" hangingPunct="0">
              <a:lnSpc>
                <a:spcPct val="150000"/>
              </a:lnSpc>
              <a:spcBef>
                <a:spcPct val="0"/>
              </a:spcBef>
              <a:spcAft>
                <a:spcPct val="0"/>
              </a:spcAft>
              <a:buClrTx/>
              <a:buSzTx/>
              <a:tabLst/>
            </a:pPr>
            <a:r>
              <a:rPr kumimoji="0" lang="en-US" altLang="en-US" sz="1300" u="none" strike="noStrike" cap="none" normalizeH="0" baseline="0" dirty="0">
                <a:ln>
                  <a:noFill/>
                </a:ln>
                <a:solidFill>
                  <a:srgbClr val="FFFBF6"/>
                </a:solidFill>
                <a:effectLst/>
                <a:latin typeface="Lato" panose="020F0502020204030203" pitchFamily="34" charset="77"/>
              </a:rPr>
              <a:t>2. Mission, Vision &amp; Values</a:t>
            </a:r>
          </a:p>
          <a:p>
            <a:pPr marL="0" marR="0" lvl="0" indent="0" algn="l" defTabSz="914400" rtl="0" eaLnBrk="0" fontAlgn="base" latinLnBrk="0" hangingPunct="0">
              <a:lnSpc>
                <a:spcPct val="150000"/>
              </a:lnSpc>
              <a:spcBef>
                <a:spcPct val="0"/>
              </a:spcBef>
              <a:spcAft>
                <a:spcPct val="0"/>
              </a:spcAft>
              <a:buClrTx/>
              <a:buSzTx/>
              <a:tabLst/>
            </a:pPr>
            <a:r>
              <a:rPr kumimoji="0" lang="en-US" altLang="en-US" sz="1300" u="none" strike="noStrike" cap="none" normalizeH="0" baseline="0" dirty="0">
                <a:ln>
                  <a:noFill/>
                </a:ln>
                <a:solidFill>
                  <a:srgbClr val="FFFBF6"/>
                </a:solidFill>
                <a:effectLst/>
                <a:latin typeface="Lato" panose="020F0502020204030203" pitchFamily="34" charset="77"/>
              </a:rPr>
              <a:t>3. Tone of Voice &amp; Personality</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8B989"/>
        </a:solidFill>
        <a:effectLst/>
      </p:bgPr>
    </p:bg>
    <p:spTree>
      <p:nvGrpSpPr>
        <p:cNvPr id="1" name=""/>
        <p:cNvGrpSpPr/>
        <p:nvPr/>
      </p:nvGrpSpPr>
      <p:grpSpPr>
        <a:xfrm>
          <a:off x="0" y="0"/>
          <a:ext cx="0" cy="0"/>
          <a:chOff x="0" y="0"/>
          <a:chExt cx="0" cy="0"/>
        </a:xfrm>
      </p:grpSpPr>
      <p:sp>
        <p:nvSpPr>
          <p:cNvPr id="187" name="TextBox 4"/>
          <p:cNvSpPr txBox="1"/>
          <p:nvPr/>
        </p:nvSpPr>
        <p:spPr>
          <a:xfrm>
            <a:off x="572159" y="1369739"/>
            <a:ext cx="5492044" cy="6582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ts val="4000"/>
              </a:lnSpc>
              <a:defRPr sz="4800" b="1">
                <a:solidFill>
                  <a:srgbClr val="CF5785"/>
                </a:solidFill>
                <a:latin typeface="GFS Didot"/>
                <a:ea typeface="GFS Didot"/>
                <a:cs typeface="GFS Didot"/>
                <a:sym typeface="GFS Didot"/>
              </a:defRPr>
            </a:lvl1pPr>
          </a:lstStyle>
          <a:p>
            <a:r>
              <a:rPr dirty="0">
                <a:ln w="3175">
                  <a:noFill/>
                </a:ln>
                <a:solidFill>
                  <a:srgbClr val="194241"/>
                </a:solidFill>
                <a:latin typeface="Avenir Heavy" panose="02000503020000020003" pitchFamily="2" charset="0"/>
              </a:rPr>
              <a:t>About the </a:t>
            </a:r>
            <a:r>
              <a:rPr lang="en-US" dirty="0">
                <a:ln w="3175">
                  <a:noFill/>
                </a:ln>
                <a:solidFill>
                  <a:srgbClr val="194241"/>
                </a:solidFill>
                <a:latin typeface="Avenir Heavy" panose="02000503020000020003" pitchFamily="2" charset="0"/>
              </a:rPr>
              <a:t>B</a:t>
            </a:r>
            <a:r>
              <a:rPr dirty="0">
                <a:ln w="3175">
                  <a:noFill/>
                </a:ln>
                <a:solidFill>
                  <a:srgbClr val="194241"/>
                </a:solidFill>
                <a:latin typeface="Avenir Heavy" panose="02000503020000020003" pitchFamily="2" charset="0"/>
              </a:rPr>
              <a:t>rand</a:t>
            </a:r>
          </a:p>
        </p:txBody>
      </p:sp>
      <p:sp>
        <p:nvSpPr>
          <p:cNvPr id="188" name="Rectangle 1"/>
          <p:cNvSpPr txBox="1"/>
          <p:nvPr/>
        </p:nvSpPr>
        <p:spPr>
          <a:xfrm>
            <a:off x="572159" y="1988875"/>
            <a:ext cx="4618137" cy="22467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nchor="ctr">
            <a:spAutoFit/>
          </a:bodyPr>
          <a:lstStyle/>
          <a:p>
            <a:pPr>
              <a:defRPr sz="1000">
                <a:solidFill>
                  <a:srgbClr val="1B1B1B"/>
                </a:solidFill>
                <a:latin typeface="Lato"/>
                <a:ea typeface="Lato"/>
                <a:cs typeface="Lato"/>
                <a:sym typeface="Lato"/>
              </a:defRPr>
            </a:pPr>
            <a:r>
              <a:rPr sz="1400" dirty="0">
                <a:latin typeface="Lato" panose="020F0502020204030203" pitchFamily="34" charset="77"/>
              </a:rPr>
              <a:t>You really want to be telling the story of the brand here—what makes it meaningful, human, and different. Focus on the values, emotions, and impact behind it, not just the products or services. This is where you set the tone, connect with your audience, and make them care.</a:t>
            </a:r>
          </a:p>
          <a:p>
            <a:pPr>
              <a:defRPr sz="1000">
                <a:solidFill>
                  <a:srgbClr val="1B1B1B"/>
                </a:solidFill>
                <a:latin typeface="Lato"/>
                <a:ea typeface="Lato"/>
                <a:cs typeface="Lato"/>
                <a:sym typeface="Lato"/>
              </a:defRPr>
            </a:pPr>
            <a:endParaRPr sz="1400" dirty="0">
              <a:latin typeface="Lato" panose="020F0502020204030203" pitchFamily="34" charset="77"/>
            </a:endParaRPr>
          </a:p>
          <a:p>
            <a:pPr>
              <a:defRPr sz="1000">
                <a:solidFill>
                  <a:srgbClr val="1B1B1B"/>
                </a:solidFill>
                <a:latin typeface="Lato"/>
                <a:ea typeface="Lato"/>
                <a:cs typeface="Lato"/>
                <a:sym typeface="Lato"/>
              </a:defRPr>
            </a:pPr>
            <a:r>
              <a:rPr sz="1400" dirty="0">
                <a:latin typeface="Lato" panose="020F0502020204030203" pitchFamily="34" charset="77"/>
              </a:rPr>
              <a:t>You really want to be telling the story of the brand here—what makes it meaningful, human, and different. Focus on the values, emotions, and impact behind it, not just the products or services.</a:t>
            </a:r>
          </a:p>
        </p:txBody>
      </p:sp>
      <p:pic>
        <p:nvPicPr>
          <p:cNvPr id="2" name="Picture 2" descr="Generated image">
            <a:extLst>
              <a:ext uri="{FF2B5EF4-FFF2-40B4-BE49-F238E27FC236}">
                <a16:creationId xmlns:a16="http://schemas.microsoft.com/office/drawing/2014/main" id="{493D54E0-0BD3-9739-BD8E-47C070874F15}"/>
              </a:ext>
            </a:extLst>
          </p:cNvPr>
          <p:cNvPicPr>
            <a:picLocks noChangeAspect="1" noChangeArrowheads="1"/>
          </p:cNvPicPr>
          <p:nvPr/>
        </p:nvPicPr>
        <p:blipFill rotWithShape="1">
          <a:blip r:embed="rId2" cstate="hqprint">
            <a:extLst>
              <a:ext uri="{28A0092B-C50C-407E-A947-70E740481C1C}">
                <a14:useLocalDpi xmlns:a14="http://schemas.microsoft.com/office/drawing/2010/main"/>
              </a:ext>
            </a:extLst>
          </a:blip>
          <a:srcRect/>
          <a:stretch>
            <a:fillRect/>
          </a:stretch>
        </p:blipFill>
        <p:spPr bwMode="auto">
          <a:xfrm>
            <a:off x="7128833" y="1053127"/>
            <a:ext cx="4099655" cy="5110687"/>
          </a:xfrm>
          <a:prstGeom prst="rect">
            <a:avLst/>
          </a:prstGeom>
          <a:noFill/>
          <a:extLst>
            <a:ext uri="{909E8E84-426E-40DD-AFC4-6F175D3DCCD1}">
              <a14:hiddenFill xmlns:a14="http://schemas.microsoft.com/office/drawing/2010/main">
                <a:solidFill>
                  <a:srgbClr val="FFFFFF"/>
                </a:solidFill>
              </a14:hiddenFill>
            </a:ext>
          </a:extLst>
        </p:spPr>
      </p:pic>
      <p:sp>
        <p:nvSpPr>
          <p:cNvPr id="194" name="Rectangle"/>
          <p:cNvSpPr/>
          <p:nvPr/>
        </p:nvSpPr>
        <p:spPr>
          <a:xfrm rot="257219">
            <a:off x="6942098" y="1282963"/>
            <a:ext cx="4310863" cy="4890547"/>
          </a:xfrm>
          <a:prstGeom prst="rect">
            <a:avLst/>
          </a:prstGeom>
          <a:noFill/>
          <a:ln w="57150">
            <a:solidFill>
              <a:srgbClr val="194241"/>
            </a:solidFill>
            <a:miter/>
          </a:ln>
          <a:effectLst>
            <a:outerShdw blurRad="152400" dist="141807" dir="3194745" rotWithShape="0">
              <a:srgbClr val="000000">
                <a:alpha val="12692"/>
              </a:srgbClr>
            </a:outerShdw>
          </a:effectLst>
        </p:spPr>
        <p:txBody>
          <a:bodyPr lIns="45719" rIns="45719" anchor="ctr"/>
          <a:lstStyle/>
          <a:p>
            <a:endParaRPr/>
          </a:p>
        </p:txBody>
      </p:sp>
      <p:sp>
        <p:nvSpPr>
          <p:cNvPr id="9" name="TextBox 8">
            <a:extLst>
              <a:ext uri="{FF2B5EF4-FFF2-40B4-BE49-F238E27FC236}">
                <a16:creationId xmlns:a16="http://schemas.microsoft.com/office/drawing/2014/main" id="{4EFF02B1-D450-E772-D658-3861828FC5CA}"/>
              </a:ext>
            </a:extLst>
          </p:cNvPr>
          <p:cNvSpPr txBox="1"/>
          <p:nvPr/>
        </p:nvSpPr>
        <p:spPr>
          <a:xfrm>
            <a:off x="1338438" y="4619590"/>
            <a:ext cx="1430679" cy="4562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1500"/>
              </a:lnSpc>
              <a:defRPr sz="1500" b="1">
                <a:solidFill>
                  <a:srgbClr val="CF5785"/>
                </a:solidFill>
                <a:latin typeface="Lato"/>
                <a:ea typeface="Lato"/>
                <a:cs typeface="Lato"/>
                <a:sym typeface="Lato"/>
              </a:defRPr>
            </a:pPr>
            <a:r>
              <a:rPr lang="en-US" sz="1000" b="1" dirty="0">
                <a:solidFill>
                  <a:srgbClr val="194241"/>
                </a:solidFill>
                <a:latin typeface="Lato" panose="020F0502020204030203" pitchFamily="34" charset="77"/>
              </a:rPr>
              <a:t>WHIMSICAL </a:t>
            </a:r>
          </a:p>
          <a:p>
            <a:pPr>
              <a:lnSpc>
                <a:spcPts val="1500"/>
              </a:lnSpc>
              <a:defRPr sz="1500" b="1">
                <a:solidFill>
                  <a:srgbClr val="CF5785"/>
                </a:solidFill>
                <a:latin typeface="Lato"/>
                <a:ea typeface="Lato"/>
                <a:cs typeface="Lato"/>
                <a:sym typeface="Lato"/>
              </a:defRPr>
            </a:pPr>
            <a:r>
              <a:rPr lang="en-US" sz="1000" b="1" dirty="0">
                <a:solidFill>
                  <a:srgbClr val="194241"/>
                </a:solidFill>
                <a:latin typeface="Lato" panose="020F0502020204030203" pitchFamily="34" charset="77"/>
              </a:rPr>
              <a:t>SOPHISTICATION</a:t>
            </a:r>
          </a:p>
        </p:txBody>
      </p:sp>
      <p:sp>
        <p:nvSpPr>
          <p:cNvPr id="10" name="TextBox 9">
            <a:extLst>
              <a:ext uri="{FF2B5EF4-FFF2-40B4-BE49-F238E27FC236}">
                <a16:creationId xmlns:a16="http://schemas.microsoft.com/office/drawing/2014/main" id="{2A6FA37A-F9D4-0ED1-41B9-04B5836E4B7A}"/>
              </a:ext>
            </a:extLst>
          </p:cNvPr>
          <p:cNvSpPr txBox="1"/>
          <p:nvPr/>
        </p:nvSpPr>
        <p:spPr>
          <a:xfrm>
            <a:off x="1351077" y="5530920"/>
            <a:ext cx="1430679" cy="4562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1500"/>
              </a:lnSpc>
              <a:defRPr sz="1500" b="1">
                <a:solidFill>
                  <a:srgbClr val="CF5785"/>
                </a:solidFill>
                <a:latin typeface="Lato"/>
                <a:ea typeface="Lato"/>
                <a:cs typeface="Lato"/>
                <a:sym typeface="Lato"/>
              </a:defRPr>
            </a:pPr>
            <a:r>
              <a:rPr lang="en-US" sz="1000" b="1" dirty="0">
                <a:solidFill>
                  <a:srgbClr val="194241"/>
                </a:solidFill>
                <a:latin typeface="Lato" panose="020F0502020204030203" pitchFamily="34" charset="77"/>
              </a:rPr>
              <a:t>PET HAUTE</a:t>
            </a:r>
          </a:p>
          <a:p>
            <a:pPr>
              <a:lnSpc>
                <a:spcPts val="1500"/>
              </a:lnSpc>
              <a:defRPr sz="1500" b="1">
                <a:solidFill>
                  <a:srgbClr val="CF5785"/>
                </a:solidFill>
                <a:latin typeface="Lato"/>
                <a:ea typeface="Lato"/>
                <a:cs typeface="Lato"/>
                <a:sym typeface="Lato"/>
              </a:defRPr>
            </a:pPr>
            <a:r>
              <a:rPr lang="en-US" sz="1000" b="1" dirty="0">
                <a:solidFill>
                  <a:srgbClr val="194241"/>
                </a:solidFill>
                <a:latin typeface="Lato" panose="020F0502020204030203" pitchFamily="34" charset="77"/>
              </a:rPr>
              <a:t>COUTURE</a:t>
            </a:r>
          </a:p>
        </p:txBody>
      </p:sp>
      <p:sp>
        <p:nvSpPr>
          <p:cNvPr id="11" name="TextBox 10">
            <a:extLst>
              <a:ext uri="{FF2B5EF4-FFF2-40B4-BE49-F238E27FC236}">
                <a16:creationId xmlns:a16="http://schemas.microsoft.com/office/drawing/2014/main" id="{E9FD0AC8-265C-6B39-1815-0912FE90F5A6}"/>
              </a:ext>
            </a:extLst>
          </p:cNvPr>
          <p:cNvSpPr txBox="1"/>
          <p:nvPr/>
        </p:nvSpPr>
        <p:spPr>
          <a:xfrm>
            <a:off x="4304027" y="4619590"/>
            <a:ext cx="1430679" cy="4562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1500"/>
              </a:lnSpc>
              <a:defRPr sz="1500" b="1">
                <a:solidFill>
                  <a:srgbClr val="CF5785"/>
                </a:solidFill>
                <a:latin typeface="Lato"/>
                <a:ea typeface="Lato"/>
                <a:cs typeface="Lato"/>
                <a:sym typeface="Lato"/>
              </a:defRPr>
            </a:pPr>
            <a:r>
              <a:rPr lang="en-US" sz="1000" b="1" dirty="0">
                <a:solidFill>
                  <a:srgbClr val="194241"/>
                </a:solidFill>
                <a:latin typeface="Lato" panose="020F0502020204030203" pitchFamily="34" charset="77"/>
              </a:rPr>
              <a:t>CHIC &amp;</a:t>
            </a:r>
          </a:p>
          <a:p>
            <a:pPr>
              <a:lnSpc>
                <a:spcPts val="1500"/>
              </a:lnSpc>
              <a:defRPr sz="1500" b="1">
                <a:solidFill>
                  <a:srgbClr val="CF5785"/>
                </a:solidFill>
                <a:latin typeface="Lato"/>
                <a:ea typeface="Lato"/>
                <a:cs typeface="Lato"/>
                <a:sym typeface="Lato"/>
              </a:defRPr>
            </a:pPr>
            <a:r>
              <a:rPr lang="en-US" sz="1000" b="1" dirty="0">
                <a:solidFill>
                  <a:srgbClr val="194241"/>
                </a:solidFill>
                <a:latin typeface="Lato" panose="020F0502020204030203" pitchFamily="34" charset="77"/>
              </a:rPr>
              <a:t>PARISIAN</a:t>
            </a:r>
          </a:p>
        </p:txBody>
      </p:sp>
      <p:sp>
        <p:nvSpPr>
          <p:cNvPr id="12" name="TextBox 11">
            <a:extLst>
              <a:ext uri="{FF2B5EF4-FFF2-40B4-BE49-F238E27FC236}">
                <a16:creationId xmlns:a16="http://schemas.microsoft.com/office/drawing/2014/main" id="{30C3C802-C917-A140-AFDC-AC98B0FB5B0F}"/>
              </a:ext>
            </a:extLst>
          </p:cNvPr>
          <p:cNvSpPr txBox="1"/>
          <p:nvPr/>
        </p:nvSpPr>
        <p:spPr>
          <a:xfrm>
            <a:off x="4316666" y="5530920"/>
            <a:ext cx="1430679" cy="4562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1500"/>
              </a:lnSpc>
              <a:defRPr sz="1500" b="1">
                <a:solidFill>
                  <a:srgbClr val="CF5785"/>
                </a:solidFill>
                <a:latin typeface="Lato"/>
                <a:ea typeface="Lato"/>
                <a:cs typeface="Lato"/>
                <a:sym typeface="Lato"/>
              </a:defRPr>
            </a:pPr>
            <a:r>
              <a:rPr lang="en-US" sz="1000" b="1" dirty="0">
                <a:solidFill>
                  <a:srgbClr val="194241"/>
                </a:solidFill>
                <a:latin typeface="Lato" panose="020F0502020204030203" pitchFamily="34" charset="77"/>
              </a:rPr>
              <a:t>STROLL </a:t>
            </a:r>
          </a:p>
          <a:p>
            <a:pPr>
              <a:lnSpc>
                <a:spcPts val="1500"/>
              </a:lnSpc>
              <a:defRPr sz="1500" b="1">
                <a:solidFill>
                  <a:srgbClr val="CF5785"/>
                </a:solidFill>
                <a:latin typeface="Lato"/>
                <a:ea typeface="Lato"/>
                <a:cs typeface="Lato"/>
                <a:sym typeface="Lato"/>
              </a:defRPr>
            </a:pPr>
            <a:r>
              <a:rPr lang="en-US" sz="1000" b="1" dirty="0">
                <a:solidFill>
                  <a:srgbClr val="194241"/>
                </a:solidFill>
                <a:latin typeface="Lato" panose="020F0502020204030203" pitchFamily="34" charset="77"/>
              </a:rPr>
              <a:t>IN STYLE</a:t>
            </a:r>
          </a:p>
        </p:txBody>
      </p:sp>
      <p:sp>
        <p:nvSpPr>
          <p:cNvPr id="14" name="Straight Connector 12">
            <a:extLst>
              <a:ext uri="{FF2B5EF4-FFF2-40B4-BE49-F238E27FC236}">
                <a16:creationId xmlns:a16="http://schemas.microsoft.com/office/drawing/2014/main" id="{882B78CF-4E51-1451-79B3-3DE67C1C3EF8}"/>
              </a:ext>
            </a:extLst>
          </p:cNvPr>
          <p:cNvSpPr/>
          <p:nvPr/>
        </p:nvSpPr>
        <p:spPr>
          <a:xfrm>
            <a:off x="587828" y="694185"/>
            <a:ext cx="11041026" cy="30499"/>
          </a:xfrm>
          <a:prstGeom prst="line">
            <a:avLst/>
          </a:prstGeom>
          <a:ln w="19050">
            <a:solidFill>
              <a:srgbClr val="FFFBF6"/>
            </a:solidFill>
            <a:miter/>
          </a:ln>
        </p:spPr>
        <p:txBody>
          <a:bodyPr lIns="45719" rIns="45719"/>
          <a:lstStyle/>
          <a:p>
            <a:endParaRPr>
              <a:solidFill>
                <a:srgbClr val="FFFBF6"/>
              </a:solidFill>
            </a:endParaRPr>
          </a:p>
        </p:txBody>
      </p:sp>
      <p:sp>
        <p:nvSpPr>
          <p:cNvPr id="15" name="TextBox 73">
            <a:extLst>
              <a:ext uri="{FF2B5EF4-FFF2-40B4-BE49-F238E27FC236}">
                <a16:creationId xmlns:a16="http://schemas.microsoft.com/office/drawing/2014/main" id="{F41BC670-7489-1BBD-AB45-4ED1452C0F54}"/>
              </a:ext>
            </a:extLst>
          </p:cNvPr>
          <p:cNvSpPr txBox="1"/>
          <p:nvPr/>
        </p:nvSpPr>
        <p:spPr>
          <a:xfrm>
            <a:off x="586766" y="752988"/>
            <a:ext cx="1183976" cy="261610"/>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FFFBF6"/>
                </a:solidFill>
                <a:latin typeface="Avenir Medium" panose="02000503020000020003" pitchFamily="2" charset="0"/>
              </a:rPr>
              <a:t>Maison </a:t>
            </a:r>
            <a:r>
              <a:rPr sz="1100" dirty="0" err="1">
                <a:solidFill>
                  <a:srgbClr val="FFFBF6"/>
                </a:solidFill>
                <a:latin typeface="Avenir Medium" panose="02000503020000020003" pitchFamily="2" charset="0"/>
              </a:rPr>
              <a:t>Lepluplu</a:t>
            </a:r>
            <a:endParaRPr sz="1100" dirty="0">
              <a:solidFill>
                <a:srgbClr val="FFFBF6"/>
              </a:solidFill>
              <a:latin typeface="Avenir Medium" panose="02000503020000020003" pitchFamily="2" charset="0"/>
            </a:endParaRPr>
          </a:p>
        </p:txBody>
      </p:sp>
      <p:sp>
        <p:nvSpPr>
          <p:cNvPr id="16" name="TextBox 74">
            <a:extLst>
              <a:ext uri="{FF2B5EF4-FFF2-40B4-BE49-F238E27FC236}">
                <a16:creationId xmlns:a16="http://schemas.microsoft.com/office/drawing/2014/main" id="{BED4A0E3-3E63-B697-6B72-5E6B40A0600A}"/>
              </a:ext>
            </a:extLst>
          </p:cNvPr>
          <p:cNvSpPr txBox="1"/>
          <p:nvPr/>
        </p:nvSpPr>
        <p:spPr>
          <a:xfrm>
            <a:off x="9713976" y="768633"/>
            <a:ext cx="829712" cy="261610"/>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FFFBF6"/>
                </a:solidFill>
                <a:latin typeface="Avenir Medium" panose="02000503020000020003" pitchFamily="2" charset="0"/>
              </a:rPr>
              <a:t>10/23/2025</a:t>
            </a:r>
          </a:p>
        </p:txBody>
      </p:sp>
      <p:sp>
        <p:nvSpPr>
          <p:cNvPr id="17" name="TextBox 75">
            <a:extLst>
              <a:ext uri="{FF2B5EF4-FFF2-40B4-BE49-F238E27FC236}">
                <a16:creationId xmlns:a16="http://schemas.microsoft.com/office/drawing/2014/main" id="{CFCFB2E8-E340-49A1-4CA6-CFE7B0E32019}"/>
              </a:ext>
            </a:extLst>
          </p:cNvPr>
          <p:cNvSpPr txBox="1"/>
          <p:nvPr/>
        </p:nvSpPr>
        <p:spPr>
          <a:xfrm>
            <a:off x="11383131" y="786797"/>
            <a:ext cx="259043" cy="261610"/>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FFFBF6"/>
                </a:solidFill>
                <a:latin typeface="Avenir Medium" panose="02000503020000020003" pitchFamily="2" charset="0"/>
              </a:rPr>
              <a:t>0</a:t>
            </a:r>
            <a:r>
              <a:rPr lang="en-US" sz="1100" dirty="0">
                <a:solidFill>
                  <a:srgbClr val="FFFBF6"/>
                </a:solidFill>
                <a:latin typeface="Avenir Medium" panose="02000503020000020003" pitchFamily="2" charset="0"/>
              </a:rPr>
              <a:t>4</a:t>
            </a:r>
            <a:endParaRPr sz="1100" dirty="0">
              <a:solidFill>
                <a:srgbClr val="FFFBF6"/>
              </a:solidFill>
              <a:latin typeface="Avenir Medium" panose="02000503020000020003" pitchFamily="2" charset="0"/>
            </a:endParaRPr>
          </a:p>
        </p:txBody>
      </p:sp>
      <p:grpSp>
        <p:nvGrpSpPr>
          <p:cNvPr id="19" name="Group 18">
            <a:extLst>
              <a:ext uri="{FF2B5EF4-FFF2-40B4-BE49-F238E27FC236}">
                <a16:creationId xmlns:a16="http://schemas.microsoft.com/office/drawing/2014/main" id="{3B4F014A-C061-DB14-C348-C290B6695A87}"/>
              </a:ext>
            </a:extLst>
          </p:cNvPr>
          <p:cNvGrpSpPr/>
          <p:nvPr/>
        </p:nvGrpSpPr>
        <p:grpSpPr>
          <a:xfrm>
            <a:off x="3520405" y="4619590"/>
            <a:ext cx="582390" cy="546392"/>
            <a:chOff x="2316491" y="4619590"/>
            <a:chExt cx="582390" cy="546392"/>
          </a:xfrm>
        </p:grpSpPr>
        <p:sp>
          <p:nvSpPr>
            <p:cNvPr id="5" name="Rounded Rectangle 4">
              <a:extLst>
                <a:ext uri="{FF2B5EF4-FFF2-40B4-BE49-F238E27FC236}">
                  <a16:creationId xmlns:a16="http://schemas.microsoft.com/office/drawing/2014/main" id="{A85E2467-5F17-6AEA-CEE0-309E4454415A}"/>
                </a:ext>
              </a:extLst>
            </p:cNvPr>
            <p:cNvSpPr/>
            <p:nvPr/>
          </p:nvSpPr>
          <p:spPr>
            <a:xfrm>
              <a:off x="2316491" y="4636421"/>
              <a:ext cx="582390" cy="529561"/>
            </a:xfrm>
            <a:prstGeom prst="roundRect">
              <a:avLst/>
            </a:prstGeom>
            <a:solidFill>
              <a:srgbClr val="194241"/>
            </a:solidFill>
            <a:ln w="1905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pic>
          <p:nvPicPr>
            <p:cNvPr id="24" name="Picture 23" descr="A group of icons on a black background&#10;&#10;AI-generated content may be incorrect.">
              <a:extLst>
                <a:ext uri="{FF2B5EF4-FFF2-40B4-BE49-F238E27FC236}">
                  <a16:creationId xmlns:a16="http://schemas.microsoft.com/office/drawing/2014/main" id="{0A4AA163-A58B-19F2-7DE5-F315B86C14CA}"/>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2377429" y="4619590"/>
              <a:ext cx="426294" cy="529561"/>
            </a:xfrm>
            <a:prstGeom prst="rect">
              <a:avLst/>
            </a:prstGeom>
          </p:spPr>
        </p:pic>
      </p:grpSp>
      <p:grpSp>
        <p:nvGrpSpPr>
          <p:cNvPr id="20" name="Group 19">
            <a:extLst>
              <a:ext uri="{FF2B5EF4-FFF2-40B4-BE49-F238E27FC236}">
                <a16:creationId xmlns:a16="http://schemas.microsoft.com/office/drawing/2014/main" id="{A0F9A8C9-3CF0-4F9F-1711-14762943D243}"/>
              </a:ext>
            </a:extLst>
          </p:cNvPr>
          <p:cNvGrpSpPr/>
          <p:nvPr/>
        </p:nvGrpSpPr>
        <p:grpSpPr>
          <a:xfrm>
            <a:off x="586766" y="4636422"/>
            <a:ext cx="582390" cy="529561"/>
            <a:chOff x="586766" y="4636422"/>
            <a:chExt cx="582390" cy="529561"/>
          </a:xfrm>
        </p:grpSpPr>
        <p:sp>
          <p:nvSpPr>
            <p:cNvPr id="4" name="Rounded Rectangle 3">
              <a:extLst>
                <a:ext uri="{FF2B5EF4-FFF2-40B4-BE49-F238E27FC236}">
                  <a16:creationId xmlns:a16="http://schemas.microsoft.com/office/drawing/2014/main" id="{5F7D602B-0A58-2909-FAED-63EF980DD705}"/>
                </a:ext>
              </a:extLst>
            </p:cNvPr>
            <p:cNvSpPr/>
            <p:nvPr/>
          </p:nvSpPr>
          <p:spPr>
            <a:xfrm>
              <a:off x="586766" y="4636422"/>
              <a:ext cx="582390" cy="529561"/>
            </a:xfrm>
            <a:prstGeom prst="roundRect">
              <a:avLst/>
            </a:prstGeom>
            <a:solidFill>
              <a:srgbClr val="194241"/>
            </a:solidFill>
            <a:ln w="1905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pic>
          <p:nvPicPr>
            <p:cNvPr id="25" name="Picture 24" descr="A group of icons on a black background&#10;&#10;AI-generated content may be incorrect.">
              <a:extLst>
                <a:ext uri="{FF2B5EF4-FFF2-40B4-BE49-F238E27FC236}">
                  <a16:creationId xmlns:a16="http://schemas.microsoft.com/office/drawing/2014/main" id="{A8A4892C-007A-40CC-5786-0BE1B555D8AF}"/>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679918" y="4671630"/>
              <a:ext cx="457288" cy="459143"/>
            </a:xfrm>
            <a:prstGeom prst="rect">
              <a:avLst/>
            </a:prstGeom>
          </p:spPr>
        </p:pic>
      </p:grpSp>
      <p:grpSp>
        <p:nvGrpSpPr>
          <p:cNvPr id="21" name="Group 20">
            <a:extLst>
              <a:ext uri="{FF2B5EF4-FFF2-40B4-BE49-F238E27FC236}">
                <a16:creationId xmlns:a16="http://schemas.microsoft.com/office/drawing/2014/main" id="{7115E629-FA1D-8519-FE08-97F9829B66C0}"/>
              </a:ext>
            </a:extLst>
          </p:cNvPr>
          <p:cNvGrpSpPr/>
          <p:nvPr/>
        </p:nvGrpSpPr>
        <p:grpSpPr>
          <a:xfrm>
            <a:off x="594696" y="5494673"/>
            <a:ext cx="582390" cy="616699"/>
            <a:chOff x="594696" y="5657470"/>
            <a:chExt cx="582390" cy="616699"/>
          </a:xfrm>
        </p:grpSpPr>
        <p:sp>
          <p:nvSpPr>
            <p:cNvPr id="6" name="Rounded Rectangle 5">
              <a:extLst>
                <a:ext uri="{FF2B5EF4-FFF2-40B4-BE49-F238E27FC236}">
                  <a16:creationId xmlns:a16="http://schemas.microsoft.com/office/drawing/2014/main" id="{74D4313B-A41A-EFC7-A71B-D7F1FC696045}"/>
                </a:ext>
              </a:extLst>
            </p:cNvPr>
            <p:cNvSpPr/>
            <p:nvPr/>
          </p:nvSpPr>
          <p:spPr>
            <a:xfrm>
              <a:off x="594696" y="5674631"/>
              <a:ext cx="582390" cy="529561"/>
            </a:xfrm>
            <a:prstGeom prst="roundRect">
              <a:avLst/>
            </a:prstGeom>
            <a:solidFill>
              <a:srgbClr val="194241"/>
            </a:solidFill>
            <a:ln w="1905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pic>
          <p:nvPicPr>
            <p:cNvPr id="26" name="Picture 25" descr="A group of icons on a black background&#10;&#10;AI-generated content may be incorrect.">
              <a:extLst>
                <a:ext uri="{FF2B5EF4-FFF2-40B4-BE49-F238E27FC236}">
                  <a16:creationId xmlns:a16="http://schemas.microsoft.com/office/drawing/2014/main" id="{86F27DDC-FA99-4972-D656-3F2B93BE2887}"/>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691381" y="5657470"/>
              <a:ext cx="399087" cy="616699"/>
            </a:xfrm>
            <a:prstGeom prst="rect">
              <a:avLst/>
            </a:prstGeom>
          </p:spPr>
        </p:pic>
      </p:grpSp>
      <p:grpSp>
        <p:nvGrpSpPr>
          <p:cNvPr id="22" name="Group 21">
            <a:extLst>
              <a:ext uri="{FF2B5EF4-FFF2-40B4-BE49-F238E27FC236}">
                <a16:creationId xmlns:a16="http://schemas.microsoft.com/office/drawing/2014/main" id="{B9B0EBCA-8533-E913-5C37-61D043C59D24}"/>
              </a:ext>
            </a:extLst>
          </p:cNvPr>
          <p:cNvGrpSpPr/>
          <p:nvPr/>
        </p:nvGrpSpPr>
        <p:grpSpPr>
          <a:xfrm>
            <a:off x="3520405" y="5494673"/>
            <a:ext cx="582390" cy="581931"/>
            <a:chOff x="2324421" y="5674630"/>
            <a:chExt cx="582390" cy="581931"/>
          </a:xfrm>
        </p:grpSpPr>
        <p:sp>
          <p:nvSpPr>
            <p:cNvPr id="7" name="Rounded Rectangle 6">
              <a:extLst>
                <a:ext uri="{FF2B5EF4-FFF2-40B4-BE49-F238E27FC236}">
                  <a16:creationId xmlns:a16="http://schemas.microsoft.com/office/drawing/2014/main" id="{415514C9-44B1-1946-97DA-F6A456BD5C23}"/>
                </a:ext>
              </a:extLst>
            </p:cNvPr>
            <p:cNvSpPr/>
            <p:nvPr/>
          </p:nvSpPr>
          <p:spPr>
            <a:xfrm>
              <a:off x="2324421" y="5674630"/>
              <a:ext cx="582390" cy="529561"/>
            </a:xfrm>
            <a:prstGeom prst="roundRect">
              <a:avLst/>
            </a:prstGeom>
            <a:solidFill>
              <a:srgbClr val="194241"/>
            </a:solidFill>
            <a:ln w="1905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pic>
          <p:nvPicPr>
            <p:cNvPr id="27" name="Picture 26" descr="A group of icons on a black background&#10;&#10;AI-generated content may be incorrect.">
              <a:extLst>
                <a:ext uri="{FF2B5EF4-FFF2-40B4-BE49-F238E27FC236}">
                  <a16:creationId xmlns:a16="http://schemas.microsoft.com/office/drawing/2014/main" id="{40CFC8E5-EE36-656F-6357-01CBA404DB37}"/>
                </a:ext>
              </a:extLst>
            </p:cNvPr>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2383008" y="5737185"/>
              <a:ext cx="523803" cy="519376"/>
            </a:xfrm>
            <a:prstGeom prst="rect">
              <a:avLst/>
            </a:prstGeom>
          </p:spPr>
        </p:pic>
      </p:grpSp>
      <p:pic>
        <p:nvPicPr>
          <p:cNvPr id="29" name="Picture 28" descr="A white paw print with brown outline&#10;&#10;AI-generated content may be incorrect.">
            <a:extLst>
              <a:ext uri="{FF2B5EF4-FFF2-40B4-BE49-F238E27FC236}">
                <a16:creationId xmlns:a16="http://schemas.microsoft.com/office/drawing/2014/main" id="{C62A9545-2C78-2C12-6ED8-2469CD9224A1}"/>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rot="2965102">
            <a:off x="6219988" y="5517923"/>
            <a:ext cx="1287131" cy="858088"/>
          </a:xfrm>
          <a:prstGeom prst="rect">
            <a:avLst/>
          </a:prstGeom>
        </p:spPr>
      </p:pic>
      <p:grpSp>
        <p:nvGrpSpPr>
          <p:cNvPr id="8" name="Group 7">
            <a:extLst>
              <a:ext uri="{FF2B5EF4-FFF2-40B4-BE49-F238E27FC236}">
                <a16:creationId xmlns:a16="http://schemas.microsoft.com/office/drawing/2014/main" id="{971BF3A0-C7F9-254F-AD3B-1FCB0596F870}"/>
              </a:ext>
            </a:extLst>
          </p:cNvPr>
          <p:cNvGrpSpPr/>
          <p:nvPr/>
        </p:nvGrpSpPr>
        <p:grpSpPr>
          <a:xfrm>
            <a:off x="11492677" y="6133632"/>
            <a:ext cx="435703" cy="435703"/>
            <a:chOff x="10837571" y="6280755"/>
            <a:chExt cx="435703" cy="435703"/>
          </a:xfrm>
        </p:grpSpPr>
        <p:sp>
          <p:nvSpPr>
            <p:cNvPr id="13" name="Rounded Rectangle 12">
              <a:extLst>
                <a:ext uri="{FF2B5EF4-FFF2-40B4-BE49-F238E27FC236}">
                  <a16:creationId xmlns:a16="http://schemas.microsoft.com/office/drawing/2014/main" id="{57F5E588-BA9B-049E-BCF6-AA21E59A1A45}"/>
                </a:ext>
              </a:extLst>
            </p:cNvPr>
            <p:cNvSpPr/>
            <p:nvPr/>
          </p:nvSpPr>
          <p:spPr>
            <a:xfrm>
              <a:off x="10837571" y="6280755"/>
              <a:ext cx="435703" cy="435703"/>
            </a:xfrm>
            <a:prstGeom prst="roundRect">
              <a:avLst/>
            </a:prstGeom>
            <a:solidFill>
              <a:srgbClr val="FFFBF6"/>
            </a:solidFill>
            <a:ln w="19050" cap="flat">
              <a:solidFill>
                <a:srgbClr val="FFFBF6"/>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pic>
          <p:nvPicPr>
            <p:cNvPr id="18" name="Picture 17" descr="A yellow dog with bow tie and bow tie and bow tie and bow tie and bow tie and bow tie and bow tie and bow tie and bow tie and bow tie and bow tie and bow tie&#10;&#10;AI-generated content may be incorrect.">
              <a:extLst>
                <a:ext uri="{FF2B5EF4-FFF2-40B4-BE49-F238E27FC236}">
                  <a16:creationId xmlns:a16="http://schemas.microsoft.com/office/drawing/2014/main" id="{619590D5-9475-4160-B02B-8C40EF1BC93F}"/>
                </a:ext>
              </a:extLst>
            </p:cNvPr>
            <p:cNvPicPr>
              <a:picLocks noChangeAspect="1"/>
            </p:cNvPicPr>
            <p:nvPr/>
          </p:nvPicPr>
          <p:blipFill>
            <a:blip r:embed="rId8" cstate="hqprint">
              <a:extLst>
                <a:ext uri="{28A0092B-C50C-407E-A947-70E740481C1C}">
                  <a14:useLocalDpi xmlns:a14="http://schemas.microsoft.com/office/drawing/2010/main"/>
                </a:ext>
              </a:extLst>
            </a:blip>
            <a:stretch>
              <a:fillRect/>
            </a:stretch>
          </p:blipFill>
          <p:spPr>
            <a:xfrm>
              <a:off x="10857461" y="6329205"/>
              <a:ext cx="395921" cy="317146"/>
            </a:xfrm>
            <a:prstGeom prst="rect">
              <a:avLst/>
            </a:prstGeom>
          </p:spPr>
        </p:pic>
      </p:gr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8B989"/>
        </a:solidFill>
        <a:effectLst/>
      </p:bgPr>
    </p:bg>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id="{4B5A4DEC-32DB-A6BE-5408-FEBAAE82819D}"/>
              </a:ext>
            </a:extLst>
          </p:cNvPr>
          <p:cNvSpPr/>
          <p:nvPr/>
        </p:nvSpPr>
        <p:spPr>
          <a:xfrm>
            <a:off x="561893" y="4437917"/>
            <a:ext cx="1218004" cy="198478"/>
          </a:xfrm>
          <a:prstGeom prst="parallelogram">
            <a:avLst/>
          </a:prstGeom>
          <a:solidFill>
            <a:srgbClr val="194241"/>
          </a:solidFill>
          <a:ln w="19050" cap="flat">
            <a:solidFill>
              <a:srgbClr val="19424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sp>
        <p:nvSpPr>
          <p:cNvPr id="197" name="Rectangle"/>
          <p:cNvSpPr/>
          <p:nvPr/>
        </p:nvSpPr>
        <p:spPr>
          <a:xfrm>
            <a:off x="5842711" y="1196616"/>
            <a:ext cx="3913520" cy="2464354"/>
          </a:xfrm>
          <a:prstGeom prst="rect">
            <a:avLst/>
          </a:prstGeom>
          <a:solidFill>
            <a:srgbClr val="FFFBF6"/>
          </a:solidFill>
          <a:ln w="38100">
            <a:solidFill>
              <a:srgbClr val="194241"/>
            </a:solidFill>
            <a:miter/>
          </a:ln>
          <a:effectLst>
            <a:outerShdw blurRad="152400" dist="141807" dir="3194745" rotWithShape="0">
              <a:srgbClr val="000000">
                <a:alpha val="12692"/>
              </a:srgbClr>
            </a:outerShdw>
          </a:effectLst>
        </p:spPr>
        <p:txBody>
          <a:bodyPr lIns="45719" rIns="45719" anchor="ctr"/>
          <a:lstStyle/>
          <a:p>
            <a:endParaRPr/>
          </a:p>
        </p:txBody>
      </p:sp>
      <p:sp>
        <p:nvSpPr>
          <p:cNvPr id="198" name="TextBox 4"/>
          <p:cNvSpPr txBox="1"/>
          <p:nvPr/>
        </p:nvSpPr>
        <p:spPr>
          <a:xfrm>
            <a:off x="572159" y="1369740"/>
            <a:ext cx="5492043" cy="6582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ts val="4000"/>
              </a:lnSpc>
              <a:defRPr sz="4800" b="1">
                <a:solidFill>
                  <a:srgbClr val="CF5785"/>
                </a:solidFill>
                <a:latin typeface="GFS Didot"/>
                <a:ea typeface="GFS Didot"/>
                <a:cs typeface="GFS Didot"/>
                <a:sym typeface="GFS Didot"/>
              </a:defRPr>
            </a:lvl1pPr>
          </a:lstStyle>
          <a:p>
            <a:r>
              <a:rPr dirty="0">
                <a:solidFill>
                  <a:srgbClr val="194241"/>
                </a:solidFill>
                <a:latin typeface="Avenir Heavy" panose="02000503020000020003" pitchFamily="2" charset="0"/>
              </a:rPr>
              <a:t>Primary Logo</a:t>
            </a:r>
          </a:p>
        </p:txBody>
      </p:sp>
      <p:sp>
        <p:nvSpPr>
          <p:cNvPr id="199" name="Rectangle 1"/>
          <p:cNvSpPr txBox="1"/>
          <p:nvPr/>
        </p:nvSpPr>
        <p:spPr>
          <a:xfrm>
            <a:off x="586766" y="1983595"/>
            <a:ext cx="4128669" cy="24622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nchor="ctr">
            <a:spAutoFit/>
          </a:bodyPr>
          <a:lstStyle/>
          <a:p>
            <a:pPr>
              <a:defRPr sz="1000">
                <a:solidFill>
                  <a:srgbClr val="1B1B1B"/>
                </a:solidFill>
                <a:latin typeface="Lato"/>
                <a:ea typeface="Lato"/>
                <a:cs typeface="Lato"/>
                <a:sym typeface="Lato"/>
              </a:defRPr>
            </a:pPr>
            <a:r>
              <a:rPr sz="1400" dirty="0">
                <a:solidFill>
                  <a:srgbClr val="1B1B1B"/>
                </a:solidFill>
                <a:latin typeface="Lato" panose="020F0502020204030203" pitchFamily="34" charset="77"/>
              </a:rPr>
              <a:t>A logo is the visual cornerstone of a brand’s identity. It serves as the most immediate and recognizable representation of who we are, what we stand for, and how we want to be remembered. More than just a mark, a logo functions as a symbol of trust, personality, and purpose.</a:t>
            </a:r>
          </a:p>
          <a:p>
            <a:pPr>
              <a:defRPr sz="1000">
                <a:solidFill>
                  <a:srgbClr val="1B1B1B"/>
                </a:solidFill>
                <a:latin typeface="Lato"/>
                <a:ea typeface="Lato"/>
                <a:cs typeface="Lato"/>
                <a:sym typeface="Lato"/>
              </a:defRPr>
            </a:pPr>
            <a:endParaRPr sz="1400" dirty="0">
              <a:solidFill>
                <a:srgbClr val="1B1B1B"/>
              </a:solidFill>
              <a:latin typeface="Lato" panose="020F0502020204030203" pitchFamily="34" charset="77"/>
            </a:endParaRPr>
          </a:p>
          <a:p>
            <a:pPr>
              <a:defRPr sz="1000">
                <a:solidFill>
                  <a:srgbClr val="1B1B1B"/>
                </a:solidFill>
                <a:latin typeface="Lato"/>
                <a:ea typeface="Lato"/>
                <a:cs typeface="Lato"/>
                <a:sym typeface="Lato"/>
              </a:defRPr>
            </a:pPr>
            <a:r>
              <a:rPr sz="1400" dirty="0">
                <a:solidFill>
                  <a:srgbClr val="1B1B1B"/>
                </a:solidFill>
                <a:latin typeface="Lato" panose="020F0502020204030203" pitchFamily="34" charset="77"/>
              </a:rPr>
              <a:t>A well-designed logo communicates our story in a single glance — combining meaning, emotion, and distinctiveness.</a:t>
            </a:r>
          </a:p>
          <a:p>
            <a:pPr>
              <a:defRPr sz="1000">
                <a:solidFill>
                  <a:srgbClr val="1B1B1B"/>
                </a:solidFill>
                <a:latin typeface="Lato"/>
                <a:ea typeface="Lato"/>
                <a:cs typeface="Lato"/>
                <a:sym typeface="Lato"/>
              </a:defRPr>
            </a:pPr>
            <a:endParaRPr sz="1400" dirty="0">
              <a:solidFill>
                <a:srgbClr val="1B1B1B"/>
              </a:solidFill>
              <a:latin typeface="Lato" panose="020F0502020204030203" pitchFamily="34" charset="77"/>
            </a:endParaRPr>
          </a:p>
        </p:txBody>
      </p:sp>
      <p:sp>
        <p:nvSpPr>
          <p:cNvPr id="4" name="TextBox 3">
            <a:extLst>
              <a:ext uri="{FF2B5EF4-FFF2-40B4-BE49-F238E27FC236}">
                <a16:creationId xmlns:a16="http://schemas.microsoft.com/office/drawing/2014/main" id="{55F7C2B3-CC2C-5445-AE91-DE62D75EE958}"/>
              </a:ext>
            </a:extLst>
          </p:cNvPr>
          <p:cNvSpPr txBox="1"/>
          <p:nvPr/>
        </p:nvSpPr>
        <p:spPr>
          <a:xfrm>
            <a:off x="564905" y="4397331"/>
            <a:ext cx="1347022" cy="4562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1500"/>
              </a:lnSpc>
              <a:defRPr sz="1500" b="1">
                <a:solidFill>
                  <a:srgbClr val="CF5785"/>
                </a:solidFill>
                <a:latin typeface="Lato"/>
                <a:ea typeface="Lato"/>
                <a:cs typeface="Lato"/>
                <a:sym typeface="Lato"/>
              </a:defRPr>
            </a:pPr>
            <a:r>
              <a:rPr lang="en-US" sz="1000" b="1" dirty="0">
                <a:solidFill>
                  <a:srgbClr val="FFFBF6"/>
                </a:solidFill>
                <a:latin typeface="Lato" panose="020F0502020204030203" pitchFamily="34" charset="77"/>
              </a:rPr>
              <a:t>PATTERN NOTES</a:t>
            </a:r>
          </a:p>
          <a:p>
            <a:pPr>
              <a:lnSpc>
                <a:spcPts val="1500"/>
              </a:lnSpc>
              <a:defRPr sz="1500" b="1">
                <a:solidFill>
                  <a:srgbClr val="CF5785"/>
                </a:solidFill>
                <a:latin typeface="Lato"/>
                <a:ea typeface="Lato"/>
                <a:cs typeface="Lato"/>
                <a:sym typeface="Lato"/>
              </a:defRPr>
            </a:pPr>
            <a:endParaRPr lang="en-US" sz="1000" b="1" dirty="0">
              <a:solidFill>
                <a:srgbClr val="FFFBF6"/>
              </a:solidFill>
              <a:latin typeface="Lato" panose="020F0502020204030203" pitchFamily="34" charset="77"/>
            </a:endParaRPr>
          </a:p>
        </p:txBody>
      </p:sp>
      <p:sp>
        <p:nvSpPr>
          <p:cNvPr id="7" name="Straight Connector 12">
            <a:extLst>
              <a:ext uri="{FF2B5EF4-FFF2-40B4-BE49-F238E27FC236}">
                <a16:creationId xmlns:a16="http://schemas.microsoft.com/office/drawing/2014/main" id="{241C564D-23CD-8D44-5B1C-15BCD50E8102}"/>
              </a:ext>
            </a:extLst>
          </p:cNvPr>
          <p:cNvSpPr/>
          <p:nvPr/>
        </p:nvSpPr>
        <p:spPr>
          <a:xfrm>
            <a:off x="587828" y="694185"/>
            <a:ext cx="11041026" cy="30499"/>
          </a:xfrm>
          <a:prstGeom prst="line">
            <a:avLst/>
          </a:prstGeom>
          <a:ln w="19050">
            <a:solidFill>
              <a:srgbClr val="FFFBF6"/>
            </a:solidFill>
            <a:miter/>
          </a:ln>
        </p:spPr>
        <p:txBody>
          <a:bodyPr lIns="45719" rIns="45719"/>
          <a:lstStyle/>
          <a:p>
            <a:endParaRPr>
              <a:solidFill>
                <a:srgbClr val="FFFBF6"/>
              </a:solidFill>
            </a:endParaRPr>
          </a:p>
        </p:txBody>
      </p:sp>
      <p:sp>
        <p:nvSpPr>
          <p:cNvPr id="8" name="TextBox 73">
            <a:extLst>
              <a:ext uri="{FF2B5EF4-FFF2-40B4-BE49-F238E27FC236}">
                <a16:creationId xmlns:a16="http://schemas.microsoft.com/office/drawing/2014/main" id="{0C4F1948-1AF4-5444-A5EA-F26C0D9C4D99}"/>
              </a:ext>
            </a:extLst>
          </p:cNvPr>
          <p:cNvSpPr txBox="1"/>
          <p:nvPr/>
        </p:nvSpPr>
        <p:spPr>
          <a:xfrm>
            <a:off x="586766" y="752988"/>
            <a:ext cx="1140695" cy="261610"/>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FFFBF6"/>
                </a:solidFill>
                <a:latin typeface="Avenir Medium" panose="02000503020000020003" pitchFamily="2" charset="0"/>
              </a:rPr>
              <a:t>Maison </a:t>
            </a:r>
            <a:r>
              <a:rPr sz="1100" dirty="0" err="1">
                <a:solidFill>
                  <a:srgbClr val="FFFBF6"/>
                </a:solidFill>
                <a:latin typeface="Avenir Medium" panose="02000503020000020003" pitchFamily="2" charset="0"/>
              </a:rPr>
              <a:t>Lepluplu</a:t>
            </a:r>
            <a:endParaRPr sz="1100" dirty="0">
              <a:solidFill>
                <a:srgbClr val="FFFBF6"/>
              </a:solidFill>
              <a:latin typeface="Avenir Medium" panose="02000503020000020003" pitchFamily="2" charset="0"/>
            </a:endParaRPr>
          </a:p>
        </p:txBody>
      </p:sp>
      <p:sp>
        <p:nvSpPr>
          <p:cNvPr id="9" name="TextBox 74">
            <a:extLst>
              <a:ext uri="{FF2B5EF4-FFF2-40B4-BE49-F238E27FC236}">
                <a16:creationId xmlns:a16="http://schemas.microsoft.com/office/drawing/2014/main" id="{13CB30B1-9D45-BFBC-8A20-749CE1BFDF30}"/>
              </a:ext>
            </a:extLst>
          </p:cNvPr>
          <p:cNvSpPr txBox="1"/>
          <p:nvPr/>
        </p:nvSpPr>
        <p:spPr>
          <a:xfrm>
            <a:off x="9713976" y="768633"/>
            <a:ext cx="829712" cy="261610"/>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FFFBF6"/>
                </a:solidFill>
                <a:latin typeface="Avenir Medium" panose="02000503020000020003" pitchFamily="2" charset="0"/>
              </a:rPr>
              <a:t>10/23/2025</a:t>
            </a:r>
          </a:p>
        </p:txBody>
      </p:sp>
      <p:sp>
        <p:nvSpPr>
          <p:cNvPr id="10" name="TextBox 75">
            <a:extLst>
              <a:ext uri="{FF2B5EF4-FFF2-40B4-BE49-F238E27FC236}">
                <a16:creationId xmlns:a16="http://schemas.microsoft.com/office/drawing/2014/main" id="{747B6EA2-BA7B-2DAC-C995-9EC84E393CBA}"/>
              </a:ext>
            </a:extLst>
          </p:cNvPr>
          <p:cNvSpPr txBox="1"/>
          <p:nvPr/>
        </p:nvSpPr>
        <p:spPr>
          <a:xfrm>
            <a:off x="11383131" y="786797"/>
            <a:ext cx="249425" cy="261610"/>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FFFBF6"/>
                </a:solidFill>
                <a:latin typeface="Avenir Medium" panose="02000503020000020003" pitchFamily="2" charset="0"/>
              </a:rPr>
              <a:t>0</a:t>
            </a:r>
            <a:r>
              <a:rPr lang="en-US" sz="1100" dirty="0">
                <a:solidFill>
                  <a:srgbClr val="FFFBF6"/>
                </a:solidFill>
                <a:latin typeface="Avenir Medium" panose="02000503020000020003" pitchFamily="2" charset="0"/>
              </a:rPr>
              <a:t>5</a:t>
            </a:r>
            <a:endParaRPr sz="1100" dirty="0">
              <a:solidFill>
                <a:srgbClr val="FFFBF6"/>
              </a:solidFill>
              <a:latin typeface="Avenir Medium" panose="02000503020000020003" pitchFamily="2" charset="0"/>
            </a:endParaRPr>
          </a:p>
        </p:txBody>
      </p:sp>
      <p:pic>
        <p:nvPicPr>
          <p:cNvPr id="14" name="Picture 13" descr="A yellow dog with bow tie and a hat and a tower&#10;&#10;AI-generated content may be incorrect.">
            <a:extLst>
              <a:ext uri="{FF2B5EF4-FFF2-40B4-BE49-F238E27FC236}">
                <a16:creationId xmlns:a16="http://schemas.microsoft.com/office/drawing/2014/main" id="{D5C5F850-6F7E-60C6-8EBB-91FFD738841F}"/>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6721415" y="1328310"/>
            <a:ext cx="2156112" cy="2231745"/>
          </a:xfrm>
          <a:prstGeom prst="rect">
            <a:avLst/>
          </a:prstGeom>
        </p:spPr>
      </p:pic>
      <p:pic>
        <p:nvPicPr>
          <p:cNvPr id="16" name="Picture 15" descr="A wallpaper with a dog and a tower&#10;&#10;AI-generated content may be incorrect.">
            <a:extLst>
              <a:ext uri="{FF2B5EF4-FFF2-40B4-BE49-F238E27FC236}">
                <a16:creationId xmlns:a16="http://schemas.microsoft.com/office/drawing/2014/main" id="{9297F4DE-58AE-03B5-8EBE-DDC161B9FBE2}"/>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6752294" y="3880818"/>
            <a:ext cx="4421156" cy="2179019"/>
          </a:xfrm>
          <a:prstGeom prst="rect">
            <a:avLst/>
          </a:prstGeom>
        </p:spPr>
      </p:pic>
      <p:sp>
        <p:nvSpPr>
          <p:cNvPr id="196" name="Rectangle"/>
          <p:cNvSpPr/>
          <p:nvPr/>
        </p:nvSpPr>
        <p:spPr>
          <a:xfrm>
            <a:off x="6752293" y="3858121"/>
            <a:ext cx="4421155" cy="2200747"/>
          </a:xfrm>
          <a:prstGeom prst="rect">
            <a:avLst/>
          </a:prstGeom>
          <a:noFill/>
          <a:ln w="38100">
            <a:solidFill>
              <a:srgbClr val="194241"/>
            </a:solidFill>
            <a:miter/>
          </a:ln>
          <a:effectLst>
            <a:outerShdw blurRad="152400" dist="141807" dir="3194745" rotWithShape="0">
              <a:srgbClr val="000000">
                <a:alpha val="12692"/>
              </a:srgbClr>
            </a:outerShdw>
          </a:effectLst>
        </p:spPr>
        <p:txBody>
          <a:bodyPr lIns="45719" rIns="45719" anchor="ctr"/>
          <a:lstStyle/>
          <a:p>
            <a:endParaRPr/>
          </a:p>
        </p:txBody>
      </p:sp>
      <p:sp>
        <p:nvSpPr>
          <p:cNvPr id="3" name="TextBox 2">
            <a:extLst>
              <a:ext uri="{FF2B5EF4-FFF2-40B4-BE49-F238E27FC236}">
                <a16:creationId xmlns:a16="http://schemas.microsoft.com/office/drawing/2014/main" id="{B131EBE0-7D6B-A7B6-4BAE-64D9F6961C81}"/>
              </a:ext>
            </a:extLst>
          </p:cNvPr>
          <p:cNvSpPr txBox="1"/>
          <p:nvPr/>
        </p:nvSpPr>
        <p:spPr>
          <a:xfrm>
            <a:off x="586766" y="4894196"/>
            <a:ext cx="4128668" cy="16055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171450" indent="-171450">
              <a:lnSpc>
                <a:spcPts val="1120"/>
              </a:lnSpc>
              <a:spcAft>
                <a:spcPts val="600"/>
              </a:spcAft>
              <a:buFont typeface="Arial" panose="020B0604020202020204" pitchFamily="34" charset="0"/>
              <a:buChar char="•"/>
              <a:defRPr sz="1000">
                <a:solidFill>
                  <a:srgbClr val="1B1B1B"/>
                </a:solidFill>
                <a:latin typeface="Lato"/>
                <a:ea typeface="Lato"/>
                <a:cs typeface="Lato"/>
                <a:sym typeface="Lato"/>
              </a:defRPr>
            </a:pPr>
            <a:r>
              <a:rPr lang="en-US" sz="1400" dirty="0">
                <a:solidFill>
                  <a:srgbClr val="1B1B1B"/>
                </a:solidFill>
                <a:latin typeface="Lato" panose="020F0502020204030203" pitchFamily="34" charset="77"/>
              </a:rPr>
              <a:t>A bold, star-inspired mark symbolizing creativity and connection.</a:t>
            </a:r>
          </a:p>
          <a:p>
            <a:pPr marL="171450" indent="-171450">
              <a:lnSpc>
                <a:spcPts val="1120"/>
              </a:lnSpc>
              <a:spcAft>
                <a:spcPts val="600"/>
              </a:spcAft>
              <a:buFont typeface="Arial" panose="020B0604020202020204" pitchFamily="34" charset="0"/>
              <a:buChar char="•"/>
              <a:defRPr sz="1000">
                <a:solidFill>
                  <a:srgbClr val="1B1B1B"/>
                </a:solidFill>
                <a:latin typeface="Lato"/>
                <a:ea typeface="Lato"/>
                <a:cs typeface="Lato"/>
                <a:sym typeface="Lato"/>
              </a:defRPr>
            </a:pPr>
            <a:endParaRPr lang="en-US" sz="1400" dirty="0">
              <a:solidFill>
                <a:srgbClr val="1B1B1B"/>
              </a:solidFill>
              <a:latin typeface="Lato" panose="020F0502020204030203" pitchFamily="34" charset="77"/>
            </a:endParaRPr>
          </a:p>
          <a:p>
            <a:pPr marL="171450" indent="-171450">
              <a:lnSpc>
                <a:spcPts val="1120"/>
              </a:lnSpc>
              <a:spcAft>
                <a:spcPts val="600"/>
              </a:spcAft>
              <a:buFont typeface="Arial" panose="020B0604020202020204" pitchFamily="34" charset="0"/>
              <a:buChar char="•"/>
              <a:defRPr sz="1000">
                <a:solidFill>
                  <a:srgbClr val="1B1B1B"/>
                </a:solidFill>
                <a:latin typeface="Lato"/>
                <a:ea typeface="Lato"/>
                <a:cs typeface="Lato"/>
                <a:sym typeface="Lato"/>
              </a:defRPr>
            </a:pPr>
            <a:r>
              <a:rPr lang="en-US" sz="1400" dirty="0">
                <a:solidFill>
                  <a:srgbClr val="1B1B1B"/>
                </a:solidFill>
                <a:latin typeface="Lato" panose="020F0502020204030203" pitchFamily="34" charset="77"/>
              </a:rPr>
              <a:t>A modern, geometric design that balances energy with simplicity.</a:t>
            </a:r>
          </a:p>
          <a:p>
            <a:pPr marL="171450" indent="-171450">
              <a:lnSpc>
                <a:spcPts val="1120"/>
              </a:lnSpc>
              <a:spcAft>
                <a:spcPts val="600"/>
              </a:spcAft>
              <a:buFont typeface="Arial" panose="020B0604020202020204" pitchFamily="34" charset="0"/>
              <a:buChar char="•"/>
              <a:defRPr sz="1000">
                <a:solidFill>
                  <a:srgbClr val="1B1B1B"/>
                </a:solidFill>
                <a:latin typeface="Lato"/>
                <a:ea typeface="Lato"/>
                <a:cs typeface="Lato"/>
                <a:sym typeface="Lato"/>
              </a:defRPr>
            </a:pPr>
            <a:endParaRPr lang="en-US" sz="1400" dirty="0">
              <a:solidFill>
                <a:srgbClr val="1B1B1B"/>
              </a:solidFill>
              <a:latin typeface="Lato" panose="020F0502020204030203" pitchFamily="34" charset="77"/>
            </a:endParaRPr>
          </a:p>
          <a:p>
            <a:pPr marL="171450" indent="-171450">
              <a:lnSpc>
                <a:spcPts val="1120"/>
              </a:lnSpc>
              <a:spcAft>
                <a:spcPts val="600"/>
              </a:spcAft>
              <a:buFont typeface="Arial" panose="020B0604020202020204" pitchFamily="34" charset="0"/>
              <a:buChar char="•"/>
              <a:defRPr sz="1000">
                <a:solidFill>
                  <a:srgbClr val="1B1B1B"/>
                </a:solidFill>
                <a:latin typeface="Lato"/>
                <a:ea typeface="Lato"/>
                <a:cs typeface="Lato"/>
                <a:sym typeface="Lato"/>
              </a:defRPr>
            </a:pPr>
            <a:r>
              <a:rPr lang="en-US" sz="1400" dirty="0">
                <a:solidFill>
                  <a:srgbClr val="1B1B1B"/>
                </a:solidFill>
                <a:latin typeface="Lato" panose="020F0502020204030203" pitchFamily="34" charset="77"/>
              </a:rPr>
              <a:t>A vibrant emblem representing innovation, unity, and forward momentum.</a:t>
            </a:r>
          </a:p>
        </p:txBody>
      </p:sp>
      <p:grpSp>
        <p:nvGrpSpPr>
          <p:cNvPr id="6" name="Group 5">
            <a:extLst>
              <a:ext uri="{FF2B5EF4-FFF2-40B4-BE49-F238E27FC236}">
                <a16:creationId xmlns:a16="http://schemas.microsoft.com/office/drawing/2014/main" id="{D7556953-D3E2-BB7B-CD15-1B69E439355D}"/>
              </a:ext>
            </a:extLst>
          </p:cNvPr>
          <p:cNvGrpSpPr/>
          <p:nvPr/>
        </p:nvGrpSpPr>
        <p:grpSpPr>
          <a:xfrm>
            <a:off x="11492677" y="6133632"/>
            <a:ext cx="435703" cy="435703"/>
            <a:chOff x="10837571" y="6280755"/>
            <a:chExt cx="435703" cy="435703"/>
          </a:xfrm>
        </p:grpSpPr>
        <p:sp>
          <p:nvSpPr>
            <p:cNvPr id="11" name="Rounded Rectangle 10">
              <a:extLst>
                <a:ext uri="{FF2B5EF4-FFF2-40B4-BE49-F238E27FC236}">
                  <a16:creationId xmlns:a16="http://schemas.microsoft.com/office/drawing/2014/main" id="{4999DEC3-C314-F407-D916-FE818A97F101}"/>
                </a:ext>
              </a:extLst>
            </p:cNvPr>
            <p:cNvSpPr/>
            <p:nvPr/>
          </p:nvSpPr>
          <p:spPr>
            <a:xfrm>
              <a:off x="10837571" y="6280755"/>
              <a:ext cx="435703" cy="435703"/>
            </a:xfrm>
            <a:prstGeom prst="roundRect">
              <a:avLst/>
            </a:prstGeom>
            <a:solidFill>
              <a:srgbClr val="FFFBF6"/>
            </a:solidFill>
            <a:ln w="19050" cap="flat">
              <a:solidFill>
                <a:srgbClr val="FFFBF6"/>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pic>
          <p:nvPicPr>
            <p:cNvPr id="12" name="Picture 11" descr="A yellow dog with bow tie and bow tie and bow tie and bow tie and bow tie and bow tie and bow tie and bow tie and bow tie and bow tie and bow tie and bow tie&#10;&#10;AI-generated content may be incorrect.">
              <a:extLst>
                <a:ext uri="{FF2B5EF4-FFF2-40B4-BE49-F238E27FC236}">
                  <a16:creationId xmlns:a16="http://schemas.microsoft.com/office/drawing/2014/main" id="{14E8B9AD-08CE-3DD4-24C4-A041BCCF12F7}"/>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10857461" y="6329205"/>
              <a:ext cx="395921" cy="317146"/>
            </a:xfrm>
            <a:prstGeom prst="rect">
              <a:avLst/>
            </a:prstGeom>
          </p:spPr>
        </p:pic>
      </p:gr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8B989"/>
        </a:solidFill>
        <a:effectLst/>
      </p:bgPr>
    </p:bg>
    <p:spTree>
      <p:nvGrpSpPr>
        <p:cNvPr id="1" name=""/>
        <p:cNvGrpSpPr/>
        <p:nvPr/>
      </p:nvGrpSpPr>
      <p:grpSpPr>
        <a:xfrm>
          <a:off x="0" y="0"/>
          <a:ext cx="0" cy="0"/>
          <a:chOff x="0" y="0"/>
          <a:chExt cx="0" cy="0"/>
        </a:xfrm>
      </p:grpSpPr>
      <p:sp>
        <p:nvSpPr>
          <p:cNvPr id="207" name="Rectangle"/>
          <p:cNvSpPr/>
          <p:nvPr/>
        </p:nvSpPr>
        <p:spPr>
          <a:xfrm>
            <a:off x="6370744" y="1196615"/>
            <a:ext cx="4618137" cy="4907509"/>
          </a:xfrm>
          <a:prstGeom prst="rect">
            <a:avLst/>
          </a:prstGeom>
          <a:solidFill>
            <a:srgbClr val="FFFFFF"/>
          </a:solidFill>
          <a:ln w="38100">
            <a:solidFill>
              <a:srgbClr val="194241"/>
            </a:solidFill>
            <a:miter/>
          </a:ln>
          <a:effectLst>
            <a:outerShdw blurRad="152400" dist="141807" dir="3194745" rotWithShape="0">
              <a:srgbClr val="000000">
                <a:alpha val="12692"/>
              </a:srgbClr>
            </a:outerShdw>
          </a:effectLst>
        </p:spPr>
        <p:txBody>
          <a:bodyPr lIns="45719" rIns="45719" anchor="ctr"/>
          <a:lstStyle/>
          <a:p>
            <a:endParaRPr/>
          </a:p>
        </p:txBody>
      </p:sp>
      <p:sp>
        <p:nvSpPr>
          <p:cNvPr id="208" name="TextBox 4"/>
          <p:cNvSpPr txBox="1"/>
          <p:nvPr/>
        </p:nvSpPr>
        <p:spPr>
          <a:xfrm>
            <a:off x="572159" y="1369740"/>
            <a:ext cx="5492043" cy="6582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ts val="4000"/>
              </a:lnSpc>
              <a:defRPr sz="4800" b="1">
                <a:solidFill>
                  <a:srgbClr val="CF5785"/>
                </a:solidFill>
                <a:latin typeface="GFS Didot"/>
                <a:ea typeface="GFS Didot"/>
                <a:cs typeface="GFS Didot"/>
                <a:sym typeface="GFS Didot"/>
              </a:defRPr>
            </a:lvl1pPr>
          </a:lstStyle>
          <a:p>
            <a:r>
              <a:rPr dirty="0">
                <a:solidFill>
                  <a:srgbClr val="FFFBF6"/>
                </a:solidFill>
                <a:latin typeface="Avenir Heavy" panose="02000503020000020003" pitchFamily="2" charset="0"/>
              </a:rPr>
              <a:t>Secondary Logo</a:t>
            </a:r>
          </a:p>
        </p:txBody>
      </p:sp>
      <p:sp>
        <p:nvSpPr>
          <p:cNvPr id="209" name="Rectangle 1"/>
          <p:cNvSpPr txBox="1"/>
          <p:nvPr/>
        </p:nvSpPr>
        <p:spPr>
          <a:xfrm>
            <a:off x="586766" y="2024817"/>
            <a:ext cx="4275000" cy="95410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just">
              <a:defRPr sz="1000">
                <a:solidFill>
                  <a:srgbClr val="1B1B1B"/>
                </a:solidFill>
                <a:latin typeface="Lato"/>
                <a:ea typeface="Lato"/>
                <a:cs typeface="Lato"/>
                <a:sym typeface="Lato"/>
              </a:defRPr>
            </a:lvl1pPr>
          </a:lstStyle>
          <a:p>
            <a:pPr algn="l"/>
            <a:r>
              <a:rPr lang="en-US" sz="1400" dirty="0">
                <a:latin typeface="Lato" panose="020F0502020204030203" pitchFamily="34" charset="77"/>
                <a:sym typeface="Aptos"/>
              </a:rPr>
              <a:t>A secondary logo is a simplified version of the primary mark, designed for flexible use across smaller spaces or alternate formats while maintaining brand recognition.</a:t>
            </a:r>
          </a:p>
        </p:txBody>
      </p:sp>
      <p:sp>
        <p:nvSpPr>
          <p:cNvPr id="2" name="Straight Connector 12">
            <a:extLst>
              <a:ext uri="{FF2B5EF4-FFF2-40B4-BE49-F238E27FC236}">
                <a16:creationId xmlns:a16="http://schemas.microsoft.com/office/drawing/2014/main" id="{30CDA925-2FD5-E4F1-6AEE-BF2AA6C7EADC}"/>
              </a:ext>
            </a:extLst>
          </p:cNvPr>
          <p:cNvSpPr/>
          <p:nvPr/>
        </p:nvSpPr>
        <p:spPr>
          <a:xfrm>
            <a:off x="587828" y="694185"/>
            <a:ext cx="11041026" cy="30499"/>
          </a:xfrm>
          <a:prstGeom prst="line">
            <a:avLst/>
          </a:prstGeom>
          <a:ln w="19050">
            <a:solidFill>
              <a:srgbClr val="FFFBF6"/>
            </a:solidFill>
            <a:miter/>
          </a:ln>
        </p:spPr>
        <p:txBody>
          <a:bodyPr lIns="45719" rIns="45719"/>
          <a:lstStyle/>
          <a:p>
            <a:endParaRPr>
              <a:solidFill>
                <a:srgbClr val="FFFBF6"/>
              </a:solidFill>
            </a:endParaRPr>
          </a:p>
        </p:txBody>
      </p:sp>
      <p:sp>
        <p:nvSpPr>
          <p:cNvPr id="3" name="TextBox 73">
            <a:extLst>
              <a:ext uri="{FF2B5EF4-FFF2-40B4-BE49-F238E27FC236}">
                <a16:creationId xmlns:a16="http://schemas.microsoft.com/office/drawing/2014/main" id="{46E623B8-DC61-5732-C9B6-FF07C4B415DE}"/>
              </a:ext>
            </a:extLst>
          </p:cNvPr>
          <p:cNvSpPr txBox="1"/>
          <p:nvPr/>
        </p:nvSpPr>
        <p:spPr>
          <a:xfrm>
            <a:off x="586766" y="752988"/>
            <a:ext cx="1140695" cy="261610"/>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FFFBF6"/>
                </a:solidFill>
                <a:latin typeface="Avenir Medium" panose="02000503020000020003" pitchFamily="2" charset="0"/>
              </a:rPr>
              <a:t>Maison </a:t>
            </a:r>
            <a:r>
              <a:rPr sz="1100" dirty="0" err="1">
                <a:solidFill>
                  <a:srgbClr val="FFFBF6"/>
                </a:solidFill>
                <a:latin typeface="Avenir Medium" panose="02000503020000020003" pitchFamily="2" charset="0"/>
              </a:rPr>
              <a:t>Lepluplu</a:t>
            </a:r>
            <a:endParaRPr sz="1100" dirty="0">
              <a:solidFill>
                <a:srgbClr val="FFFBF6"/>
              </a:solidFill>
              <a:latin typeface="Avenir Medium" panose="02000503020000020003" pitchFamily="2" charset="0"/>
            </a:endParaRPr>
          </a:p>
        </p:txBody>
      </p:sp>
      <p:sp>
        <p:nvSpPr>
          <p:cNvPr id="4" name="TextBox 74">
            <a:extLst>
              <a:ext uri="{FF2B5EF4-FFF2-40B4-BE49-F238E27FC236}">
                <a16:creationId xmlns:a16="http://schemas.microsoft.com/office/drawing/2014/main" id="{4FA4BC34-08D6-2AA0-8A09-09260F79D5E9}"/>
              </a:ext>
            </a:extLst>
          </p:cNvPr>
          <p:cNvSpPr txBox="1"/>
          <p:nvPr/>
        </p:nvSpPr>
        <p:spPr>
          <a:xfrm>
            <a:off x="9713976" y="768633"/>
            <a:ext cx="829712" cy="261610"/>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FFFBF6"/>
                </a:solidFill>
                <a:latin typeface="Avenir Medium" panose="02000503020000020003" pitchFamily="2" charset="0"/>
              </a:rPr>
              <a:t>10/23/2025</a:t>
            </a:r>
          </a:p>
        </p:txBody>
      </p:sp>
      <p:sp>
        <p:nvSpPr>
          <p:cNvPr id="5" name="TextBox 75">
            <a:extLst>
              <a:ext uri="{FF2B5EF4-FFF2-40B4-BE49-F238E27FC236}">
                <a16:creationId xmlns:a16="http://schemas.microsoft.com/office/drawing/2014/main" id="{8C58B3F0-038B-87E8-CE07-E3F8100D10C8}"/>
              </a:ext>
            </a:extLst>
          </p:cNvPr>
          <p:cNvSpPr txBox="1"/>
          <p:nvPr/>
        </p:nvSpPr>
        <p:spPr>
          <a:xfrm>
            <a:off x="11383131" y="786797"/>
            <a:ext cx="249425" cy="261610"/>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FFFBF6"/>
                </a:solidFill>
                <a:latin typeface="Avenir Medium" panose="02000503020000020003" pitchFamily="2" charset="0"/>
              </a:rPr>
              <a:t>0</a:t>
            </a:r>
            <a:r>
              <a:rPr lang="en-US" sz="1100" dirty="0">
                <a:solidFill>
                  <a:srgbClr val="FFFBF6"/>
                </a:solidFill>
                <a:latin typeface="Avenir Medium" panose="02000503020000020003" pitchFamily="2" charset="0"/>
              </a:rPr>
              <a:t>6</a:t>
            </a:r>
            <a:endParaRPr sz="1100" dirty="0">
              <a:solidFill>
                <a:srgbClr val="FFFBF6"/>
              </a:solidFill>
              <a:latin typeface="Avenir Medium" panose="02000503020000020003" pitchFamily="2" charset="0"/>
            </a:endParaRPr>
          </a:p>
        </p:txBody>
      </p:sp>
      <p:pic>
        <p:nvPicPr>
          <p:cNvPr id="8" name="Picture 7" descr="A yellow dog with bow tie and bow tie and bow tie and bow tie and bow tie and bow tie and bow tie and bow tie and bow tie and bow tie and bow tie and bow tie&#10;&#10;AI-generated content may be incorrect.">
            <a:extLst>
              <a:ext uri="{FF2B5EF4-FFF2-40B4-BE49-F238E27FC236}">
                <a16:creationId xmlns:a16="http://schemas.microsoft.com/office/drawing/2014/main" id="{AED89B7C-AE31-67C8-72CC-24C7FEA35F4C}"/>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108341" y="1996524"/>
            <a:ext cx="4914900" cy="3937000"/>
          </a:xfrm>
          <a:prstGeom prst="rect">
            <a:avLst/>
          </a:prstGeom>
        </p:spPr>
      </p:pic>
      <p:sp>
        <p:nvSpPr>
          <p:cNvPr id="6" name="Parallelogram 5">
            <a:extLst>
              <a:ext uri="{FF2B5EF4-FFF2-40B4-BE49-F238E27FC236}">
                <a16:creationId xmlns:a16="http://schemas.microsoft.com/office/drawing/2014/main" id="{14E234FE-A237-82B2-3502-527364BF0AE0}"/>
              </a:ext>
            </a:extLst>
          </p:cNvPr>
          <p:cNvSpPr/>
          <p:nvPr/>
        </p:nvSpPr>
        <p:spPr>
          <a:xfrm>
            <a:off x="572159" y="4133425"/>
            <a:ext cx="1218004" cy="198478"/>
          </a:xfrm>
          <a:prstGeom prst="parallelogram">
            <a:avLst/>
          </a:prstGeom>
          <a:solidFill>
            <a:srgbClr val="194241"/>
          </a:solidFill>
          <a:ln w="19050" cap="flat">
            <a:solidFill>
              <a:srgbClr val="19424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sp>
        <p:nvSpPr>
          <p:cNvPr id="7" name="TextBox 6">
            <a:extLst>
              <a:ext uri="{FF2B5EF4-FFF2-40B4-BE49-F238E27FC236}">
                <a16:creationId xmlns:a16="http://schemas.microsoft.com/office/drawing/2014/main" id="{E3D4CF98-573B-ED5C-326B-FF5052A09726}"/>
              </a:ext>
            </a:extLst>
          </p:cNvPr>
          <p:cNvSpPr txBox="1"/>
          <p:nvPr/>
        </p:nvSpPr>
        <p:spPr>
          <a:xfrm>
            <a:off x="641675" y="4092839"/>
            <a:ext cx="1147986" cy="4562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1500"/>
              </a:lnSpc>
              <a:defRPr sz="1500" b="1">
                <a:solidFill>
                  <a:srgbClr val="CF5785"/>
                </a:solidFill>
                <a:latin typeface="Lato"/>
                <a:ea typeface="Lato"/>
                <a:cs typeface="Lato"/>
                <a:sym typeface="Lato"/>
              </a:defRPr>
            </a:pPr>
            <a:r>
              <a:rPr lang="en-US" sz="1000" b="1" dirty="0">
                <a:solidFill>
                  <a:srgbClr val="FFFBF6"/>
                </a:solidFill>
                <a:latin typeface="Lato" panose="020F0502020204030203" pitchFamily="34" charset="77"/>
              </a:rPr>
              <a:t>LOGO  NOTES</a:t>
            </a:r>
          </a:p>
          <a:p>
            <a:pPr>
              <a:lnSpc>
                <a:spcPts val="1500"/>
              </a:lnSpc>
              <a:defRPr sz="1500" b="1">
                <a:solidFill>
                  <a:srgbClr val="CF5785"/>
                </a:solidFill>
                <a:latin typeface="Lato"/>
                <a:ea typeface="Lato"/>
                <a:cs typeface="Lato"/>
                <a:sym typeface="Lato"/>
              </a:defRPr>
            </a:pPr>
            <a:endParaRPr lang="en-US" sz="1000" b="1" dirty="0">
              <a:solidFill>
                <a:srgbClr val="FFFBF6"/>
              </a:solidFill>
              <a:latin typeface="Lato" panose="020F0502020204030203" pitchFamily="34" charset="77"/>
            </a:endParaRPr>
          </a:p>
        </p:txBody>
      </p:sp>
      <p:sp>
        <p:nvSpPr>
          <p:cNvPr id="9" name="TextBox 8">
            <a:extLst>
              <a:ext uri="{FF2B5EF4-FFF2-40B4-BE49-F238E27FC236}">
                <a16:creationId xmlns:a16="http://schemas.microsoft.com/office/drawing/2014/main" id="{8D96E33D-633F-46A2-69E7-C30FF8023CE4}"/>
              </a:ext>
            </a:extLst>
          </p:cNvPr>
          <p:cNvSpPr txBox="1"/>
          <p:nvPr/>
        </p:nvSpPr>
        <p:spPr>
          <a:xfrm>
            <a:off x="652817" y="4594385"/>
            <a:ext cx="4208949" cy="18235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171450" indent="-171450">
              <a:lnSpc>
                <a:spcPts val="1120"/>
              </a:lnSpc>
              <a:spcAft>
                <a:spcPts val="600"/>
              </a:spcAft>
              <a:buFont typeface="Arial" panose="020B0604020202020204" pitchFamily="34" charset="0"/>
              <a:buChar char="•"/>
              <a:defRPr sz="1000">
                <a:solidFill>
                  <a:srgbClr val="1B1B1B"/>
                </a:solidFill>
                <a:latin typeface="Lato"/>
                <a:ea typeface="Lato"/>
                <a:cs typeface="Lato"/>
                <a:sym typeface="Lato"/>
              </a:defRPr>
            </a:pPr>
            <a:r>
              <a:rPr lang="en-US" sz="1400" dirty="0">
                <a:solidFill>
                  <a:srgbClr val="1B1B1B"/>
                </a:solidFill>
                <a:latin typeface="Lato" panose="020F0502020204030203" pitchFamily="34" charset="77"/>
              </a:rPr>
              <a:t>A bold, star-inspired mark symbolizing creativity and connection.</a:t>
            </a:r>
          </a:p>
          <a:p>
            <a:pPr marL="171450" indent="-171450">
              <a:lnSpc>
                <a:spcPts val="1120"/>
              </a:lnSpc>
              <a:spcAft>
                <a:spcPts val="600"/>
              </a:spcAft>
              <a:buFont typeface="Arial" panose="020B0604020202020204" pitchFamily="34" charset="0"/>
              <a:buChar char="•"/>
              <a:defRPr sz="1000">
                <a:solidFill>
                  <a:srgbClr val="1B1B1B"/>
                </a:solidFill>
                <a:latin typeface="Lato"/>
                <a:ea typeface="Lato"/>
                <a:cs typeface="Lato"/>
                <a:sym typeface="Lato"/>
              </a:defRPr>
            </a:pPr>
            <a:endParaRPr lang="en-US" sz="1400" dirty="0">
              <a:solidFill>
                <a:srgbClr val="1B1B1B"/>
              </a:solidFill>
              <a:latin typeface="Lato" panose="020F0502020204030203" pitchFamily="34" charset="77"/>
            </a:endParaRPr>
          </a:p>
          <a:p>
            <a:pPr marL="171450" indent="-171450">
              <a:lnSpc>
                <a:spcPts val="1120"/>
              </a:lnSpc>
              <a:spcAft>
                <a:spcPts val="600"/>
              </a:spcAft>
              <a:buFont typeface="Arial" panose="020B0604020202020204" pitchFamily="34" charset="0"/>
              <a:buChar char="•"/>
              <a:defRPr sz="1000">
                <a:solidFill>
                  <a:srgbClr val="1B1B1B"/>
                </a:solidFill>
                <a:latin typeface="Lato"/>
                <a:ea typeface="Lato"/>
                <a:cs typeface="Lato"/>
                <a:sym typeface="Lato"/>
              </a:defRPr>
            </a:pPr>
            <a:r>
              <a:rPr lang="en-US" sz="1400" dirty="0">
                <a:solidFill>
                  <a:srgbClr val="1B1B1B"/>
                </a:solidFill>
                <a:latin typeface="Lato" panose="020F0502020204030203" pitchFamily="34" charset="77"/>
              </a:rPr>
              <a:t>A modern, geometric design that balances energy with simplicity.</a:t>
            </a:r>
          </a:p>
          <a:p>
            <a:pPr marL="171450" indent="-171450">
              <a:lnSpc>
                <a:spcPts val="1120"/>
              </a:lnSpc>
              <a:spcAft>
                <a:spcPts val="600"/>
              </a:spcAft>
              <a:buFont typeface="Arial" panose="020B0604020202020204" pitchFamily="34" charset="0"/>
              <a:buChar char="•"/>
              <a:defRPr sz="1000">
                <a:solidFill>
                  <a:srgbClr val="1B1B1B"/>
                </a:solidFill>
                <a:latin typeface="Lato"/>
                <a:ea typeface="Lato"/>
                <a:cs typeface="Lato"/>
                <a:sym typeface="Lato"/>
              </a:defRPr>
            </a:pPr>
            <a:endParaRPr lang="en-US" sz="1400" dirty="0">
              <a:solidFill>
                <a:srgbClr val="1B1B1B"/>
              </a:solidFill>
              <a:latin typeface="Lato" panose="020F0502020204030203" pitchFamily="34" charset="77"/>
            </a:endParaRPr>
          </a:p>
          <a:p>
            <a:pPr marL="171450" indent="-171450">
              <a:lnSpc>
                <a:spcPts val="1120"/>
              </a:lnSpc>
              <a:spcAft>
                <a:spcPts val="600"/>
              </a:spcAft>
              <a:buFont typeface="Arial" panose="020B0604020202020204" pitchFamily="34" charset="0"/>
              <a:buChar char="•"/>
              <a:defRPr sz="1000">
                <a:solidFill>
                  <a:srgbClr val="1B1B1B"/>
                </a:solidFill>
                <a:latin typeface="Lato"/>
                <a:ea typeface="Lato"/>
                <a:cs typeface="Lato"/>
                <a:sym typeface="Lato"/>
              </a:defRPr>
            </a:pPr>
            <a:r>
              <a:rPr lang="en-US" sz="1400" dirty="0">
                <a:solidFill>
                  <a:srgbClr val="1B1B1B"/>
                </a:solidFill>
                <a:latin typeface="Lato" panose="020F0502020204030203" pitchFamily="34" charset="77"/>
              </a:rPr>
              <a:t>A vibrant emblem representing innovation, unity, and forward momentum.</a:t>
            </a:r>
          </a:p>
          <a:p>
            <a:pPr marL="171450" indent="-171450">
              <a:lnSpc>
                <a:spcPts val="1120"/>
              </a:lnSpc>
              <a:spcAft>
                <a:spcPts val="600"/>
              </a:spcAft>
              <a:buFont typeface="Arial" panose="020B0604020202020204" pitchFamily="34" charset="0"/>
              <a:buChar char="•"/>
              <a:defRPr sz="1000">
                <a:solidFill>
                  <a:srgbClr val="1B1B1B"/>
                </a:solidFill>
                <a:latin typeface="Lato"/>
                <a:ea typeface="Lato"/>
                <a:cs typeface="Lato"/>
                <a:sym typeface="Lato"/>
              </a:defRPr>
            </a:pPr>
            <a:endParaRPr lang="en-US" sz="1400" dirty="0">
              <a:solidFill>
                <a:srgbClr val="1B1B1B"/>
              </a:solidFill>
              <a:latin typeface="Lato" panose="020F0502020204030203" pitchFamily="34" charset="77"/>
            </a:endParaRPr>
          </a:p>
        </p:txBody>
      </p:sp>
      <p:grpSp>
        <p:nvGrpSpPr>
          <p:cNvPr id="11" name="Group 10">
            <a:extLst>
              <a:ext uri="{FF2B5EF4-FFF2-40B4-BE49-F238E27FC236}">
                <a16:creationId xmlns:a16="http://schemas.microsoft.com/office/drawing/2014/main" id="{09EB613A-D159-562D-E2C2-64A8E180D370}"/>
              </a:ext>
            </a:extLst>
          </p:cNvPr>
          <p:cNvGrpSpPr/>
          <p:nvPr/>
        </p:nvGrpSpPr>
        <p:grpSpPr>
          <a:xfrm>
            <a:off x="11492677" y="6133632"/>
            <a:ext cx="435703" cy="435703"/>
            <a:chOff x="10837571" y="6280755"/>
            <a:chExt cx="435703" cy="435703"/>
          </a:xfrm>
        </p:grpSpPr>
        <p:sp>
          <p:nvSpPr>
            <p:cNvPr id="12" name="Rounded Rectangle 11">
              <a:extLst>
                <a:ext uri="{FF2B5EF4-FFF2-40B4-BE49-F238E27FC236}">
                  <a16:creationId xmlns:a16="http://schemas.microsoft.com/office/drawing/2014/main" id="{35FF5ACD-1521-E883-1240-8DDF9FB7E118}"/>
                </a:ext>
              </a:extLst>
            </p:cNvPr>
            <p:cNvSpPr/>
            <p:nvPr/>
          </p:nvSpPr>
          <p:spPr>
            <a:xfrm>
              <a:off x="10837571" y="6280755"/>
              <a:ext cx="435703" cy="435703"/>
            </a:xfrm>
            <a:prstGeom prst="roundRect">
              <a:avLst/>
            </a:prstGeom>
            <a:solidFill>
              <a:srgbClr val="FFFBF6"/>
            </a:solidFill>
            <a:ln w="19050" cap="flat">
              <a:solidFill>
                <a:srgbClr val="FFFBF6"/>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pic>
          <p:nvPicPr>
            <p:cNvPr id="13" name="Picture 12" descr="A yellow dog with bow tie and bow tie and bow tie and bow tie and bow tie and bow tie and bow tie and bow tie and bow tie and bow tie and bow tie and bow tie&#10;&#10;AI-generated content may be incorrect.">
              <a:extLst>
                <a:ext uri="{FF2B5EF4-FFF2-40B4-BE49-F238E27FC236}">
                  <a16:creationId xmlns:a16="http://schemas.microsoft.com/office/drawing/2014/main" id="{BEE20418-79E6-8686-B1DD-CE953A3F6623}"/>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0857461" y="6329205"/>
              <a:ext cx="395921" cy="317146"/>
            </a:xfrm>
            <a:prstGeom prst="rect">
              <a:avLst/>
            </a:prstGeom>
          </p:spPr>
        </p:pic>
      </p:gr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8B989"/>
        </a:solidFill>
        <a:effectLst/>
      </p:bgPr>
    </p:bg>
    <p:spTree>
      <p:nvGrpSpPr>
        <p:cNvPr id="1" name=""/>
        <p:cNvGrpSpPr/>
        <p:nvPr/>
      </p:nvGrpSpPr>
      <p:grpSpPr>
        <a:xfrm>
          <a:off x="0" y="0"/>
          <a:ext cx="0" cy="0"/>
          <a:chOff x="0" y="0"/>
          <a:chExt cx="0" cy="0"/>
        </a:xfrm>
      </p:grpSpPr>
      <p:pic>
        <p:nvPicPr>
          <p:cNvPr id="1027" name="Picture 3" descr="Generated image">
            <a:extLst>
              <a:ext uri="{FF2B5EF4-FFF2-40B4-BE49-F238E27FC236}">
                <a16:creationId xmlns:a16="http://schemas.microsoft.com/office/drawing/2014/main" id="{1A9F99B4-3828-A45F-B1AA-B20855178C0C}"/>
              </a:ext>
            </a:extLst>
          </p:cNvPr>
          <p:cNvPicPr>
            <a:picLocks noChangeAspect="1" noChangeArrowheads="1"/>
          </p:cNvPicPr>
          <p:nvPr/>
        </p:nvPicPr>
        <p:blipFill rotWithShape="1">
          <a:blip r:embed="rId2" cstate="hqprint">
            <a:extLst>
              <a:ext uri="{28A0092B-C50C-407E-A947-70E740481C1C}">
                <a14:useLocalDpi xmlns:a14="http://schemas.microsoft.com/office/drawing/2010/main"/>
              </a:ext>
            </a:extLst>
          </a:blip>
          <a:srcRect/>
          <a:stretch>
            <a:fillRect/>
          </a:stretch>
        </p:blipFill>
        <p:spPr bwMode="auto">
          <a:xfrm>
            <a:off x="6508941" y="1034620"/>
            <a:ext cx="4324123" cy="5317882"/>
          </a:xfrm>
          <a:prstGeom prst="rect">
            <a:avLst/>
          </a:prstGeom>
          <a:noFill/>
          <a:extLst>
            <a:ext uri="{909E8E84-426E-40DD-AFC4-6F175D3DCCD1}">
              <a14:hiddenFill xmlns:a14="http://schemas.microsoft.com/office/drawing/2010/main">
                <a:solidFill>
                  <a:srgbClr val="FFFFFF"/>
                </a:solidFill>
              </a14:hiddenFill>
            </a:ext>
          </a:extLst>
        </p:spPr>
      </p:pic>
      <p:sp>
        <p:nvSpPr>
          <p:cNvPr id="229" name="TextBox 4"/>
          <p:cNvSpPr txBox="1"/>
          <p:nvPr/>
        </p:nvSpPr>
        <p:spPr>
          <a:xfrm>
            <a:off x="572159" y="1369740"/>
            <a:ext cx="5492043" cy="6582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ts val="4000"/>
              </a:lnSpc>
              <a:defRPr sz="4800" b="1">
                <a:solidFill>
                  <a:srgbClr val="CF5785"/>
                </a:solidFill>
                <a:latin typeface="GFS Didot"/>
                <a:ea typeface="GFS Didot"/>
                <a:cs typeface="GFS Didot"/>
                <a:sym typeface="GFS Didot"/>
              </a:defRPr>
            </a:lvl1pPr>
          </a:lstStyle>
          <a:p>
            <a:r>
              <a:rPr dirty="0">
                <a:solidFill>
                  <a:srgbClr val="FFFBF6"/>
                </a:solidFill>
                <a:latin typeface="Avenir Heavy" panose="02000503020000020003" pitchFamily="2" charset="0"/>
              </a:rPr>
              <a:t>Brand Marks</a:t>
            </a:r>
          </a:p>
        </p:txBody>
      </p:sp>
      <p:sp>
        <p:nvSpPr>
          <p:cNvPr id="230" name="Rectangle 1"/>
          <p:cNvSpPr txBox="1"/>
          <p:nvPr/>
        </p:nvSpPr>
        <p:spPr>
          <a:xfrm>
            <a:off x="572159" y="2972030"/>
            <a:ext cx="4275000" cy="2462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just">
              <a:defRPr sz="1000">
                <a:solidFill>
                  <a:srgbClr val="1B1B1B"/>
                </a:solidFill>
                <a:latin typeface="Lato"/>
                <a:ea typeface="Lato"/>
                <a:cs typeface="Lato"/>
                <a:sym typeface="Lato"/>
              </a:defRPr>
            </a:lvl1pPr>
          </a:lstStyle>
          <a:p>
            <a:endParaRPr dirty="0"/>
          </a:p>
        </p:txBody>
      </p:sp>
      <p:sp>
        <p:nvSpPr>
          <p:cNvPr id="235" name="Rectangle"/>
          <p:cNvSpPr/>
          <p:nvPr/>
        </p:nvSpPr>
        <p:spPr>
          <a:xfrm rot="159666">
            <a:off x="6370744" y="1222016"/>
            <a:ext cx="4618137" cy="4967200"/>
          </a:xfrm>
          <a:prstGeom prst="rect">
            <a:avLst/>
          </a:prstGeom>
          <a:noFill/>
          <a:ln w="38100">
            <a:solidFill>
              <a:srgbClr val="194241"/>
            </a:solidFill>
            <a:miter/>
          </a:ln>
          <a:effectLst>
            <a:outerShdw blurRad="152400" dist="141807" dir="3194745" rotWithShape="0">
              <a:srgbClr val="000000">
                <a:alpha val="12692"/>
              </a:srgbClr>
            </a:outerShdw>
          </a:effectLst>
        </p:spPr>
        <p:txBody>
          <a:bodyPr lIns="45719" rIns="45719" anchor="ctr"/>
          <a:lstStyle/>
          <a:p>
            <a:endParaRPr lang="en-US" dirty="0"/>
          </a:p>
          <a:p>
            <a:endParaRPr dirty="0"/>
          </a:p>
        </p:txBody>
      </p:sp>
      <p:sp>
        <p:nvSpPr>
          <p:cNvPr id="2" name="Straight Connector 12">
            <a:extLst>
              <a:ext uri="{FF2B5EF4-FFF2-40B4-BE49-F238E27FC236}">
                <a16:creationId xmlns:a16="http://schemas.microsoft.com/office/drawing/2014/main" id="{45E2554F-B6C7-44AC-F091-8EE948C31E90}"/>
              </a:ext>
            </a:extLst>
          </p:cNvPr>
          <p:cNvSpPr/>
          <p:nvPr/>
        </p:nvSpPr>
        <p:spPr>
          <a:xfrm>
            <a:off x="587828" y="694185"/>
            <a:ext cx="11041026" cy="30499"/>
          </a:xfrm>
          <a:prstGeom prst="line">
            <a:avLst/>
          </a:prstGeom>
          <a:ln w="19050">
            <a:solidFill>
              <a:srgbClr val="FFFBF6"/>
            </a:solidFill>
            <a:miter/>
          </a:ln>
        </p:spPr>
        <p:txBody>
          <a:bodyPr lIns="45719" rIns="45719"/>
          <a:lstStyle/>
          <a:p>
            <a:endParaRPr>
              <a:solidFill>
                <a:srgbClr val="FFFBF6"/>
              </a:solidFill>
            </a:endParaRPr>
          </a:p>
        </p:txBody>
      </p:sp>
      <p:sp>
        <p:nvSpPr>
          <p:cNvPr id="3" name="TextBox 73">
            <a:extLst>
              <a:ext uri="{FF2B5EF4-FFF2-40B4-BE49-F238E27FC236}">
                <a16:creationId xmlns:a16="http://schemas.microsoft.com/office/drawing/2014/main" id="{52E79ADC-B19D-E44A-110F-B3E5B4D65D3D}"/>
              </a:ext>
            </a:extLst>
          </p:cNvPr>
          <p:cNvSpPr txBox="1"/>
          <p:nvPr/>
        </p:nvSpPr>
        <p:spPr>
          <a:xfrm>
            <a:off x="586766" y="752988"/>
            <a:ext cx="1140695" cy="261610"/>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FFFBF6"/>
                </a:solidFill>
                <a:latin typeface="Avenir Medium" panose="02000503020000020003" pitchFamily="2" charset="0"/>
              </a:rPr>
              <a:t>Maison </a:t>
            </a:r>
            <a:r>
              <a:rPr sz="1100" dirty="0" err="1">
                <a:solidFill>
                  <a:srgbClr val="FFFBF6"/>
                </a:solidFill>
                <a:latin typeface="Avenir Medium" panose="02000503020000020003" pitchFamily="2" charset="0"/>
              </a:rPr>
              <a:t>Lepluplu</a:t>
            </a:r>
            <a:endParaRPr sz="1100" dirty="0">
              <a:solidFill>
                <a:srgbClr val="FFFBF6"/>
              </a:solidFill>
              <a:latin typeface="Avenir Medium" panose="02000503020000020003" pitchFamily="2" charset="0"/>
            </a:endParaRPr>
          </a:p>
        </p:txBody>
      </p:sp>
      <p:sp>
        <p:nvSpPr>
          <p:cNvPr id="4" name="TextBox 74">
            <a:extLst>
              <a:ext uri="{FF2B5EF4-FFF2-40B4-BE49-F238E27FC236}">
                <a16:creationId xmlns:a16="http://schemas.microsoft.com/office/drawing/2014/main" id="{D7963731-2AE9-44FB-FA19-B4AEFA9D5C6B}"/>
              </a:ext>
            </a:extLst>
          </p:cNvPr>
          <p:cNvSpPr txBox="1"/>
          <p:nvPr/>
        </p:nvSpPr>
        <p:spPr>
          <a:xfrm>
            <a:off x="9713976" y="768633"/>
            <a:ext cx="829712" cy="261610"/>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FFFBF6"/>
                </a:solidFill>
                <a:latin typeface="Avenir Medium" panose="02000503020000020003" pitchFamily="2" charset="0"/>
              </a:rPr>
              <a:t>10/23/2025</a:t>
            </a:r>
          </a:p>
        </p:txBody>
      </p:sp>
      <p:sp>
        <p:nvSpPr>
          <p:cNvPr id="5" name="TextBox 75">
            <a:extLst>
              <a:ext uri="{FF2B5EF4-FFF2-40B4-BE49-F238E27FC236}">
                <a16:creationId xmlns:a16="http://schemas.microsoft.com/office/drawing/2014/main" id="{F2A662EA-4D7B-3D5C-24F7-D98D76FC059C}"/>
              </a:ext>
            </a:extLst>
          </p:cNvPr>
          <p:cNvSpPr txBox="1"/>
          <p:nvPr/>
        </p:nvSpPr>
        <p:spPr>
          <a:xfrm>
            <a:off x="11383131" y="786797"/>
            <a:ext cx="249425" cy="261610"/>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FFFBF6"/>
                </a:solidFill>
                <a:latin typeface="Avenir Medium" panose="02000503020000020003" pitchFamily="2" charset="0"/>
              </a:rPr>
              <a:t>0</a:t>
            </a:r>
            <a:r>
              <a:rPr lang="en-US" sz="1100" dirty="0">
                <a:solidFill>
                  <a:srgbClr val="FFFBF6"/>
                </a:solidFill>
                <a:latin typeface="Avenir Medium" panose="02000503020000020003" pitchFamily="2" charset="0"/>
              </a:rPr>
              <a:t>7</a:t>
            </a:r>
            <a:endParaRPr sz="1100" dirty="0">
              <a:solidFill>
                <a:srgbClr val="FFFBF6"/>
              </a:solidFill>
              <a:latin typeface="Avenir Medium" panose="02000503020000020003" pitchFamily="2" charset="0"/>
            </a:endParaRPr>
          </a:p>
        </p:txBody>
      </p:sp>
      <p:sp>
        <p:nvSpPr>
          <p:cNvPr id="6" name="Rectangle 1">
            <a:extLst>
              <a:ext uri="{FF2B5EF4-FFF2-40B4-BE49-F238E27FC236}">
                <a16:creationId xmlns:a16="http://schemas.microsoft.com/office/drawing/2014/main" id="{8974E80C-0F50-FF56-0DD6-FA2A080F0AD9}"/>
              </a:ext>
            </a:extLst>
          </p:cNvPr>
          <p:cNvSpPr>
            <a:spLocks noChangeArrowheads="1"/>
          </p:cNvSpPr>
          <p:nvPr/>
        </p:nvSpPr>
        <p:spPr bwMode="auto">
          <a:xfrm>
            <a:off x="572159" y="2155360"/>
            <a:ext cx="406039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400" u="none" strike="noStrike" cap="none" normalizeH="0" baseline="0" dirty="0">
                <a:ln>
                  <a:noFill/>
                </a:ln>
                <a:solidFill>
                  <a:srgbClr val="000000"/>
                </a:solidFill>
                <a:effectLst/>
                <a:latin typeface="Lato" panose="020F0502020204030203" pitchFamily="34" charset="77"/>
              </a:rPr>
              <a:t>The Maison </a:t>
            </a:r>
            <a:r>
              <a:rPr kumimoji="0" lang="en-US" altLang="en-US" sz="1400" u="none" strike="noStrike" cap="none" normalizeH="0" baseline="0" dirty="0" err="1">
                <a:ln>
                  <a:noFill/>
                </a:ln>
                <a:solidFill>
                  <a:srgbClr val="000000"/>
                </a:solidFill>
                <a:effectLst/>
                <a:latin typeface="Lato" panose="020F0502020204030203" pitchFamily="34" charset="77"/>
              </a:rPr>
              <a:t>Lepluplu</a:t>
            </a:r>
            <a:r>
              <a:rPr kumimoji="0" lang="en-US" altLang="en-US" sz="1400" u="none" strike="noStrike" cap="none" normalizeH="0" baseline="0" dirty="0">
                <a:ln>
                  <a:noFill/>
                </a:ln>
                <a:solidFill>
                  <a:srgbClr val="000000"/>
                </a:solidFill>
                <a:effectLst/>
                <a:latin typeface="Lato" panose="020F0502020204030203" pitchFamily="34" charset="77"/>
              </a:rPr>
              <a:t> brand marks are designed to express the spirit of French sophistication and the joyful affection between a dog and its owner. Each mark — from the primary logo to its simplified and icon variations — captures a balance of couture refinement and playful warmth.</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400" u="none" strike="noStrike" cap="none" normalizeH="0" baseline="0" dirty="0">
              <a:ln>
                <a:noFill/>
              </a:ln>
              <a:solidFill>
                <a:schemeClr val="tx1"/>
              </a:solidFill>
              <a:effectLst/>
              <a:latin typeface="Lato" panose="020F0502020204030203" pitchFamily="34" charset="77"/>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400" u="none" strike="noStrike" cap="none" normalizeH="0" baseline="0" dirty="0">
                <a:ln>
                  <a:noFill/>
                </a:ln>
                <a:solidFill>
                  <a:srgbClr val="000000"/>
                </a:solidFill>
                <a:effectLst/>
                <a:latin typeface="Lato" panose="020F0502020204030203" pitchFamily="34" charset="77"/>
              </a:rPr>
              <a:t>These brand marks are intended to work harmoniously across every touchpoint — from packaging and labels to digital and print — ensuring that Maison </a:t>
            </a:r>
            <a:r>
              <a:rPr kumimoji="0" lang="en-US" altLang="en-US" sz="1400" u="none" strike="noStrike" cap="none" normalizeH="0" baseline="0" dirty="0" err="1">
                <a:ln>
                  <a:noFill/>
                </a:ln>
                <a:solidFill>
                  <a:srgbClr val="000000"/>
                </a:solidFill>
                <a:effectLst/>
                <a:latin typeface="Lato" panose="020F0502020204030203" pitchFamily="34" charset="77"/>
              </a:rPr>
              <a:t>Lepluplu</a:t>
            </a:r>
            <a:r>
              <a:rPr kumimoji="0" lang="en-US" altLang="en-US" sz="1400" u="none" strike="noStrike" cap="none" normalizeH="0" baseline="0" dirty="0">
                <a:ln>
                  <a:noFill/>
                </a:ln>
                <a:solidFill>
                  <a:srgbClr val="000000"/>
                </a:solidFill>
                <a:effectLst/>
                <a:latin typeface="Lato" panose="020F0502020204030203" pitchFamily="34" charset="77"/>
              </a:rPr>
              <a:t> always feels cohesive, elevated, and unmistakably French.</a:t>
            </a:r>
            <a:endParaRPr kumimoji="0" lang="en-US" altLang="en-US" sz="1400" u="none" strike="noStrike" cap="none" normalizeH="0" baseline="0" dirty="0">
              <a:ln>
                <a:noFill/>
              </a:ln>
              <a:solidFill>
                <a:schemeClr val="tx1"/>
              </a:solidFill>
              <a:effectLst/>
              <a:latin typeface="Lato" panose="020F0502020204030203" pitchFamily="34" charset="77"/>
            </a:endParaRPr>
          </a:p>
        </p:txBody>
      </p:sp>
      <p:pic>
        <p:nvPicPr>
          <p:cNvPr id="8" name="Picture 7" descr="A white paw print with brown outline&#10;&#10;AI-generated content may be incorrect.">
            <a:extLst>
              <a:ext uri="{FF2B5EF4-FFF2-40B4-BE49-F238E27FC236}">
                <a16:creationId xmlns:a16="http://schemas.microsoft.com/office/drawing/2014/main" id="{C03524F0-3BF9-BC80-C6DB-55B10C4DAF10}"/>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rot="2183061">
            <a:off x="5685890" y="5504480"/>
            <a:ext cx="1287131" cy="858088"/>
          </a:xfrm>
          <a:prstGeom prst="rect">
            <a:avLst/>
          </a:prstGeom>
        </p:spPr>
      </p:pic>
      <p:grpSp>
        <p:nvGrpSpPr>
          <p:cNvPr id="9" name="Group 8">
            <a:extLst>
              <a:ext uri="{FF2B5EF4-FFF2-40B4-BE49-F238E27FC236}">
                <a16:creationId xmlns:a16="http://schemas.microsoft.com/office/drawing/2014/main" id="{F6C93CAC-4946-8FC4-C87A-59DD300E6D8F}"/>
              </a:ext>
            </a:extLst>
          </p:cNvPr>
          <p:cNvGrpSpPr/>
          <p:nvPr/>
        </p:nvGrpSpPr>
        <p:grpSpPr>
          <a:xfrm>
            <a:off x="11492677" y="6133632"/>
            <a:ext cx="435703" cy="435703"/>
            <a:chOff x="10837571" y="6280755"/>
            <a:chExt cx="435703" cy="435703"/>
          </a:xfrm>
        </p:grpSpPr>
        <p:sp>
          <p:nvSpPr>
            <p:cNvPr id="10" name="Rounded Rectangle 9">
              <a:extLst>
                <a:ext uri="{FF2B5EF4-FFF2-40B4-BE49-F238E27FC236}">
                  <a16:creationId xmlns:a16="http://schemas.microsoft.com/office/drawing/2014/main" id="{50105590-8D68-9867-E167-912E23A857E2}"/>
                </a:ext>
              </a:extLst>
            </p:cNvPr>
            <p:cNvSpPr/>
            <p:nvPr/>
          </p:nvSpPr>
          <p:spPr>
            <a:xfrm>
              <a:off x="10837571" y="6280755"/>
              <a:ext cx="435703" cy="435703"/>
            </a:xfrm>
            <a:prstGeom prst="roundRect">
              <a:avLst/>
            </a:prstGeom>
            <a:solidFill>
              <a:srgbClr val="FFFBF6"/>
            </a:solidFill>
            <a:ln w="19050" cap="flat">
              <a:solidFill>
                <a:srgbClr val="FFFBF6"/>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pic>
          <p:nvPicPr>
            <p:cNvPr id="11" name="Picture 10" descr="A yellow dog with bow tie and bow tie and bow tie and bow tie and bow tie and bow tie and bow tie and bow tie and bow tie and bow tie and bow tie and bow tie&#10;&#10;AI-generated content may be incorrect.">
              <a:extLst>
                <a:ext uri="{FF2B5EF4-FFF2-40B4-BE49-F238E27FC236}">
                  <a16:creationId xmlns:a16="http://schemas.microsoft.com/office/drawing/2014/main" id="{1A885C33-7554-B6C1-A688-D00366B0723A}"/>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10857461" y="6329205"/>
              <a:ext cx="395921" cy="317146"/>
            </a:xfrm>
            <a:prstGeom prst="rect">
              <a:avLst/>
            </a:prstGeom>
          </p:spPr>
        </p:pic>
      </p:gr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8B989"/>
        </a:solidFill>
        <a:effectLst/>
      </p:bgPr>
    </p:bg>
    <p:spTree>
      <p:nvGrpSpPr>
        <p:cNvPr id="1" name=""/>
        <p:cNvGrpSpPr/>
        <p:nvPr/>
      </p:nvGrpSpPr>
      <p:grpSpPr>
        <a:xfrm>
          <a:off x="0" y="0"/>
          <a:ext cx="0" cy="0"/>
          <a:chOff x="0" y="0"/>
          <a:chExt cx="0" cy="0"/>
        </a:xfrm>
      </p:grpSpPr>
      <p:sp>
        <p:nvSpPr>
          <p:cNvPr id="254" name="TextBox 4"/>
          <p:cNvSpPr txBox="1"/>
          <p:nvPr/>
        </p:nvSpPr>
        <p:spPr>
          <a:xfrm>
            <a:off x="572159" y="1369740"/>
            <a:ext cx="5492043" cy="6582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ts val="4000"/>
              </a:lnSpc>
              <a:defRPr sz="4800" b="1">
                <a:solidFill>
                  <a:srgbClr val="CF5785"/>
                </a:solidFill>
                <a:latin typeface="GFS Didot"/>
                <a:ea typeface="GFS Didot"/>
                <a:cs typeface="GFS Didot"/>
                <a:sym typeface="GFS Didot"/>
              </a:defRPr>
            </a:lvl1pPr>
          </a:lstStyle>
          <a:p>
            <a:r>
              <a:rPr dirty="0">
                <a:solidFill>
                  <a:srgbClr val="FFFBF6"/>
                </a:solidFill>
                <a:latin typeface="Avenir Heavy" panose="02000503020000020003" pitchFamily="2" charset="0"/>
              </a:rPr>
              <a:t>Colors</a:t>
            </a:r>
          </a:p>
        </p:txBody>
      </p:sp>
      <p:sp>
        <p:nvSpPr>
          <p:cNvPr id="255" name="Rectangle 1"/>
          <p:cNvSpPr txBox="1"/>
          <p:nvPr/>
        </p:nvSpPr>
        <p:spPr>
          <a:xfrm>
            <a:off x="1080158" y="5871427"/>
            <a:ext cx="921316" cy="2923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nchor="ctr">
            <a:spAutoFit/>
          </a:bodyPr>
          <a:lstStyle>
            <a:lvl1pPr algn="just">
              <a:defRPr sz="1000">
                <a:solidFill>
                  <a:srgbClr val="1B1B1B"/>
                </a:solidFill>
                <a:latin typeface="Lato"/>
                <a:ea typeface="Lato"/>
                <a:cs typeface="Lato"/>
                <a:sym typeface="Lato"/>
              </a:defRPr>
            </a:lvl1pPr>
          </a:lstStyle>
          <a:p>
            <a:endParaRPr sz="1300" dirty="0">
              <a:latin typeface="Lato Light" panose="020F0302020204030203" pitchFamily="34" charset="77"/>
            </a:endParaRPr>
          </a:p>
        </p:txBody>
      </p:sp>
      <p:sp>
        <p:nvSpPr>
          <p:cNvPr id="2" name="Straight Connector 12">
            <a:extLst>
              <a:ext uri="{FF2B5EF4-FFF2-40B4-BE49-F238E27FC236}">
                <a16:creationId xmlns:a16="http://schemas.microsoft.com/office/drawing/2014/main" id="{BB1E84E5-6369-5F50-F758-4BEBBD9340FA}"/>
              </a:ext>
            </a:extLst>
          </p:cNvPr>
          <p:cNvSpPr/>
          <p:nvPr/>
        </p:nvSpPr>
        <p:spPr>
          <a:xfrm>
            <a:off x="587828" y="694185"/>
            <a:ext cx="11041026" cy="30499"/>
          </a:xfrm>
          <a:prstGeom prst="line">
            <a:avLst/>
          </a:prstGeom>
          <a:ln w="19050">
            <a:solidFill>
              <a:srgbClr val="FFFBF6"/>
            </a:solidFill>
            <a:miter/>
          </a:ln>
        </p:spPr>
        <p:txBody>
          <a:bodyPr lIns="45719" rIns="45719"/>
          <a:lstStyle/>
          <a:p>
            <a:endParaRPr>
              <a:solidFill>
                <a:srgbClr val="FFFBF6"/>
              </a:solidFill>
            </a:endParaRPr>
          </a:p>
        </p:txBody>
      </p:sp>
      <p:sp>
        <p:nvSpPr>
          <p:cNvPr id="3" name="TextBox 73">
            <a:extLst>
              <a:ext uri="{FF2B5EF4-FFF2-40B4-BE49-F238E27FC236}">
                <a16:creationId xmlns:a16="http://schemas.microsoft.com/office/drawing/2014/main" id="{3BB3CA88-D6DB-5609-B471-AE3B00D3C409}"/>
              </a:ext>
            </a:extLst>
          </p:cNvPr>
          <p:cNvSpPr txBox="1"/>
          <p:nvPr/>
        </p:nvSpPr>
        <p:spPr>
          <a:xfrm>
            <a:off x="586766" y="752988"/>
            <a:ext cx="1140695" cy="261610"/>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FFFBF6"/>
                </a:solidFill>
                <a:latin typeface="Avenir Medium" panose="02000503020000020003" pitchFamily="2" charset="0"/>
              </a:rPr>
              <a:t>Maison </a:t>
            </a:r>
            <a:r>
              <a:rPr sz="1100" dirty="0" err="1">
                <a:solidFill>
                  <a:srgbClr val="FFFBF6"/>
                </a:solidFill>
                <a:latin typeface="Avenir Medium" panose="02000503020000020003" pitchFamily="2" charset="0"/>
              </a:rPr>
              <a:t>Lepluplu</a:t>
            </a:r>
            <a:endParaRPr sz="1100" dirty="0">
              <a:solidFill>
                <a:srgbClr val="FFFBF6"/>
              </a:solidFill>
              <a:latin typeface="Avenir Medium" panose="02000503020000020003" pitchFamily="2" charset="0"/>
            </a:endParaRPr>
          </a:p>
        </p:txBody>
      </p:sp>
      <p:sp>
        <p:nvSpPr>
          <p:cNvPr id="4" name="TextBox 74">
            <a:extLst>
              <a:ext uri="{FF2B5EF4-FFF2-40B4-BE49-F238E27FC236}">
                <a16:creationId xmlns:a16="http://schemas.microsoft.com/office/drawing/2014/main" id="{5AE03ECE-A2AB-5F4F-37CB-1A113049F9BC}"/>
              </a:ext>
            </a:extLst>
          </p:cNvPr>
          <p:cNvSpPr txBox="1"/>
          <p:nvPr/>
        </p:nvSpPr>
        <p:spPr>
          <a:xfrm>
            <a:off x="9713976" y="768633"/>
            <a:ext cx="82971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FFFBF6"/>
                </a:solidFill>
                <a:latin typeface="Avenir Medium" panose="02000503020000020003" pitchFamily="2" charset="0"/>
              </a:rPr>
              <a:t>10/23/2025</a:t>
            </a:r>
          </a:p>
        </p:txBody>
      </p:sp>
      <p:sp>
        <p:nvSpPr>
          <p:cNvPr id="5" name="TextBox 75">
            <a:extLst>
              <a:ext uri="{FF2B5EF4-FFF2-40B4-BE49-F238E27FC236}">
                <a16:creationId xmlns:a16="http://schemas.microsoft.com/office/drawing/2014/main" id="{D340C06D-8152-4A9C-CD7F-DBAB274097DE}"/>
              </a:ext>
            </a:extLst>
          </p:cNvPr>
          <p:cNvSpPr txBox="1"/>
          <p:nvPr/>
        </p:nvSpPr>
        <p:spPr>
          <a:xfrm>
            <a:off x="11383131" y="786797"/>
            <a:ext cx="249425"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FFFBF6"/>
                </a:solidFill>
                <a:latin typeface="Avenir Medium" panose="02000503020000020003" pitchFamily="2" charset="0"/>
              </a:rPr>
              <a:t>0</a:t>
            </a:r>
            <a:r>
              <a:rPr lang="en-US" sz="1100" dirty="0">
                <a:solidFill>
                  <a:srgbClr val="FFFBF6"/>
                </a:solidFill>
                <a:latin typeface="Avenir Medium" panose="02000503020000020003" pitchFamily="2" charset="0"/>
              </a:rPr>
              <a:t>8</a:t>
            </a:r>
            <a:endParaRPr sz="1100" dirty="0">
              <a:solidFill>
                <a:srgbClr val="FFFBF6"/>
              </a:solidFill>
              <a:latin typeface="Avenir Medium" panose="02000503020000020003" pitchFamily="2" charset="0"/>
            </a:endParaRPr>
          </a:p>
        </p:txBody>
      </p:sp>
      <p:sp>
        <p:nvSpPr>
          <p:cNvPr id="6" name="Rectangle 1">
            <a:extLst>
              <a:ext uri="{FF2B5EF4-FFF2-40B4-BE49-F238E27FC236}">
                <a16:creationId xmlns:a16="http://schemas.microsoft.com/office/drawing/2014/main" id="{A1F116A0-0723-A939-2E40-4EB9FFCB37D3}"/>
              </a:ext>
            </a:extLst>
          </p:cNvPr>
          <p:cNvSpPr>
            <a:spLocks noChangeArrowheads="1"/>
          </p:cNvSpPr>
          <p:nvPr/>
        </p:nvSpPr>
        <p:spPr bwMode="auto">
          <a:xfrm>
            <a:off x="586766" y="1948830"/>
            <a:ext cx="4279899"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400" u="none" strike="noStrike" cap="none" normalizeH="0" baseline="0" dirty="0">
                <a:ln>
                  <a:noFill/>
                </a:ln>
                <a:solidFill>
                  <a:srgbClr val="000000"/>
                </a:solidFill>
                <a:effectLst/>
                <a:latin typeface="Lato" panose="020F0502020204030203" pitchFamily="34" charset="77"/>
              </a:rPr>
              <a:t>At its heart lies Fuchsia </a:t>
            </a:r>
            <a:r>
              <a:rPr kumimoji="0" lang="en-US" altLang="en-US" sz="1400" u="none" strike="noStrike" cap="none" normalizeH="0" baseline="0" dirty="0" err="1">
                <a:ln>
                  <a:noFill/>
                </a:ln>
                <a:solidFill>
                  <a:srgbClr val="000000"/>
                </a:solidFill>
                <a:effectLst/>
                <a:latin typeface="Lato" panose="020F0502020204030203" pitchFamily="34" charset="77"/>
              </a:rPr>
              <a:t>Élégance</a:t>
            </a:r>
            <a:r>
              <a:rPr kumimoji="0" lang="en-US" altLang="en-US" sz="1400" u="none" strike="noStrike" cap="none" normalizeH="0" baseline="0" dirty="0">
                <a:ln>
                  <a:noFill/>
                </a:ln>
                <a:solidFill>
                  <a:srgbClr val="000000"/>
                </a:solidFill>
                <a:effectLst/>
                <a:latin typeface="Lato" panose="020F0502020204030203" pitchFamily="34" charset="77"/>
              </a:rPr>
              <a:t>, a bold and feminine tone that symbolizes joy, style, and affection. Balanced by Crème de Paris, a gentle neutral inspired by creamy Parisian light, the palette radiates calm and understated refinement. Accents of Or </a:t>
            </a:r>
            <a:r>
              <a:rPr kumimoji="0" lang="en-US" altLang="en-US" sz="1400" u="none" strike="noStrike" cap="none" normalizeH="0" baseline="0" dirty="0" err="1">
                <a:ln>
                  <a:noFill/>
                </a:ln>
                <a:solidFill>
                  <a:srgbClr val="000000"/>
                </a:solidFill>
                <a:effectLst/>
                <a:latin typeface="Lato" panose="020F0502020204030203" pitchFamily="34" charset="77"/>
              </a:rPr>
              <a:t>Poudré</a:t>
            </a:r>
            <a:r>
              <a:rPr kumimoji="0" lang="en-US" altLang="en-US" sz="1400" u="none" strike="noStrike" cap="none" normalizeH="0" baseline="0" dirty="0">
                <a:ln>
                  <a:noFill/>
                </a:ln>
                <a:solidFill>
                  <a:srgbClr val="000000"/>
                </a:solidFill>
                <a:effectLst/>
                <a:latin typeface="Lato" panose="020F0502020204030203" pitchFamily="34" charset="77"/>
              </a:rPr>
              <a:t>, a soft powdered gold, bring a subtle sense of luxury, echoing the craftsmanship and detail found in haute couture.</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400" u="none" strike="noStrike" cap="none" normalizeH="0" baseline="0" dirty="0">
              <a:ln>
                <a:noFill/>
              </a:ln>
              <a:solidFill>
                <a:schemeClr val="tx1"/>
              </a:solidFill>
              <a:effectLst/>
              <a:latin typeface="Lato" panose="020F0502020204030203" pitchFamily="34" charset="77"/>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400" u="none" strike="noStrike" cap="none" normalizeH="0" baseline="0" dirty="0">
                <a:ln>
                  <a:noFill/>
                </a:ln>
                <a:solidFill>
                  <a:srgbClr val="000000"/>
                </a:solidFill>
                <a:effectLst/>
                <a:latin typeface="Lato" panose="020F0502020204030203" pitchFamily="34" charset="77"/>
              </a:rPr>
              <a:t>Together, these colors create a visual language that feels luxurious yet inviting — celebrating beauty in the everyday moments shared between pets and their owners. Supporting tones like Gris </a:t>
            </a:r>
            <a:r>
              <a:rPr kumimoji="0" lang="en-US" altLang="en-US" sz="1400" u="none" strike="noStrike" cap="none" normalizeH="0" baseline="0" dirty="0" err="1">
                <a:ln>
                  <a:noFill/>
                </a:ln>
                <a:solidFill>
                  <a:srgbClr val="000000"/>
                </a:solidFill>
                <a:effectLst/>
                <a:latin typeface="Lato" panose="020F0502020204030203" pitchFamily="34" charset="77"/>
              </a:rPr>
              <a:t>Velours</a:t>
            </a:r>
            <a:r>
              <a:rPr kumimoji="0" lang="en-US" altLang="en-US" sz="1400" u="none" strike="noStrike" cap="none" normalizeH="0" baseline="0" dirty="0">
                <a:ln>
                  <a:noFill/>
                </a:ln>
                <a:solidFill>
                  <a:srgbClr val="000000"/>
                </a:solidFill>
                <a:effectLst/>
                <a:latin typeface="Lato" panose="020F0502020204030203" pitchFamily="34" charset="77"/>
              </a:rPr>
              <a:t> and Rosé Café add depth and versatility, allowing the brand to remain timeless while adapting to modern storytelling.</a:t>
            </a:r>
            <a:endParaRPr kumimoji="0" lang="en-US" altLang="en-US" sz="1400" u="none" strike="noStrike" cap="none" normalizeH="0" baseline="0" dirty="0">
              <a:ln>
                <a:noFill/>
              </a:ln>
              <a:solidFill>
                <a:schemeClr val="tx1"/>
              </a:solidFill>
              <a:effectLst/>
              <a:latin typeface="Lato" panose="020F0502020204030203" pitchFamily="34" charset="77"/>
            </a:endParaRPr>
          </a:p>
        </p:txBody>
      </p:sp>
      <p:grpSp>
        <p:nvGrpSpPr>
          <p:cNvPr id="8" name="Group 7">
            <a:extLst>
              <a:ext uri="{FF2B5EF4-FFF2-40B4-BE49-F238E27FC236}">
                <a16:creationId xmlns:a16="http://schemas.microsoft.com/office/drawing/2014/main" id="{C6C6C655-79EB-5AA7-6853-AEA018010F93}"/>
              </a:ext>
            </a:extLst>
          </p:cNvPr>
          <p:cNvGrpSpPr/>
          <p:nvPr/>
        </p:nvGrpSpPr>
        <p:grpSpPr>
          <a:xfrm>
            <a:off x="11492677" y="6133632"/>
            <a:ext cx="435703" cy="435703"/>
            <a:chOff x="10837571" y="6280755"/>
            <a:chExt cx="435703" cy="435703"/>
          </a:xfrm>
        </p:grpSpPr>
        <p:sp>
          <p:nvSpPr>
            <p:cNvPr id="9" name="Rounded Rectangle 8">
              <a:extLst>
                <a:ext uri="{FF2B5EF4-FFF2-40B4-BE49-F238E27FC236}">
                  <a16:creationId xmlns:a16="http://schemas.microsoft.com/office/drawing/2014/main" id="{CD9D1F3F-EC57-A308-658A-970018762C7F}"/>
                </a:ext>
              </a:extLst>
            </p:cNvPr>
            <p:cNvSpPr/>
            <p:nvPr/>
          </p:nvSpPr>
          <p:spPr>
            <a:xfrm>
              <a:off x="10837571" y="6280755"/>
              <a:ext cx="435703" cy="435703"/>
            </a:xfrm>
            <a:prstGeom prst="roundRect">
              <a:avLst/>
            </a:prstGeom>
            <a:solidFill>
              <a:srgbClr val="FFFBF6"/>
            </a:solidFill>
            <a:ln w="19050" cap="flat">
              <a:solidFill>
                <a:srgbClr val="FFFBF6"/>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pic>
          <p:nvPicPr>
            <p:cNvPr id="10" name="Picture 9" descr="A yellow dog with bow tie and bow tie and bow tie and bow tie and bow tie and bow tie and bow tie and bow tie and bow tie and bow tie and bow tie and bow tie&#10;&#10;AI-generated content may be incorrect.">
              <a:extLst>
                <a:ext uri="{FF2B5EF4-FFF2-40B4-BE49-F238E27FC236}">
                  <a16:creationId xmlns:a16="http://schemas.microsoft.com/office/drawing/2014/main" id="{AABC4042-642F-B776-D895-6F027B55387B}"/>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10857461" y="6329205"/>
              <a:ext cx="395921" cy="317146"/>
            </a:xfrm>
            <a:prstGeom prst="rect">
              <a:avLst/>
            </a:prstGeom>
          </p:spPr>
        </p:pic>
      </p:grpSp>
      <p:sp>
        <p:nvSpPr>
          <p:cNvPr id="11" name="Rounded Rectangle 10">
            <a:extLst>
              <a:ext uri="{FF2B5EF4-FFF2-40B4-BE49-F238E27FC236}">
                <a16:creationId xmlns:a16="http://schemas.microsoft.com/office/drawing/2014/main" id="{891A7F91-2CAA-AAB8-5498-D7E32B5C2BB4}"/>
              </a:ext>
            </a:extLst>
          </p:cNvPr>
          <p:cNvSpPr/>
          <p:nvPr/>
        </p:nvSpPr>
        <p:spPr>
          <a:xfrm>
            <a:off x="6064202" y="1642720"/>
            <a:ext cx="1828800" cy="1786280"/>
          </a:xfrm>
          <a:prstGeom prst="roundRect">
            <a:avLst/>
          </a:prstGeom>
          <a:solidFill>
            <a:srgbClr val="F69D3B"/>
          </a:solidFill>
          <a:ln w="19050" cap="flat">
            <a:solidFill>
              <a:srgbClr val="F69D3B"/>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sp>
        <p:nvSpPr>
          <p:cNvPr id="12" name="TextBox 11">
            <a:extLst>
              <a:ext uri="{FF2B5EF4-FFF2-40B4-BE49-F238E27FC236}">
                <a16:creationId xmlns:a16="http://schemas.microsoft.com/office/drawing/2014/main" id="{D8516633-8665-1EDB-4B66-3093E5518D29}"/>
              </a:ext>
            </a:extLst>
          </p:cNvPr>
          <p:cNvSpPr txBox="1"/>
          <p:nvPr/>
        </p:nvSpPr>
        <p:spPr>
          <a:xfrm>
            <a:off x="6567753" y="2289640"/>
            <a:ext cx="821698" cy="492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300" b="0" i="0" u="none" strike="noStrike" cap="none" spc="0" normalizeH="0" baseline="0" dirty="0">
                <a:ln>
                  <a:noFill/>
                </a:ln>
                <a:solidFill>
                  <a:srgbClr val="FFFBF6"/>
                </a:solidFill>
                <a:effectLst/>
                <a:uFillTx/>
                <a:latin typeface="+mn-lt"/>
                <a:ea typeface="+mn-ea"/>
                <a:cs typeface="+mn-cs"/>
                <a:sym typeface="Aptos"/>
              </a:rPr>
              <a:t>Or Poudre</a:t>
            </a:r>
          </a:p>
          <a:p>
            <a:pPr algn="ctr"/>
            <a:r>
              <a:rPr lang="en-US" sz="1300" dirty="0">
                <a:solidFill>
                  <a:srgbClr val="FFFBF6"/>
                </a:solidFill>
              </a:rPr>
              <a:t>#E9A150</a:t>
            </a:r>
            <a:endParaRPr kumimoji="0" lang="en-US" sz="1300" b="0" i="0" u="none" strike="noStrike" cap="none" spc="0" normalizeH="0" baseline="0" dirty="0">
              <a:ln>
                <a:noFill/>
              </a:ln>
              <a:solidFill>
                <a:srgbClr val="FFFBF6"/>
              </a:solidFill>
              <a:effectLst/>
              <a:uFillTx/>
              <a:latin typeface="+mn-lt"/>
              <a:ea typeface="+mn-ea"/>
              <a:cs typeface="+mn-cs"/>
              <a:sym typeface="Aptos"/>
            </a:endParaRPr>
          </a:p>
        </p:txBody>
      </p:sp>
      <p:sp>
        <p:nvSpPr>
          <p:cNvPr id="13" name="Rounded Rectangle 12">
            <a:extLst>
              <a:ext uri="{FF2B5EF4-FFF2-40B4-BE49-F238E27FC236}">
                <a16:creationId xmlns:a16="http://schemas.microsoft.com/office/drawing/2014/main" id="{CA4DB8D9-92AE-D24C-03D5-2C9D289F47F4}"/>
              </a:ext>
            </a:extLst>
          </p:cNvPr>
          <p:cNvSpPr/>
          <p:nvPr/>
        </p:nvSpPr>
        <p:spPr>
          <a:xfrm>
            <a:off x="7935085" y="1642720"/>
            <a:ext cx="1828800" cy="1786280"/>
          </a:xfrm>
          <a:prstGeom prst="roundRect">
            <a:avLst/>
          </a:prstGeom>
          <a:solidFill>
            <a:srgbClr val="CF5685"/>
          </a:solidFill>
          <a:ln w="19050" cap="flat">
            <a:solidFill>
              <a:srgbClr val="CF5685"/>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sp>
        <p:nvSpPr>
          <p:cNvPr id="14" name="TextBox 13">
            <a:extLst>
              <a:ext uri="{FF2B5EF4-FFF2-40B4-BE49-F238E27FC236}">
                <a16:creationId xmlns:a16="http://schemas.microsoft.com/office/drawing/2014/main" id="{070420E8-2B2D-DDC8-513C-D98A77188D98}"/>
              </a:ext>
            </a:extLst>
          </p:cNvPr>
          <p:cNvSpPr txBox="1"/>
          <p:nvPr/>
        </p:nvSpPr>
        <p:spPr>
          <a:xfrm>
            <a:off x="8473101" y="2189613"/>
            <a:ext cx="752768" cy="6924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300" b="0" i="0" u="none" strike="noStrike" cap="none" spc="0" normalizeH="0" baseline="0" dirty="0">
                <a:ln>
                  <a:noFill/>
                </a:ln>
                <a:solidFill>
                  <a:srgbClr val="FFFBF6"/>
                </a:solidFill>
                <a:effectLst/>
                <a:uFillTx/>
                <a:latin typeface="+mn-lt"/>
                <a:ea typeface="+mn-ea"/>
                <a:cs typeface="+mn-cs"/>
                <a:sym typeface="Aptos"/>
              </a:rPr>
              <a:t>Fuchsia</a:t>
            </a:r>
          </a:p>
          <a:p>
            <a:pPr marL="0" marR="0" indent="0" algn="ctr" defTabSz="914400" rtl="0" fontAlgn="auto" latinLnBrk="0" hangingPunct="0">
              <a:lnSpc>
                <a:spcPct val="100000"/>
              </a:lnSpc>
              <a:spcBef>
                <a:spcPts val="0"/>
              </a:spcBef>
              <a:spcAft>
                <a:spcPts val="0"/>
              </a:spcAft>
              <a:buClrTx/>
              <a:buSzTx/>
              <a:buFontTx/>
              <a:buNone/>
              <a:tabLst/>
            </a:pPr>
            <a:r>
              <a:rPr lang="en-US" sz="1300" dirty="0">
                <a:solidFill>
                  <a:srgbClr val="FFFBF6"/>
                </a:solidFill>
              </a:rPr>
              <a:t>Elegance</a:t>
            </a:r>
            <a:endParaRPr kumimoji="0" lang="en-US" sz="1300" b="0" i="0" u="none" strike="noStrike" cap="none" spc="0" normalizeH="0" baseline="0" dirty="0">
              <a:ln>
                <a:noFill/>
              </a:ln>
              <a:solidFill>
                <a:srgbClr val="FFFBF6"/>
              </a:solidFill>
              <a:effectLst/>
              <a:uFillTx/>
              <a:latin typeface="+mn-lt"/>
              <a:ea typeface="+mn-ea"/>
              <a:cs typeface="+mn-cs"/>
              <a:sym typeface="Aptos"/>
            </a:endParaRPr>
          </a:p>
          <a:p>
            <a:pPr algn="ctr"/>
            <a:r>
              <a:rPr lang="en-US" sz="1300" dirty="0">
                <a:solidFill>
                  <a:srgbClr val="FFFBF6"/>
                </a:solidFill>
              </a:rPr>
              <a:t>#CF5685</a:t>
            </a:r>
            <a:endParaRPr kumimoji="0" lang="en-US" sz="1300" b="0" i="0" u="none" strike="noStrike" cap="none" spc="0" normalizeH="0" baseline="0" dirty="0">
              <a:ln>
                <a:noFill/>
              </a:ln>
              <a:solidFill>
                <a:srgbClr val="FFFBF6"/>
              </a:solidFill>
              <a:effectLst/>
              <a:uFillTx/>
              <a:latin typeface="+mn-lt"/>
              <a:ea typeface="+mn-ea"/>
              <a:cs typeface="+mn-cs"/>
              <a:sym typeface="Aptos"/>
            </a:endParaRPr>
          </a:p>
        </p:txBody>
      </p:sp>
      <p:sp>
        <p:nvSpPr>
          <p:cNvPr id="15" name="Rounded Rectangle 14">
            <a:extLst>
              <a:ext uri="{FF2B5EF4-FFF2-40B4-BE49-F238E27FC236}">
                <a16:creationId xmlns:a16="http://schemas.microsoft.com/office/drawing/2014/main" id="{DEF8FB07-C013-204A-BAB4-603EEB3CDA40}"/>
              </a:ext>
            </a:extLst>
          </p:cNvPr>
          <p:cNvSpPr/>
          <p:nvPr/>
        </p:nvSpPr>
        <p:spPr>
          <a:xfrm>
            <a:off x="9805968" y="1656319"/>
            <a:ext cx="1828800" cy="1786280"/>
          </a:xfrm>
          <a:prstGeom prst="roundRect">
            <a:avLst/>
          </a:prstGeom>
          <a:solidFill>
            <a:srgbClr val="E88D8A"/>
          </a:solidFill>
          <a:ln w="19050" cap="flat">
            <a:solidFill>
              <a:srgbClr val="E88D8A"/>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sp>
        <p:nvSpPr>
          <p:cNvPr id="16" name="TextBox 15">
            <a:extLst>
              <a:ext uri="{FF2B5EF4-FFF2-40B4-BE49-F238E27FC236}">
                <a16:creationId xmlns:a16="http://schemas.microsoft.com/office/drawing/2014/main" id="{307E3FFF-33BF-F5E4-953A-ACC42C5CA834}"/>
              </a:ext>
            </a:extLst>
          </p:cNvPr>
          <p:cNvSpPr txBox="1"/>
          <p:nvPr/>
        </p:nvSpPr>
        <p:spPr>
          <a:xfrm>
            <a:off x="10304710" y="2203212"/>
            <a:ext cx="831316" cy="6924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algn="ctr"/>
            <a:r>
              <a:rPr lang="en-US" sz="1300" dirty="0">
                <a:solidFill>
                  <a:srgbClr val="FFFBF6"/>
                </a:solidFill>
              </a:rPr>
              <a:t>Crème de </a:t>
            </a:r>
          </a:p>
          <a:p>
            <a:pPr algn="ctr"/>
            <a:r>
              <a:rPr lang="en-US" sz="1300" dirty="0">
                <a:solidFill>
                  <a:srgbClr val="FFFBF6"/>
                </a:solidFill>
              </a:rPr>
              <a:t>Paris </a:t>
            </a:r>
          </a:p>
          <a:p>
            <a:pPr algn="ctr"/>
            <a:r>
              <a:rPr lang="en-US" sz="1300" dirty="0">
                <a:solidFill>
                  <a:srgbClr val="FFFBF6"/>
                </a:solidFill>
              </a:rPr>
              <a:t>#E88D8A</a:t>
            </a:r>
            <a:endParaRPr kumimoji="0" lang="en-US" sz="1300" b="0" i="0" u="none" strike="noStrike" cap="none" spc="0" normalizeH="0" baseline="0" dirty="0">
              <a:ln>
                <a:noFill/>
              </a:ln>
              <a:solidFill>
                <a:srgbClr val="FFFBF6"/>
              </a:solidFill>
              <a:effectLst/>
              <a:uFillTx/>
              <a:latin typeface="+mn-lt"/>
              <a:ea typeface="+mn-ea"/>
              <a:cs typeface="+mn-cs"/>
              <a:sym typeface="Aptos"/>
            </a:endParaRPr>
          </a:p>
        </p:txBody>
      </p:sp>
      <p:sp>
        <p:nvSpPr>
          <p:cNvPr id="17" name="Rounded Rectangle 16">
            <a:extLst>
              <a:ext uri="{FF2B5EF4-FFF2-40B4-BE49-F238E27FC236}">
                <a16:creationId xmlns:a16="http://schemas.microsoft.com/office/drawing/2014/main" id="{836169B2-82C4-B5F6-A618-F5B16FD3D2C9}"/>
              </a:ext>
            </a:extLst>
          </p:cNvPr>
          <p:cNvSpPr/>
          <p:nvPr/>
        </p:nvSpPr>
        <p:spPr>
          <a:xfrm>
            <a:off x="6096000" y="3489233"/>
            <a:ext cx="1828800" cy="1786280"/>
          </a:xfrm>
          <a:prstGeom prst="roundRect">
            <a:avLst/>
          </a:prstGeom>
          <a:solidFill>
            <a:srgbClr val="194241"/>
          </a:solidFill>
          <a:ln w="19050" cap="flat">
            <a:solidFill>
              <a:srgbClr val="19424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sp>
        <p:nvSpPr>
          <p:cNvPr id="18" name="TextBox 17">
            <a:extLst>
              <a:ext uri="{FF2B5EF4-FFF2-40B4-BE49-F238E27FC236}">
                <a16:creationId xmlns:a16="http://schemas.microsoft.com/office/drawing/2014/main" id="{6B52896A-F0A6-FAAD-67A0-B630268E1D89}"/>
              </a:ext>
            </a:extLst>
          </p:cNvPr>
          <p:cNvSpPr txBox="1"/>
          <p:nvPr/>
        </p:nvSpPr>
        <p:spPr>
          <a:xfrm>
            <a:off x="6650046" y="4036126"/>
            <a:ext cx="720708" cy="6924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sz="1300" dirty="0">
                <a:solidFill>
                  <a:srgbClr val="FFFBF6"/>
                </a:solidFill>
              </a:rPr>
              <a:t>Green</a:t>
            </a:r>
          </a:p>
          <a:p>
            <a:pPr marL="0" marR="0" indent="0" algn="ctr" defTabSz="914400" rtl="0" fontAlgn="auto" latinLnBrk="0" hangingPunct="0">
              <a:lnSpc>
                <a:spcPct val="100000"/>
              </a:lnSpc>
              <a:spcBef>
                <a:spcPts val="0"/>
              </a:spcBef>
              <a:spcAft>
                <a:spcPts val="0"/>
              </a:spcAft>
              <a:buClrTx/>
              <a:buSzTx/>
              <a:buFontTx/>
              <a:buNone/>
              <a:tabLst/>
            </a:pPr>
            <a:r>
              <a:rPr kumimoji="0" lang="en-US" sz="1300" b="0" i="0" u="none" strike="noStrike" cap="none" spc="0" normalizeH="0" baseline="0" dirty="0" err="1">
                <a:ln>
                  <a:noFill/>
                </a:ln>
                <a:solidFill>
                  <a:srgbClr val="FFFBF6"/>
                </a:solidFill>
                <a:effectLst/>
                <a:uFillTx/>
                <a:latin typeface="+mn-lt"/>
                <a:ea typeface="+mn-ea"/>
                <a:cs typeface="+mn-cs"/>
                <a:sym typeface="Aptos"/>
              </a:rPr>
              <a:t>Velours</a:t>
            </a:r>
            <a:endParaRPr kumimoji="0" lang="en-US" sz="1300" b="0" i="0" u="none" strike="noStrike" cap="none" spc="0" normalizeH="0" baseline="0" dirty="0">
              <a:ln>
                <a:noFill/>
              </a:ln>
              <a:solidFill>
                <a:srgbClr val="FFFBF6"/>
              </a:solidFill>
              <a:effectLst/>
              <a:uFillTx/>
              <a:latin typeface="+mn-lt"/>
              <a:ea typeface="+mn-ea"/>
              <a:cs typeface="+mn-cs"/>
              <a:sym typeface="Aptos"/>
            </a:endParaRPr>
          </a:p>
          <a:p>
            <a:pPr algn="ctr"/>
            <a:r>
              <a:rPr lang="en-US" sz="1300" dirty="0">
                <a:solidFill>
                  <a:srgbClr val="FFFBF6"/>
                </a:solidFill>
              </a:rPr>
              <a:t>#194241</a:t>
            </a:r>
            <a:endParaRPr kumimoji="0" lang="en-US" sz="1300" b="0" i="0" u="none" strike="noStrike" cap="none" spc="0" normalizeH="0" baseline="0" dirty="0">
              <a:ln>
                <a:noFill/>
              </a:ln>
              <a:solidFill>
                <a:srgbClr val="FFFBF6"/>
              </a:solidFill>
              <a:effectLst/>
              <a:uFillTx/>
              <a:latin typeface="+mn-lt"/>
              <a:ea typeface="+mn-ea"/>
              <a:cs typeface="+mn-cs"/>
              <a:sym typeface="Aptos"/>
            </a:endParaRPr>
          </a:p>
        </p:txBody>
      </p:sp>
      <p:sp>
        <p:nvSpPr>
          <p:cNvPr id="19" name="Rounded Rectangle 18">
            <a:extLst>
              <a:ext uri="{FF2B5EF4-FFF2-40B4-BE49-F238E27FC236}">
                <a16:creationId xmlns:a16="http://schemas.microsoft.com/office/drawing/2014/main" id="{5036D3B4-0BE1-F904-C3F3-22CD87B35205}"/>
              </a:ext>
            </a:extLst>
          </p:cNvPr>
          <p:cNvSpPr/>
          <p:nvPr/>
        </p:nvSpPr>
        <p:spPr>
          <a:xfrm>
            <a:off x="7977168" y="3504116"/>
            <a:ext cx="1828800" cy="1786280"/>
          </a:xfrm>
          <a:prstGeom prst="roundRect">
            <a:avLst/>
          </a:prstGeom>
          <a:solidFill>
            <a:schemeClr val="bg1"/>
          </a:solidFill>
          <a:ln w="1905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sp>
        <p:nvSpPr>
          <p:cNvPr id="20" name="TextBox 19">
            <a:extLst>
              <a:ext uri="{FF2B5EF4-FFF2-40B4-BE49-F238E27FC236}">
                <a16:creationId xmlns:a16="http://schemas.microsoft.com/office/drawing/2014/main" id="{E087FE70-F3CC-ECAB-6A32-1E4D81357798}"/>
              </a:ext>
            </a:extLst>
          </p:cNvPr>
          <p:cNvSpPr txBox="1"/>
          <p:nvPr/>
        </p:nvSpPr>
        <p:spPr>
          <a:xfrm>
            <a:off x="8536023" y="4151036"/>
            <a:ext cx="711090" cy="492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algn="ctr"/>
            <a:r>
              <a:rPr lang="en-US" sz="1300" dirty="0">
                <a:solidFill>
                  <a:srgbClr val="194241"/>
                </a:solidFill>
              </a:rPr>
              <a:t>Blanc</a:t>
            </a:r>
          </a:p>
          <a:p>
            <a:pPr algn="ctr"/>
            <a:r>
              <a:rPr lang="en-US" sz="1300" dirty="0">
                <a:solidFill>
                  <a:srgbClr val="194241"/>
                </a:solidFill>
              </a:rPr>
              <a:t>#FFFFFF</a:t>
            </a:r>
            <a:endParaRPr kumimoji="0" lang="en-US" sz="1300" b="0" i="0" u="none" strike="noStrike" cap="none" spc="0" normalizeH="0" baseline="0" dirty="0">
              <a:ln>
                <a:noFill/>
              </a:ln>
              <a:solidFill>
                <a:srgbClr val="194241"/>
              </a:solidFill>
              <a:effectLst/>
              <a:uFillTx/>
              <a:latin typeface="+mn-lt"/>
              <a:ea typeface="+mn-ea"/>
              <a:cs typeface="+mn-cs"/>
              <a:sym typeface="Aptos"/>
            </a:endParaRPr>
          </a:p>
        </p:txBody>
      </p:sp>
      <p:sp>
        <p:nvSpPr>
          <p:cNvPr id="21" name="Rounded Rectangle 20">
            <a:extLst>
              <a:ext uri="{FF2B5EF4-FFF2-40B4-BE49-F238E27FC236}">
                <a16:creationId xmlns:a16="http://schemas.microsoft.com/office/drawing/2014/main" id="{1FB9CEAB-506B-CCBD-A7BC-D3DD35D3CB53}"/>
              </a:ext>
            </a:extLst>
          </p:cNvPr>
          <p:cNvSpPr/>
          <p:nvPr/>
        </p:nvSpPr>
        <p:spPr>
          <a:xfrm>
            <a:off x="9855200" y="3504116"/>
            <a:ext cx="1828800" cy="1786280"/>
          </a:xfrm>
          <a:prstGeom prst="roundRect">
            <a:avLst/>
          </a:prstGeom>
          <a:solidFill>
            <a:schemeClr val="tx1"/>
          </a:solidFill>
          <a:ln w="19050" cap="flat">
            <a:solidFill>
              <a:schemeClr val="tx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sp>
        <p:nvSpPr>
          <p:cNvPr id="22" name="TextBox 21">
            <a:extLst>
              <a:ext uri="{FF2B5EF4-FFF2-40B4-BE49-F238E27FC236}">
                <a16:creationId xmlns:a16="http://schemas.microsoft.com/office/drawing/2014/main" id="{1694E123-9F34-45A0-8D82-4032E6C243F4}"/>
              </a:ext>
            </a:extLst>
          </p:cNvPr>
          <p:cNvSpPr txBox="1"/>
          <p:nvPr/>
        </p:nvSpPr>
        <p:spPr>
          <a:xfrm>
            <a:off x="10409246" y="4151036"/>
            <a:ext cx="720708" cy="492440"/>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algn="ctr"/>
            <a:r>
              <a:rPr lang="en-US" sz="1300" dirty="0">
                <a:solidFill>
                  <a:srgbClr val="FFFBF6"/>
                </a:solidFill>
              </a:rPr>
              <a:t>Noir</a:t>
            </a:r>
          </a:p>
          <a:p>
            <a:pPr algn="ctr"/>
            <a:r>
              <a:rPr lang="en-US" sz="1300" dirty="0">
                <a:solidFill>
                  <a:srgbClr val="FFFBF6"/>
                </a:solidFill>
              </a:rPr>
              <a:t>#000000</a:t>
            </a:r>
            <a:endParaRPr kumimoji="0" lang="en-US" sz="1300" b="0" i="0" u="none" strike="noStrike" cap="none" spc="0" normalizeH="0" baseline="0" dirty="0">
              <a:ln>
                <a:noFill/>
              </a:ln>
              <a:solidFill>
                <a:srgbClr val="FFFBF6"/>
              </a:solidFill>
              <a:effectLst/>
              <a:uFillTx/>
              <a:latin typeface="+mn-lt"/>
              <a:ea typeface="+mn-ea"/>
              <a:cs typeface="+mn-cs"/>
              <a:sym typeface="Aptos"/>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8B989"/>
        </a:solidFill>
        <a:effectLst/>
      </p:bgPr>
    </p:bg>
    <p:spTree>
      <p:nvGrpSpPr>
        <p:cNvPr id="1" name=""/>
        <p:cNvGrpSpPr/>
        <p:nvPr/>
      </p:nvGrpSpPr>
      <p:grpSpPr>
        <a:xfrm>
          <a:off x="0" y="0"/>
          <a:ext cx="0" cy="0"/>
          <a:chOff x="0" y="0"/>
          <a:chExt cx="0" cy="0"/>
        </a:xfrm>
      </p:grpSpPr>
      <p:sp>
        <p:nvSpPr>
          <p:cNvPr id="280" name="TextBox 4"/>
          <p:cNvSpPr txBox="1"/>
          <p:nvPr/>
        </p:nvSpPr>
        <p:spPr>
          <a:xfrm>
            <a:off x="572159" y="1369740"/>
            <a:ext cx="5492043" cy="6582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ts val="4000"/>
              </a:lnSpc>
              <a:defRPr sz="4800" b="1">
                <a:solidFill>
                  <a:srgbClr val="CF5785"/>
                </a:solidFill>
                <a:latin typeface="GFS Didot"/>
                <a:ea typeface="GFS Didot"/>
                <a:cs typeface="GFS Didot"/>
                <a:sym typeface="GFS Didot"/>
              </a:defRPr>
            </a:lvl1pPr>
          </a:lstStyle>
          <a:p>
            <a:r>
              <a:rPr dirty="0">
                <a:solidFill>
                  <a:srgbClr val="FFFBF6"/>
                </a:solidFill>
                <a:latin typeface="Avenir Heavy" panose="02000503020000020003" pitchFamily="2" charset="0"/>
              </a:rPr>
              <a:t>Typography</a:t>
            </a:r>
          </a:p>
        </p:txBody>
      </p:sp>
      <p:sp>
        <p:nvSpPr>
          <p:cNvPr id="281" name="Rectangle 1"/>
          <p:cNvSpPr txBox="1"/>
          <p:nvPr/>
        </p:nvSpPr>
        <p:spPr>
          <a:xfrm>
            <a:off x="1283247" y="2960344"/>
            <a:ext cx="4275000" cy="8309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algn="just">
              <a:defRPr>
                <a:solidFill>
                  <a:srgbClr val="1B1B1B"/>
                </a:solidFill>
                <a:latin typeface="Lato"/>
                <a:ea typeface="Lato"/>
                <a:cs typeface="Lato"/>
                <a:sym typeface="Lato"/>
              </a:defRPr>
            </a:pPr>
            <a:r>
              <a:rPr lang="en-US" sz="4800" b="1" dirty="0">
                <a:solidFill>
                  <a:srgbClr val="194241"/>
                </a:solidFill>
                <a:latin typeface="Avenir Heavy" panose="02000503020000020003" pitchFamily="2" charset="0"/>
                <a:cs typeface="Didot" panose="02000503000000020003" pitchFamily="2" charset="-79"/>
              </a:rPr>
              <a:t>Avenir 48 pt</a:t>
            </a:r>
            <a:endParaRPr sz="4800" b="1" dirty="0">
              <a:solidFill>
                <a:srgbClr val="194241"/>
              </a:solidFill>
              <a:latin typeface="Avenir Heavy" panose="02000503020000020003" pitchFamily="2" charset="0"/>
              <a:cs typeface="Didot" panose="02000503000000020003" pitchFamily="2" charset="-79"/>
            </a:endParaRPr>
          </a:p>
        </p:txBody>
      </p:sp>
      <p:sp>
        <p:nvSpPr>
          <p:cNvPr id="2" name="Straight Connector 12">
            <a:extLst>
              <a:ext uri="{FF2B5EF4-FFF2-40B4-BE49-F238E27FC236}">
                <a16:creationId xmlns:a16="http://schemas.microsoft.com/office/drawing/2014/main" id="{CA9A65C6-2558-1737-6207-6FCD32BA706E}"/>
              </a:ext>
            </a:extLst>
          </p:cNvPr>
          <p:cNvSpPr/>
          <p:nvPr/>
        </p:nvSpPr>
        <p:spPr>
          <a:xfrm>
            <a:off x="587828" y="694185"/>
            <a:ext cx="11041026" cy="30499"/>
          </a:xfrm>
          <a:prstGeom prst="line">
            <a:avLst/>
          </a:prstGeom>
          <a:ln w="19050">
            <a:solidFill>
              <a:srgbClr val="FFFBF6"/>
            </a:solidFill>
            <a:miter/>
          </a:ln>
        </p:spPr>
        <p:txBody>
          <a:bodyPr lIns="45719" rIns="45719"/>
          <a:lstStyle/>
          <a:p>
            <a:endParaRPr>
              <a:solidFill>
                <a:srgbClr val="FFFBF6"/>
              </a:solidFill>
            </a:endParaRPr>
          </a:p>
        </p:txBody>
      </p:sp>
      <p:sp>
        <p:nvSpPr>
          <p:cNvPr id="3" name="TextBox 73">
            <a:extLst>
              <a:ext uri="{FF2B5EF4-FFF2-40B4-BE49-F238E27FC236}">
                <a16:creationId xmlns:a16="http://schemas.microsoft.com/office/drawing/2014/main" id="{14467D3D-57A2-4C78-25C0-9F165C9564CE}"/>
              </a:ext>
            </a:extLst>
          </p:cNvPr>
          <p:cNvSpPr txBox="1"/>
          <p:nvPr/>
        </p:nvSpPr>
        <p:spPr>
          <a:xfrm>
            <a:off x="586766" y="752988"/>
            <a:ext cx="1140695" cy="261610"/>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FFFBF6"/>
                </a:solidFill>
                <a:latin typeface="Avenir Medium" panose="02000503020000020003" pitchFamily="2" charset="0"/>
              </a:rPr>
              <a:t>Maison </a:t>
            </a:r>
            <a:r>
              <a:rPr sz="1100" dirty="0" err="1">
                <a:solidFill>
                  <a:srgbClr val="FFFBF6"/>
                </a:solidFill>
                <a:latin typeface="Avenir Medium" panose="02000503020000020003" pitchFamily="2" charset="0"/>
              </a:rPr>
              <a:t>Lepluplu</a:t>
            </a:r>
            <a:endParaRPr sz="1100" dirty="0">
              <a:solidFill>
                <a:srgbClr val="FFFBF6"/>
              </a:solidFill>
              <a:latin typeface="Avenir Medium" panose="02000503020000020003" pitchFamily="2" charset="0"/>
            </a:endParaRPr>
          </a:p>
        </p:txBody>
      </p:sp>
      <p:sp>
        <p:nvSpPr>
          <p:cNvPr id="4" name="TextBox 74">
            <a:extLst>
              <a:ext uri="{FF2B5EF4-FFF2-40B4-BE49-F238E27FC236}">
                <a16:creationId xmlns:a16="http://schemas.microsoft.com/office/drawing/2014/main" id="{A15D426F-958B-2CED-F87B-E29879ACE377}"/>
              </a:ext>
            </a:extLst>
          </p:cNvPr>
          <p:cNvSpPr txBox="1"/>
          <p:nvPr/>
        </p:nvSpPr>
        <p:spPr>
          <a:xfrm>
            <a:off x="9713976" y="768633"/>
            <a:ext cx="829712" cy="261610"/>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FFFBF6"/>
                </a:solidFill>
                <a:latin typeface="Avenir Medium" panose="02000503020000020003" pitchFamily="2" charset="0"/>
              </a:rPr>
              <a:t>10/23/2025</a:t>
            </a:r>
          </a:p>
        </p:txBody>
      </p:sp>
      <p:sp>
        <p:nvSpPr>
          <p:cNvPr id="5" name="TextBox 75">
            <a:extLst>
              <a:ext uri="{FF2B5EF4-FFF2-40B4-BE49-F238E27FC236}">
                <a16:creationId xmlns:a16="http://schemas.microsoft.com/office/drawing/2014/main" id="{ECE25586-8104-DEEC-3007-B95A7EB9D962}"/>
              </a:ext>
            </a:extLst>
          </p:cNvPr>
          <p:cNvSpPr txBox="1"/>
          <p:nvPr/>
        </p:nvSpPr>
        <p:spPr>
          <a:xfrm>
            <a:off x="11383131" y="786797"/>
            <a:ext cx="249425" cy="261610"/>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FFFBF6"/>
                </a:solidFill>
                <a:latin typeface="Avenir Medium" panose="02000503020000020003" pitchFamily="2" charset="0"/>
              </a:rPr>
              <a:t>0</a:t>
            </a:r>
            <a:r>
              <a:rPr lang="en-US" sz="1100" dirty="0">
                <a:solidFill>
                  <a:srgbClr val="FFFBF6"/>
                </a:solidFill>
                <a:latin typeface="Avenir Medium" panose="02000503020000020003" pitchFamily="2" charset="0"/>
              </a:rPr>
              <a:t>9</a:t>
            </a:r>
            <a:endParaRPr sz="1100" dirty="0">
              <a:solidFill>
                <a:srgbClr val="FFFBF6"/>
              </a:solidFill>
              <a:latin typeface="Avenir Medium" panose="02000503020000020003" pitchFamily="2" charset="0"/>
            </a:endParaRPr>
          </a:p>
        </p:txBody>
      </p:sp>
      <p:sp>
        <p:nvSpPr>
          <p:cNvPr id="19" name="TextBox 18">
            <a:extLst>
              <a:ext uri="{FF2B5EF4-FFF2-40B4-BE49-F238E27FC236}">
                <a16:creationId xmlns:a16="http://schemas.microsoft.com/office/drawing/2014/main" id="{1D7D5FFA-8BE1-78CB-C759-4E82D234694B}"/>
              </a:ext>
            </a:extLst>
          </p:cNvPr>
          <p:cNvSpPr txBox="1"/>
          <p:nvPr/>
        </p:nvSpPr>
        <p:spPr>
          <a:xfrm>
            <a:off x="597672" y="2093668"/>
            <a:ext cx="475735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chemeClr val="tx1"/>
                </a:solidFill>
                <a:latin typeface="Lato" panose="020F0502020204030203" pitchFamily="34" charset="77"/>
                <a:cs typeface="Segoe UI"/>
              </a:rPr>
              <a:t>Use the following guidelines to map out the typographic hierarchy in print and digital media.  </a:t>
            </a:r>
          </a:p>
        </p:txBody>
      </p:sp>
      <p:sp>
        <p:nvSpPr>
          <p:cNvPr id="20" name="Parallelogram 19">
            <a:extLst>
              <a:ext uri="{FF2B5EF4-FFF2-40B4-BE49-F238E27FC236}">
                <a16:creationId xmlns:a16="http://schemas.microsoft.com/office/drawing/2014/main" id="{D4AC1123-357A-0884-475B-18E9E683D9E8}"/>
              </a:ext>
            </a:extLst>
          </p:cNvPr>
          <p:cNvSpPr/>
          <p:nvPr/>
        </p:nvSpPr>
        <p:spPr>
          <a:xfrm>
            <a:off x="714997" y="3316340"/>
            <a:ext cx="481952" cy="198478"/>
          </a:xfrm>
          <a:prstGeom prst="parallelogram">
            <a:avLst/>
          </a:prstGeom>
          <a:solidFill>
            <a:srgbClr val="194241"/>
          </a:solidFill>
          <a:ln w="19050" cap="flat">
            <a:solidFill>
              <a:srgbClr val="19424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sp>
        <p:nvSpPr>
          <p:cNvPr id="21" name="TextBox 20">
            <a:extLst>
              <a:ext uri="{FF2B5EF4-FFF2-40B4-BE49-F238E27FC236}">
                <a16:creationId xmlns:a16="http://schemas.microsoft.com/office/drawing/2014/main" id="{AFF0FD4C-F543-E271-EC6E-2D91E48A3185}"/>
              </a:ext>
            </a:extLst>
          </p:cNvPr>
          <p:cNvSpPr txBox="1"/>
          <p:nvPr/>
        </p:nvSpPr>
        <p:spPr>
          <a:xfrm>
            <a:off x="784513" y="3275754"/>
            <a:ext cx="481952" cy="4562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1500"/>
              </a:lnSpc>
              <a:defRPr sz="1500" b="1">
                <a:solidFill>
                  <a:srgbClr val="CF5785"/>
                </a:solidFill>
                <a:latin typeface="Lato"/>
                <a:ea typeface="Lato"/>
                <a:cs typeface="Lato"/>
                <a:sym typeface="Lato"/>
              </a:defRPr>
            </a:pPr>
            <a:r>
              <a:rPr lang="en-US" sz="1000" b="1" dirty="0">
                <a:solidFill>
                  <a:srgbClr val="FFFBF6"/>
                </a:solidFill>
                <a:latin typeface="Lato" panose="020F0502020204030203" pitchFamily="34" charset="77"/>
              </a:rPr>
              <a:t>H1</a:t>
            </a:r>
          </a:p>
          <a:p>
            <a:pPr>
              <a:lnSpc>
                <a:spcPts val="1500"/>
              </a:lnSpc>
              <a:defRPr sz="1500" b="1">
                <a:solidFill>
                  <a:srgbClr val="CF5785"/>
                </a:solidFill>
                <a:latin typeface="Lato"/>
                <a:ea typeface="Lato"/>
                <a:cs typeface="Lato"/>
                <a:sym typeface="Lato"/>
              </a:defRPr>
            </a:pPr>
            <a:endParaRPr lang="en-US" sz="1000" b="1" dirty="0">
              <a:solidFill>
                <a:srgbClr val="FFFBF6"/>
              </a:solidFill>
              <a:latin typeface="Lato" panose="020F0502020204030203" pitchFamily="34" charset="77"/>
            </a:endParaRPr>
          </a:p>
        </p:txBody>
      </p:sp>
      <p:sp>
        <p:nvSpPr>
          <p:cNvPr id="22" name="Rectangle 1">
            <a:extLst>
              <a:ext uri="{FF2B5EF4-FFF2-40B4-BE49-F238E27FC236}">
                <a16:creationId xmlns:a16="http://schemas.microsoft.com/office/drawing/2014/main" id="{BC1D749F-ABF0-A8D5-5BCD-04DC361F1AD0}"/>
              </a:ext>
            </a:extLst>
          </p:cNvPr>
          <p:cNvSpPr txBox="1"/>
          <p:nvPr/>
        </p:nvSpPr>
        <p:spPr>
          <a:xfrm>
            <a:off x="1283247" y="3850054"/>
            <a:ext cx="4275000" cy="7078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algn="just">
              <a:defRPr>
                <a:solidFill>
                  <a:srgbClr val="1B1B1B"/>
                </a:solidFill>
                <a:latin typeface="Lato"/>
                <a:ea typeface="Lato"/>
                <a:cs typeface="Lato"/>
                <a:sym typeface="Lato"/>
              </a:defRPr>
            </a:pPr>
            <a:r>
              <a:rPr lang="en-US" sz="4000" b="1" dirty="0">
                <a:solidFill>
                  <a:srgbClr val="194241"/>
                </a:solidFill>
                <a:latin typeface="Avenir Heavy" panose="02000503020000020003" pitchFamily="2" charset="0"/>
                <a:cs typeface="Didot" panose="02000503000000020003" pitchFamily="2" charset="-79"/>
              </a:rPr>
              <a:t>Avenir 40 pt</a:t>
            </a:r>
            <a:endParaRPr sz="4000" b="1" dirty="0">
              <a:solidFill>
                <a:srgbClr val="194241"/>
              </a:solidFill>
              <a:latin typeface="Avenir Heavy" panose="02000503020000020003" pitchFamily="2" charset="0"/>
              <a:cs typeface="Didot" panose="02000503000000020003" pitchFamily="2" charset="-79"/>
            </a:endParaRPr>
          </a:p>
        </p:txBody>
      </p:sp>
      <p:sp>
        <p:nvSpPr>
          <p:cNvPr id="23" name="Parallelogram 22">
            <a:extLst>
              <a:ext uri="{FF2B5EF4-FFF2-40B4-BE49-F238E27FC236}">
                <a16:creationId xmlns:a16="http://schemas.microsoft.com/office/drawing/2014/main" id="{F16FB9D7-DCEC-D016-D060-40CC456D68C8}"/>
              </a:ext>
            </a:extLst>
          </p:cNvPr>
          <p:cNvSpPr/>
          <p:nvPr/>
        </p:nvSpPr>
        <p:spPr>
          <a:xfrm>
            <a:off x="714997" y="4142312"/>
            <a:ext cx="481952" cy="198478"/>
          </a:xfrm>
          <a:prstGeom prst="parallelogram">
            <a:avLst/>
          </a:prstGeom>
          <a:solidFill>
            <a:srgbClr val="194241"/>
          </a:solidFill>
          <a:ln w="19050" cap="flat">
            <a:solidFill>
              <a:srgbClr val="19424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sp>
        <p:nvSpPr>
          <p:cNvPr id="24" name="TextBox 23">
            <a:extLst>
              <a:ext uri="{FF2B5EF4-FFF2-40B4-BE49-F238E27FC236}">
                <a16:creationId xmlns:a16="http://schemas.microsoft.com/office/drawing/2014/main" id="{4525B6FE-F715-4D5A-47EE-9D08FDB0BB0A}"/>
              </a:ext>
            </a:extLst>
          </p:cNvPr>
          <p:cNvSpPr txBox="1"/>
          <p:nvPr/>
        </p:nvSpPr>
        <p:spPr>
          <a:xfrm>
            <a:off x="784513" y="4101726"/>
            <a:ext cx="481952" cy="4562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1500"/>
              </a:lnSpc>
              <a:defRPr sz="1500" b="1">
                <a:solidFill>
                  <a:srgbClr val="CF5785"/>
                </a:solidFill>
                <a:latin typeface="Lato"/>
                <a:ea typeface="Lato"/>
                <a:cs typeface="Lato"/>
                <a:sym typeface="Lato"/>
              </a:defRPr>
            </a:pPr>
            <a:r>
              <a:rPr lang="en-US" sz="1000" b="1" dirty="0">
                <a:solidFill>
                  <a:srgbClr val="FFFBF6"/>
                </a:solidFill>
                <a:latin typeface="Lato" panose="020F0502020204030203" pitchFamily="34" charset="77"/>
              </a:rPr>
              <a:t>H2</a:t>
            </a:r>
          </a:p>
          <a:p>
            <a:pPr>
              <a:lnSpc>
                <a:spcPts val="1500"/>
              </a:lnSpc>
              <a:defRPr sz="1500" b="1">
                <a:solidFill>
                  <a:srgbClr val="CF5785"/>
                </a:solidFill>
                <a:latin typeface="Lato"/>
                <a:ea typeface="Lato"/>
                <a:cs typeface="Lato"/>
                <a:sym typeface="Lato"/>
              </a:defRPr>
            </a:pPr>
            <a:endParaRPr lang="en-US" sz="1000" b="1" dirty="0">
              <a:solidFill>
                <a:srgbClr val="FFFBF6"/>
              </a:solidFill>
              <a:latin typeface="Lato" panose="020F0502020204030203" pitchFamily="34" charset="77"/>
            </a:endParaRPr>
          </a:p>
        </p:txBody>
      </p:sp>
      <p:sp>
        <p:nvSpPr>
          <p:cNvPr id="25" name="Rectangle 1">
            <a:extLst>
              <a:ext uri="{FF2B5EF4-FFF2-40B4-BE49-F238E27FC236}">
                <a16:creationId xmlns:a16="http://schemas.microsoft.com/office/drawing/2014/main" id="{89545F11-3215-E8B3-6224-967ECC06D95F}"/>
              </a:ext>
            </a:extLst>
          </p:cNvPr>
          <p:cNvSpPr txBox="1"/>
          <p:nvPr/>
        </p:nvSpPr>
        <p:spPr>
          <a:xfrm>
            <a:off x="1283247" y="4616652"/>
            <a:ext cx="4275000" cy="461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algn="just">
              <a:defRPr>
                <a:solidFill>
                  <a:srgbClr val="1B1B1B"/>
                </a:solidFill>
                <a:latin typeface="Lato"/>
                <a:ea typeface="Lato"/>
                <a:cs typeface="Lato"/>
                <a:sym typeface="Lato"/>
              </a:defRPr>
            </a:pPr>
            <a:r>
              <a:rPr lang="en-US" sz="2400" b="1" dirty="0">
                <a:solidFill>
                  <a:srgbClr val="194241"/>
                </a:solidFill>
                <a:latin typeface="Avenir Heavy" panose="02000503020000020003" pitchFamily="2" charset="0"/>
                <a:cs typeface="Didot" panose="02000503000000020003" pitchFamily="2" charset="-79"/>
              </a:rPr>
              <a:t>Avenir 24 pt</a:t>
            </a:r>
            <a:endParaRPr sz="2400" b="1" dirty="0">
              <a:solidFill>
                <a:srgbClr val="194241"/>
              </a:solidFill>
              <a:latin typeface="Avenir Heavy" panose="02000503020000020003" pitchFamily="2" charset="0"/>
              <a:cs typeface="Didot" panose="02000503000000020003" pitchFamily="2" charset="-79"/>
            </a:endParaRPr>
          </a:p>
        </p:txBody>
      </p:sp>
      <p:sp>
        <p:nvSpPr>
          <p:cNvPr id="26" name="Parallelogram 25">
            <a:extLst>
              <a:ext uri="{FF2B5EF4-FFF2-40B4-BE49-F238E27FC236}">
                <a16:creationId xmlns:a16="http://schemas.microsoft.com/office/drawing/2014/main" id="{47703D9E-0697-589E-6C64-1D84AE84885B}"/>
              </a:ext>
            </a:extLst>
          </p:cNvPr>
          <p:cNvSpPr/>
          <p:nvPr/>
        </p:nvSpPr>
        <p:spPr>
          <a:xfrm>
            <a:off x="714997" y="4787983"/>
            <a:ext cx="481952" cy="198478"/>
          </a:xfrm>
          <a:prstGeom prst="parallelogram">
            <a:avLst/>
          </a:prstGeom>
          <a:solidFill>
            <a:srgbClr val="194241"/>
          </a:solidFill>
          <a:ln w="19050" cap="flat">
            <a:solidFill>
              <a:srgbClr val="19424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sp>
        <p:nvSpPr>
          <p:cNvPr id="27" name="TextBox 26">
            <a:extLst>
              <a:ext uri="{FF2B5EF4-FFF2-40B4-BE49-F238E27FC236}">
                <a16:creationId xmlns:a16="http://schemas.microsoft.com/office/drawing/2014/main" id="{F04F4392-AA01-E7BA-920C-48BC1B4056F8}"/>
              </a:ext>
            </a:extLst>
          </p:cNvPr>
          <p:cNvSpPr txBox="1"/>
          <p:nvPr/>
        </p:nvSpPr>
        <p:spPr>
          <a:xfrm>
            <a:off x="784513" y="4747397"/>
            <a:ext cx="481952" cy="4562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1500"/>
              </a:lnSpc>
              <a:defRPr sz="1500" b="1">
                <a:solidFill>
                  <a:srgbClr val="CF5785"/>
                </a:solidFill>
                <a:latin typeface="Lato"/>
                <a:ea typeface="Lato"/>
                <a:cs typeface="Lato"/>
                <a:sym typeface="Lato"/>
              </a:defRPr>
            </a:pPr>
            <a:r>
              <a:rPr lang="en-US" sz="1000" b="1" dirty="0">
                <a:solidFill>
                  <a:srgbClr val="FFFBF6"/>
                </a:solidFill>
                <a:latin typeface="Lato" panose="020F0502020204030203" pitchFamily="34" charset="77"/>
              </a:rPr>
              <a:t>H3</a:t>
            </a:r>
          </a:p>
          <a:p>
            <a:pPr>
              <a:lnSpc>
                <a:spcPts val="1500"/>
              </a:lnSpc>
              <a:defRPr sz="1500" b="1">
                <a:solidFill>
                  <a:srgbClr val="CF5785"/>
                </a:solidFill>
                <a:latin typeface="Lato"/>
                <a:ea typeface="Lato"/>
                <a:cs typeface="Lato"/>
                <a:sym typeface="Lato"/>
              </a:defRPr>
            </a:pPr>
            <a:endParaRPr lang="en-US" sz="1000" b="1" dirty="0">
              <a:solidFill>
                <a:srgbClr val="FFFBF6"/>
              </a:solidFill>
              <a:latin typeface="Lato" panose="020F0502020204030203" pitchFamily="34" charset="77"/>
            </a:endParaRPr>
          </a:p>
        </p:txBody>
      </p:sp>
      <p:sp>
        <p:nvSpPr>
          <p:cNvPr id="28" name="Rectangle 1">
            <a:extLst>
              <a:ext uri="{FF2B5EF4-FFF2-40B4-BE49-F238E27FC236}">
                <a16:creationId xmlns:a16="http://schemas.microsoft.com/office/drawing/2014/main" id="{52310D8A-CCB6-CBF2-1077-EDBB0F5175D7}"/>
              </a:ext>
            </a:extLst>
          </p:cNvPr>
          <p:cNvSpPr>
            <a:spLocks noChangeArrowheads="1"/>
          </p:cNvSpPr>
          <p:nvPr/>
        </p:nvSpPr>
        <p:spPr bwMode="auto">
          <a:xfrm>
            <a:off x="6096000" y="1435640"/>
            <a:ext cx="5498328" cy="4539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u="none" strike="noStrike" cap="none" normalizeH="0" baseline="0" dirty="0">
                <a:ln>
                  <a:noFill/>
                </a:ln>
                <a:solidFill>
                  <a:srgbClr val="194241"/>
                </a:solidFill>
                <a:effectLst/>
                <a:latin typeface="Lato" panose="020F0502020204030203" pitchFamily="34" charset="77"/>
              </a:rPr>
              <a:t>SUBHEAD LATO BOLD 18 PT CAPS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u="none" strike="noStrike" cap="none" normalizeH="0" baseline="0" dirty="0">
              <a:ln>
                <a:noFill/>
              </a:ln>
              <a:solidFill>
                <a:srgbClr val="194241"/>
              </a:solidFill>
              <a:effectLst/>
              <a:latin typeface="Lato" panose="020F0502020204030203" pitchFamily="34"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u="none" strike="noStrike" cap="none" normalizeH="0" baseline="0" dirty="0">
                <a:ln>
                  <a:noFill/>
                </a:ln>
                <a:solidFill>
                  <a:srgbClr val="194241"/>
                </a:solidFill>
                <a:effectLst/>
                <a:latin typeface="Lato" panose="020F0502020204030203" pitchFamily="34" charset="77"/>
              </a:rPr>
              <a:t>This is the standard body copy treatment. Lato Regular 18 pt in white or dark text for optimal contrast.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u="none" strike="noStrike" cap="none" normalizeH="0" baseline="0" dirty="0">
              <a:ln>
                <a:noFill/>
              </a:ln>
              <a:solidFill>
                <a:srgbClr val="194241"/>
              </a:solidFill>
              <a:effectLst/>
              <a:latin typeface="Lato" panose="020F0502020204030203" pitchFamily="34"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u="none" strike="noStrike" cap="none" normalizeH="0" baseline="0" dirty="0">
                <a:ln>
                  <a:noFill/>
                </a:ln>
                <a:solidFill>
                  <a:srgbClr val="194241"/>
                </a:solidFill>
                <a:effectLst/>
                <a:latin typeface="Lato" panose="020F0502020204030203" pitchFamily="34" charset="77"/>
              </a:rPr>
              <a:t>Use Lato Bold to highlight </a:t>
            </a:r>
            <a:r>
              <a:rPr kumimoji="0" lang="en-US" altLang="en-US" u="none" strike="noStrike" cap="none" normalizeH="0" baseline="0" dirty="0">
                <a:ln>
                  <a:noFill/>
                </a:ln>
                <a:solidFill>
                  <a:srgbClr val="194241"/>
                </a:solidFill>
                <a:effectLst/>
                <a:latin typeface="Lato" panose="020F0502020204030203" pitchFamily="34" charset="77"/>
              </a:rPr>
              <a:t>key phrases that improve emphasis and flow within the content.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u="none" strike="noStrike" cap="none" normalizeH="0" baseline="0" dirty="0">
              <a:ln>
                <a:noFill/>
              </a:ln>
              <a:solidFill>
                <a:srgbClr val="194241"/>
              </a:solidFill>
              <a:effectLst/>
              <a:latin typeface="Lato" panose="020F0502020204030203" pitchFamily="34"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u="none" strike="noStrike" cap="none" normalizeH="0" baseline="0" dirty="0">
                <a:ln>
                  <a:noFill/>
                </a:ln>
                <a:solidFill>
                  <a:srgbClr val="194241"/>
                </a:solidFill>
                <a:effectLst/>
                <a:latin typeface="Lato" panose="020F0502020204030203" pitchFamily="34" charset="77"/>
              </a:rPr>
              <a:t>The subhead and body copy should remain consistent in size and line spacing to preserve balance and readability.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u="none" strike="noStrike" cap="none" normalizeH="0" baseline="0" dirty="0">
              <a:ln>
                <a:noFill/>
              </a:ln>
              <a:solidFill>
                <a:srgbClr val="194241"/>
              </a:solidFill>
              <a:effectLst/>
              <a:latin typeface="Lato" panose="020F0502020204030203" pitchFamily="34"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u="none" strike="noStrike" cap="none" normalizeH="0" baseline="0" dirty="0">
                <a:ln>
                  <a:noFill/>
                </a:ln>
                <a:solidFill>
                  <a:srgbClr val="194241"/>
                </a:solidFill>
                <a:effectLst/>
                <a:latin typeface="Lato" panose="020F0502020204030203" pitchFamily="34" charset="77"/>
              </a:rPr>
              <a:t>This is the secondary body copy, slightly smaller for supporting or more detailed information. Lato 13 pt.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u="none" strike="noStrike" cap="none" normalizeH="0" baseline="0" dirty="0">
              <a:ln>
                <a:noFill/>
              </a:ln>
              <a:solidFill>
                <a:srgbClr val="194241"/>
              </a:solidFill>
              <a:effectLst/>
              <a:latin typeface="Lato" panose="020F0502020204030203" pitchFamily="34"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u="none" strike="noStrike" cap="none" normalizeH="0" baseline="0" dirty="0">
                <a:ln>
                  <a:noFill/>
                </a:ln>
                <a:solidFill>
                  <a:srgbClr val="194241"/>
                </a:solidFill>
                <a:effectLst/>
                <a:latin typeface="Lato" panose="020F0502020204030203" pitchFamily="34" charset="77"/>
              </a:rPr>
              <a:t>This is the smallest body copy, reserved for tertiary content such as footnotes, disclaimers, or annotations. Lato 11pt.</a:t>
            </a:r>
          </a:p>
        </p:txBody>
      </p:sp>
      <p:grpSp>
        <p:nvGrpSpPr>
          <p:cNvPr id="29" name="Group 28">
            <a:extLst>
              <a:ext uri="{FF2B5EF4-FFF2-40B4-BE49-F238E27FC236}">
                <a16:creationId xmlns:a16="http://schemas.microsoft.com/office/drawing/2014/main" id="{E35A1062-C747-065B-1578-966D6B45BFFA}"/>
              </a:ext>
            </a:extLst>
          </p:cNvPr>
          <p:cNvGrpSpPr/>
          <p:nvPr/>
        </p:nvGrpSpPr>
        <p:grpSpPr>
          <a:xfrm>
            <a:off x="11492677" y="6133632"/>
            <a:ext cx="435703" cy="435703"/>
            <a:chOff x="10837571" y="6280755"/>
            <a:chExt cx="435703" cy="435703"/>
          </a:xfrm>
        </p:grpSpPr>
        <p:sp>
          <p:nvSpPr>
            <p:cNvPr id="30" name="Rounded Rectangle 29">
              <a:extLst>
                <a:ext uri="{FF2B5EF4-FFF2-40B4-BE49-F238E27FC236}">
                  <a16:creationId xmlns:a16="http://schemas.microsoft.com/office/drawing/2014/main" id="{36D4BA24-1878-9137-2FD5-86F66E5FC063}"/>
                </a:ext>
              </a:extLst>
            </p:cNvPr>
            <p:cNvSpPr/>
            <p:nvPr/>
          </p:nvSpPr>
          <p:spPr>
            <a:xfrm>
              <a:off x="10837571" y="6280755"/>
              <a:ext cx="435703" cy="435703"/>
            </a:xfrm>
            <a:prstGeom prst="roundRect">
              <a:avLst/>
            </a:prstGeom>
            <a:solidFill>
              <a:srgbClr val="FFFBF6"/>
            </a:solidFill>
            <a:ln w="19050" cap="flat">
              <a:solidFill>
                <a:srgbClr val="FFFBF6"/>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pic>
          <p:nvPicPr>
            <p:cNvPr id="31" name="Picture 30" descr="A yellow dog with bow tie and bow tie and bow tie and bow tie and bow tie and bow tie and bow tie and bow tie and bow tie and bow tie and bow tie and bow tie&#10;&#10;AI-generated content may be incorrect.">
              <a:extLst>
                <a:ext uri="{FF2B5EF4-FFF2-40B4-BE49-F238E27FC236}">
                  <a16:creationId xmlns:a16="http://schemas.microsoft.com/office/drawing/2014/main" id="{02DDE4E3-806F-E9D4-C4BD-8F86D503C281}"/>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10857461" y="6329205"/>
              <a:ext cx="395921" cy="317146"/>
            </a:xfrm>
            <a:prstGeom prst="rect">
              <a:avLst/>
            </a:prstGeom>
          </p:spPr>
        </p:pic>
      </p:gr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8B989"/>
        </a:solidFill>
        <a:effectLst/>
      </p:bgPr>
    </p:bg>
    <p:spTree>
      <p:nvGrpSpPr>
        <p:cNvPr id="1" name=""/>
        <p:cNvGrpSpPr/>
        <p:nvPr/>
      </p:nvGrpSpPr>
      <p:grpSpPr>
        <a:xfrm>
          <a:off x="0" y="0"/>
          <a:ext cx="0" cy="0"/>
          <a:chOff x="0" y="0"/>
          <a:chExt cx="0" cy="0"/>
        </a:xfrm>
      </p:grpSpPr>
      <p:sp>
        <p:nvSpPr>
          <p:cNvPr id="300" name="TextBox 4"/>
          <p:cNvSpPr txBox="1"/>
          <p:nvPr/>
        </p:nvSpPr>
        <p:spPr>
          <a:xfrm>
            <a:off x="572159" y="1369740"/>
            <a:ext cx="5492043" cy="6582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ts val="4000"/>
              </a:lnSpc>
              <a:defRPr sz="4800" b="1">
                <a:solidFill>
                  <a:srgbClr val="CF5785"/>
                </a:solidFill>
                <a:latin typeface="GFS Didot"/>
                <a:ea typeface="GFS Didot"/>
                <a:cs typeface="GFS Didot"/>
                <a:sym typeface="GFS Didot"/>
              </a:defRPr>
            </a:lvl1pPr>
          </a:lstStyle>
          <a:p>
            <a:r>
              <a:rPr dirty="0">
                <a:solidFill>
                  <a:srgbClr val="FFFBF6"/>
                </a:solidFill>
                <a:latin typeface="Avenir Heavy" panose="02000503020000020003" pitchFamily="2" charset="0"/>
              </a:rPr>
              <a:t>Graphic Elements</a:t>
            </a:r>
          </a:p>
        </p:txBody>
      </p:sp>
      <p:sp>
        <p:nvSpPr>
          <p:cNvPr id="301" name="Rectangle 1"/>
          <p:cNvSpPr txBox="1"/>
          <p:nvPr/>
        </p:nvSpPr>
        <p:spPr>
          <a:xfrm>
            <a:off x="572159" y="2948946"/>
            <a:ext cx="4275000" cy="2923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just">
              <a:defRPr sz="1000">
                <a:solidFill>
                  <a:srgbClr val="1B1B1B"/>
                </a:solidFill>
                <a:latin typeface="Lato"/>
                <a:ea typeface="Lato"/>
                <a:cs typeface="Lato"/>
                <a:sym typeface="Lato"/>
              </a:defRPr>
            </a:lvl1pPr>
          </a:lstStyle>
          <a:p>
            <a:endParaRPr sz="1300" dirty="0">
              <a:latin typeface="Lato Light" panose="020F0302020204030203" pitchFamily="34" charset="77"/>
            </a:endParaRPr>
          </a:p>
        </p:txBody>
      </p:sp>
      <p:sp>
        <p:nvSpPr>
          <p:cNvPr id="2" name="Straight Connector 12">
            <a:extLst>
              <a:ext uri="{FF2B5EF4-FFF2-40B4-BE49-F238E27FC236}">
                <a16:creationId xmlns:a16="http://schemas.microsoft.com/office/drawing/2014/main" id="{862E572F-0577-069E-3796-557322A529ED}"/>
              </a:ext>
            </a:extLst>
          </p:cNvPr>
          <p:cNvSpPr/>
          <p:nvPr/>
        </p:nvSpPr>
        <p:spPr>
          <a:xfrm>
            <a:off x="587828" y="694185"/>
            <a:ext cx="11041026" cy="30499"/>
          </a:xfrm>
          <a:prstGeom prst="line">
            <a:avLst/>
          </a:prstGeom>
          <a:ln w="19050">
            <a:solidFill>
              <a:srgbClr val="FFFBF6"/>
            </a:solidFill>
            <a:miter/>
          </a:ln>
        </p:spPr>
        <p:txBody>
          <a:bodyPr lIns="45719" rIns="45719"/>
          <a:lstStyle/>
          <a:p>
            <a:endParaRPr>
              <a:solidFill>
                <a:srgbClr val="FFFBF6"/>
              </a:solidFill>
            </a:endParaRPr>
          </a:p>
        </p:txBody>
      </p:sp>
      <p:sp>
        <p:nvSpPr>
          <p:cNvPr id="3" name="TextBox 73">
            <a:extLst>
              <a:ext uri="{FF2B5EF4-FFF2-40B4-BE49-F238E27FC236}">
                <a16:creationId xmlns:a16="http://schemas.microsoft.com/office/drawing/2014/main" id="{BACC5FE4-F4D4-5F67-5ACA-236F8792659B}"/>
              </a:ext>
            </a:extLst>
          </p:cNvPr>
          <p:cNvSpPr txBox="1"/>
          <p:nvPr/>
        </p:nvSpPr>
        <p:spPr>
          <a:xfrm>
            <a:off x="586766" y="752988"/>
            <a:ext cx="1140695" cy="261610"/>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FFFBF6"/>
                </a:solidFill>
                <a:latin typeface="Avenir Medium" panose="02000503020000020003" pitchFamily="2" charset="0"/>
              </a:rPr>
              <a:t>Maison </a:t>
            </a:r>
            <a:r>
              <a:rPr sz="1100" dirty="0" err="1">
                <a:solidFill>
                  <a:srgbClr val="FFFBF6"/>
                </a:solidFill>
                <a:latin typeface="Avenir Medium" panose="02000503020000020003" pitchFamily="2" charset="0"/>
              </a:rPr>
              <a:t>Lepluplu</a:t>
            </a:r>
            <a:endParaRPr sz="1100" dirty="0">
              <a:solidFill>
                <a:srgbClr val="FFFBF6"/>
              </a:solidFill>
              <a:latin typeface="Avenir Medium" panose="02000503020000020003" pitchFamily="2" charset="0"/>
            </a:endParaRPr>
          </a:p>
        </p:txBody>
      </p:sp>
      <p:sp>
        <p:nvSpPr>
          <p:cNvPr id="4" name="TextBox 74">
            <a:extLst>
              <a:ext uri="{FF2B5EF4-FFF2-40B4-BE49-F238E27FC236}">
                <a16:creationId xmlns:a16="http://schemas.microsoft.com/office/drawing/2014/main" id="{FF65AD96-99E8-05DE-0965-E656E82F852B}"/>
              </a:ext>
            </a:extLst>
          </p:cNvPr>
          <p:cNvSpPr txBox="1"/>
          <p:nvPr/>
        </p:nvSpPr>
        <p:spPr>
          <a:xfrm>
            <a:off x="9713976" y="768633"/>
            <a:ext cx="829712" cy="261610"/>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sz="1100" dirty="0">
                <a:solidFill>
                  <a:srgbClr val="FFFBF6"/>
                </a:solidFill>
                <a:latin typeface="Avenir Medium" panose="02000503020000020003" pitchFamily="2" charset="0"/>
              </a:rPr>
              <a:t>10/23/2025</a:t>
            </a:r>
          </a:p>
        </p:txBody>
      </p:sp>
      <p:sp>
        <p:nvSpPr>
          <p:cNvPr id="5" name="TextBox 75">
            <a:extLst>
              <a:ext uri="{FF2B5EF4-FFF2-40B4-BE49-F238E27FC236}">
                <a16:creationId xmlns:a16="http://schemas.microsoft.com/office/drawing/2014/main" id="{1823D0FD-78B3-7C60-7410-91277B67A00B}"/>
              </a:ext>
            </a:extLst>
          </p:cNvPr>
          <p:cNvSpPr txBox="1"/>
          <p:nvPr/>
        </p:nvSpPr>
        <p:spPr>
          <a:xfrm>
            <a:off x="11383131" y="786797"/>
            <a:ext cx="249425" cy="261610"/>
          </a:xfrm>
          <a:prstGeom prst="rect">
            <a:avLst/>
          </a:prstGeom>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800">
                <a:latin typeface="Aptos Light"/>
                <a:ea typeface="Aptos Light"/>
                <a:cs typeface="Aptos Light"/>
                <a:sym typeface="Aptos Light"/>
              </a:defRPr>
            </a:lvl1pPr>
          </a:lstStyle>
          <a:p>
            <a:r>
              <a:rPr lang="en-US" sz="1100" dirty="0">
                <a:solidFill>
                  <a:srgbClr val="FFFBF6"/>
                </a:solidFill>
                <a:latin typeface="Avenir Medium" panose="02000503020000020003" pitchFamily="2" charset="0"/>
              </a:rPr>
              <a:t>10</a:t>
            </a:r>
            <a:endParaRPr sz="1100" dirty="0">
              <a:solidFill>
                <a:srgbClr val="FFFBF6"/>
              </a:solidFill>
              <a:latin typeface="Avenir Medium" panose="02000503020000020003" pitchFamily="2" charset="0"/>
            </a:endParaRPr>
          </a:p>
        </p:txBody>
      </p:sp>
      <p:pic>
        <p:nvPicPr>
          <p:cNvPr id="4098" name="Picture 2" descr="Generated image">
            <a:extLst>
              <a:ext uri="{FF2B5EF4-FFF2-40B4-BE49-F238E27FC236}">
                <a16:creationId xmlns:a16="http://schemas.microsoft.com/office/drawing/2014/main" id="{87CF78D6-7CD1-F5B7-AD43-5B620C73997F}"/>
              </a:ext>
            </a:extLst>
          </p:cNvPr>
          <p:cNvPicPr>
            <a:picLocks noChangeAspect="1" noChangeArrowheads="1"/>
          </p:cNvPicPr>
          <p:nvPr/>
        </p:nvPicPr>
        <p:blipFill rotWithShape="1">
          <a:blip r:embed="rId2" cstate="hqprint">
            <a:extLst>
              <a:ext uri="{28A0092B-C50C-407E-A947-70E740481C1C}">
                <a14:useLocalDpi xmlns:a14="http://schemas.microsoft.com/office/drawing/2010/main"/>
              </a:ext>
            </a:extLst>
          </a:blip>
          <a:srcRect l="5246" t="1401" r="260" b="540"/>
          <a:stretch>
            <a:fillRect/>
          </a:stretch>
        </p:blipFill>
        <p:spPr bwMode="auto">
          <a:xfrm>
            <a:off x="6383445" y="1226276"/>
            <a:ext cx="4161468" cy="4869112"/>
          </a:xfrm>
          <a:prstGeom prst="rect">
            <a:avLst/>
          </a:prstGeom>
          <a:noFill/>
          <a:ln>
            <a:solidFill>
              <a:srgbClr val="194241"/>
            </a:solidFill>
          </a:ln>
          <a:extLst>
            <a:ext uri="{909E8E84-426E-40DD-AFC4-6F175D3DCCD1}">
              <a14:hiddenFill xmlns:a14="http://schemas.microsoft.com/office/drawing/2010/main">
                <a:solidFill>
                  <a:srgbClr val="FFFFFF"/>
                </a:solidFill>
              </a14:hiddenFill>
            </a:ext>
          </a:extLst>
        </p:spPr>
      </p:pic>
      <p:sp>
        <p:nvSpPr>
          <p:cNvPr id="306" name="Rectangle"/>
          <p:cNvSpPr/>
          <p:nvPr/>
        </p:nvSpPr>
        <p:spPr>
          <a:xfrm>
            <a:off x="6370745" y="1196616"/>
            <a:ext cx="4172944" cy="4895914"/>
          </a:xfrm>
          <a:prstGeom prst="rect">
            <a:avLst/>
          </a:prstGeom>
          <a:noFill/>
          <a:ln w="38100">
            <a:solidFill>
              <a:srgbClr val="194241"/>
            </a:solidFill>
            <a:miter/>
          </a:ln>
          <a:effectLst>
            <a:outerShdw blurRad="152400" dist="141807" dir="3194745" rotWithShape="0">
              <a:srgbClr val="000000">
                <a:alpha val="12692"/>
              </a:srgbClr>
            </a:outerShdw>
          </a:effectLst>
        </p:spPr>
        <p:txBody>
          <a:bodyPr lIns="45719" rIns="45719" anchor="ctr"/>
          <a:lstStyle/>
          <a:p>
            <a:endParaRPr/>
          </a:p>
        </p:txBody>
      </p:sp>
      <p:sp>
        <p:nvSpPr>
          <p:cNvPr id="6" name="Rectangle 3">
            <a:extLst>
              <a:ext uri="{FF2B5EF4-FFF2-40B4-BE49-F238E27FC236}">
                <a16:creationId xmlns:a16="http://schemas.microsoft.com/office/drawing/2014/main" id="{11393205-73CF-6B05-2E3E-882AD13A38F4}"/>
              </a:ext>
            </a:extLst>
          </p:cNvPr>
          <p:cNvSpPr>
            <a:spLocks noChangeArrowheads="1"/>
          </p:cNvSpPr>
          <p:nvPr/>
        </p:nvSpPr>
        <p:spPr bwMode="auto">
          <a:xfrm>
            <a:off x="572159" y="2043127"/>
            <a:ext cx="4443159"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400" u="none" strike="noStrike" cap="none" normalizeH="0" baseline="0" dirty="0">
                <a:ln>
                  <a:noFill/>
                </a:ln>
                <a:solidFill>
                  <a:srgbClr val="000000"/>
                </a:solidFill>
                <a:effectLst/>
                <a:latin typeface="Lato" panose="020F0502020204030203" pitchFamily="34" charset="77"/>
              </a:rPr>
              <a:t>The Maison </a:t>
            </a:r>
            <a:r>
              <a:rPr kumimoji="0" lang="en-US" altLang="en-US" sz="1400" u="none" strike="noStrike" cap="none" normalizeH="0" baseline="0" dirty="0" err="1">
                <a:ln>
                  <a:noFill/>
                </a:ln>
                <a:solidFill>
                  <a:srgbClr val="000000"/>
                </a:solidFill>
                <a:effectLst/>
                <a:latin typeface="Lato" panose="020F0502020204030203" pitchFamily="34" charset="77"/>
              </a:rPr>
              <a:t>Lepluplu</a:t>
            </a:r>
            <a:r>
              <a:rPr kumimoji="0" lang="en-US" altLang="en-US" sz="1400" u="none" strike="noStrike" cap="none" normalizeH="0" baseline="0" dirty="0">
                <a:ln>
                  <a:noFill/>
                </a:ln>
                <a:solidFill>
                  <a:srgbClr val="000000"/>
                </a:solidFill>
                <a:effectLst/>
                <a:latin typeface="Lato" panose="020F0502020204030203" pitchFamily="34" charset="77"/>
              </a:rPr>
              <a:t> graphic elements are designed to enrich the brand’s visual storytelling with a touch of Parisian elegance and playful charm. Inspired by the refined world of French couture and the emotional connection between pets and their owners, each element embodies a balance of sophistication and warmth.</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400" u="none" strike="noStrike" cap="none" normalizeH="0" baseline="0" dirty="0">
              <a:ln>
                <a:noFill/>
              </a:ln>
              <a:solidFill>
                <a:schemeClr val="tx1"/>
              </a:solidFill>
              <a:effectLst/>
              <a:latin typeface="Lato" panose="020F0502020204030203" pitchFamily="34" charset="77"/>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400" u="none" strike="noStrike" cap="none" normalizeH="0" baseline="0" dirty="0">
                <a:ln>
                  <a:noFill/>
                </a:ln>
                <a:solidFill>
                  <a:srgbClr val="000000"/>
                </a:solidFill>
                <a:effectLst/>
                <a:latin typeface="Lato" panose="020F0502020204030203" pitchFamily="34" charset="77"/>
              </a:rPr>
              <a:t>From the iconic Eiffel Tower and delicate rose, to the whimsical paw print and bow, these symbols express the brand’s personality—feminine, chic, and joyfully refined. The coffee cup and heart lock add a lifestyle dimension, evoking Parisian mornings and the intimacy of companionship, while the scalloped frame and flowing lines bring movement and couture-inspired detail.</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400" u="none" strike="noStrike" cap="none" normalizeH="0" baseline="0" dirty="0">
              <a:ln>
                <a:noFill/>
              </a:ln>
              <a:solidFill>
                <a:schemeClr val="tx1"/>
              </a:solidFill>
              <a:effectLst/>
              <a:latin typeface="Lato" panose="020F0502020204030203" pitchFamily="34" charset="77"/>
            </a:endParaRPr>
          </a:p>
        </p:txBody>
      </p:sp>
      <p:grpSp>
        <p:nvGrpSpPr>
          <p:cNvPr id="8" name="Group 7">
            <a:extLst>
              <a:ext uri="{FF2B5EF4-FFF2-40B4-BE49-F238E27FC236}">
                <a16:creationId xmlns:a16="http://schemas.microsoft.com/office/drawing/2014/main" id="{082DDAE7-4DC3-6A14-DE08-DCD4A30B99CD}"/>
              </a:ext>
            </a:extLst>
          </p:cNvPr>
          <p:cNvGrpSpPr/>
          <p:nvPr/>
        </p:nvGrpSpPr>
        <p:grpSpPr>
          <a:xfrm>
            <a:off x="11492677" y="6133632"/>
            <a:ext cx="435703" cy="435703"/>
            <a:chOff x="10837571" y="6280755"/>
            <a:chExt cx="435703" cy="435703"/>
          </a:xfrm>
        </p:grpSpPr>
        <p:sp>
          <p:nvSpPr>
            <p:cNvPr id="9" name="Rounded Rectangle 8">
              <a:extLst>
                <a:ext uri="{FF2B5EF4-FFF2-40B4-BE49-F238E27FC236}">
                  <a16:creationId xmlns:a16="http://schemas.microsoft.com/office/drawing/2014/main" id="{7C21EEF0-0C51-D0BA-045C-E48FBE395213}"/>
                </a:ext>
              </a:extLst>
            </p:cNvPr>
            <p:cNvSpPr/>
            <p:nvPr/>
          </p:nvSpPr>
          <p:spPr>
            <a:xfrm>
              <a:off x="10837571" y="6280755"/>
              <a:ext cx="435703" cy="435703"/>
            </a:xfrm>
            <a:prstGeom prst="roundRect">
              <a:avLst/>
            </a:prstGeom>
            <a:solidFill>
              <a:srgbClr val="FFFBF6"/>
            </a:solidFill>
            <a:ln w="19050" cap="flat">
              <a:solidFill>
                <a:srgbClr val="FFFBF6"/>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pic>
          <p:nvPicPr>
            <p:cNvPr id="10" name="Picture 9" descr="A yellow dog with bow tie and bow tie and bow tie and bow tie and bow tie and bow tie and bow tie and bow tie and bow tie and bow tie and bow tie and bow tie&#10;&#10;AI-generated content may be incorrect.">
              <a:extLst>
                <a:ext uri="{FF2B5EF4-FFF2-40B4-BE49-F238E27FC236}">
                  <a16:creationId xmlns:a16="http://schemas.microsoft.com/office/drawing/2014/main" id="{396BED09-39A5-7FC1-B933-DD7B130588BC}"/>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0857461" y="6329205"/>
              <a:ext cx="395921" cy="317146"/>
            </a:xfrm>
            <a:prstGeom prst="rect">
              <a:avLst/>
            </a:prstGeom>
          </p:spPr>
        </p:pic>
      </p:gr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8B989"/>
        </a:solidFill>
        <a:effectLst/>
      </p:bgPr>
    </p:bg>
    <p:spTree>
      <p:nvGrpSpPr>
        <p:cNvPr id="1" name="">
          <a:extLst>
            <a:ext uri="{FF2B5EF4-FFF2-40B4-BE49-F238E27FC236}">
              <a16:creationId xmlns:a16="http://schemas.microsoft.com/office/drawing/2014/main" id="{EE6A64E6-2470-A5DF-4F0A-FFB73CA87A67}"/>
            </a:ext>
          </a:extLst>
        </p:cNvPr>
        <p:cNvGrpSpPr/>
        <p:nvPr/>
      </p:nvGrpSpPr>
      <p:grpSpPr>
        <a:xfrm>
          <a:off x="0" y="0"/>
          <a:ext cx="0" cy="0"/>
          <a:chOff x="0" y="0"/>
          <a:chExt cx="0" cy="0"/>
        </a:xfrm>
      </p:grpSpPr>
      <p:sp>
        <p:nvSpPr>
          <p:cNvPr id="300" name="TextBox 4">
            <a:extLst>
              <a:ext uri="{FF2B5EF4-FFF2-40B4-BE49-F238E27FC236}">
                <a16:creationId xmlns:a16="http://schemas.microsoft.com/office/drawing/2014/main" id="{475EE54E-8BF4-1457-21EE-D6787A88C367}"/>
              </a:ext>
            </a:extLst>
          </p:cNvPr>
          <p:cNvSpPr txBox="1"/>
          <p:nvPr/>
        </p:nvSpPr>
        <p:spPr>
          <a:xfrm>
            <a:off x="572159" y="1369740"/>
            <a:ext cx="5492043" cy="6582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ts val="4000"/>
              </a:lnSpc>
              <a:defRPr sz="4800" b="1">
                <a:solidFill>
                  <a:srgbClr val="CF5785"/>
                </a:solidFill>
                <a:latin typeface="GFS Didot"/>
                <a:ea typeface="GFS Didot"/>
                <a:cs typeface="GFS Didot"/>
                <a:sym typeface="GFS Didot"/>
              </a:defRPr>
            </a:lvl1pPr>
          </a:lstStyle>
          <a:p>
            <a:r>
              <a:rPr lang="en-US" dirty="0">
                <a:solidFill>
                  <a:srgbClr val="FFFBF6"/>
                </a:solidFill>
                <a:latin typeface="Avenir Heavy" panose="02000503020000020003" pitchFamily="2" charset="0"/>
              </a:rPr>
              <a:t>Style guide</a:t>
            </a:r>
            <a:endParaRPr dirty="0">
              <a:solidFill>
                <a:srgbClr val="FFFBF6"/>
              </a:solidFill>
              <a:latin typeface="Avenir Heavy" panose="02000503020000020003" pitchFamily="2" charset="0"/>
            </a:endParaRPr>
          </a:p>
        </p:txBody>
      </p:sp>
      <p:sp>
        <p:nvSpPr>
          <p:cNvPr id="301" name="Rectangle 1">
            <a:extLst>
              <a:ext uri="{FF2B5EF4-FFF2-40B4-BE49-F238E27FC236}">
                <a16:creationId xmlns:a16="http://schemas.microsoft.com/office/drawing/2014/main" id="{7EFBF047-9DE0-C1EA-2568-0A134B602D5C}"/>
              </a:ext>
            </a:extLst>
          </p:cNvPr>
          <p:cNvSpPr txBox="1"/>
          <p:nvPr/>
        </p:nvSpPr>
        <p:spPr>
          <a:xfrm>
            <a:off x="572159" y="2948946"/>
            <a:ext cx="4275000" cy="2923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just">
              <a:defRPr sz="1000">
                <a:solidFill>
                  <a:srgbClr val="1B1B1B"/>
                </a:solidFill>
                <a:latin typeface="Lato"/>
                <a:ea typeface="Lato"/>
                <a:cs typeface="Lato"/>
                <a:sym typeface="Lato"/>
              </a:defRPr>
            </a:lvl1pPr>
          </a:lstStyle>
          <a:p>
            <a:endParaRPr sz="1300" dirty="0">
              <a:latin typeface="Lato Light" panose="020F0302020204030203" pitchFamily="34" charset="77"/>
            </a:endParaRPr>
          </a:p>
        </p:txBody>
      </p:sp>
      <p:sp>
        <p:nvSpPr>
          <p:cNvPr id="2" name="Straight Connector 12">
            <a:extLst>
              <a:ext uri="{FF2B5EF4-FFF2-40B4-BE49-F238E27FC236}">
                <a16:creationId xmlns:a16="http://schemas.microsoft.com/office/drawing/2014/main" id="{EDCBD418-B0AE-85AD-AD9E-540AEC939F33}"/>
              </a:ext>
            </a:extLst>
          </p:cNvPr>
          <p:cNvSpPr/>
          <p:nvPr/>
        </p:nvSpPr>
        <p:spPr>
          <a:xfrm>
            <a:off x="587828" y="694185"/>
            <a:ext cx="11041026" cy="30499"/>
          </a:xfrm>
          <a:prstGeom prst="line">
            <a:avLst/>
          </a:prstGeom>
          <a:ln w="19050">
            <a:solidFill>
              <a:srgbClr val="FFFBF6"/>
            </a:solidFill>
            <a:miter/>
          </a:ln>
        </p:spPr>
        <p:txBody>
          <a:bodyPr lIns="45719" rIns="45719"/>
          <a:lstStyle/>
          <a:p>
            <a:endParaRPr>
              <a:solidFill>
                <a:srgbClr val="FFFBF6"/>
              </a:solidFill>
            </a:endParaRPr>
          </a:p>
        </p:txBody>
      </p:sp>
      <p:sp>
        <p:nvSpPr>
          <p:cNvPr id="3" name="TextBox 73">
            <a:extLst>
              <a:ext uri="{FF2B5EF4-FFF2-40B4-BE49-F238E27FC236}">
                <a16:creationId xmlns:a16="http://schemas.microsoft.com/office/drawing/2014/main" id="{F3A8BE6E-8AEC-6001-38CB-3E41A7E8AE92}"/>
              </a:ext>
            </a:extLst>
          </p:cNvPr>
          <p:cNvSpPr txBox="1"/>
          <p:nvPr/>
        </p:nvSpPr>
        <p:spPr>
          <a:xfrm>
            <a:off x="586766" y="752988"/>
            <a:ext cx="1127871" cy="261610"/>
          </a:xfrm>
          <a:prstGeom prst="rect">
            <a:avLst/>
          </a:prstGeom>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800">
                <a:latin typeface="Aptos Light"/>
                <a:ea typeface="Aptos Light"/>
                <a:cs typeface="Aptos Light"/>
                <a:sym typeface="Aptos Light"/>
              </a:defRPr>
            </a:lvl1pPr>
          </a:lstStyle>
          <a:p>
            <a:r>
              <a:rPr lang="en-US" sz="1100" dirty="0">
                <a:solidFill>
                  <a:srgbClr val="FFFBF6"/>
                </a:solidFill>
                <a:latin typeface="Avenir Medium" panose="02000503020000020003" pitchFamily="2" charset="0"/>
              </a:rPr>
              <a:t>Company Name</a:t>
            </a:r>
            <a:endParaRPr sz="1100" dirty="0">
              <a:solidFill>
                <a:srgbClr val="FFFBF6"/>
              </a:solidFill>
              <a:latin typeface="Avenir Medium" panose="02000503020000020003" pitchFamily="2" charset="0"/>
            </a:endParaRPr>
          </a:p>
        </p:txBody>
      </p:sp>
      <p:sp>
        <p:nvSpPr>
          <p:cNvPr id="4" name="TextBox 74">
            <a:extLst>
              <a:ext uri="{FF2B5EF4-FFF2-40B4-BE49-F238E27FC236}">
                <a16:creationId xmlns:a16="http://schemas.microsoft.com/office/drawing/2014/main" id="{40FD1FDC-C0A4-48D8-4C19-A111FA7347CB}"/>
              </a:ext>
            </a:extLst>
          </p:cNvPr>
          <p:cNvSpPr txBox="1"/>
          <p:nvPr/>
        </p:nvSpPr>
        <p:spPr>
          <a:xfrm>
            <a:off x="9713976" y="768633"/>
            <a:ext cx="401711" cy="261610"/>
          </a:xfrm>
          <a:prstGeom prst="rect">
            <a:avLst/>
          </a:prstGeom>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800">
                <a:latin typeface="Aptos Light"/>
                <a:ea typeface="Aptos Light"/>
                <a:cs typeface="Aptos Light"/>
                <a:sym typeface="Aptos Light"/>
              </a:defRPr>
            </a:lvl1pPr>
          </a:lstStyle>
          <a:p>
            <a:r>
              <a:rPr lang="en-US" sz="1100" dirty="0">
                <a:solidFill>
                  <a:srgbClr val="FFFBF6"/>
                </a:solidFill>
                <a:latin typeface="Avenir Medium" panose="02000503020000020003" pitchFamily="2" charset="0"/>
              </a:rPr>
              <a:t>Date</a:t>
            </a:r>
            <a:endParaRPr sz="1100" dirty="0">
              <a:solidFill>
                <a:srgbClr val="FFFBF6"/>
              </a:solidFill>
              <a:latin typeface="Avenir Medium" panose="02000503020000020003" pitchFamily="2" charset="0"/>
            </a:endParaRPr>
          </a:p>
        </p:txBody>
      </p:sp>
      <p:sp>
        <p:nvSpPr>
          <p:cNvPr id="5" name="TextBox 75">
            <a:extLst>
              <a:ext uri="{FF2B5EF4-FFF2-40B4-BE49-F238E27FC236}">
                <a16:creationId xmlns:a16="http://schemas.microsoft.com/office/drawing/2014/main" id="{74A67E56-36F4-D46E-3941-AEF710FA7A04}"/>
              </a:ext>
            </a:extLst>
          </p:cNvPr>
          <p:cNvSpPr txBox="1"/>
          <p:nvPr/>
        </p:nvSpPr>
        <p:spPr>
          <a:xfrm>
            <a:off x="10705801" y="786797"/>
            <a:ext cx="981998" cy="261610"/>
          </a:xfrm>
          <a:prstGeom prst="rect">
            <a:avLst/>
          </a:prstGeom>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800">
                <a:latin typeface="Aptos Light"/>
                <a:ea typeface="Aptos Light"/>
                <a:cs typeface="Aptos Light"/>
                <a:sym typeface="Aptos Light"/>
              </a:defRPr>
            </a:lvl1pPr>
          </a:lstStyle>
          <a:p>
            <a:r>
              <a:rPr lang="en-US" sz="1100" dirty="0">
                <a:solidFill>
                  <a:srgbClr val="FFFBF6"/>
                </a:solidFill>
                <a:latin typeface="Avenir Medium" panose="02000503020000020003" pitchFamily="2" charset="0"/>
              </a:rPr>
              <a:t>Page Number</a:t>
            </a:r>
          </a:p>
        </p:txBody>
      </p:sp>
      <p:grpSp>
        <p:nvGrpSpPr>
          <p:cNvPr id="8" name="Group 7">
            <a:extLst>
              <a:ext uri="{FF2B5EF4-FFF2-40B4-BE49-F238E27FC236}">
                <a16:creationId xmlns:a16="http://schemas.microsoft.com/office/drawing/2014/main" id="{77BDBF27-9319-CE39-1B29-934590F9AD7E}"/>
              </a:ext>
            </a:extLst>
          </p:cNvPr>
          <p:cNvGrpSpPr/>
          <p:nvPr/>
        </p:nvGrpSpPr>
        <p:grpSpPr>
          <a:xfrm>
            <a:off x="7073971" y="4130398"/>
            <a:ext cx="759445" cy="759445"/>
            <a:chOff x="10837571" y="6280755"/>
            <a:chExt cx="435703" cy="435703"/>
          </a:xfrm>
        </p:grpSpPr>
        <p:sp>
          <p:nvSpPr>
            <p:cNvPr id="9" name="Rounded Rectangle 8">
              <a:extLst>
                <a:ext uri="{FF2B5EF4-FFF2-40B4-BE49-F238E27FC236}">
                  <a16:creationId xmlns:a16="http://schemas.microsoft.com/office/drawing/2014/main" id="{C3852F05-618A-5045-0F72-CB69303E1CDA}"/>
                </a:ext>
              </a:extLst>
            </p:cNvPr>
            <p:cNvSpPr/>
            <p:nvPr/>
          </p:nvSpPr>
          <p:spPr>
            <a:xfrm>
              <a:off x="10837571" y="6280755"/>
              <a:ext cx="435703" cy="435703"/>
            </a:xfrm>
            <a:prstGeom prst="roundRect">
              <a:avLst/>
            </a:prstGeom>
            <a:solidFill>
              <a:srgbClr val="FFFBF6"/>
            </a:solidFill>
            <a:ln w="19050" cap="flat">
              <a:solidFill>
                <a:srgbClr val="FFFBF6"/>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pic>
          <p:nvPicPr>
            <p:cNvPr id="10" name="Picture 9" descr="A yellow dog with bow tie and bow tie and bow tie and bow tie and bow tie and bow tie and bow tie and bow tie and bow tie and bow tie and bow tie and bow tie&#10;&#10;AI-generated content may be incorrect.">
              <a:extLst>
                <a:ext uri="{FF2B5EF4-FFF2-40B4-BE49-F238E27FC236}">
                  <a16:creationId xmlns:a16="http://schemas.microsoft.com/office/drawing/2014/main" id="{57AA417E-C283-D2F3-2264-508965D6F990}"/>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10857461" y="6329205"/>
              <a:ext cx="395921" cy="317146"/>
            </a:xfrm>
            <a:prstGeom prst="rect">
              <a:avLst/>
            </a:prstGeom>
          </p:spPr>
        </p:pic>
      </p:grpSp>
      <p:sp>
        <p:nvSpPr>
          <p:cNvPr id="7" name="Rectangle 1">
            <a:extLst>
              <a:ext uri="{FF2B5EF4-FFF2-40B4-BE49-F238E27FC236}">
                <a16:creationId xmlns:a16="http://schemas.microsoft.com/office/drawing/2014/main" id="{25E79BB9-1A41-961A-05DA-0C6DBB040D41}"/>
              </a:ext>
            </a:extLst>
          </p:cNvPr>
          <p:cNvSpPr>
            <a:spLocks noChangeArrowheads="1"/>
          </p:cNvSpPr>
          <p:nvPr/>
        </p:nvSpPr>
        <p:spPr bwMode="auto">
          <a:xfrm>
            <a:off x="555227" y="2075202"/>
            <a:ext cx="4914240"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u="none" strike="noStrike" cap="none" normalizeH="0" baseline="0" dirty="0">
                <a:ln>
                  <a:noFill/>
                </a:ln>
                <a:solidFill>
                  <a:srgbClr val="000000"/>
                </a:solidFill>
                <a:effectLst/>
                <a:latin typeface="Lato" panose="020F0502020204030203" pitchFamily="34" charset="77"/>
              </a:rPr>
              <a:t>The Style Guide defines how the brand expresses itself visually and verbally across all touchpoints. It ensures consistency, clarity, and recognizability — allowing every piece of communication to feel cohesive, intentional, and unmistakably “us.”</a:t>
            </a:r>
            <a:endParaRPr kumimoji="0" lang="en-US" altLang="en-US" sz="1300" u="none" strike="noStrike" cap="none" normalizeH="0" baseline="0" dirty="0">
              <a:ln>
                <a:noFill/>
              </a:ln>
              <a:solidFill>
                <a:schemeClr val="tx1"/>
              </a:solidFill>
              <a:effectLst/>
              <a:latin typeface="Lato" panose="020F0502020204030203" pitchFamily="34" charset="77"/>
            </a:endParaRPr>
          </a:p>
        </p:txBody>
      </p:sp>
      <p:sp>
        <p:nvSpPr>
          <p:cNvPr id="11" name="Rounded Rectangle 10">
            <a:extLst>
              <a:ext uri="{FF2B5EF4-FFF2-40B4-BE49-F238E27FC236}">
                <a16:creationId xmlns:a16="http://schemas.microsoft.com/office/drawing/2014/main" id="{EC32D5DB-6C5A-871B-977A-520A592FD5DC}"/>
              </a:ext>
            </a:extLst>
          </p:cNvPr>
          <p:cNvSpPr/>
          <p:nvPr/>
        </p:nvSpPr>
        <p:spPr>
          <a:xfrm>
            <a:off x="6127800" y="1637099"/>
            <a:ext cx="882573" cy="862053"/>
          </a:xfrm>
          <a:prstGeom prst="roundRect">
            <a:avLst/>
          </a:prstGeom>
          <a:solidFill>
            <a:srgbClr val="F69D3B"/>
          </a:solidFill>
          <a:ln w="19050" cap="flat">
            <a:solidFill>
              <a:srgbClr val="F69D3B"/>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sp>
        <p:nvSpPr>
          <p:cNvPr id="12" name="TextBox 11">
            <a:extLst>
              <a:ext uri="{FF2B5EF4-FFF2-40B4-BE49-F238E27FC236}">
                <a16:creationId xmlns:a16="http://schemas.microsoft.com/office/drawing/2014/main" id="{DC097DE4-83A7-E50F-B22C-CDA21758B839}"/>
              </a:ext>
            </a:extLst>
          </p:cNvPr>
          <p:cNvSpPr txBox="1"/>
          <p:nvPr/>
        </p:nvSpPr>
        <p:spPr>
          <a:xfrm>
            <a:off x="6207848" y="1791316"/>
            <a:ext cx="722476" cy="4001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000" b="0" i="0" u="none" strike="noStrike" cap="none" spc="0" normalizeH="0" baseline="0" dirty="0">
                <a:ln>
                  <a:noFill/>
                </a:ln>
                <a:solidFill>
                  <a:schemeClr val="tx1"/>
                </a:solidFill>
                <a:effectLst/>
                <a:uFillTx/>
                <a:latin typeface="Lato" panose="020F0502020204030203" pitchFamily="34" charset="77"/>
                <a:sym typeface="Aptos"/>
              </a:rPr>
              <a:t>Or Poudre</a:t>
            </a:r>
          </a:p>
          <a:p>
            <a:pPr algn="ctr"/>
            <a:r>
              <a:rPr lang="en-US" sz="1000" dirty="0">
                <a:solidFill>
                  <a:schemeClr val="tx1"/>
                </a:solidFill>
                <a:latin typeface="Lato" panose="020F0502020204030203" pitchFamily="34" charset="77"/>
              </a:rPr>
              <a:t>#E9A150</a:t>
            </a:r>
            <a:endParaRPr kumimoji="0" lang="en-US" sz="1000" b="0" i="0" u="none" strike="noStrike" cap="none" spc="0" normalizeH="0" baseline="0" dirty="0">
              <a:ln>
                <a:noFill/>
              </a:ln>
              <a:solidFill>
                <a:schemeClr val="tx1"/>
              </a:solidFill>
              <a:effectLst/>
              <a:uFillTx/>
              <a:latin typeface="Lato" panose="020F0502020204030203" pitchFamily="34" charset="77"/>
              <a:sym typeface="Aptos"/>
            </a:endParaRPr>
          </a:p>
        </p:txBody>
      </p:sp>
      <p:sp>
        <p:nvSpPr>
          <p:cNvPr id="23" name="Rounded Rectangle 22">
            <a:extLst>
              <a:ext uri="{FF2B5EF4-FFF2-40B4-BE49-F238E27FC236}">
                <a16:creationId xmlns:a16="http://schemas.microsoft.com/office/drawing/2014/main" id="{D2056685-BE62-A9E7-1819-93FE874A5E80}"/>
              </a:ext>
            </a:extLst>
          </p:cNvPr>
          <p:cNvSpPr/>
          <p:nvPr/>
        </p:nvSpPr>
        <p:spPr>
          <a:xfrm>
            <a:off x="7073971" y="1637288"/>
            <a:ext cx="882573" cy="862053"/>
          </a:xfrm>
          <a:prstGeom prst="roundRect">
            <a:avLst/>
          </a:prstGeom>
          <a:solidFill>
            <a:srgbClr val="CF5685"/>
          </a:solidFill>
          <a:ln w="19050" cap="flat">
            <a:solidFill>
              <a:srgbClr val="CF5685"/>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sp>
        <p:nvSpPr>
          <p:cNvPr id="14" name="TextBox 13">
            <a:extLst>
              <a:ext uri="{FF2B5EF4-FFF2-40B4-BE49-F238E27FC236}">
                <a16:creationId xmlns:a16="http://schemas.microsoft.com/office/drawing/2014/main" id="{496F109C-6A99-C651-0B0C-37A698CD7B43}"/>
              </a:ext>
            </a:extLst>
          </p:cNvPr>
          <p:cNvSpPr txBox="1"/>
          <p:nvPr/>
        </p:nvSpPr>
        <p:spPr>
          <a:xfrm>
            <a:off x="7138873" y="1791316"/>
            <a:ext cx="752768" cy="55399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000" b="0" i="0" u="none" strike="noStrike" cap="none" spc="0" normalizeH="0" baseline="0" dirty="0">
                <a:ln>
                  <a:noFill/>
                </a:ln>
                <a:solidFill>
                  <a:schemeClr val="tx1"/>
                </a:solidFill>
                <a:effectLst/>
                <a:uFillTx/>
                <a:latin typeface="Lato" panose="020F0502020204030203" pitchFamily="34" charset="77"/>
                <a:sym typeface="Aptos"/>
              </a:rPr>
              <a:t>Fuchsia</a:t>
            </a:r>
          </a:p>
          <a:p>
            <a:pPr marL="0" marR="0" indent="0" algn="ctr" defTabSz="914400" rtl="0" fontAlgn="auto" latinLnBrk="0" hangingPunct="0">
              <a:lnSpc>
                <a:spcPct val="100000"/>
              </a:lnSpc>
              <a:spcBef>
                <a:spcPts val="0"/>
              </a:spcBef>
              <a:spcAft>
                <a:spcPts val="0"/>
              </a:spcAft>
              <a:buClrTx/>
              <a:buSzTx/>
              <a:buFontTx/>
              <a:buNone/>
              <a:tabLst/>
            </a:pPr>
            <a:r>
              <a:rPr lang="en-US" sz="1000" dirty="0">
                <a:solidFill>
                  <a:schemeClr val="tx1"/>
                </a:solidFill>
                <a:latin typeface="Lato" panose="020F0502020204030203" pitchFamily="34" charset="77"/>
              </a:rPr>
              <a:t>Elegance</a:t>
            </a:r>
            <a:endParaRPr kumimoji="0" lang="en-US" sz="1000" b="0" i="0" u="none" strike="noStrike" cap="none" spc="0" normalizeH="0" baseline="0" dirty="0">
              <a:ln>
                <a:noFill/>
              </a:ln>
              <a:solidFill>
                <a:schemeClr val="tx1"/>
              </a:solidFill>
              <a:effectLst/>
              <a:uFillTx/>
              <a:latin typeface="Lato" panose="020F0502020204030203" pitchFamily="34" charset="77"/>
              <a:sym typeface="Aptos"/>
            </a:endParaRPr>
          </a:p>
          <a:p>
            <a:pPr algn="ctr"/>
            <a:r>
              <a:rPr lang="en-US" sz="1000" dirty="0">
                <a:solidFill>
                  <a:schemeClr val="tx1"/>
                </a:solidFill>
                <a:latin typeface="Lato" panose="020F0502020204030203" pitchFamily="34" charset="77"/>
              </a:rPr>
              <a:t>#CF5685</a:t>
            </a:r>
            <a:endParaRPr kumimoji="0" lang="en-US" sz="1000" b="0" i="0" u="none" strike="noStrike" cap="none" spc="0" normalizeH="0" baseline="0" dirty="0">
              <a:ln>
                <a:noFill/>
              </a:ln>
              <a:solidFill>
                <a:schemeClr val="tx1"/>
              </a:solidFill>
              <a:effectLst/>
              <a:uFillTx/>
              <a:latin typeface="Lato" panose="020F0502020204030203" pitchFamily="34" charset="77"/>
              <a:sym typeface="Aptos"/>
            </a:endParaRPr>
          </a:p>
        </p:txBody>
      </p:sp>
      <p:sp>
        <p:nvSpPr>
          <p:cNvPr id="24" name="Rounded Rectangle 23">
            <a:extLst>
              <a:ext uri="{FF2B5EF4-FFF2-40B4-BE49-F238E27FC236}">
                <a16:creationId xmlns:a16="http://schemas.microsoft.com/office/drawing/2014/main" id="{A512CF3E-19C7-26B6-3F05-35075D71CB57}"/>
              </a:ext>
            </a:extLst>
          </p:cNvPr>
          <p:cNvSpPr/>
          <p:nvPr/>
        </p:nvSpPr>
        <p:spPr>
          <a:xfrm>
            <a:off x="8022613" y="1644175"/>
            <a:ext cx="882573" cy="862053"/>
          </a:xfrm>
          <a:prstGeom prst="roundRect">
            <a:avLst/>
          </a:prstGeom>
          <a:solidFill>
            <a:srgbClr val="E88D8A"/>
          </a:solidFill>
          <a:ln w="19050" cap="flat">
            <a:solidFill>
              <a:srgbClr val="E88D8A"/>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sp>
        <p:nvSpPr>
          <p:cNvPr id="16" name="TextBox 15">
            <a:extLst>
              <a:ext uri="{FF2B5EF4-FFF2-40B4-BE49-F238E27FC236}">
                <a16:creationId xmlns:a16="http://schemas.microsoft.com/office/drawing/2014/main" id="{FFEF22EF-7556-FD32-8B8D-2D8C7E0DD025}"/>
              </a:ext>
            </a:extLst>
          </p:cNvPr>
          <p:cNvSpPr txBox="1"/>
          <p:nvPr/>
        </p:nvSpPr>
        <p:spPr>
          <a:xfrm>
            <a:off x="8048241" y="1791316"/>
            <a:ext cx="831316" cy="55399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1000" dirty="0">
                <a:solidFill>
                  <a:schemeClr val="tx1"/>
                </a:solidFill>
                <a:latin typeface="Lato" panose="020F0502020204030203" pitchFamily="34" charset="77"/>
              </a:rPr>
              <a:t>Crème de </a:t>
            </a:r>
          </a:p>
          <a:p>
            <a:pPr algn="ctr"/>
            <a:r>
              <a:rPr lang="en-US" sz="1000" dirty="0">
                <a:solidFill>
                  <a:schemeClr val="tx1"/>
                </a:solidFill>
                <a:latin typeface="Lato" panose="020F0502020204030203" pitchFamily="34" charset="77"/>
              </a:rPr>
              <a:t>Paris </a:t>
            </a:r>
          </a:p>
          <a:p>
            <a:pPr algn="ctr"/>
            <a:r>
              <a:rPr lang="en-US" sz="1000" dirty="0">
                <a:solidFill>
                  <a:schemeClr val="tx1"/>
                </a:solidFill>
                <a:latin typeface="Lato" panose="020F0502020204030203" pitchFamily="34" charset="77"/>
              </a:rPr>
              <a:t>#E88D8A</a:t>
            </a:r>
            <a:endParaRPr kumimoji="0" lang="en-US" sz="1000" b="0" i="0" u="none" strike="noStrike" cap="none" spc="0" normalizeH="0" baseline="0" dirty="0">
              <a:ln>
                <a:noFill/>
              </a:ln>
              <a:solidFill>
                <a:schemeClr val="tx1"/>
              </a:solidFill>
              <a:effectLst/>
              <a:uFillTx/>
              <a:latin typeface="Lato" panose="020F0502020204030203" pitchFamily="34" charset="77"/>
              <a:sym typeface="Aptos"/>
            </a:endParaRPr>
          </a:p>
        </p:txBody>
      </p:sp>
      <p:sp>
        <p:nvSpPr>
          <p:cNvPr id="25" name="Rounded Rectangle 24">
            <a:extLst>
              <a:ext uri="{FF2B5EF4-FFF2-40B4-BE49-F238E27FC236}">
                <a16:creationId xmlns:a16="http://schemas.microsoft.com/office/drawing/2014/main" id="{B1398288-32C2-4208-9AA3-BD699D3B177C}"/>
              </a:ext>
            </a:extLst>
          </p:cNvPr>
          <p:cNvSpPr/>
          <p:nvPr/>
        </p:nvSpPr>
        <p:spPr>
          <a:xfrm>
            <a:off x="6127800" y="2572204"/>
            <a:ext cx="882573" cy="862053"/>
          </a:xfrm>
          <a:prstGeom prst="roundRect">
            <a:avLst/>
          </a:prstGeom>
          <a:solidFill>
            <a:srgbClr val="194241"/>
          </a:solidFill>
          <a:ln w="19050" cap="flat">
            <a:solidFill>
              <a:srgbClr val="19424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sp>
        <p:nvSpPr>
          <p:cNvPr id="18" name="TextBox 17">
            <a:extLst>
              <a:ext uri="{FF2B5EF4-FFF2-40B4-BE49-F238E27FC236}">
                <a16:creationId xmlns:a16="http://schemas.microsoft.com/office/drawing/2014/main" id="{6021C42D-A212-48C2-FC9F-082D4B333C35}"/>
              </a:ext>
            </a:extLst>
          </p:cNvPr>
          <p:cNvSpPr txBox="1"/>
          <p:nvPr/>
        </p:nvSpPr>
        <p:spPr>
          <a:xfrm>
            <a:off x="6208732" y="2726232"/>
            <a:ext cx="720708" cy="55399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sz="1000" dirty="0">
                <a:solidFill>
                  <a:srgbClr val="FFFBF6"/>
                </a:solidFill>
                <a:latin typeface="Lato" panose="020F0502020204030203" pitchFamily="34" charset="77"/>
              </a:rPr>
              <a:t>Green</a:t>
            </a:r>
          </a:p>
          <a:p>
            <a:pPr marL="0" marR="0" indent="0" algn="ctr" defTabSz="914400" rtl="0" fontAlgn="auto" latinLnBrk="0" hangingPunct="0">
              <a:lnSpc>
                <a:spcPct val="100000"/>
              </a:lnSpc>
              <a:spcBef>
                <a:spcPts val="0"/>
              </a:spcBef>
              <a:spcAft>
                <a:spcPts val="0"/>
              </a:spcAft>
              <a:buClrTx/>
              <a:buSzTx/>
              <a:buFontTx/>
              <a:buNone/>
              <a:tabLst/>
            </a:pPr>
            <a:r>
              <a:rPr kumimoji="0" lang="en-US" sz="1000" b="0" i="0" u="none" strike="noStrike" cap="none" spc="0" normalizeH="0" baseline="0" dirty="0" err="1">
                <a:ln>
                  <a:noFill/>
                </a:ln>
                <a:solidFill>
                  <a:srgbClr val="FFFBF6"/>
                </a:solidFill>
                <a:effectLst/>
                <a:uFillTx/>
                <a:latin typeface="Lato" panose="020F0502020204030203" pitchFamily="34" charset="77"/>
                <a:sym typeface="Aptos"/>
              </a:rPr>
              <a:t>Velours</a:t>
            </a:r>
            <a:endParaRPr kumimoji="0" lang="en-US" sz="1000" b="0" i="0" u="none" strike="noStrike" cap="none" spc="0" normalizeH="0" baseline="0" dirty="0">
              <a:ln>
                <a:noFill/>
              </a:ln>
              <a:solidFill>
                <a:srgbClr val="FFFBF6"/>
              </a:solidFill>
              <a:effectLst/>
              <a:uFillTx/>
              <a:latin typeface="Lato" panose="020F0502020204030203" pitchFamily="34" charset="77"/>
              <a:sym typeface="Aptos"/>
            </a:endParaRPr>
          </a:p>
          <a:p>
            <a:pPr algn="ctr"/>
            <a:r>
              <a:rPr lang="en-US" sz="1000" dirty="0">
                <a:solidFill>
                  <a:srgbClr val="FFFBF6"/>
                </a:solidFill>
                <a:latin typeface="Lato" panose="020F0502020204030203" pitchFamily="34" charset="77"/>
              </a:rPr>
              <a:t>#194241</a:t>
            </a:r>
            <a:endParaRPr kumimoji="0" lang="en-US" sz="1000" b="0" i="0" u="none" strike="noStrike" cap="none" spc="0" normalizeH="0" baseline="0" dirty="0">
              <a:ln>
                <a:noFill/>
              </a:ln>
              <a:solidFill>
                <a:srgbClr val="FFFBF6"/>
              </a:solidFill>
              <a:effectLst/>
              <a:uFillTx/>
              <a:latin typeface="Lato" panose="020F0502020204030203" pitchFamily="34" charset="77"/>
              <a:sym typeface="Aptos"/>
            </a:endParaRPr>
          </a:p>
        </p:txBody>
      </p:sp>
      <p:sp>
        <p:nvSpPr>
          <p:cNvPr id="26" name="Rounded Rectangle 25">
            <a:extLst>
              <a:ext uri="{FF2B5EF4-FFF2-40B4-BE49-F238E27FC236}">
                <a16:creationId xmlns:a16="http://schemas.microsoft.com/office/drawing/2014/main" id="{472B40CB-364D-158D-FA26-F8A017EEC6D0}"/>
              </a:ext>
            </a:extLst>
          </p:cNvPr>
          <p:cNvSpPr/>
          <p:nvPr/>
        </p:nvSpPr>
        <p:spPr>
          <a:xfrm>
            <a:off x="7073971" y="2575848"/>
            <a:ext cx="882573" cy="862053"/>
          </a:xfrm>
          <a:prstGeom prst="roundRect">
            <a:avLst/>
          </a:prstGeom>
          <a:solidFill>
            <a:schemeClr val="bg1"/>
          </a:solidFill>
          <a:ln w="1905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sp>
        <p:nvSpPr>
          <p:cNvPr id="20" name="TextBox 19">
            <a:extLst>
              <a:ext uri="{FF2B5EF4-FFF2-40B4-BE49-F238E27FC236}">
                <a16:creationId xmlns:a16="http://schemas.microsoft.com/office/drawing/2014/main" id="{AB140AFE-088E-01CE-52CA-0CC4528FF598}"/>
              </a:ext>
            </a:extLst>
          </p:cNvPr>
          <p:cNvSpPr txBox="1"/>
          <p:nvPr/>
        </p:nvSpPr>
        <p:spPr>
          <a:xfrm>
            <a:off x="7159712" y="2726232"/>
            <a:ext cx="711090" cy="4001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1000" dirty="0">
                <a:solidFill>
                  <a:srgbClr val="194241"/>
                </a:solidFill>
                <a:latin typeface="Lato" panose="020F0502020204030203" pitchFamily="34" charset="77"/>
              </a:rPr>
              <a:t>Blanc</a:t>
            </a:r>
          </a:p>
          <a:p>
            <a:pPr algn="ctr"/>
            <a:r>
              <a:rPr lang="en-US" sz="1000" dirty="0">
                <a:solidFill>
                  <a:srgbClr val="194241"/>
                </a:solidFill>
                <a:latin typeface="Lato" panose="020F0502020204030203" pitchFamily="34" charset="77"/>
              </a:rPr>
              <a:t>#FFFFFF</a:t>
            </a:r>
            <a:endParaRPr kumimoji="0" lang="en-US" sz="1000" b="0" i="0" u="none" strike="noStrike" cap="none" spc="0" normalizeH="0" baseline="0" dirty="0">
              <a:ln>
                <a:noFill/>
              </a:ln>
              <a:solidFill>
                <a:srgbClr val="194241"/>
              </a:solidFill>
              <a:effectLst/>
              <a:uFillTx/>
              <a:latin typeface="Lato" panose="020F0502020204030203" pitchFamily="34" charset="77"/>
              <a:sym typeface="Aptos"/>
            </a:endParaRPr>
          </a:p>
        </p:txBody>
      </p:sp>
      <p:sp>
        <p:nvSpPr>
          <p:cNvPr id="27" name="Rounded Rectangle 26">
            <a:extLst>
              <a:ext uri="{FF2B5EF4-FFF2-40B4-BE49-F238E27FC236}">
                <a16:creationId xmlns:a16="http://schemas.microsoft.com/office/drawing/2014/main" id="{4F9ABF04-ED93-059B-7ABC-D1531DC4D8CE}"/>
              </a:ext>
            </a:extLst>
          </p:cNvPr>
          <p:cNvSpPr/>
          <p:nvPr/>
        </p:nvSpPr>
        <p:spPr>
          <a:xfrm>
            <a:off x="8022613" y="2577357"/>
            <a:ext cx="882573" cy="862053"/>
          </a:xfrm>
          <a:prstGeom prst="roundRect">
            <a:avLst/>
          </a:prstGeom>
          <a:solidFill>
            <a:schemeClr val="tx1"/>
          </a:solidFill>
          <a:ln w="19050" cap="flat">
            <a:solidFill>
              <a:schemeClr val="tx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sp>
        <p:nvSpPr>
          <p:cNvPr id="22" name="TextBox 21">
            <a:extLst>
              <a:ext uri="{FF2B5EF4-FFF2-40B4-BE49-F238E27FC236}">
                <a16:creationId xmlns:a16="http://schemas.microsoft.com/office/drawing/2014/main" id="{7D7FE993-F1B2-A74F-963C-2A74C5A51CBE}"/>
              </a:ext>
            </a:extLst>
          </p:cNvPr>
          <p:cNvSpPr txBox="1"/>
          <p:nvPr/>
        </p:nvSpPr>
        <p:spPr>
          <a:xfrm>
            <a:off x="8103545" y="2726232"/>
            <a:ext cx="720708" cy="400108"/>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1000" dirty="0">
                <a:solidFill>
                  <a:srgbClr val="FFFBF6"/>
                </a:solidFill>
                <a:latin typeface="Lato" panose="020F0502020204030203" pitchFamily="34" charset="77"/>
              </a:rPr>
              <a:t>Noir</a:t>
            </a:r>
          </a:p>
          <a:p>
            <a:pPr algn="ctr"/>
            <a:r>
              <a:rPr lang="en-US" sz="1000" dirty="0">
                <a:solidFill>
                  <a:srgbClr val="FFFBF6"/>
                </a:solidFill>
                <a:latin typeface="Lato" panose="020F0502020204030203" pitchFamily="34" charset="77"/>
              </a:rPr>
              <a:t>#000000</a:t>
            </a:r>
            <a:endParaRPr kumimoji="0" lang="en-US" sz="1000" b="0" i="0" u="none" strike="noStrike" cap="none" spc="0" normalizeH="0" baseline="0" dirty="0">
              <a:ln>
                <a:noFill/>
              </a:ln>
              <a:solidFill>
                <a:srgbClr val="FFFBF6"/>
              </a:solidFill>
              <a:effectLst/>
              <a:uFillTx/>
              <a:latin typeface="Lato" panose="020F0502020204030203" pitchFamily="34" charset="77"/>
              <a:sym typeface="Aptos"/>
            </a:endParaRPr>
          </a:p>
        </p:txBody>
      </p:sp>
      <p:sp>
        <p:nvSpPr>
          <p:cNvPr id="28" name="TextBox 27">
            <a:extLst>
              <a:ext uri="{FF2B5EF4-FFF2-40B4-BE49-F238E27FC236}">
                <a16:creationId xmlns:a16="http://schemas.microsoft.com/office/drawing/2014/main" id="{5D9AA079-7B72-4287-2BC4-03097EDB119D}"/>
              </a:ext>
            </a:extLst>
          </p:cNvPr>
          <p:cNvSpPr txBox="1"/>
          <p:nvPr/>
        </p:nvSpPr>
        <p:spPr>
          <a:xfrm>
            <a:off x="6064202" y="1314732"/>
            <a:ext cx="1430679" cy="2639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1500"/>
              </a:lnSpc>
              <a:defRPr sz="1500" b="1">
                <a:solidFill>
                  <a:srgbClr val="CF5785"/>
                </a:solidFill>
                <a:latin typeface="Lato"/>
                <a:ea typeface="Lato"/>
                <a:cs typeface="Lato"/>
                <a:sym typeface="Lato"/>
              </a:defRPr>
            </a:pPr>
            <a:r>
              <a:rPr lang="en-US" sz="1000" b="1" dirty="0">
                <a:solidFill>
                  <a:srgbClr val="FFFBF6"/>
                </a:solidFill>
                <a:latin typeface="Lato" panose="020F0502020204030203" pitchFamily="34" charset="77"/>
              </a:rPr>
              <a:t>BRAND COLORS</a:t>
            </a:r>
          </a:p>
        </p:txBody>
      </p:sp>
      <p:sp>
        <p:nvSpPr>
          <p:cNvPr id="29" name="TextBox 28">
            <a:extLst>
              <a:ext uri="{FF2B5EF4-FFF2-40B4-BE49-F238E27FC236}">
                <a16:creationId xmlns:a16="http://schemas.microsoft.com/office/drawing/2014/main" id="{82BA4D35-FC23-ED9E-F046-367BC472192F}"/>
              </a:ext>
            </a:extLst>
          </p:cNvPr>
          <p:cNvSpPr txBox="1"/>
          <p:nvPr/>
        </p:nvSpPr>
        <p:spPr>
          <a:xfrm>
            <a:off x="6064175" y="3767391"/>
            <a:ext cx="1430679" cy="2639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1500"/>
              </a:lnSpc>
              <a:defRPr sz="1500" b="1">
                <a:solidFill>
                  <a:srgbClr val="CF5785"/>
                </a:solidFill>
                <a:latin typeface="Lato"/>
                <a:ea typeface="Lato"/>
                <a:cs typeface="Lato"/>
                <a:sym typeface="Lato"/>
              </a:defRPr>
            </a:pPr>
            <a:r>
              <a:rPr lang="en-US" sz="1000" b="1" dirty="0">
                <a:solidFill>
                  <a:srgbClr val="FFFBF6"/>
                </a:solidFill>
                <a:latin typeface="Lato" panose="020F0502020204030203" pitchFamily="34" charset="77"/>
              </a:rPr>
              <a:t>USE OF ICONS</a:t>
            </a:r>
          </a:p>
        </p:txBody>
      </p:sp>
      <p:sp>
        <p:nvSpPr>
          <p:cNvPr id="30" name="Rounded Rectangle 29">
            <a:extLst>
              <a:ext uri="{FF2B5EF4-FFF2-40B4-BE49-F238E27FC236}">
                <a16:creationId xmlns:a16="http://schemas.microsoft.com/office/drawing/2014/main" id="{15B19B12-F1BF-17EF-A863-D0A7FB1682D7}"/>
              </a:ext>
            </a:extLst>
          </p:cNvPr>
          <p:cNvSpPr/>
          <p:nvPr/>
        </p:nvSpPr>
        <p:spPr>
          <a:xfrm>
            <a:off x="6096000" y="4120959"/>
            <a:ext cx="855971" cy="778325"/>
          </a:xfrm>
          <a:prstGeom prst="roundRect">
            <a:avLst/>
          </a:prstGeom>
          <a:solidFill>
            <a:srgbClr val="194241"/>
          </a:solidFill>
          <a:ln w="1905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pic>
        <p:nvPicPr>
          <p:cNvPr id="31" name="Picture 30" descr="A group of icons on a black background&#10;&#10;AI-generated content may be incorrect.">
            <a:extLst>
              <a:ext uri="{FF2B5EF4-FFF2-40B4-BE49-F238E27FC236}">
                <a16:creationId xmlns:a16="http://schemas.microsoft.com/office/drawing/2014/main" id="{F4ACB2DD-36FB-0D67-1ACF-9EF21D8FA932}"/>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6187934" y="4205576"/>
            <a:ext cx="672101" cy="674828"/>
          </a:xfrm>
          <a:prstGeom prst="rect">
            <a:avLst/>
          </a:prstGeom>
        </p:spPr>
      </p:pic>
      <p:grpSp>
        <p:nvGrpSpPr>
          <p:cNvPr id="32" name="Group 31">
            <a:extLst>
              <a:ext uri="{FF2B5EF4-FFF2-40B4-BE49-F238E27FC236}">
                <a16:creationId xmlns:a16="http://schemas.microsoft.com/office/drawing/2014/main" id="{8BC81F86-6011-724F-F1B7-CCD193D65CCE}"/>
              </a:ext>
            </a:extLst>
          </p:cNvPr>
          <p:cNvGrpSpPr/>
          <p:nvPr/>
        </p:nvGrpSpPr>
        <p:grpSpPr>
          <a:xfrm>
            <a:off x="11492677" y="6133632"/>
            <a:ext cx="435703" cy="435703"/>
            <a:chOff x="10837571" y="6280755"/>
            <a:chExt cx="435703" cy="435703"/>
          </a:xfrm>
        </p:grpSpPr>
        <p:sp>
          <p:nvSpPr>
            <p:cNvPr id="33" name="Rounded Rectangle 32">
              <a:extLst>
                <a:ext uri="{FF2B5EF4-FFF2-40B4-BE49-F238E27FC236}">
                  <a16:creationId xmlns:a16="http://schemas.microsoft.com/office/drawing/2014/main" id="{BF41ED19-B616-3323-0FA6-59F98F37579A}"/>
                </a:ext>
              </a:extLst>
            </p:cNvPr>
            <p:cNvSpPr/>
            <p:nvPr/>
          </p:nvSpPr>
          <p:spPr>
            <a:xfrm>
              <a:off x="10837571" y="6280755"/>
              <a:ext cx="435703" cy="435703"/>
            </a:xfrm>
            <a:prstGeom prst="roundRect">
              <a:avLst/>
            </a:prstGeom>
            <a:solidFill>
              <a:srgbClr val="FFFBF6"/>
            </a:solidFill>
            <a:ln w="19050" cap="flat">
              <a:solidFill>
                <a:srgbClr val="FFFBF6"/>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Aptos"/>
              </a:endParaRPr>
            </a:p>
          </p:txBody>
        </p:sp>
        <p:pic>
          <p:nvPicPr>
            <p:cNvPr id="34" name="Picture 33" descr="A yellow dog with bow tie and bow tie and bow tie and bow tie and bow tie and bow tie and bow tie and bow tie and bow tie and bow tie and bow tie and bow tie&#10;&#10;AI-generated content may be incorrect.">
              <a:extLst>
                <a:ext uri="{FF2B5EF4-FFF2-40B4-BE49-F238E27FC236}">
                  <a16:creationId xmlns:a16="http://schemas.microsoft.com/office/drawing/2014/main" id="{25378D66-C6DB-F732-E920-14C39BBD8FF9}"/>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10857461" y="6329205"/>
              <a:ext cx="395921" cy="317146"/>
            </a:xfrm>
            <a:prstGeom prst="rect">
              <a:avLst/>
            </a:prstGeom>
          </p:spPr>
        </p:pic>
      </p:grpSp>
      <p:sp>
        <p:nvSpPr>
          <p:cNvPr id="35" name="TextBox 75">
            <a:extLst>
              <a:ext uri="{FF2B5EF4-FFF2-40B4-BE49-F238E27FC236}">
                <a16:creationId xmlns:a16="http://schemas.microsoft.com/office/drawing/2014/main" id="{C4E254F2-8A97-D8EE-AC77-A908BC608D96}"/>
              </a:ext>
            </a:extLst>
          </p:cNvPr>
          <p:cNvSpPr txBox="1"/>
          <p:nvPr/>
        </p:nvSpPr>
        <p:spPr>
          <a:xfrm>
            <a:off x="10442272" y="6236252"/>
            <a:ext cx="837728" cy="261610"/>
          </a:xfrm>
          <a:prstGeom prst="rect">
            <a:avLst/>
          </a:prstGeom>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800">
                <a:latin typeface="Aptos Light"/>
                <a:ea typeface="Aptos Light"/>
                <a:cs typeface="Aptos Light"/>
                <a:sym typeface="Aptos Light"/>
              </a:defRPr>
            </a:lvl1pPr>
          </a:lstStyle>
          <a:p>
            <a:r>
              <a:rPr lang="en-US" sz="1100" dirty="0">
                <a:solidFill>
                  <a:srgbClr val="FFFBF6"/>
                </a:solidFill>
                <a:latin typeface="Avenir Medium" panose="02000503020000020003" pitchFamily="2" charset="0"/>
              </a:rPr>
              <a:t>Brand Logo</a:t>
            </a:r>
          </a:p>
        </p:txBody>
      </p:sp>
      <p:sp>
        <p:nvSpPr>
          <p:cNvPr id="36" name="Rectangle 1">
            <a:extLst>
              <a:ext uri="{FF2B5EF4-FFF2-40B4-BE49-F238E27FC236}">
                <a16:creationId xmlns:a16="http://schemas.microsoft.com/office/drawing/2014/main" id="{1F62B90F-52AE-778A-E221-BF86B1A1E80A}"/>
              </a:ext>
            </a:extLst>
          </p:cNvPr>
          <p:cNvSpPr txBox="1"/>
          <p:nvPr/>
        </p:nvSpPr>
        <p:spPr>
          <a:xfrm>
            <a:off x="1188885" y="4235739"/>
            <a:ext cx="4275000" cy="8309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algn="just">
              <a:defRPr>
                <a:solidFill>
                  <a:srgbClr val="1B1B1B"/>
                </a:solidFill>
                <a:latin typeface="Lato"/>
                <a:ea typeface="Lato"/>
                <a:cs typeface="Lato"/>
                <a:sym typeface="Lato"/>
              </a:defRPr>
            </a:pPr>
            <a:r>
              <a:rPr lang="en-US" sz="4800" b="1" dirty="0">
                <a:solidFill>
                  <a:srgbClr val="194241"/>
                </a:solidFill>
                <a:latin typeface="Avenir Heavy" panose="02000503020000020003" pitchFamily="2" charset="0"/>
                <a:cs typeface="Didot" panose="02000503000000020003" pitchFamily="2" charset="-79"/>
              </a:rPr>
              <a:t>Avenir 48 pt</a:t>
            </a:r>
            <a:endParaRPr sz="4800" b="1" dirty="0">
              <a:solidFill>
                <a:srgbClr val="194241"/>
              </a:solidFill>
              <a:latin typeface="Avenir Heavy" panose="02000503020000020003" pitchFamily="2" charset="0"/>
              <a:cs typeface="Didot" panose="02000503000000020003" pitchFamily="2" charset="-79"/>
            </a:endParaRPr>
          </a:p>
        </p:txBody>
      </p:sp>
      <p:sp>
        <p:nvSpPr>
          <p:cNvPr id="37" name="TextBox 36">
            <a:extLst>
              <a:ext uri="{FF2B5EF4-FFF2-40B4-BE49-F238E27FC236}">
                <a16:creationId xmlns:a16="http://schemas.microsoft.com/office/drawing/2014/main" id="{438B8421-E467-D83C-2D8D-485AE0030D1B}"/>
              </a:ext>
            </a:extLst>
          </p:cNvPr>
          <p:cNvSpPr txBox="1"/>
          <p:nvPr/>
        </p:nvSpPr>
        <p:spPr>
          <a:xfrm>
            <a:off x="690151" y="4551149"/>
            <a:ext cx="481952" cy="4562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1500"/>
              </a:lnSpc>
              <a:defRPr sz="1500" b="1">
                <a:solidFill>
                  <a:srgbClr val="CF5785"/>
                </a:solidFill>
                <a:latin typeface="Lato"/>
                <a:ea typeface="Lato"/>
                <a:cs typeface="Lato"/>
                <a:sym typeface="Lato"/>
              </a:defRPr>
            </a:pPr>
            <a:r>
              <a:rPr lang="en-US" sz="1000" b="1" dirty="0">
                <a:solidFill>
                  <a:srgbClr val="FFFBF6"/>
                </a:solidFill>
                <a:latin typeface="Lato" panose="020F0502020204030203" pitchFamily="34" charset="77"/>
              </a:rPr>
              <a:t>H1</a:t>
            </a:r>
          </a:p>
          <a:p>
            <a:pPr>
              <a:lnSpc>
                <a:spcPts val="1500"/>
              </a:lnSpc>
              <a:defRPr sz="1500" b="1">
                <a:solidFill>
                  <a:srgbClr val="CF5785"/>
                </a:solidFill>
                <a:latin typeface="Lato"/>
                <a:ea typeface="Lato"/>
                <a:cs typeface="Lato"/>
                <a:sym typeface="Lato"/>
              </a:defRPr>
            </a:pPr>
            <a:endParaRPr lang="en-US" sz="1000" b="1" dirty="0">
              <a:solidFill>
                <a:srgbClr val="FFFBF6"/>
              </a:solidFill>
              <a:latin typeface="Lato" panose="020F0502020204030203" pitchFamily="34" charset="77"/>
            </a:endParaRPr>
          </a:p>
        </p:txBody>
      </p:sp>
      <p:sp>
        <p:nvSpPr>
          <p:cNvPr id="38" name="Rectangle 1">
            <a:extLst>
              <a:ext uri="{FF2B5EF4-FFF2-40B4-BE49-F238E27FC236}">
                <a16:creationId xmlns:a16="http://schemas.microsoft.com/office/drawing/2014/main" id="{A1819D3E-0428-6502-DDB0-FDDE46596F29}"/>
              </a:ext>
            </a:extLst>
          </p:cNvPr>
          <p:cNvSpPr txBox="1"/>
          <p:nvPr/>
        </p:nvSpPr>
        <p:spPr>
          <a:xfrm>
            <a:off x="1188885" y="5125449"/>
            <a:ext cx="4275000" cy="7078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algn="just">
              <a:defRPr>
                <a:solidFill>
                  <a:srgbClr val="1B1B1B"/>
                </a:solidFill>
                <a:latin typeface="Lato"/>
                <a:ea typeface="Lato"/>
                <a:cs typeface="Lato"/>
                <a:sym typeface="Lato"/>
              </a:defRPr>
            </a:pPr>
            <a:r>
              <a:rPr lang="en-US" sz="4000" b="1" dirty="0">
                <a:solidFill>
                  <a:srgbClr val="194241"/>
                </a:solidFill>
                <a:latin typeface="Avenir Heavy" panose="02000503020000020003" pitchFamily="2" charset="0"/>
                <a:cs typeface="Didot" panose="02000503000000020003" pitchFamily="2" charset="-79"/>
              </a:rPr>
              <a:t>Avenir 40 pt</a:t>
            </a:r>
            <a:endParaRPr sz="4000" b="1" dirty="0">
              <a:solidFill>
                <a:srgbClr val="194241"/>
              </a:solidFill>
              <a:latin typeface="Avenir Heavy" panose="02000503020000020003" pitchFamily="2" charset="0"/>
              <a:cs typeface="Didot" panose="02000503000000020003" pitchFamily="2" charset="-79"/>
            </a:endParaRPr>
          </a:p>
        </p:txBody>
      </p:sp>
      <p:sp>
        <p:nvSpPr>
          <p:cNvPr id="39" name="TextBox 38">
            <a:extLst>
              <a:ext uri="{FF2B5EF4-FFF2-40B4-BE49-F238E27FC236}">
                <a16:creationId xmlns:a16="http://schemas.microsoft.com/office/drawing/2014/main" id="{86F37AB7-A631-AFBF-49D4-BE230ECA5FDD}"/>
              </a:ext>
            </a:extLst>
          </p:cNvPr>
          <p:cNvSpPr txBox="1"/>
          <p:nvPr/>
        </p:nvSpPr>
        <p:spPr>
          <a:xfrm>
            <a:off x="690151" y="5377121"/>
            <a:ext cx="481952" cy="4562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1500"/>
              </a:lnSpc>
              <a:defRPr sz="1500" b="1">
                <a:solidFill>
                  <a:srgbClr val="CF5785"/>
                </a:solidFill>
                <a:latin typeface="Lato"/>
                <a:ea typeface="Lato"/>
                <a:cs typeface="Lato"/>
                <a:sym typeface="Lato"/>
              </a:defRPr>
            </a:pPr>
            <a:r>
              <a:rPr lang="en-US" sz="1000" b="1" dirty="0">
                <a:solidFill>
                  <a:srgbClr val="FFFBF6"/>
                </a:solidFill>
                <a:latin typeface="Lato" panose="020F0502020204030203" pitchFamily="34" charset="77"/>
              </a:rPr>
              <a:t>H2</a:t>
            </a:r>
          </a:p>
          <a:p>
            <a:pPr>
              <a:lnSpc>
                <a:spcPts val="1500"/>
              </a:lnSpc>
              <a:defRPr sz="1500" b="1">
                <a:solidFill>
                  <a:srgbClr val="CF5785"/>
                </a:solidFill>
                <a:latin typeface="Lato"/>
                <a:ea typeface="Lato"/>
                <a:cs typeface="Lato"/>
                <a:sym typeface="Lato"/>
              </a:defRPr>
            </a:pPr>
            <a:endParaRPr lang="en-US" sz="1000" b="1" dirty="0">
              <a:solidFill>
                <a:srgbClr val="FFFBF6"/>
              </a:solidFill>
              <a:latin typeface="Lato" panose="020F0502020204030203" pitchFamily="34" charset="77"/>
            </a:endParaRPr>
          </a:p>
        </p:txBody>
      </p:sp>
      <p:sp>
        <p:nvSpPr>
          <p:cNvPr id="40" name="Rectangle 1">
            <a:extLst>
              <a:ext uri="{FF2B5EF4-FFF2-40B4-BE49-F238E27FC236}">
                <a16:creationId xmlns:a16="http://schemas.microsoft.com/office/drawing/2014/main" id="{7825B1D4-0D3C-5A4B-E3EF-7031DB760893}"/>
              </a:ext>
            </a:extLst>
          </p:cNvPr>
          <p:cNvSpPr txBox="1"/>
          <p:nvPr/>
        </p:nvSpPr>
        <p:spPr>
          <a:xfrm>
            <a:off x="1188885" y="5892047"/>
            <a:ext cx="4275000" cy="461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algn="just">
              <a:defRPr>
                <a:solidFill>
                  <a:srgbClr val="1B1B1B"/>
                </a:solidFill>
                <a:latin typeface="Lato"/>
                <a:ea typeface="Lato"/>
                <a:cs typeface="Lato"/>
                <a:sym typeface="Lato"/>
              </a:defRPr>
            </a:pPr>
            <a:r>
              <a:rPr lang="en-US" sz="2400" b="1" dirty="0">
                <a:solidFill>
                  <a:srgbClr val="194241"/>
                </a:solidFill>
                <a:latin typeface="Avenir Heavy" panose="02000503020000020003" pitchFamily="2" charset="0"/>
                <a:cs typeface="Didot" panose="02000503000000020003" pitchFamily="2" charset="-79"/>
              </a:rPr>
              <a:t>Avenir 24 pt</a:t>
            </a:r>
            <a:endParaRPr sz="2400" b="1" dirty="0">
              <a:solidFill>
                <a:srgbClr val="194241"/>
              </a:solidFill>
              <a:latin typeface="Avenir Heavy" panose="02000503020000020003" pitchFamily="2" charset="0"/>
              <a:cs typeface="Didot" panose="02000503000000020003" pitchFamily="2" charset="-79"/>
            </a:endParaRPr>
          </a:p>
        </p:txBody>
      </p:sp>
      <p:sp>
        <p:nvSpPr>
          <p:cNvPr id="41" name="TextBox 40">
            <a:extLst>
              <a:ext uri="{FF2B5EF4-FFF2-40B4-BE49-F238E27FC236}">
                <a16:creationId xmlns:a16="http://schemas.microsoft.com/office/drawing/2014/main" id="{12BCDA9D-26CD-42E1-AE73-B509F03645DA}"/>
              </a:ext>
            </a:extLst>
          </p:cNvPr>
          <p:cNvSpPr txBox="1"/>
          <p:nvPr/>
        </p:nvSpPr>
        <p:spPr>
          <a:xfrm>
            <a:off x="690151" y="6022792"/>
            <a:ext cx="481952" cy="4562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1500"/>
              </a:lnSpc>
              <a:defRPr sz="1500" b="1">
                <a:solidFill>
                  <a:srgbClr val="CF5785"/>
                </a:solidFill>
                <a:latin typeface="Lato"/>
                <a:ea typeface="Lato"/>
                <a:cs typeface="Lato"/>
                <a:sym typeface="Lato"/>
              </a:defRPr>
            </a:pPr>
            <a:r>
              <a:rPr lang="en-US" sz="1000" b="1" dirty="0">
                <a:solidFill>
                  <a:srgbClr val="FFFBF6"/>
                </a:solidFill>
                <a:latin typeface="Lato" panose="020F0502020204030203" pitchFamily="34" charset="77"/>
              </a:rPr>
              <a:t>H3</a:t>
            </a:r>
          </a:p>
          <a:p>
            <a:pPr>
              <a:lnSpc>
                <a:spcPts val="1500"/>
              </a:lnSpc>
              <a:defRPr sz="1500" b="1">
                <a:solidFill>
                  <a:srgbClr val="CF5785"/>
                </a:solidFill>
                <a:latin typeface="Lato"/>
                <a:ea typeface="Lato"/>
                <a:cs typeface="Lato"/>
                <a:sym typeface="Lato"/>
              </a:defRPr>
            </a:pPr>
            <a:endParaRPr lang="en-US" sz="1000" b="1" dirty="0">
              <a:solidFill>
                <a:srgbClr val="FFFBF6"/>
              </a:solidFill>
              <a:latin typeface="Lato" panose="020F0502020204030203" pitchFamily="34" charset="77"/>
            </a:endParaRPr>
          </a:p>
        </p:txBody>
      </p:sp>
      <p:sp>
        <p:nvSpPr>
          <p:cNvPr id="42" name="TextBox 41">
            <a:extLst>
              <a:ext uri="{FF2B5EF4-FFF2-40B4-BE49-F238E27FC236}">
                <a16:creationId xmlns:a16="http://schemas.microsoft.com/office/drawing/2014/main" id="{A641D0F7-235B-E490-C733-225A221A7626}"/>
              </a:ext>
            </a:extLst>
          </p:cNvPr>
          <p:cNvSpPr txBox="1"/>
          <p:nvPr/>
        </p:nvSpPr>
        <p:spPr>
          <a:xfrm>
            <a:off x="555227" y="3250460"/>
            <a:ext cx="1430679" cy="2639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1500"/>
              </a:lnSpc>
              <a:defRPr sz="1500" b="1">
                <a:solidFill>
                  <a:srgbClr val="CF5785"/>
                </a:solidFill>
                <a:latin typeface="Lato"/>
                <a:ea typeface="Lato"/>
                <a:cs typeface="Lato"/>
                <a:sym typeface="Lato"/>
              </a:defRPr>
            </a:pPr>
            <a:r>
              <a:rPr lang="en-US" sz="1000" b="1" dirty="0">
                <a:solidFill>
                  <a:srgbClr val="FFFBF6"/>
                </a:solidFill>
                <a:latin typeface="Lato" panose="020F0502020204030203" pitchFamily="34" charset="77"/>
              </a:rPr>
              <a:t>FONT USE</a:t>
            </a:r>
          </a:p>
        </p:txBody>
      </p:sp>
      <p:sp>
        <p:nvSpPr>
          <p:cNvPr id="43" name="Rectangle 2">
            <a:extLst>
              <a:ext uri="{FF2B5EF4-FFF2-40B4-BE49-F238E27FC236}">
                <a16:creationId xmlns:a16="http://schemas.microsoft.com/office/drawing/2014/main" id="{7C0F0088-E241-92A7-FE20-EE57508CAC7A}"/>
              </a:ext>
            </a:extLst>
          </p:cNvPr>
          <p:cNvSpPr>
            <a:spLocks noChangeArrowheads="1"/>
          </p:cNvSpPr>
          <p:nvPr/>
        </p:nvSpPr>
        <p:spPr bwMode="auto">
          <a:xfrm>
            <a:off x="572159" y="3437901"/>
            <a:ext cx="4914241" cy="69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a:ln>
                  <a:noFill/>
                </a:ln>
                <a:solidFill>
                  <a:srgbClr val="000000"/>
                </a:solidFill>
                <a:effectLst/>
                <a:latin typeface="Lato" panose="020F0502020204030203" pitchFamily="34" charset="77"/>
              </a:rPr>
              <a:t>For font treatment and typographic hierarchy, refer to the Typography section</a:t>
            </a:r>
            <a:r>
              <a:rPr kumimoji="0" lang="en-US" altLang="en-US" sz="1300" b="0" i="0" u="none" strike="noStrike" cap="none" normalizeH="0" baseline="0" dirty="0">
                <a:ln>
                  <a:noFill/>
                </a:ln>
                <a:solidFill>
                  <a:srgbClr val="000000"/>
                </a:solidFill>
                <a:effectLst/>
                <a:latin typeface="Lato" panose="020F0502020204030203" pitchFamily="34" charset="77"/>
              </a:rPr>
              <a:t> for detailed specifications on sizes, weights, and usage examples.</a:t>
            </a:r>
            <a:endParaRPr kumimoji="0" lang="en-US" altLang="en-US" sz="1300" b="0" i="0" u="none" strike="noStrike" cap="none" normalizeH="0" baseline="0" dirty="0">
              <a:ln>
                <a:noFill/>
              </a:ln>
              <a:solidFill>
                <a:schemeClr val="tx1"/>
              </a:solidFill>
              <a:effectLst/>
              <a:latin typeface="Lato" panose="020F0502020204030203" pitchFamily="34" charset="77"/>
            </a:endParaRPr>
          </a:p>
        </p:txBody>
      </p:sp>
      <p:pic>
        <p:nvPicPr>
          <p:cNvPr id="45" name="Picture 44" descr="A white paw print with brown outline&#10;&#10;AI-generated content may be incorrect.">
            <a:extLst>
              <a:ext uri="{FF2B5EF4-FFF2-40B4-BE49-F238E27FC236}">
                <a16:creationId xmlns:a16="http://schemas.microsoft.com/office/drawing/2014/main" id="{47CDF398-6722-CDDA-7E01-DB902D5A2803}"/>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rot="18944103">
            <a:off x="7978857" y="4230690"/>
            <a:ext cx="961377" cy="640919"/>
          </a:xfrm>
          <a:prstGeom prst="rect">
            <a:avLst/>
          </a:prstGeom>
        </p:spPr>
      </p:pic>
      <p:pic>
        <p:nvPicPr>
          <p:cNvPr id="46" name="Picture 45" descr="A yellow dog with bow tie and bow tie and bow tie and bow tie and bow tie and bow tie and bow tie and bow tie and bow tie and bow tie and bow tie and bow tie&#10;&#10;AI-generated content may be incorrect.">
            <a:extLst>
              <a:ext uri="{FF2B5EF4-FFF2-40B4-BE49-F238E27FC236}">
                <a16:creationId xmlns:a16="http://schemas.microsoft.com/office/drawing/2014/main" id="{88C22FD5-02CD-D90F-6FAF-57AE9CB10F52}"/>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8885039" y="4184848"/>
            <a:ext cx="765007" cy="612796"/>
          </a:xfrm>
          <a:prstGeom prst="rect">
            <a:avLst/>
          </a:prstGeom>
        </p:spPr>
      </p:pic>
      <p:sp>
        <p:nvSpPr>
          <p:cNvPr id="47" name="TextBox 46">
            <a:extLst>
              <a:ext uri="{FF2B5EF4-FFF2-40B4-BE49-F238E27FC236}">
                <a16:creationId xmlns:a16="http://schemas.microsoft.com/office/drawing/2014/main" id="{5DE51FE4-D398-2DE0-F3FD-3E5CF8D4E6F0}"/>
              </a:ext>
            </a:extLst>
          </p:cNvPr>
          <p:cNvSpPr txBox="1"/>
          <p:nvPr/>
        </p:nvSpPr>
        <p:spPr>
          <a:xfrm>
            <a:off x="8017652" y="3800068"/>
            <a:ext cx="1430679" cy="2639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ts val="1500"/>
              </a:lnSpc>
              <a:defRPr sz="1500" b="1">
                <a:solidFill>
                  <a:srgbClr val="CF5785"/>
                </a:solidFill>
                <a:latin typeface="Lato"/>
                <a:ea typeface="Lato"/>
                <a:cs typeface="Lato"/>
                <a:sym typeface="Lato"/>
              </a:defRPr>
            </a:pPr>
            <a:r>
              <a:rPr lang="en-US" sz="1000" b="1" dirty="0">
                <a:solidFill>
                  <a:srgbClr val="FFFBF6"/>
                </a:solidFill>
                <a:latin typeface="Lato" panose="020F0502020204030203" pitchFamily="34" charset="77"/>
              </a:rPr>
              <a:t>BRANDMARKS</a:t>
            </a:r>
          </a:p>
        </p:txBody>
      </p:sp>
    </p:spTree>
    <p:extLst>
      <p:ext uri="{BB962C8B-B14F-4D97-AF65-F5344CB8AC3E}">
        <p14:creationId xmlns:p14="http://schemas.microsoft.com/office/powerpoint/2010/main" val="365352821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
        <p:cNvGrpSpPr/>
        <p:nvPr/>
      </p:nvGrpSpPr>
      <p:grpSpPr>
        <a:xfrm>
          <a:off x="0" y="0"/>
          <a:ext cx="0" cy="0"/>
          <a:chOff x="0" y="0"/>
          <a:chExt cx="0" cy="0"/>
        </a:xfrm>
      </p:grpSpPr>
      <p:pic>
        <p:nvPicPr>
          <p:cNvPr id="312" name="pasted-movie.png" descr="pasted-movie.png"/>
          <p:cNvPicPr>
            <a:picLocks noChangeAspect="1"/>
          </p:cNvPicPr>
          <p:nvPr/>
        </p:nvPicPr>
        <p:blipFill>
          <a:blip r:embed="rId2" cstate="hqprint">
            <a:alphaModFix amt="61812"/>
            <a:extLst>
              <a:ext uri="{28A0092B-C50C-407E-A947-70E740481C1C}">
                <a14:useLocalDpi xmlns:a14="http://schemas.microsoft.com/office/drawing/2010/main"/>
              </a:ext>
            </a:extLst>
          </a:blip>
          <a:srcRect/>
          <a:stretch>
            <a:fillRect/>
          </a:stretch>
        </p:blipFill>
        <p:spPr>
          <a:xfrm>
            <a:off x="0" y="1"/>
            <a:ext cx="12192000" cy="6858000"/>
          </a:xfrm>
          <a:prstGeom prst="rect">
            <a:avLst/>
          </a:prstGeom>
          <a:ln w="12700">
            <a:miter lim="400000"/>
          </a:ln>
        </p:spPr>
      </p:pic>
      <p:sp>
        <p:nvSpPr>
          <p:cNvPr id="313" name="Rounded Rectangle 8"/>
          <p:cNvSpPr/>
          <p:nvPr/>
        </p:nvSpPr>
        <p:spPr>
          <a:xfrm>
            <a:off x="393040" y="4713959"/>
            <a:ext cx="8495779" cy="1445541"/>
          </a:xfrm>
          <a:prstGeom prst="roundRect">
            <a:avLst>
              <a:gd name="adj" fmla="val 16667"/>
            </a:avLst>
          </a:prstGeom>
          <a:solidFill>
            <a:srgbClr val="D8B989"/>
          </a:solidFill>
          <a:ln w="12700">
            <a:miter lim="400000"/>
          </a:ln>
        </p:spPr>
        <p:txBody>
          <a:bodyPr lIns="45719" rIns="45719" anchor="ctr"/>
          <a:lstStyle/>
          <a:p>
            <a:pPr algn="ctr">
              <a:defRPr sz="1500"/>
            </a:pPr>
            <a:endParaRPr/>
          </a:p>
        </p:txBody>
      </p:sp>
      <p:sp>
        <p:nvSpPr>
          <p:cNvPr id="316" name="Text"/>
          <p:cNvSpPr txBox="1"/>
          <p:nvPr/>
        </p:nvSpPr>
        <p:spPr>
          <a:xfrm>
            <a:off x="-1778000" y="-2370667"/>
            <a:ext cx="127000" cy="5232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defTabSz="457200">
              <a:defRPr sz="1400">
                <a:solidFill>
                  <a:srgbClr val="FFFFFF"/>
                </a:solidFill>
                <a:latin typeface="+mj-lt"/>
                <a:ea typeface="+mj-ea"/>
                <a:cs typeface="+mj-cs"/>
                <a:sym typeface="Helvetica"/>
              </a:defRPr>
            </a:pPr>
            <a:endParaRPr/>
          </a:p>
        </p:txBody>
      </p:sp>
      <p:pic>
        <p:nvPicPr>
          <p:cNvPr id="2" name="Picture 1" descr="A white paw print with brown outline&#10;&#10;AI-generated content may be incorrect.">
            <a:extLst>
              <a:ext uri="{FF2B5EF4-FFF2-40B4-BE49-F238E27FC236}">
                <a16:creationId xmlns:a16="http://schemas.microsoft.com/office/drawing/2014/main" id="{BEE58A21-C09F-F6CD-A663-5E17CA9E0D18}"/>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rot="18944103">
            <a:off x="-417159" y="239936"/>
            <a:ext cx="3097272" cy="2064850"/>
          </a:xfrm>
          <a:prstGeom prst="rect">
            <a:avLst/>
          </a:prstGeom>
        </p:spPr>
      </p:pic>
      <p:sp>
        <p:nvSpPr>
          <p:cNvPr id="3" name="Title 6">
            <a:extLst>
              <a:ext uri="{FF2B5EF4-FFF2-40B4-BE49-F238E27FC236}">
                <a16:creationId xmlns:a16="http://schemas.microsoft.com/office/drawing/2014/main" id="{234B178F-9649-4BA6-AE3C-27EB473EFEDC}"/>
              </a:ext>
            </a:extLst>
          </p:cNvPr>
          <p:cNvSpPr txBox="1">
            <a:spLocks/>
          </p:cNvSpPr>
          <p:nvPr/>
        </p:nvSpPr>
        <p:spPr>
          <a:xfrm>
            <a:off x="430362" y="3309375"/>
            <a:ext cx="10660019" cy="102806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8800" b="1" dirty="0">
                <a:ln>
                  <a:solidFill>
                    <a:srgbClr val="B08342"/>
                  </a:solidFill>
                </a:ln>
                <a:solidFill>
                  <a:srgbClr val="FFFFFF"/>
                </a:solidFill>
                <a:latin typeface="Avenir Heavy" panose="02000503020000020003" pitchFamily="2" charset="0"/>
                <a:ea typeface="Calibri"/>
                <a:cs typeface="Arial"/>
              </a:rPr>
              <a:t>REFERENCE</a:t>
            </a:r>
            <a:endParaRPr lang="en-US" sz="8800" b="1" dirty="0">
              <a:ln>
                <a:solidFill>
                  <a:srgbClr val="B08342"/>
                </a:solidFill>
              </a:ln>
              <a:latin typeface="Avenir Heavy" panose="02000503020000020003" pitchFamily="2" charset="0"/>
            </a:endParaRPr>
          </a:p>
        </p:txBody>
      </p:sp>
      <p:sp>
        <p:nvSpPr>
          <p:cNvPr id="4" name="Title 6">
            <a:extLst>
              <a:ext uri="{FF2B5EF4-FFF2-40B4-BE49-F238E27FC236}">
                <a16:creationId xmlns:a16="http://schemas.microsoft.com/office/drawing/2014/main" id="{AE201823-B399-0700-97FF-8EF24F2058F2}"/>
              </a:ext>
            </a:extLst>
          </p:cNvPr>
          <p:cNvSpPr txBox="1">
            <a:spLocks/>
          </p:cNvSpPr>
          <p:nvPr/>
        </p:nvSpPr>
        <p:spPr>
          <a:xfrm>
            <a:off x="513263" y="4137924"/>
            <a:ext cx="4436304" cy="49082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a:solidFill>
                  <a:srgbClr val="FFFBF6"/>
                </a:solidFill>
                <a:latin typeface="Avenir Black" panose="02000503020000020003" pitchFamily="2" charset="0"/>
                <a:cs typeface="Arial"/>
              </a:rPr>
              <a:t>For Design Questions</a:t>
            </a:r>
            <a:endParaRPr lang="en-US" sz="2400" b="1" dirty="0">
              <a:solidFill>
                <a:srgbClr val="FFFBF6"/>
              </a:solidFill>
              <a:latin typeface="Avenir Black" panose="02000503020000020003" pitchFamily="2" charset="0"/>
            </a:endParaRPr>
          </a:p>
        </p:txBody>
      </p:sp>
      <p:sp>
        <p:nvSpPr>
          <p:cNvPr id="5" name="Title 6">
            <a:extLst>
              <a:ext uri="{FF2B5EF4-FFF2-40B4-BE49-F238E27FC236}">
                <a16:creationId xmlns:a16="http://schemas.microsoft.com/office/drawing/2014/main" id="{BD8A5858-C6E4-B982-443A-A528BDB8759D}"/>
              </a:ext>
            </a:extLst>
          </p:cNvPr>
          <p:cNvSpPr txBox="1">
            <a:spLocks/>
          </p:cNvSpPr>
          <p:nvPr/>
        </p:nvSpPr>
        <p:spPr>
          <a:xfrm>
            <a:off x="6025172" y="4150090"/>
            <a:ext cx="4436304" cy="49082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a:solidFill>
                  <a:srgbClr val="FFFBF6"/>
                </a:solidFill>
                <a:latin typeface="Avenir Black" panose="02000503020000020003" pitchFamily="2" charset="0"/>
                <a:cs typeface="Arial"/>
              </a:rPr>
              <a:t>Credits</a:t>
            </a:r>
          </a:p>
        </p:txBody>
      </p:sp>
      <p:sp>
        <p:nvSpPr>
          <p:cNvPr id="6" name="TextBox 5">
            <a:extLst>
              <a:ext uri="{FF2B5EF4-FFF2-40B4-BE49-F238E27FC236}">
                <a16:creationId xmlns:a16="http://schemas.microsoft.com/office/drawing/2014/main" id="{52D52060-047B-821E-7370-4749F4B412B4}"/>
              </a:ext>
            </a:extLst>
          </p:cNvPr>
          <p:cNvSpPr txBox="1"/>
          <p:nvPr/>
        </p:nvSpPr>
        <p:spPr>
          <a:xfrm>
            <a:off x="664180" y="5005271"/>
            <a:ext cx="2618847" cy="5565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500"/>
              </a:spcAft>
            </a:pPr>
            <a:r>
              <a:rPr lang="en-US" sz="1300" b="1" dirty="0">
                <a:solidFill>
                  <a:srgbClr val="194241"/>
                </a:solidFill>
                <a:latin typeface="Lato" panose="020F0502020204030203" pitchFamily="34" charset="77"/>
                <a:cs typeface="Arial"/>
              </a:rPr>
              <a:t>Contact Amelia Thermopolis </a:t>
            </a:r>
          </a:p>
          <a:p>
            <a:pPr>
              <a:spcAft>
                <a:spcPts val="500"/>
              </a:spcAft>
            </a:pPr>
            <a:r>
              <a:rPr lang="en-US" sz="1300" dirty="0">
                <a:solidFill>
                  <a:srgbClr val="194241"/>
                </a:solidFill>
                <a:latin typeface="Lato" panose="020F0502020204030203" pitchFamily="34" charset="77"/>
                <a:cs typeface="Arial"/>
              </a:rPr>
              <a:t>at </a:t>
            </a:r>
            <a:r>
              <a:rPr lang="en-US" sz="1300" dirty="0" err="1">
                <a:solidFill>
                  <a:srgbClr val="194241"/>
                </a:solidFill>
                <a:latin typeface="Lato" panose="020F0502020204030203" pitchFamily="34" charset="77"/>
                <a:cs typeface="Arial"/>
              </a:rPr>
              <a:t>amelia@petdesign.org</a:t>
            </a:r>
            <a:endParaRPr lang="en-US" sz="1300" i="1" dirty="0">
              <a:solidFill>
                <a:srgbClr val="194241"/>
              </a:solidFill>
              <a:latin typeface="Lato" panose="020F0502020204030203" pitchFamily="34" charset="77"/>
              <a:cs typeface="Arial"/>
            </a:endParaRPr>
          </a:p>
        </p:txBody>
      </p:sp>
      <p:sp>
        <p:nvSpPr>
          <p:cNvPr id="7" name="TextBox 6">
            <a:extLst>
              <a:ext uri="{FF2B5EF4-FFF2-40B4-BE49-F238E27FC236}">
                <a16:creationId xmlns:a16="http://schemas.microsoft.com/office/drawing/2014/main" id="{8E718D0F-74B3-62B5-5044-25DD8CEAC5AD}"/>
              </a:ext>
            </a:extLst>
          </p:cNvPr>
          <p:cNvSpPr txBox="1"/>
          <p:nvPr/>
        </p:nvSpPr>
        <p:spPr>
          <a:xfrm>
            <a:off x="6096000" y="5005271"/>
            <a:ext cx="2450613" cy="8207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500"/>
              </a:spcAft>
            </a:pPr>
            <a:r>
              <a:rPr lang="en-US" sz="1300" dirty="0">
                <a:solidFill>
                  <a:srgbClr val="194241"/>
                </a:solidFill>
                <a:latin typeface="Lato" panose="020F0502020204030203" pitchFamily="34" charset="77"/>
                <a:cs typeface="Arial"/>
              </a:rPr>
              <a:t>Branding by The Pet Design CO</a:t>
            </a:r>
          </a:p>
          <a:p>
            <a:pPr>
              <a:spcAft>
                <a:spcPts val="500"/>
              </a:spcAft>
            </a:pPr>
            <a:r>
              <a:rPr lang="en-US" sz="1300" dirty="0">
                <a:solidFill>
                  <a:srgbClr val="194241"/>
                </a:solidFill>
                <a:latin typeface="Lato" panose="020F0502020204030203" pitchFamily="34" charset="77"/>
                <a:cs typeface="Arial"/>
              </a:rPr>
              <a:t>New York</a:t>
            </a:r>
          </a:p>
          <a:p>
            <a:pPr>
              <a:spcAft>
                <a:spcPts val="500"/>
              </a:spcAft>
            </a:pPr>
            <a:r>
              <a:rPr lang="en-US" sz="1300" dirty="0" err="1">
                <a:solidFill>
                  <a:srgbClr val="194241"/>
                </a:solidFill>
                <a:latin typeface="Lato" panose="020F0502020204030203" pitchFamily="34" charset="77"/>
                <a:cs typeface="Arial"/>
              </a:rPr>
              <a:t>www.petsdesign.org</a:t>
            </a:r>
            <a:endParaRPr lang="en-US" sz="1300" dirty="0">
              <a:solidFill>
                <a:srgbClr val="194241"/>
              </a:solidFill>
              <a:latin typeface="Lato" panose="020F0502020204030203" pitchFamily="34" charset="77"/>
              <a:cs typeface="Arial"/>
            </a:endParaRPr>
          </a:p>
        </p:txBody>
      </p:sp>
      <p:sp>
        <p:nvSpPr>
          <p:cNvPr id="8" name="TextBox 7">
            <a:extLst>
              <a:ext uri="{FF2B5EF4-FFF2-40B4-BE49-F238E27FC236}">
                <a16:creationId xmlns:a16="http://schemas.microsoft.com/office/drawing/2014/main" id="{DF9064AD-0487-F12C-270E-A097DFFC0E3B}"/>
              </a:ext>
            </a:extLst>
          </p:cNvPr>
          <p:cNvSpPr txBox="1"/>
          <p:nvPr/>
        </p:nvSpPr>
        <p:spPr>
          <a:xfrm>
            <a:off x="3626981" y="5005271"/>
            <a:ext cx="2125066" cy="5565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500"/>
              </a:spcAft>
            </a:pPr>
            <a:r>
              <a:rPr lang="en-US" sz="1300" dirty="0">
                <a:solidFill>
                  <a:srgbClr val="194241"/>
                </a:solidFill>
                <a:latin typeface="Lato" panose="020F0502020204030203" pitchFamily="34" charset="77"/>
                <a:cs typeface="Arial"/>
              </a:rPr>
              <a:t>Download brand assets at</a:t>
            </a:r>
          </a:p>
          <a:p>
            <a:pPr>
              <a:spcAft>
                <a:spcPts val="500"/>
              </a:spcAft>
            </a:pPr>
            <a:r>
              <a:rPr lang="en-US" sz="1300" i="1" dirty="0">
                <a:solidFill>
                  <a:srgbClr val="194241"/>
                </a:solidFill>
                <a:latin typeface="Lato" panose="020F0502020204030203" pitchFamily="34" charset="77"/>
                <a:cs typeface="Arial"/>
              </a:rPr>
              <a:t>Add the link</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Helvetica"/>
        <a:ea typeface="Helvetica"/>
        <a:cs typeface="Helvetica"/>
      </a:majorFont>
      <a:minorFont>
        <a:latin typeface="Aptos"/>
        <a:ea typeface="Aptos"/>
        <a:cs typeface="Aptos"/>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Helvetica"/>
        <a:ea typeface="Helvetica"/>
        <a:cs typeface="Helvetica"/>
      </a:majorFont>
      <a:minorFont>
        <a:latin typeface="Aptos"/>
        <a:ea typeface="Aptos"/>
        <a:cs typeface="Aptos"/>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658</TotalTime>
  <Words>1082</Words>
  <Application>Microsoft Macintosh PowerPoint</Application>
  <PresentationFormat>Widescreen</PresentationFormat>
  <Paragraphs>182</Paragraphs>
  <Slides>12</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Aptos</vt:lpstr>
      <vt:lpstr>Aptos Display</vt:lpstr>
      <vt:lpstr>Arial</vt:lpstr>
      <vt:lpstr>Avenir</vt:lpstr>
      <vt:lpstr>Avenir Black</vt:lpstr>
      <vt:lpstr>Avenir Heavy</vt:lpstr>
      <vt:lpstr>Avenir Medium</vt:lpstr>
      <vt:lpstr>Lato</vt:lpstr>
      <vt:lpstr>Lato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Oona Gleeson</cp:lastModifiedBy>
  <cp:revision>13</cp:revision>
  <dcterms:modified xsi:type="dcterms:W3CDTF">2026-01-29T20:07:45Z</dcterms:modified>
</cp:coreProperties>
</file>