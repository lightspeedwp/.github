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65" r:id="rId2"/>
    <p:sldId id="294" r:id="rId3"/>
    <p:sldId id="292" r:id="rId4"/>
    <p:sldId id="266" r:id="rId5"/>
    <p:sldId id="297" r:id="rId6"/>
    <p:sldId id="310" r:id="rId7"/>
    <p:sldId id="268" r:id="rId8"/>
    <p:sldId id="299" r:id="rId9"/>
    <p:sldId id="306" r:id="rId10"/>
    <p:sldId id="309" r:id="rId11"/>
    <p:sldId id="289" r:id="rId12"/>
    <p:sldId id="31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03" userDrawn="1">
          <p15:clr>
            <a:srgbClr val="A4A3A4"/>
          </p15:clr>
        </p15:guide>
        <p15:guide id="20" pos="227" userDrawn="1">
          <p15:clr>
            <a:srgbClr val="A4A3A4"/>
          </p15:clr>
        </p15:guide>
        <p15:guide id="21" orient="horz" pos="408" userDrawn="1">
          <p15:clr>
            <a:srgbClr val="A4A3A4"/>
          </p15:clr>
        </p15:guide>
        <p15:guide id="22" orient="horz" pos="3956" userDrawn="1">
          <p15:clr>
            <a:srgbClr val="A4A3A4"/>
          </p15:clr>
        </p15:guide>
        <p15:guide id="23" orient="horz" pos="4104" userDrawn="1">
          <p15:clr>
            <a:srgbClr val="A4A3A4"/>
          </p15:clr>
        </p15:guide>
        <p15:guide id="25" pos="7272" userDrawn="1">
          <p15:clr>
            <a:srgbClr val="A4A3A4"/>
          </p15:clr>
        </p15:guide>
        <p15:guide id="26" pos="745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E2F4F"/>
    <a:srgbClr val="E9D0BA"/>
    <a:srgbClr val="DFD7CF"/>
    <a:srgbClr val="C6B09D"/>
    <a:srgbClr val="FEF5ED"/>
    <a:srgbClr val="EAEFED"/>
    <a:srgbClr val="FBFFFA"/>
    <a:srgbClr val="F5EDE3"/>
    <a:srgbClr val="A69585"/>
    <a:srgbClr val="C7997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14"/>
    <p:restoredTop sz="94626"/>
  </p:normalViewPr>
  <p:slideViewPr>
    <p:cSldViewPr snapToGrid="0">
      <p:cViewPr varScale="1">
        <p:scale>
          <a:sx n="108" d="100"/>
          <a:sy n="108" d="100"/>
        </p:scale>
        <p:origin x="208" y="368"/>
      </p:cViewPr>
      <p:guideLst>
        <p:guide pos="403"/>
        <p:guide pos="227"/>
        <p:guide orient="horz" pos="408"/>
        <p:guide orient="horz" pos="3956"/>
        <p:guide orient="horz" pos="4104"/>
        <p:guide pos="7272"/>
        <p:guide pos="745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824654-8648-B94F-AA63-5346B35296F2}" type="datetimeFigureOut">
              <a:rPr lang="en-US" smtClean="0"/>
              <a:t>1/29/26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760A2A-975D-B049-BF18-2460F33882C0}" type="slidenum">
              <a:rPr lang="en-US" smtClean="0"/>
              <a:t>‹#›</a:t>
            </a:fld>
            <a:endParaRPr lang="en-US"/>
          </a:p>
        </p:txBody>
      </p:sp>
    </p:spTree>
    <p:extLst>
      <p:ext uri="{BB962C8B-B14F-4D97-AF65-F5344CB8AC3E}">
        <p14:creationId xmlns:p14="http://schemas.microsoft.com/office/powerpoint/2010/main" val="431429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760A2A-975D-B049-BF18-2460F33882C0}" type="slidenum">
              <a:rPr lang="en-US" smtClean="0"/>
              <a:t>1</a:t>
            </a:fld>
            <a:endParaRPr lang="en-US"/>
          </a:p>
        </p:txBody>
      </p:sp>
    </p:spTree>
    <p:extLst>
      <p:ext uri="{BB962C8B-B14F-4D97-AF65-F5344CB8AC3E}">
        <p14:creationId xmlns:p14="http://schemas.microsoft.com/office/powerpoint/2010/main" val="12237167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760A2A-975D-B049-BF18-2460F33882C0}" type="slidenum">
              <a:rPr lang="en-US" smtClean="0"/>
              <a:t>2</a:t>
            </a:fld>
            <a:endParaRPr lang="en-US"/>
          </a:p>
        </p:txBody>
      </p:sp>
    </p:spTree>
    <p:extLst>
      <p:ext uri="{BB962C8B-B14F-4D97-AF65-F5344CB8AC3E}">
        <p14:creationId xmlns:p14="http://schemas.microsoft.com/office/powerpoint/2010/main" val="27232345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760A2A-975D-B049-BF18-2460F33882C0}" type="slidenum">
              <a:rPr lang="en-US" smtClean="0"/>
              <a:t>3</a:t>
            </a:fld>
            <a:endParaRPr lang="en-US"/>
          </a:p>
        </p:txBody>
      </p:sp>
    </p:spTree>
    <p:extLst>
      <p:ext uri="{BB962C8B-B14F-4D97-AF65-F5344CB8AC3E}">
        <p14:creationId xmlns:p14="http://schemas.microsoft.com/office/powerpoint/2010/main" val="2825371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760A2A-975D-B049-BF18-2460F33882C0}" type="slidenum">
              <a:rPr lang="en-US" smtClean="0"/>
              <a:t>8</a:t>
            </a:fld>
            <a:endParaRPr lang="en-US"/>
          </a:p>
        </p:txBody>
      </p:sp>
    </p:spTree>
    <p:extLst>
      <p:ext uri="{BB962C8B-B14F-4D97-AF65-F5344CB8AC3E}">
        <p14:creationId xmlns:p14="http://schemas.microsoft.com/office/powerpoint/2010/main" val="18294671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760A2A-975D-B049-BF18-2460F33882C0}" type="slidenum">
              <a:rPr lang="en-US" smtClean="0"/>
              <a:t>9</a:t>
            </a:fld>
            <a:endParaRPr lang="en-US"/>
          </a:p>
        </p:txBody>
      </p:sp>
    </p:spTree>
    <p:extLst>
      <p:ext uri="{BB962C8B-B14F-4D97-AF65-F5344CB8AC3E}">
        <p14:creationId xmlns:p14="http://schemas.microsoft.com/office/powerpoint/2010/main" val="23502807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6FD42-8289-B1E1-FA7E-4A78A460A0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473108A-FBC1-33CE-161C-6448ECF976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5718999-F234-9E4B-74CD-A4D8FF60FAD0}"/>
              </a:ext>
            </a:extLst>
          </p:cNvPr>
          <p:cNvSpPr>
            <a:spLocks noGrp="1"/>
          </p:cNvSpPr>
          <p:nvPr>
            <p:ph type="dt" sz="half" idx="10"/>
          </p:nvPr>
        </p:nvSpPr>
        <p:spPr/>
        <p:txBody>
          <a:bodyPr/>
          <a:lstStyle/>
          <a:p>
            <a:fld id="{B644086C-1EA6-D340-B3C8-3F9D85799A1F}" type="datetimeFigureOut">
              <a:rPr lang="en-US" smtClean="0"/>
              <a:t>1/29/26</a:t>
            </a:fld>
            <a:endParaRPr lang="en-US"/>
          </a:p>
        </p:txBody>
      </p:sp>
      <p:sp>
        <p:nvSpPr>
          <p:cNvPr id="5" name="Footer Placeholder 4">
            <a:extLst>
              <a:ext uri="{FF2B5EF4-FFF2-40B4-BE49-F238E27FC236}">
                <a16:creationId xmlns:a16="http://schemas.microsoft.com/office/drawing/2014/main" id="{AAC057F9-E08F-9BB6-D504-6E392D1A91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6FDF8B-B15E-B0BB-DE19-3805000EC79C}"/>
              </a:ext>
            </a:extLst>
          </p:cNvPr>
          <p:cNvSpPr>
            <a:spLocks noGrp="1"/>
          </p:cNvSpPr>
          <p:nvPr>
            <p:ph type="sldNum" sz="quarter" idx="12"/>
          </p:nvPr>
        </p:nvSpPr>
        <p:spPr/>
        <p:txBody>
          <a:bodyPr/>
          <a:lstStyle/>
          <a:p>
            <a:fld id="{B8C24BB0-D3F4-2B4B-8ADE-7A3C805FC8DD}" type="slidenum">
              <a:rPr lang="en-US" smtClean="0"/>
              <a:t>‹#›</a:t>
            </a:fld>
            <a:endParaRPr lang="en-US"/>
          </a:p>
        </p:txBody>
      </p:sp>
    </p:spTree>
    <p:extLst>
      <p:ext uri="{BB962C8B-B14F-4D97-AF65-F5344CB8AC3E}">
        <p14:creationId xmlns:p14="http://schemas.microsoft.com/office/powerpoint/2010/main" val="1895845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2EF46-8DF7-5836-857E-622E5392C3E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EBC5BF-E82C-623A-A282-B3D62FDB36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BA2058-48D8-8BF8-FD7F-C5957D9A3BC3}"/>
              </a:ext>
            </a:extLst>
          </p:cNvPr>
          <p:cNvSpPr>
            <a:spLocks noGrp="1"/>
          </p:cNvSpPr>
          <p:nvPr>
            <p:ph type="dt" sz="half" idx="10"/>
          </p:nvPr>
        </p:nvSpPr>
        <p:spPr/>
        <p:txBody>
          <a:bodyPr/>
          <a:lstStyle/>
          <a:p>
            <a:fld id="{B644086C-1EA6-D340-B3C8-3F9D85799A1F}" type="datetimeFigureOut">
              <a:rPr lang="en-US" smtClean="0"/>
              <a:t>1/29/26</a:t>
            </a:fld>
            <a:endParaRPr lang="en-US"/>
          </a:p>
        </p:txBody>
      </p:sp>
      <p:sp>
        <p:nvSpPr>
          <p:cNvPr id="5" name="Footer Placeholder 4">
            <a:extLst>
              <a:ext uri="{FF2B5EF4-FFF2-40B4-BE49-F238E27FC236}">
                <a16:creationId xmlns:a16="http://schemas.microsoft.com/office/drawing/2014/main" id="{2D30F8E2-33BD-1189-571F-3D8F7EE899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A14F47-20FE-9282-97F1-98C5B5746D0C}"/>
              </a:ext>
            </a:extLst>
          </p:cNvPr>
          <p:cNvSpPr>
            <a:spLocks noGrp="1"/>
          </p:cNvSpPr>
          <p:nvPr>
            <p:ph type="sldNum" sz="quarter" idx="12"/>
          </p:nvPr>
        </p:nvSpPr>
        <p:spPr/>
        <p:txBody>
          <a:bodyPr/>
          <a:lstStyle/>
          <a:p>
            <a:fld id="{B8C24BB0-D3F4-2B4B-8ADE-7A3C805FC8DD}" type="slidenum">
              <a:rPr lang="en-US" smtClean="0"/>
              <a:t>‹#›</a:t>
            </a:fld>
            <a:endParaRPr lang="en-US"/>
          </a:p>
        </p:txBody>
      </p:sp>
    </p:spTree>
    <p:extLst>
      <p:ext uri="{BB962C8B-B14F-4D97-AF65-F5344CB8AC3E}">
        <p14:creationId xmlns:p14="http://schemas.microsoft.com/office/powerpoint/2010/main" val="2309562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6B147-CD13-027D-A6AE-B8EBADDE61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CD0653E-9F33-AD8C-AB9C-DA908FB8EAD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119506-B958-6178-3BB0-D4BFE03D9DA4}"/>
              </a:ext>
            </a:extLst>
          </p:cNvPr>
          <p:cNvSpPr>
            <a:spLocks noGrp="1"/>
          </p:cNvSpPr>
          <p:nvPr>
            <p:ph type="dt" sz="half" idx="10"/>
          </p:nvPr>
        </p:nvSpPr>
        <p:spPr/>
        <p:txBody>
          <a:bodyPr/>
          <a:lstStyle/>
          <a:p>
            <a:fld id="{B644086C-1EA6-D340-B3C8-3F9D85799A1F}" type="datetimeFigureOut">
              <a:rPr lang="en-US" smtClean="0"/>
              <a:t>1/29/26</a:t>
            </a:fld>
            <a:endParaRPr lang="en-US"/>
          </a:p>
        </p:txBody>
      </p:sp>
      <p:sp>
        <p:nvSpPr>
          <p:cNvPr id="5" name="Footer Placeholder 4">
            <a:extLst>
              <a:ext uri="{FF2B5EF4-FFF2-40B4-BE49-F238E27FC236}">
                <a16:creationId xmlns:a16="http://schemas.microsoft.com/office/drawing/2014/main" id="{F7FAA6F4-4A8E-BC0F-DE03-13DDA0AF9F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EB9449-D0F0-1FD4-A70C-4F3A59E9E4BC}"/>
              </a:ext>
            </a:extLst>
          </p:cNvPr>
          <p:cNvSpPr>
            <a:spLocks noGrp="1"/>
          </p:cNvSpPr>
          <p:nvPr>
            <p:ph type="sldNum" sz="quarter" idx="12"/>
          </p:nvPr>
        </p:nvSpPr>
        <p:spPr/>
        <p:txBody>
          <a:bodyPr/>
          <a:lstStyle/>
          <a:p>
            <a:fld id="{B8C24BB0-D3F4-2B4B-8ADE-7A3C805FC8DD}" type="slidenum">
              <a:rPr lang="en-US" smtClean="0"/>
              <a:t>‹#›</a:t>
            </a:fld>
            <a:endParaRPr lang="en-US"/>
          </a:p>
        </p:txBody>
      </p:sp>
    </p:spTree>
    <p:extLst>
      <p:ext uri="{BB962C8B-B14F-4D97-AF65-F5344CB8AC3E}">
        <p14:creationId xmlns:p14="http://schemas.microsoft.com/office/powerpoint/2010/main" val="1416018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5550A-50B8-86EC-83E8-FE67865B83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39DCDB-55D9-D2CD-D4A7-EBE68592504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A485DE4-DAFD-4D3B-62C2-CA15B5A64D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40CC90C-C239-BE91-E625-9F8532724499}"/>
              </a:ext>
            </a:extLst>
          </p:cNvPr>
          <p:cNvSpPr>
            <a:spLocks noGrp="1"/>
          </p:cNvSpPr>
          <p:nvPr>
            <p:ph type="dt" sz="half" idx="10"/>
          </p:nvPr>
        </p:nvSpPr>
        <p:spPr/>
        <p:txBody>
          <a:bodyPr/>
          <a:lstStyle/>
          <a:p>
            <a:fld id="{B644086C-1EA6-D340-B3C8-3F9D85799A1F}" type="datetimeFigureOut">
              <a:rPr lang="en-US" smtClean="0"/>
              <a:t>1/29/26</a:t>
            </a:fld>
            <a:endParaRPr lang="en-US"/>
          </a:p>
        </p:txBody>
      </p:sp>
      <p:sp>
        <p:nvSpPr>
          <p:cNvPr id="6" name="Footer Placeholder 5">
            <a:extLst>
              <a:ext uri="{FF2B5EF4-FFF2-40B4-BE49-F238E27FC236}">
                <a16:creationId xmlns:a16="http://schemas.microsoft.com/office/drawing/2014/main" id="{704D6E0D-D9EB-3B28-A31B-44AD3EF524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A0D460-6B0E-09DF-05DD-4EC8422EEB07}"/>
              </a:ext>
            </a:extLst>
          </p:cNvPr>
          <p:cNvSpPr>
            <a:spLocks noGrp="1"/>
          </p:cNvSpPr>
          <p:nvPr>
            <p:ph type="sldNum" sz="quarter" idx="12"/>
          </p:nvPr>
        </p:nvSpPr>
        <p:spPr/>
        <p:txBody>
          <a:bodyPr/>
          <a:lstStyle/>
          <a:p>
            <a:fld id="{B8C24BB0-D3F4-2B4B-8ADE-7A3C805FC8DD}" type="slidenum">
              <a:rPr lang="en-US" smtClean="0"/>
              <a:t>‹#›</a:t>
            </a:fld>
            <a:endParaRPr lang="en-US"/>
          </a:p>
        </p:txBody>
      </p:sp>
    </p:spTree>
    <p:extLst>
      <p:ext uri="{BB962C8B-B14F-4D97-AF65-F5344CB8AC3E}">
        <p14:creationId xmlns:p14="http://schemas.microsoft.com/office/powerpoint/2010/main" val="397442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D966E-22A7-3BFE-8A17-720555A0FB2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5645862-4DD7-FCFE-9FD5-7096E3FDFE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0309C9-0705-EE3A-B649-52DA84EBE28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4A052D5-ABA3-8A1B-913A-E85B937611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BDD488-7AEC-5EEC-4D43-C705DDB3B69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4402A63-1155-83CF-1072-BFA7065397AD}"/>
              </a:ext>
            </a:extLst>
          </p:cNvPr>
          <p:cNvSpPr>
            <a:spLocks noGrp="1"/>
          </p:cNvSpPr>
          <p:nvPr>
            <p:ph type="dt" sz="half" idx="10"/>
          </p:nvPr>
        </p:nvSpPr>
        <p:spPr/>
        <p:txBody>
          <a:bodyPr/>
          <a:lstStyle/>
          <a:p>
            <a:fld id="{B644086C-1EA6-D340-B3C8-3F9D85799A1F}" type="datetimeFigureOut">
              <a:rPr lang="en-US" smtClean="0"/>
              <a:t>1/29/26</a:t>
            </a:fld>
            <a:endParaRPr lang="en-US"/>
          </a:p>
        </p:txBody>
      </p:sp>
      <p:sp>
        <p:nvSpPr>
          <p:cNvPr id="8" name="Footer Placeholder 7">
            <a:extLst>
              <a:ext uri="{FF2B5EF4-FFF2-40B4-BE49-F238E27FC236}">
                <a16:creationId xmlns:a16="http://schemas.microsoft.com/office/drawing/2014/main" id="{0FB2B82A-0987-644A-B2B8-68423A9CE1D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96A2622-B39A-7A19-D178-E308BFE4F0F1}"/>
              </a:ext>
            </a:extLst>
          </p:cNvPr>
          <p:cNvSpPr>
            <a:spLocks noGrp="1"/>
          </p:cNvSpPr>
          <p:nvPr>
            <p:ph type="sldNum" sz="quarter" idx="12"/>
          </p:nvPr>
        </p:nvSpPr>
        <p:spPr/>
        <p:txBody>
          <a:bodyPr/>
          <a:lstStyle/>
          <a:p>
            <a:fld id="{B8C24BB0-D3F4-2B4B-8ADE-7A3C805FC8DD}" type="slidenum">
              <a:rPr lang="en-US" smtClean="0"/>
              <a:t>‹#›</a:t>
            </a:fld>
            <a:endParaRPr lang="en-US"/>
          </a:p>
        </p:txBody>
      </p:sp>
    </p:spTree>
    <p:extLst>
      <p:ext uri="{BB962C8B-B14F-4D97-AF65-F5344CB8AC3E}">
        <p14:creationId xmlns:p14="http://schemas.microsoft.com/office/powerpoint/2010/main" val="211587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5232F-46EF-DE2A-37D4-647542791A3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7548A32-669D-BFBC-5B24-A97D31AFEE72}"/>
              </a:ext>
            </a:extLst>
          </p:cNvPr>
          <p:cNvSpPr>
            <a:spLocks noGrp="1"/>
          </p:cNvSpPr>
          <p:nvPr>
            <p:ph type="dt" sz="half" idx="10"/>
          </p:nvPr>
        </p:nvSpPr>
        <p:spPr/>
        <p:txBody>
          <a:bodyPr/>
          <a:lstStyle/>
          <a:p>
            <a:fld id="{B644086C-1EA6-D340-B3C8-3F9D85799A1F}" type="datetimeFigureOut">
              <a:rPr lang="en-US" smtClean="0"/>
              <a:t>1/29/26</a:t>
            </a:fld>
            <a:endParaRPr lang="en-US"/>
          </a:p>
        </p:txBody>
      </p:sp>
      <p:sp>
        <p:nvSpPr>
          <p:cNvPr id="4" name="Footer Placeholder 3">
            <a:extLst>
              <a:ext uri="{FF2B5EF4-FFF2-40B4-BE49-F238E27FC236}">
                <a16:creationId xmlns:a16="http://schemas.microsoft.com/office/drawing/2014/main" id="{56C12F83-60BD-A1B7-C91E-7C310CBAE28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D371580-358B-3AFA-3C18-B5B230BB8A69}"/>
              </a:ext>
            </a:extLst>
          </p:cNvPr>
          <p:cNvSpPr>
            <a:spLocks noGrp="1"/>
          </p:cNvSpPr>
          <p:nvPr>
            <p:ph type="sldNum" sz="quarter" idx="12"/>
          </p:nvPr>
        </p:nvSpPr>
        <p:spPr/>
        <p:txBody>
          <a:bodyPr/>
          <a:lstStyle/>
          <a:p>
            <a:fld id="{B8C24BB0-D3F4-2B4B-8ADE-7A3C805FC8DD}" type="slidenum">
              <a:rPr lang="en-US" smtClean="0"/>
              <a:t>‹#›</a:t>
            </a:fld>
            <a:endParaRPr lang="en-US"/>
          </a:p>
        </p:txBody>
      </p:sp>
    </p:spTree>
    <p:extLst>
      <p:ext uri="{BB962C8B-B14F-4D97-AF65-F5344CB8AC3E}">
        <p14:creationId xmlns:p14="http://schemas.microsoft.com/office/powerpoint/2010/main" val="3944071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CABA42-5618-948F-DED5-9476F4742448}"/>
              </a:ext>
            </a:extLst>
          </p:cNvPr>
          <p:cNvSpPr>
            <a:spLocks noGrp="1"/>
          </p:cNvSpPr>
          <p:nvPr>
            <p:ph type="dt" sz="half" idx="10"/>
          </p:nvPr>
        </p:nvSpPr>
        <p:spPr/>
        <p:txBody>
          <a:bodyPr/>
          <a:lstStyle/>
          <a:p>
            <a:fld id="{B644086C-1EA6-D340-B3C8-3F9D85799A1F}" type="datetimeFigureOut">
              <a:rPr lang="en-US" smtClean="0"/>
              <a:t>1/29/26</a:t>
            </a:fld>
            <a:endParaRPr lang="en-US"/>
          </a:p>
        </p:txBody>
      </p:sp>
      <p:sp>
        <p:nvSpPr>
          <p:cNvPr id="3" name="Footer Placeholder 2">
            <a:extLst>
              <a:ext uri="{FF2B5EF4-FFF2-40B4-BE49-F238E27FC236}">
                <a16:creationId xmlns:a16="http://schemas.microsoft.com/office/drawing/2014/main" id="{73836648-560D-C5DE-BDA6-45061976160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994A90F-4995-A54C-CC3D-4D8EDD22A218}"/>
              </a:ext>
            </a:extLst>
          </p:cNvPr>
          <p:cNvSpPr>
            <a:spLocks noGrp="1"/>
          </p:cNvSpPr>
          <p:nvPr>
            <p:ph type="sldNum" sz="quarter" idx="12"/>
          </p:nvPr>
        </p:nvSpPr>
        <p:spPr/>
        <p:txBody>
          <a:bodyPr/>
          <a:lstStyle/>
          <a:p>
            <a:fld id="{B8C24BB0-D3F4-2B4B-8ADE-7A3C805FC8DD}" type="slidenum">
              <a:rPr lang="en-US" smtClean="0"/>
              <a:t>‹#›</a:t>
            </a:fld>
            <a:endParaRPr lang="en-US"/>
          </a:p>
        </p:txBody>
      </p:sp>
    </p:spTree>
    <p:extLst>
      <p:ext uri="{BB962C8B-B14F-4D97-AF65-F5344CB8AC3E}">
        <p14:creationId xmlns:p14="http://schemas.microsoft.com/office/powerpoint/2010/main" val="72680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D4EAF-9318-D5FD-6A5F-140C0F7E34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A3C8399-0382-3C42-63D1-3A5B25157D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88C27C6-3DFB-949A-9FD5-814D9C8AB1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6C0E8A-9079-EAEB-03AD-40A3F235CD84}"/>
              </a:ext>
            </a:extLst>
          </p:cNvPr>
          <p:cNvSpPr>
            <a:spLocks noGrp="1"/>
          </p:cNvSpPr>
          <p:nvPr>
            <p:ph type="dt" sz="half" idx="10"/>
          </p:nvPr>
        </p:nvSpPr>
        <p:spPr/>
        <p:txBody>
          <a:bodyPr/>
          <a:lstStyle/>
          <a:p>
            <a:fld id="{B644086C-1EA6-D340-B3C8-3F9D85799A1F}" type="datetimeFigureOut">
              <a:rPr lang="en-US" smtClean="0"/>
              <a:t>1/29/26</a:t>
            </a:fld>
            <a:endParaRPr lang="en-US"/>
          </a:p>
        </p:txBody>
      </p:sp>
      <p:sp>
        <p:nvSpPr>
          <p:cNvPr id="6" name="Footer Placeholder 5">
            <a:extLst>
              <a:ext uri="{FF2B5EF4-FFF2-40B4-BE49-F238E27FC236}">
                <a16:creationId xmlns:a16="http://schemas.microsoft.com/office/drawing/2014/main" id="{45B46380-1CCE-CC37-C3BD-CEA6F1DC1D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DCA96E-5469-AF6D-39BE-654281A4B433}"/>
              </a:ext>
            </a:extLst>
          </p:cNvPr>
          <p:cNvSpPr>
            <a:spLocks noGrp="1"/>
          </p:cNvSpPr>
          <p:nvPr>
            <p:ph type="sldNum" sz="quarter" idx="12"/>
          </p:nvPr>
        </p:nvSpPr>
        <p:spPr/>
        <p:txBody>
          <a:bodyPr/>
          <a:lstStyle/>
          <a:p>
            <a:fld id="{B8C24BB0-D3F4-2B4B-8ADE-7A3C805FC8DD}" type="slidenum">
              <a:rPr lang="en-US" smtClean="0"/>
              <a:t>‹#›</a:t>
            </a:fld>
            <a:endParaRPr lang="en-US"/>
          </a:p>
        </p:txBody>
      </p:sp>
    </p:spTree>
    <p:extLst>
      <p:ext uri="{BB962C8B-B14F-4D97-AF65-F5344CB8AC3E}">
        <p14:creationId xmlns:p14="http://schemas.microsoft.com/office/powerpoint/2010/main" val="1336448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04C66-7833-6044-8B83-C1B34E3629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88B0158-7B42-DA43-C1D6-110438E97A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52D7BFA-3639-2492-706D-97F8687C2E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94A749-1CDE-2783-E742-6C8DF629490E}"/>
              </a:ext>
            </a:extLst>
          </p:cNvPr>
          <p:cNvSpPr>
            <a:spLocks noGrp="1"/>
          </p:cNvSpPr>
          <p:nvPr>
            <p:ph type="dt" sz="half" idx="10"/>
          </p:nvPr>
        </p:nvSpPr>
        <p:spPr/>
        <p:txBody>
          <a:bodyPr/>
          <a:lstStyle/>
          <a:p>
            <a:fld id="{B644086C-1EA6-D340-B3C8-3F9D85799A1F}" type="datetimeFigureOut">
              <a:rPr lang="en-US" smtClean="0"/>
              <a:t>1/29/26</a:t>
            </a:fld>
            <a:endParaRPr lang="en-US"/>
          </a:p>
        </p:txBody>
      </p:sp>
      <p:sp>
        <p:nvSpPr>
          <p:cNvPr id="6" name="Footer Placeholder 5">
            <a:extLst>
              <a:ext uri="{FF2B5EF4-FFF2-40B4-BE49-F238E27FC236}">
                <a16:creationId xmlns:a16="http://schemas.microsoft.com/office/drawing/2014/main" id="{8F2AF9A3-93A9-9C2B-6C27-0E07F66468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D807A0-8241-AF66-6464-725262C317F5}"/>
              </a:ext>
            </a:extLst>
          </p:cNvPr>
          <p:cNvSpPr>
            <a:spLocks noGrp="1"/>
          </p:cNvSpPr>
          <p:nvPr>
            <p:ph type="sldNum" sz="quarter" idx="12"/>
          </p:nvPr>
        </p:nvSpPr>
        <p:spPr/>
        <p:txBody>
          <a:bodyPr/>
          <a:lstStyle/>
          <a:p>
            <a:fld id="{B8C24BB0-D3F4-2B4B-8ADE-7A3C805FC8DD}" type="slidenum">
              <a:rPr lang="en-US" smtClean="0"/>
              <a:t>‹#›</a:t>
            </a:fld>
            <a:endParaRPr lang="en-US"/>
          </a:p>
        </p:txBody>
      </p:sp>
    </p:spTree>
    <p:extLst>
      <p:ext uri="{BB962C8B-B14F-4D97-AF65-F5344CB8AC3E}">
        <p14:creationId xmlns:p14="http://schemas.microsoft.com/office/powerpoint/2010/main" val="13324300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FFDF6-0E83-F345-F7B5-EFF20C73C43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0D08B2C-6B59-0F07-3A76-BC6FA91BE7E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9F5CA-E084-D9C1-07FA-593EADD8499D}"/>
              </a:ext>
            </a:extLst>
          </p:cNvPr>
          <p:cNvSpPr>
            <a:spLocks noGrp="1"/>
          </p:cNvSpPr>
          <p:nvPr>
            <p:ph type="dt" sz="half" idx="10"/>
          </p:nvPr>
        </p:nvSpPr>
        <p:spPr/>
        <p:txBody>
          <a:bodyPr/>
          <a:lstStyle/>
          <a:p>
            <a:fld id="{B644086C-1EA6-D340-B3C8-3F9D85799A1F}" type="datetimeFigureOut">
              <a:rPr lang="en-US" smtClean="0"/>
              <a:t>1/29/26</a:t>
            </a:fld>
            <a:endParaRPr lang="en-US"/>
          </a:p>
        </p:txBody>
      </p:sp>
      <p:sp>
        <p:nvSpPr>
          <p:cNvPr id="5" name="Footer Placeholder 4">
            <a:extLst>
              <a:ext uri="{FF2B5EF4-FFF2-40B4-BE49-F238E27FC236}">
                <a16:creationId xmlns:a16="http://schemas.microsoft.com/office/drawing/2014/main" id="{00C75211-3B31-0ADF-BD79-F7245EDD42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38A475-43FE-6D23-7A71-50257A9ECE6B}"/>
              </a:ext>
            </a:extLst>
          </p:cNvPr>
          <p:cNvSpPr>
            <a:spLocks noGrp="1"/>
          </p:cNvSpPr>
          <p:nvPr>
            <p:ph type="sldNum" sz="quarter" idx="12"/>
          </p:nvPr>
        </p:nvSpPr>
        <p:spPr/>
        <p:txBody>
          <a:bodyPr/>
          <a:lstStyle/>
          <a:p>
            <a:fld id="{B8C24BB0-D3F4-2B4B-8ADE-7A3C805FC8DD}" type="slidenum">
              <a:rPr lang="en-US" smtClean="0"/>
              <a:t>‹#›</a:t>
            </a:fld>
            <a:endParaRPr lang="en-US"/>
          </a:p>
        </p:txBody>
      </p:sp>
    </p:spTree>
    <p:extLst>
      <p:ext uri="{BB962C8B-B14F-4D97-AF65-F5344CB8AC3E}">
        <p14:creationId xmlns:p14="http://schemas.microsoft.com/office/powerpoint/2010/main" val="10220703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74E448-4D47-68FF-EEC3-B2D086FE758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CB0EDFE-D90A-7C42-97A5-1617B9F2A0E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86503F-6759-ACDA-9A00-86BD00A9BC7B}"/>
              </a:ext>
            </a:extLst>
          </p:cNvPr>
          <p:cNvSpPr>
            <a:spLocks noGrp="1"/>
          </p:cNvSpPr>
          <p:nvPr>
            <p:ph type="dt" sz="half" idx="10"/>
          </p:nvPr>
        </p:nvSpPr>
        <p:spPr/>
        <p:txBody>
          <a:bodyPr/>
          <a:lstStyle/>
          <a:p>
            <a:fld id="{B644086C-1EA6-D340-B3C8-3F9D85799A1F}" type="datetimeFigureOut">
              <a:rPr lang="en-US" smtClean="0"/>
              <a:t>1/29/26</a:t>
            </a:fld>
            <a:endParaRPr lang="en-US"/>
          </a:p>
        </p:txBody>
      </p:sp>
      <p:sp>
        <p:nvSpPr>
          <p:cNvPr id="5" name="Footer Placeholder 4">
            <a:extLst>
              <a:ext uri="{FF2B5EF4-FFF2-40B4-BE49-F238E27FC236}">
                <a16:creationId xmlns:a16="http://schemas.microsoft.com/office/drawing/2014/main" id="{B4DB586C-FE5A-08D0-51D2-629F136786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FFF915-5D4B-B8B5-3BA4-B0DE4A236082}"/>
              </a:ext>
            </a:extLst>
          </p:cNvPr>
          <p:cNvSpPr>
            <a:spLocks noGrp="1"/>
          </p:cNvSpPr>
          <p:nvPr>
            <p:ph type="sldNum" sz="quarter" idx="12"/>
          </p:nvPr>
        </p:nvSpPr>
        <p:spPr/>
        <p:txBody>
          <a:bodyPr/>
          <a:lstStyle/>
          <a:p>
            <a:fld id="{B8C24BB0-D3F4-2B4B-8ADE-7A3C805FC8DD}" type="slidenum">
              <a:rPr lang="en-US" smtClean="0"/>
              <a:t>‹#›</a:t>
            </a:fld>
            <a:endParaRPr lang="en-US"/>
          </a:p>
        </p:txBody>
      </p:sp>
    </p:spTree>
    <p:extLst>
      <p:ext uri="{BB962C8B-B14F-4D97-AF65-F5344CB8AC3E}">
        <p14:creationId xmlns:p14="http://schemas.microsoft.com/office/powerpoint/2010/main" val="2094224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6926F0-055C-8BDC-1E92-971B832BD7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0A130A-5445-168F-798B-07C19D4E16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C539A5-0ED8-0F44-B495-96588F790D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644086C-1EA6-D340-B3C8-3F9D85799A1F}" type="datetimeFigureOut">
              <a:rPr lang="en-US" smtClean="0"/>
              <a:t>1/29/26</a:t>
            </a:fld>
            <a:endParaRPr lang="en-US"/>
          </a:p>
        </p:txBody>
      </p:sp>
      <p:sp>
        <p:nvSpPr>
          <p:cNvPr id="5" name="Footer Placeholder 4">
            <a:extLst>
              <a:ext uri="{FF2B5EF4-FFF2-40B4-BE49-F238E27FC236}">
                <a16:creationId xmlns:a16="http://schemas.microsoft.com/office/drawing/2014/main" id="{BFC4CF80-D3CC-D9F3-C11D-229EA9496D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F35C8B4-EEF6-0F0A-D139-0B0984D0CA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C24BB0-D3F4-2B4B-8ADE-7A3C805FC8DD}" type="slidenum">
              <a:rPr lang="en-US" smtClean="0"/>
              <a:t>‹#›</a:t>
            </a:fld>
            <a:endParaRPr lang="en-US"/>
          </a:p>
        </p:txBody>
      </p:sp>
    </p:spTree>
    <p:extLst>
      <p:ext uri="{BB962C8B-B14F-4D97-AF65-F5344CB8AC3E}">
        <p14:creationId xmlns:p14="http://schemas.microsoft.com/office/powerpoint/2010/main" val="26527255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jpeg"/><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www.corporate.com/" TargetMode="External"/><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blue circle and circle shapes&#10;&#10;AI-generated content may be incorrect.">
            <a:extLst>
              <a:ext uri="{FF2B5EF4-FFF2-40B4-BE49-F238E27FC236}">
                <a16:creationId xmlns:a16="http://schemas.microsoft.com/office/drawing/2014/main" id="{5474B5F0-8917-7755-A7EC-1F2FA957BC3C}"/>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7676118" y="0"/>
            <a:ext cx="4515881" cy="6856718"/>
          </a:xfrm>
          <a:prstGeom prst="rect">
            <a:avLst/>
          </a:prstGeom>
        </p:spPr>
      </p:pic>
      <p:sp>
        <p:nvSpPr>
          <p:cNvPr id="20" name="Rectangle 19">
            <a:extLst>
              <a:ext uri="{FF2B5EF4-FFF2-40B4-BE49-F238E27FC236}">
                <a16:creationId xmlns:a16="http://schemas.microsoft.com/office/drawing/2014/main" id="{FCED6569-1B57-5988-C429-F8F56CF6FC7B}"/>
              </a:ext>
            </a:extLst>
          </p:cNvPr>
          <p:cNvSpPr/>
          <p:nvPr/>
        </p:nvSpPr>
        <p:spPr>
          <a:xfrm>
            <a:off x="7674595" y="0"/>
            <a:ext cx="4515881" cy="6858000"/>
          </a:xfrm>
          <a:prstGeom prst="rect">
            <a:avLst/>
          </a:prstGeom>
          <a:solidFill>
            <a:schemeClr val="tx2">
              <a:lumMod val="90000"/>
              <a:lumOff val="10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37">
            <a:extLst>
              <a:ext uri="{FF2B5EF4-FFF2-40B4-BE49-F238E27FC236}">
                <a16:creationId xmlns:a16="http://schemas.microsoft.com/office/drawing/2014/main" id="{AC051796-D6D8-8209-6631-60048A6DEB15}"/>
              </a:ext>
            </a:extLst>
          </p:cNvPr>
          <p:cNvGrpSpPr/>
          <p:nvPr/>
        </p:nvGrpSpPr>
        <p:grpSpPr>
          <a:xfrm rot="16200000">
            <a:off x="5095895" y="-20212"/>
            <a:ext cx="6858002" cy="6895858"/>
            <a:chOff x="0" y="0"/>
            <a:chExt cx="4445000" cy="6350000"/>
          </a:xfrm>
          <a:effectLst>
            <a:outerShdw blurRad="50800" dist="50800" dir="5400000" sx="99760" sy="99760" algn="ctr" rotWithShape="0">
              <a:srgbClr val="000000">
                <a:alpha val="28635"/>
              </a:srgbClr>
            </a:outerShdw>
          </a:effectLst>
        </p:grpSpPr>
        <p:sp>
          <p:nvSpPr>
            <p:cNvPr id="4" name="Freeform 38">
              <a:extLst>
                <a:ext uri="{FF2B5EF4-FFF2-40B4-BE49-F238E27FC236}">
                  <a16:creationId xmlns:a16="http://schemas.microsoft.com/office/drawing/2014/main" id="{BEE9E4AC-2270-4577-FBB2-FFC756E9CDA7}"/>
                </a:ext>
              </a:extLst>
            </p:cNvPr>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4" cstate="hqprint">
                <a:alphaModFix amt="35000"/>
                <a:extLst>
                  <a:ext uri="{BEBA8EAE-BF5A-486C-A8C5-ECC9F3942E4B}">
                    <a14:imgProps xmlns:a14="http://schemas.microsoft.com/office/drawing/2010/main">
                      <a14:imgLayer r:embed="rId5">
                        <a14:imgEffect>
                          <a14:colorTemperature colorTemp="11500"/>
                        </a14:imgEffect>
                      </a14:imgLayer>
                    </a14:imgProps>
                  </a:ext>
                  <a:ext uri="{28A0092B-C50C-407E-A947-70E740481C1C}">
                    <a14:useLocalDpi xmlns:a14="http://schemas.microsoft.com/office/drawing/2010/main"/>
                  </a:ext>
                </a:extLst>
              </a:blip>
              <a:stretch>
                <a:fillRect/>
              </a:stretch>
            </a:blipFill>
          </p:spPr>
          <p:txBody>
            <a:bodyPr/>
            <a:lstStyle/>
            <a:p>
              <a:endParaRPr lang="en-US"/>
            </a:p>
          </p:txBody>
        </p:sp>
      </p:grpSp>
      <p:sp>
        <p:nvSpPr>
          <p:cNvPr id="18" name="Rectangle 1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Title 1">
            <a:extLst>
              <a:ext uri="{FF2B5EF4-FFF2-40B4-BE49-F238E27FC236}">
                <a16:creationId xmlns:a16="http://schemas.microsoft.com/office/drawing/2014/main" id="{A3C3AFA0-1264-14B9-6850-069D8FEB41DE}"/>
              </a:ext>
            </a:extLst>
          </p:cNvPr>
          <p:cNvSpPr txBox="1">
            <a:spLocks/>
          </p:cNvSpPr>
          <p:nvPr/>
        </p:nvSpPr>
        <p:spPr>
          <a:xfrm>
            <a:off x="569588" y="2221750"/>
            <a:ext cx="4862375" cy="3163224"/>
          </a:xfrm>
          <a:prstGeom prst="rect">
            <a:avLst/>
          </a:prstGeom>
        </p:spPr>
        <p:txBody>
          <a:bodyPr vert="horz" lIns="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7200" b="1" spc="300" dirty="0">
                <a:solidFill>
                  <a:schemeClr val="accent1"/>
                </a:solidFill>
                <a:latin typeface="Montserrat" pitchFamily="2" charset="77"/>
              </a:rPr>
              <a:t>Project</a:t>
            </a:r>
          </a:p>
          <a:p>
            <a:r>
              <a:rPr lang="en-US" sz="7200" b="1" spc="300" dirty="0">
                <a:solidFill>
                  <a:schemeClr val="accent1"/>
                </a:solidFill>
                <a:latin typeface="Montserrat" pitchFamily="2" charset="77"/>
              </a:rPr>
              <a:t>Kick-off</a:t>
            </a:r>
          </a:p>
        </p:txBody>
      </p:sp>
      <p:sp>
        <p:nvSpPr>
          <p:cNvPr id="15" name="TextBox 14">
            <a:extLst>
              <a:ext uri="{FF2B5EF4-FFF2-40B4-BE49-F238E27FC236}">
                <a16:creationId xmlns:a16="http://schemas.microsoft.com/office/drawing/2014/main" id="{082A4F79-F0E4-D5F9-325B-A721C9885D4E}"/>
              </a:ext>
            </a:extLst>
          </p:cNvPr>
          <p:cNvSpPr txBox="1"/>
          <p:nvPr/>
        </p:nvSpPr>
        <p:spPr>
          <a:xfrm>
            <a:off x="628039" y="4470199"/>
            <a:ext cx="2376418" cy="400110"/>
          </a:xfrm>
          <a:prstGeom prst="rect">
            <a:avLst/>
          </a:prstGeom>
          <a:solidFill>
            <a:srgbClr val="C6B09D"/>
          </a:solidFill>
        </p:spPr>
        <p:txBody>
          <a:bodyPr wrap="square">
            <a:spAutoFit/>
          </a:bodyPr>
          <a:lstStyle/>
          <a:p>
            <a:pPr algn="ctr"/>
            <a:r>
              <a:rPr lang="en-US" sz="2000" b="1" dirty="0">
                <a:solidFill>
                  <a:schemeClr val="tx2">
                    <a:lumMod val="90000"/>
                    <a:lumOff val="10000"/>
                  </a:schemeClr>
                </a:solidFill>
                <a:latin typeface="Montserrat" pitchFamily="2" charset="77"/>
              </a:rPr>
              <a:t>Project Boise</a:t>
            </a:r>
          </a:p>
        </p:txBody>
      </p:sp>
      <p:sp>
        <p:nvSpPr>
          <p:cNvPr id="17" name="Teardrop 16">
            <a:extLst>
              <a:ext uri="{FF2B5EF4-FFF2-40B4-BE49-F238E27FC236}">
                <a16:creationId xmlns:a16="http://schemas.microsoft.com/office/drawing/2014/main" id="{9F698E2E-8E65-E028-9BEF-B89BB7FEE652}"/>
              </a:ext>
            </a:extLst>
          </p:cNvPr>
          <p:cNvSpPr/>
          <p:nvPr/>
        </p:nvSpPr>
        <p:spPr>
          <a:xfrm rot="10800000" flipH="1">
            <a:off x="10494569" y="3803362"/>
            <a:ext cx="812893" cy="791162"/>
          </a:xfrm>
          <a:prstGeom prst="teardrop">
            <a:avLst/>
          </a:prstGeom>
          <a:solidFill>
            <a:srgbClr val="C6B09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0662F"/>
              </a:solidFill>
            </a:endParaRPr>
          </a:p>
        </p:txBody>
      </p:sp>
      <p:sp>
        <p:nvSpPr>
          <p:cNvPr id="19" name="Delay 18">
            <a:extLst>
              <a:ext uri="{FF2B5EF4-FFF2-40B4-BE49-F238E27FC236}">
                <a16:creationId xmlns:a16="http://schemas.microsoft.com/office/drawing/2014/main" id="{C5DAFD12-5564-7184-59EF-CEBF9EF2B8EB}"/>
              </a:ext>
            </a:extLst>
          </p:cNvPr>
          <p:cNvSpPr/>
          <p:nvPr/>
        </p:nvSpPr>
        <p:spPr>
          <a:xfrm>
            <a:off x="9939342" y="4882856"/>
            <a:ext cx="1109114" cy="1193722"/>
          </a:xfrm>
          <a:prstGeom prst="flowChartDelay">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computer and a plane flying through a window&#10;&#10;AI-generated content may be incorrect.">
            <a:extLst>
              <a:ext uri="{FF2B5EF4-FFF2-40B4-BE49-F238E27FC236}">
                <a16:creationId xmlns:a16="http://schemas.microsoft.com/office/drawing/2014/main" id="{3B459E6D-0B82-5967-A4AE-AC1CC8755689}"/>
              </a:ext>
            </a:extLst>
          </p:cNvPr>
          <p:cNvPicPr>
            <a:picLocks noChangeAspect="1"/>
          </p:cNvPicPr>
          <p:nvPr/>
        </p:nvPicPr>
        <p:blipFill>
          <a:blip r:embed="rId6" cstate="hqprint">
            <a:extLst>
              <a:ext uri="{28A0092B-C50C-407E-A947-70E740481C1C}">
                <a14:useLocalDpi xmlns:a14="http://schemas.microsoft.com/office/drawing/2010/main"/>
              </a:ext>
            </a:extLst>
          </a:blip>
          <a:srcRect/>
          <a:stretch>
            <a:fillRect/>
          </a:stretch>
        </p:blipFill>
        <p:spPr>
          <a:xfrm>
            <a:off x="5799509" y="1313089"/>
            <a:ext cx="4314678" cy="4229254"/>
          </a:xfrm>
          <a:prstGeom prst="ellipse">
            <a:avLst/>
          </a:prstGeom>
        </p:spPr>
      </p:pic>
      <p:sp>
        <p:nvSpPr>
          <p:cNvPr id="11" name="TextBox 10">
            <a:extLst>
              <a:ext uri="{FF2B5EF4-FFF2-40B4-BE49-F238E27FC236}">
                <a16:creationId xmlns:a16="http://schemas.microsoft.com/office/drawing/2014/main" id="{C10F70E6-8D7B-A35D-1E63-E648515BFED2}"/>
              </a:ext>
            </a:extLst>
          </p:cNvPr>
          <p:cNvSpPr txBox="1"/>
          <p:nvPr/>
        </p:nvSpPr>
        <p:spPr>
          <a:xfrm>
            <a:off x="628038" y="5626305"/>
            <a:ext cx="5419967" cy="307777"/>
          </a:xfrm>
          <a:prstGeom prst="rect">
            <a:avLst/>
          </a:prstGeom>
          <a:noFill/>
        </p:spPr>
        <p:txBody>
          <a:bodyPr wrap="square" lIns="0">
            <a:noAutofit/>
          </a:bodyPr>
          <a:lstStyle/>
          <a:p>
            <a:r>
              <a:rPr lang="en-US" sz="1400" dirty="0">
                <a:solidFill>
                  <a:schemeClr val="tx2">
                    <a:lumMod val="90000"/>
                    <a:lumOff val="10000"/>
                  </a:schemeClr>
                </a:solidFill>
                <a:latin typeface="Montserrat" pitchFamily="2" charset="77"/>
              </a:rPr>
              <a:t>|  </a:t>
            </a:r>
            <a:r>
              <a:rPr lang="en-US" sz="1200" dirty="0">
                <a:solidFill>
                  <a:schemeClr val="tx2">
                    <a:lumMod val="90000"/>
                    <a:lumOff val="10000"/>
                  </a:schemeClr>
                </a:solidFill>
                <a:latin typeface="Montserrat" pitchFamily="2" charset="77"/>
              </a:rPr>
              <a:t>OCT. 2025   </a:t>
            </a:r>
            <a:r>
              <a:rPr lang="en-US" sz="1400" dirty="0">
                <a:solidFill>
                  <a:schemeClr val="tx2">
                    <a:lumMod val="90000"/>
                    <a:lumOff val="10000"/>
                  </a:schemeClr>
                </a:solidFill>
                <a:latin typeface="Montserrat" pitchFamily="2" charset="77"/>
              </a:rPr>
              <a:t>|  </a:t>
            </a:r>
            <a:r>
              <a:rPr lang="en-US" sz="1200" dirty="0">
                <a:solidFill>
                  <a:schemeClr val="tx2">
                    <a:lumMod val="90000"/>
                    <a:lumOff val="10000"/>
                  </a:schemeClr>
                </a:solidFill>
                <a:latin typeface="Montserrat" pitchFamily="2" charset="77"/>
              </a:rPr>
              <a:t>Partnered with Bosie Medical Center  </a:t>
            </a:r>
            <a:r>
              <a:rPr lang="en-US" sz="1400" dirty="0">
                <a:solidFill>
                  <a:schemeClr val="tx2">
                    <a:lumMod val="90000"/>
                    <a:lumOff val="10000"/>
                  </a:schemeClr>
                </a:solidFill>
                <a:latin typeface="Montserrat" pitchFamily="2" charset="77"/>
              </a:rPr>
              <a:t>|  </a:t>
            </a:r>
            <a:endParaRPr lang="en-US" sz="1400" dirty="0"/>
          </a:p>
        </p:txBody>
      </p:sp>
      <p:pic>
        <p:nvPicPr>
          <p:cNvPr id="12" name="Picture 11" descr="A logo on a black background&#10;&#10;AI-generated content may be incorrect.">
            <a:extLst>
              <a:ext uri="{FF2B5EF4-FFF2-40B4-BE49-F238E27FC236}">
                <a16:creationId xmlns:a16="http://schemas.microsoft.com/office/drawing/2014/main" id="{9063AF20-A8B0-4A42-053C-87A5F515F9E8}"/>
              </a:ext>
            </a:extLst>
          </p:cNvPr>
          <p:cNvPicPr>
            <a:picLocks noChangeAspect="1"/>
          </p:cNvPicPr>
          <p:nvPr/>
        </p:nvPicPr>
        <p:blipFill>
          <a:blip r:embed="rId7" cstate="hqprint">
            <a:alphaModFix/>
            <a:extLst>
              <a:ext uri="{28A0092B-C50C-407E-A947-70E740481C1C}">
                <a14:useLocalDpi xmlns:a14="http://schemas.microsoft.com/office/drawing/2010/main"/>
              </a:ext>
            </a:extLst>
          </a:blip>
          <a:srcRect/>
          <a:stretch>
            <a:fillRect/>
          </a:stretch>
        </p:blipFill>
        <p:spPr>
          <a:xfrm>
            <a:off x="10439957" y="2206360"/>
            <a:ext cx="1084020" cy="1193722"/>
          </a:xfrm>
          <a:prstGeom prst="rect">
            <a:avLst/>
          </a:prstGeom>
        </p:spPr>
      </p:pic>
    </p:spTree>
    <p:extLst>
      <p:ext uri="{BB962C8B-B14F-4D97-AF65-F5344CB8AC3E}">
        <p14:creationId xmlns:p14="http://schemas.microsoft.com/office/powerpoint/2010/main" val="2260639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FD7CF"/>
        </a:solidFill>
        <a:effectLst/>
      </p:bgPr>
    </p:bg>
    <p:spTree>
      <p:nvGrpSpPr>
        <p:cNvPr id="1" name=""/>
        <p:cNvGrpSpPr/>
        <p:nvPr/>
      </p:nvGrpSpPr>
      <p:grpSpPr>
        <a:xfrm>
          <a:off x="0" y="0"/>
          <a:ext cx="0" cy="0"/>
          <a:chOff x="0" y="0"/>
          <a:chExt cx="0" cy="0"/>
        </a:xfrm>
      </p:grpSpPr>
      <p:sp>
        <p:nvSpPr>
          <p:cNvPr id="53" name="Snip Single Corner Rectangle 52">
            <a:extLst>
              <a:ext uri="{FF2B5EF4-FFF2-40B4-BE49-F238E27FC236}">
                <a16:creationId xmlns:a16="http://schemas.microsoft.com/office/drawing/2014/main" id="{EF7B4D67-B172-F62A-3241-C54FC965D728}"/>
              </a:ext>
            </a:extLst>
          </p:cNvPr>
          <p:cNvSpPr/>
          <p:nvPr/>
        </p:nvSpPr>
        <p:spPr>
          <a:xfrm>
            <a:off x="375557" y="1452051"/>
            <a:ext cx="11458534" cy="5079377"/>
          </a:xfrm>
          <a:prstGeom prst="snip1Rect">
            <a:avLst/>
          </a:prstGeom>
          <a:blipFill dpi="0" rotWithShape="1">
            <a:blip r:embed="rId3"/>
            <a:srcRect/>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
        <p:nvSpPr>
          <p:cNvPr id="7" name="Google Shape;515;p52">
            <a:extLst>
              <a:ext uri="{FF2B5EF4-FFF2-40B4-BE49-F238E27FC236}">
                <a16:creationId xmlns:a16="http://schemas.microsoft.com/office/drawing/2014/main" id="{DBD0805E-54AF-6E4F-D3D8-21186E7528FD}"/>
              </a:ext>
            </a:extLst>
          </p:cNvPr>
          <p:cNvSpPr txBox="1">
            <a:spLocks/>
          </p:cNvSpPr>
          <p:nvPr/>
        </p:nvSpPr>
        <p:spPr>
          <a:xfrm>
            <a:off x="760681" y="1896152"/>
            <a:ext cx="4653900" cy="303900"/>
          </a:xfrm>
          <a:prstGeom prst="rect">
            <a:avLst/>
          </a:prstGeom>
        </p:spPr>
        <p:txBody>
          <a:bodyPr spcFirstLastPara="1" vert="horz" wrap="square" lIns="0" tIns="0" rIns="0" bIns="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US" sz="2600" b="1" dirty="0">
                <a:solidFill>
                  <a:srgbClr val="C6B09D"/>
                </a:solidFill>
                <a:latin typeface="Montserrat" pitchFamily="2" charset="77"/>
              </a:rPr>
              <a:t>MEET OUR TEAM</a:t>
            </a:r>
          </a:p>
        </p:txBody>
      </p:sp>
      <p:grpSp>
        <p:nvGrpSpPr>
          <p:cNvPr id="18" name="Group 17">
            <a:extLst>
              <a:ext uri="{FF2B5EF4-FFF2-40B4-BE49-F238E27FC236}">
                <a16:creationId xmlns:a16="http://schemas.microsoft.com/office/drawing/2014/main" id="{D946A83E-8A1E-EB1F-7726-E3469721485A}"/>
              </a:ext>
            </a:extLst>
          </p:cNvPr>
          <p:cNvGrpSpPr/>
          <p:nvPr/>
        </p:nvGrpSpPr>
        <p:grpSpPr>
          <a:xfrm>
            <a:off x="760681" y="2559926"/>
            <a:ext cx="3115860" cy="3465016"/>
            <a:chOff x="357909" y="2538155"/>
            <a:chExt cx="1841997" cy="3465016"/>
          </a:xfrm>
        </p:grpSpPr>
        <p:sp>
          <p:nvSpPr>
            <p:cNvPr id="4" name="Google Shape;486;p51">
              <a:extLst>
                <a:ext uri="{FF2B5EF4-FFF2-40B4-BE49-F238E27FC236}">
                  <a16:creationId xmlns:a16="http://schemas.microsoft.com/office/drawing/2014/main" id="{AC7E0849-9591-FE46-9910-689C66F6407D}"/>
                </a:ext>
              </a:extLst>
            </p:cNvPr>
            <p:cNvSpPr/>
            <p:nvPr/>
          </p:nvSpPr>
          <p:spPr>
            <a:xfrm>
              <a:off x="357909" y="2538155"/>
              <a:ext cx="1841997" cy="3465016"/>
            </a:xfrm>
            <a:prstGeom prst="roundRect">
              <a:avLst>
                <a:gd name="adj" fmla="val 7120"/>
              </a:avLst>
            </a:prstGeom>
            <a:solidFill>
              <a:schemeClr val="lt1"/>
            </a:solidFill>
            <a:ln>
              <a:noFill/>
            </a:ln>
            <a:effectLst>
              <a:outerShdw blurRad="171450" dist="19050" dir="5400000" algn="bl" rotWithShape="0">
                <a:schemeClr val="dk2">
                  <a:alpha val="4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sz="1600">
                <a:solidFill>
                  <a:schemeClr val="lt1"/>
                </a:solidFill>
                <a:latin typeface="Avenir Medium" panose="02000503020000020003" pitchFamily="2" charset="0"/>
                <a:ea typeface="Figtree"/>
                <a:cs typeface="Figtree"/>
                <a:sym typeface="Figtree"/>
              </a:endParaRPr>
            </a:p>
          </p:txBody>
        </p:sp>
        <p:sp>
          <p:nvSpPr>
            <p:cNvPr id="6" name="Rounded Rectangle 5">
              <a:extLst>
                <a:ext uri="{FF2B5EF4-FFF2-40B4-BE49-F238E27FC236}">
                  <a16:creationId xmlns:a16="http://schemas.microsoft.com/office/drawing/2014/main" id="{B1615FC8-35DF-723F-FBA7-206210AC5B31}"/>
                </a:ext>
              </a:extLst>
            </p:cNvPr>
            <p:cNvSpPr/>
            <p:nvPr/>
          </p:nvSpPr>
          <p:spPr>
            <a:xfrm>
              <a:off x="357909" y="2538155"/>
              <a:ext cx="1841997" cy="1781689"/>
            </a:xfrm>
            <a:prstGeom prst="roundRect">
              <a:avLst>
                <a:gd name="adj" fmla="val 4932"/>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Google Shape;489;p51">
              <a:extLst>
                <a:ext uri="{FF2B5EF4-FFF2-40B4-BE49-F238E27FC236}">
                  <a16:creationId xmlns:a16="http://schemas.microsoft.com/office/drawing/2014/main" id="{2A4F130A-1051-3800-4D0D-EB13204FE7DF}"/>
                </a:ext>
              </a:extLst>
            </p:cNvPr>
            <p:cNvSpPr txBox="1">
              <a:spLocks/>
            </p:cNvSpPr>
            <p:nvPr/>
          </p:nvSpPr>
          <p:spPr>
            <a:xfrm>
              <a:off x="556121" y="5161196"/>
              <a:ext cx="1225200" cy="172200"/>
            </a:xfrm>
            <a:prstGeom prst="rect">
              <a:avLst/>
            </a:prstGeom>
          </p:spPr>
          <p:txBody>
            <a:bodyPr spcFirstLastPara="1" wrap="square" lIns="0" tIns="0"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lt1"/>
                </a:buClr>
                <a:buSzPts val="1100"/>
              </a:pPr>
              <a:r>
                <a:rPr lang="en-US" sz="1600" b="1" dirty="0">
                  <a:solidFill>
                    <a:srgbClr val="0E2F4F"/>
                  </a:solidFill>
                  <a:latin typeface="Montserrat" pitchFamily="2" charset="77"/>
                </a:rPr>
                <a:t>Taylor</a:t>
              </a:r>
            </a:p>
          </p:txBody>
        </p:sp>
        <p:sp>
          <p:nvSpPr>
            <p:cNvPr id="15" name="Google Shape;490;p51">
              <a:extLst>
                <a:ext uri="{FF2B5EF4-FFF2-40B4-BE49-F238E27FC236}">
                  <a16:creationId xmlns:a16="http://schemas.microsoft.com/office/drawing/2014/main" id="{2925D332-1F1D-35A6-0AB8-C72C5B4D78F6}"/>
                </a:ext>
              </a:extLst>
            </p:cNvPr>
            <p:cNvSpPr txBox="1">
              <a:spLocks/>
            </p:cNvSpPr>
            <p:nvPr/>
          </p:nvSpPr>
          <p:spPr>
            <a:xfrm>
              <a:off x="556121" y="5513333"/>
              <a:ext cx="1225200" cy="207600"/>
            </a:xfrm>
            <a:prstGeom prst="rect">
              <a:avLst/>
            </a:prstGeom>
          </p:spPr>
          <p:txBody>
            <a:bodyPr spcFirstLastPara="1" wrap="square" lIns="0" tIns="0"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lt1"/>
                </a:buClr>
                <a:buSzPts val="1100"/>
              </a:pPr>
              <a:r>
                <a:rPr lang="en-US" sz="1600" dirty="0">
                  <a:solidFill>
                    <a:srgbClr val="0E2F4F"/>
                  </a:solidFill>
                  <a:latin typeface="Montserrat" pitchFamily="2" charset="77"/>
                </a:rPr>
                <a:t>Software Engineer</a:t>
              </a:r>
            </a:p>
          </p:txBody>
        </p:sp>
      </p:grpSp>
      <p:grpSp>
        <p:nvGrpSpPr>
          <p:cNvPr id="40" name="Group 39">
            <a:extLst>
              <a:ext uri="{FF2B5EF4-FFF2-40B4-BE49-F238E27FC236}">
                <a16:creationId xmlns:a16="http://schemas.microsoft.com/office/drawing/2014/main" id="{8C89EF6A-17E6-6E10-29C9-DA668419BC44}"/>
              </a:ext>
            </a:extLst>
          </p:cNvPr>
          <p:cNvGrpSpPr/>
          <p:nvPr/>
        </p:nvGrpSpPr>
        <p:grpSpPr>
          <a:xfrm>
            <a:off x="4267077" y="2559926"/>
            <a:ext cx="3115860" cy="3465016"/>
            <a:chOff x="357909" y="2538155"/>
            <a:chExt cx="1841997" cy="3465016"/>
          </a:xfrm>
        </p:grpSpPr>
        <p:sp>
          <p:nvSpPr>
            <p:cNvPr id="41" name="Google Shape;486;p51">
              <a:extLst>
                <a:ext uri="{FF2B5EF4-FFF2-40B4-BE49-F238E27FC236}">
                  <a16:creationId xmlns:a16="http://schemas.microsoft.com/office/drawing/2014/main" id="{26FB4BCD-91C1-8CEF-2C5D-68F507E15175}"/>
                </a:ext>
              </a:extLst>
            </p:cNvPr>
            <p:cNvSpPr/>
            <p:nvPr/>
          </p:nvSpPr>
          <p:spPr>
            <a:xfrm>
              <a:off x="357909" y="2538155"/>
              <a:ext cx="1841997" cy="3465016"/>
            </a:xfrm>
            <a:prstGeom prst="roundRect">
              <a:avLst>
                <a:gd name="adj" fmla="val 7120"/>
              </a:avLst>
            </a:prstGeom>
            <a:solidFill>
              <a:schemeClr val="lt1"/>
            </a:solidFill>
            <a:ln>
              <a:noFill/>
            </a:ln>
            <a:effectLst>
              <a:outerShdw blurRad="171450" dist="19050" dir="5400000" algn="bl" rotWithShape="0">
                <a:schemeClr val="dk2">
                  <a:alpha val="4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sz="1600">
                <a:solidFill>
                  <a:schemeClr val="lt1"/>
                </a:solidFill>
                <a:latin typeface="Avenir Medium" panose="02000503020000020003" pitchFamily="2" charset="0"/>
                <a:ea typeface="Figtree"/>
                <a:cs typeface="Figtree"/>
                <a:sym typeface="Figtree"/>
              </a:endParaRPr>
            </a:p>
          </p:txBody>
        </p:sp>
        <p:sp>
          <p:nvSpPr>
            <p:cNvPr id="42" name="Rounded Rectangle 41">
              <a:extLst>
                <a:ext uri="{FF2B5EF4-FFF2-40B4-BE49-F238E27FC236}">
                  <a16:creationId xmlns:a16="http://schemas.microsoft.com/office/drawing/2014/main" id="{DB0B52B2-7A50-D0CC-B0F1-5071733DB636}"/>
                </a:ext>
              </a:extLst>
            </p:cNvPr>
            <p:cNvSpPr/>
            <p:nvPr/>
          </p:nvSpPr>
          <p:spPr>
            <a:xfrm>
              <a:off x="357909" y="2538155"/>
              <a:ext cx="1841997" cy="1781689"/>
            </a:xfrm>
            <a:prstGeom prst="roundRect">
              <a:avLst>
                <a:gd name="adj" fmla="val 4932"/>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Google Shape;489;p51">
              <a:extLst>
                <a:ext uri="{FF2B5EF4-FFF2-40B4-BE49-F238E27FC236}">
                  <a16:creationId xmlns:a16="http://schemas.microsoft.com/office/drawing/2014/main" id="{DC4A788C-7ADD-8B12-C9B1-E04F6CA290EC}"/>
                </a:ext>
              </a:extLst>
            </p:cNvPr>
            <p:cNvSpPr txBox="1">
              <a:spLocks/>
            </p:cNvSpPr>
            <p:nvPr/>
          </p:nvSpPr>
          <p:spPr>
            <a:xfrm>
              <a:off x="556121" y="5161196"/>
              <a:ext cx="1225200" cy="172200"/>
            </a:xfrm>
            <a:prstGeom prst="rect">
              <a:avLst/>
            </a:prstGeom>
          </p:spPr>
          <p:txBody>
            <a:bodyPr spcFirstLastPara="1" wrap="square" lIns="0" tIns="0"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lt1"/>
                </a:buClr>
                <a:buSzPts val="1100"/>
              </a:pPr>
              <a:r>
                <a:rPr lang="en-US" sz="1600" b="1" dirty="0">
                  <a:solidFill>
                    <a:srgbClr val="0E2F4F"/>
                  </a:solidFill>
                  <a:latin typeface="Montserrat" pitchFamily="2" charset="77"/>
                </a:rPr>
                <a:t>Ellen</a:t>
              </a:r>
            </a:p>
          </p:txBody>
        </p:sp>
        <p:sp>
          <p:nvSpPr>
            <p:cNvPr id="44" name="Google Shape;490;p51">
              <a:extLst>
                <a:ext uri="{FF2B5EF4-FFF2-40B4-BE49-F238E27FC236}">
                  <a16:creationId xmlns:a16="http://schemas.microsoft.com/office/drawing/2014/main" id="{7F93D7C7-369B-C8CA-3EB8-1552B48DE59A}"/>
                </a:ext>
              </a:extLst>
            </p:cNvPr>
            <p:cNvSpPr txBox="1">
              <a:spLocks/>
            </p:cNvSpPr>
            <p:nvPr/>
          </p:nvSpPr>
          <p:spPr>
            <a:xfrm>
              <a:off x="556121" y="5486707"/>
              <a:ext cx="1225200" cy="207600"/>
            </a:xfrm>
            <a:prstGeom prst="rect">
              <a:avLst/>
            </a:prstGeom>
          </p:spPr>
          <p:txBody>
            <a:bodyPr spcFirstLastPara="1" wrap="square" lIns="0" tIns="0"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lt1"/>
                </a:buClr>
                <a:buSzPts val="1100"/>
              </a:pPr>
              <a:r>
                <a:rPr lang="en-US" sz="1600" dirty="0">
                  <a:solidFill>
                    <a:srgbClr val="0E2F4F"/>
                  </a:solidFill>
                  <a:latin typeface="Montserrat" pitchFamily="2" charset="77"/>
                </a:rPr>
                <a:t>Product Lead</a:t>
              </a:r>
            </a:p>
          </p:txBody>
        </p:sp>
      </p:grpSp>
      <p:grpSp>
        <p:nvGrpSpPr>
          <p:cNvPr id="45" name="Group 44">
            <a:extLst>
              <a:ext uri="{FF2B5EF4-FFF2-40B4-BE49-F238E27FC236}">
                <a16:creationId xmlns:a16="http://schemas.microsoft.com/office/drawing/2014/main" id="{D5596C3B-5668-A8FD-AAF4-11C84D732070}"/>
              </a:ext>
            </a:extLst>
          </p:cNvPr>
          <p:cNvGrpSpPr/>
          <p:nvPr/>
        </p:nvGrpSpPr>
        <p:grpSpPr>
          <a:xfrm>
            <a:off x="7773473" y="2559926"/>
            <a:ext cx="3115860" cy="3465016"/>
            <a:chOff x="357909" y="2538155"/>
            <a:chExt cx="1841997" cy="3465016"/>
          </a:xfrm>
        </p:grpSpPr>
        <p:sp>
          <p:nvSpPr>
            <p:cNvPr id="46" name="Google Shape;486;p51">
              <a:extLst>
                <a:ext uri="{FF2B5EF4-FFF2-40B4-BE49-F238E27FC236}">
                  <a16:creationId xmlns:a16="http://schemas.microsoft.com/office/drawing/2014/main" id="{618C148B-834B-A776-0B3E-320C48670C63}"/>
                </a:ext>
              </a:extLst>
            </p:cNvPr>
            <p:cNvSpPr/>
            <p:nvPr/>
          </p:nvSpPr>
          <p:spPr>
            <a:xfrm>
              <a:off x="357909" y="2538155"/>
              <a:ext cx="1841997" cy="3465016"/>
            </a:xfrm>
            <a:prstGeom prst="roundRect">
              <a:avLst>
                <a:gd name="adj" fmla="val 7120"/>
              </a:avLst>
            </a:prstGeom>
            <a:solidFill>
              <a:schemeClr val="lt1"/>
            </a:solidFill>
            <a:ln>
              <a:noFill/>
            </a:ln>
            <a:effectLst>
              <a:outerShdw blurRad="171450" dist="19050" dir="5400000" algn="bl" rotWithShape="0">
                <a:schemeClr val="dk2">
                  <a:alpha val="4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sz="1600">
                <a:solidFill>
                  <a:schemeClr val="lt1"/>
                </a:solidFill>
                <a:latin typeface="Avenir Medium" panose="02000503020000020003" pitchFamily="2" charset="0"/>
                <a:ea typeface="Figtree"/>
                <a:cs typeface="Figtree"/>
                <a:sym typeface="Figtree"/>
              </a:endParaRPr>
            </a:p>
          </p:txBody>
        </p:sp>
        <p:sp>
          <p:nvSpPr>
            <p:cNvPr id="47" name="Rounded Rectangle 46">
              <a:extLst>
                <a:ext uri="{FF2B5EF4-FFF2-40B4-BE49-F238E27FC236}">
                  <a16:creationId xmlns:a16="http://schemas.microsoft.com/office/drawing/2014/main" id="{1C99ACFF-0C9F-F2FE-EE79-A45639D3C453}"/>
                </a:ext>
              </a:extLst>
            </p:cNvPr>
            <p:cNvSpPr/>
            <p:nvPr/>
          </p:nvSpPr>
          <p:spPr>
            <a:xfrm>
              <a:off x="357909" y="2538155"/>
              <a:ext cx="1841997" cy="1781689"/>
            </a:xfrm>
            <a:prstGeom prst="roundRect">
              <a:avLst>
                <a:gd name="adj" fmla="val 4932"/>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3" name="Picture 12" descr="A person with curly hair wearing glasses and a tan suit&#10;&#10;AI-generated content may be incorrect.">
            <a:extLst>
              <a:ext uri="{FF2B5EF4-FFF2-40B4-BE49-F238E27FC236}">
                <a16:creationId xmlns:a16="http://schemas.microsoft.com/office/drawing/2014/main" id="{0A7F3837-5731-0D49-A69C-15FB4168AE8A}"/>
              </a:ext>
            </a:extLst>
          </p:cNvPr>
          <p:cNvPicPr>
            <a:picLocks noChangeAspect="1"/>
          </p:cNvPicPr>
          <p:nvPr/>
        </p:nvPicPr>
        <p:blipFill>
          <a:blip r:embed="rId4" cstate="hqprint">
            <a:extLst>
              <a:ext uri="{28A0092B-C50C-407E-A947-70E740481C1C}">
                <a14:useLocalDpi xmlns:a14="http://schemas.microsoft.com/office/drawing/2010/main"/>
              </a:ext>
            </a:extLst>
          </a:blip>
          <a:srcRect t="-1"/>
          <a:stretch>
            <a:fillRect/>
          </a:stretch>
        </p:blipFill>
        <p:spPr>
          <a:xfrm>
            <a:off x="760682" y="2559925"/>
            <a:ext cx="3115859" cy="2340804"/>
          </a:xfrm>
          <a:prstGeom prst="roundRect">
            <a:avLst>
              <a:gd name="adj" fmla="val 3671"/>
            </a:avLst>
          </a:prstGeom>
        </p:spPr>
      </p:pic>
      <p:pic>
        <p:nvPicPr>
          <p:cNvPr id="19" name="Picture 18" descr="A person smiling at camera&#10;&#10;AI-generated content may be incorrect.">
            <a:extLst>
              <a:ext uri="{FF2B5EF4-FFF2-40B4-BE49-F238E27FC236}">
                <a16:creationId xmlns:a16="http://schemas.microsoft.com/office/drawing/2014/main" id="{1424E66F-9783-56FF-06CE-F1C424FFD8B6}"/>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4267078" y="2559925"/>
            <a:ext cx="3115859" cy="2340804"/>
          </a:xfrm>
          <a:prstGeom prst="roundRect">
            <a:avLst>
              <a:gd name="adj" fmla="val 3431"/>
            </a:avLst>
          </a:prstGeom>
        </p:spPr>
      </p:pic>
      <p:pic>
        <p:nvPicPr>
          <p:cNvPr id="21" name="Picture 20" descr="A person wearing glasses smiling&#10;&#10;AI-generated content may be incorrect.">
            <a:extLst>
              <a:ext uri="{FF2B5EF4-FFF2-40B4-BE49-F238E27FC236}">
                <a16:creationId xmlns:a16="http://schemas.microsoft.com/office/drawing/2014/main" id="{C41695CA-5FA1-C75E-1AE4-DE917AE7C4CC}"/>
              </a:ext>
            </a:extLst>
          </p:cNvPr>
          <p:cNvPicPr>
            <a:picLocks noChangeAspect="1"/>
          </p:cNvPicPr>
          <p:nvPr/>
        </p:nvPicPr>
        <p:blipFill>
          <a:blip r:embed="rId6" cstate="hqprint">
            <a:extLst>
              <a:ext uri="{28A0092B-C50C-407E-A947-70E740481C1C}">
                <a14:useLocalDpi xmlns:a14="http://schemas.microsoft.com/office/drawing/2010/main"/>
              </a:ext>
            </a:extLst>
          </a:blip>
          <a:srcRect/>
          <a:stretch>
            <a:fillRect/>
          </a:stretch>
        </p:blipFill>
        <p:spPr>
          <a:xfrm>
            <a:off x="7773474" y="2559925"/>
            <a:ext cx="3115859" cy="2340804"/>
          </a:xfrm>
          <a:prstGeom prst="roundRect">
            <a:avLst>
              <a:gd name="adj" fmla="val 2114"/>
            </a:avLst>
          </a:prstGeom>
        </p:spPr>
      </p:pic>
      <p:sp>
        <p:nvSpPr>
          <p:cNvPr id="22" name="Google Shape;489;p51">
            <a:extLst>
              <a:ext uri="{FF2B5EF4-FFF2-40B4-BE49-F238E27FC236}">
                <a16:creationId xmlns:a16="http://schemas.microsoft.com/office/drawing/2014/main" id="{BCDB74B6-F332-9C34-63D9-1EAD350D631D}"/>
              </a:ext>
            </a:extLst>
          </p:cNvPr>
          <p:cNvSpPr txBox="1">
            <a:spLocks/>
          </p:cNvSpPr>
          <p:nvPr/>
        </p:nvSpPr>
        <p:spPr>
          <a:xfrm>
            <a:off x="7995949" y="5152240"/>
            <a:ext cx="2072507" cy="172200"/>
          </a:xfrm>
          <a:prstGeom prst="rect">
            <a:avLst/>
          </a:prstGeom>
        </p:spPr>
        <p:txBody>
          <a:bodyPr spcFirstLastPara="1" wrap="square" lIns="0" tIns="0"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lt1"/>
              </a:buClr>
              <a:buSzPts val="1100"/>
            </a:pPr>
            <a:r>
              <a:rPr lang="en-US" sz="1600" b="1" dirty="0">
                <a:solidFill>
                  <a:srgbClr val="0E2F4F"/>
                </a:solidFill>
                <a:latin typeface="Montserrat" pitchFamily="2" charset="77"/>
              </a:rPr>
              <a:t>Sam</a:t>
            </a:r>
          </a:p>
        </p:txBody>
      </p:sp>
      <p:sp>
        <p:nvSpPr>
          <p:cNvPr id="23" name="Google Shape;490;p51">
            <a:extLst>
              <a:ext uri="{FF2B5EF4-FFF2-40B4-BE49-F238E27FC236}">
                <a16:creationId xmlns:a16="http://schemas.microsoft.com/office/drawing/2014/main" id="{D7187638-2CD8-FE56-94B2-6D1286ADF884}"/>
              </a:ext>
            </a:extLst>
          </p:cNvPr>
          <p:cNvSpPr txBox="1">
            <a:spLocks/>
          </p:cNvSpPr>
          <p:nvPr/>
        </p:nvSpPr>
        <p:spPr>
          <a:xfrm>
            <a:off x="7995949" y="5477751"/>
            <a:ext cx="2072507" cy="207600"/>
          </a:xfrm>
          <a:prstGeom prst="rect">
            <a:avLst/>
          </a:prstGeom>
        </p:spPr>
        <p:txBody>
          <a:bodyPr spcFirstLastPara="1" wrap="square" lIns="0" tIns="0"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lt1"/>
              </a:buClr>
              <a:buSzPts val="1100"/>
            </a:pPr>
            <a:r>
              <a:rPr lang="en-US" sz="1600" dirty="0">
                <a:solidFill>
                  <a:srgbClr val="0E2F4F"/>
                </a:solidFill>
                <a:latin typeface="Montserrat" pitchFamily="2" charset="77"/>
              </a:rPr>
              <a:t>Product Designer</a:t>
            </a:r>
          </a:p>
        </p:txBody>
      </p:sp>
      <p:pic>
        <p:nvPicPr>
          <p:cNvPr id="2" name="Picture 1" descr="A logo on a black background&#10;&#10;AI-generated content may be incorrect.">
            <a:extLst>
              <a:ext uri="{FF2B5EF4-FFF2-40B4-BE49-F238E27FC236}">
                <a16:creationId xmlns:a16="http://schemas.microsoft.com/office/drawing/2014/main" id="{C41A58E2-35A6-D7CA-0BD6-C7F2C9E4298B}"/>
              </a:ext>
            </a:extLst>
          </p:cNvPr>
          <p:cNvPicPr>
            <a:picLocks noChangeAspect="1"/>
          </p:cNvPicPr>
          <p:nvPr/>
        </p:nvPicPr>
        <p:blipFill>
          <a:blip r:embed="rId7" cstate="hqprint">
            <a:alphaModFix amt="50000"/>
            <a:extLst>
              <a:ext uri="{28A0092B-C50C-407E-A947-70E740481C1C}">
                <a14:useLocalDpi xmlns:a14="http://schemas.microsoft.com/office/drawing/2010/main"/>
              </a:ext>
            </a:extLst>
          </a:blip>
          <a:srcRect/>
          <a:stretch>
            <a:fillRect/>
          </a:stretch>
        </p:blipFill>
        <p:spPr>
          <a:xfrm>
            <a:off x="10968937" y="186360"/>
            <a:ext cx="865154" cy="280423"/>
          </a:xfrm>
          <a:prstGeom prst="rect">
            <a:avLst/>
          </a:prstGeom>
        </p:spPr>
      </p:pic>
    </p:spTree>
    <p:extLst>
      <p:ext uri="{BB962C8B-B14F-4D97-AF65-F5344CB8AC3E}">
        <p14:creationId xmlns:p14="http://schemas.microsoft.com/office/powerpoint/2010/main" val="1746348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ue circle with white dots&#10;&#10;AI-generated content may be incorrect.">
            <a:extLst>
              <a:ext uri="{FF2B5EF4-FFF2-40B4-BE49-F238E27FC236}">
                <a16:creationId xmlns:a16="http://schemas.microsoft.com/office/drawing/2014/main" id="{F83A8093-6812-1CB0-CD0C-F51A04505373}"/>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1" y="0"/>
            <a:ext cx="12192001" cy="6858000"/>
          </a:xfrm>
          <a:prstGeom prst="rect">
            <a:avLst/>
          </a:prstGeom>
        </p:spPr>
      </p:pic>
      <p:sp>
        <p:nvSpPr>
          <p:cNvPr id="2" name="Title 1">
            <a:extLst>
              <a:ext uri="{FF2B5EF4-FFF2-40B4-BE49-F238E27FC236}">
                <a16:creationId xmlns:a16="http://schemas.microsoft.com/office/drawing/2014/main" id="{CB8F29A8-3F3D-A26D-8BEA-CE0625AF9B16}"/>
              </a:ext>
            </a:extLst>
          </p:cNvPr>
          <p:cNvSpPr>
            <a:spLocks noGrp="1"/>
          </p:cNvSpPr>
          <p:nvPr>
            <p:ph type="title"/>
          </p:nvPr>
        </p:nvSpPr>
        <p:spPr>
          <a:xfrm>
            <a:off x="649653" y="3135919"/>
            <a:ext cx="3240420" cy="586163"/>
          </a:xfrm>
        </p:spPr>
        <p:txBody>
          <a:bodyPr vert="horz" lIns="0" tIns="45720" rIns="91440" bIns="45720" rtlCol="0" anchor="t">
            <a:noAutofit/>
          </a:bodyPr>
          <a:lstStyle/>
          <a:p>
            <a:r>
              <a:rPr lang="en-US" sz="4800" b="1" dirty="0">
                <a:solidFill>
                  <a:srgbClr val="C6B09D"/>
                </a:solidFill>
                <a:latin typeface="Montserrat" pitchFamily="2" charset="77"/>
              </a:rPr>
              <a:t>Agenda</a:t>
            </a:r>
          </a:p>
        </p:txBody>
      </p:sp>
      <p:sp>
        <p:nvSpPr>
          <p:cNvPr id="15" name="Content Placeholder 8">
            <a:extLst>
              <a:ext uri="{FF2B5EF4-FFF2-40B4-BE49-F238E27FC236}">
                <a16:creationId xmlns:a16="http://schemas.microsoft.com/office/drawing/2014/main" id="{09237ED6-5061-B653-A75F-FE3DE9F8DD78}"/>
              </a:ext>
            </a:extLst>
          </p:cNvPr>
          <p:cNvSpPr txBox="1">
            <a:spLocks/>
          </p:cNvSpPr>
          <p:nvPr/>
        </p:nvSpPr>
        <p:spPr>
          <a:xfrm>
            <a:off x="7087834" y="4597753"/>
            <a:ext cx="3240421" cy="588261"/>
          </a:xfrm>
          <a:prstGeom prst="rect">
            <a:avLst/>
          </a:prstGeom>
        </p:spPr>
        <p:txBody>
          <a:bodyPr vert="horz" lIns="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b="1" dirty="0">
                <a:solidFill>
                  <a:srgbClr val="FFFFFF"/>
                </a:solidFill>
                <a:latin typeface="Montserrat" pitchFamily="2" charset="77"/>
              </a:rPr>
              <a:t>Next Steps</a:t>
            </a:r>
          </a:p>
        </p:txBody>
      </p:sp>
      <p:sp>
        <p:nvSpPr>
          <p:cNvPr id="16" name="Content Placeholder 8">
            <a:extLst>
              <a:ext uri="{FF2B5EF4-FFF2-40B4-BE49-F238E27FC236}">
                <a16:creationId xmlns:a16="http://schemas.microsoft.com/office/drawing/2014/main" id="{0F62BF54-CEEC-D4A1-4840-72C2926B0893}"/>
              </a:ext>
            </a:extLst>
          </p:cNvPr>
          <p:cNvSpPr txBox="1">
            <a:spLocks/>
          </p:cNvSpPr>
          <p:nvPr/>
        </p:nvSpPr>
        <p:spPr>
          <a:xfrm>
            <a:off x="6096000" y="4598670"/>
            <a:ext cx="895278" cy="588261"/>
          </a:xfrm>
          <a:prstGeom prst="rect">
            <a:avLst/>
          </a:prstGeom>
        </p:spPr>
        <p:txBody>
          <a:bodyPr vert="horz" lIns="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3200" b="1" spc="300" dirty="0">
                <a:solidFill>
                  <a:srgbClr val="C6B09D"/>
                </a:solidFill>
                <a:latin typeface="Montserrat" pitchFamily="2" charset="77"/>
                <a:ea typeface="Hiragino Kaku Gothic Std W8" panose="020B0800000000000000" pitchFamily="34" charset="-128"/>
                <a:cs typeface="Gill Sans SemiBold" panose="020B0502020104020203" pitchFamily="34" charset="-79"/>
              </a:rPr>
              <a:t>O5</a:t>
            </a:r>
          </a:p>
        </p:txBody>
      </p:sp>
      <p:sp>
        <p:nvSpPr>
          <p:cNvPr id="18" name="Content Placeholder 8">
            <a:extLst>
              <a:ext uri="{FF2B5EF4-FFF2-40B4-BE49-F238E27FC236}">
                <a16:creationId xmlns:a16="http://schemas.microsoft.com/office/drawing/2014/main" id="{E9C5E7C1-F0AE-D318-4421-7D13861E4BE1}"/>
              </a:ext>
            </a:extLst>
          </p:cNvPr>
          <p:cNvSpPr txBox="1">
            <a:spLocks/>
          </p:cNvSpPr>
          <p:nvPr/>
        </p:nvSpPr>
        <p:spPr>
          <a:xfrm>
            <a:off x="7081551" y="2423356"/>
            <a:ext cx="3240421" cy="588261"/>
          </a:xfrm>
          <a:prstGeom prst="rect">
            <a:avLst/>
          </a:prstGeom>
        </p:spPr>
        <p:txBody>
          <a:bodyPr vert="horz" lIns="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b="1" dirty="0">
                <a:solidFill>
                  <a:srgbClr val="FFFFFF"/>
                </a:solidFill>
                <a:latin typeface="Montserrat" pitchFamily="2" charset="77"/>
              </a:rPr>
              <a:t>Objectives</a:t>
            </a:r>
          </a:p>
        </p:txBody>
      </p:sp>
      <p:sp>
        <p:nvSpPr>
          <p:cNvPr id="19" name="Content Placeholder 8">
            <a:extLst>
              <a:ext uri="{FF2B5EF4-FFF2-40B4-BE49-F238E27FC236}">
                <a16:creationId xmlns:a16="http://schemas.microsoft.com/office/drawing/2014/main" id="{830566AF-1C02-8D17-4871-1CC8FBB7D861}"/>
              </a:ext>
            </a:extLst>
          </p:cNvPr>
          <p:cNvSpPr txBox="1">
            <a:spLocks/>
          </p:cNvSpPr>
          <p:nvPr/>
        </p:nvSpPr>
        <p:spPr>
          <a:xfrm>
            <a:off x="6089717" y="2424273"/>
            <a:ext cx="895278" cy="588261"/>
          </a:xfrm>
          <a:prstGeom prst="rect">
            <a:avLst/>
          </a:prstGeom>
        </p:spPr>
        <p:txBody>
          <a:bodyPr vert="horz" lIns="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3200" b="1" spc="300" dirty="0">
                <a:solidFill>
                  <a:srgbClr val="C6B09D"/>
                </a:solidFill>
                <a:latin typeface="Montserrat" pitchFamily="2" charset="77"/>
                <a:ea typeface="Hiragino Kaku Gothic Std W8" panose="020B0800000000000000" pitchFamily="34" charset="-128"/>
                <a:cs typeface="Gill Sans SemiBold" panose="020B0502020104020203" pitchFamily="34" charset="-79"/>
              </a:rPr>
              <a:t>O2</a:t>
            </a:r>
          </a:p>
        </p:txBody>
      </p:sp>
      <p:sp>
        <p:nvSpPr>
          <p:cNvPr id="21" name="Content Placeholder 8">
            <a:extLst>
              <a:ext uri="{FF2B5EF4-FFF2-40B4-BE49-F238E27FC236}">
                <a16:creationId xmlns:a16="http://schemas.microsoft.com/office/drawing/2014/main" id="{20C1BECC-BAAA-9F8B-758C-82403DD6EF56}"/>
              </a:ext>
            </a:extLst>
          </p:cNvPr>
          <p:cNvSpPr txBox="1">
            <a:spLocks/>
          </p:cNvSpPr>
          <p:nvPr/>
        </p:nvSpPr>
        <p:spPr>
          <a:xfrm>
            <a:off x="7081551" y="3177477"/>
            <a:ext cx="3240421" cy="588261"/>
          </a:xfrm>
          <a:prstGeom prst="rect">
            <a:avLst/>
          </a:prstGeom>
        </p:spPr>
        <p:txBody>
          <a:bodyPr vert="horz" lIns="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b="1" dirty="0">
                <a:solidFill>
                  <a:srgbClr val="FFFFFF"/>
                </a:solidFill>
                <a:latin typeface="Montserrat" pitchFamily="2" charset="77"/>
              </a:rPr>
              <a:t>Communication</a:t>
            </a:r>
          </a:p>
        </p:txBody>
      </p:sp>
      <p:sp>
        <p:nvSpPr>
          <p:cNvPr id="22" name="Content Placeholder 8">
            <a:extLst>
              <a:ext uri="{FF2B5EF4-FFF2-40B4-BE49-F238E27FC236}">
                <a16:creationId xmlns:a16="http://schemas.microsoft.com/office/drawing/2014/main" id="{0DA05414-5C9C-D19B-D2D3-A43136FF9BF1}"/>
              </a:ext>
            </a:extLst>
          </p:cNvPr>
          <p:cNvSpPr txBox="1">
            <a:spLocks/>
          </p:cNvSpPr>
          <p:nvPr/>
        </p:nvSpPr>
        <p:spPr>
          <a:xfrm>
            <a:off x="6089717" y="3178394"/>
            <a:ext cx="895278" cy="588261"/>
          </a:xfrm>
          <a:prstGeom prst="rect">
            <a:avLst/>
          </a:prstGeom>
        </p:spPr>
        <p:txBody>
          <a:bodyPr vert="horz" lIns="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3200" b="1" spc="300" dirty="0">
                <a:solidFill>
                  <a:srgbClr val="C6B09D"/>
                </a:solidFill>
                <a:latin typeface="Montserrat" pitchFamily="2" charset="77"/>
                <a:ea typeface="Hiragino Kaku Gothic Std W8" panose="020B0800000000000000" pitchFamily="34" charset="-128"/>
                <a:cs typeface="Gill Sans SemiBold" panose="020B0502020104020203" pitchFamily="34" charset="-79"/>
              </a:rPr>
              <a:t>O3</a:t>
            </a:r>
          </a:p>
        </p:txBody>
      </p:sp>
      <p:sp>
        <p:nvSpPr>
          <p:cNvPr id="24" name="Content Placeholder 8">
            <a:extLst>
              <a:ext uri="{FF2B5EF4-FFF2-40B4-BE49-F238E27FC236}">
                <a16:creationId xmlns:a16="http://schemas.microsoft.com/office/drawing/2014/main" id="{C88E1DB4-DED1-A9B6-6D34-E3F207FCEC61}"/>
              </a:ext>
            </a:extLst>
          </p:cNvPr>
          <p:cNvSpPr txBox="1">
            <a:spLocks/>
          </p:cNvSpPr>
          <p:nvPr/>
        </p:nvSpPr>
        <p:spPr>
          <a:xfrm>
            <a:off x="7087834" y="3887615"/>
            <a:ext cx="4017421" cy="588261"/>
          </a:xfrm>
          <a:prstGeom prst="rect">
            <a:avLst/>
          </a:prstGeom>
        </p:spPr>
        <p:txBody>
          <a:bodyPr vert="horz" lIns="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b="1" dirty="0">
                <a:solidFill>
                  <a:srgbClr val="FFFFFF"/>
                </a:solidFill>
                <a:latin typeface="Montserrat" pitchFamily="2" charset="77"/>
              </a:rPr>
              <a:t>Risks &amp; Mitigations </a:t>
            </a:r>
          </a:p>
        </p:txBody>
      </p:sp>
      <p:sp>
        <p:nvSpPr>
          <p:cNvPr id="25" name="Content Placeholder 8">
            <a:extLst>
              <a:ext uri="{FF2B5EF4-FFF2-40B4-BE49-F238E27FC236}">
                <a16:creationId xmlns:a16="http://schemas.microsoft.com/office/drawing/2014/main" id="{75CA55A4-7282-47E2-BB5F-D5A48BCA4A5A}"/>
              </a:ext>
            </a:extLst>
          </p:cNvPr>
          <p:cNvSpPr txBox="1">
            <a:spLocks/>
          </p:cNvSpPr>
          <p:nvPr/>
        </p:nvSpPr>
        <p:spPr>
          <a:xfrm>
            <a:off x="6096000" y="3888532"/>
            <a:ext cx="895278" cy="588261"/>
          </a:xfrm>
          <a:prstGeom prst="rect">
            <a:avLst/>
          </a:prstGeom>
        </p:spPr>
        <p:txBody>
          <a:bodyPr vert="horz" lIns="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3200" b="1" spc="300" dirty="0">
                <a:solidFill>
                  <a:srgbClr val="C6B09D"/>
                </a:solidFill>
                <a:latin typeface="Montserrat" pitchFamily="2" charset="77"/>
                <a:ea typeface="Hiragino Kaku Gothic Std W8" panose="020B0800000000000000" pitchFamily="34" charset="-128"/>
                <a:cs typeface="Gill Sans SemiBold" panose="020B0502020104020203" pitchFamily="34" charset="-79"/>
              </a:rPr>
              <a:t>O4</a:t>
            </a:r>
          </a:p>
        </p:txBody>
      </p:sp>
      <p:sp>
        <p:nvSpPr>
          <p:cNvPr id="27" name="Content Placeholder 8">
            <a:extLst>
              <a:ext uri="{FF2B5EF4-FFF2-40B4-BE49-F238E27FC236}">
                <a16:creationId xmlns:a16="http://schemas.microsoft.com/office/drawing/2014/main" id="{67A6052F-2F2D-7EE6-3F73-927E79253F16}"/>
              </a:ext>
            </a:extLst>
          </p:cNvPr>
          <p:cNvSpPr txBox="1">
            <a:spLocks/>
          </p:cNvSpPr>
          <p:nvPr/>
        </p:nvSpPr>
        <p:spPr>
          <a:xfrm>
            <a:off x="7081551" y="1671070"/>
            <a:ext cx="3240421" cy="588261"/>
          </a:xfrm>
          <a:prstGeom prst="rect">
            <a:avLst/>
          </a:prstGeom>
        </p:spPr>
        <p:txBody>
          <a:bodyPr vert="horz" lIns="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b="1" dirty="0">
                <a:solidFill>
                  <a:srgbClr val="FFFFFF"/>
                </a:solidFill>
                <a:latin typeface="Montserrat" pitchFamily="2" charset="77"/>
              </a:rPr>
              <a:t>The Misson</a:t>
            </a:r>
          </a:p>
        </p:txBody>
      </p:sp>
      <p:sp>
        <p:nvSpPr>
          <p:cNvPr id="28" name="Content Placeholder 8">
            <a:extLst>
              <a:ext uri="{FF2B5EF4-FFF2-40B4-BE49-F238E27FC236}">
                <a16:creationId xmlns:a16="http://schemas.microsoft.com/office/drawing/2014/main" id="{ED428D10-DA7C-94C8-6D4C-42A1E050B954}"/>
              </a:ext>
            </a:extLst>
          </p:cNvPr>
          <p:cNvSpPr txBox="1">
            <a:spLocks/>
          </p:cNvSpPr>
          <p:nvPr/>
        </p:nvSpPr>
        <p:spPr>
          <a:xfrm>
            <a:off x="6089717" y="1671987"/>
            <a:ext cx="895278" cy="588261"/>
          </a:xfrm>
          <a:prstGeom prst="rect">
            <a:avLst/>
          </a:prstGeom>
        </p:spPr>
        <p:txBody>
          <a:bodyPr vert="horz" lIns="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3200" b="1" spc="300" dirty="0">
                <a:solidFill>
                  <a:srgbClr val="C6B09D"/>
                </a:solidFill>
                <a:latin typeface="Montserrat" pitchFamily="2" charset="77"/>
                <a:ea typeface="Hiragino Kaku Gothic Std W8" panose="020B0800000000000000" pitchFamily="34" charset="-128"/>
                <a:cs typeface="Gill Sans SemiBold" panose="020B0502020104020203" pitchFamily="34" charset="-79"/>
              </a:rPr>
              <a:t>O1</a:t>
            </a:r>
          </a:p>
        </p:txBody>
      </p:sp>
      <p:pic>
        <p:nvPicPr>
          <p:cNvPr id="3" name="Picture 2" descr="A logo on a black background&#10;&#10;AI-generated content may be incorrect.">
            <a:extLst>
              <a:ext uri="{FF2B5EF4-FFF2-40B4-BE49-F238E27FC236}">
                <a16:creationId xmlns:a16="http://schemas.microsoft.com/office/drawing/2014/main" id="{6E8E7860-8E74-883C-D6E7-8C5E3C88EE60}"/>
              </a:ext>
            </a:extLst>
          </p:cNvPr>
          <p:cNvPicPr>
            <a:picLocks noChangeAspect="1"/>
          </p:cNvPicPr>
          <p:nvPr/>
        </p:nvPicPr>
        <p:blipFill>
          <a:blip r:embed="rId4" cstate="hqprint">
            <a:alphaModFix amt="70000"/>
            <a:lum bright="70000" contrast="-70000"/>
            <a:extLst>
              <a:ext uri="{28A0092B-C50C-407E-A947-70E740481C1C}">
                <a14:useLocalDpi xmlns:a14="http://schemas.microsoft.com/office/drawing/2010/main"/>
              </a:ext>
            </a:extLst>
          </a:blip>
          <a:srcRect/>
          <a:stretch>
            <a:fillRect/>
          </a:stretch>
        </p:blipFill>
        <p:spPr>
          <a:xfrm>
            <a:off x="10968937" y="186360"/>
            <a:ext cx="865154" cy="280423"/>
          </a:xfrm>
          <a:prstGeom prst="rect">
            <a:avLst/>
          </a:prstGeom>
        </p:spPr>
      </p:pic>
    </p:spTree>
    <p:extLst>
      <p:ext uri="{BB962C8B-B14F-4D97-AF65-F5344CB8AC3E}">
        <p14:creationId xmlns:p14="http://schemas.microsoft.com/office/powerpoint/2010/main" val="2494413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circle with white dots&#10;&#10;AI-generated content may be incorrect.">
            <a:extLst>
              <a:ext uri="{FF2B5EF4-FFF2-40B4-BE49-F238E27FC236}">
                <a16:creationId xmlns:a16="http://schemas.microsoft.com/office/drawing/2014/main" id="{78D6EB21-8B08-5578-DA38-0C9950381D12}"/>
              </a:ext>
            </a:extLst>
          </p:cNvPr>
          <p:cNvPicPr>
            <a:picLocks noChangeAspect="1"/>
          </p:cNvPicPr>
          <p:nvPr/>
        </p:nvPicPr>
        <p:blipFill>
          <a:blip r:embed="rId2" cstate="hqprint">
            <a:extLst>
              <a:ext uri="{28A0092B-C50C-407E-A947-70E740481C1C}">
                <a14:useLocalDpi xmlns:a14="http://schemas.microsoft.com/office/drawing/2010/main"/>
              </a:ext>
            </a:extLst>
          </a:blip>
          <a:srcRect l="1" r="59696"/>
          <a:stretch>
            <a:fillRect/>
          </a:stretch>
        </p:blipFill>
        <p:spPr>
          <a:xfrm>
            <a:off x="0" y="0"/>
            <a:ext cx="4913746" cy="6858000"/>
          </a:xfrm>
          <a:prstGeom prst="rect">
            <a:avLst/>
          </a:prstGeom>
        </p:spPr>
      </p:pic>
      <p:sp>
        <p:nvSpPr>
          <p:cNvPr id="20" name="Content Placeholder 8">
            <a:extLst>
              <a:ext uri="{FF2B5EF4-FFF2-40B4-BE49-F238E27FC236}">
                <a16:creationId xmlns:a16="http://schemas.microsoft.com/office/drawing/2014/main" id="{50C797F2-ACBD-DBC4-6AAA-3DE562A5D77A}"/>
              </a:ext>
            </a:extLst>
          </p:cNvPr>
          <p:cNvSpPr>
            <a:spLocks noGrp="1"/>
          </p:cNvSpPr>
          <p:nvPr>
            <p:ph idx="4294967295"/>
          </p:nvPr>
        </p:nvSpPr>
        <p:spPr>
          <a:xfrm>
            <a:off x="6216051" y="1382713"/>
            <a:ext cx="2481262" cy="469900"/>
          </a:xfrm>
        </p:spPr>
        <p:txBody>
          <a:bodyPr vert="horz" lIns="91440" tIns="45720" rIns="91440" bIns="45720" rtlCol="0" anchor="b">
            <a:normAutofit/>
          </a:bodyPr>
          <a:lstStyle/>
          <a:p>
            <a:pPr marL="0" indent="0">
              <a:buNone/>
            </a:pPr>
            <a:r>
              <a:rPr lang="en-US" sz="2600" b="1" spc="50" dirty="0">
                <a:solidFill>
                  <a:srgbClr val="0E2F4F"/>
                </a:solidFill>
                <a:latin typeface="Montserrat" pitchFamily="2" charset="77"/>
              </a:rPr>
              <a:t>IMPACTS</a:t>
            </a:r>
          </a:p>
        </p:txBody>
      </p:sp>
      <p:sp>
        <p:nvSpPr>
          <p:cNvPr id="21" name="Content Placeholder 8">
            <a:extLst>
              <a:ext uri="{FF2B5EF4-FFF2-40B4-BE49-F238E27FC236}">
                <a16:creationId xmlns:a16="http://schemas.microsoft.com/office/drawing/2014/main" id="{EC410C0E-D14B-F981-7F8F-449ED76CDD7B}"/>
              </a:ext>
            </a:extLst>
          </p:cNvPr>
          <p:cNvSpPr txBox="1">
            <a:spLocks/>
          </p:cNvSpPr>
          <p:nvPr/>
        </p:nvSpPr>
        <p:spPr>
          <a:xfrm>
            <a:off x="6216051" y="2033457"/>
            <a:ext cx="4752886" cy="348467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0"/>
              </a:spcBef>
              <a:buNone/>
            </a:pPr>
            <a:r>
              <a:rPr lang="en-US" sz="1600" dirty="0">
                <a:solidFill>
                  <a:schemeClr val="tx2">
                    <a:lumMod val="90000"/>
                    <a:lumOff val="10000"/>
                  </a:schemeClr>
                </a:solidFill>
                <a:latin typeface="Montserrat" pitchFamily="2" charset="77"/>
              </a:rPr>
              <a:t>The objective of this project is to develop and launch a best-in-class corporate product that effectively addresses current market gaps while aligning with the company’s three-year growth roadmap. </a:t>
            </a:r>
          </a:p>
          <a:p>
            <a:pPr marL="0" indent="0">
              <a:lnSpc>
                <a:spcPct val="120000"/>
              </a:lnSpc>
              <a:spcBef>
                <a:spcPts val="0"/>
              </a:spcBef>
              <a:buNone/>
            </a:pPr>
            <a:endParaRPr lang="en-US" sz="1600" dirty="0">
              <a:solidFill>
                <a:schemeClr val="tx2">
                  <a:lumMod val="90000"/>
                  <a:lumOff val="10000"/>
                </a:schemeClr>
              </a:solidFill>
              <a:latin typeface="Montserrat" pitchFamily="2" charset="77"/>
            </a:endParaRPr>
          </a:p>
          <a:p>
            <a:pPr marL="0" indent="0">
              <a:lnSpc>
                <a:spcPct val="120000"/>
              </a:lnSpc>
              <a:spcBef>
                <a:spcPts val="0"/>
              </a:spcBef>
              <a:buNone/>
            </a:pPr>
            <a:r>
              <a:rPr lang="en-US" sz="1600" dirty="0">
                <a:solidFill>
                  <a:schemeClr val="tx2">
                    <a:lumMod val="90000"/>
                    <a:lumOff val="10000"/>
                  </a:schemeClr>
                </a:solidFill>
                <a:latin typeface="Montserrat" pitchFamily="2" charset="77"/>
              </a:rPr>
              <a:t>Rapid technological advancements and evolving customer expectations have created an urgent need for continuous product innovation.</a:t>
            </a:r>
          </a:p>
        </p:txBody>
      </p:sp>
      <p:sp>
        <p:nvSpPr>
          <p:cNvPr id="23" name="Teardrop 22">
            <a:extLst>
              <a:ext uri="{FF2B5EF4-FFF2-40B4-BE49-F238E27FC236}">
                <a16:creationId xmlns:a16="http://schemas.microsoft.com/office/drawing/2014/main" id="{5222EE3B-F263-8B8A-CA71-82972D06DEB4}"/>
              </a:ext>
            </a:extLst>
          </p:cNvPr>
          <p:cNvSpPr/>
          <p:nvPr/>
        </p:nvSpPr>
        <p:spPr>
          <a:xfrm rot="10800000" flipH="1">
            <a:off x="608153" y="242185"/>
            <a:ext cx="390403" cy="379966"/>
          </a:xfrm>
          <a:prstGeom prst="teardrop">
            <a:avLst/>
          </a:prstGeom>
          <a:solidFill>
            <a:srgbClr val="C6B09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6B09D"/>
              </a:solidFill>
            </a:endParaRPr>
          </a:p>
        </p:txBody>
      </p:sp>
      <p:sp>
        <p:nvSpPr>
          <p:cNvPr id="24" name="Delay 23">
            <a:extLst>
              <a:ext uri="{FF2B5EF4-FFF2-40B4-BE49-F238E27FC236}">
                <a16:creationId xmlns:a16="http://schemas.microsoft.com/office/drawing/2014/main" id="{8BDE0352-8E0E-9859-6722-B284ADE85AFC}"/>
              </a:ext>
            </a:extLst>
          </p:cNvPr>
          <p:cNvSpPr/>
          <p:nvPr/>
        </p:nvSpPr>
        <p:spPr>
          <a:xfrm>
            <a:off x="0" y="622151"/>
            <a:ext cx="544617" cy="586163"/>
          </a:xfrm>
          <a:prstGeom prst="flowChartDelay">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L-Shape 29">
            <a:extLst>
              <a:ext uri="{FF2B5EF4-FFF2-40B4-BE49-F238E27FC236}">
                <a16:creationId xmlns:a16="http://schemas.microsoft.com/office/drawing/2014/main" id="{1712755D-F55A-D29D-4429-B2327D11223A}"/>
              </a:ext>
            </a:extLst>
          </p:cNvPr>
          <p:cNvSpPr/>
          <p:nvPr/>
        </p:nvSpPr>
        <p:spPr>
          <a:xfrm>
            <a:off x="5825007" y="5469615"/>
            <a:ext cx="358815" cy="358815"/>
          </a:xfrm>
          <a:prstGeom prst="corner">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L-Shape 30">
            <a:extLst>
              <a:ext uri="{FF2B5EF4-FFF2-40B4-BE49-F238E27FC236}">
                <a16:creationId xmlns:a16="http://schemas.microsoft.com/office/drawing/2014/main" id="{96D958F4-67B9-28E5-A256-8BA4CEE27E7F}"/>
              </a:ext>
            </a:extLst>
          </p:cNvPr>
          <p:cNvSpPr/>
          <p:nvPr/>
        </p:nvSpPr>
        <p:spPr>
          <a:xfrm rot="10800000">
            <a:off x="10854634" y="1023588"/>
            <a:ext cx="358815" cy="358815"/>
          </a:xfrm>
          <a:prstGeom prst="corner">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logo on a black background&#10;&#10;AI-generated content may be incorrect.">
            <a:extLst>
              <a:ext uri="{FF2B5EF4-FFF2-40B4-BE49-F238E27FC236}">
                <a16:creationId xmlns:a16="http://schemas.microsoft.com/office/drawing/2014/main" id="{D2310475-5B91-DDB6-EEE8-243121F2077B}"/>
              </a:ext>
            </a:extLst>
          </p:cNvPr>
          <p:cNvPicPr>
            <a:picLocks noChangeAspect="1"/>
          </p:cNvPicPr>
          <p:nvPr/>
        </p:nvPicPr>
        <p:blipFill>
          <a:blip r:embed="rId3" cstate="hqprint">
            <a:alphaModFix amt="50000"/>
            <a:extLst>
              <a:ext uri="{28A0092B-C50C-407E-A947-70E740481C1C}">
                <a14:useLocalDpi xmlns:a14="http://schemas.microsoft.com/office/drawing/2010/main"/>
              </a:ext>
            </a:extLst>
          </a:blip>
          <a:srcRect/>
          <a:stretch>
            <a:fillRect/>
          </a:stretch>
        </p:blipFill>
        <p:spPr>
          <a:xfrm>
            <a:off x="10968937" y="186360"/>
            <a:ext cx="865154" cy="280423"/>
          </a:xfrm>
          <a:prstGeom prst="rect">
            <a:avLst/>
          </a:prstGeom>
        </p:spPr>
      </p:pic>
      <p:sp>
        <p:nvSpPr>
          <p:cNvPr id="7" name="Title 1">
            <a:extLst>
              <a:ext uri="{FF2B5EF4-FFF2-40B4-BE49-F238E27FC236}">
                <a16:creationId xmlns:a16="http://schemas.microsoft.com/office/drawing/2014/main" id="{4477153D-A489-F2E8-C8FA-EEB1FDE48C3C}"/>
              </a:ext>
            </a:extLst>
          </p:cNvPr>
          <p:cNvSpPr txBox="1">
            <a:spLocks/>
          </p:cNvSpPr>
          <p:nvPr/>
        </p:nvSpPr>
        <p:spPr>
          <a:xfrm>
            <a:off x="649653" y="3135919"/>
            <a:ext cx="3827344" cy="1495716"/>
          </a:xfrm>
          <a:prstGeom prst="rect">
            <a:avLst/>
          </a:prstGeom>
        </p:spPr>
        <p:txBody>
          <a:bodyPr vert="horz" lIns="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b="1" dirty="0">
                <a:solidFill>
                  <a:srgbClr val="C6B09D"/>
                </a:solidFill>
                <a:latin typeface="Montserrat" pitchFamily="2" charset="77"/>
              </a:rPr>
              <a:t>Executive Summary</a:t>
            </a:r>
          </a:p>
        </p:txBody>
      </p:sp>
    </p:spTree>
    <p:extLst>
      <p:ext uri="{BB962C8B-B14F-4D97-AF65-F5344CB8AC3E}">
        <p14:creationId xmlns:p14="http://schemas.microsoft.com/office/powerpoint/2010/main" val="347747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FD7CF"/>
        </a:solidFill>
        <a:effectLst/>
      </p:bgPr>
    </p:bg>
    <p:spTree>
      <p:nvGrpSpPr>
        <p:cNvPr id="1" name=""/>
        <p:cNvGrpSpPr/>
        <p:nvPr/>
      </p:nvGrpSpPr>
      <p:grpSpPr>
        <a:xfrm>
          <a:off x="0" y="0"/>
          <a:ext cx="0" cy="0"/>
          <a:chOff x="0" y="0"/>
          <a:chExt cx="0" cy="0"/>
        </a:xfrm>
      </p:grpSpPr>
      <p:pic>
        <p:nvPicPr>
          <p:cNvPr id="3" name="Picture 2" descr="A blue circle with white dots&#10;&#10;AI-generated content may be incorrect.">
            <a:extLst>
              <a:ext uri="{FF2B5EF4-FFF2-40B4-BE49-F238E27FC236}">
                <a16:creationId xmlns:a16="http://schemas.microsoft.com/office/drawing/2014/main" id="{158A7668-BB30-9940-B525-4C282321819D}"/>
              </a:ext>
            </a:extLst>
          </p:cNvPr>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1" y="0"/>
            <a:ext cx="12192001" cy="6858000"/>
          </a:xfrm>
          <a:prstGeom prst="rect">
            <a:avLst/>
          </a:prstGeom>
        </p:spPr>
      </p:pic>
      <p:sp>
        <p:nvSpPr>
          <p:cNvPr id="5" name="Snip and Round Single Corner Rectangle 4">
            <a:extLst>
              <a:ext uri="{FF2B5EF4-FFF2-40B4-BE49-F238E27FC236}">
                <a16:creationId xmlns:a16="http://schemas.microsoft.com/office/drawing/2014/main" id="{368C2D96-A1EE-AFB6-0060-3E7782AAE4E0}"/>
              </a:ext>
            </a:extLst>
          </p:cNvPr>
          <p:cNvSpPr/>
          <p:nvPr/>
        </p:nvSpPr>
        <p:spPr>
          <a:xfrm>
            <a:off x="438481" y="2096659"/>
            <a:ext cx="3621619" cy="4206285"/>
          </a:xfrm>
          <a:prstGeom prst="snipRoundRect">
            <a:avLst/>
          </a:prstGeom>
          <a:solidFill>
            <a:schemeClr val="accent1">
              <a:alpha val="54233"/>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8">
            <a:extLst>
              <a:ext uri="{FF2B5EF4-FFF2-40B4-BE49-F238E27FC236}">
                <a16:creationId xmlns:a16="http://schemas.microsoft.com/office/drawing/2014/main" id="{099328BD-88D1-8972-18A7-18036B927821}"/>
              </a:ext>
            </a:extLst>
          </p:cNvPr>
          <p:cNvSpPr>
            <a:spLocks noGrp="1"/>
          </p:cNvSpPr>
          <p:nvPr>
            <p:ph idx="4294967295"/>
          </p:nvPr>
        </p:nvSpPr>
        <p:spPr>
          <a:xfrm>
            <a:off x="845146" y="2236788"/>
            <a:ext cx="2808288" cy="469900"/>
          </a:xfrm>
        </p:spPr>
        <p:txBody>
          <a:bodyPr vert="horz" lIns="91440" tIns="45720" rIns="91440" bIns="45720" rtlCol="0" anchor="b">
            <a:noAutofit/>
          </a:bodyPr>
          <a:lstStyle/>
          <a:p>
            <a:pPr marL="0" indent="0" algn="ctr">
              <a:buNone/>
            </a:pPr>
            <a:r>
              <a:rPr lang="en-US" sz="1800" b="1" dirty="0">
                <a:solidFill>
                  <a:srgbClr val="E9D0BA"/>
                </a:solidFill>
                <a:latin typeface="Avenir Book" panose="02000503020000020003" pitchFamily="2" charset="0"/>
              </a:rPr>
              <a:t>Market Expansion</a:t>
            </a:r>
          </a:p>
        </p:txBody>
      </p:sp>
      <p:sp>
        <p:nvSpPr>
          <p:cNvPr id="8" name="TextBox 7">
            <a:extLst>
              <a:ext uri="{FF2B5EF4-FFF2-40B4-BE49-F238E27FC236}">
                <a16:creationId xmlns:a16="http://schemas.microsoft.com/office/drawing/2014/main" id="{2EEE0A66-6A42-279B-63C0-438B6DDFCF2F}"/>
              </a:ext>
            </a:extLst>
          </p:cNvPr>
          <p:cNvSpPr txBox="1"/>
          <p:nvPr/>
        </p:nvSpPr>
        <p:spPr>
          <a:xfrm>
            <a:off x="748126" y="3429000"/>
            <a:ext cx="3003109" cy="2502865"/>
          </a:xfrm>
          <a:prstGeom prst="rect">
            <a:avLst/>
          </a:prstGeom>
          <a:noFill/>
        </p:spPr>
        <p:txBody>
          <a:bodyPr wrap="square" lIns="0">
            <a:spAutoFit/>
          </a:bodyPr>
          <a:lstStyle/>
          <a:p>
            <a:pPr marL="285750" indent="-285750">
              <a:lnSpc>
                <a:spcPct val="110000"/>
              </a:lnSpc>
              <a:spcAft>
                <a:spcPts val="1000"/>
              </a:spcAft>
              <a:buFont typeface="Arial" panose="020B0604020202020204" pitchFamily="34" charset="0"/>
              <a:buChar char="•"/>
            </a:pPr>
            <a:r>
              <a:rPr lang="en-US" sz="1200" dirty="0">
                <a:solidFill>
                  <a:schemeClr val="bg1"/>
                </a:solidFill>
                <a:latin typeface="Avenir Book" panose="02000503020000020003" pitchFamily="2" charset="0"/>
              </a:rPr>
              <a:t>Enter untapped customer segments, including mid-sized enterprises seeking scalable solutions</a:t>
            </a:r>
          </a:p>
          <a:p>
            <a:pPr marL="285750" indent="-285750">
              <a:lnSpc>
                <a:spcPct val="110000"/>
              </a:lnSpc>
              <a:spcAft>
                <a:spcPts val="1000"/>
              </a:spcAft>
              <a:buFont typeface="Arial" panose="020B0604020202020204" pitchFamily="34" charset="0"/>
              <a:buChar char="•"/>
            </a:pPr>
            <a:r>
              <a:rPr lang="en-US" sz="1200" dirty="0">
                <a:solidFill>
                  <a:schemeClr val="bg1"/>
                </a:solidFill>
                <a:latin typeface="Avenir Book" panose="02000503020000020003" pitchFamily="2" charset="0"/>
              </a:rPr>
              <a:t>Strengthen international presence through localization and regional partnerships</a:t>
            </a:r>
          </a:p>
          <a:p>
            <a:pPr marL="285750" indent="-285750">
              <a:lnSpc>
                <a:spcPct val="110000"/>
              </a:lnSpc>
              <a:spcAft>
                <a:spcPts val="1000"/>
              </a:spcAft>
              <a:buFont typeface="Arial" panose="020B0604020202020204" pitchFamily="34" charset="0"/>
              <a:buChar char="•"/>
            </a:pPr>
            <a:r>
              <a:rPr lang="en-US" sz="1200" dirty="0">
                <a:solidFill>
                  <a:schemeClr val="bg1"/>
                </a:solidFill>
                <a:latin typeface="Avenir Book" panose="02000503020000020003" pitchFamily="2" charset="0"/>
              </a:rPr>
              <a:t>Leverage brand recognition to secure new distribution channels</a:t>
            </a:r>
          </a:p>
          <a:p>
            <a:pPr marL="285750" indent="-285750">
              <a:lnSpc>
                <a:spcPct val="110000"/>
              </a:lnSpc>
              <a:spcAft>
                <a:spcPts val="1000"/>
              </a:spcAft>
              <a:buFont typeface="Arial" panose="020B0604020202020204" pitchFamily="34" charset="0"/>
              <a:buChar char="•"/>
            </a:pPr>
            <a:r>
              <a:rPr lang="en-US" sz="1200" dirty="0">
                <a:solidFill>
                  <a:schemeClr val="bg1"/>
                </a:solidFill>
                <a:latin typeface="Avenir Book" panose="02000503020000020003" pitchFamily="2" charset="0"/>
              </a:rPr>
              <a:t>Increase recurring revenue through support and maintenance packages</a:t>
            </a:r>
          </a:p>
        </p:txBody>
      </p:sp>
      <p:cxnSp>
        <p:nvCxnSpPr>
          <p:cNvPr id="33" name="Straight Connector 32">
            <a:extLst>
              <a:ext uri="{FF2B5EF4-FFF2-40B4-BE49-F238E27FC236}">
                <a16:creationId xmlns:a16="http://schemas.microsoft.com/office/drawing/2014/main" id="{80C84FFA-C39E-05D0-2115-A871079BF3C5}"/>
              </a:ext>
            </a:extLst>
          </p:cNvPr>
          <p:cNvCxnSpPr>
            <a:cxnSpLocks/>
          </p:cNvCxnSpPr>
          <p:nvPr/>
        </p:nvCxnSpPr>
        <p:spPr>
          <a:xfrm>
            <a:off x="747346" y="2947470"/>
            <a:ext cx="3003889" cy="0"/>
          </a:xfrm>
          <a:prstGeom prst="line">
            <a:avLst/>
          </a:prstGeom>
          <a:ln w="25400"/>
        </p:spPr>
        <p:style>
          <a:lnRef idx="2">
            <a:schemeClr val="accent1"/>
          </a:lnRef>
          <a:fillRef idx="0">
            <a:schemeClr val="accent1"/>
          </a:fillRef>
          <a:effectRef idx="1">
            <a:schemeClr val="accent1"/>
          </a:effectRef>
          <a:fontRef idx="minor">
            <a:schemeClr val="tx1"/>
          </a:fontRef>
        </p:style>
      </p:cxnSp>
      <p:sp>
        <p:nvSpPr>
          <p:cNvPr id="16" name="Snip and Round Single Corner Rectangle 15">
            <a:extLst>
              <a:ext uri="{FF2B5EF4-FFF2-40B4-BE49-F238E27FC236}">
                <a16:creationId xmlns:a16="http://schemas.microsoft.com/office/drawing/2014/main" id="{DA6F360E-B50B-5644-1722-C615737B8C7E}"/>
              </a:ext>
            </a:extLst>
          </p:cNvPr>
          <p:cNvSpPr/>
          <p:nvPr/>
        </p:nvSpPr>
        <p:spPr>
          <a:xfrm>
            <a:off x="4278468" y="2096659"/>
            <a:ext cx="3621619" cy="4206285"/>
          </a:xfrm>
          <a:prstGeom prst="snipRoundRect">
            <a:avLst/>
          </a:prstGeom>
          <a:solidFill>
            <a:schemeClr val="accent1">
              <a:alpha val="5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C416CAF3-E81F-71A6-1F83-DA86597DA3EF}"/>
              </a:ext>
            </a:extLst>
          </p:cNvPr>
          <p:cNvSpPr txBox="1"/>
          <p:nvPr/>
        </p:nvSpPr>
        <p:spPr>
          <a:xfrm>
            <a:off x="4587333" y="3429000"/>
            <a:ext cx="3003889" cy="2299732"/>
          </a:xfrm>
          <a:prstGeom prst="rect">
            <a:avLst/>
          </a:prstGeom>
          <a:noFill/>
        </p:spPr>
        <p:txBody>
          <a:bodyPr wrap="square" lIns="0">
            <a:spAutoFit/>
          </a:bodyPr>
          <a:lstStyle/>
          <a:p>
            <a:pPr marL="285750" indent="-285750">
              <a:lnSpc>
                <a:spcPct val="110000"/>
              </a:lnSpc>
              <a:spcAft>
                <a:spcPts val="1000"/>
              </a:spcAft>
              <a:buFont typeface="Arial" panose="020B0604020202020204" pitchFamily="34" charset="0"/>
              <a:buChar char="•"/>
            </a:pPr>
            <a:r>
              <a:rPr lang="en-US" sz="1200" dirty="0">
                <a:solidFill>
                  <a:schemeClr val="bg1"/>
                </a:solidFill>
                <a:latin typeface="Avenir Book" panose="02000503020000020003" pitchFamily="2" charset="0"/>
              </a:rPr>
              <a:t>Collaborate with industry leaders to co-develop integrations</a:t>
            </a:r>
          </a:p>
          <a:p>
            <a:pPr marL="285750" indent="-285750">
              <a:lnSpc>
                <a:spcPct val="110000"/>
              </a:lnSpc>
              <a:spcAft>
                <a:spcPts val="1000"/>
              </a:spcAft>
              <a:buFont typeface="Arial" panose="020B0604020202020204" pitchFamily="34" charset="0"/>
              <a:buChar char="•"/>
            </a:pPr>
            <a:r>
              <a:rPr lang="en-US" sz="1200" dirty="0">
                <a:solidFill>
                  <a:schemeClr val="bg1"/>
                </a:solidFill>
                <a:latin typeface="Avenir Book" panose="02000503020000020003" pitchFamily="2" charset="0"/>
              </a:rPr>
              <a:t>Partner with resellers and managed service providers to expand reach</a:t>
            </a:r>
          </a:p>
          <a:p>
            <a:pPr marL="285750" indent="-285750">
              <a:lnSpc>
                <a:spcPct val="110000"/>
              </a:lnSpc>
              <a:spcAft>
                <a:spcPts val="1000"/>
              </a:spcAft>
              <a:buFont typeface="Arial" panose="020B0604020202020204" pitchFamily="34" charset="0"/>
              <a:buChar char="•"/>
            </a:pPr>
            <a:r>
              <a:rPr lang="en-US" sz="1200" dirty="0">
                <a:solidFill>
                  <a:schemeClr val="bg1"/>
                </a:solidFill>
                <a:latin typeface="Avenir Book" panose="02000503020000020003" pitchFamily="2" charset="0"/>
              </a:rPr>
              <a:t>Build alliances for data sharing, analytics, and innovation acceleration</a:t>
            </a:r>
          </a:p>
          <a:p>
            <a:pPr marL="285750" indent="-285750">
              <a:lnSpc>
                <a:spcPct val="110000"/>
              </a:lnSpc>
              <a:spcAft>
                <a:spcPts val="1000"/>
              </a:spcAft>
              <a:buFont typeface="Arial" panose="020B0604020202020204" pitchFamily="34" charset="0"/>
              <a:buChar char="•"/>
            </a:pPr>
            <a:r>
              <a:rPr lang="en-US" sz="1200" dirty="0">
                <a:solidFill>
                  <a:schemeClr val="bg1"/>
                </a:solidFill>
                <a:latin typeface="Avenir Book" panose="02000503020000020003" pitchFamily="2" charset="0"/>
              </a:rPr>
              <a:t>Position the company as a trusted advisor for digital modernization initiatives</a:t>
            </a:r>
          </a:p>
        </p:txBody>
      </p:sp>
      <p:sp>
        <p:nvSpPr>
          <p:cNvPr id="34" name="Content Placeholder 8">
            <a:extLst>
              <a:ext uri="{FF2B5EF4-FFF2-40B4-BE49-F238E27FC236}">
                <a16:creationId xmlns:a16="http://schemas.microsoft.com/office/drawing/2014/main" id="{07F17647-18BF-80F2-80B7-D1C43E0DBE58}"/>
              </a:ext>
            </a:extLst>
          </p:cNvPr>
          <p:cNvSpPr txBox="1">
            <a:spLocks/>
          </p:cNvSpPr>
          <p:nvPr/>
        </p:nvSpPr>
        <p:spPr>
          <a:xfrm>
            <a:off x="4391046" y="2250095"/>
            <a:ext cx="3333320" cy="469638"/>
          </a:xfrm>
          <a:prstGeom prst="rect">
            <a:avLst/>
          </a:prstGeom>
        </p:spPr>
        <p:txBody>
          <a:bodyPr vert="horz" lIns="91440" tIns="45720" rIns="91440" bIns="4572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800" b="1" dirty="0">
                <a:solidFill>
                  <a:srgbClr val="E9D0BA"/>
                </a:solidFill>
                <a:latin typeface="Avenir Book" panose="02000503020000020003" pitchFamily="2" charset="0"/>
              </a:rPr>
              <a:t>Strategic Partnerships</a:t>
            </a:r>
          </a:p>
        </p:txBody>
      </p:sp>
      <p:sp>
        <p:nvSpPr>
          <p:cNvPr id="6" name="Snip and Round Single Corner Rectangle 5">
            <a:extLst>
              <a:ext uri="{FF2B5EF4-FFF2-40B4-BE49-F238E27FC236}">
                <a16:creationId xmlns:a16="http://schemas.microsoft.com/office/drawing/2014/main" id="{A02CE09E-E8A4-EF05-6ED9-BC30572A4660}"/>
              </a:ext>
            </a:extLst>
          </p:cNvPr>
          <p:cNvSpPr/>
          <p:nvPr/>
        </p:nvSpPr>
        <p:spPr>
          <a:xfrm>
            <a:off x="8118455" y="2096659"/>
            <a:ext cx="3621619" cy="4206285"/>
          </a:xfrm>
          <a:prstGeom prst="snipRoundRect">
            <a:avLst/>
          </a:prstGeom>
          <a:solidFill>
            <a:schemeClr val="accent1">
              <a:alpha val="5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AC71D16-7B7E-FA44-F59D-79A6FE583664}"/>
              </a:ext>
            </a:extLst>
          </p:cNvPr>
          <p:cNvSpPr txBox="1"/>
          <p:nvPr/>
        </p:nvSpPr>
        <p:spPr>
          <a:xfrm>
            <a:off x="8427320" y="3429000"/>
            <a:ext cx="3003889" cy="1968359"/>
          </a:xfrm>
          <a:prstGeom prst="rect">
            <a:avLst/>
          </a:prstGeom>
          <a:noFill/>
        </p:spPr>
        <p:txBody>
          <a:bodyPr wrap="square" lIns="0">
            <a:spAutoFit/>
          </a:bodyPr>
          <a:lstStyle/>
          <a:p>
            <a:pPr marL="285750" indent="-285750">
              <a:lnSpc>
                <a:spcPct val="110000"/>
              </a:lnSpc>
              <a:spcAft>
                <a:spcPts val="1000"/>
              </a:spcAft>
              <a:buFont typeface="Arial" panose="020B0604020202020204" pitchFamily="34" charset="0"/>
              <a:buChar char="•"/>
            </a:pPr>
            <a:r>
              <a:rPr lang="en-US" sz="1200" dirty="0">
                <a:solidFill>
                  <a:schemeClr val="bg1"/>
                </a:solidFill>
                <a:latin typeface="Avenir Book" panose="02000503020000020003" pitchFamily="2" charset="0"/>
              </a:rPr>
              <a:t>Establish a foundation for product diversification and ecosystem development</a:t>
            </a:r>
          </a:p>
          <a:p>
            <a:pPr marL="285750" indent="-285750">
              <a:lnSpc>
                <a:spcPct val="110000"/>
              </a:lnSpc>
              <a:spcAft>
                <a:spcPts val="1000"/>
              </a:spcAft>
              <a:buFont typeface="Arial" panose="020B0604020202020204" pitchFamily="34" charset="0"/>
              <a:buChar char="•"/>
            </a:pPr>
            <a:r>
              <a:rPr lang="en-US" sz="1200" dirty="0">
                <a:solidFill>
                  <a:schemeClr val="bg1"/>
                </a:solidFill>
                <a:latin typeface="Avenir Book" panose="02000503020000020003" pitchFamily="2" charset="0"/>
              </a:rPr>
              <a:t>Open doors for SaaS model evolution, AI integration, and API monetization</a:t>
            </a:r>
          </a:p>
          <a:p>
            <a:pPr marL="285750" indent="-285750">
              <a:lnSpc>
                <a:spcPct val="110000"/>
              </a:lnSpc>
              <a:spcAft>
                <a:spcPts val="1000"/>
              </a:spcAft>
              <a:buFont typeface="Arial" panose="020B0604020202020204" pitchFamily="34" charset="0"/>
              <a:buChar char="•"/>
            </a:pPr>
            <a:r>
              <a:rPr lang="en-US" sz="1200" dirty="0">
                <a:solidFill>
                  <a:schemeClr val="bg1"/>
                </a:solidFill>
                <a:latin typeface="Avenir Book" panose="02000503020000020003" pitchFamily="2" charset="0"/>
              </a:rPr>
              <a:t>Build a sustainable innovation pipeline driven by customer feedback and analytics</a:t>
            </a:r>
          </a:p>
        </p:txBody>
      </p:sp>
      <p:sp>
        <p:nvSpPr>
          <p:cNvPr id="36" name="Content Placeholder 8">
            <a:extLst>
              <a:ext uri="{FF2B5EF4-FFF2-40B4-BE49-F238E27FC236}">
                <a16:creationId xmlns:a16="http://schemas.microsoft.com/office/drawing/2014/main" id="{224D41D6-AA57-F5F2-18BC-37C56C5B7690}"/>
              </a:ext>
            </a:extLst>
          </p:cNvPr>
          <p:cNvSpPr txBox="1">
            <a:spLocks/>
          </p:cNvSpPr>
          <p:nvPr/>
        </p:nvSpPr>
        <p:spPr>
          <a:xfrm>
            <a:off x="8492855" y="2280475"/>
            <a:ext cx="2804037" cy="469638"/>
          </a:xfrm>
          <a:prstGeom prst="rect">
            <a:avLst/>
          </a:prstGeom>
        </p:spPr>
        <p:txBody>
          <a:bodyPr vert="horz" lIns="91440" tIns="45720" rIns="91440" bIns="4572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800" b="1" dirty="0">
                <a:solidFill>
                  <a:srgbClr val="E9D0BA"/>
                </a:solidFill>
                <a:latin typeface="Avenir Book" panose="02000503020000020003" pitchFamily="2" charset="0"/>
              </a:rPr>
              <a:t>Growth Potential</a:t>
            </a:r>
          </a:p>
        </p:txBody>
      </p:sp>
      <p:pic>
        <p:nvPicPr>
          <p:cNvPr id="2" name="Picture 1" descr="A logo on a black background&#10;&#10;AI-generated content may be incorrect.">
            <a:extLst>
              <a:ext uri="{FF2B5EF4-FFF2-40B4-BE49-F238E27FC236}">
                <a16:creationId xmlns:a16="http://schemas.microsoft.com/office/drawing/2014/main" id="{563A2415-5B1C-7E7C-0135-3EA0CE3D2F70}"/>
              </a:ext>
            </a:extLst>
          </p:cNvPr>
          <p:cNvPicPr>
            <a:picLocks noChangeAspect="1"/>
          </p:cNvPicPr>
          <p:nvPr/>
        </p:nvPicPr>
        <p:blipFill>
          <a:blip r:embed="rId3" cstate="hqprint">
            <a:alphaModFix amt="70000"/>
            <a:lum bright="70000" contrast="-70000"/>
            <a:extLst>
              <a:ext uri="{28A0092B-C50C-407E-A947-70E740481C1C}">
                <a14:useLocalDpi xmlns:a14="http://schemas.microsoft.com/office/drawing/2010/main"/>
              </a:ext>
            </a:extLst>
          </a:blip>
          <a:srcRect/>
          <a:stretch>
            <a:fillRect/>
          </a:stretch>
        </p:blipFill>
        <p:spPr>
          <a:xfrm>
            <a:off x="10968937" y="186360"/>
            <a:ext cx="865154" cy="280423"/>
          </a:xfrm>
          <a:prstGeom prst="rect">
            <a:avLst/>
          </a:prstGeom>
        </p:spPr>
      </p:pic>
      <p:cxnSp>
        <p:nvCxnSpPr>
          <p:cNvPr id="17" name="Straight Connector 16">
            <a:extLst>
              <a:ext uri="{FF2B5EF4-FFF2-40B4-BE49-F238E27FC236}">
                <a16:creationId xmlns:a16="http://schemas.microsoft.com/office/drawing/2014/main" id="{B7773727-7D33-742B-A423-8858E0C613AC}"/>
              </a:ext>
            </a:extLst>
          </p:cNvPr>
          <p:cNvCxnSpPr>
            <a:cxnSpLocks/>
          </p:cNvCxnSpPr>
          <p:nvPr/>
        </p:nvCxnSpPr>
        <p:spPr>
          <a:xfrm>
            <a:off x="4587333" y="2947470"/>
            <a:ext cx="3003889" cy="0"/>
          </a:xfrm>
          <a:prstGeom prst="line">
            <a:avLst/>
          </a:prstGeom>
          <a:ln w="25400"/>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15ABEDB8-43DD-55EE-209D-E5CADAD8657E}"/>
              </a:ext>
            </a:extLst>
          </p:cNvPr>
          <p:cNvCxnSpPr>
            <a:cxnSpLocks/>
          </p:cNvCxnSpPr>
          <p:nvPr/>
        </p:nvCxnSpPr>
        <p:spPr>
          <a:xfrm>
            <a:off x="8427320" y="2947470"/>
            <a:ext cx="3003889" cy="0"/>
          </a:xfrm>
          <a:prstGeom prst="line">
            <a:avLst/>
          </a:prstGeom>
          <a:ln w="25400"/>
        </p:spPr>
        <p:style>
          <a:lnRef idx="2">
            <a:schemeClr val="accent1"/>
          </a:lnRef>
          <a:fillRef idx="0">
            <a:schemeClr val="accent1"/>
          </a:fillRef>
          <a:effectRef idx="1">
            <a:schemeClr val="accent1"/>
          </a:effectRef>
          <a:fontRef idx="minor">
            <a:schemeClr val="tx1"/>
          </a:fontRef>
        </p:style>
      </p:cxnSp>
      <p:sp>
        <p:nvSpPr>
          <p:cNvPr id="24" name="Title 1">
            <a:extLst>
              <a:ext uri="{FF2B5EF4-FFF2-40B4-BE49-F238E27FC236}">
                <a16:creationId xmlns:a16="http://schemas.microsoft.com/office/drawing/2014/main" id="{8197584A-35CD-9B78-53F8-52F405EB4681}"/>
              </a:ext>
            </a:extLst>
          </p:cNvPr>
          <p:cNvSpPr txBox="1">
            <a:spLocks/>
          </p:cNvSpPr>
          <p:nvPr/>
        </p:nvSpPr>
        <p:spPr>
          <a:xfrm>
            <a:off x="639763" y="648285"/>
            <a:ext cx="5935198" cy="636264"/>
          </a:xfrm>
          <a:prstGeom prst="rect">
            <a:avLst/>
          </a:prstGeom>
        </p:spPr>
        <p:txBody>
          <a:bodyPr lIns="0" tIns="0" rIns="0" bIns="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600" b="1" dirty="0">
                <a:solidFill>
                  <a:srgbClr val="E9D0BA"/>
                </a:solidFill>
                <a:latin typeface="Montserrat" pitchFamily="2" charset="77"/>
              </a:rPr>
              <a:t>New Business Opportunities</a:t>
            </a:r>
          </a:p>
        </p:txBody>
      </p:sp>
      <p:sp>
        <p:nvSpPr>
          <p:cNvPr id="25" name="TextBox 24">
            <a:extLst>
              <a:ext uri="{FF2B5EF4-FFF2-40B4-BE49-F238E27FC236}">
                <a16:creationId xmlns:a16="http://schemas.microsoft.com/office/drawing/2014/main" id="{65B44A69-30FE-A5B5-692A-E44AC00A3642}"/>
              </a:ext>
            </a:extLst>
          </p:cNvPr>
          <p:cNvSpPr txBox="1"/>
          <p:nvPr/>
        </p:nvSpPr>
        <p:spPr>
          <a:xfrm>
            <a:off x="639763" y="1143222"/>
            <a:ext cx="7218667" cy="523220"/>
          </a:xfrm>
          <a:prstGeom prst="rect">
            <a:avLst/>
          </a:prstGeom>
          <a:noFill/>
        </p:spPr>
        <p:txBody>
          <a:bodyPr wrap="square" lIns="0" tIns="0" rIns="0" bIns="0" anchor="t">
            <a:noAutofit/>
          </a:bodyPr>
          <a:lstStyle/>
          <a:p>
            <a:r>
              <a:rPr lang="en-US" sz="1400" dirty="0">
                <a:solidFill>
                  <a:schemeClr val="bg1"/>
                </a:solidFill>
                <a:latin typeface="Montserrat" pitchFamily="2" charset="77"/>
              </a:rPr>
              <a:t>By addressing emerging market needs and leveraging existing assets, we can drive sustainable growth and competitive advantage across regions and sectors.</a:t>
            </a:r>
          </a:p>
        </p:txBody>
      </p:sp>
    </p:spTree>
    <p:extLst>
      <p:ext uri="{BB962C8B-B14F-4D97-AF65-F5344CB8AC3E}">
        <p14:creationId xmlns:p14="http://schemas.microsoft.com/office/powerpoint/2010/main" val="1217807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A blue circle with white dots&#10;&#10;AI-generated content may be incorrect.">
            <a:extLst>
              <a:ext uri="{FF2B5EF4-FFF2-40B4-BE49-F238E27FC236}">
                <a16:creationId xmlns:a16="http://schemas.microsoft.com/office/drawing/2014/main" id="{C19499FA-5D41-A4AF-971F-5309FBC043D7}"/>
              </a:ext>
            </a:extLst>
          </p:cNvPr>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0" y="1"/>
            <a:ext cx="12192000" cy="6858000"/>
          </a:xfrm>
          <a:prstGeom prst="rect">
            <a:avLst/>
          </a:prstGeom>
        </p:spPr>
      </p:pic>
      <p:sp>
        <p:nvSpPr>
          <p:cNvPr id="5" name="TextBox 4">
            <a:extLst>
              <a:ext uri="{FF2B5EF4-FFF2-40B4-BE49-F238E27FC236}">
                <a16:creationId xmlns:a16="http://schemas.microsoft.com/office/drawing/2014/main" id="{AB1AF353-CFF6-569B-0157-819B995B62B1}"/>
              </a:ext>
            </a:extLst>
          </p:cNvPr>
          <p:cNvSpPr txBox="1"/>
          <p:nvPr/>
        </p:nvSpPr>
        <p:spPr>
          <a:xfrm>
            <a:off x="664616" y="1767958"/>
            <a:ext cx="1879801" cy="4512191"/>
          </a:xfrm>
          <a:prstGeom prst="rect">
            <a:avLst/>
          </a:prstGeom>
          <a:noFill/>
        </p:spPr>
        <p:txBody>
          <a:bodyPr wrap="square" lIns="0" tIns="0" rIns="0" bIns="0">
            <a:noAutofit/>
          </a:bodyPr>
          <a:lstStyle/>
          <a:p>
            <a:pPr>
              <a:buNone/>
            </a:pPr>
            <a:endParaRPr lang="en-US" sz="1600" dirty="0">
              <a:solidFill>
                <a:srgbClr val="F5EDE3"/>
              </a:solidFill>
              <a:latin typeface="Avenir Book" panose="02000503020000020003" pitchFamily="2" charset="0"/>
            </a:endParaRPr>
          </a:p>
          <a:p>
            <a:pPr>
              <a:lnSpc>
                <a:spcPct val="90000"/>
              </a:lnSpc>
              <a:spcBef>
                <a:spcPct val="0"/>
              </a:spcBef>
              <a:spcAft>
                <a:spcPts val="1200"/>
              </a:spcAft>
            </a:pPr>
            <a:r>
              <a:rPr lang="en-US" sz="2600" b="1" dirty="0">
                <a:solidFill>
                  <a:srgbClr val="E9D0BA"/>
                </a:solidFill>
                <a:latin typeface="Montserrat" pitchFamily="2" charset="77"/>
                <a:ea typeface="+mj-ea"/>
                <a:cs typeface="+mj-cs"/>
              </a:rPr>
              <a:t>1 </a:t>
            </a:r>
          </a:p>
          <a:p>
            <a:pPr>
              <a:spcAft>
                <a:spcPts val="1800"/>
              </a:spcAft>
              <a:buNone/>
            </a:pPr>
            <a:r>
              <a:rPr lang="en-US" sz="1600" dirty="0">
                <a:solidFill>
                  <a:srgbClr val="F5EDE3"/>
                </a:solidFill>
                <a:latin typeface="Avenir Book" panose="02000503020000020003" pitchFamily="2" charset="0"/>
              </a:rPr>
              <a:t>Market Research &amp; Concept Validation</a:t>
            </a:r>
          </a:p>
          <a:p>
            <a:pPr marL="285750" marR="0" lvl="0" indent="-285750" algn="l" defTabSz="914400" rtl="0" eaLnBrk="1" fontAlgn="auto" latinLnBrk="0" hangingPunct="1">
              <a:lnSpc>
                <a:spcPct val="110000"/>
              </a:lnSpc>
              <a:spcBef>
                <a:spcPts val="0"/>
              </a:spcBef>
              <a:spcAft>
                <a:spcPts val="10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rPr>
              <a:t>Conduct in-depth customer interviews and surveys to identify unmet needs</a:t>
            </a:r>
          </a:p>
          <a:p>
            <a:pPr marL="285750" marR="0" lvl="0" indent="-285750" algn="l" defTabSz="914400" rtl="0" eaLnBrk="1" fontAlgn="auto" latinLnBrk="0" hangingPunct="1">
              <a:lnSpc>
                <a:spcPct val="110000"/>
              </a:lnSpc>
              <a:spcBef>
                <a:spcPts val="0"/>
              </a:spcBef>
              <a:spcAft>
                <a:spcPts val="10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rPr>
              <a:t>Define product vision, requirements, and value proposition</a:t>
            </a:r>
          </a:p>
          <a:p>
            <a:pPr marL="285750" marR="0" lvl="0" indent="-285750" algn="l" defTabSz="914400" rtl="0" eaLnBrk="1" fontAlgn="auto" latinLnBrk="0" hangingPunct="1">
              <a:lnSpc>
                <a:spcPct val="110000"/>
              </a:lnSpc>
              <a:spcBef>
                <a:spcPts val="0"/>
              </a:spcBef>
              <a:spcAft>
                <a:spcPts val="10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rPr>
              <a:t>Establish business case and secure leadership approval</a:t>
            </a:r>
          </a:p>
        </p:txBody>
      </p:sp>
      <p:sp>
        <p:nvSpPr>
          <p:cNvPr id="19" name="TextBox 18">
            <a:extLst>
              <a:ext uri="{FF2B5EF4-FFF2-40B4-BE49-F238E27FC236}">
                <a16:creationId xmlns:a16="http://schemas.microsoft.com/office/drawing/2014/main" id="{D235DB7E-C26B-9C9B-82A9-E10191B3E1E8}"/>
              </a:ext>
            </a:extLst>
          </p:cNvPr>
          <p:cNvSpPr txBox="1"/>
          <p:nvPr/>
        </p:nvSpPr>
        <p:spPr>
          <a:xfrm>
            <a:off x="2917922" y="1749443"/>
            <a:ext cx="1879801" cy="4527599"/>
          </a:xfrm>
          <a:prstGeom prst="rect">
            <a:avLst/>
          </a:prstGeom>
          <a:noFill/>
        </p:spPr>
        <p:txBody>
          <a:bodyPr wrap="square" lIns="0" tIns="0" rIns="0" bIns="0">
            <a:noAutofit/>
          </a:bodyPr>
          <a:lstStyle/>
          <a:p>
            <a:pPr>
              <a:buNone/>
            </a:pPr>
            <a:endParaRPr lang="en-US" sz="1600" dirty="0">
              <a:solidFill>
                <a:srgbClr val="F5EDE3"/>
              </a:solidFill>
              <a:latin typeface="Avenir Book" panose="02000503020000020003" pitchFamily="2" charset="0"/>
            </a:endParaRPr>
          </a:p>
          <a:p>
            <a:pPr>
              <a:lnSpc>
                <a:spcPct val="90000"/>
              </a:lnSpc>
              <a:spcBef>
                <a:spcPct val="0"/>
              </a:spcBef>
              <a:spcAft>
                <a:spcPts val="1200"/>
              </a:spcAft>
            </a:pPr>
            <a:r>
              <a:rPr lang="en-US" sz="2600" b="1" dirty="0">
                <a:solidFill>
                  <a:srgbClr val="E9D0BA"/>
                </a:solidFill>
                <a:latin typeface="Montserrat" pitchFamily="2" charset="77"/>
                <a:ea typeface="+mj-ea"/>
                <a:cs typeface="+mj-cs"/>
              </a:rPr>
              <a:t>2</a:t>
            </a:r>
          </a:p>
          <a:p>
            <a:pPr>
              <a:spcAft>
                <a:spcPts val="1800"/>
              </a:spcAft>
            </a:pPr>
            <a:r>
              <a:rPr lang="en-US" sz="1600" dirty="0">
                <a:solidFill>
                  <a:srgbClr val="F5EDE3"/>
                </a:solidFill>
                <a:latin typeface="Avenir Book" panose="02000503020000020003" pitchFamily="2" charset="0"/>
              </a:rPr>
              <a:t>Product Design &amp; Prototype</a:t>
            </a:r>
          </a:p>
          <a:p>
            <a:pPr marL="285750" marR="0" lvl="0" indent="-285750" algn="l" defTabSz="914400" rtl="0" eaLnBrk="1" fontAlgn="auto" latinLnBrk="0" hangingPunct="1">
              <a:lnSpc>
                <a:spcPct val="110000"/>
              </a:lnSpc>
              <a:spcBef>
                <a:spcPts val="0"/>
              </a:spcBef>
              <a:spcAft>
                <a:spcPts val="10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rPr>
              <a:t>Develop detailed product requirements and specifications</a:t>
            </a:r>
          </a:p>
          <a:p>
            <a:pPr marL="285750" marR="0" lvl="0" indent="-285750" algn="l" defTabSz="914400" rtl="0" eaLnBrk="1" fontAlgn="auto" latinLnBrk="0" hangingPunct="1">
              <a:lnSpc>
                <a:spcPct val="110000"/>
              </a:lnSpc>
              <a:spcBef>
                <a:spcPts val="0"/>
              </a:spcBef>
              <a:spcAft>
                <a:spcPts val="10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rPr>
              <a:t>Create UX/UI wireframes and design system</a:t>
            </a:r>
          </a:p>
          <a:p>
            <a:pPr marL="285750" marR="0" lvl="0" indent="-285750" algn="l" defTabSz="914400" rtl="0" eaLnBrk="1" fontAlgn="auto" latinLnBrk="0" hangingPunct="1">
              <a:lnSpc>
                <a:spcPct val="110000"/>
              </a:lnSpc>
              <a:spcBef>
                <a:spcPts val="0"/>
              </a:spcBef>
              <a:spcAft>
                <a:spcPts val="10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rPr>
              <a:t>Build MVP prototype incorporating key features</a:t>
            </a:r>
          </a:p>
          <a:p>
            <a:pPr marL="285750" marR="0" lvl="0" indent="-285750" algn="l" defTabSz="914400" rtl="0" eaLnBrk="1" fontAlgn="auto" latinLnBrk="0" hangingPunct="1">
              <a:lnSpc>
                <a:spcPct val="110000"/>
              </a:lnSpc>
              <a:spcBef>
                <a:spcPts val="0"/>
              </a:spcBef>
              <a:spcAft>
                <a:spcPts val="10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rPr>
              <a:t>Conduct internal usability tests and design sprints</a:t>
            </a:r>
            <a:endParaRPr lang="en-US" sz="1600" dirty="0">
              <a:solidFill>
                <a:srgbClr val="F5EDE3"/>
              </a:solidFill>
              <a:latin typeface="Avenir Book" panose="02000503020000020003" pitchFamily="2" charset="0"/>
            </a:endParaRPr>
          </a:p>
        </p:txBody>
      </p:sp>
      <p:sp>
        <p:nvSpPr>
          <p:cNvPr id="20" name="TextBox 19">
            <a:extLst>
              <a:ext uri="{FF2B5EF4-FFF2-40B4-BE49-F238E27FC236}">
                <a16:creationId xmlns:a16="http://schemas.microsoft.com/office/drawing/2014/main" id="{EEB90226-FFA2-32D7-E20E-6475DC78F640}"/>
              </a:ext>
            </a:extLst>
          </p:cNvPr>
          <p:cNvSpPr txBox="1"/>
          <p:nvPr/>
        </p:nvSpPr>
        <p:spPr>
          <a:xfrm>
            <a:off x="5171228" y="1756084"/>
            <a:ext cx="1879802" cy="4527599"/>
          </a:xfrm>
          <a:prstGeom prst="rect">
            <a:avLst/>
          </a:prstGeom>
          <a:noFill/>
        </p:spPr>
        <p:txBody>
          <a:bodyPr wrap="square" lIns="0" tIns="0" rIns="0" bIns="0">
            <a:noAutofit/>
          </a:bodyPr>
          <a:lstStyle/>
          <a:p>
            <a:pPr>
              <a:buNone/>
            </a:pPr>
            <a:endParaRPr lang="en-US" sz="1600" dirty="0">
              <a:solidFill>
                <a:srgbClr val="F5EDE3"/>
              </a:solidFill>
              <a:latin typeface="Avenir Book" panose="02000503020000020003" pitchFamily="2" charset="0"/>
            </a:endParaRPr>
          </a:p>
          <a:p>
            <a:pPr>
              <a:spcAft>
                <a:spcPts val="1200"/>
              </a:spcAft>
            </a:pPr>
            <a:r>
              <a:rPr lang="en-US" sz="2600" b="1" dirty="0">
                <a:solidFill>
                  <a:srgbClr val="E9D0BA"/>
                </a:solidFill>
                <a:latin typeface="Montserrat" pitchFamily="2" charset="77"/>
                <a:ea typeface="+mj-ea"/>
                <a:cs typeface="+mj-cs"/>
              </a:rPr>
              <a:t>3</a:t>
            </a:r>
            <a:endParaRPr lang="en-US" sz="1600" dirty="0">
              <a:solidFill>
                <a:srgbClr val="F5EDE3"/>
              </a:solidFill>
              <a:latin typeface="Avenir Book" panose="02000503020000020003" pitchFamily="2" charset="0"/>
              <a:ea typeface="+mj-ea"/>
              <a:cs typeface="+mj-cs"/>
            </a:endParaRPr>
          </a:p>
          <a:p>
            <a:pPr>
              <a:spcAft>
                <a:spcPts val="1800"/>
              </a:spcAft>
            </a:pPr>
            <a:r>
              <a:rPr lang="en-US" sz="1600" dirty="0">
                <a:solidFill>
                  <a:srgbClr val="F5EDE3"/>
                </a:solidFill>
                <a:latin typeface="Avenir Book" panose="02000503020000020003" pitchFamily="2" charset="0"/>
              </a:rPr>
              <a:t>Testing &amp; Refinement</a:t>
            </a:r>
          </a:p>
          <a:p>
            <a:pPr marL="285750" marR="0" lvl="0" indent="-285750" algn="l" defTabSz="914400" rtl="0" eaLnBrk="1" fontAlgn="auto" latinLnBrk="0" hangingPunct="1">
              <a:lnSpc>
                <a:spcPct val="110000"/>
              </a:lnSpc>
              <a:spcBef>
                <a:spcPts val="0"/>
              </a:spcBef>
              <a:spcAft>
                <a:spcPts val="10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rPr>
              <a:t>Gather feedback, performance metrics, and issue logs</a:t>
            </a:r>
          </a:p>
          <a:p>
            <a:pPr marL="285750" marR="0" lvl="0" indent="-285750" algn="l" defTabSz="914400" rtl="0" eaLnBrk="1" fontAlgn="auto" latinLnBrk="0" hangingPunct="1">
              <a:lnSpc>
                <a:spcPct val="110000"/>
              </a:lnSpc>
              <a:spcBef>
                <a:spcPts val="0"/>
              </a:spcBef>
              <a:spcAft>
                <a:spcPts val="10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rPr>
              <a:t>Optimize product features and architecture for scalability</a:t>
            </a:r>
          </a:p>
          <a:p>
            <a:pPr marL="285750" marR="0" lvl="0" indent="-285750" algn="l" defTabSz="914400" rtl="0" eaLnBrk="1" fontAlgn="auto" latinLnBrk="0" hangingPunct="1">
              <a:lnSpc>
                <a:spcPct val="110000"/>
              </a:lnSpc>
              <a:spcBef>
                <a:spcPts val="0"/>
              </a:spcBef>
              <a:spcAft>
                <a:spcPts val="10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rPr>
              <a:t>Prepare go-to-market and marketing collateral</a:t>
            </a:r>
          </a:p>
        </p:txBody>
      </p:sp>
      <p:sp>
        <p:nvSpPr>
          <p:cNvPr id="21" name="TextBox 20">
            <a:extLst>
              <a:ext uri="{FF2B5EF4-FFF2-40B4-BE49-F238E27FC236}">
                <a16:creationId xmlns:a16="http://schemas.microsoft.com/office/drawing/2014/main" id="{560FB75C-BF31-5E4B-30DE-3AE8B16C91BB}"/>
              </a:ext>
            </a:extLst>
          </p:cNvPr>
          <p:cNvSpPr txBox="1"/>
          <p:nvPr/>
        </p:nvSpPr>
        <p:spPr>
          <a:xfrm>
            <a:off x="7424535" y="1768115"/>
            <a:ext cx="1879802" cy="4508927"/>
          </a:xfrm>
          <a:prstGeom prst="rect">
            <a:avLst/>
          </a:prstGeom>
          <a:noFill/>
        </p:spPr>
        <p:txBody>
          <a:bodyPr wrap="square" lIns="0" tIns="0" rIns="0" bIns="0">
            <a:noAutofit/>
          </a:bodyPr>
          <a:lstStyle/>
          <a:p>
            <a:pPr>
              <a:buNone/>
            </a:pPr>
            <a:endParaRPr lang="en-US" sz="1600" dirty="0">
              <a:solidFill>
                <a:srgbClr val="F5EDE3"/>
              </a:solidFill>
              <a:latin typeface="Avenir Book" panose="02000503020000020003" pitchFamily="2" charset="0"/>
            </a:endParaRPr>
          </a:p>
          <a:p>
            <a:pPr>
              <a:lnSpc>
                <a:spcPct val="90000"/>
              </a:lnSpc>
              <a:spcBef>
                <a:spcPct val="0"/>
              </a:spcBef>
              <a:spcAft>
                <a:spcPts val="1200"/>
              </a:spcAft>
            </a:pPr>
            <a:r>
              <a:rPr lang="en-US" sz="2600" b="1" dirty="0">
                <a:solidFill>
                  <a:srgbClr val="E9D0BA"/>
                </a:solidFill>
                <a:latin typeface="Montserrat" pitchFamily="2" charset="77"/>
                <a:ea typeface="+mj-ea"/>
                <a:cs typeface="+mj-cs"/>
              </a:rPr>
              <a:t>4</a:t>
            </a:r>
          </a:p>
          <a:p>
            <a:pPr>
              <a:spcAft>
                <a:spcPts val="1800"/>
              </a:spcAft>
            </a:pPr>
            <a:r>
              <a:rPr lang="en-US" sz="1600" dirty="0">
                <a:solidFill>
                  <a:srgbClr val="F5EDE3"/>
                </a:solidFill>
                <a:latin typeface="Avenir Book" panose="02000503020000020003" pitchFamily="2" charset="0"/>
              </a:rPr>
              <a:t>Pilot Launch &amp; Iterations</a:t>
            </a:r>
          </a:p>
          <a:p>
            <a:pPr marL="285750" marR="0" lvl="0" indent="-285750" algn="l" defTabSz="914400" rtl="0" eaLnBrk="1" fontAlgn="auto" latinLnBrk="0" hangingPunct="1">
              <a:lnSpc>
                <a:spcPct val="110000"/>
              </a:lnSpc>
              <a:spcBef>
                <a:spcPts val="0"/>
              </a:spcBef>
              <a:spcAft>
                <a:spcPts val="10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rPr>
              <a:t>Gather user feedback, performance metrics &amp; issue logs</a:t>
            </a:r>
          </a:p>
          <a:p>
            <a:pPr marL="285750" marR="0" lvl="0" indent="-285750" algn="l" defTabSz="914400" rtl="0" eaLnBrk="1" fontAlgn="auto" latinLnBrk="0" hangingPunct="1">
              <a:lnSpc>
                <a:spcPct val="110000"/>
              </a:lnSpc>
              <a:spcBef>
                <a:spcPts val="0"/>
              </a:spcBef>
              <a:spcAft>
                <a:spcPts val="10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rPr>
              <a:t>Optimize product features and architecture for scalability</a:t>
            </a:r>
          </a:p>
          <a:p>
            <a:pPr marL="285750" marR="0" lvl="0" indent="-285750" algn="l" defTabSz="914400" rtl="0" eaLnBrk="1" fontAlgn="auto" latinLnBrk="0" hangingPunct="1">
              <a:lnSpc>
                <a:spcPct val="110000"/>
              </a:lnSpc>
              <a:spcBef>
                <a:spcPts val="0"/>
              </a:spcBef>
              <a:spcAft>
                <a:spcPts val="10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rPr>
              <a:t>Prepare go-to-market and marketing collateral</a:t>
            </a:r>
            <a:br>
              <a:rPr lang="en-US" sz="1200" dirty="0">
                <a:solidFill>
                  <a:srgbClr val="F5EDE3"/>
                </a:solidFill>
                <a:latin typeface="Avenir Book" panose="02000503020000020003" pitchFamily="2" charset="0"/>
              </a:rPr>
            </a:br>
            <a:endParaRPr lang="en-US" sz="1200" dirty="0">
              <a:solidFill>
                <a:srgbClr val="F5EDE3"/>
              </a:solidFill>
              <a:latin typeface="Avenir Book" panose="02000503020000020003" pitchFamily="2" charset="0"/>
            </a:endParaRPr>
          </a:p>
        </p:txBody>
      </p:sp>
      <p:sp>
        <p:nvSpPr>
          <p:cNvPr id="22" name="TextBox 21">
            <a:extLst>
              <a:ext uri="{FF2B5EF4-FFF2-40B4-BE49-F238E27FC236}">
                <a16:creationId xmlns:a16="http://schemas.microsoft.com/office/drawing/2014/main" id="{2F8DE4A2-7668-4529-D4D3-196379FD498E}"/>
              </a:ext>
            </a:extLst>
          </p:cNvPr>
          <p:cNvSpPr txBox="1"/>
          <p:nvPr/>
        </p:nvSpPr>
        <p:spPr>
          <a:xfrm>
            <a:off x="9677843" y="1767959"/>
            <a:ext cx="1879803" cy="4862870"/>
          </a:xfrm>
          <a:prstGeom prst="rect">
            <a:avLst/>
          </a:prstGeom>
          <a:noFill/>
        </p:spPr>
        <p:txBody>
          <a:bodyPr wrap="square" lIns="0" tIns="0" rIns="0" bIns="0">
            <a:noAutofit/>
          </a:bodyPr>
          <a:lstStyle/>
          <a:p>
            <a:pPr>
              <a:buNone/>
            </a:pPr>
            <a:endParaRPr lang="en-US" sz="1600" dirty="0">
              <a:solidFill>
                <a:srgbClr val="F5EDE3"/>
              </a:solidFill>
              <a:latin typeface="Avenir Book" panose="02000503020000020003" pitchFamily="2" charset="0"/>
            </a:endParaRPr>
          </a:p>
          <a:p>
            <a:pPr>
              <a:lnSpc>
                <a:spcPct val="90000"/>
              </a:lnSpc>
              <a:spcBef>
                <a:spcPct val="0"/>
              </a:spcBef>
              <a:spcAft>
                <a:spcPts val="1200"/>
              </a:spcAft>
            </a:pPr>
            <a:r>
              <a:rPr lang="en-US" sz="2600" b="1" dirty="0">
                <a:solidFill>
                  <a:srgbClr val="E9D0BA"/>
                </a:solidFill>
                <a:latin typeface="Montserrat" pitchFamily="2" charset="77"/>
                <a:ea typeface="+mj-ea"/>
                <a:cs typeface="+mj-cs"/>
              </a:rPr>
              <a:t>5</a:t>
            </a:r>
          </a:p>
          <a:p>
            <a:pPr>
              <a:spcAft>
                <a:spcPts val="1800"/>
              </a:spcAft>
            </a:pPr>
            <a:r>
              <a:rPr lang="en-US" sz="1600" dirty="0">
                <a:solidFill>
                  <a:srgbClr val="F5EDE3"/>
                </a:solidFill>
                <a:latin typeface="Avenir Book" panose="02000503020000020003" pitchFamily="2" charset="0"/>
              </a:rPr>
              <a:t>Full-Scale Launch &amp; Feedback Collection</a:t>
            </a:r>
          </a:p>
          <a:p>
            <a:pPr marL="285750" marR="0" lvl="0" indent="-285750" algn="l" defTabSz="914400" rtl="0" eaLnBrk="1" fontAlgn="auto" latinLnBrk="0" hangingPunct="1">
              <a:lnSpc>
                <a:spcPct val="110000"/>
              </a:lnSpc>
              <a:spcBef>
                <a:spcPts val="0"/>
              </a:spcBef>
              <a:spcAft>
                <a:spcPts val="10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rPr>
              <a:t>Officially launch the product across target markets</a:t>
            </a:r>
          </a:p>
          <a:p>
            <a:pPr marL="285750" marR="0" lvl="0" indent="-285750" algn="l" defTabSz="914400" rtl="0" eaLnBrk="1" fontAlgn="auto" latinLnBrk="0" hangingPunct="1">
              <a:lnSpc>
                <a:spcPct val="110000"/>
              </a:lnSpc>
              <a:spcBef>
                <a:spcPts val="0"/>
              </a:spcBef>
              <a:spcAft>
                <a:spcPts val="10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rPr>
              <a:t>Implement marketing campaigns and PR events</a:t>
            </a:r>
          </a:p>
          <a:p>
            <a:pPr marL="285750" marR="0" lvl="0" indent="-285750" algn="l" defTabSz="914400" rtl="0" eaLnBrk="1" fontAlgn="auto" latinLnBrk="0" hangingPunct="1">
              <a:lnSpc>
                <a:spcPct val="110000"/>
              </a:lnSpc>
              <a:spcBef>
                <a:spcPts val="0"/>
              </a:spcBef>
              <a:spcAft>
                <a:spcPts val="10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rPr>
              <a:t>Monitor KPIs: adoption rate, conversion, NPS, and engagement</a:t>
            </a:r>
          </a:p>
          <a:p>
            <a:pPr marL="285750" marR="0" lvl="0" indent="-285750" algn="l" defTabSz="914400" rtl="0" eaLnBrk="1" fontAlgn="auto" latinLnBrk="0" hangingPunct="1">
              <a:lnSpc>
                <a:spcPct val="110000"/>
              </a:lnSpc>
              <a:spcBef>
                <a:spcPts val="0"/>
              </a:spcBef>
              <a:spcAft>
                <a:spcPts val="10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rPr>
              <a:t>Collect customer feedback for version 2 roadmap planning</a:t>
            </a:r>
            <a:br>
              <a:rPr lang="en-US" sz="1600" dirty="0">
                <a:solidFill>
                  <a:srgbClr val="F5EDE3"/>
                </a:solidFill>
                <a:latin typeface="Avenir Book" panose="02000503020000020003" pitchFamily="2" charset="0"/>
              </a:rPr>
            </a:br>
            <a:endParaRPr lang="en-US" sz="1600" dirty="0">
              <a:solidFill>
                <a:srgbClr val="F5EDE3"/>
              </a:solidFill>
              <a:latin typeface="Avenir Book" panose="02000503020000020003" pitchFamily="2" charset="0"/>
            </a:endParaRPr>
          </a:p>
        </p:txBody>
      </p:sp>
      <p:pic>
        <p:nvPicPr>
          <p:cNvPr id="3" name="Picture 2" descr="A logo on a black background&#10;&#10;AI-generated content may be incorrect.">
            <a:extLst>
              <a:ext uri="{FF2B5EF4-FFF2-40B4-BE49-F238E27FC236}">
                <a16:creationId xmlns:a16="http://schemas.microsoft.com/office/drawing/2014/main" id="{63C42ABD-83CC-1964-4FFF-2EE4DD060FDB}"/>
              </a:ext>
            </a:extLst>
          </p:cNvPr>
          <p:cNvPicPr>
            <a:picLocks noChangeAspect="1"/>
          </p:cNvPicPr>
          <p:nvPr/>
        </p:nvPicPr>
        <p:blipFill>
          <a:blip r:embed="rId3" cstate="hqprint">
            <a:alphaModFix amt="70000"/>
            <a:lum bright="70000" contrast="-70000"/>
            <a:extLst>
              <a:ext uri="{28A0092B-C50C-407E-A947-70E740481C1C}">
                <a14:useLocalDpi xmlns:a14="http://schemas.microsoft.com/office/drawing/2010/main"/>
              </a:ext>
            </a:extLst>
          </a:blip>
          <a:srcRect/>
          <a:stretch>
            <a:fillRect/>
          </a:stretch>
        </p:blipFill>
        <p:spPr>
          <a:xfrm>
            <a:off x="10968937" y="186360"/>
            <a:ext cx="865154" cy="280423"/>
          </a:xfrm>
          <a:prstGeom prst="rect">
            <a:avLst/>
          </a:prstGeom>
        </p:spPr>
      </p:pic>
      <p:sp>
        <p:nvSpPr>
          <p:cNvPr id="13" name="Title 1">
            <a:extLst>
              <a:ext uri="{FF2B5EF4-FFF2-40B4-BE49-F238E27FC236}">
                <a16:creationId xmlns:a16="http://schemas.microsoft.com/office/drawing/2014/main" id="{5B0F448E-30C7-7DD0-D71C-A2D67D71A80A}"/>
              </a:ext>
            </a:extLst>
          </p:cNvPr>
          <p:cNvSpPr txBox="1">
            <a:spLocks/>
          </p:cNvSpPr>
          <p:nvPr/>
        </p:nvSpPr>
        <p:spPr>
          <a:xfrm>
            <a:off x="639763" y="648285"/>
            <a:ext cx="5935198" cy="636264"/>
          </a:xfrm>
          <a:prstGeom prst="rect">
            <a:avLst/>
          </a:prstGeom>
        </p:spPr>
        <p:txBody>
          <a:bodyPr lIns="0" tIns="0" rIns="0" bIns="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600" b="1" dirty="0">
                <a:solidFill>
                  <a:srgbClr val="E9D0BA"/>
                </a:solidFill>
                <a:latin typeface="Montserrat" pitchFamily="2" charset="77"/>
              </a:rPr>
              <a:t>Business Roadmap</a:t>
            </a:r>
          </a:p>
        </p:txBody>
      </p:sp>
      <p:sp>
        <p:nvSpPr>
          <p:cNvPr id="14" name="TextBox 13">
            <a:extLst>
              <a:ext uri="{FF2B5EF4-FFF2-40B4-BE49-F238E27FC236}">
                <a16:creationId xmlns:a16="http://schemas.microsoft.com/office/drawing/2014/main" id="{F236FAAC-CE43-0BAB-1B14-A8EE5F7CAD02}"/>
              </a:ext>
            </a:extLst>
          </p:cNvPr>
          <p:cNvSpPr txBox="1"/>
          <p:nvPr/>
        </p:nvSpPr>
        <p:spPr>
          <a:xfrm>
            <a:off x="639763" y="1143222"/>
            <a:ext cx="8036435" cy="523220"/>
          </a:xfrm>
          <a:prstGeom prst="rect">
            <a:avLst/>
          </a:prstGeom>
          <a:noFill/>
        </p:spPr>
        <p:txBody>
          <a:bodyPr wrap="square" lIns="0" tIns="0" rIns="0" bIns="0" anchor="t">
            <a:noAutofit/>
          </a:bodyPr>
          <a:lstStyle/>
          <a:p>
            <a:r>
              <a:rPr lang="en-US" sz="1400" dirty="0">
                <a:solidFill>
                  <a:schemeClr val="bg1"/>
                </a:solidFill>
                <a:latin typeface="Montserrat" pitchFamily="2" charset="77"/>
              </a:rPr>
              <a:t>Each phase builds upon the previous one, combining strategic planning, agile execution, and continuous stakeholder feedback to deliver a market-ready product by year-end.</a:t>
            </a:r>
          </a:p>
        </p:txBody>
      </p:sp>
    </p:spTree>
    <p:extLst>
      <p:ext uri="{BB962C8B-B14F-4D97-AF65-F5344CB8AC3E}">
        <p14:creationId xmlns:p14="http://schemas.microsoft.com/office/powerpoint/2010/main" val="462924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blue circle with white dots&#10;&#10;AI-generated content may be incorrect.">
            <a:extLst>
              <a:ext uri="{FF2B5EF4-FFF2-40B4-BE49-F238E27FC236}">
                <a16:creationId xmlns:a16="http://schemas.microsoft.com/office/drawing/2014/main" id="{9925D4B0-8F35-22CC-D588-05657F452D8C}"/>
              </a:ext>
            </a:extLst>
          </p:cNvPr>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0" y="1"/>
            <a:ext cx="12192000" cy="6858000"/>
          </a:xfrm>
          <a:prstGeom prst="rect">
            <a:avLst/>
          </a:prstGeom>
        </p:spPr>
      </p:pic>
      <p:graphicFrame>
        <p:nvGraphicFramePr>
          <p:cNvPr id="7" name="Content Placeholder 4">
            <a:extLst>
              <a:ext uri="{FF2B5EF4-FFF2-40B4-BE49-F238E27FC236}">
                <a16:creationId xmlns:a16="http://schemas.microsoft.com/office/drawing/2014/main" id="{BBF37D92-96CF-3D58-25EC-043269C8CA53}"/>
              </a:ext>
            </a:extLst>
          </p:cNvPr>
          <p:cNvGraphicFramePr>
            <a:graphicFrameLocks noGrp="1"/>
          </p:cNvGraphicFramePr>
          <p:nvPr>
            <p:ph idx="4294967295"/>
            <p:extLst>
              <p:ext uri="{D42A27DB-BD31-4B8C-83A1-F6EECF244321}">
                <p14:modId xmlns:p14="http://schemas.microsoft.com/office/powerpoint/2010/main" val="2449190682"/>
              </p:ext>
            </p:extLst>
          </p:nvPr>
        </p:nvGraphicFramePr>
        <p:xfrm>
          <a:off x="669646" y="2297897"/>
          <a:ext cx="10911115" cy="3984784"/>
        </p:xfrm>
        <a:graphic>
          <a:graphicData uri="http://schemas.openxmlformats.org/drawingml/2006/table">
            <a:tbl>
              <a:tblPr firstRow="1" bandRow="1">
                <a:effectLst/>
                <a:tableStyleId>{D113A9D2-9D6B-4929-AA2D-F23B5EE8CBE7}</a:tableStyleId>
              </a:tblPr>
              <a:tblGrid>
                <a:gridCol w="1998935">
                  <a:extLst>
                    <a:ext uri="{9D8B030D-6E8A-4147-A177-3AD203B41FA5}">
                      <a16:colId xmlns:a16="http://schemas.microsoft.com/office/drawing/2014/main" val="3011215196"/>
                    </a:ext>
                  </a:extLst>
                </a:gridCol>
                <a:gridCol w="3412901">
                  <a:extLst>
                    <a:ext uri="{9D8B030D-6E8A-4147-A177-3AD203B41FA5}">
                      <a16:colId xmlns:a16="http://schemas.microsoft.com/office/drawing/2014/main" val="149359319"/>
                    </a:ext>
                  </a:extLst>
                </a:gridCol>
                <a:gridCol w="2704564">
                  <a:extLst>
                    <a:ext uri="{9D8B030D-6E8A-4147-A177-3AD203B41FA5}">
                      <a16:colId xmlns:a16="http://schemas.microsoft.com/office/drawing/2014/main" val="264837231"/>
                    </a:ext>
                  </a:extLst>
                </a:gridCol>
                <a:gridCol w="2794715">
                  <a:extLst>
                    <a:ext uri="{9D8B030D-6E8A-4147-A177-3AD203B41FA5}">
                      <a16:colId xmlns:a16="http://schemas.microsoft.com/office/drawing/2014/main" val="949875881"/>
                    </a:ext>
                  </a:extLst>
                </a:gridCol>
              </a:tblGrid>
              <a:tr h="733832">
                <a:tc>
                  <a:txBody>
                    <a:bodyPr/>
                    <a:lstStyle/>
                    <a:p>
                      <a:pPr algn="l">
                        <a:buNone/>
                      </a:pPr>
                      <a:r>
                        <a:rPr lang="en-US" sz="1600" b="1" i="0" dirty="0">
                          <a:solidFill>
                            <a:schemeClr val="bg1"/>
                          </a:solidFill>
                          <a:latin typeface="Avenir Medium" panose="02000503020000020003" pitchFamily="2" charset="0"/>
                        </a:rPr>
                        <a:t>Category</a:t>
                      </a:r>
                      <a:endParaRPr lang="en-US" sz="1600" b="1" i="0" dirty="0">
                        <a:solidFill>
                          <a:schemeClr val="bg1"/>
                        </a:solidFill>
                        <a:latin typeface="Avenir Medium" panose="02000503020000020003" pitchFamily="2" charset="0"/>
                        <a:ea typeface="Helvetica Neue" panose="02000503000000020004" pitchFamily="2" charset="0"/>
                        <a:cs typeface="Helvetica Neue" panose="02000503000000020004" pitchFamily="2" charset="0"/>
                      </a:endParaRPr>
                    </a:p>
                  </a:txBody>
                  <a:tcPr anchor="ctr">
                    <a:lnL w="12700" cap="flat" cmpd="sng" algn="ctr">
                      <a:noFill/>
                      <a:prstDash val="solid"/>
                      <a:miter lim="800000"/>
                    </a:lnL>
                    <a:lnR w="6350" cap="flat" cmpd="sng" algn="ctr">
                      <a:noFill/>
                      <a:prstDash val="solid"/>
                      <a:round/>
                      <a:headEnd type="none" w="med" len="med"/>
                      <a:tailEnd type="none" w="med" len="med"/>
                    </a:lnR>
                    <a:lnT w="12700" cap="flat" cmpd="sng" algn="ctr">
                      <a:noFill/>
                      <a:prstDash val="solid"/>
                      <a:miter lim="800000"/>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90000"/>
                        <a:lumOff val="10000"/>
                      </a:schemeClr>
                    </a:solidFill>
                  </a:tcPr>
                </a:tc>
                <a:tc>
                  <a:txBody>
                    <a:bodyPr/>
                    <a:lstStyle/>
                    <a:p>
                      <a:pPr algn="l">
                        <a:buNone/>
                      </a:pPr>
                      <a:r>
                        <a:rPr lang="en-US" sz="1600" b="1" i="0" dirty="0">
                          <a:solidFill>
                            <a:schemeClr val="bg1"/>
                          </a:solidFill>
                          <a:latin typeface="Avenir Medium" panose="02000503020000020003" pitchFamily="2" charset="0"/>
                        </a:rPr>
                        <a:t>Success Metric (KPI)</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miter lim="800000"/>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90000"/>
                        <a:lumOff val="10000"/>
                      </a:schemeClr>
                    </a:solidFill>
                  </a:tcPr>
                </a:tc>
                <a:tc>
                  <a:txBody>
                    <a:bodyPr/>
                    <a:lstStyle/>
                    <a:p>
                      <a:pPr algn="l">
                        <a:buNone/>
                      </a:pPr>
                      <a:r>
                        <a:rPr lang="en-US" sz="1600" b="1" i="0" dirty="0">
                          <a:solidFill>
                            <a:schemeClr val="bg1"/>
                          </a:solidFill>
                          <a:latin typeface="Avenir Medium" panose="02000503020000020003" pitchFamily="2" charset="0"/>
                        </a:rPr>
                        <a:t>Target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miter lim="800000"/>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90000"/>
                        <a:lumOff val="10000"/>
                      </a:schemeClr>
                    </a:solidFill>
                  </a:tcPr>
                </a:tc>
                <a:tc>
                  <a:txBody>
                    <a:bodyPr/>
                    <a:lstStyle/>
                    <a:p>
                      <a:pPr algn="l">
                        <a:buNone/>
                      </a:pPr>
                      <a:r>
                        <a:rPr lang="en-US" sz="1600" b="1" i="0" dirty="0">
                          <a:solidFill>
                            <a:schemeClr val="bg1"/>
                          </a:solidFill>
                          <a:latin typeface="Avenir Medium" panose="02000503020000020003" pitchFamily="2" charset="0"/>
                        </a:rPr>
                        <a:t>Measurement Method</a:t>
                      </a:r>
                    </a:p>
                  </a:txBody>
                  <a:tcPr anchor="ctr">
                    <a:lnL w="6350" cap="flat" cmpd="sng" algn="ctr">
                      <a:noFill/>
                      <a:prstDash val="solid"/>
                      <a:round/>
                      <a:headEnd type="none" w="med" len="med"/>
                      <a:tailEnd type="none" w="med" len="med"/>
                    </a:lnL>
                    <a:lnR w="12700" cap="flat" cmpd="sng" algn="ctr">
                      <a:noFill/>
                      <a:prstDash val="solid"/>
                      <a:miter lim="800000"/>
                    </a:lnR>
                    <a:lnT w="12700" cap="flat" cmpd="sng" algn="ctr">
                      <a:noFill/>
                      <a:prstDash val="solid"/>
                      <a:miter lim="800000"/>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90000"/>
                        <a:lumOff val="10000"/>
                      </a:schemeClr>
                    </a:solidFill>
                  </a:tcPr>
                </a:tc>
                <a:extLst>
                  <a:ext uri="{0D108BD9-81ED-4DB2-BD59-A6C34878D82A}">
                    <a16:rowId xmlns:a16="http://schemas.microsoft.com/office/drawing/2014/main" val="1341797390"/>
                  </a:ext>
                </a:extLst>
              </a:tr>
              <a:tr h="812738">
                <a:tc>
                  <a:txBody>
                    <a:bodyPr/>
                    <a:lstStyle/>
                    <a:p>
                      <a:pPr algn="l"/>
                      <a:r>
                        <a:rPr lang="en-US" sz="1400" b="0" i="0" dirty="0">
                          <a:latin typeface="Avenir Medium" panose="02000503020000020003" pitchFamily="2" charset="0"/>
                        </a:rPr>
                        <a:t>Market Growth</a:t>
                      </a:r>
                    </a:p>
                  </a:txBody>
                  <a:tcPr anchor="ctr">
                    <a:lnL w="12700" cap="flat" cmpd="sng" algn="ctr">
                      <a:noFill/>
                      <a:prstDash val="solid"/>
                      <a:miter lim="800000"/>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E2F4F"/>
                    </a:solidFill>
                  </a:tcPr>
                </a:tc>
                <a:tc>
                  <a:txBody>
                    <a:bodyPr/>
                    <a:lstStyle/>
                    <a:p>
                      <a:pPr algn="l"/>
                      <a:r>
                        <a:rPr lang="en-US" sz="1400" b="0" i="0" dirty="0">
                          <a:solidFill>
                            <a:schemeClr val="bg1"/>
                          </a:solidFill>
                          <a:latin typeface="Avenir Medium" panose="02000503020000020003" pitchFamily="2" charset="0"/>
                        </a:rPr>
                        <a:t>Expand overall market share</a:t>
                      </a:r>
                    </a:p>
                  </a:txBody>
                  <a:tcPr marL="63500" marR="63500" marT="63500" marB="635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E2F4F"/>
                    </a:solidFill>
                  </a:tcPr>
                </a:tc>
                <a:tc>
                  <a:txBody>
                    <a:bodyPr/>
                    <a:lstStyle/>
                    <a:p>
                      <a:pPr rtl="0" fontAlgn="t">
                        <a:buNone/>
                      </a:pPr>
                      <a:r>
                        <a:rPr lang="en-US" sz="1400" b="0" i="0" dirty="0">
                          <a:effectLst/>
                          <a:latin typeface="Avenir Medium" panose="02000503020000020003" pitchFamily="2" charset="0"/>
                        </a:rPr>
                        <a:t>+ 15% within 12 months post-launch</a:t>
                      </a:r>
                    </a:p>
                  </a:txBody>
                  <a:tcPr marL="63500" marR="63500" marT="63500" marB="635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E2F4F"/>
                    </a:solidFill>
                  </a:tcPr>
                </a:tc>
                <a:tc>
                  <a:txBody>
                    <a:bodyPr/>
                    <a:lstStyle/>
                    <a:p>
                      <a:pPr algn="l"/>
                      <a:r>
                        <a:rPr lang="en-US" sz="1400" b="0" i="0" dirty="0">
                          <a:solidFill>
                            <a:schemeClr val="bg1"/>
                          </a:solidFill>
                          <a:latin typeface="Avenir Medium" panose="02000503020000020003" pitchFamily="2" charset="0"/>
                        </a:rPr>
                        <a:t>Sales data, market reports</a:t>
                      </a:r>
                    </a:p>
                  </a:txBody>
                  <a:tcPr anchor="ctr">
                    <a:lnL w="6350" cap="flat" cmpd="sng" algn="ctr">
                      <a:noFill/>
                      <a:prstDash val="solid"/>
                      <a:round/>
                      <a:headEnd type="none" w="med" len="med"/>
                      <a:tailEnd type="none" w="med" len="med"/>
                    </a:lnL>
                    <a:lnR w="12700" cap="flat" cmpd="sng" algn="ctr">
                      <a:noFill/>
                      <a:prstDash val="solid"/>
                      <a:miter lim="800000"/>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E2F4F"/>
                    </a:solidFill>
                  </a:tcPr>
                </a:tc>
                <a:extLst>
                  <a:ext uri="{0D108BD9-81ED-4DB2-BD59-A6C34878D82A}">
                    <a16:rowId xmlns:a16="http://schemas.microsoft.com/office/drawing/2014/main" val="884094935"/>
                  </a:ext>
                </a:extLst>
              </a:tr>
              <a:tr h="8127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dirty="0">
                          <a:latin typeface="Avenir Medium" panose="02000503020000020003" pitchFamily="2" charset="0"/>
                        </a:rPr>
                        <a:t>Customer Satisfaction</a:t>
                      </a:r>
                    </a:p>
                  </a:txBody>
                  <a:tcPr anchor="ctr">
                    <a:lnL w="12700" cap="flat" cmpd="sng" algn="ctr">
                      <a:noFill/>
                      <a:prstDash val="solid"/>
                      <a:miter lim="800000"/>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E2F4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venir Medium" panose="02000503020000020003" pitchFamily="2" charset="0"/>
                        </a:rPr>
                        <a:t>Enhance customer experience and loyalty</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E2F4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dirty="0">
                          <a:effectLst/>
                          <a:latin typeface="Avenir Medium" panose="02000503020000020003" pitchFamily="2" charset="0"/>
                        </a:rPr>
                        <a:t>+ 20 NPS points increase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E2F4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venir Medium" panose="02000503020000020003" pitchFamily="2" charset="0"/>
                        </a:rPr>
                        <a:t>Customer feedback surveys, NPS tracking</a:t>
                      </a:r>
                    </a:p>
                  </a:txBody>
                  <a:tcPr anchor="ctr">
                    <a:lnL w="6350" cap="flat" cmpd="sng" algn="ctr">
                      <a:noFill/>
                      <a:prstDash val="solid"/>
                      <a:round/>
                      <a:headEnd type="none" w="med" len="med"/>
                      <a:tailEnd type="none" w="med" len="med"/>
                    </a:lnL>
                    <a:lnR w="12700" cap="flat" cmpd="sng" algn="ctr">
                      <a:noFill/>
                      <a:prstDash val="solid"/>
                      <a:miter lim="800000"/>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E2F4F"/>
                    </a:solidFill>
                  </a:tcPr>
                </a:tc>
                <a:extLst>
                  <a:ext uri="{0D108BD9-81ED-4DB2-BD59-A6C34878D82A}">
                    <a16:rowId xmlns:a16="http://schemas.microsoft.com/office/drawing/2014/main" val="3074840655"/>
                  </a:ext>
                </a:extLst>
              </a:tr>
              <a:tr h="8127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dirty="0">
                          <a:latin typeface="Avenir Medium" panose="02000503020000020003" pitchFamily="2" charset="0"/>
                        </a:rPr>
                        <a:t>Time-to-Market</a:t>
                      </a:r>
                    </a:p>
                  </a:txBody>
                  <a:tcPr anchor="ctr">
                    <a:lnL w="12700" cap="flat" cmpd="sng" algn="ctr">
                      <a:noFill/>
                      <a:prstDash val="solid"/>
                      <a:miter lim="800000"/>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E2F4F"/>
                    </a:solidFill>
                  </a:tcPr>
                </a:tc>
                <a:tc>
                  <a:txBody>
                    <a:bodyPr/>
                    <a:lstStyle/>
                    <a:p>
                      <a:pPr algn="l"/>
                      <a:r>
                        <a:rPr lang="en-US" sz="1400" b="0" i="0" dirty="0">
                          <a:solidFill>
                            <a:schemeClr val="bg1"/>
                          </a:solidFill>
                          <a:latin typeface="Avenir Medium" panose="02000503020000020003" pitchFamily="2" charset="0"/>
                        </a:rPr>
                        <a:t>Accelerate product development cycles</a:t>
                      </a:r>
                    </a:p>
                  </a:txBody>
                  <a:tcPr marL="63500" marR="63500" marT="63500" marB="635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E2F4F"/>
                    </a:solidFill>
                  </a:tcPr>
                </a:tc>
                <a:tc>
                  <a:txBody>
                    <a:bodyPr/>
                    <a:lstStyle/>
                    <a:p>
                      <a:r>
                        <a:rPr lang="en-US" sz="1400" b="0" i="0" dirty="0">
                          <a:latin typeface="Avenir Medium" panose="02000503020000020003" pitchFamily="2" charset="0"/>
                        </a:rPr>
                        <a:t>- 25% reduction in delivery timelines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E2F4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venir Medium" panose="02000503020000020003" pitchFamily="2" charset="0"/>
                        </a:rPr>
                        <a:t>Agile sprint reports, release tracking</a:t>
                      </a:r>
                    </a:p>
                  </a:txBody>
                  <a:tcPr anchor="ctr">
                    <a:lnL w="6350" cap="flat" cmpd="sng" algn="ctr">
                      <a:noFill/>
                      <a:prstDash val="solid"/>
                      <a:round/>
                      <a:headEnd type="none" w="med" len="med"/>
                      <a:tailEnd type="none" w="med" len="med"/>
                    </a:lnL>
                    <a:lnR w="12700" cap="flat" cmpd="sng" algn="ctr">
                      <a:noFill/>
                      <a:prstDash val="solid"/>
                      <a:miter lim="800000"/>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E2F4F"/>
                    </a:solidFill>
                  </a:tcPr>
                </a:tc>
                <a:extLst>
                  <a:ext uri="{0D108BD9-81ED-4DB2-BD59-A6C34878D82A}">
                    <a16:rowId xmlns:a16="http://schemas.microsoft.com/office/drawing/2014/main" val="3164009309"/>
                  </a:ext>
                </a:extLst>
              </a:tr>
              <a:tr h="812738">
                <a:tc>
                  <a:txBody>
                    <a:bodyPr/>
                    <a:lstStyle/>
                    <a:p>
                      <a:pPr algn="l"/>
                      <a:r>
                        <a:rPr lang="en-US" sz="1400" b="0" i="0" dirty="0">
                          <a:latin typeface="Avenir Medium" panose="02000503020000020003" pitchFamily="2" charset="0"/>
                        </a:rPr>
                        <a:t>Financial ROI</a:t>
                      </a:r>
                    </a:p>
                  </a:txBody>
                  <a:tcPr anchor="ctr">
                    <a:lnL w="12700" cap="flat" cmpd="sng" algn="ctr">
                      <a:noFill/>
                      <a:prstDash val="solid"/>
                      <a:miter lim="800000"/>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miter lim="800000"/>
                    </a:lnB>
                    <a:lnTlToBr w="12700" cmpd="sng">
                      <a:noFill/>
                      <a:prstDash val="solid"/>
                    </a:lnTlToBr>
                    <a:lnBlToTr w="12700" cmpd="sng">
                      <a:noFill/>
                      <a:prstDash val="solid"/>
                    </a:lnBlToTr>
                    <a:solidFill>
                      <a:srgbClr val="0E2F4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venir Medium" panose="02000503020000020003" pitchFamily="2" charset="0"/>
                        </a:rPr>
                        <a:t>Achieve profitability and breakeven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miter lim="800000"/>
                    </a:lnB>
                    <a:lnTlToBr w="12700" cmpd="sng">
                      <a:noFill/>
                      <a:prstDash val="solid"/>
                    </a:lnTlToBr>
                    <a:lnBlToTr w="12700" cmpd="sng">
                      <a:noFill/>
                      <a:prstDash val="solid"/>
                    </a:lnBlToTr>
                    <a:solidFill>
                      <a:srgbClr val="0E2F4F"/>
                    </a:solidFill>
                  </a:tcPr>
                </a:tc>
                <a:tc>
                  <a:txBody>
                    <a:bodyPr/>
                    <a:lstStyle/>
                    <a:p>
                      <a:r>
                        <a:rPr lang="en-US" sz="1400" b="0" i="0" dirty="0">
                          <a:latin typeface="Avenir Medium" panose="02000503020000020003" pitchFamily="2" charset="0"/>
                        </a:rPr>
                        <a:t>Within 18 months post-launch</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miter lim="800000"/>
                    </a:lnB>
                    <a:lnTlToBr w="12700" cmpd="sng">
                      <a:noFill/>
                      <a:prstDash val="solid"/>
                    </a:lnTlToBr>
                    <a:lnBlToTr w="12700" cmpd="sng">
                      <a:noFill/>
                      <a:prstDash val="solid"/>
                    </a:lnBlToTr>
                    <a:solidFill>
                      <a:srgbClr val="0E2F4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venir Medium" panose="02000503020000020003" pitchFamily="2" charset="0"/>
                        </a:rPr>
                        <a:t>Financial reports, P&amp;L statements</a:t>
                      </a:r>
                    </a:p>
                  </a:txBody>
                  <a:tcPr anchor="ctr">
                    <a:lnL w="6350" cap="flat" cmpd="sng" algn="ctr">
                      <a:noFill/>
                      <a:prstDash val="solid"/>
                      <a:round/>
                      <a:headEnd type="none" w="med" len="med"/>
                      <a:tailEnd type="none" w="med" len="med"/>
                    </a:lnL>
                    <a:lnR w="12700" cap="flat" cmpd="sng" algn="ctr">
                      <a:noFill/>
                      <a:prstDash val="solid"/>
                      <a:miter lim="800000"/>
                    </a:lnR>
                    <a:lnT w="6350" cap="flat" cmpd="sng" algn="ctr">
                      <a:noFill/>
                      <a:prstDash val="solid"/>
                      <a:round/>
                      <a:headEnd type="none" w="med" len="med"/>
                      <a:tailEnd type="none" w="med" len="med"/>
                    </a:lnT>
                    <a:lnB w="12700" cap="flat" cmpd="sng" algn="ctr">
                      <a:noFill/>
                      <a:prstDash val="solid"/>
                      <a:miter lim="800000"/>
                    </a:lnB>
                    <a:lnTlToBr w="12700" cmpd="sng">
                      <a:noFill/>
                      <a:prstDash val="solid"/>
                    </a:lnTlToBr>
                    <a:lnBlToTr w="12700" cmpd="sng">
                      <a:noFill/>
                      <a:prstDash val="solid"/>
                    </a:lnBlToTr>
                    <a:solidFill>
                      <a:srgbClr val="0E2F4F"/>
                    </a:solidFill>
                  </a:tcPr>
                </a:tc>
                <a:extLst>
                  <a:ext uri="{0D108BD9-81ED-4DB2-BD59-A6C34878D82A}">
                    <a16:rowId xmlns:a16="http://schemas.microsoft.com/office/drawing/2014/main" val="3689066722"/>
                  </a:ext>
                </a:extLst>
              </a:tr>
            </a:tbl>
          </a:graphicData>
        </a:graphic>
      </p:graphicFrame>
      <p:pic>
        <p:nvPicPr>
          <p:cNvPr id="3" name="Picture 2" descr="A logo on a black background&#10;&#10;AI-generated content may be incorrect.">
            <a:extLst>
              <a:ext uri="{FF2B5EF4-FFF2-40B4-BE49-F238E27FC236}">
                <a16:creationId xmlns:a16="http://schemas.microsoft.com/office/drawing/2014/main" id="{1D4E41F2-7AAD-D04F-D671-2D19FF9D76D4}"/>
              </a:ext>
            </a:extLst>
          </p:cNvPr>
          <p:cNvPicPr>
            <a:picLocks noChangeAspect="1"/>
          </p:cNvPicPr>
          <p:nvPr/>
        </p:nvPicPr>
        <p:blipFill>
          <a:blip r:embed="rId3" cstate="hqprint">
            <a:alphaModFix amt="70000"/>
            <a:lum bright="70000" contrast="-70000"/>
            <a:extLst>
              <a:ext uri="{28A0092B-C50C-407E-A947-70E740481C1C}">
                <a14:useLocalDpi xmlns:a14="http://schemas.microsoft.com/office/drawing/2010/main"/>
              </a:ext>
            </a:extLst>
          </a:blip>
          <a:srcRect/>
          <a:stretch>
            <a:fillRect/>
          </a:stretch>
        </p:blipFill>
        <p:spPr>
          <a:xfrm>
            <a:off x="10968937" y="186360"/>
            <a:ext cx="865154" cy="280423"/>
          </a:xfrm>
          <a:prstGeom prst="rect">
            <a:avLst/>
          </a:prstGeom>
        </p:spPr>
      </p:pic>
      <p:sp>
        <p:nvSpPr>
          <p:cNvPr id="4" name="Title 1">
            <a:extLst>
              <a:ext uri="{FF2B5EF4-FFF2-40B4-BE49-F238E27FC236}">
                <a16:creationId xmlns:a16="http://schemas.microsoft.com/office/drawing/2014/main" id="{E54790EB-AED5-7632-385F-D9E307BD32E0}"/>
              </a:ext>
            </a:extLst>
          </p:cNvPr>
          <p:cNvSpPr txBox="1">
            <a:spLocks/>
          </p:cNvSpPr>
          <p:nvPr/>
        </p:nvSpPr>
        <p:spPr>
          <a:xfrm>
            <a:off x="639763" y="648285"/>
            <a:ext cx="5935198" cy="636264"/>
          </a:xfrm>
          <a:prstGeom prst="rect">
            <a:avLst/>
          </a:prstGeom>
        </p:spPr>
        <p:txBody>
          <a:bodyPr lIns="0" tIns="0" rIns="0" bIns="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600" b="1" dirty="0">
                <a:solidFill>
                  <a:srgbClr val="E9D0BA"/>
                </a:solidFill>
                <a:latin typeface="Montserrat" pitchFamily="2" charset="77"/>
              </a:rPr>
              <a:t>Goals &amp; Success Metrics (KPIs)</a:t>
            </a:r>
          </a:p>
        </p:txBody>
      </p:sp>
      <p:sp>
        <p:nvSpPr>
          <p:cNvPr id="6" name="TextBox 5">
            <a:extLst>
              <a:ext uri="{FF2B5EF4-FFF2-40B4-BE49-F238E27FC236}">
                <a16:creationId xmlns:a16="http://schemas.microsoft.com/office/drawing/2014/main" id="{D44B06DC-738C-F06D-03E3-3E438BFDA888}"/>
              </a:ext>
            </a:extLst>
          </p:cNvPr>
          <p:cNvSpPr txBox="1"/>
          <p:nvPr/>
        </p:nvSpPr>
        <p:spPr>
          <a:xfrm>
            <a:off x="639763" y="1143222"/>
            <a:ext cx="8106672" cy="523220"/>
          </a:xfrm>
          <a:prstGeom prst="rect">
            <a:avLst/>
          </a:prstGeom>
          <a:noFill/>
        </p:spPr>
        <p:txBody>
          <a:bodyPr wrap="square" lIns="0" tIns="0" rIns="0" bIns="0" anchor="t">
            <a:noAutofit/>
          </a:bodyPr>
          <a:lstStyle/>
          <a:p>
            <a:r>
              <a:rPr lang="en-US" sz="1400" dirty="0">
                <a:solidFill>
                  <a:schemeClr val="bg1"/>
                </a:solidFill>
                <a:latin typeface="Montserrat" pitchFamily="2" charset="77"/>
              </a:rPr>
              <a:t>Key performance indicators include achieving a 15% increase in market share within the first year of launch, improving customer satisfaction by 20 NPS points through an enhanced user experience, and reducing time-to-market for new product features by 25%</a:t>
            </a:r>
          </a:p>
        </p:txBody>
      </p:sp>
    </p:spTree>
    <p:extLst>
      <p:ext uri="{BB962C8B-B14F-4D97-AF65-F5344CB8AC3E}">
        <p14:creationId xmlns:p14="http://schemas.microsoft.com/office/powerpoint/2010/main" val="24234892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circle with white dots&#10;&#10;AI-generated content may be incorrect.">
            <a:extLst>
              <a:ext uri="{FF2B5EF4-FFF2-40B4-BE49-F238E27FC236}">
                <a16:creationId xmlns:a16="http://schemas.microsoft.com/office/drawing/2014/main" id="{1D69D435-4E05-8BE0-5BBF-B28581B8A373}"/>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0" y="1"/>
            <a:ext cx="12192000" cy="6858000"/>
          </a:xfrm>
          <a:prstGeom prst="rect">
            <a:avLst/>
          </a:prstGeom>
        </p:spPr>
      </p:pic>
      <p:sp>
        <p:nvSpPr>
          <p:cNvPr id="12" name="Rounded Rectangle 11">
            <a:extLst>
              <a:ext uri="{FF2B5EF4-FFF2-40B4-BE49-F238E27FC236}">
                <a16:creationId xmlns:a16="http://schemas.microsoft.com/office/drawing/2014/main" id="{05517D1B-F261-EE9D-7333-84AFDA35A96B}"/>
              </a:ext>
            </a:extLst>
          </p:cNvPr>
          <p:cNvSpPr/>
          <p:nvPr/>
        </p:nvSpPr>
        <p:spPr>
          <a:xfrm>
            <a:off x="639763" y="1932834"/>
            <a:ext cx="10942636" cy="4588617"/>
          </a:xfrm>
          <a:prstGeom prst="roundRect">
            <a:avLst>
              <a:gd name="adj" fmla="val 495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ndParaRPr>
          </a:p>
        </p:txBody>
      </p:sp>
      <p:cxnSp>
        <p:nvCxnSpPr>
          <p:cNvPr id="21" name="Google Shape;1000;p71">
            <a:extLst>
              <a:ext uri="{FF2B5EF4-FFF2-40B4-BE49-F238E27FC236}">
                <a16:creationId xmlns:a16="http://schemas.microsoft.com/office/drawing/2014/main" id="{F2414B4A-940C-977B-2464-6DEA7F28F865}"/>
              </a:ext>
            </a:extLst>
          </p:cNvPr>
          <p:cNvCxnSpPr>
            <a:cxnSpLocks/>
          </p:cNvCxnSpPr>
          <p:nvPr/>
        </p:nvCxnSpPr>
        <p:spPr>
          <a:xfrm>
            <a:off x="2248493" y="3234655"/>
            <a:ext cx="8085257" cy="16339"/>
          </a:xfrm>
          <a:prstGeom prst="straightConnector1">
            <a:avLst/>
          </a:prstGeom>
          <a:noFill/>
          <a:ln w="6350" cap="rnd" cmpd="sng">
            <a:solidFill>
              <a:schemeClr val="accent1">
                <a:lumMod val="50000"/>
                <a:alpha val="41256"/>
              </a:schemeClr>
            </a:solidFill>
            <a:prstDash val="lgDashDot"/>
            <a:bevel/>
            <a:headEnd type="none" w="med" len="med"/>
            <a:tailEnd type="none" w="med" len="med"/>
          </a:ln>
        </p:spPr>
      </p:cxnSp>
      <p:cxnSp>
        <p:nvCxnSpPr>
          <p:cNvPr id="22" name="Google Shape;1002;p71">
            <a:extLst>
              <a:ext uri="{FF2B5EF4-FFF2-40B4-BE49-F238E27FC236}">
                <a16:creationId xmlns:a16="http://schemas.microsoft.com/office/drawing/2014/main" id="{85E0DCFE-35CD-F7BA-5740-2B18B62E5BAD}"/>
              </a:ext>
            </a:extLst>
          </p:cNvPr>
          <p:cNvCxnSpPr/>
          <p:nvPr/>
        </p:nvCxnSpPr>
        <p:spPr>
          <a:xfrm>
            <a:off x="4071073" y="2765876"/>
            <a:ext cx="0" cy="3333147"/>
          </a:xfrm>
          <a:prstGeom prst="straightConnector1">
            <a:avLst/>
          </a:prstGeom>
          <a:noFill/>
          <a:ln w="9525" cap="flat" cmpd="sng">
            <a:solidFill>
              <a:srgbClr val="0E2F4F"/>
            </a:solidFill>
            <a:prstDash val="solid"/>
            <a:round/>
            <a:headEnd type="none" w="med" len="med"/>
            <a:tailEnd type="none" w="med" len="med"/>
          </a:ln>
        </p:spPr>
      </p:cxnSp>
      <p:cxnSp>
        <p:nvCxnSpPr>
          <p:cNvPr id="23" name="Google Shape;1003;p71">
            <a:extLst>
              <a:ext uri="{FF2B5EF4-FFF2-40B4-BE49-F238E27FC236}">
                <a16:creationId xmlns:a16="http://schemas.microsoft.com/office/drawing/2014/main" id="{E29442ED-9965-A4D3-7DAC-1B9694B627EC}"/>
              </a:ext>
            </a:extLst>
          </p:cNvPr>
          <p:cNvCxnSpPr/>
          <p:nvPr/>
        </p:nvCxnSpPr>
        <p:spPr>
          <a:xfrm>
            <a:off x="6096414" y="2808086"/>
            <a:ext cx="0" cy="3333147"/>
          </a:xfrm>
          <a:prstGeom prst="straightConnector1">
            <a:avLst/>
          </a:prstGeom>
          <a:noFill/>
          <a:ln w="9525" cap="flat" cmpd="sng">
            <a:solidFill>
              <a:srgbClr val="0E2F4F"/>
            </a:solidFill>
            <a:prstDash val="solid"/>
            <a:round/>
            <a:headEnd type="none" w="med" len="med"/>
            <a:tailEnd type="none" w="med" len="med"/>
          </a:ln>
        </p:spPr>
      </p:cxnSp>
      <p:cxnSp>
        <p:nvCxnSpPr>
          <p:cNvPr id="24" name="Google Shape;1004;p71">
            <a:extLst>
              <a:ext uri="{FF2B5EF4-FFF2-40B4-BE49-F238E27FC236}">
                <a16:creationId xmlns:a16="http://schemas.microsoft.com/office/drawing/2014/main" id="{A51878D6-8D43-BFFF-9E92-8414C0688319}"/>
              </a:ext>
            </a:extLst>
          </p:cNvPr>
          <p:cNvCxnSpPr>
            <a:cxnSpLocks/>
          </p:cNvCxnSpPr>
          <p:nvPr/>
        </p:nvCxnSpPr>
        <p:spPr>
          <a:xfrm>
            <a:off x="8121754" y="2808086"/>
            <a:ext cx="0" cy="3333147"/>
          </a:xfrm>
          <a:prstGeom prst="straightConnector1">
            <a:avLst/>
          </a:prstGeom>
          <a:noFill/>
          <a:ln w="9525" cap="flat" cmpd="sng">
            <a:solidFill>
              <a:srgbClr val="0E2F4F"/>
            </a:solidFill>
            <a:prstDash val="solid"/>
            <a:round/>
            <a:headEnd type="none" w="med" len="med"/>
            <a:tailEnd type="none" w="med" len="med"/>
          </a:ln>
        </p:spPr>
      </p:cxnSp>
      <p:sp>
        <p:nvSpPr>
          <p:cNvPr id="26" name="Google Shape;1006;p71">
            <a:extLst>
              <a:ext uri="{FF2B5EF4-FFF2-40B4-BE49-F238E27FC236}">
                <a16:creationId xmlns:a16="http://schemas.microsoft.com/office/drawing/2014/main" id="{9D1123C2-06B8-6013-E899-537473C19A1C}"/>
              </a:ext>
            </a:extLst>
          </p:cNvPr>
          <p:cNvSpPr txBox="1"/>
          <p:nvPr/>
        </p:nvSpPr>
        <p:spPr>
          <a:xfrm>
            <a:off x="2522340" y="2730495"/>
            <a:ext cx="1443650" cy="176972"/>
          </a:xfrm>
          <a:prstGeom prst="rect">
            <a:avLst/>
          </a:prstGeom>
          <a:noFill/>
          <a:ln>
            <a:noFill/>
          </a:ln>
        </p:spPr>
        <p:txBody>
          <a:bodyPr spcFirstLastPara="1" wrap="square" lIns="0" tIns="0" rIns="0" bIns="0" anchor="t" anchorCtr="0">
            <a:spAutoFit/>
          </a:bodyPr>
          <a:lstStyle/>
          <a:p>
            <a:pPr lvl="0">
              <a:lnSpc>
                <a:spcPct val="115000"/>
              </a:lnSpc>
            </a:pPr>
            <a:r>
              <a:rPr lang="en" sz="1000" dirty="0">
                <a:solidFill>
                  <a:schemeClr val="dk1"/>
                </a:solidFill>
                <a:latin typeface="Figtree Medium"/>
                <a:ea typeface="Figtree Medium"/>
                <a:cs typeface="Figtree Medium"/>
                <a:sym typeface="Figtree Medium"/>
              </a:rPr>
              <a:t>Month / Date | </a:t>
            </a:r>
            <a:r>
              <a:rPr lang="en" sz="1000" dirty="0">
                <a:solidFill>
                  <a:schemeClr val="dk1"/>
                </a:solidFill>
                <a:latin typeface="Avenir Book" panose="02000503020000020003" pitchFamily="2" charset="0"/>
                <a:ea typeface="Figtree Medium"/>
                <a:cs typeface="Figtree Medium"/>
                <a:sym typeface="Figtree Medium"/>
              </a:rPr>
              <a:t>Week</a:t>
            </a:r>
            <a:r>
              <a:rPr lang="en" sz="1000" dirty="0">
                <a:solidFill>
                  <a:schemeClr val="dk1"/>
                </a:solidFill>
                <a:latin typeface="Figtree Medium"/>
                <a:ea typeface="Figtree Medium"/>
                <a:cs typeface="Figtree Medium"/>
                <a:sym typeface="Figtree Medium"/>
              </a:rPr>
              <a:t> 01 </a:t>
            </a:r>
            <a:endParaRPr sz="1000" dirty="0">
              <a:solidFill>
                <a:schemeClr val="dk1"/>
              </a:solidFill>
              <a:latin typeface="Figtree Medium"/>
              <a:ea typeface="Figtree Medium"/>
              <a:cs typeface="Figtree Medium"/>
              <a:sym typeface="Figtree Medium"/>
            </a:endParaRPr>
          </a:p>
        </p:txBody>
      </p:sp>
      <p:cxnSp>
        <p:nvCxnSpPr>
          <p:cNvPr id="29" name="Google Shape;1009;p71">
            <a:extLst>
              <a:ext uri="{FF2B5EF4-FFF2-40B4-BE49-F238E27FC236}">
                <a16:creationId xmlns:a16="http://schemas.microsoft.com/office/drawing/2014/main" id="{DC7E5212-A618-51A7-B75E-87E4A40671BD}"/>
              </a:ext>
            </a:extLst>
          </p:cNvPr>
          <p:cNvCxnSpPr>
            <a:cxnSpLocks/>
          </p:cNvCxnSpPr>
          <p:nvPr/>
        </p:nvCxnSpPr>
        <p:spPr>
          <a:xfrm>
            <a:off x="2187972" y="2954385"/>
            <a:ext cx="8085220" cy="0"/>
          </a:xfrm>
          <a:prstGeom prst="straightConnector1">
            <a:avLst/>
          </a:prstGeom>
          <a:noFill/>
          <a:ln w="15875" cap="flat" cmpd="sng">
            <a:solidFill>
              <a:srgbClr val="0E2F4F"/>
            </a:solidFill>
            <a:prstDash val="solid"/>
            <a:round/>
            <a:headEnd type="none" w="med" len="med"/>
            <a:tailEnd type="none" w="med" len="med"/>
          </a:ln>
        </p:spPr>
      </p:cxnSp>
      <p:sp>
        <p:nvSpPr>
          <p:cNvPr id="50" name="Rounded Rectangle 49">
            <a:extLst>
              <a:ext uri="{FF2B5EF4-FFF2-40B4-BE49-F238E27FC236}">
                <a16:creationId xmlns:a16="http://schemas.microsoft.com/office/drawing/2014/main" id="{787018FE-C78F-DB02-C765-0D3CF2797EE3}"/>
              </a:ext>
            </a:extLst>
          </p:cNvPr>
          <p:cNvSpPr/>
          <p:nvPr/>
        </p:nvSpPr>
        <p:spPr>
          <a:xfrm>
            <a:off x="6096401" y="3159763"/>
            <a:ext cx="3121284" cy="176451"/>
          </a:xfrm>
          <a:prstGeom prst="roundRect">
            <a:avLst/>
          </a:prstGeom>
          <a:solidFill>
            <a:srgbClr val="A6958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BF17EC98-EEC6-A485-2FE0-DFA09AB25816}"/>
              </a:ext>
            </a:extLst>
          </p:cNvPr>
          <p:cNvSpPr txBox="1"/>
          <p:nvPr/>
        </p:nvSpPr>
        <p:spPr>
          <a:xfrm>
            <a:off x="1288639" y="3114792"/>
            <a:ext cx="747072" cy="261610"/>
          </a:xfrm>
          <a:prstGeom prst="rect">
            <a:avLst/>
          </a:prstGeom>
          <a:noFill/>
        </p:spPr>
        <p:txBody>
          <a:bodyPr wrap="square" rtlCol="0">
            <a:spAutoFit/>
          </a:bodyPr>
          <a:lstStyle/>
          <a:p>
            <a:r>
              <a:rPr lang="en-US" sz="1100" dirty="0">
                <a:latin typeface="Avenir Medium" panose="02000503020000020003" pitchFamily="2" charset="0"/>
              </a:rPr>
              <a:t>Project 1</a:t>
            </a:r>
          </a:p>
        </p:txBody>
      </p:sp>
      <p:sp>
        <p:nvSpPr>
          <p:cNvPr id="52" name="TextBox 51">
            <a:extLst>
              <a:ext uri="{FF2B5EF4-FFF2-40B4-BE49-F238E27FC236}">
                <a16:creationId xmlns:a16="http://schemas.microsoft.com/office/drawing/2014/main" id="{531CDDE8-2A25-9449-851E-48ABCC2AE540}"/>
              </a:ext>
            </a:extLst>
          </p:cNvPr>
          <p:cNvSpPr txBox="1"/>
          <p:nvPr/>
        </p:nvSpPr>
        <p:spPr>
          <a:xfrm>
            <a:off x="1288639" y="3476230"/>
            <a:ext cx="747072" cy="261610"/>
          </a:xfrm>
          <a:prstGeom prst="rect">
            <a:avLst/>
          </a:prstGeom>
          <a:noFill/>
        </p:spPr>
        <p:txBody>
          <a:bodyPr wrap="square" rtlCol="0">
            <a:spAutoFit/>
          </a:bodyPr>
          <a:lstStyle/>
          <a:p>
            <a:r>
              <a:rPr lang="en-US" sz="1100" dirty="0">
                <a:latin typeface="Avenir Medium" panose="02000503020000020003" pitchFamily="2" charset="0"/>
              </a:rPr>
              <a:t>Project 2</a:t>
            </a:r>
          </a:p>
        </p:txBody>
      </p:sp>
      <p:sp>
        <p:nvSpPr>
          <p:cNvPr id="53" name="TextBox 52">
            <a:extLst>
              <a:ext uri="{FF2B5EF4-FFF2-40B4-BE49-F238E27FC236}">
                <a16:creationId xmlns:a16="http://schemas.microsoft.com/office/drawing/2014/main" id="{8C02E5B6-2336-926B-23A8-BCCA4DA5A2D9}"/>
              </a:ext>
            </a:extLst>
          </p:cNvPr>
          <p:cNvSpPr txBox="1"/>
          <p:nvPr/>
        </p:nvSpPr>
        <p:spPr>
          <a:xfrm>
            <a:off x="1275722" y="3839027"/>
            <a:ext cx="747072" cy="261610"/>
          </a:xfrm>
          <a:prstGeom prst="rect">
            <a:avLst/>
          </a:prstGeom>
          <a:noFill/>
        </p:spPr>
        <p:txBody>
          <a:bodyPr wrap="square" rtlCol="0">
            <a:spAutoFit/>
          </a:bodyPr>
          <a:lstStyle/>
          <a:p>
            <a:r>
              <a:rPr lang="en-US" sz="1100" dirty="0">
                <a:latin typeface="Avenir Medium" panose="02000503020000020003" pitchFamily="2" charset="0"/>
              </a:rPr>
              <a:t>Project 3</a:t>
            </a:r>
          </a:p>
        </p:txBody>
      </p:sp>
      <p:sp>
        <p:nvSpPr>
          <p:cNvPr id="54" name="TextBox 53">
            <a:extLst>
              <a:ext uri="{FF2B5EF4-FFF2-40B4-BE49-F238E27FC236}">
                <a16:creationId xmlns:a16="http://schemas.microsoft.com/office/drawing/2014/main" id="{B2991C93-492B-F8D6-A594-5A2B79BF3089}"/>
              </a:ext>
            </a:extLst>
          </p:cNvPr>
          <p:cNvSpPr txBox="1"/>
          <p:nvPr/>
        </p:nvSpPr>
        <p:spPr>
          <a:xfrm>
            <a:off x="1275722" y="4213050"/>
            <a:ext cx="747072" cy="261610"/>
          </a:xfrm>
          <a:prstGeom prst="rect">
            <a:avLst/>
          </a:prstGeom>
          <a:noFill/>
        </p:spPr>
        <p:txBody>
          <a:bodyPr wrap="square" rtlCol="0">
            <a:spAutoFit/>
          </a:bodyPr>
          <a:lstStyle/>
          <a:p>
            <a:r>
              <a:rPr lang="en-US" sz="1100" dirty="0">
                <a:latin typeface="Avenir Medium" panose="02000503020000020003" pitchFamily="2" charset="0"/>
              </a:rPr>
              <a:t>Project 4</a:t>
            </a:r>
          </a:p>
        </p:txBody>
      </p:sp>
      <p:cxnSp>
        <p:nvCxnSpPr>
          <p:cNvPr id="55" name="Google Shape;1000;p71">
            <a:extLst>
              <a:ext uri="{FF2B5EF4-FFF2-40B4-BE49-F238E27FC236}">
                <a16:creationId xmlns:a16="http://schemas.microsoft.com/office/drawing/2014/main" id="{96636B5D-4F5B-5538-7AEB-AD747EBF2CF3}"/>
              </a:ext>
            </a:extLst>
          </p:cNvPr>
          <p:cNvCxnSpPr>
            <a:cxnSpLocks/>
          </p:cNvCxnSpPr>
          <p:nvPr/>
        </p:nvCxnSpPr>
        <p:spPr>
          <a:xfrm>
            <a:off x="2248493" y="3579059"/>
            <a:ext cx="8085257" cy="0"/>
          </a:xfrm>
          <a:prstGeom prst="straightConnector1">
            <a:avLst/>
          </a:prstGeom>
          <a:noFill/>
          <a:ln w="6350" cap="rnd" cmpd="sng">
            <a:solidFill>
              <a:schemeClr val="accent1">
                <a:lumMod val="50000"/>
                <a:alpha val="41256"/>
              </a:schemeClr>
            </a:solidFill>
            <a:prstDash val="lgDashDot"/>
            <a:bevel/>
            <a:headEnd type="none" w="med" len="med"/>
            <a:tailEnd type="none" w="med" len="med"/>
          </a:ln>
        </p:spPr>
      </p:cxnSp>
      <p:sp>
        <p:nvSpPr>
          <p:cNvPr id="62" name="TextBox 61">
            <a:extLst>
              <a:ext uri="{FF2B5EF4-FFF2-40B4-BE49-F238E27FC236}">
                <a16:creationId xmlns:a16="http://schemas.microsoft.com/office/drawing/2014/main" id="{148CC4E2-4082-0393-FE85-FC5C9ABD48C9}"/>
              </a:ext>
            </a:extLst>
          </p:cNvPr>
          <p:cNvSpPr txBox="1"/>
          <p:nvPr/>
        </p:nvSpPr>
        <p:spPr>
          <a:xfrm>
            <a:off x="1263936" y="4561890"/>
            <a:ext cx="747072" cy="261610"/>
          </a:xfrm>
          <a:prstGeom prst="rect">
            <a:avLst/>
          </a:prstGeom>
          <a:noFill/>
        </p:spPr>
        <p:txBody>
          <a:bodyPr wrap="square" rtlCol="0">
            <a:spAutoFit/>
          </a:bodyPr>
          <a:lstStyle/>
          <a:p>
            <a:r>
              <a:rPr lang="en-US" sz="1100" dirty="0">
                <a:latin typeface="Avenir Medium" panose="02000503020000020003" pitchFamily="2" charset="0"/>
              </a:rPr>
              <a:t>Project 5</a:t>
            </a:r>
          </a:p>
        </p:txBody>
      </p:sp>
      <p:sp>
        <p:nvSpPr>
          <p:cNvPr id="63" name="TextBox 62">
            <a:extLst>
              <a:ext uri="{FF2B5EF4-FFF2-40B4-BE49-F238E27FC236}">
                <a16:creationId xmlns:a16="http://schemas.microsoft.com/office/drawing/2014/main" id="{DF8F18C6-63C0-F07A-B90F-9849A1325F57}"/>
              </a:ext>
            </a:extLst>
          </p:cNvPr>
          <p:cNvSpPr txBox="1"/>
          <p:nvPr/>
        </p:nvSpPr>
        <p:spPr>
          <a:xfrm>
            <a:off x="1275722" y="4935913"/>
            <a:ext cx="747072" cy="261610"/>
          </a:xfrm>
          <a:prstGeom prst="rect">
            <a:avLst/>
          </a:prstGeom>
          <a:noFill/>
        </p:spPr>
        <p:txBody>
          <a:bodyPr wrap="square" rtlCol="0">
            <a:spAutoFit/>
          </a:bodyPr>
          <a:lstStyle/>
          <a:p>
            <a:r>
              <a:rPr lang="en-US" sz="1100" dirty="0">
                <a:latin typeface="Avenir Medium" panose="02000503020000020003" pitchFamily="2" charset="0"/>
              </a:rPr>
              <a:t>Project 6</a:t>
            </a:r>
          </a:p>
        </p:txBody>
      </p:sp>
      <p:sp>
        <p:nvSpPr>
          <p:cNvPr id="64" name="TextBox 63">
            <a:extLst>
              <a:ext uri="{FF2B5EF4-FFF2-40B4-BE49-F238E27FC236}">
                <a16:creationId xmlns:a16="http://schemas.microsoft.com/office/drawing/2014/main" id="{84E1AC9C-8911-858A-4313-B132DF09953E}"/>
              </a:ext>
            </a:extLst>
          </p:cNvPr>
          <p:cNvSpPr txBox="1"/>
          <p:nvPr/>
        </p:nvSpPr>
        <p:spPr>
          <a:xfrm>
            <a:off x="1275722" y="5282469"/>
            <a:ext cx="747072" cy="261610"/>
          </a:xfrm>
          <a:prstGeom prst="rect">
            <a:avLst/>
          </a:prstGeom>
          <a:noFill/>
        </p:spPr>
        <p:txBody>
          <a:bodyPr wrap="square" rtlCol="0">
            <a:spAutoFit/>
          </a:bodyPr>
          <a:lstStyle/>
          <a:p>
            <a:r>
              <a:rPr lang="en-US" sz="1100" dirty="0">
                <a:latin typeface="Avenir Medium" panose="02000503020000020003" pitchFamily="2" charset="0"/>
              </a:rPr>
              <a:t>Project 7</a:t>
            </a:r>
          </a:p>
        </p:txBody>
      </p:sp>
      <p:sp>
        <p:nvSpPr>
          <p:cNvPr id="65" name="TextBox 64">
            <a:extLst>
              <a:ext uri="{FF2B5EF4-FFF2-40B4-BE49-F238E27FC236}">
                <a16:creationId xmlns:a16="http://schemas.microsoft.com/office/drawing/2014/main" id="{6465A917-C008-EB65-5488-EB45FA16B6BA}"/>
              </a:ext>
            </a:extLst>
          </p:cNvPr>
          <p:cNvSpPr txBox="1"/>
          <p:nvPr/>
        </p:nvSpPr>
        <p:spPr>
          <a:xfrm>
            <a:off x="1288639" y="5653795"/>
            <a:ext cx="747072" cy="261610"/>
          </a:xfrm>
          <a:prstGeom prst="rect">
            <a:avLst/>
          </a:prstGeom>
          <a:noFill/>
        </p:spPr>
        <p:txBody>
          <a:bodyPr wrap="square" rtlCol="0">
            <a:spAutoFit/>
          </a:bodyPr>
          <a:lstStyle/>
          <a:p>
            <a:r>
              <a:rPr lang="en-US" sz="1100" dirty="0">
                <a:latin typeface="Avenir Medium" panose="02000503020000020003" pitchFamily="2" charset="0"/>
              </a:rPr>
              <a:t>Project 8</a:t>
            </a:r>
          </a:p>
        </p:txBody>
      </p:sp>
      <p:cxnSp>
        <p:nvCxnSpPr>
          <p:cNvPr id="69" name="Google Shape;1000;p71">
            <a:extLst>
              <a:ext uri="{FF2B5EF4-FFF2-40B4-BE49-F238E27FC236}">
                <a16:creationId xmlns:a16="http://schemas.microsoft.com/office/drawing/2014/main" id="{46D8D27C-5BC5-A0C1-A1C4-CD332CF71F72}"/>
              </a:ext>
            </a:extLst>
          </p:cNvPr>
          <p:cNvCxnSpPr>
            <a:cxnSpLocks/>
          </p:cNvCxnSpPr>
          <p:nvPr/>
        </p:nvCxnSpPr>
        <p:spPr>
          <a:xfrm>
            <a:off x="2248493" y="3955746"/>
            <a:ext cx="8085257" cy="16339"/>
          </a:xfrm>
          <a:prstGeom prst="straightConnector1">
            <a:avLst/>
          </a:prstGeom>
          <a:noFill/>
          <a:ln w="6350" cap="rnd" cmpd="sng">
            <a:solidFill>
              <a:schemeClr val="accent1">
                <a:lumMod val="50000"/>
                <a:alpha val="41256"/>
              </a:schemeClr>
            </a:solidFill>
            <a:prstDash val="lgDashDot"/>
            <a:bevel/>
            <a:headEnd type="none" w="med" len="med"/>
            <a:tailEnd type="none" w="med" len="med"/>
          </a:ln>
        </p:spPr>
      </p:cxnSp>
      <p:cxnSp>
        <p:nvCxnSpPr>
          <p:cNvPr id="70" name="Google Shape;1000;p71">
            <a:extLst>
              <a:ext uri="{FF2B5EF4-FFF2-40B4-BE49-F238E27FC236}">
                <a16:creationId xmlns:a16="http://schemas.microsoft.com/office/drawing/2014/main" id="{FBFB0472-CA0A-7D08-1DFB-667BA7EDE485}"/>
              </a:ext>
            </a:extLst>
          </p:cNvPr>
          <p:cNvCxnSpPr>
            <a:cxnSpLocks/>
          </p:cNvCxnSpPr>
          <p:nvPr/>
        </p:nvCxnSpPr>
        <p:spPr>
          <a:xfrm>
            <a:off x="2248493" y="4336726"/>
            <a:ext cx="8085257" cy="0"/>
          </a:xfrm>
          <a:prstGeom prst="straightConnector1">
            <a:avLst/>
          </a:prstGeom>
          <a:noFill/>
          <a:ln w="6350" cap="rnd" cmpd="sng">
            <a:solidFill>
              <a:schemeClr val="accent1">
                <a:lumMod val="50000"/>
                <a:alpha val="41256"/>
              </a:schemeClr>
            </a:solidFill>
            <a:prstDash val="lgDashDot"/>
            <a:bevel/>
            <a:headEnd type="none" w="med" len="med"/>
            <a:tailEnd type="none" w="med" len="med"/>
          </a:ln>
        </p:spPr>
      </p:cxnSp>
      <p:cxnSp>
        <p:nvCxnSpPr>
          <p:cNvPr id="71" name="Google Shape;1000;p71">
            <a:extLst>
              <a:ext uri="{FF2B5EF4-FFF2-40B4-BE49-F238E27FC236}">
                <a16:creationId xmlns:a16="http://schemas.microsoft.com/office/drawing/2014/main" id="{BC29AB1B-6736-64AE-D278-D3EDDF98C718}"/>
              </a:ext>
            </a:extLst>
          </p:cNvPr>
          <p:cNvCxnSpPr>
            <a:cxnSpLocks/>
          </p:cNvCxnSpPr>
          <p:nvPr/>
        </p:nvCxnSpPr>
        <p:spPr>
          <a:xfrm>
            <a:off x="2248493" y="4676077"/>
            <a:ext cx="8085257" cy="16339"/>
          </a:xfrm>
          <a:prstGeom prst="straightConnector1">
            <a:avLst/>
          </a:prstGeom>
          <a:noFill/>
          <a:ln w="6350" cap="rnd" cmpd="sng">
            <a:solidFill>
              <a:schemeClr val="accent1">
                <a:lumMod val="50000"/>
                <a:alpha val="41256"/>
              </a:schemeClr>
            </a:solidFill>
            <a:prstDash val="lgDashDot"/>
            <a:bevel/>
            <a:headEnd type="none" w="med" len="med"/>
            <a:tailEnd type="none" w="med" len="med"/>
          </a:ln>
        </p:spPr>
      </p:cxnSp>
      <p:cxnSp>
        <p:nvCxnSpPr>
          <p:cNvPr id="72" name="Google Shape;1000;p71">
            <a:extLst>
              <a:ext uri="{FF2B5EF4-FFF2-40B4-BE49-F238E27FC236}">
                <a16:creationId xmlns:a16="http://schemas.microsoft.com/office/drawing/2014/main" id="{9299B95B-5787-E35C-37B7-DF31C7A4C07A}"/>
              </a:ext>
            </a:extLst>
          </p:cNvPr>
          <p:cNvCxnSpPr>
            <a:cxnSpLocks/>
          </p:cNvCxnSpPr>
          <p:nvPr/>
        </p:nvCxnSpPr>
        <p:spPr>
          <a:xfrm>
            <a:off x="2248493" y="5048879"/>
            <a:ext cx="8085257" cy="0"/>
          </a:xfrm>
          <a:prstGeom prst="straightConnector1">
            <a:avLst/>
          </a:prstGeom>
          <a:noFill/>
          <a:ln w="6350" cap="rnd" cmpd="sng">
            <a:solidFill>
              <a:schemeClr val="accent1">
                <a:lumMod val="50000"/>
                <a:alpha val="41256"/>
              </a:schemeClr>
            </a:solidFill>
            <a:prstDash val="lgDashDot"/>
            <a:bevel/>
            <a:headEnd type="none" w="med" len="med"/>
            <a:tailEnd type="none" w="med" len="med"/>
          </a:ln>
        </p:spPr>
      </p:cxnSp>
      <p:cxnSp>
        <p:nvCxnSpPr>
          <p:cNvPr id="73" name="Google Shape;1000;p71">
            <a:extLst>
              <a:ext uri="{FF2B5EF4-FFF2-40B4-BE49-F238E27FC236}">
                <a16:creationId xmlns:a16="http://schemas.microsoft.com/office/drawing/2014/main" id="{39C8AC3C-F41B-090B-7F60-C749D5BC608A}"/>
              </a:ext>
            </a:extLst>
          </p:cNvPr>
          <p:cNvCxnSpPr>
            <a:cxnSpLocks/>
          </p:cNvCxnSpPr>
          <p:nvPr/>
        </p:nvCxnSpPr>
        <p:spPr>
          <a:xfrm>
            <a:off x="2248493" y="5397173"/>
            <a:ext cx="8085257" cy="16339"/>
          </a:xfrm>
          <a:prstGeom prst="straightConnector1">
            <a:avLst/>
          </a:prstGeom>
          <a:noFill/>
          <a:ln w="6350" cap="rnd" cmpd="sng">
            <a:solidFill>
              <a:schemeClr val="accent1">
                <a:lumMod val="50000"/>
                <a:alpha val="41256"/>
              </a:schemeClr>
            </a:solidFill>
            <a:prstDash val="lgDashDot"/>
            <a:bevel/>
            <a:headEnd type="none" w="med" len="med"/>
            <a:tailEnd type="none" w="med" len="med"/>
          </a:ln>
        </p:spPr>
      </p:cxnSp>
      <p:cxnSp>
        <p:nvCxnSpPr>
          <p:cNvPr id="74" name="Google Shape;1000;p71">
            <a:extLst>
              <a:ext uri="{FF2B5EF4-FFF2-40B4-BE49-F238E27FC236}">
                <a16:creationId xmlns:a16="http://schemas.microsoft.com/office/drawing/2014/main" id="{B122FC7E-4FB8-8D61-16B6-0AD951E10943}"/>
              </a:ext>
            </a:extLst>
          </p:cNvPr>
          <p:cNvCxnSpPr>
            <a:cxnSpLocks/>
          </p:cNvCxnSpPr>
          <p:nvPr/>
        </p:nvCxnSpPr>
        <p:spPr>
          <a:xfrm>
            <a:off x="2248493" y="5769975"/>
            <a:ext cx="8085257" cy="0"/>
          </a:xfrm>
          <a:prstGeom prst="straightConnector1">
            <a:avLst/>
          </a:prstGeom>
          <a:noFill/>
          <a:ln w="6350" cap="rnd" cmpd="sng">
            <a:solidFill>
              <a:schemeClr val="accent1">
                <a:lumMod val="50000"/>
                <a:alpha val="41256"/>
              </a:schemeClr>
            </a:solidFill>
            <a:prstDash val="lgDashDot"/>
            <a:bevel/>
            <a:headEnd type="none" w="med" len="med"/>
            <a:tailEnd type="none" w="med" len="med"/>
          </a:ln>
        </p:spPr>
      </p:cxnSp>
      <p:sp>
        <p:nvSpPr>
          <p:cNvPr id="76" name="Rounded Rectangle 75">
            <a:extLst>
              <a:ext uri="{FF2B5EF4-FFF2-40B4-BE49-F238E27FC236}">
                <a16:creationId xmlns:a16="http://schemas.microsoft.com/office/drawing/2014/main" id="{8B2EAD49-22DD-A3AD-21AF-01074E1B75A1}"/>
              </a:ext>
            </a:extLst>
          </p:cNvPr>
          <p:cNvSpPr/>
          <p:nvPr/>
        </p:nvSpPr>
        <p:spPr>
          <a:xfrm>
            <a:off x="2248492" y="3865860"/>
            <a:ext cx="3847909" cy="176574"/>
          </a:xfrm>
          <a:prstGeom prst="roundRect">
            <a:avLst/>
          </a:prstGeom>
          <a:solidFill>
            <a:srgbClr val="A6958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ounded Rectangle 76">
            <a:extLst>
              <a:ext uri="{FF2B5EF4-FFF2-40B4-BE49-F238E27FC236}">
                <a16:creationId xmlns:a16="http://schemas.microsoft.com/office/drawing/2014/main" id="{A1EE03BB-E04A-99A3-6B66-4F2F879FF4BB}"/>
              </a:ext>
            </a:extLst>
          </p:cNvPr>
          <p:cNvSpPr/>
          <p:nvPr/>
        </p:nvSpPr>
        <p:spPr>
          <a:xfrm>
            <a:off x="4070989" y="4263137"/>
            <a:ext cx="3301878" cy="155079"/>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ounded Rectangle 77">
            <a:extLst>
              <a:ext uri="{FF2B5EF4-FFF2-40B4-BE49-F238E27FC236}">
                <a16:creationId xmlns:a16="http://schemas.microsoft.com/office/drawing/2014/main" id="{19E4AD9D-AABB-8F35-6D10-78229048A3A4}"/>
              </a:ext>
            </a:extLst>
          </p:cNvPr>
          <p:cNvSpPr/>
          <p:nvPr/>
        </p:nvSpPr>
        <p:spPr>
          <a:xfrm>
            <a:off x="6096402" y="4605732"/>
            <a:ext cx="2359970" cy="166549"/>
          </a:xfrm>
          <a:prstGeom prst="roundRect">
            <a:avLst/>
          </a:prstGeom>
          <a:solidFill>
            <a:srgbClr val="A6958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ounded Rectangle 78">
            <a:extLst>
              <a:ext uri="{FF2B5EF4-FFF2-40B4-BE49-F238E27FC236}">
                <a16:creationId xmlns:a16="http://schemas.microsoft.com/office/drawing/2014/main" id="{FED69969-76D6-AF37-C717-CB31BE64CCBF}"/>
              </a:ext>
            </a:extLst>
          </p:cNvPr>
          <p:cNvSpPr/>
          <p:nvPr/>
        </p:nvSpPr>
        <p:spPr>
          <a:xfrm>
            <a:off x="3045918" y="4950579"/>
            <a:ext cx="3301878" cy="18544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Google Shape;1006;p71">
            <a:extLst>
              <a:ext uri="{FF2B5EF4-FFF2-40B4-BE49-F238E27FC236}">
                <a16:creationId xmlns:a16="http://schemas.microsoft.com/office/drawing/2014/main" id="{2D7205F8-9824-81A7-75F7-8B556620E282}"/>
              </a:ext>
            </a:extLst>
          </p:cNvPr>
          <p:cNvSpPr txBox="1"/>
          <p:nvPr/>
        </p:nvSpPr>
        <p:spPr>
          <a:xfrm>
            <a:off x="4398342" y="2734276"/>
            <a:ext cx="1443650" cy="176972"/>
          </a:xfrm>
          <a:prstGeom prst="rect">
            <a:avLst/>
          </a:prstGeom>
          <a:noFill/>
          <a:ln>
            <a:noFill/>
          </a:ln>
        </p:spPr>
        <p:txBody>
          <a:bodyPr spcFirstLastPara="1" wrap="square" lIns="0" tIns="0" rIns="0" bIns="0" anchor="t" anchorCtr="0">
            <a:spAutoFit/>
          </a:bodyPr>
          <a:lstStyle/>
          <a:p>
            <a:pPr lvl="0">
              <a:lnSpc>
                <a:spcPct val="115000"/>
              </a:lnSpc>
            </a:pPr>
            <a:r>
              <a:rPr lang="en" sz="1000" dirty="0">
                <a:solidFill>
                  <a:schemeClr val="dk1"/>
                </a:solidFill>
                <a:latin typeface="Figtree Medium"/>
                <a:ea typeface="Figtree Medium"/>
                <a:cs typeface="Figtree Medium"/>
                <a:sym typeface="Figtree Medium"/>
              </a:rPr>
              <a:t>Month / Date | </a:t>
            </a:r>
            <a:r>
              <a:rPr lang="en" sz="1000" dirty="0">
                <a:solidFill>
                  <a:schemeClr val="dk1"/>
                </a:solidFill>
                <a:latin typeface="Avenir Book" panose="02000503020000020003" pitchFamily="2" charset="0"/>
                <a:ea typeface="Figtree Medium"/>
                <a:cs typeface="Figtree Medium"/>
                <a:sym typeface="Figtree Medium"/>
              </a:rPr>
              <a:t>Week</a:t>
            </a:r>
            <a:r>
              <a:rPr lang="en" sz="1000" dirty="0">
                <a:solidFill>
                  <a:schemeClr val="dk1"/>
                </a:solidFill>
                <a:latin typeface="Figtree Medium"/>
                <a:ea typeface="Figtree Medium"/>
                <a:cs typeface="Figtree Medium"/>
                <a:sym typeface="Figtree Medium"/>
              </a:rPr>
              <a:t> 02 </a:t>
            </a:r>
            <a:endParaRPr sz="1000" dirty="0">
              <a:solidFill>
                <a:schemeClr val="dk1"/>
              </a:solidFill>
              <a:latin typeface="Figtree Medium"/>
              <a:ea typeface="Figtree Medium"/>
              <a:cs typeface="Figtree Medium"/>
              <a:sym typeface="Figtree Medium"/>
            </a:endParaRPr>
          </a:p>
        </p:txBody>
      </p:sp>
      <p:sp>
        <p:nvSpPr>
          <p:cNvPr id="82" name="Google Shape;1006;p71">
            <a:extLst>
              <a:ext uri="{FF2B5EF4-FFF2-40B4-BE49-F238E27FC236}">
                <a16:creationId xmlns:a16="http://schemas.microsoft.com/office/drawing/2014/main" id="{1E82DB4E-3907-FD33-A765-5753F0F4D3BE}"/>
              </a:ext>
            </a:extLst>
          </p:cNvPr>
          <p:cNvSpPr txBox="1"/>
          <p:nvPr/>
        </p:nvSpPr>
        <p:spPr>
          <a:xfrm>
            <a:off x="6406477" y="2729403"/>
            <a:ext cx="1443650" cy="176972"/>
          </a:xfrm>
          <a:prstGeom prst="rect">
            <a:avLst/>
          </a:prstGeom>
          <a:noFill/>
          <a:ln>
            <a:noFill/>
          </a:ln>
        </p:spPr>
        <p:txBody>
          <a:bodyPr spcFirstLastPara="1" wrap="square" lIns="0" tIns="0" rIns="0" bIns="0" anchor="t" anchorCtr="0">
            <a:spAutoFit/>
          </a:bodyPr>
          <a:lstStyle/>
          <a:p>
            <a:pPr lvl="0">
              <a:lnSpc>
                <a:spcPct val="115000"/>
              </a:lnSpc>
            </a:pPr>
            <a:r>
              <a:rPr lang="en" sz="1000" dirty="0">
                <a:solidFill>
                  <a:schemeClr val="dk1"/>
                </a:solidFill>
                <a:latin typeface="Figtree Medium"/>
                <a:ea typeface="Figtree Medium"/>
                <a:cs typeface="Figtree Medium"/>
                <a:sym typeface="Figtree Medium"/>
              </a:rPr>
              <a:t>Month / Date | </a:t>
            </a:r>
            <a:r>
              <a:rPr lang="en" sz="1000" dirty="0">
                <a:solidFill>
                  <a:schemeClr val="dk1"/>
                </a:solidFill>
                <a:latin typeface="Avenir Book" panose="02000503020000020003" pitchFamily="2" charset="0"/>
                <a:ea typeface="Figtree Medium"/>
                <a:cs typeface="Figtree Medium"/>
                <a:sym typeface="Figtree Medium"/>
              </a:rPr>
              <a:t>Week</a:t>
            </a:r>
            <a:r>
              <a:rPr lang="en" sz="1000" dirty="0">
                <a:solidFill>
                  <a:schemeClr val="dk1"/>
                </a:solidFill>
                <a:latin typeface="Figtree Medium"/>
                <a:ea typeface="Figtree Medium"/>
                <a:cs typeface="Figtree Medium"/>
                <a:sym typeface="Figtree Medium"/>
              </a:rPr>
              <a:t> 03 </a:t>
            </a:r>
            <a:endParaRPr sz="1000" dirty="0">
              <a:solidFill>
                <a:schemeClr val="dk1"/>
              </a:solidFill>
              <a:latin typeface="Figtree Medium"/>
              <a:ea typeface="Figtree Medium"/>
              <a:cs typeface="Figtree Medium"/>
              <a:sym typeface="Figtree Medium"/>
            </a:endParaRPr>
          </a:p>
        </p:txBody>
      </p:sp>
      <p:sp>
        <p:nvSpPr>
          <p:cNvPr id="83" name="Google Shape;1006;p71">
            <a:extLst>
              <a:ext uri="{FF2B5EF4-FFF2-40B4-BE49-F238E27FC236}">
                <a16:creationId xmlns:a16="http://schemas.microsoft.com/office/drawing/2014/main" id="{502EBAD8-4E13-FD17-ABD0-9D987EC8513F}"/>
              </a:ext>
            </a:extLst>
          </p:cNvPr>
          <p:cNvSpPr txBox="1"/>
          <p:nvPr/>
        </p:nvSpPr>
        <p:spPr>
          <a:xfrm>
            <a:off x="8393382" y="2724714"/>
            <a:ext cx="1443650" cy="176972"/>
          </a:xfrm>
          <a:prstGeom prst="rect">
            <a:avLst/>
          </a:prstGeom>
          <a:noFill/>
          <a:ln>
            <a:noFill/>
          </a:ln>
        </p:spPr>
        <p:txBody>
          <a:bodyPr spcFirstLastPara="1" wrap="square" lIns="0" tIns="0" rIns="0" bIns="0" anchor="t" anchorCtr="0">
            <a:spAutoFit/>
          </a:bodyPr>
          <a:lstStyle/>
          <a:p>
            <a:pPr lvl="0">
              <a:lnSpc>
                <a:spcPct val="115000"/>
              </a:lnSpc>
            </a:pPr>
            <a:r>
              <a:rPr lang="en" sz="1000" dirty="0">
                <a:solidFill>
                  <a:schemeClr val="dk1"/>
                </a:solidFill>
                <a:latin typeface="Figtree Medium"/>
                <a:ea typeface="Figtree Medium"/>
                <a:cs typeface="Figtree Medium"/>
                <a:sym typeface="Figtree Medium"/>
              </a:rPr>
              <a:t>Month / Date | </a:t>
            </a:r>
            <a:r>
              <a:rPr lang="en" sz="1000" dirty="0">
                <a:solidFill>
                  <a:schemeClr val="dk1"/>
                </a:solidFill>
                <a:latin typeface="Avenir Book" panose="02000503020000020003" pitchFamily="2" charset="0"/>
                <a:ea typeface="Figtree Medium"/>
                <a:cs typeface="Figtree Medium"/>
                <a:sym typeface="Figtree Medium"/>
              </a:rPr>
              <a:t>Week</a:t>
            </a:r>
            <a:r>
              <a:rPr lang="en" sz="1000" dirty="0">
                <a:solidFill>
                  <a:schemeClr val="dk1"/>
                </a:solidFill>
                <a:latin typeface="Figtree Medium"/>
                <a:ea typeface="Figtree Medium"/>
                <a:cs typeface="Figtree Medium"/>
                <a:sym typeface="Figtree Medium"/>
              </a:rPr>
              <a:t> 04 </a:t>
            </a:r>
            <a:endParaRPr sz="1000" dirty="0">
              <a:solidFill>
                <a:schemeClr val="dk1"/>
              </a:solidFill>
              <a:latin typeface="Figtree Medium"/>
              <a:ea typeface="Figtree Medium"/>
              <a:cs typeface="Figtree Medium"/>
              <a:sym typeface="Figtree Medium"/>
            </a:endParaRPr>
          </a:p>
        </p:txBody>
      </p:sp>
      <p:sp>
        <p:nvSpPr>
          <p:cNvPr id="84" name="Rounded Rectangle 83">
            <a:extLst>
              <a:ext uri="{FF2B5EF4-FFF2-40B4-BE49-F238E27FC236}">
                <a16:creationId xmlns:a16="http://schemas.microsoft.com/office/drawing/2014/main" id="{FE62755F-0D82-740F-B617-590085C3AAD4}"/>
              </a:ext>
            </a:extLst>
          </p:cNvPr>
          <p:cNvSpPr/>
          <p:nvPr/>
        </p:nvSpPr>
        <p:spPr>
          <a:xfrm>
            <a:off x="4067411" y="5307970"/>
            <a:ext cx="2891124" cy="165894"/>
          </a:xfrm>
          <a:prstGeom prst="roundRect">
            <a:avLst/>
          </a:prstGeom>
          <a:solidFill>
            <a:srgbClr val="A6958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ounded Rectangle 84">
            <a:extLst>
              <a:ext uri="{FF2B5EF4-FFF2-40B4-BE49-F238E27FC236}">
                <a16:creationId xmlns:a16="http://schemas.microsoft.com/office/drawing/2014/main" id="{51E89B36-FAF7-9113-8CD6-3F23ECA645A5}"/>
              </a:ext>
            </a:extLst>
          </p:cNvPr>
          <p:cNvSpPr/>
          <p:nvPr/>
        </p:nvSpPr>
        <p:spPr>
          <a:xfrm>
            <a:off x="4073599" y="3503747"/>
            <a:ext cx="2894622" cy="169018"/>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ounded Rectangle 85">
            <a:extLst>
              <a:ext uri="{FF2B5EF4-FFF2-40B4-BE49-F238E27FC236}">
                <a16:creationId xmlns:a16="http://schemas.microsoft.com/office/drawing/2014/main" id="{413CF68A-4A02-71D1-AD44-FF99147D3CE6}"/>
              </a:ext>
            </a:extLst>
          </p:cNvPr>
          <p:cNvSpPr/>
          <p:nvPr/>
        </p:nvSpPr>
        <p:spPr>
          <a:xfrm>
            <a:off x="5257584" y="5697150"/>
            <a:ext cx="3194364" cy="170223"/>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ounded Rectangle 86">
            <a:extLst>
              <a:ext uri="{FF2B5EF4-FFF2-40B4-BE49-F238E27FC236}">
                <a16:creationId xmlns:a16="http://schemas.microsoft.com/office/drawing/2014/main" id="{E93D381B-1A67-B313-A233-1ACC37C66820}"/>
              </a:ext>
            </a:extLst>
          </p:cNvPr>
          <p:cNvSpPr/>
          <p:nvPr/>
        </p:nvSpPr>
        <p:spPr>
          <a:xfrm>
            <a:off x="6966337" y="3453414"/>
            <a:ext cx="906123" cy="24078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TextBox 87">
            <a:extLst>
              <a:ext uri="{FF2B5EF4-FFF2-40B4-BE49-F238E27FC236}">
                <a16:creationId xmlns:a16="http://schemas.microsoft.com/office/drawing/2014/main" id="{8EB259B5-67F9-BBE1-A08E-B984F650A0C5}"/>
              </a:ext>
            </a:extLst>
          </p:cNvPr>
          <p:cNvSpPr txBox="1"/>
          <p:nvPr/>
        </p:nvSpPr>
        <p:spPr>
          <a:xfrm>
            <a:off x="6955411" y="3478121"/>
            <a:ext cx="961734" cy="215444"/>
          </a:xfrm>
          <a:prstGeom prst="rect">
            <a:avLst/>
          </a:prstGeom>
          <a:noFill/>
        </p:spPr>
        <p:txBody>
          <a:bodyPr wrap="square" rtlCol="0">
            <a:spAutoFit/>
          </a:bodyPr>
          <a:lstStyle/>
          <a:p>
            <a:r>
              <a:rPr lang="en-US" sz="800" dirty="0">
                <a:latin typeface="Avenir Book" panose="02000503020000020003" pitchFamily="2" charset="0"/>
              </a:rPr>
              <a:t>Delivered: 12/17</a:t>
            </a:r>
          </a:p>
        </p:txBody>
      </p:sp>
      <p:sp>
        <p:nvSpPr>
          <p:cNvPr id="89" name="Rounded Rectangle 88">
            <a:extLst>
              <a:ext uri="{FF2B5EF4-FFF2-40B4-BE49-F238E27FC236}">
                <a16:creationId xmlns:a16="http://schemas.microsoft.com/office/drawing/2014/main" id="{B41ADB2E-08C5-1BDC-4F90-8E8AFE262AF4}"/>
              </a:ext>
            </a:extLst>
          </p:cNvPr>
          <p:cNvSpPr/>
          <p:nvPr/>
        </p:nvSpPr>
        <p:spPr>
          <a:xfrm>
            <a:off x="9217685" y="3109414"/>
            <a:ext cx="906123" cy="24078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TextBox 89">
            <a:extLst>
              <a:ext uri="{FF2B5EF4-FFF2-40B4-BE49-F238E27FC236}">
                <a16:creationId xmlns:a16="http://schemas.microsoft.com/office/drawing/2014/main" id="{1EB02C2E-F33B-8452-4FB6-BF3D02E248D0}"/>
              </a:ext>
            </a:extLst>
          </p:cNvPr>
          <p:cNvSpPr txBox="1"/>
          <p:nvPr/>
        </p:nvSpPr>
        <p:spPr>
          <a:xfrm>
            <a:off x="9202004" y="3137153"/>
            <a:ext cx="954285" cy="215444"/>
          </a:xfrm>
          <a:prstGeom prst="rect">
            <a:avLst/>
          </a:prstGeom>
          <a:noFill/>
        </p:spPr>
        <p:txBody>
          <a:bodyPr wrap="square" rtlCol="0">
            <a:spAutoFit/>
          </a:bodyPr>
          <a:lstStyle/>
          <a:p>
            <a:r>
              <a:rPr lang="en-US" sz="800" dirty="0">
                <a:latin typeface="Avenir Book" panose="02000503020000020003" pitchFamily="2" charset="0"/>
              </a:rPr>
              <a:t>Delivered: 12/25</a:t>
            </a:r>
          </a:p>
        </p:txBody>
      </p:sp>
      <p:sp>
        <p:nvSpPr>
          <p:cNvPr id="91" name="Rounded Rectangle 90">
            <a:extLst>
              <a:ext uri="{FF2B5EF4-FFF2-40B4-BE49-F238E27FC236}">
                <a16:creationId xmlns:a16="http://schemas.microsoft.com/office/drawing/2014/main" id="{528A1131-7339-442C-03C9-79905D71E28D}"/>
              </a:ext>
            </a:extLst>
          </p:cNvPr>
          <p:cNvSpPr/>
          <p:nvPr/>
        </p:nvSpPr>
        <p:spPr>
          <a:xfrm>
            <a:off x="6106425" y="3824429"/>
            <a:ext cx="906123" cy="24078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TextBox 91">
            <a:extLst>
              <a:ext uri="{FF2B5EF4-FFF2-40B4-BE49-F238E27FC236}">
                <a16:creationId xmlns:a16="http://schemas.microsoft.com/office/drawing/2014/main" id="{A1164BFF-9AF7-64CA-58BA-8C34ACFF623A}"/>
              </a:ext>
            </a:extLst>
          </p:cNvPr>
          <p:cNvSpPr txBox="1"/>
          <p:nvPr/>
        </p:nvSpPr>
        <p:spPr>
          <a:xfrm>
            <a:off x="6096402" y="3843535"/>
            <a:ext cx="1103844" cy="215444"/>
          </a:xfrm>
          <a:prstGeom prst="rect">
            <a:avLst/>
          </a:prstGeom>
          <a:noFill/>
        </p:spPr>
        <p:txBody>
          <a:bodyPr wrap="square" rtlCol="0">
            <a:spAutoFit/>
          </a:bodyPr>
          <a:lstStyle/>
          <a:p>
            <a:r>
              <a:rPr lang="en-US" sz="800" dirty="0">
                <a:latin typeface="Avenir Book" panose="02000503020000020003" pitchFamily="2" charset="0"/>
              </a:rPr>
              <a:t>Delivered: 12/14</a:t>
            </a:r>
          </a:p>
        </p:txBody>
      </p:sp>
      <p:sp>
        <p:nvSpPr>
          <p:cNvPr id="93" name="Rounded Rectangle 92">
            <a:extLst>
              <a:ext uri="{FF2B5EF4-FFF2-40B4-BE49-F238E27FC236}">
                <a16:creationId xmlns:a16="http://schemas.microsoft.com/office/drawing/2014/main" id="{6D5307DA-0084-2B9C-CB88-C5BF8F289A07}"/>
              </a:ext>
            </a:extLst>
          </p:cNvPr>
          <p:cNvSpPr/>
          <p:nvPr/>
        </p:nvSpPr>
        <p:spPr>
          <a:xfrm>
            <a:off x="7372694" y="4206675"/>
            <a:ext cx="906122" cy="24078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TextBox 93">
            <a:extLst>
              <a:ext uri="{FF2B5EF4-FFF2-40B4-BE49-F238E27FC236}">
                <a16:creationId xmlns:a16="http://schemas.microsoft.com/office/drawing/2014/main" id="{D9009FCE-A5E2-3EBC-A358-B75285F88790}"/>
              </a:ext>
            </a:extLst>
          </p:cNvPr>
          <p:cNvSpPr txBox="1"/>
          <p:nvPr/>
        </p:nvSpPr>
        <p:spPr>
          <a:xfrm>
            <a:off x="7362201" y="4219345"/>
            <a:ext cx="1020518" cy="215444"/>
          </a:xfrm>
          <a:prstGeom prst="rect">
            <a:avLst/>
          </a:prstGeom>
          <a:noFill/>
        </p:spPr>
        <p:txBody>
          <a:bodyPr wrap="square" rtlCol="0">
            <a:spAutoFit/>
          </a:bodyPr>
          <a:lstStyle/>
          <a:p>
            <a:r>
              <a:rPr lang="en-US" sz="800" dirty="0">
                <a:latin typeface="Avenir Book" panose="02000503020000020003" pitchFamily="2" charset="0"/>
              </a:rPr>
              <a:t>Delivered: 12/18</a:t>
            </a:r>
          </a:p>
        </p:txBody>
      </p:sp>
      <p:sp>
        <p:nvSpPr>
          <p:cNvPr id="95" name="Rounded Rectangle 94">
            <a:extLst>
              <a:ext uri="{FF2B5EF4-FFF2-40B4-BE49-F238E27FC236}">
                <a16:creationId xmlns:a16="http://schemas.microsoft.com/office/drawing/2014/main" id="{1FCF5D4D-AF3F-67A4-09AD-43C7BE5D4C61}"/>
              </a:ext>
            </a:extLst>
          </p:cNvPr>
          <p:cNvSpPr/>
          <p:nvPr/>
        </p:nvSpPr>
        <p:spPr>
          <a:xfrm>
            <a:off x="8442708" y="4572024"/>
            <a:ext cx="906123" cy="24078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TextBox 95">
            <a:extLst>
              <a:ext uri="{FF2B5EF4-FFF2-40B4-BE49-F238E27FC236}">
                <a16:creationId xmlns:a16="http://schemas.microsoft.com/office/drawing/2014/main" id="{563ADB27-60B3-9B24-E8AC-7FEC591204D7}"/>
              </a:ext>
            </a:extLst>
          </p:cNvPr>
          <p:cNvSpPr txBox="1"/>
          <p:nvPr/>
        </p:nvSpPr>
        <p:spPr>
          <a:xfrm>
            <a:off x="8426034" y="4591085"/>
            <a:ext cx="1059649" cy="215444"/>
          </a:xfrm>
          <a:prstGeom prst="rect">
            <a:avLst/>
          </a:prstGeom>
          <a:noFill/>
        </p:spPr>
        <p:txBody>
          <a:bodyPr wrap="square" rtlCol="0">
            <a:spAutoFit/>
          </a:bodyPr>
          <a:lstStyle/>
          <a:p>
            <a:r>
              <a:rPr lang="en-US" sz="800" dirty="0">
                <a:latin typeface="Avenir Book" panose="02000503020000020003" pitchFamily="2" charset="0"/>
              </a:rPr>
              <a:t>Delivered: 12/21</a:t>
            </a:r>
          </a:p>
        </p:txBody>
      </p:sp>
      <p:sp>
        <p:nvSpPr>
          <p:cNvPr id="97" name="Rounded Rectangle 96">
            <a:extLst>
              <a:ext uri="{FF2B5EF4-FFF2-40B4-BE49-F238E27FC236}">
                <a16:creationId xmlns:a16="http://schemas.microsoft.com/office/drawing/2014/main" id="{B5EFAEE9-FBA5-C7A6-2BC9-E71FECF1C1E3}"/>
              </a:ext>
            </a:extLst>
          </p:cNvPr>
          <p:cNvSpPr/>
          <p:nvPr/>
        </p:nvSpPr>
        <p:spPr>
          <a:xfrm>
            <a:off x="6355733" y="4902650"/>
            <a:ext cx="906123" cy="24078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TextBox 97">
            <a:extLst>
              <a:ext uri="{FF2B5EF4-FFF2-40B4-BE49-F238E27FC236}">
                <a16:creationId xmlns:a16="http://schemas.microsoft.com/office/drawing/2014/main" id="{75B6EE35-66F2-B070-AF91-41554C9C64EB}"/>
              </a:ext>
            </a:extLst>
          </p:cNvPr>
          <p:cNvSpPr txBox="1"/>
          <p:nvPr/>
        </p:nvSpPr>
        <p:spPr>
          <a:xfrm>
            <a:off x="6345709" y="4921756"/>
            <a:ext cx="1059649" cy="215444"/>
          </a:xfrm>
          <a:prstGeom prst="rect">
            <a:avLst/>
          </a:prstGeom>
          <a:noFill/>
        </p:spPr>
        <p:txBody>
          <a:bodyPr wrap="square" rtlCol="0">
            <a:spAutoFit/>
          </a:bodyPr>
          <a:lstStyle/>
          <a:p>
            <a:r>
              <a:rPr lang="en-US" sz="800" dirty="0">
                <a:latin typeface="Avenir Book" panose="02000503020000020003" pitchFamily="2" charset="0"/>
              </a:rPr>
              <a:t>Delivered: 12/15</a:t>
            </a:r>
          </a:p>
        </p:txBody>
      </p:sp>
      <p:sp>
        <p:nvSpPr>
          <p:cNvPr id="99" name="Rounded Rectangle 98">
            <a:extLst>
              <a:ext uri="{FF2B5EF4-FFF2-40B4-BE49-F238E27FC236}">
                <a16:creationId xmlns:a16="http://schemas.microsoft.com/office/drawing/2014/main" id="{64416E12-8719-C9BD-A70E-600B8BD15198}"/>
              </a:ext>
            </a:extLst>
          </p:cNvPr>
          <p:cNvSpPr/>
          <p:nvPr/>
        </p:nvSpPr>
        <p:spPr>
          <a:xfrm>
            <a:off x="6962330" y="5258424"/>
            <a:ext cx="906123" cy="24078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TextBox 99">
            <a:extLst>
              <a:ext uri="{FF2B5EF4-FFF2-40B4-BE49-F238E27FC236}">
                <a16:creationId xmlns:a16="http://schemas.microsoft.com/office/drawing/2014/main" id="{2A1BB428-BF23-6432-CEAB-FE0725215CE7}"/>
              </a:ext>
            </a:extLst>
          </p:cNvPr>
          <p:cNvSpPr txBox="1"/>
          <p:nvPr/>
        </p:nvSpPr>
        <p:spPr>
          <a:xfrm>
            <a:off x="6959800" y="5286641"/>
            <a:ext cx="1059649" cy="215444"/>
          </a:xfrm>
          <a:prstGeom prst="rect">
            <a:avLst/>
          </a:prstGeom>
          <a:noFill/>
        </p:spPr>
        <p:txBody>
          <a:bodyPr wrap="square" rtlCol="0">
            <a:spAutoFit/>
          </a:bodyPr>
          <a:lstStyle/>
          <a:p>
            <a:r>
              <a:rPr lang="en-US" sz="800" dirty="0">
                <a:latin typeface="Avenir Book" panose="02000503020000020003" pitchFamily="2" charset="0"/>
              </a:rPr>
              <a:t>Delivered: 12/17</a:t>
            </a:r>
          </a:p>
        </p:txBody>
      </p:sp>
      <p:sp>
        <p:nvSpPr>
          <p:cNvPr id="103" name="Rounded Rectangle 102">
            <a:extLst>
              <a:ext uri="{FF2B5EF4-FFF2-40B4-BE49-F238E27FC236}">
                <a16:creationId xmlns:a16="http://schemas.microsoft.com/office/drawing/2014/main" id="{F29F7C49-9203-A5A3-7F1F-E40FC3ADA1DC}"/>
              </a:ext>
            </a:extLst>
          </p:cNvPr>
          <p:cNvSpPr/>
          <p:nvPr/>
        </p:nvSpPr>
        <p:spPr>
          <a:xfrm>
            <a:off x="8442709" y="5649583"/>
            <a:ext cx="906123" cy="24078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TextBox 103">
            <a:extLst>
              <a:ext uri="{FF2B5EF4-FFF2-40B4-BE49-F238E27FC236}">
                <a16:creationId xmlns:a16="http://schemas.microsoft.com/office/drawing/2014/main" id="{E183969F-2670-D101-0919-5C2BB62E8771}"/>
              </a:ext>
            </a:extLst>
          </p:cNvPr>
          <p:cNvSpPr txBox="1"/>
          <p:nvPr/>
        </p:nvSpPr>
        <p:spPr>
          <a:xfrm>
            <a:off x="8426034" y="5669788"/>
            <a:ext cx="1059649" cy="215444"/>
          </a:xfrm>
          <a:prstGeom prst="rect">
            <a:avLst/>
          </a:prstGeom>
          <a:noFill/>
        </p:spPr>
        <p:txBody>
          <a:bodyPr wrap="square" rtlCol="0">
            <a:spAutoFit/>
          </a:bodyPr>
          <a:lstStyle/>
          <a:p>
            <a:r>
              <a:rPr lang="en-US" sz="800" dirty="0">
                <a:latin typeface="Avenir Book" panose="02000503020000020003" pitchFamily="2" charset="0"/>
              </a:rPr>
              <a:t>Delivered: 12/21</a:t>
            </a:r>
          </a:p>
        </p:txBody>
      </p:sp>
      <p:sp>
        <p:nvSpPr>
          <p:cNvPr id="117" name="Oval 116">
            <a:extLst>
              <a:ext uri="{FF2B5EF4-FFF2-40B4-BE49-F238E27FC236}">
                <a16:creationId xmlns:a16="http://schemas.microsoft.com/office/drawing/2014/main" id="{17E713D0-6CEB-81F4-1497-2E872EA72222}"/>
              </a:ext>
            </a:extLst>
          </p:cNvPr>
          <p:cNvSpPr/>
          <p:nvPr/>
        </p:nvSpPr>
        <p:spPr>
          <a:xfrm>
            <a:off x="9365505" y="4589434"/>
            <a:ext cx="189623" cy="189623"/>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118" name="Oval 117">
            <a:extLst>
              <a:ext uri="{FF2B5EF4-FFF2-40B4-BE49-F238E27FC236}">
                <a16:creationId xmlns:a16="http://schemas.microsoft.com/office/drawing/2014/main" id="{D324AC61-4570-9115-C380-F0CADD3C789F}"/>
              </a:ext>
            </a:extLst>
          </p:cNvPr>
          <p:cNvSpPr/>
          <p:nvPr/>
        </p:nvSpPr>
        <p:spPr>
          <a:xfrm>
            <a:off x="7033490" y="3859822"/>
            <a:ext cx="189623" cy="189623"/>
          </a:xfrm>
          <a:prstGeom prst="ellips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119" name="Oval 118">
            <a:extLst>
              <a:ext uri="{FF2B5EF4-FFF2-40B4-BE49-F238E27FC236}">
                <a16:creationId xmlns:a16="http://schemas.microsoft.com/office/drawing/2014/main" id="{1973E9ED-B8F3-99B5-1E8D-510FE476A1F0}"/>
              </a:ext>
            </a:extLst>
          </p:cNvPr>
          <p:cNvSpPr/>
          <p:nvPr/>
        </p:nvSpPr>
        <p:spPr>
          <a:xfrm>
            <a:off x="7270506" y="4938592"/>
            <a:ext cx="189623" cy="189623"/>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120" name="Oval 119">
            <a:extLst>
              <a:ext uri="{FF2B5EF4-FFF2-40B4-BE49-F238E27FC236}">
                <a16:creationId xmlns:a16="http://schemas.microsoft.com/office/drawing/2014/main" id="{06D041C0-3EB3-F946-4285-497362526232}"/>
              </a:ext>
            </a:extLst>
          </p:cNvPr>
          <p:cNvSpPr/>
          <p:nvPr/>
        </p:nvSpPr>
        <p:spPr>
          <a:xfrm>
            <a:off x="9373456" y="5679264"/>
            <a:ext cx="189623" cy="189623"/>
          </a:xfrm>
          <a:prstGeom prst="ellipse">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p>
        </p:txBody>
      </p:sp>
      <p:grpSp>
        <p:nvGrpSpPr>
          <p:cNvPr id="14" name="Group 13">
            <a:extLst>
              <a:ext uri="{FF2B5EF4-FFF2-40B4-BE49-F238E27FC236}">
                <a16:creationId xmlns:a16="http://schemas.microsoft.com/office/drawing/2014/main" id="{25DCCC2A-1399-E3F4-F552-CABE07C53100}"/>
              </a:ext>
            </a:extLst>
          </p:cNvPr>
          <p:cNvGrpSpPr/>
          <p:nvPr/>
        </p:nvGrpSpPr>
        <p:grpSpPr>
          <a:xfrm>
            <a:off x="4113744" y="2194015"/>
            <a:ext cx="3994675" cy="189623"/>
            <a:chOff x="2162676" y="6107212"/>
            <a:chExt cx="3994675" cy="189623"/>
          </a:xfrm>
        </p:grpSpPr>
        <p:sp>
          <p:nvSpPr>
            <p:cNvPr id="105" name="Oval 104">
              <a:extLst>
                <a:ext uri="{FF2B5EF4-FFF2-40B4-BE49-F238E27FC236}">
                  <a16:creationId xmlns:a16="http://schemas.microsoft.com/office/drawing/2014/main" id="{17FACE0D-8483-042D-DCFB-539F77439CB5}"/>
                </a:ext>
              </a:extLst>
            </p:cNvPr>
            <p:cNvSpPr/>
            <p:nvPr/>
          </p:nvSpPr>
          <p:spPr>
            <a:xfrm>
              <a:off x="2162676" y="6107212"/>
              <a:ext cx="189623" cy="189623"/>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sz="1000"/>
            </a:p>
          </p:txBody>
        </p:sp>
        <p:sp>
          <p:nvSpPr>
            <p:cNvPr id="106" name="TextBox 105">
              <a:extLst>
                <a:ext uri="{FF2B5EF4-FFF2-40B4-BE49-F238E27FC236}">
                  <a16:creationId xmlns:a16="http://schemas.microsoft.com/office/drawing/2014/main" id="{9D123885-6E95-84D8-099E-31A5C679DC86}"/>
                </a:ext>
              </a:extLst>
            </p:cNvPr>
            <p:cNvSpPr txBox="1"/>
            <p:nvPr/>
          </p:nvSpPr>
          <p:spPr>
            <a:xfrm>
              <a:off x="2427715" y="6132771"/>
              <a:ext cx="500697" cy="153888"/>
            </a:xfrm>
            <a:prstGeom prst="rect">
              <a:avLst/>
            </a:prstGeom>
            <a:noFill/>
          </p:spPr>
          <p:txBody>
            <a:bodyPr wrap="square" lIns="0" tIns="0" rIns="0" bIns="0" rtlCol="0">
              <a:spAutoFit/>
            </a:bodyPr>
            <a:lstStyle/>
            <a:p>
              <a:r>
                <a:rPr lang="en-US" sz="1000" dirty="0">
                  <a:latin typeface="Avenir Book" panose="02000503020000020003" pitchFamily="2" charset="0"/>
                </a:rPr>
                <a:t>Jane</a:t>
              </a:r>
            </a:p>
          </p:txBody>
        </p:sp>
        <p:sp>
          <p:nvSpPr>
            <p:cNvPr id="109" name="Oval 108">
              <a:extLst>
                <a:ext uri="{FF2B5EF4-FFF2-40B4-BE49-F238E27FC236}">
                  <a16:creationId xmlns:a16="http://schemas.microsoft.com/office/drawing/2014/main" id="{4B5380B8-81E4-8AAC-FE31-C1516B0301D4}"/>
                </a:ext>
              </a:extLst>
            </p:cNvPr>
            <p:cNvSpPr/>
            <p:nvPr/>
          </p:nvSpPr>
          <p:spPr>
            <a:xfrm>
              <a:off x="2961939" y="6107212"/>
              <a:ext cx="189623" cy="189623"/>
            </a:xfrm>
            <a:prstGeom prst="ellips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sz="1000" dirty="0"/>
            </a:p>
          </p:txBody>
        </p:sp>
        <p:sp>
          <p:nvSpPr>
            <p:cNvPr id="110" name="TextBox 109">
              <a:extLst>
                <a:ext uri="{FF2B5EF4-FFF2-40B4-BE49-F238E27FC236}">
                  <a16:creationId xmlns:a16="http://schemas.microsoft.com/office/drawing/2014/main" id="{FA486723-7070-0534-30E2-47EE401EC492}"/>
                </a:ext>
              </a:extLst>
            </p:cNvPr>
            <p:cNvSpPr txBox="1"/>
            <p:nvPr/>
          </p:nvSpPr>
          <p:spPr>
            <a:xfrm>
              <a:off x="3226978" y="6132771"/>
              <a:ext cx="500697" cy="153888"/>
            </a:xfrm>
            <a:prstGeom prst="rect">
              <a:avLst/>
            </a:prstGeom>
            <a:noFill/>
          </p:spPr>
          <p:txBody>
            <a:bodyPr wrap="square" lIns="0" tIns="0" rIns="0" bIns="0" rtlCol="0">
              <a:spAutoFit/>
            </a:bodyPr>
            <a:lstStyle/>
            <a:p>
              <a:r>
                <a:rPr lang="en-US" sz="1000" dirty="0">
                  <a:latin typeface="Avenir Book" panose="02000503020000020003" pitchFamily="2" charset="0"/>
                </a:rPr>
                <a:t>Kalen</a:t>
              </a:r>
            </a:p>
          </p:txBody>
        </p:sp>
        <p:sp>
          <p:nvSpPr>
            <p:cNvPr id="112" name="Oval 111">
              <a:extLst>
                <a:ext uri="{FF2B5EF4-FFF2-40B4-BE49-F238E27FC236}">
                  <a16:creationId xmlns:a16="http://schemas.microsoft.com/office/drawing/2014/main" id="{721D7A99-5113-2263-6CE8-C81D4D14559F}"/>
                </a:ext>
              </a:extLst>
            </p:cNvPr>
            <p:cNvSpPr/>
            <p:nvPr/>
          </p:nvSpPr>
          <p:spPr>
            <a:xfrm>
              <a:off x="3781666" y="6107212"/>
              <a:ext cx="189623" cy="189623"/>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sz="1000" dirty="0"/>
            </a:p>
          </p:txBody>
        </p:sp>
        <p:sp>
          <p:nvSpPr>
            <p:cNvPr id="113" name="TextBox 112">
              <a:extLst>
                <a:ext uri="{FF2B5EF4-FFF2-40B4-BE49-F238E27FC236}">
                  <a16:creationId xmlns:a16="http://schemas.microsoft.com/office/drawing/2014/main" id="{F1E18D9A-3163-B63E-BDB0-13CFAE1DD8A4}"/>
                </a:ext>
              </a:extLst>
            </p:cNvPr>
            <p:cNvSpPr txBox="1"/>
            <p:nvPr/>
          </p:nvSpPr>
          <p:spPr>
            <a:xfrm>
              <a:off x="4046705" y="6132771"/>
              <a:ext cx="514535" cy="153888"/>
            </a:xfrm>
            <a:prstGeom prst="rect">
              <a:avLst/>
            </a:prstGeom>
            <a:noFill/>
          </p:spPr>
          <p:txBody>
            <a:bodyPr wrap="square" lIns="0" tIns="0" rIns="0" bIns="0" rtlCol="0">
              <a:spAutoFit/>
            </a:bodyPr>
            <a:lstStyle/>
            <a:p>
              <a:r>
                <a:rPr lang="en-US" sz="1000" dirty="0">
                  <a:latin typeface="Avenir Book" panose="02000503020000020003" pitchFamily="2" charset="0"/>
                </a:rPr>
                <a:t>Yunshan</a:t>
              </a:r>
            </a:p>
          </p:txBody>
        </p:sp>
        <p:sp>
          <p:nvSpPr>
            <p:cNvPr id="115" name="Oval 114">
              <a:extLst>
                <a:ext uri="{FF2B5EF4-FFF2-40B4-BE49-F238E27FC236}">
                  <a16:creationId xmlns:a16="http://schemas.microsoft.com/office/drawing/2014/main" id="{82B517A8-299D-4C5D-DAC4-205FE3DA3BB5}"/>
                </a:ext>
              </a:extLst>
            </p:cNvPr>
            <p:cNvSpPr/>
            <p:nvPr/>
          </p:nvSpPr>
          <p:spPr>
            <a:xfrm>
              <a:off x="4747521" y="6107212"/>
              <a:ext cx="189623" cy="189623"/>
            </a:xfrm>
            <a:prstGeom prst="ellipse">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sz="1000" dirty="0"/>
            </a:p>
          </p:txBody>
        </p:sp>
        <p:sp>
          <p:nvSpPr>
            <p:cNvPr id="116" name="TextBox 115">
              <a:extLst>
                <a:ext uri="{FF2B5EF4-FFF2-40B4-BE49-F238E27FC236}">
                  <a16:creationId xmlns:a16="http://schemas.microsoft.com/office/drawing/2014/main" id="{69856B60-7F58-49E7-6DC7-74B265AA45DD}"/>
                </a:ext>
              </a:extLst>
            </p:cNvPr>
            <p:cNvSpPr txBox="1"/>
            <p:nvPr/>
          </p:nvSpPr>
          <p:spPr>
            <a:xfrm>
              <a:off x="5012561" y="6132771"/>
              <a:ext cx="324912" cy="153888"/>
            </a:xfrm>
            <a:prstGeom prst="rect">
              <a:avLst/>
            </a:prstGeom>
            <a:noFill/>
          </p:spPr>
          <p:txBody>
            <a:bodyPr wrap="square" lIns="0" tIns="0" rIns="0" bIns="0" rtlCol="0">
              <a:spAutoFit/>
            </a:bodyPr>
            <a:lstStyle/>
            <a:p>
              <a:r>
                <a:rPr lang="en-US" sz="1000" dirty="0">
                  <a:latin typeface="Avenir Book" panose="02000503020000020003" pitchFamily="2" charset="0"/>
                </a:rPr>
                <a:t>Josh</a:t>
              </a:r>
            </a:p>
          </p:txBody>
        </p:sp>
        <p:sp>
          <p:nvSpPr>
            <p:cNvPr id="122" name="Oval 121">
              <a:extLst>
                <a:ext uri="{FF2B5EF4-FFF2-40B4-BE49-F238E27FC236}">
                  <a16:creationId xmlns:a16="http://schemas.microsoft.com/office/drawing/2014/main" id="{700D36B9-03AC-0586-1B04-BD085A889183}"/>
                </a:ext>
              </a:extLst>
            </p:cNvPr>
            <p:cNvSpPr/>
            <p:nvPr/>
          </p:nvSpPr>
          <p:spPr>
            <a:xfrm>
              <a:off x="5521193" y="6107212"/>
              <a:ext cx="189623" cy="189623"/>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sz="1000" dirty="0"/>
            </a:p>
          </p:txBody>
        </p:sp>
        <p:sp>
          <p:nvSpPr>
            <p:cNvPr id="123" name="TextBox 122">
              <a:extLst>
                <a:ext uri="{FF2B5EF4-FFF2-40B4-BE49-F238E27FC236}">
                  <a16:creationId xmlns:a16="http://schemas.microsoft.com/office/drawing/2014/main" id="{96CBCD52-907D-00CE-C5FF-F7DAE7E07E51}"/>
                </a:ext>
              </a:extLst>
            </p:cNvPr>
            <p:cNvSpPr txBox="1"/>
            <p:nvPr/>
          </p:nvSpPr>
          <p:spPr>
            <a:xfrm>
              <a:off x="5786232" y="6132771"/>
              <a:ext cx="371119" cy="153888"/>
            </a:xfrm>
            <a:prstGeom prst="rect">
              <a:avLst/>
            </a:prstGeom>
            <a:noFill/>
          </p:spPr>
          <p:txBody>
            <a:bodyPr wrap="square" lIns="0" tIns="0" rIns="0" bIns="0" rtlCol="0">
              <a:spAutoFit/>
            </a:bodyPr>
            <a:lstStyle/>
            <a:p>
              <a:r>
                <a:rPr lang="en-US" sz="1000" dirty="0">
                  <a:latin typeface="Avenir Book" panose="02000503020000020003" pitchFamily="2" charset="0"/>
                </a:rPr>
                <a:t>Welly</a:t>
              </a:r>
            </a:p>
          </p:txBody>
        </p:sp>
      </p:grpSp>
      <p:sp>
        <p:nvSpPr>
          <p:cNvPr id="127" name="Oval 126">
            <a:extLst>
              <a:ext uri="{FF2B5EF4-FFF2-40B4-BE49-F238E27FC236}">
                <a16:creationId xmlns:a16="http://schemas.microsoft.com/office/drawing/2014/main" id="{BCFA1A00-C43F-ACFF-51A7-58A8C3D6EA45}"/>
              </a:ext>
            </a:extLst>
          </p:cNvPr>
          <p:cNvSpPr/>
          <p:nvPr/>
        </p:nvSpPr>
        <p:spPr>
          <a:xfrm>
            <a:off x="10123808" y="3154828"/>
            <a:ext cx="189623" cy="189623"/>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p>
        </p:txBody>
      </p:sp>
      <p:pic>
        <p:nvPicPr>
          <p:cNvPr id="3" name="Picture 2" descr="A logo on a black background&#10;&#10;AI-generated content may be incorrect.">
            <a:extLst>
              <a:ext uri="{FF2B5EF4-FFF2-40B4-BE49-F238E27FC236}">
                <a16:creationId xmlns:a16="http://schemas.microsoft.com/office/drawing/2014/main" id="{645F8616-358F-0C92-F2B2-EF497A23EEED}"/>
              </a:ext>
            </a:extLst>
          </p:cNvPr>
          <p:cNvPicPr>
            <a:picLocks noChangeAspect="1"/>
          </p:cNvPicPr>
          <p:nvPr/>
        </p:nvPicPr>
        <p:blipFill>
          <a:blip r:embed="rId4" cstate="hqprint">
            <a:alphaModFix amt="70000"/>
            <a:lum bright="70000" contrast="-70000"/>
            <a:extLst>
              <a:ext uri="{28A0092B-C50C-407E-A947-70E740481C1C}">
                <a14:useLocalDpi xmlns:a14="http://schemas.microsoft.com/office/drawing/2010/main"/>
              </a:ext>
            </a:extLst>
          </a:blip>
          <a:srcRect/>
          <a:stretch>
            <a:fillRect/>
          </a:stretch>
        </p:blipFill>
        <p:spPr>
          <a:xfrm>
            <a:off x="10968937" y="186360"/>
            <a:ext cx="865154" cy="280423"/>
          </a:xfrm>
          <a:prstGeom prst="rect">
            <a:avLst/>
          </a:prstGeom>
        </p:spPr>
      </p:pic>
      <p:sp>
        <p:nvSpPr>
          <p:cNvPr id="6" name="Title 1">
            <a:extLst>
              <a:ext uri="{FF2B5EF4-FFF2-40B4-BE49-F238E27FC236}">
                <a16:creationId xmlns:a16="http://schemas.microsoft.com/office/drawing/2014/main" id="{4B13EF77-E470-8459-8B70-F398754E6B16}"/>
              </a:ext>
            </a:extLst>
          </p:cNvPr>
          <p:cNvSpPr txBox="1">
            <a:spLocks/>
          </p:cNvSpPr>
          <p:nvPr/>
        </p:nvSpPr>
        <p:spPr>
          <a:xfrm>
            <a:off x="639762" y="648285"/>
            <a:ext cx="10125647" cy="636264"/>
          </a:xfrm>
          <a:prstGeom prst="rect">
            <a:avLst/>
          </a:prstGeom>
        </p:spPr>
        <p:txBody>
          <a:bodyPr lIns="0" tIns="0" rIns="0" bIns="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600" b="1" dirty="0">
                <a:solidFill>
                  <a:srgbClr val="E9D0BA"/>
                </a:solidFill>
                <a:latin typeface="Montserrat" pitchFamily="2" charset="77"/>
              </a:rPr>
              <a:t>Workstreams &amp; Deliverables : Timeline Milestones</a:t>
            </a:r>
          </a:p>
        </p:txBody>
      </p:sp>
      <p:sp>
        <p:nvSpPr>
          <p:cNvPr id="7" name="TextBox 6">
            <a:extLst>
              <a:ext uri="{FF2B5EF4-FFF2-40B4-BE49-F238E27FC236}">
                <a16:creationId xmlns:a16="http://schemas.microsoft.com/office/drawing/2014/main" id="{A03FD458-B428-2673-2501-BDC9D73F73BD}"/>
              </a:ext>
            </a:extLst>
          </p:cNvPr>
          <p:cNvSpPr txBox="1"/>
          <p:nvPr/>
        </p:nvSpPr>
        <p:spPr>
          <a:xfrm>
            <a:off x="639762" y="1143222"/>
            <a:ext cx="10942637" cy="523220"/>
          </a:xfrm>
          <a:prstGeom prst="rect">
            <a:avLst/>
          </a:prstGeom>
          <a:noFill/>
        </p:spPr>
        <p:txBody>
          <a:bodyPr wrap="square" lIns="0" tIns="0" rIns="0" bIns="0" anchor="t">
            <a:noAutofit/>
          </a:bodyPr>
          <a:lstStyle/>
          <a:p>
            <a:r>
              <a:rPr lang="en-US" sz="1400" dirty="0">
                <a:solidFill>
                  <a:schemeClr val="bg1"/>
                </a:solidFill>
                <a:latin typeface="Montserrat" pitchFamily="2" charset="77"/>
              </a:rPr>
              <a:t>Each workstream has defined milestones tied to quarterly objectives, ensuring we stay on track with design, development, and launch targets. Emphasize collaboration between product, marketing, and technology teams to achieve milestones.</a:t>
            </a:r>
          </a:p>
        </p:txBody>
      </p:sp>
    </p:spTree>
    <p:extLst>
      <p:ext uri="{BB962C8B-B14F-4D97-AF65-F5344CB8AC3E}">
        <p14:creationId xmlns:p14="http://schemas.microsoft.com/office/powerpoint/2010/main" val="29016567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alpha val="84000"/>
          </a:schemeClr>
        </a:solidFill>
        <a:effectLst/>
      </p:bgPr>
    </p:bg>
    <p:spTree>
      <p:nvGrpSpPr>
        <p:cNvPr id="1" name=""/>
        <p:cNvGrpSpPr/>
        <p:nvPr/>
      </p:nvGrpSpPr>
      <p:grpSpPr>
        <a:xfrm>
          <a:off x="0" y="0"/>
          <a:ext cx="0" cy="0"/>
          <a:chOff x="0" y="0"/>
          <a:chExt cx="0" cy="0"/>
        </a:xfrm>
      </p:grpSpPr>
      <p:pic>
        <p:nvPicPr>
          <p:cNvPr id="18" name="Picture 17" descr="A blue circle with white dots&#10;&#10;AI-generated content may be incorrect.">
            <a:extLst>
              <a:ext uri="{FF2B5EF4-FFF2-40B4-BE49-F238E27FC236}">
                <a16:creationId xmlns:a16="http://schemas.microsoft.com/office/drawing/2014/main" id="{508CE897-D2FA-A0D9-23B6-F0895FD3AB7B}"/>
              </a:ext>
            </a:extLst>
          </p:cNvPr>
          <p:cNvPicPr>
            <a:picLocks noChangeAspect="1"/>
          </p:cNvPicPr>
          <p:nvPr/>
        </p:nvPicPr>
        <p:blipFill>
          <a:blip r:embed="rId3" cstate="hqprint">
            <a:extLst>
              <a:ext uri="{28A0092B-C50C-407E-A947-70E740481C1C}">
                <a14:useLocalDpi xmlns:a14="http://schemas.microsoft.com/office/drawing/2010/main"/>
              </a:ext>
            </a:extLst>
          </a:blip>
          <a:srcRect r="71520"/>
          <a:stretch>
            <a:fillRect/>
          </a:stretch>
        </p:blipFill>
        <p:spPr>
          <a:xfrm>
            <a:off x="0" y="1"/>
            <a:ext cx="3472317" cy="6858000"/>
          </a:xfrm>
          <a:prstGeom prst="rect">
            <a:avLst/>
          </a:prstGeom>
        </p:spPr>
      </p:pic>
      <p:sp>
        <p:nvSpPr>
          <p:cNvPr id="68" name="Rounded Rectangle 67">
            <a:extLst>
              <a:ext uri="{FF2B5EF4-FFF2-40B4-BE49-F238E27FC236}">
                <a16:creationId xmlns:a16="http://schemas.microsoft.com/office/drawing/2014/main" id="{F7055DA0-3AD0-A3D3-339C-62A1ACCB423B}"/>
              </a:ext>
            </a:extLst>
          </p:cNvPr>
          <p:cNvSpPr/>
          <p:nvPr/>
        </p:nvSpPr>
        <p:spPr>
          <a:xfrm>
            <a:off x="7802205" y="665897"/>
            <a:ext cx="2338701" cy="337868"/>
          </a:xfrm>
          <a:prstGeom prst="roundRect">
            <a:avLst>
              <a:gd name="adj" fmla="val 50000"/>
            </a:avLst>
          </a:prstGeom>
          <a:solidFill>
            <a:srgbClr val="F5ED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E2F4F"/>
                </a:solidFill>
                <a:effectLst/>
                <a:uLnTx/>
                <a:uFillTx/>
                <a:latin typeface="Aptos" panose="02110004020202020204"/>
                <a:ea typeface="+mn-ea"/>
                <a:cs typeface="+mn-cs"/>
              </a:rPr>
              <a:t>Owner</a:t>
            </a:r>
          </a:p>
        </p:txBody>
      </p:sp>
      <p:grpSp>
        <p:nvGrpSpPr>
          <p:cNvPr id="7" name="Group 6">
            <a:extLst>
              <a:ext uri="{FF2B5EF4-FFF2-40B4-BE49-F238E27FC236}">
                <a16:creationId xmlns:a16="http://schemas.microsoft.com/office/drawing/2014/main" id="{29288E39-56D4-2CC9-325D-48CAD39DE286}"/>
              </a:ext>
            </a:extLst>
          </p:cNvPr>
          <p:cNvGrpSpPr/>
          <p:nvPr/>
        </p:nvGrpSpPr>
        <p:grpSpPr>
          <a:xfrm>
            <a:off x="4362606" y="678218"/>
            <a:ext cx="6116177" cy="5440017"/>
            <a:chOff x="3424033" y="951356"/>
            <a:chExt cx="6152565" cy="5440017"/>
          </a:xfrm>
        </p:grpSpPr>
        <p:cxnSp>
          <p:nvCxnSpPr>
            <p:cNvPr id="72" name="Straight Connector 71">
              <a:extLst>
                <a:ext uri="{FF2B5EF4-FFF2-40B4-BE49-F238E27FC236}">
                  <a16:creationId xmlns:a16="http://schemas.microsoft.com/office/drawing/2014/main" id="{42D37006-6692-82D0-84D6-6C078DC315A5}"/>
                </a:ext>
              </a:extLst>
            </p:cNvPr>
            <p:cNvCxnSpPr>
              <a:cxnSpLocks/>
            </p:cNvCxnSpPr>
            <p:nvPr/>
          </p:nvCxnSpPr>
          <p:spPr>
            <a:xfrm>
              <a:off x="3424033" y="3671364"/>
              <a:ext cx="615256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884DB8EA-8A92-9E9A-9279-057F33721E1D}"/>
                </a:ext>
              </a:extLst>
            </p:cNvPr>
            <p:cNvCxnSpPr>
              <a:cxnSpLocks/>
            </p:cNvCxnSpPr>
            <p:nvPr/>
          </p:nvCxnSpPr>
          <p:spPr>
            <a:xfrm>
              <a:off x="6500315" y="951356"/>
              <a:ext cx="0" cy="5440017"/>
            </a:xfrm>
            <a:prstGeom prst="line">
              <a:avLst/>
            </a:prstGeom>
          </p:spPr>
          <p:style>
            <a:lnRef idx="2">
              <a:schemeClr val="accent1"/>
            </a:lnRef>
            <a:fillRef idx="0">
              <a:schemeClr val="accent1"/>
            </a:fillRef>
            <a:effectRef idx="1">
              <a:schemeClr val="accent1"/>
            </a:effectRef>
            <a:fontRef idx="minor">
              <a:schemeClr val="tx1"/>
            </a:fontRef>
          </p:style>
        </p:cxnSp>
      </p:grpSp>
      <p:pic>
        <p:nvPicPr>
          <p:cNvPr id="3" name="Picture 2" descr="A logo on a black background&#10;&#10;AI-generated content may be incorrect.">
            <a:extLst>
              <a:ext uri="{FF2B5EF4-FFF2-40B4-BE49-F238E27FC236}">
                <a16:creationId xmlns:a16="http://schemas.microsoft.com/office/drawing/2014/main" id="{5732209F-EA17-6E09-429C-EFB8963EC362}"/>
              </a:ext>
            </a:extLst>
          </p:cNvPr>
          <p:cNvPicPr>
            <a:picLocks noChangeAspect="1"/>
          </p:cNvPicPr>
          <p:nvPr/>
        </p:nvPicPr>
        <p:blipFill>
          <a:blip r:embed="rId4" cstate="hqprint">
            <a:alphaModFix amt="50000"/>
            <a:extLst>
              <a:ext uri="{28A0092B-C50C-407E-A947-70E740481C1C}">
                <a14:useLocalDpi xmlns:a14="http://schemas.microsoft.com/office/drawing/2010/main"/>
              </a:ext>
            </a:extLst>
          </a:blip>
          <a:srcRect/>
          <a:stretch>
            <a:fillRect/>
          </a:stretch>
        </p:blipFill>
        <p:spPr>
          <a:xfrm>
            <a:off x="10968937" y="186360"/>
            <a:ext cx="865154" cy="280423"/>
          </a:xfrm>
          <a:prstGeom prst="rect">
            <a:avLst/>
          </a:prstGeom>
        </p:spPr>
      </p:pic>
      <p:sp>
        <p:nvSpPr>
          <p:cNvPr id="6" name="TextBox 5">
            <a:extLst>
              <a:ext uri="{FF2B5EF4-FFF2-40B4-BE49-F238E27FC236}">
                <a16:creationId xmlns:a16="http://schemas.microsoft.com/office/drawing/2014/main" id="{0840907C-DC12-D944-BC92-663C9D136C5E}"/>
              </a:ext>
            </a:extLst>
          </p:cNvPr>
          <p:cNvSpPr txBox="1"/>
          <p:nvPr/>
        </p:nvSpPr>
        <p:spPr>
          <a:xfrm>
            <a:off x="4700482" y="1200429"/>
            <a:ext cx="2338702" cy="1091709"/>
          </a:xfrm>
          <a:prstGeom prst="rect">
            <a:avLst/>
          </a:prstGeom>
          <a:noFill/>
        </p:spPr>
        <p:txBody>
          <a:bodyPr wrap="square" lIns="0">
            <a:spAutoFit/>
          </a:bodyPr>
          <a:lstStyle/>
          <a:p>
            <a:pPr marL="285750" indent="-285750">
              <a:lnSpc>
                <a:spcPct val="110000"/>
              </a:lnSpc>
              <a:spcAft>
                <a:spcPts val="500"/>
              </a:spcAft>
              <a:buFont typeface="+mj-lt"/>
              <a:buAutoNum type="arabicPeriod"/>
            </a:pPr>
            <a:r>
              <a:rPr lang="en-US" sz="1200" dirty="0">
                <a:solidFill>
                  <a:srgbClr val="0E2F4F"/>
                </a:solidFill>
                <a:latin typeface="Avenir Book" panose="02000503020000020003" pitchFamily="2" charset="0"/>
              </a:rPr>
              <a:t>Technical Risk </a:t>
            </a:r>
          </a:p>
          <a:p>
            <a:pPr marL="285750" indent="-285750">
              <a:lnSpc>
                <a:spcPct val="110000"/>
              </a:lnSpc>
              <a:spcAft>
                <a:spcPts val="500"/>
              </a:spcAft>
              <a:buFont typeface="+mj-lt"/>
              <a:buAutoNum type="arabicPeriod"/>
            </a:pPr>
            <a:r>
              <a:rPr lang="en-US" sz="1200" dirty="0">
                <a:solidFill>
                  <a:srgbClr val="0E2F4F"/>
                </a:solidFill>
                <a:latin typeface="Avenir Book" panose="02000503020000020003" pitchFamily="2" charset="0"/>
              </a:rPr>
              <a:t>Financial Risk</a:t>
            </a:r>
          </a:p>
          <a:p>
            <a:pPr marL="285750" indent="-285750">
              <a:lnSpc>
                <a:spcPct val="110000"/>
              </a:lnSpc>
              <a:spcAft>
                <a:spcPts val="500"/>
              </a:spcAft>
              <a:buFont typeface="+mj-lt"/>
              <a:buAutoNum type="arabicPeriod"/>
            </a:pPr>
            <a:r>
              <a:rPr lang="en-US" sz="1200" dirty="0">
                <a:solidFill>
                  <a:srgbClr val="0E2F4F"/>
                </a:solidFill>
                <a:latin typeface="Avenir Book" panose="02000503020000020003" pitchFamily="2" charset="0"/>
              </a:rPr>
              <a:t>Operational Risk</a:t>
            </a:r>
          </a:p>
          <a:p>
            <a:pPr marL="285750" indent="-285750">
              <a:lnSpc>
                <a:spcPct val="110000"/>
              </a:lnSpc>
              <a:spcAft>
                <a:spcPts val="500"/>
              </a:spcAft>
              <a:buFont typeface="+mj-lt"/>
              <a:buAutoNum type="arabicPeriod"/>
            </a:pPr>
            <a:r>
              <a:rPr lang="en-US" sz="1200" dirty="0">
                <a:solidFill>
                  <a:srgbClr val="0E2F4F"/>
                </a:solidFill>
                <a:latin typeface="Avenir Book" panose="02000503020000020003" pitchFamily="2" charset="0"/>
              </a:rPr>
              <a:t>Market Risk</a:t>
            </a:r>
          </a:p>
        </p:txBody>
      </p:sp>
      <p:sp>
        <p:nvSpPr>
          <p:cNvPr id="12" name="Rounded Rectangle 11">
            <a:extLst>
              <a:ext uri="{FF2B5EF4-FFF2-40B4-BE49-F238E27FC236}">
                <a16:creationId xmlns:a16="http://schemas.microsoft.com/office/drawing/2014/main" id="{8910229E-B732-C805-BB38-64F8909EE91B}"/>
              </a:ext>
            </a:extLst>
          </p:cNvPr>
          <p:cNvSpPr/>
          <p:nvPr/>
        </p:nvSpPr>
        <p:spPr>
          <a:xfrm>
            <a:off x="4700482" y="648285"/>
            <a:ext cx="2338701" cy="337868"/>
          </a:xfrm>
          <a:prstGeom prst="roundRect">
            <a:avLst>
              <a:gd name="adj" fmla="val 50000"/>
            </a:avLst>
          </a:prstGeom>
          <a:solidFill>
            <a:srgbClr val="F5ED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E2F4F"/>
                </a:solidFill>
                <a:effectLst/>
                <a:uLnTx/>
                <a:uFillTx/>
                <a:latin typeface="Aptos" panose="02110004020202020204"/>
                <a:ea typeface="+mn-ea"/>
                <a:cs typeface="+mn-cs"/>
              </a:rPr>
              <a:t>Risk</a:t>
            </a:r>
          </a:p>
        </p:txBody>
      </p:sp>
      <p:sp>
        <p:nvSpPr>
          <p:cNvPr id="13" name="Rounded Rectangle 12">
            <a:extLst>
              <a:ext uri="{FF2B5EF4-FFF2-40B4-BE49-F238E27FC236}">
                <a16:creationId xmlns:a16="http://schemas.microsoft.com/office/drawing/2014/main" id="{4F12B864-CED9-750E-57BF-5D07A491BCB8}"/>
              </a:ext>
            </a:extLst>
          </p:cNvPr>
          <p:cNvSpPr/>
          <p:nvPr/>
        </p:nvSpPr>
        <p:spPr>
          <a:xfrm>
            <a:off x="7802205" y="3687368"/>
            <a:ext cx="2338701" cy="337868"/>
          </a:xfrm>
          <a:prstGeom prst="roundRect">
            <a:avLst>
              <a:gd name="adj" fmla="val 50000"/>
            </a:avLst>
          </a:prstGeom>
          <a:solidFill>
            <a:srgbClr val="F5ED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E2F4F"/>
                </a:solidFill>
                <a:effectLst/>
                <a:uLnTx/>
                <a:uFillTx/>
                <a:latin typeface="Aptos" panose="02110004020202020204"/>
                <a:ea typeface="+mn-ea"/>
                <a:cs typeface="+mn-cs"/>
              </a:rPr>
              <a:t>Mitigation</a:t>
            </a:r>
          </a:p>
        </p:txBody>
      </p:sp>
      <p:sp>
        <p:nvSpPr>
          <p:cNvPr id="14" name="Rounded Rectangle 13">
            <a:extLst>
              <a:ext uri="{FF2B5EF4-FFF2-40B4-BE49-F238E27FC236}">
                <a16:creationId xmlns:a16="http://schemas.microsoft.com/office/drawing/2014/main" id="{46A565A9-5D8A-45AA-00CA-BF15B72EA40A}"/>
              </a:ext>
            </a:extLst>
          </p:cNvPr>
          <p:cNvSpPr/>
          <p:nvPr/>
        </p:nvSpPr>
        <p:spPr>
          <a:xfrm>
            <a:off x="4700482" y="3669756"/>
            <a:ext cx="2338701" cy="337868"/>
          </a:xfrm>
          <a:prstGeom prst="roundRect">
            <a:avLst>
              <a:gd name="adj" fmla="val 50000"/>
            </a:avLst>
          </a:prstGeom>
          <a:solidFill>
            <a:srgbClr val="F5ED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E2F4F"/>
                </a:solidFill>
                <a:effectLst/>
                <a:uLnTx/>
                <a:uFillTx/>
                <a:latin typeface="Aptos" panose="02110004020202020204"/>
                <a:ea typeface="+mn-ea"/>
                <a:cs typeface="+mn-cs"/>
              </a:rPr>
              <a:t>Impact</a:t>
            </a:r>
          </a:p>
        </p:txBody>
      </p:sp>
      <p:sp>
        <p:nvSpPr>
          <p:cNvPr id="15" name="TextBox 14">
            <a:extLst>
              <a:ext uri="{FF2B5EF4-FFF2-40B4-BE49-F238E27FC236}">
                <a16:creationId xmlns:a16="http://schemas.microsoft.com/office/drawing/2014/main" id="{B8042D20-0273-BF01-C6E4-D1370CA934B0}"/>
              </a:ext>
            </a:extLst>
          </p:cNvPr>
          <p:cNvSpPr txBox="1"/>
          <p:nvPr/>
        </p:nvSpPr>
        <p:spPr>
          <a:xfrm>
            <a:off x="7802205" y="1218041"/>
            <a:ext cx="2676572" cy="1636987"/>
          </a:xfrm>
          <a:prstGeom prst="rect">
            <a:avLst/>
          </a:prstGeom>
          <a:noFill/>
        </p:spPr>
        <p:txBody>
          <a:bodyPr wrap="square" lIns="0">
            <a:spAutoFit/>
          </a:bodyPr>
          <a:lstStyle/>
          <a:p>
            <a:pPr marL="285750" indent="-285750">
              <a:lnSpc>
                <a:spcPct val="110000"/>
              </a:lnSpc>
              <a:spcAft>
                <a:spcPts val="500"/>
              </a:spcAft>
              <a:buFont typeface="+mj-lt"/>
              <a:buAutoNum type="arabicPeriod"/>
            </a:pPr>
            <a:r>
              <a:rPr lang="en-US" sz="1200" dirty="0">
                <a:solidFill>
                  <a:srgbClr val="0E2F4F"/>
                </a:solidFill>
                <a:latin typeface="Avenir Book" panose="02000503020000020003" pitchFamily="2" charset="0"/>
              </a:rPr>
              <a:t>Integration &amp; performance issues in product architecture</a:t>
            </a:r>
          </a:p>
          <a:p>
            <a:pPr marL="285750" indent="-285750">
              <a:lnSpc>
                <a:spcPct val="110000"/>
              </a:lnSpc>
              <a:spcAft>
                <a:spcPts val="500"/>
              </a:spcAft>
              <a:buFont typeface="+mj-lt"/>
              <a:buAutoNum type="arabicPeriod"/>
            </a:pPr>
            <a:r>
              <a:rPr lang="en-US" sz="1200" dirty="0">
                <a:solidFill>
                  <a:srgbClr val="0E2F4F"/>
                </a:solidFill>
                <a:latin typeface="Avenir Book" panose="02000503020000020003" pitchFamily="2" charset="0"/>
              </a:rPr>
              <a:t>Budget overruns due to scope expansion or vendor cost increases</a:t>
            </a:r>
          </a:p>
          <a:p>
            <a:pPr marL="285750" indent="-285750">
              <a:lnSpc>
                <a:spcPct val="110000"/>
              </a:lnSpc>
              <a:spcAft>
                <a:spcPts val="500"/>
              </a:spcAft>
              <a:buFont typeface="+mj-lt"/>
              <a:buAutoNum type="arabicPeriod"/>
            </a:pPr>
            <a:r>
              <a:rPr lang="en-US" sz="1200" dirty="0">
                <a:solidFill>
                  <a:srgbClr val="0E2F4F"/>
                </a:solidFill>
                <a:latin typeface="Avenir Book" panose="02000503020000020003" pitchFamily="2" charset="0"/>
              </a:rPr>
              <a:t>Resource limitations or team bandwidth issues</a:t>
            </a:r>
          </a:p>
        </p:txBody>
      </p:sp>
      <p:sp>
        <p:nvSpPr>
          <p:cNvPr id="16" name="TextBox 15">
            <a:extLst>
              <a:ext uri="{FF2B5EF4-FFF2-40B4-BE49-F238E27FC236}">
                <a16:creationId xmlns:a16="http://schemas.microsoft.com/office/drawing/2014/main" id="{8E4E7CAF-0BE8-A0FD-8B83-122D9AF89015}"/>
              </a:ext>
            </a:extLst>
          </p:cNvPr>
          <p:cNvSpPr txBox="1"/>
          <p:nvPr/>
        </p:nvSpPr>
        <p:spPr>
          <a:xfrm>
            <a:off x="4700482" y="4311955"/>
            <a:ext cx="2338702" cy="1497974"/>
          </a:xfrm>
          <a:prstGeom prst="rect">
            <a:avLst/>
          </a:prstGeom>
          <a:noFill/>
        </p:spPr>
        <p:txBody>
          <a:bodyPr wrap="square" lIns="0">
            <a:spAutoFit/>
          </a:bodyPr>
          <a:lstStyle/>
          <a:p>
            <a:pPr marL="285750" indent="-285750">
              <a:lnSpc>
                <a:spcPct val="110000"/>
              </a:lnSpc>
              <a:spcAft>
                <a:spcPts val="500"/>
              </a:spcAft>
              <a:buFont typeface="+mj-lt"/>
              <a:buAutoNum type="arabicPeriod"/>
            </a:pPr>
            <a:r>
              <a:rPr lang="en-US" sz="1200" dirty="0">
                <a:solidFill>
                  <a:srgbClr val="0E2F4F"/>
                </a:solidFill>
                <a:latin typeface="Avenir Book" panose="02000503020000020003" pitchFamily="2" charset="0"/>
              </a:rPr>
              <a:t>Delayed in delivery or suboptimal product quality</a:t>
            </a:r>
          </a:p>
          <a:p>
            <a:pPr marL="285750" indent="-285750">
              <a:lnSpc>
                <a:spcPct val="110000"/>
              </a:lnSpc>
              <a:spcAft>
                <a:spcPts val="500"/>
              </a:spcAft>
              <a:buFont typeface="+mj-lt"/>
              <a:buAutoNum type="arabicPeriod"/>
            </a:pPr>
            <a:r>
              <a:rPr lang="en-US" sz="1200" dirty="0">
                <a:solidFill>
                  <a:srgbClr val="0E2F4F"/>
                </a:solidFill>
                <a:latin typeface="Avenir Book" panose="02000503020000020003" pitchFamily="2" charset="0"/>
              </a:rPr>
              <a:t>Missed milestones and delivery</a:t>
            </a:r>
          </a:p>
          <a:p>
            <a:pPr marL="285750" indent="-285750">
              <a:lnSpc>
                <a:spcPct val="110000"/>
              </a:lnSpc>
              <a:spcAft>
                <a:spcPts val="500"/>
              </a:spcAft>
              <a:buFont typeface="+mj-lt"/>
              <a:buAutoNum type="arabicPeriod"/>
            </a:pPr>
            <a:r>
              <a:rPr lang="en-US" sz="1200" dirty="0">
                <a:solidFill>
                  <a:srgbClr val="0E2F4F"/>
                </a:solidFill>
                <a:latin typeface="Avenir Book" panose="02000503020000020003" pitchFamily="2" charset="0"/>
              </a:rPr>
              <a:t>Reduced sales/delayed ROI</a:t>
            </a:r>
          </a:p>
          <a:p>
            <a:pPr marL="285750" indent="-285750">
              <a:lnSpc>
                <a:spcPct val="110000"/>
              </a:lnSpc>
              <a:spcAft>
                <a:spcPts val="500"/>
              </a:spcAft>
              <a:buFont typeface="+mj-lt"/>
              <a:buAutoNum type="arabicPeriod"/>
            </a:pPr>
            <a:r>
              <a:rPr lang="en-US" sz="1200" dirty="0">
                <a:solidFill>
                  <a:srgbClr val="0E2F4F"/>
                </a:solidFill>
                <a:latin typeface="Avenir Book" panose="02000503020000020003" pitchFamily="2" charset="0"/>
              </a:rPr>
              <a:t>Brand image deterioration</a:t>
            </a:r>
          </a:p>
        </p:txBody>
      </p:sp>
      <p:sp>
        <p:nvSpPr>
          <p:cNvPr id="17" name="TextBox 16">
            <a:extLst>
              <a:ext uri="{FF2B5EF4-FFF2-40B4-BE49-F238E27FC236}">
                <a16:creationId xmlns:a16="http://schemas.microsoft.com/office/drawing/2014/main" id="{6BACF18A-24C7-81D5-21C0-387E4A690B1E}"/>
              </a:ext>
            </a:extLst>
          </p:cNvPr>
          <p:cNvSpPr txBox="1"/>
          <p:nvPr/>
        </p:nvSpPr>
        <p:spPr>
          <a:xfrm>
            <a:off x="7802205" y="4329567"/>
            <a:ext cx="2747536" cy="1433854"/>
          </a:xfrm>
          <a:prstGeom prst="rect">
            <a:avLst/>
          </a:prstGeom>
          <a:noFill/>
        </p:spPr>
        <p:txBody>
          <a:bodyPr wrap="square" lIns="0">
            <a:spAutoFit/>
          </a:bodyPr>
          <a:lstStyle/>
          <a:p>
            <a:pPr marL="285750" indent="-285750">
              <a:lnSpc>
                <a:spcPct val="110000"/>
              </a:lnSpc>
              <a:spcAft>
                <a:spcPts val="500"/>
              </a:spcAft>
              <a:buFont typeface="+mj-lt"/>
              <a:buAutoNum type="arabicPeriod"/>
            </a:pPr>
            <a:r>
              <a:rPr lang="en-US" sz="1200" dirty="0">
                <a:solidFill>
                  <a:srgbClr val="0E2F4F"/>
                </a:solidFill>
                <a:latin typeface="Avenir Book" panose="02000503020000020003" pitchFamily="2" charset="0"/>
              </a:rPr>
              <a:t>Implement phased testing, code reviews  &amp; robust QA cycles</a:t>
            </a:r>
          </a:p>
          <a:p>
            <a:pPr marL="285750" indent="-285750">
              <a:lnSpc>
                <a:spcPct val="110000"/>
              </a:lnSpc>
              <a:spcAft>
                <a:spcPts val="500"/>
              </a:spcAft>
              <a:buFont typeface="+mj-lt"/>
              <a:buAutoNum type="arabicPeriod"/>
            </a:pPr>
            <a:r>
              <a:rPr lang="en-US" sz="1200" dirty="0">
                <a:solidFill>
                  <a:srgbClr val="0E2F4F"/>
                </a:solidFill>
                <a:latin typeface="Avenir Book" panose="02000503020000020003" pitchFamily="2" charset="0"/>
              </a:rPr>
              <a:t>Maintain financial controls &amp; reserve a 10% contingency budget</a:t>
            </a:r>
          </a:p>
          <a:p>
            <a:pPr marL="285750" indent="-285750">
              <a:lnSpc>
                <a:spcPct val="110000"/>
              </a:lnSpc>
              <a:spcAft>
                <a:spcPts val="500"/>
              </a:spcAft>
              <a:buFont typeface="+mj-lt"/>
              <a:buAutoNum type="arabicPeriod"/>
            </a:pPr>
            <a:r>
              <a:rPr lang="en-US" sz="1200" dirty="0">
                <a:solidFill>
                  <a:srgbClr val="0E2F4F"/>
                </a:solidFill>
                <a:latin typeface="Avenir Book" panose="02000503020000020003" pitchFamily="2" charset="0"/>
              </a:rPr>
              <a:t>Optimize resource planning &amp; enable cross-functional support</a:t>
            </a:r>
          </a:p>
        </p:txBody>
      </p:sp>
      <p:sp>
        <p:nvSpPr>
          <p:cNvPr id="19" name="Title 1">
            <a:extLst>
              <a:ext uri="{FF2B5EF4-FFF2-40B4-BE49-F238E27FC236}">
                <a16:creationId xmlns:a16="http://schemas.microsoft.com/office/drawing/2014/main" id="{5E5351EB-AB08-6F86-C616-013B516CA8FE}"/>
              </a:ext>
            </a:extLst>
          </p:cNvPr>
          <p:cNvSpPr txBox="1">
            <a:spLocks/>
          </p:cNvSpPr>
          <p:nvPr/>
        </p:nvSpPr>
        <p:spPr>
          <a:xfrm>
            <a:off x="639763" y="648285"/>
            <a:ext cx="2054867" cy="636264"/>
          </a:xfrm>
          <a:prstGeom prst="rect">
            <a:avLst/>
          </a:prstGeom>
        </p:spPr>
        <p:txBody>
          <a:bodyPr lIns="0" tIns="0" rIns="0" bIns="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600" b="1" dirty="0">
                <a:solidFill>
                  <a:srgbClr val="E9D0BA"/>
                </a:solidFill>
                <a:latin typeface="Montserrat" pitchFamily="2" charset="77"/>
              </a:rPr>
              <a:t>Risk Analysis</a:t>
            </a:r>
          </a:p>
        </p:txBody>
      </p:sp>
      <p:sp>
        <p:nvSpPr>
          <p:cNvPr id="20" name="TextBox 19">
            <a:extLst>
              <a:ext uri="{FF2B5EF4-FFF2-40B4-BE49-F238E27FC236}">
                <a16:creationId xmlns:a16="http://schemas.microsoft.com/office/drawing/2014/main" id="{2E3154FB-4932-3E7D-DBB5-CCC1D3F0E4D4}"/>
              </a:ext>
            </a:extLst>
          </p:cNvPr>
          <p:cNvSpPr txBox="1"/>
          <p:nvPr/>
        </p:nvSpPr>
        <p:spPr>
          <a:xfrm>
            <a:off x="639763" y="1618162"/>
            <a:ext cx="2370137" cy="1582238"/>
          </a:xfrm>
          <a:prstGeom prst="rect">
            <a:avLst/>
          </a:prstGeom>
          <a:noFill/>
        </p:spPr>
        <p:txBody>
          <a:bodyPr wrap="square" lIns="0" tIns="0" rIns="0" bIns="0" anchor="t">
            <a:noAutofit/>
          </a:bodyPr>
          <a:lstStyle/>
          <a:p>
            <a:r>
              <a:rPr lang="en-US" sz="1400" dirty="0">
                <a:solidFill>
                  <a:schemeClr val="bg1"/>
                </a:solidFill>
                <a:latin typeface="Montserrat" pitchFamily="2" charset="77"/>
              </a:rPr>
              <a:t>Proactive risk management ensures project stability, maintains stakeholder confidence, and supports on-time, on-budget delivery.</a:t>
            </a:r>
          </a:p>
          <a:p>
            <a:endParaRPr lang="en-US" sz="1400" dirty="0">
              <a:solidFill>
                <a:schemeClr val="bg1"/>
              </a:solidFill>
              <a:latin typeface="Montserrat" pitchFamily="2" charset="77"/>
            </a:endParaRPr>
          </a:p>
        </p:txBody>
      </p:sp>
    </p:spTree>
    <p:extLst>
      <p:ext uri="{BB962C8B-B14F-4D97-AF65-F5344CB8AC3E}">
        <p14:creationId xmlns:p14="http://schemas.microsoft.com/office/powerpoint/2010/main" val="3330984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3E1F94-C0E9-89A4-2626-10A2557F5415}"/>
            </a:ext>
          </a:extLst>
        </p:cNvPr>
        <p:cNvGrpSpPr/>
        <p:nvPr/>
      </p:nvGrpSpPr>
      <p:grpSpPr>
        <a:xfrm>
          <a:off x="0" y="0"/>
          <a:ext cx="0" cy="0"/>
          <a:chOff x="0" y="0"/>
          <a:chExt cx="0" cy="0"/>
        </a:xfrm>
      </p:grpSpPr>
      <p:pic>
        <p:nvPicPr>
          <p:cNvPr id="23" name="Picture 22" descr="A blue circle with white dots&#10;&#10;AI-generated content may be incorrect.">
            <a:extLst>
              <a:ext uri="{FF2B5EF4-FFF2-40B4-BE49-F238E27FC236}">
                <a16:creationId xmlns:a16="http://schemas.microsoft.com/office/drawing/2014/main" id="{98FA89EF-C082-DD68-5107-BD7CE43A26F2}"/>
              </a:ext>
            </a:extLst>
          </p:cNvPr>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0" y="1"/>
            <a:ext cx="12192000" cy="6858000"/>
          </a:xfrm>
          <a:prstGeom prst="rect">
            <a:avLst/>
          </a:prstGeom>
        </p:spPr>
      </p:pic>
      <p:sp>
        <p:nvSpPr>
          <p:cNvPr id="24" name="Rounded Rectangle 23">
            <a:extLst>
              <a:ext uri="{FF2B5EF4-FFF2-40B4-BE49-F238E27FC236}">
                <a16:creationId xmlns:a16="http://schemas.microsoft.com/office/drawing/2014/main" id="{8F697DF1-6916-E0BA-1E88-2BE869732157}"/>
              </a:ext>
            </a:extLst>
          </p:cNvPr>
          <p:cNvSpPr/>
          <p:nvPr/>
        </p:nvSpPr>
        <p:spPr>
          <a:xfrm>
            <a:off x="7428143" y="3533410"/>
            <a:ext cx="4115576" cy="2746739"/>
          </a:xfrm>
          <a:prstGeom prst="roundRect">
            <a:avLst>
              <a:gd name="adj" fmla="val 3739"/>
            </a:avLst>
          </a:prstGeom>
          <a:solidFill>
            <a:schemeClr val="accent1">
              <a:alpha val="5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274320" tIns="274320" rIns="274320" bIns="9144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Avenir Medium" panose="02000503020000020003" pitchFamily="2" charset="0"/>
                <a:ea typeface="+mn-ea"/>
                <a:cs typeface="+mn-cs"/>
              </a:rPr>
              <a:t>Not Urgent &amp; Not Important: Decline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venir Medium" panose="02000503020000020003" pitchFamily="2" charset="0"/>
              <a:ea typeface="+mn-ea"/>
              <a:cs typeface="+mn-cs"/>
            </a:endParaRPr>
          </a:p>
          <a:p>
            <a:pPr marL="274320" marR="0" lvl="0" indent="-304800" algn="l" defTabSz="914400" rtl="0" eaLnBrk="1" fontAlgn="auto" latinLnBrk="0" hangingPunct="1">
              <a:lnSpc>
                <a:spcPct val="150000"/>
              </a:lnSpc>
              <a:spcBef>
                <a:spcPts val="0"/>
              </a:spcBef>
              <a:spcAft>
                <a:spcPts val="0"/>
              </a:spcAft>
              <a:buClrTx/>
              <a:buSzPts val="1200"/>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Avenir Medium" panose="02000503020000020003" pitchFamily="2" charset="0"/>
                <a:ea typeface="+mn-ea"/>
                <a:cs typeface="+mn-cs"/>
              </a:rPr>
              <a:t>Engaging in unstructured brainstorming</a:t>
            </a:r>
          </a:p>
          <a:p>
            <a:pPr marL="274320" marR="0" lvl="0" indent="-304800" algn="l" defTabSz="914400" rtl="0" eaLnBrk="1" fontAlgn="auto" latinLnBrk="0" hangingPunct="1">
              <a:lnSpc>
                <a:spcPct val="150000"/>
              </a:lnSpc>
              <a:spcBef>
                <a:spcPts val="0"/>
              </a:spcBef>
              <a:spcAft>
                <a:spcPts val="0"/>
              </a:spcAft>
              <a:buClrTx/>
              <a:buSzPts val="1200"/>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Avenir Medium" panose="02000503020000020003" pitchFamily="2" charset="0"/>
                <a:ea typeface="+mn-ea"/>
                <a:cs typeface="+mn-cs"/>
              </a:rPr>
              <a:t>Reviewing outdated documentation.</a:t>
            </a:r>
          </a:p>
          <a:p>
            <a:pPr marL="274320" marR="0" lvl="0" indent="-304800" algn="l" defTabSz="914400" rtl="0" eaLnBrk="1" fontAlgn="auto" latinLnBrk="0" hangingPunct="1">
              <a:lnSpc>
                <a:spcPct val="150000"/>
              </a:lnSpc>
              <a:spcBef>
                <a:spcPts val="0"/>
              </a:spcBef>
              <a:spcAft>
                <a:spcPts val="0"/>
              </a:spcAft>
              <a:buClrTx/>
              <a:buSzPts val="1200"/>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Avenir Medium" panose="02000503020000020003" pitchFamily="2" charset="0"/>
                <a:ea typeface="+mn-ea"/>
                <a:cs typeface="+mn-cs"/>
              </a:rPr>
              <a:t>Performing redundant manual checks</a:t>
            </a:r>
          </a:p>
          <a:p>
            <a:pPr marL="274320" marR="0" lvl="0" indent="-304800" algn="l" defTabSz="914400" rtl="0" eaLnBrk="1" fontAlgn="auto" latinLnBrk="0" hangingPunct="1">
              <a:lnSpc>
                <a:spcPct val="150000"/>
              </a:lnSpc>
              <a:spcBef>
                <a:spcPts val="0"/>
              </a:spcBef>
              <a:spcAft>
                <a:spcPts val="0"/>
              </a:spcAft>
              <a:buClrTx/>
              <a:buSzPts val="1200"/>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Avenir Medium" panose="02000503020000020003" pitchFamily="2" charset="0"/>
                <a:ea typeface="+mn-ea"/>
                <a:cs typeface="+mn-cs"/>
              </a:rPr>
              <a:t>Responding to irrelevant group emails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venir Medium" panose="02000503020000020003" pitchFamily="2" charset="0"/>
              <a:ea typeface="+mn-ea"/>
              <a:cs typeface="+mn-cs"/>
            </a:endParaRPr>
          </a:p>
        </p:txBody>
      </p:sp>
      <p:sp>
        <p:nvSpPr>
          <p:cNvPr id="25" name="Rounded Rectangle 24">
            <a:extLst>
              <a:ext uri="{FF2B5EF4-FFF2-40B4-BE49-F238E27FC236}">
                <a16:creationId xmlns:a16="http://schemas.microsoft.com/office/drawing/2014/main" id="{84AA27D8-4E02-B2CC-E4F3-6104E05D9B90}"/>
              </a:ext>
            </a:extLst>
          </p:cNvPr>
          <p:cNvSpPr/>
          <p:nvPr/>
        </p:nvSpPr>
        <p:spPr>
          <a:xfrm>
            <a:off x="3114261" y="3533410"/>
            <a:ext cx="4160197" cy="2746740"/>
          </a:xfrm>
          <a:prstGeom prst="roundRect">
            <a:avLst>
              <a:gd name="adj" fmla="val 3739"/>
            </a:avLst>
          </a:prstGeom>
          <a:solidFill>
            <a:schemeClr val="accent1">
              <a:alpha val="5378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274320" tIns="274320" rIns="274320" bIns="9144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Avenir Medium" panose="02000503020000020003" pitchFamily="2" charset="0"/>
                <a:ea typeface="+mn-ea"/>
                <a:cs typeface="+mn-cs"/>
              </a:rPr>
              <a:t>Urgent but Not Important: Delegate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solidFill>
                <a:prstClr val="white"/>
              </a:solidFill>
              <a:latin typeface="Avenir Medium" panose="02000503020000020003" pitchFamily="2" charset="0"/>
            </a:endParaRPr>
          </a:p>
          <a:p>
            <a:pPr marL="274320" marR="0" lvl="0" indent="-304800" algn="l" defTabSz="914400" rtl="0" eaLnBrk="1" fontAlgn="auto" latinLnBrk="0" hangingPunct="1">
              <a:lnSpc>
                <a:spcPct val="150000"/>
              </a:lnSpc>
              <a:spcBef>
                <a:spcPts val="0"/>
              </a:spcBef>
              <a:spcAft>
                <a:spcPts val="0"/>
              </a:spcAft>
              <a:buClrTx/>
              <a:buSzPts val="1200"/>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Avenir Medium" panose="02000503020000020003" pitchFamily="2" charset="0"/>
                <a:ea typeface="+mn-ea"/>
                <a:cs typeface="+mn-cs"/>
              </a:rPr>
              <a:t>Coordinate logistics for team meetings</a:t>
            </a:r>
          </a:p>
          <a:p>
            <a:pPr marL="274320" marR="0" lvl="0" indent="-304800" algn="l" defTabSz="914400" rtl="0" eaLnBrk="1" fontAlgn="auto" latinLnBrk="0" hangingPunct="1">
              <a:lnSpc>
                <a:spcPct val="150000"/>
              </a:lnSpc>
              <a:spcBef>
                <a:spcPts val="0"/>
              </a:spcBef>
              <a:spcAft>
                <a:spcPts val="0"/>
              </a:spcAft>
              <a:buClrTx/>
              <a:buSzPts val="1200"/>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Avenir Medium" panose="02000503020000020003" pitchFamily="2" charset="0"/>
                <a:ea typeface="+mn-ea"/>
                <a:cs typeface="+mn-cs"/>
              </a:rPr>
              <a:t>Review vendor invoices or routine approvals</a:t>
            </a:r>
          </a:p>
          <a:p>
            <a:pPr marL="274320" marR="0" lvl="0" indent="-304800" algn="l" defTabSz="914400" rtl="0" eaLnBrk="1" fontAlgn="auto" latinLnBrk="0" hangingPunct="1">
              <a:lnSpc>
                <a:spcPct val="150000"/>
              </a:lnSpc>
              <a:spcBef>
                <a:spcPts val="0"/>
              </a:spcBef>
              <a:spcAft>
                <a:spcPts val="0"/>
              </a:spcAft>
              <a:buClrTx/>
              <a:buSzPts val="1200"/>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Avenir Medium" panose="02000503020000020003" pitchFamily="2" charset="0"/>
                <a:ea typeface="+mn-ea"/>
                <a:cs typeface="+mn-cs"/>
              </a:rPr>
              <a:t>Monitor email follow-ups for task reminders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venir Medium" panose="02000503020000020003" pitchFamily="2" charset="0"/>
              <a:ea typeface="+mn-ea"/>
              <a:cs typeface="+mn-cs"/>
            </a:endParaRPr>
          </a:p>
          <a:p>
            <a:pPr algn="ctr"/>
            <a:endParaRPr lang="en-US" dirty="0">
              <a:solidFill>
                <a:schemeClr val="bg1"/>
              </a:solidFill>
              <a:latin typeface="Avenir Medium" panose="02000503020000020003" pitchFamily="2" charset="0"/>
            </a:endParaRPr>
          </a:p>
        </p:txBody>
      </p:sp>
      <p:sp>
        <p:nvSpPr>
          <p:cNvPr id="26" name="Rounded Rectangle 25">
            <a:extLst>
              <a:ext uri="{FF2B5EF4-FFF2-40B4-BE49-F238E27FC236}">
                <a16:creationId xmlns:a16="http://schemas.microsoft.com/office/drawing/2014/main" id="{09EFB4CA-59A8-B14D-C75C-7D634691106E}"/>
              </a:ext>
            </a:extLst>
          </p:cNvPr>
          <p:cNvSpPr/>
          <p:nvPr/>
        </p:nvSpPr>
        <p:spPr>
          <a:xfrm>
            <a:off x="7436661" y="655137"/>
            <a:ext cx="4115576" cy="2746739"/>
          </a:xfrm>
          <a:prstGeom prst="roundRect">
            <a:avLst>
              <a:gd name="adj" fmla="val 3739"/>
            </a:avLst>
          </a:prstGeom>
          <a:solidFill>
            <a:schemeClr val="accent1">
              <a:alpha val="5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274320" tIns="274320" rIns="274320" bIns="9144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Avenir Medium" panose="02000503020000020003" pitchFamily="2" charset="0"/>
                <a:ea typeface="+mn-ea"/>
                <a:cs typeface="+mn-cs"/>
              </a:rPr>
              <a:t>Not Urgent but Important: Schedule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solidFill>
                <a:prstClr val="white"/>
              </a:solidFill>
              <a:latin typeface="Avenir Medium" panose="02000503020000020003" pitchFamily="2" charset="0"/>
            </a:endParaRPr>
          </a:p>
          <a:p>
            <a:pPr marL="274320" marR="0" lvl="0" indent="-304800" algn="l" defTabSz="914400" rtl="0" eaLnBrk="1" fontAlgn="auto" latinLnBrk="0" hangingPunct="1">
              <a:lnSpc>
                <a:spcPct val="150000"/>
              </a:lnSpc>
              <a:spcBef>
                <a:spcPts val="0"/>
              </a:spcBef>
              <a:spcAft>
                <a:spcPts val="0"/>
              </a:spcAft>
              <a:buClrTx/>
              <a:buSzPts val="1200"/>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Avenir Medium" panose="02000503020000020003" pitchFamily="2" charset="0"/>
                <a:ea typeface="+mn-ea"/>
                <a:cs typeface="+mn-cs"/>
              </a:rPr>
              <a:t>Plan version 2.0 roadmap and feature backlog</a:t>
            </a:r>
          </a:p>
          <a:p>
            <a:pPr marL="274320" marR="0" lvl="0" indent="-304800" algn="l" defTabSz="914400" rtl="0" eaLnBrk="1" fontAlgn="auto" latinLnBrk="0" hangingPunct="1">
              <a:lnSpc>
                <a:spcPct val="150000"/>
              </a:lnSpc>
              <a:spcBef>
                <a:spcPts val="0"/>
              </a:spcBef>
              <a:spcAft>
                <a:spcPts val="0"/>
              </a:spcAft>
              <a:buClrTx/>
              <a:buSzPts val="1200"/>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Avenir Medium" panose="02000503020000020003" pitchFamily="2" charset="0"/>
                <a:ea typeface="+mn-ea"/>
                <a:cs typeface="+mn-cs"/>
              </a:rPr>
              <a:t>Organize training sessions for sales and support teams</a:t>
            </a:r>
          </a:p>
          <a:p>
            <a:pPr marL="274320" marR="0" lvl="0" indent="-304800" algn="l" defTabSz="914400" rtl="0" eaLnBrk="1" fontAlgn="auto" latinLnBrk="0" hangingPunct="1">
              <a:lnSpc>
                <a:spcPct val="150000"/>
              </a:lnSpc>
              <a:spcBef>
                <a:spcPts val="0"/>
              </a:spcBef>
              <a:spcAft>
                <a:spcPts val="0"/>
              </a:spcAft>
              <a:buClrTx/>
              <a:buSzPts val="1200"/>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Avenir Medium" panose="02000503020000020003" pitchFamily="2" charset="0"/>
                <a:ea typeface="+mn-ea"/>
                <a:cs typeface="+mn-cs"/>
              </a:rPr>
              <a:t>Develop documentation for compliance certification</a:t>
            </a:r>
          </a:p>
          <a:p>
            <a:pPr marL="274320" marR="0" lvl="0" indent="-304800" algn="l" defTabSz="914400" rtl="0" eaLnBrk="1" fontAlgn="auto" latinLnBrk="0" hangingPunct="1">
              <a:lnSpc>
                <a:spcPct val="150000"/>
              </a:lnSpc>
              <a:spcBef>
                <a:spcPts val="0"/>
              </a:spcBef>
              <a:spcAft>
                <a:spcPts val="0"/>
              </a:spcAft>
              <a:buClrTx/>
              <a:buSzPts val="1200"/>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Avenir Medium" panose="02000503020000020003" pitchFamily="2" charset="0"/>
                <a:ea typeface="+mn-ea"/>
                <a:cs typeface="+mn-cs"/>
              </a:rPr>
              <a:t>Implement process improvements in workflow</a:t>
            </a:r>
            <a:endParaRPr kumimoji="0" lang="en-US" sz="1600" b="0" i="0" u="none" strike="noStrike" kern="1200" cap="none" spc="0" normalizeH="0" baseline="0" noProof="0" dirty="0">
              <a:ln>
                <a:noFill/>
              </a:ln>
              <a:solidFill>
                <a:prstClr val="white"/>
              </a:solidFill>
              <a:effectLst/>
              <a:uLnTx/>
              <a:uFillTx/>
              <a:latin typeface="Avenir Medium" panose="02000503020000020003" pitchFamily="2" charset="0"/>
              <a:ea typeface="+mn-ea"/>
              <a:cs typeface="+mn-cs"/>
            </a:endParaRPr>
          </a:p>
          <a:p>
            <a:pPr algn="ctr"/>
            <a:endParaRPr lang="en-US" dirty="0"/>
          </a:p>
        </p:txBody>
      </p:sp>
      <p:sp>
        <p:nvSpPr>
          <p:cNvPr id="27" name="Rounded Rectangle 26">
            <a:extLst>
              <a:ext uri="{FF2B5EF4-FFF2-40B4-BE49-F238E27FC236}">
                <a16:creationId xmlns:a16="http://schemas.microsoft.com/office/drawing/2014/main" id="{00832276-1797-F4B3-B63B-E67A6869F8AA}"/>
              </a:ext>
            </a:extLst>
          </p:cNvPr>
          <p:cNvSpPr/>
          <p:nvPr/>
        </p:nvSpPr>
        <p:spPr>
          <a:xfrm>
            <a:off x="3122779" y="655137"/>
            <a:ext cx="4160197" cy="2746740"/>
          </a:xfrm>
          <a:prstGeom prst="roundRect">
            <a:avLst>
              <a:gd name="adj" fmla="val 3739"/>
            </a:avLst>
          </a:prstGeom>
          <a:solidFill>
            <a:schemeClr val="accent1">
              <a:alpha val="5378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274320" tIns="274320" rIns="274320" bIns="9144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Avenir Medium" panose="02000503020000020003" pitchFamily="2" charset="0"/>
                <a:ea typeface="+mn-ea"/>
                <a:cs typeface="+mn-cs"/>
              </a:rPr>
              <a:t>Urgent &amp; Important : Do</a:t>
            </a:r>
          </a:p>
          <a:p>
            <a:pPr algn="ctr"/>
            <a:endParaRPr lang="en-US" dirty="0"/>
          </a:p>
          <a:p>
            <a:pPr marL="274320" marR="0" lvl="0" indent="-304800" algn="l" defTabSz="914400" rtl="0" eaLnBrk="1" fontAlgn="auto" latinLnBrk="0" hangingPunct="1">
              <a:lnSpc>
                <a:spcPct val="150000"/>
              </a:lnSpc>
              <a:spcBef>
                <a:spcPts val="0"/>
              </a:spcBef>
              <a:spcAft>
                <a:spcPts val="0"/>
              </a:spcAft>
              <a:buClrTx/>
              <a:buSzPts val="1200"/>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Avenir Medium" panose="02000503020000020003" pitchFamily="2" charset="0"/>
                <a:ea typeface="+mn-ea"/>
                <a:cs typeface="+mn-cs"/>
              </a:rPr>
              <a:t>Resolve high-severity bugs blocking the launch</a:t>
            </a:r>
          </a:p>
          <a:p>
            <a:pPr marL="274320" marR="0" lvl="0" indent="-304800" algn="l" defTabSz="914400" rtl="0" eaLnBrk="1" fontAlgn="auto" latinLnBrk="0" hangingPunct="1">
              <a:lnSpc>
                <a:spcPct val="150000"/>
              </a:lnSpc>
              <a:spcBef>
                <a:spcPts val="0"/>
              </a:spcBef>
              <a:spcAft>
                <a:spcPts val="0"/>
              </a:spcAft>
              <a:buClrTx/>
              <a:buSzPts val="1200"/>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Avenir Medium" panose="02000503020000020003" pitchFamily="2" charset="0"/>
                <a:ea typeface="+mn-ea"/>
                <a:cs typeface="+mn-cs"/>
              </a:rPr>
              <a:t>Approve final build before stakeholder demo</a:t>
            </a:r>
          </a:p>
          <a:p>
            <a:pPr marL="274320" marR="0" lvl="0" indent="-304800" algn="l" defTabSz="914400" rtl="0" eaLnBrk="1" fontAlgn="auto" latinLnBrk="0" hangingPunct="1">
              <a:lnSpc>
                <a:spcPct val="150000"/>
              </a:lnSpc>
              <a:spcBef>
                <a:spcPts val="0"/>
              </a:spcBef>
              <a:spcAft>
                <a:spcPts val="0"/>
              </a:spcAft>
              <a:buClrTx/>
              <a:buSzPts val="1200"/>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Avenir Medium" panose="02000503020000020003" pitchFamily="2" charset="0"/>
                <a:ea typeface="+mn-ea"/>
                <a:cs typeface="+mn-cs"/>
              </a:rPr>
              <a:t>Address non-compliance issue identified in QA testing</a:t>
            </a:r>
          </a:p>
          <a:p>
            <a:pPr algn="ctr"/>
            <a:endParaRPr lang="en-US" dirty="0"/>
          </a:p>
        </p:txBody>
      </p:sp>
      <p:pic>
        <p:nvPicPr>
          <p:cNvPr id="7" name="Picture 6" descr="A logo on a black background&#10;&#10;AI-generated content may be incorrect.">
            <a:extLst>
              <a:ext uri="{FF2B5EF4-FFF2-40B4-BE49-F238E27FC236}">
                <a16:creationId xmlns:a16="http://schemas.microsoft.com/office/drawing/2014/main" id="{F21BFA06-A2F6-2CA3-B50B-E65A8C18E190}"/>
              </a:ext>
            </a:extLst>
          </p:cNvPr>
          <p:cNvPicPr>
            <a:picLocks noChangeAspect="1"/>
          </p:cNvPicPr>
          <p:nvPr/>
        </p:nvPicPr>
        <p:blipFill>
          <a:blip r:embed="rId3" cstate="hqprint">
            <a:alphaModFix amt="70000"/>
            <a:lum bright="70000" contrast="-70000"/>
            <a:extLst>
              <a:ext uri="{28A0092B-C50C-407E-A947-70E740481C1C}">
                <a14:useLocalDpi xmlns:a14="http://schemas.microsoft.com/office/drawing/2010/main"/>
              </a:ext>
            </a:extLst>
          </a:blip>
          <a:srcRect/>
          <a:stretch>
            <a:fillRect/>
          </a:stretch>
        </p:blipFill>
        <p:spPr>
          <a:xfrm>
            <a:off x="10968937" y="186360"/>
            <a:ext cx="865154" cy="280423"/>
          </a:xfrm>
          <a:prstGeom prst="rect">
            <a:avLst/>
          </a:prstGeom>
        </p:spPr>
      </p:pic>
      <p:sp>
        <p:nvSpPr>
          <p:cNvPr id="10" name="Title 1">
            <a:extLst>
              <a:ext uri="{FF2B5EF4-FFF2-40B4-BE49-F238E27FC236}">
                <a16:creationId xmlns:a16="http://schemas.microsoft.com/office/drawing/2014/main" id="{98D34DFE-69B8-87D4-D860-EB2AD7492A0E}"/>
              </a:ext>
            </a:extLst>
          </p:cNvPr>
          <p:cNvSpPr txBox="1">
            <a:spLocks/>
          </p:cNvSpPr>
          <p:nvPr/>
        </p:nvSpPr>
        <p:spPr>
          <a:xfrm>
            <a:off x="639763" y="648285"/>
            <a:ext cx="5935198" cy="636264"/>
          </a:xfrm>
          <a:prstGeom prst="rect">
            <a:avLst/>
          </a:prstGeom>
        </p:spPr>
        <p:txBody>
          <a:bodyPr lIns="0" tIns="0" rIns="0" bIns="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600" b="1" dirty="0">
                <a:solidFill>
                  <a:srgbClr val="E9D0BA"/>
                </a:solidFill>
                <a:latin typeface="Montserrat" pitchFamily="2" charset="77"/>
              </a:rPr>
              <a:t>Checklist</a:t>
            </a:r>
          </a:p>
        </p:txBody>
      </p:sp>
      <p:sp>
        <p:nvSpPr>
          <p:cNvPr id="14" name="TextBox 13">
            <a:extLst>
              <a:ext uri="{FF2B5EF4-FFF2-40B4-BE49-F238E27FC236}">
                <a16:creationId xmlns:a16="http://schemas.microsoft.com/office/drawing/2014/main" id="{0D5EB689-AD51-20AF-529D-4B074D29A3EF}"/>
              </a:ext>
            </a:extLst>
          </p:cNvPr>
          <p:cNvSpPr txBox="1"/>
          <p:nvPr/>
        </p:nvSpPr>
        <p:spPr>
          <a:xfrm>
            <a:off x="639762" y="1143222"/>
            <a:ext cx="2157118" cy="523220"/>
          </a:xfrm>
          <a:prstGeom prst="rect">
            <a:avLst/>
          </a:prstGeom>
          <a:noFill/>
        </p:spPr>
        <p:txBody>
          <a:bodyPr wrap="square" lIns="0" tIns="0" rIns="0" bIns="0" anchor="t">
            <a:noAutofit/>
          </a:bodyPr>
          <a:lstStyle/>
          <a:p>
            <a:r>
              <a:rPr lang="en-US" sz="1400" dirty="0">
                <a:solidFill>
                  <a:schemeClr val="bg1"/>
                </a:solidFill>
                <a:latin typeface="Montserrat" pitchFamily="2" charset="77"/>
              </a:rPr>
              <a:t>This metric ensures high-impact work receives focused attention, while operational tasks are appropriately delegated or eliminated to optimize efficiency and resource allocation.</a:t>
            </a:r>
          </a:p>
        </p:txBody>
      </p:sp>
    </p:spTree>
    <p:extLst>
      <p:ext uri="{BB962C8B-B14F-4D97-AF65-F5344CB8AC3E}">
        <p14:creationId xmlns:p14="http://schemas.microsoft.com/office/powerpoint/2010/main" val="2669406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descr="A blue circle with white dots&#10;&#10;AI-generated content may be incorrect.">
            <a:extLst>
              <a:ext uri="{FF2B5EF4-FFF2-40B4-BE49-F238E27FC236}">
                <a16:creationId xmlns:a16="http://schemas.microsoft.com/office/drawing/2014/main" id="{549DF5B0-FD43-A25C-FCF3-B101B9E42C8C}"/>
              </a:ext>
            </a:extLst>
          </p:cNvPr>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0" y="1"/>
            <a:ext cx="12192000" cy="6858000"/>
          </a:xfrm>
          <a:prstGeom prst="rect">
            <a:avLst/>
          </a:prstGeom>
        </p:spPr>
      </p:pic>
      <p:sp>
        <p:nvSpPr>
          <p:cNvPr id="11" name="Rectangle 1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TextBox 4">
            <a:extLst>
              <a:ext uri="{FF2B5EF4-FFF2-40B4-BE49-F238E27FC236}">
                <a16:creationId xmlns:a16="http://schemas.microsoft.com/office/drawing/2014/main" id="{5772203E-1266-8D24-A060-8EA984B698B5}"/>
              </a:ext>
            </a:extLst>
          </p:cNvPr>
          <p:cNvSpPr txBox="1"/>
          <p:nvPr/>
        </p:nvSpPr>
        <p:spPr>
          <a:xfrm>
            <a:off x="996348" y="3024590"/>
            <a:ext cx="7023795" cy="1042553"/>
          </a:xfrm>
          <a:prstGeom prst="rect">
            <a:avLst/>
          </a:prstGeom>
        </p:spPr>
        <p:txBody>
          <a:bodyPr vert="horz" lIns="91440" tIns="45720" rIns="91440" bIns="45720" rtlCol="0" anchor="t">
            <a:noAutofit/>
          </a:bodyPr>
          <a:lstStyle/>
          <a:p>
            <a:pPr>
              <a:lnSpc>
                <a:spcPct val="90000"/>
              </a:lnSpc>
              <a:spcBef>
                <a:spcPct val="0"/>
              </a:spcBef>
              <a:spcAft>
                <a:spcPts val="600"/>
              </a:spcAft>
            </a:pPr>
            <a:r>
              <a:rPr lang="en-US" sz="8000" b="1" dirty="0">
                <a:solidFill>
                  <a:srgbClr val="DFD7CF"/>
                </a:solidFill>
                <a:latin typeface="+mj-lt"/>
                <a:ea typeface="+mj-ea"/>
                <a:cs typeface="+mj-cs"/>
              </a:rPr>
              <a:t>THANK YOU</a:t>
            </a:r>
          </a:p>
        </p:txBody>
      </p:sp>
      <p:sp>
        <p:nvSpPr>
          <p:cNvPr id="6" name="TextBox 5">
            <a:extLst>
              <a:ext uri="{FF2B5EF4-FFF2-40B4-BE49-F238E27FC236}">
                <a16:creationId xmlns:a16="http://schemas.microsoft.com/office/drawing/2014/main" id="{96F5425A-6B2C-7D7D-99C7-FE704969642F}"/>
              </a:ext>
            </a:extLst>
          </p:cNvPr>
          <p:cNvSpPr txBox="1"/>
          <p:nvPr/>
        </p:nvSpPr>
        <p:spPr>
          <a:xfrm>
            <a:off x="996348" y="5994768"/>
            <a:ext cx="10477897" cy="307777"/>
          </a:xfrm>
          <a:prstGeom prst="rect">
            <a:avLst/>
          </a:prstGeom>
          <a:noFill/>
        </p:spPr>
        <p:txBody>
          <a:bodyPr wrap="square" rtlCol="0">
            <a:spAutoFit/>
          </a:bodyPr>
          <a:lstStyle/>
          <a:p>
            <a:r>
              <a:rPr lang="en-US" sz="1400" dirty="0">
                <a:solidFill>
                  <a:schemeClr val="bg1"/>
                </a:solidFill>
                <a:latin typeface="Avenir Book" panose="02000503020000020003" pitchFamily="2" charset="0"/>
              </a:rPr>
              <a:t>Contact Info &amp; Support  |  +123-456-7890  |   </a:t>
            </a:r>
            <a:r>
              <a:rPr lang="en-US" sz="1400" dirty="0">
                <a:solidFill>
                  <a:schemeClr val="bg1"/>
                </a:solidFill>
                <a:latin typeface="Avenir Book" panose="02000503020000020003" pitchFamily="2" charset="0"/>
                <a:hlinkClick r:id="rId3"/>
              </a:rPr>
              <a:t>www.corporate.com</a:t>
            </a:r>
            <a:r>
              <a:rPr lang="en-US" sz="1400" dirty="0">
                <a:solidFill>
                  <a:schemeClr val="bg1"/>
                </a:solidFill>
                <a:latin typeface="Avenir Book" panose="02000503020000020003" pitchFamily="2" charset="0"/>
              </a:rPr>
              <a:t>   |1208 Meridian Park Drive, Riverton, CA 94088 United States.</a:t>
            </a:r>
          </a:p>
        </p:txBody>
      </p:sp>
      <p:sp>
        <p:nvSpPr>
          <p:cNvPr id="2" name="TextBox 9">
            <a:extLst>
              <a:ext uri="{FF2B5EF4-FFF2-40B4-BE49-F238E27FC236}">
                <a16:creationId xmlns:a16="http://schemas.microsoft.com/office/drawing/2014/main" id="{8E4EE6CE-F3AA-7417-3DBA-BD9A7A75D854}"/>
              </a:ext>
            </a:extLst>
          </p:cNvPr>
          <p:cNvSpPr txBox="1"/>
          <p:nvPr/>
        </p:nvSpPr>
        <p:spPr>
          <a:xfrm>
            <a:off x="1238187" y="3729141"/>
            <a:ext cx="4599002" cy="782265"/>
          </a:xfrm>
          <a:prstGeom prst="rect">
            <a:avLst/>
          </a:prstGeom>
        </p:spPr>
        <p:txBody>
          <a:bodyPr wrap="square" lIns="0" tIns="0" rIns="0" bIns="0" rtlCol="0" anchor="t">
            <a:spAutoFit/>
          </a:bodyPr>
          <a:lstStyle/>
          <a:p>
            <a:pPr algn="l">
              <a:lnSpc>
                <a:spcPts val="7475"/>
              </a:lnSpc>
            </a:pPr>
            <a:r>
              <a:rPr lang="en-US" sz="2000" spc="50" dirty="0">
                <a:solidFill>
                  <a:srgbClr val="DFD7CF"/>
                </a:solidFill>
                <a:latin typeface="Montserrat Bold"/>
                <a:ea typeface="Montserrat Bold"/>
                <a:cs typeface="Montserrat Bold"/>
                <a:sym typeface="Montserrat Bold"/>
              </a:rPr>
              <a:t>For your attention</a:t>
            </a:r>
          </a:p>
        </p:txBody>
      </p:sp>
      <p:sp>
        <p:nvSpPr>
          <p:cNvPr id="9" name="Teardrop 8">
            <a:extLst>
              <a:ext uri="{FF2B5EF4-FFF2-40B4-BE49-F238E27FC236}">
                <a16:creationId xmlns:a16="http://schemas.microsoft.com/office/drawing/2014/main" id="{E7E8A450-03FE-6354-8233-B2B0212A0DA3}"/>
              </a:ext>
            </a:extLst>
          </p:cNvPr>
          <p:cNvSpPr/>
          <p:nvPr/>
        </p:nvSpPr>
        <p:spPr>
          <a:xfrm rot="10800000" flipH="1">
            <a:off x="357442" y="2349633"/>
            <a:ext cx="638906" cy="621826"/>
          </a:xfrm>
          <a:prstGeom prst="teardrop">
            <a:avLst/>
          </a:prstGeom>
          <a:solidFill>
            <a:srgbClr val="C6B09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0662F"/>
              </a:solidFill>
            </a:endParaRPr>
          </a:p>
        </p:txBody>
      </p:sp>
      <p:sp>
        <p:nvSpPr>
          <p:cNvPr id="10" name="Delay 9">
            <a:extLst>
              <a:ext uri="{FF2B5EF4-FFF2-40B4-BE49-F238E27FC236}">
                <a16:creationId xmlns:a16="http://schemas.microsoft.com/office/drawing/2014/main" id="{C8A7EE24-ACA0-CA86-8DC0-9482797ED44B}"/>
              </a:ext>
            </a:extLst>
          </p:cNvPr>
          <p:cNvSpPr/>
          <p:nvPr/>
        </p:nvSpPr>
        <p:spPr>
          <a:xfrm>
            <a:off x="771" y="3154735"/>
            <a:ext cx="713340" cy="782265"/>
          </a:xfrm>
          <a:prstGeom prst="flowChartDelay">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logo on a black background&#10;&#10;AI-generated content may be incorrect.">
            <a:extLst>
              <a:ext uri="{FF2B5EF4-FFF2-40B4-BE49-F238E27FC236}">
                <a16:creationId xmlns:a16="http://schemas.microsoft.com/office/drawing/2014/main" id="{EAD93B06-8BCF-E453-D73E-8FD1E647DEEF}"/>
              </a:ext>
            </a:extLst>
          </p:cNvPr>
          <p:cNvPicPr>
            <a:picLocks noChangeAspect="1"/>
          </p:cNvPicPr>
          <p:nvPr/>
        </p:nvPicPr>
        <p:blipFill>
          <a:blip r:embed="rId4" cstate="hqprint">
            <a:alphaModFix amt="70000"/>
            <a:lum bright="70000" contrast="-70000"/>
            <a:extLst>
              <a:ext uri="{28A0092B-C50C-407E-A947-70E740481C1C}">
                <a14:useLocalDpi xmlns:a14="http://schemas.microsoft.com/office/drawing/2010/main"/>
              </a:ext>
            </a:extLst>
          </a:blip>
          <a:srcRect/>
          <a:stretch>
            <a:fillRect/>
          </a:stretch>
        </p:blipFill>
        <p:spPr>
          <a:xfrm>
            <a:off x="10968937" y="186360"/>
            <a:ext cx="865154" cy="280423"/>
          </a:xfrm>
          <a:prstGeom prst="rect">
            <a:avLst/>
          </a:prstGeom>
        </p:spPr>
      </p:pic>
    </p:spTree>
    <p:extLst>
      <p:ext uri="{BB962C8B-B14F-4D97-AF65-F5344CB8AC3E}">
        <p14:creationId xmlns:p14="http://schemas.microsoft.com/office/powerpoint/2010/main" val="25875379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EF5ED"/>
        </a:solidFill>
        <a:effectLst/>
      </p:bgPr>
    </p:bg>
    <p:spTree>
      <p:nvGrpSpPr>
        <p:cNvPr id="1" name=""/>
        <p:cNvGrpSpPr/>
        <p:nvPr/>
      </p:nvGrpSpPr>
      <p:grpSpPr>
        <a:xfrm>
          <a:off x="0" y="0"/>
          <a:ext cx="0" cy="0"/>
          <a:chOff x="0" y="0"/>
          <a:chExt cx="0" cy="0"/>
        </a:xfrm>
      </p:grpSpPr>
      <p:pic>
        <p:nvPicPr>
          <p:cNvPr id="8" name="Picture 7" descr="A blue circle with white dots&#10;&#10;AI-generated content may be incorrect.">
            <a:extLst>
              <a:ext uri="{FF2B5EF4-FFF2-40B4-BE49-F238E27FC236}">
                <a16:creationId xmlns:a16="http://schemas.microsoft.com/office/drawing/2014/main" id="{0E65D50B-3148-6E65-8F4D-603C4D71C736}"/>
              </a:ext>
            </a:extLst>
          </p:cNvPr>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4332789" y="1017203"/>
            <a:ext cx="7212027" cy="4056765"/>
          </a:xfrm>
          <a:prstGeom prst="rect">
            <a:avLst/>
          </a:prstGeom>
        </p:spPr>
      </p:pic>
      <p:sp>
        <p:nvSpPr>
          <p:cNvPr id="4" name="Title 1">
            <a:extLst>
              <a:ext uri="{FF2B5EF4-FFF2-40B4-BE49-F238E27FC236}">
                <a16:creationId xmlns:a16="http://schemas.microsoft.com/office/drawing/2014/main" id="{7EE607A1-CF42-0CC1-5994-1FCFBB665F8C}"/>
              </a:ext>
            </a:extLst>
          </p:cNvPr>
          <p:cNvSpPr>
            <a:spLocks noGrp="1"/>
          </p:cNvSpPr>
          <p:nvPr>
            <p:ph type="title"/>
          </p:nvPr>
        </p:nvSpPr>
        <p:spPr>
          <a:xfrm>
            <a:off x="608152" y="1017203"/>
            <a:ext cx="2956981" cy="2019977"/>
          </a:xfrm>
        </p:spPr>
        <p:txBody>
          <a:bodyPr>
            <a:noAutofit/>
          </a:bodyPr>
          <a:lstStyle/>
          <a:p>
            <a:r>
              <a:rPr lang="en-US" sz="6600" b="1" dirty="0">
                <a:solidFill>
                  <a:schemeClr val="tx2"/>
                </a:solidFill>
                <a:latin typeface="Montserrat" pitchFamily="2" charset="77"/>
              </a:rPr>
              <a:t>Style </a:t>
            </a:r>
            <a:br>
              <a:rPr lang="en-US" sz="6600" b="1" dirty="0">
                <a:solidFill>
                  <a:schemeClr val="tx2"/>
                </a:solidFill>
                <a:latin typeface="Montserrat" pitchFamily="2" charset="77"/>
              </a:rPr>
            </a:br>
            <a:r>
              <a:rPr lang="en-US" sz="6600" b="1" dirty="0">
                <a:solidFill>
                  <a:schemeClr val="tx2"/>
                </a:solidFill>
                <a:latin typeface="Montserrat" pitchFamily="2" charset="77"/>
              </a:rPr>
              <a:t>Guide</a:t>
            </a:r>
          </a:p>
        </p:txBody>
      </p:sp>
      <p:sp>
        <p:nvSpPr>
          <p:cNvPr id="5" name="Teardrop 4">
            <a:extLst>
              <a:ext uri="{FF2B5EF4-FFF2-40B4-BE49-F238E27FC236}">
                <a16:creationId xmlns:a16="http://schemas.microsoft.com/office/drawing/2014/main" id="{06763F24-0FC6-DE5F-D5A6-F33CB29761DD}"/>
              </a:ext>
            </a:extLst>
          </p:cNvPr>
          <p:cNvSpPr/>
          <p:nvPr/>
        </p:nvSpPr>
        <p:spPr>
          <a:xfrm rot="10800000" flipH="1">
            <a:off x="608153" y="242185"/>
            <a:ext cx="390403" cy="379966"/>
          </a:xfrm>
          <a:prstGeom prst="teardrop">
            <a:avLst/>
          </a:prstGeom>
          <a:solidFill>
            <a:srgbClr val="C6B09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6B09D"/>
              </a:solidFill>
            </a:endParaRPr>
          </a:p>
        </p:txBody>
      </p:sp>
      <p:sp>
        <p:nvSpPr>
          <p:cNvPr id="6" name="Delay 5">
            <a:extLst>
              <a:ext uri="{FF2B5EF4-FFF2-40B4-BE49-F238E27FC236}">
                <a16:creationId xmlns:a16="http://schemas.microsoft.com/office/drawing/2014/main" id="{36AC8116-EA38-C29C-A31F-515A930AC6EF}"/>
              </a:ext>
            </a:extLst>
          </p:cNvPr>
          <p:cNvSpPr/>
          <p:nvPr/>
        </p:nvSpPr>
        <p:spPr>
          <a:xfrm>
            <a:off x="0" y="622151"/>
            <a:ext cx="544617" cy="586163"/>
          </a:xfrm>
          <a:prstGeom prst="flowChartDelay">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a:extLst>
              <a:ext uri="{FF2B5EF4-FFF2-40B4-BE49-F238E27FC236}">
                <a16:creationId xmlns:a16="http://schemas.microsoft.com/office/drawing/2014/main" id="{E563147D-5104-0A33-93FD-8D59735AA4EF}"/>
              </a:ext>
            </a:extLst>
          </p:cNvPr>
          <p:cNvSpPr>
            <a:spLocks noGrp="1"/>
          </p:cNvSpPr>
          <p:nvPr>
            <p:ph idx="1"/>
          </p:nvPr>
        </p:nvSpPr>
        <p:spPr>
          <a:xfrm>
            <a:off x="647184" y="3045584"/>
            <a:ext cx="3195611" cy="2028383"/>
          </a:xfrm>
        </p:spPr>
        <p:txBody>
          <a:bodyPr>
            <a:normAutofit/>
          </a:bodyPr>
          <a:lstStyle/>
          <a:p>
            <a:pPr marL="0" indent="0">
              <a:buNone/>
            </a:pPr>
            <a:r>
              <a:rPr lang="en-US" sz="1700" b="1" dirty="0">
                <a:solidFill>
                  <a:schemeClr val="accent1"/>
                </a:solidFill>
                <a:latin typeface="Montserrat" pitchFamily="2" charset="77"/>
              </a:rPr>
              <a:t>Font style</a:t>
            </a:r>
          </a:p>
          <a:p>
            <a:pPr marL="0" indent="0">
              <a:buNone/>
            </a:pPr>
            <a:r>
              <a:rPr lang="en-US" sz="1300" b="1" dirty="0">
                <a:latin typeface="Montserrat" pitchFamily="2" charset="77"/>
              </a:rPr>
              <a:t>Headline: </a:t>
            </a:r>
            <a:r>
              <a:rPr lang="en-US" sz="1300" dirty="0">
                <a:latin typeface="Montserrat" pitchFamily="2" charset="77"/>
              </a:rPr>
              <a:t>Montserrat</a:t>
            </a:r>
          </a:p>
          <a:p>
            <a:pPr marL="0" indent="0">
              <a:buNone/>
            </a:pPr>
            <a:r>
              <a:rPr lang="en-US" sz="1300" b="1" dirty="0">
                <a:latin typeface="Montserrat" pitchFamily="2" charset="77"/>
              </a:rPr>
              <a:t>Sub-headline &amp; Body: </a:t>
            </a:r>
            <a:r>
              <a:rPr lang="en-US" sz="1300" dirty="0">
                <a:latin typeface="Montserrat" pitchFamily="2" charset="77"/>
              </a:rPr>
              <a:t>Avenir</a:t>
            </a:r>
            <a:endParaRPr lang="en-US" sz="1600" b="1" dirty="0">
              <a:latin typeface="Montserrat" pitchFamily="2" charset="77"/>
            </a:endParaRPr>
          </a:p>
          <a:p>
            <a:pPr marL="0" indent="0">
              <a:buNone/>
            </a:pPr>
            <a:r>
              <a:rPr lang="en-US" sz="1900" b="1" dirty="0">
                <a:solidFill>
                  <a:schemeClr val="accent1"/>
                </a:solidFill>
                <a:latin typeface="Montserrat" pitchFamily="2" charset="77"/>
              </a:rPr>
              <a:t>Font size</a:t>
            </a:r>
          </a:p>
          <a:p>
            <a:pPr marL="0" indent="0">
              <a:buNone/>
            </a:pPr>
            <a:r>
              <a:rPr lang="en-US" sz="1300" b="1" dirty="0">
                <a:latin typeface="Montserrat" pitchFamily="2" charset="77"/>
              </a:rPr>
              <a:t>Title: </a:t>
            </a:r>
            <a:r>
              <a:rPr lang="en-US" sz="1300" dirty="0">
                <a:latin typeface="Montserrat" pitchFamily="2" charset="77"/>
              </a:rPr>
              <a:t>48 pt / 26 pt</a:t>
            </a:r>
          </a:p>
          <a:p>
            <a:pPr marL="0" indent="0">
              <a:buNone/>
            </a:pPr>
            <a:r>
              <a:rPr lang="en-US" sz="1300" b="1" dirty="0">
                <a:latin typeface="Montserrat" pitchFamily="2" charset="77"/>
              </a:rPr>
              <a:t>Subtitle &amp; Body Text: </a:t>
            </a:r>
            <a:r>
              <a:rPr lang="en-US" sz="1300" dirty="0">
                <a:latin typeface="Montserrat" pitchFamily="2" charset="77"/>
              </a:rPr>
              <a:t>16/ 14 / 12 pt</a:t>
            </a:r>
          </a:p>
        </p:txBody>
      </p:sp>
      <p:pic>
        <p:nvPicPr>
          <p:cNvPr id="9" name="Picture 8" descr="A logo on a black background&#10;&#10;AI-generated content may be incorrect.">
            <a:extLst>
              <a:ext uri="{FF2B5EF4-FFF2-40B4-BE49-F238E27FC236}">
                <a16:creationId xmlns:a16="http://schemas.microsoft.com/office/drawing/2014/main" id="{68E117F8-AB16-6950-4ED2-FC58B1613732}"/>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5442167" y="2117704"/>
            <a:ext cx="4834092" cy="1817555"/>
          </a:xfrm>
          <a:prstGeom prst="rect">
            <a:avLst/>
          </a:prstGeom>
        </p:spPr>
      </p:pic>
      <p:grpSp>
        <p:nvGrpSpPr>
          <p:cNvPr id="16" name="Group 15">
            <a:extLst>
              <a:ext uri="{FF2B5EF4-FFF2-40B4-BE49-F238E27FC236}">
                <a16:creationId xmlns:a16="http://schemas.microsoft.com/office/drawing/2014/main" id="{4BE89F3C-698E-5996-C230-74C495803B8F}"/>
              </a:ext>
            </a:extLst>
          </p:cNvPr>
          <p:cNvGrpSpPr/>
          <p:nvPr/>
        </p:nvGrpSpPr>
        <p:grpSpPr>
          <a:xfrm>
            <a:off x="4332789" y="5283687"/>
            <a:ext cx="7212027" cy="472241"/>
            <a:chOff x="4914521" y="4979433"/>
            <a:chExt cx="6630295" cy="472241"/>
          </a:xfrm>
        </p:grpSpPr>
        <p:sp>
          <p:nvSpPr>
            <p:cNvPr id="10" name="Rectangle 9">
              <a:extLst>
                <a:ext uri="{FF2B5EF4-FFF2-40B4-BE49-F238E27FC236}">
                  <a16:creationId xmlns:a16="http://schemas.microsoft.com/office/drawing/2014/main" id="{B9932A11-08CC-501C-C9DC-599C913FDC98}"/>
                </a:ext>
              </a:extLst>
            </p:cNvPr>
            <p:cNvSpPr/>
            <p:nvPr/>
          </p:nvSpPr>
          <p:spPr>
            <a:xfrm>
              <a:off x="4914521" y="4979433"/>
              <a:ext cx="1659899" cy="4722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DECD2E8-98A2-BB81-B952-704C72EE18FC}"/>
                </a:ext>
              </a:extLst>
            </p:cNvPr>
            <p:cNvSpPr/>
            <p:nvPr/>
          </p:nvSpPr>
          <p:spPr>
            <a:xfrm>
              <a:off x="6574420" y="4979433"/>
              <a:ext cx="1659899" cy="472240"/>
            </a:xfrm>
            <a:prstGeom prst="rect">
              <a:avLst/>
            </a:prstGeom>
            <a:solidFill>
              <a:srgbClr val="C6B09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8FF5B6B-4AEB-44B9-B307-8D91D54208EA}"/>
                </a:ext>
              </a:extLst>
            </p:cNvPr>
            <p:cNvSpPr/>
            <p:nvPr/>
          </p:nvSpPr>
          <p:spPr>
            <a:xfrm>
              <a:off x="8225018" y="4979434"/>
              <a:ext cx="1659899" cy="472240"/>
            </a:xfrm>
            <a:prstGeom prst="rect">
              <a:avLst/>
            </a:prstGeom>
            <a:solidFill>
              <a:srgbClr val="0E2F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C32486B-A409-B579-8B4E-2C8377B6DA59}"/>
                </a:ext>
              </a:extLst>
            </p:cNvPr>
            <p:cNvSpPr/>
            <p:nvPr/>
          </p:nvSpPr>
          <p:spPr>
            <a:xfrm>
              <a:off x="9884917" y="4979434"/>
              <a:ext cx="1659899" cy="472240"/>
            </a:xfrm>
            <a:prstGeom prst="rect">
              <a:avLst/>
            </a:prstGeom>
            <a:solidFill>
              <a:srgbClr val="DFD7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TextBox 16">
            <a:extLst>
              <a:ext uri="{FF2B5EF4-FFF2-40B4-BE49-F238E27FC236}">
                <a16:creationId xmlns:a16="http://schemas.microsoft.com/office/drawing/2014/main" id="{1307B311-C950-7DC4-051B-3DD0704F032C}"/>
              </a:ext>
            </a:extLst>
          </p:cNvPr>
          <p:cNvSpPr txBox="1"/>
          <p:nvPr/>
        </p:nvSpPr>
        <p:spPr>
          <a:xfrm>
            <a:off x="4332789" y="5827145"/>
            <a:ext cx="780983" cy="276999"/>
          </a:xfrm>
          <a:prstGeom prst="rect">
            <a:avLst/>
          </a:prstGeom>
          <a:noFill/>
        </p:spPr>
        <p:txBody>
          <a:bodyPr wrap="none" rtlCol="0">
            <a:spAutoFit/>
          </a:bodyPr>
          <a:lstStyle/>
          <a:p>
            <a:r>
              <a:rPr lang="en-US" sz="1200" dirty="0">
                <a:latin typeface="Montserrat" pitchFamily="2" charset="77"/>
              </a:rPr>
              <a:t>#186182</a:t>
            </a:r>
          </a:p>
        </p:txBody>
      </p:sp>
      <p:sp>
        <p:nvSpPr>
          <p:cNvPr id="18" name="TextBox 17">
            <a:extLst>
              <a:ext uri="{FF2B5EF4-FFF2-40B4-BE49-F238E27FC236}">
                <a16:creationId xmlns:a16="http://schemas.microsoft.com/office/drawing/2014/main" id="{C4DDF58F-6559-8833-C8D6-98FC72F2D936}"/>
              </a:ext>
            </a:extLst>
          </p:cNvPr>
          <p:cNvSpPr txBox="1"/>
          <p:nvPr/>
        </p:nvSpPr>
        <p:spPr>
          <a:xfrm>
            <a:off x="6138325" y="5827146"/>
            <a:ext cx="822661" cy="276999"/>
          </a:xfrm>
          <a:prstGeom prst="rect">
            <a:avLst/>
          </a:prstGeom>
          <a:noFill/>
        </p:spPr>
        <p:txBody>
          <a:bodyPr wrap="none" rtlCol="0">
            <a:spAutoFit/>
          </a:bodyPr>
          <a:lstStyle/>
          <a:p>
            <a:r>
              <a:rPr lang="en-US" sz="1200" dirty="0">
                <a:latin typeface="Montserrat" pitchFamily="2" charset="77"/>
              </a:rPr>
              <a:t>#c5b19d</a:t>
            </a:r>
          </a:p>
        </p:txBody>
      </p:sp>
      <p:sp>
        <p:nvSpPr>
          <p:cNvPr id="19" name="TextBox 18">
            <a:extLst>
              <a:ext uri="{FF2B5EF4-FFF2-40B4-BE49-F238E27FC236}">
                <a16:creationId xmlns:a16="http://schemas.microsoft.com/office/drawing/2014/main" id="{EC18C38C-3ACD-E0CA-7B55-F0E9905534F5}"/>
              </a:ext>
            </a:extLst>
          </p:cNvPr>
          <p:cNvSpPr txBox="1"/>
          <p:nvPr/>
        </p:nvSpPr>
        <p:spPr>
          <a:xfrm>
            <a:off x="7943861" y="5827146"/>
            <a:ext cx="832279" cy="276999"/>
          </a:xfrm>
          <a:prstGeom prst="rect">
            <a:avLst/>
          </a:prstGeom>
          <a:noFill/>
        </p:spPr>
        <p:txBody>
          <a:bodyPr wrap="none" rtlCol="0">
            <a:spAutoFit/>
          </a:bodyPr>
          <a:lstStyle/>
          <a:p>
            <a:r>
              <a:rPr lang="en-US" sz="1200" dirty="0">
                <a:latin typeface="Montserrat" pitchFamily="2" charset="77"/>
              </a:rPr>
              <a:t>#0d2031</a:t>
            </a:r>
          </a:p>
        </p:txBody>
      </p:sp>
      <p:sp>
        <p:nvSpPr>
          <p:cNvPr id="20" name="TextBox 19">
            <a:extLst>
              <a:ext uri="{FF2B5EF4-FFF2-40B4-BE49-F238E27FC236}">
                <a16:creationId xmlns:a16="http://schemas.microsoft.com/office/drawing/2014/main" id="{0707621F-0D8D-E79C-A918-853CA9D73856}"/>
              </a:ext>
            </a:extLst>
          </p:cNvPr>
          <p:cNvSpPr txBox="1"/>
          <p:nvPr/>
        </p:nvSpPr>
        <p:spPr>
          <a:xfrm>
            <a:off x="9739280" y="5830387"/>
            <a:ext cx="817853" cy="276999"/>
          </a:xfrm>
          <a:prstGeom prst="rect">
            <a:avLst/>
          </a:prstGeom>
          <a:noFill/>
        </p:spPr>
        <p:txBody>
          <a:bodyPr wrap="none" rtlCol="0">
            <a:spAutoFit/>
          </a:bodyPr>
          <a:lstStyle/>
          <a:p>
            <a:r>
              <a:rPr lang="en-US" sz="1200" dirty="0">
                <a:latin typeface="Montserrat" pitchFamily="2" charset="77"/>
              </a:rPr>
              <a:t>#d8cfc8</a:t>
            </a:r>
          </a:p>
        </p:txBody>
      </p:sp>
      <p:sp>
        <p:nvSpPr>
          <p:cNvPr id="3" name="Snip Single Corner of Rectangle 22">
            <a:extLst>
              <a:ext uri="{FF2B5EF4-FFF2-40B4-BE49-F238E27FC236}">
                <a16:creationId xmlns:a16="http://schemas.microsoft.com/office/drawing/2014/main" id="{DE7DF896-2E3F-E8F4-07ED-2F3AE0708DCF}"/>
              </a:ext>
            </a:extLst>
          </p:cNvPr>
          <p:cNvSpPr/>
          <p:nvPr/>
        </p:nvSpPr>
        <p:spPr>
          <a:xfrm>
            <a:off x="1127072" y="5283687"/>
            <a:ext cx="1211124" cy="861364"/>
          </a:xfrm>
          <a:prstGeom prst="snip1Rect">
            <a:avLst>
              <a:gd name="adj" fmla="val 21846"/>
            </a:avLst>
          </a:prstGeom>
          <a:solidFill>
            <a:schemeClr val="accent1">
              <a:alpha val="5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L-Shape 22">
            <a:extLst>
              <a:ext uri="{FF2B5EF4-FFF2-40B4-BE49-F238E27FC236}">
                <a16:creationId xmlns:a16="http://schemas.microsoft.com/office/drawing/2014/main" id="{319B62E1-2A57-57C2-599F-712BA7918C19}"/>
              </a:ext>
            </a:extLst>
          </p:cNvPr>
          <p:cNvSpPr/>
          <p:nvPr/>
        </p:nvSpPr>
        <p:spPr>
          <a:xfrm>
            <a:off x="444539" y="5786236"/>
            <a:ext cx="358815" cy="358815"/>
          </a:xfrm>
          <a:prstGeom prst="corner">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L-Shape 23">
            <a:extLst>
              <a:ext uri="{FF2B5EF4-FFF2-40B4-BE49-F238E27FC236}">
                <a16:creationId xmlns:a16="http://schemas.microsoft.com/office/drawing/2014/main" id="{1B0DEF4A-4798-C9BB-CEEC-9F8CADD89B0A}"/>
              </a:ext>
            </a:extLst>
          </p:cNvPr>
          <p:cNvSpPr/>
          <p:nvPr/>
        </p:nvSpPr>
        <p:spPr>
          <a:xfrm rot="10800000">
            <a:off x="3483980" y="1017203"/>
            <a:ext cx="358815" cy="358815"/>
          </a:xfrm>
          <a:prstGeom prst="corner">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Snip Single Corner of Rectangle 22">
            <a:extLst>
              <a:ext uri="{FF2B5EF4-FFF2-40B4-BE49-F238E27FC236}">
                <a16:creationId xmlns:a16="http://schemas.microsoft.com/office/drawing/2014/main" id="{BCFB5EB1-FE9A-BBA3-A1CE-4F7E355C3899}"/>
              </a:ext>
            </a:extLst>
          </p:cNvPr>
          <p:cNvSpPr/>
          <p:nvPr/>
        </p:nvSpPr>
        <p:spPr>
          <a:xfrm>
            <a:off x="2510546" y="5283687"/>
            <a:ext cx="1211124" cy="861364"/>
          </a:xfrm>
          <a:prstGeom prst="snip1Rect">
            <a:avLst>
              <a:gd name="adj" fmla="val 21846"/>
            </a:avLst>
          </a:prstGeom>
          <a:solidFill>
            <a:srgbClr val="DFD7CF">
              <a:alpha val="5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174355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2633</TotalTime>
  <Words>962</Words>
  <Application>Microsoft Macintosh PowerPoint</Application>
  <PresentationFormat>Widescreen</PresentationFormat>
  <Paragraphs>189</Paragraphs>
  <Slides>12</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Aptos</vt:lpstr>
      <vt:lpstr>Aptos Display</vt:lpstr>
      <vt:lpstr>Arial</vt:lpstr>
      <vt:lpstr>Avenir Book</vt:lpstr>
      <vt:lpstr>Avenir Medium</vt:lpstr>
      <vt:lpstr>Figtree Medium</vt:lpstr>
      <vt:lpstr>Montserrat</vt:lpstr>
      <vt:lpstr>Montserrat Bold</vt:lpstr>
      <vt:lpstr>Office Theme</vt:lpstr>
      <vt:lpstr>PowerPoint Presentation</vt:lpstr>
      <vt:lpstr>PowerPoint Presentation</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Style  Guide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Chia-Lun Hsieh</dc:creator>
  <cp:lastModifiedBy>Oona Gleeson</cp:lastModifiedBy>
  <cp:revision>94</cp:revision>
  <dcterms:created xsi:type="dcterms:W3CDTF">2025-10-22T21:05:14Z</dcterms:created>
  <dcterms:modified xsi:type="dcterms:W3CDTF">2026-01-29T19:58:18Z</dcterms:modified>
</cp:coreProperties>
</file>