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00503000000020004" pitchFamily="2" charset="0"/>
      <p:regular r:id="rId16"/>
      <p:bold r:id="rId17"/>
      <p:italic r:id="rId18"/>
      <p:boldItalic r:id="rId19"/>
    </p:embeddedFont>
    <p:embeddedFont>
      <p:font typeface="Inter Light" panose="02000503000000020004" pitchFamily="2" charset="0"/>
      <p:regular r:id="rId20"/>
      <p:bold r:id="rId21"/>
      <p:italic r:id="rId22"/>
      <p:boldItalic r:id="rId23"/>
    </p:embeddedFont>
    <p:embeddedFont>
      <p:font typeface="Inter Medium" panose="02000503000000020004" pitchFamily="2" charset="0"/>
      <p:regular r:id="rId24"/>
      <p:bold r:id="rId25"/>
      <p:italic r:id="rId26"/>
      <p:boldItalic r:id="rId27"/>
    </p:embeddedFont>
    <p:embeddedFont>
      <p:font typeface="Inter SemiBold" panose="02000503000000020004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16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R4Ryo/T6z6/w8nT416u8sRMoX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EFE60F-7503-4905-AA46-1D1A2AA27E4A}">
  <a:tblStyle styleId="{BAEFE60F-7503-4905-AA46-1D1A2AA27E4A}" styleName="Table_0">
    <a:wholeTbl>
      <a:tcTxStyle b="off" i="off">
        <a:font>
          <a:latin typeface="Inter SemiBold"/>
          <a:ea typeface="Inter SemiBold"/>
          <a:cs typeface="Inter SemiBol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E8E6"/>
          </a:solidFill>
        </a:fill>
      </a:tcStyle>
    </a:wholeTbl>
    <a:band1H>
      <a:tcTxStyle/>
      <a:tcStyle>
        <a:tcBdr/>
        <a:fill>
          <a:solidFill>
            <a:srgbClr val="FFCD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CD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Inter SemiBold"/>
          <a:ea typeface="Inter SemiBold"/>
          <a:cs typeface="Inter SemiBold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Inter SemiBold"/>
          <a:ea typeface="Inter SemiBold"/>
          <a:cs typeface="Inter SemiBold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Inter SemiBold"/>
          <a:ea typeface="Inter SemiBold"/>
          <a:cs typeface="Inter SemiBol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Inter SemiBold"/>
          <a:ea typeface="Inter SemiBold"/>
          <a:cs typeface="Inter SemiBol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11"/>
    <p:restoredTop sz="94692"/>
  </p:normalViewPr>
  <p:slideViewPr>
    <p:cSldViewPr snapToGrid="0" showGuides="1">
      <p:cViewPr>
        <p:scale>
          <a:sx n="108" d="100"/>
          <a:sy n="108" d="100"/>
        </p:scale>
        <p:origin x="3752" y="2264"/>
      </p:cViewPr>
      <p:guideLst>
        <p:guide orient="horz" pos="2160"/>
        <p:guide pos="5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 w="25400"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  <c:pt idx="9">
                  <c:v>2027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2-B3EB-0F4E-A1CA-438345EE30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0299567"/>
        <c:axId val="906970799"/>
      </c:areaChar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(B USD)</c:v>
                </c:pt>
              </c:strCache>
            </c:strRef>
          </c:tx>
          <c:spPr>
            <a:gradFill>
              <a:gsLst>
                <a:gs pos="0">
                  <a:srgbClr val="FF9140">
                    <a:lumMod val="49036"/>
                    <a:lumOff val="50964"/>
                  </a:srgbClr>
                </a:gs>
                <a:gs pos="74000">
                  <a:srgbClr val="FF4204"/>
                </a:gs>
                <a:gs pos="83000">
                  <a:srgbClr val="FF4C02"/>
                </a:gs>
                <a:gs pos="100000">
                  <a:srgbClr val="FF9140">
                    <a:lumMod val="92203"/>
                  </a:srgb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c:spPr>
          <c:cat>
            <c:numRef>
              <c:f>Sheet1!$A$2:$A$11</c:f>
              <c:numCache>
                <c:formatCode>General</c:formatCode>
                <c:ptCount val="10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  <c:pt idx="9">
                  <c:v>2027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190</c:v>
                </c:pt>
                <c:pt idx="1">
                  <c:v>208</c:v>
                </c:pt>
                <c:pt idx="2">
                  <c:v>225</c:v>
                </c:pt>
                <c:pt idx="3">
                  <c:v>250</c:v>
                </c:pt>
                <c:pt idx="4">
                  <c:v>310</c:v>
                </c:pt>
                <c:pt idx="5">
                  <c:v>295</c:v>
                </c:pt>
                <c:pt idx="6">
                  <c:v>355</c:v>
                </c:pt>
                <c:pt idx="7">
                  <c:v>405</c:v>
                </c:pt>
                <c:pt idx="8">
                  <c:v>465</c:v>
                </c:pt>
                <c:pt idx="9">
                  <c:v>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EB-0F4E-A1CA-438345EE30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0487759"/>
        <c:axId val="1160090911"/>
      </c:areaChart>
      <c:catAx>
        <c:axId val="780299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6970799"/>
        <c:crosses val="autoZero"/>
        <c:auto val="1"/>
        <c:lblAlgn val="ctr"/>
        <c:lblOffset val="100"/>
        <c:tickLblSkip val="1"/>
        <c:noMultiLvlLbl val="0"/>
      </c:catAx>
      <c:valAx>
        <c:axId val="90697079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80299567"/>
        <c:crosses val="autoZero"/>
        <c:crossBetween val="midCat"/>
      </c:valAx>
      <c:valAx>
        <c:axId val="1160090911"/>
        <c:scaling>
          <c:orientation val="minMax"/>
          <c:min val="0"/>
        </c:scaling>
        <c:delete val="0"/>
        <c:axPos val="r"/>
        <c:numFmt formatCode="&quot;$&quot;#,##0&quot;B&quot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+mn-cs"/>
              </a:defRPr>
            </a:pPr>
            <a:endParaRPr lang="en-US"/>
          </a:p>
        </c:txPr>
        <c:crossAx val="1160487759"/>
        <c:crosses val="max"/>
        <c:crossBetween val="midCat"/>
        <c:majorUnit val="150"/>
      </c:valAx>
      <c:catAx>
        <c:axId val="11604877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600909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AF1FF4C-311F-C2A5-D161-AD25A8C5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>
            <a:extLst>
              <a:ext uri="{FF2B5EF4-FFF2-40B4-BE49-F238E27FC236}">
                <a16:creationId xmlns:a16="http://schemas.microsoft.com/office/drawing/2014/main" id="{A62EB788-35C7-3DF5-12BB-897193CEE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>
            <a:extLst>
              <a:ext uri="{FF2B5EF4-FFF2-40B4-BE49-F238E27FC236}">
                <a16:creationId xmlns:a16="http://schemas.microsoft.com/office/drawing/2014/main" id="{520905A8-2399-6C54-5D7F-86931D379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9955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pertitle">
  <p:cSld name="Title &amp; Super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637674" y="330359"/>
            <a:ext cx="7483643" cy="31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SemiBold"/>
              <a:buNone/>
              <a:defRPr cap="non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marL="914400" lvl="1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title"/>
          </p:nvPr>
        </p:nvSpPr>
        <p:spPr>
          <a:xfrm>
            <a:off x="637674" y="657092"/>
            <a:ext cx="7483643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body" idx="2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</a:defRPr>
            </a:lvl1pPr>
            <a:lvl2pPr marL="914400" lvl="1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&amp; Supertitle">
  <p:cSld name="1_Title &amp; Super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637674" y="657092"/>
            <a:ext cx="7483643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>
                <a:solidFill>
                  <a:srgbClr val="000000"/>
                </a:solidFill>
              </a:defRPr>
            </a:lvl1pPr>
            <a:lvl2pPr marL="914400" lvl="1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  <a:defRPr sz="36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  <a:defRPr sz="36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  <a:defRPr sz="36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  <a:defRPr sz="36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  <a:defRPr sz="36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  <a:defRPr sz="36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  <a:defRPr sz="36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  <a:defRPr sz="36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  <a:defRPr sz="36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  <a:defRPr sz="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339725" algn="l" rtl="0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  <a:def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39725" algn="l" rtl="0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  <a:def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39725" algn="l" rtl="0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  <a:def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39725" algn="l" rtl="0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  <a:def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39725" algn="l" rtl="0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  <a:def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39725" algn="l" rtl="0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  <a:def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39725" algn="l" rtl="0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  <a:def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39725" algn="l" rtl="0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  <a:def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39725" algn="l" rtl="0">
              <a:lnSpc>
                <a:spcPct val="12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  <a:def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 txBox="1">
            <a:spLocks noGrp="1"/>
          </p:cNvSpPr>
          <p:nvPr>
            <p:ph type="body" idx="1"/>
          </p:nvPr>
        </p:nvSpPr>
        <p:spPr>
          <a:xfrm>
            <a:off x="533085" y="433977"/>
            <a:ext cx="2504584" cy="31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5C0"/>
              </a:buClr>
              <a:buSzPts val="1400"/>
              <a:buFont typeface="Inter SemiBold"/>
              <a:buNone/>
            </a:pPr>
            <a:r>
              <a:rPr lang="en-US" b="1">
                <a:solidFill>
                  <a:srgbClr val="AAB5C0"/>
                </a:solidFill>
              </a:rPr>
              <a:t>STYLE GUIDE</a:t>
            </a:r>
            <a:endParaRPr b="1">
              <a:solidFill>
                <a:srgbClr val="AAB5C0"/>
              </a:solidFill>
            </a:endParaRPr>
          </a:p>
        </p:txBody>
      </p:sp>
      <p:sp>
        <p:nvSpPr>
          <p:cNvPr id="23" name="Google Shape;23;p1"/>
          <p:cNvSpPr txBox="1">
            <a:spLocks noGrp="1"/>
          </p:cNvSpPr>
          <p:nvPr>
            <p:ph type="title"/>
          </p:nvPr>
        </p:nvSpPr>
        <p:spPr>
          <a:xfrm>
            <a:off x="507683" y="837675"/>
            <a:ext cx="2529985" cy="789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</a:pPr>
            <a:r>
              <a:rPr lang="en-US"/>
              <a:t>Theme 01</a:t>
            </a:r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body" idx="2"/>
          </p:nvPr>
        </p:nvSpPr>
        <p:spPr>
          <a:xfrm>
            <a:off x="230247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689142" y="2127941"/>
            <a:ext cx="797385" cy="3892384"/>
          </a:xfrm>
          <a:prstGeom prst="rect">
            <a:avLst/>
          </a:prstGeom>
          <a:solidFill>
            <a:srgbClr val="F1F2F4"/>
          </a:solidFill>
          <a:ln w="12700" cap="flat" cmpd="sng">
            <a:solidFill>
              <a:srgbClr val="2D140D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627359" y="2127941"/>
            <a:ext cx="1148303" cy="240157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918397" y="2127941"/>
            <a:ext cx="755954" cy="2401576"/>
          </a:xfrm>
          <a:prstGeom prst="rect">
            <a:avLst/>
          </a:prstGeom>
          <a:solidFill>
            <a:srgbClr val="FF4204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09694" y="2127941"/>
            <a:ext cx="755954" cy="2401576"/>
          </a:xfrm>
          <a:prstGeom prst="rect">
            <a:avLst/>
          </a:prstGeom>
          <a:solidFill>
            <a:srgbClr val="FF914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30" name="Google Shape;30;p1"/>
          <p:cNvGrpSpPr/>
          <p:nvPr/>
        </p:nvGrpSpPr>
        <p:grpSpPr>
          <a:xfrm>
            <a:off x="663150" y="2127941"/>
            <a:ext cx="905009" cy="3892384"/>
            <a:chOff x="663150" y="2127941"/>
            <a:chExt cx="465494" cy="3892384"/>
          </a:xfrm>
        </p:grpSpPr>
        <p:sp>
          <p:nvSpPr>
            <p:cNvPr id="31" name="Google Shape;31;p1"/>
            <p:cNvSpPr/>
            <p:nvPr/>
          </p:nvSpPr>
          <p:spPr>
            <a:xfrm>
              <a:off x="926448" y="2127941"/>
              <a:ext cx="202196" cy="389238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2D140D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Inter Light"/>
                <a:buNone/>
              </a:pPr>
              <a:endParaRPr sz="600" b="0" i="0" u="none" strike="noStrike" cap="none">
                <a:solidFill>
                  <a:srgbClr val="53585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663150" y="2127941"/>
              <a:ext cx="202196" cy="3892384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rgbClr val="2D140D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Inter Light"/>
                <a:buNone/>
              </a:pPr>
              <a:endParaRPr sz="600" b="0" i="0" u="none" strike="noStrike" cap="none">
                <a:solidFill>
                  <a:srgbClr val="53585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33" name="Google Shape;33;p1"/>
          <p:cNvSpPr txBox="1"/>
          <p:nvPr/>
        </p:nvSpPr>
        <p:spPr>
          <a:xfrm>
            <a:off x="6363780" y="1023465"/>
            <a:ext cx="5320537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Title Lorem Ipsum Dolor</a:t>
            </a:r>
            <a:endParaRPr dirty="0"/>
          </a:p>
        </p:txBody>
      </p:sp>
      <p:sp>
        <p:nvSpPr>
          <p:cNvPr id="34" name="Google Shape;34;p1"/>
          <p:cNvSpPr txBox="1"/>
          <p:nvPr/>
        </p:nvSpPr>
        <p:spPr>
          <a:xfrm>
            <a:off x="6363780" y="617108"/>
            <a:ext cx="1465145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C02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rgbClr val="FF4C02"/>
                </a:solidFill>
                <a:latin typeface="Inter"/>
                <a:ea typeface="Inter"/>
                <a:cs typeface="Inter"/>
                <a:sym typeface="Inter"/>
              </a:rPr>
              <a:t>SUPERTITLE </a:t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6363780" y="1741225"/>
            <a:ext cx="2607573" cy="45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Medium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Headline Copy</a:t>
            </a:r>
            <a:endParaRPr dirty="0"/>
          </a:p>
        </p:txBody>
      </p:sp>
      <p:sp>
        <p:nvSpPr>
          <p:cNvPr id="36" name="Google Shape;36;p1"/>
          <p:cNvSpPr txBox="1"/>
          <p:nvPr/>
        </p:nvSpPr>
        <p:spPr>
          <a:xfrm>
            <a:off x="6363780" y="2392204"/>
            <a:ext cx="3779861" cy="213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Lorem ipsum dolor sit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amet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consectetur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adipiscing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elit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, sed do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eiusmod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tempor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incididunt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ut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labore et dolore magna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aliqua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. Ut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enim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ad minim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veniam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quis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nostrud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exercitation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ullamco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laboris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nisi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ut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aliquip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r>
              <a:rPr lang="en-US" dirty="0">
                <a:ea typeface="Inter Light"/>
              </a:rPr>
              <a:t>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 dolor sit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amet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consectetur</a:t>
            </a:r>
            <a:endParaRPr sz="1400" b="0" i="0" u="none" strike="noStrike" cap="none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906230" y="4716977"/>
            <a:ext cx="1998573" cy="52326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FF4C0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4C02"/>
              </a:buClr>
              <a:buSzPts val="1200"/>
              <a:buFont typeface="Inter"/>
              <a:buNone/>
            </a:pPr>
            <a:r>
              <a:rPr lang="en-US" sz="1200" b="1" i="0" u="none" strike="noStrike" cap="none">
                <a:solidFill>
                  <a:srgbClr val="FF4C02"/>
                </a:solidFill>
                <a:latin typeface="Inter"/>
                <a:ea typeface="Inter"/>
                <a:cs typeface="Inter"/>
                <a:sym typeface="Inter"/>
              </a:rPr>
              <a:t>LOREM IPSUM</a:t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3844577" y="1764811"/>
            <a:ext cx="864612" cy="29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#FF4204</a:t>
            </a:r>
            <a:endParaRPr/>
          </a:p>
        </p:txBody>
      </p:sp>
      <p:sp>
        <p:nvSpPr>
          <p:cNvPr id="39" name="Google Shape;39;p1"/>
          <p:cNvSpPr txBox="1"/>
          <p:nvPr/>
        </p:nvSpPr>
        <p:spPr>
          <a:xfrm>
            <a:off x="4741681" y="1764811"/>
            <a:ext cx="864612" cy="29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#FF9140</a:t>
            </a: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2571531" y="1764811"/>
            <a:ext cx="864612" cy="29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#252525</a:t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1621915" y="1764811"/>
            <a:ext cx="864612" cy="29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 Light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#F1F2F4</a:t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6395413" y="4908519"/>
            <a:ext cx="2105526" cy="1400440"/>
          </a:xfrm>
          <a:prstGeom prst="roundRect">
            <a:avLst>
              <a:gd name="adj" fmla="val 11644"/>
            </a:avLst>
          </a:prstGeom>
          <a:solidFill>
            <a:srgbClr val="FFFFFF"/>
          </a:solidFill>
          <a:ln w="19050" cap="flat" cmpd="sng">
            <a:solidFill>
              <a:srgbClr val="DCDEE0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127000" dist="42780" dir="5400000" rotWithShape="0">
              <a:srgbClr val="53585F">
                <a:alpha val="24313"/>
              </a:srgbClr>
            </a:outerShdw>
          </a:effectLst>
        </p:spPr>
        <p:txBody>
          <a:bodyPr spcFirstLastPara="1" wrap="square" lIns="635000" tIns="635000" rIns="635000" bIns="6350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Light"/>
              <a:buNone/>
            </a:pPr>
            <a:endParaRPr sz="2500" b="0" i="0" u="none" strike="noStrike" cap="none">
              <a:solidFill>
                <a:srgbClr val="0F2D4D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6693066" y="5175139"/>
            <a:ext cx="1398955" cy="809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$123M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A0A0A1"/>
              </a:buClr>
              <a:buSzPts val="1100"/>
              <a:buFont typeface="Inter Medium"/>
              <a:buNone/>
            </a:pPr>
            <a:r>
              <a:rPr lang="en-US" sz="1100" b="0" i="0" u="none" strike="noStrike" cap="none">
                <a:solidFill>
                  <a:srgbClr val="A0A0A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sz="1100" b="0" i="0" u="none" strike="noStrike" cap="none">
              <a:solidFill>
                <a:srgbClr val="A0A0A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2627359" y="5511144"/>
            <a:ext cx="1148303" cy="493646"/>
          </a:xfrm>
          <a:prstGeom prst="rect">
            <a:avLst/>
          </a:prstGeom>
          <a:solidFill>
            <a:srgbClr val="252525">
              <a:alpha val="20000"/>
            </a:srgbClr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3918397" y="5511144"/>
            <a:ext cx="755954" cy="493646"/>
          </a:xfrm>
          <a:prstGeom prst="rect">
            <a:avLst/>
          </a:prstGeom>
          <a:solidFill>
            <a:srgbClr val="FF4204">
              <a:alpha val="40000"/>
            </a:srgbClr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4809694" y="5511144"/>
            <a:ext cx="755954" cy="493646"/>
          </a:xfrm>
          <a:prstGeom prst="rect">
            <a:avLst/>
          </a:prstGeom>
          <a:solidFill>
            <a:srgbClr val="FF9140">
              <a:alpha val="40000"/>
            </a:srgbClr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2627359" y="5018132"/>
            <a:ext cx="1148303" cy="493646"/>
          </a:xfrm>
          <a:prstGeom prst="rect">
            <a:avLst/>
          </a:prstGeom>
          <a:solidFill>
            <a:srgbClr val="252525">
              <a:alpha val="40000"/>
            </a:srgbClr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3918397" y="5018132"/>
            <a:ext cx="755954" cy="493646"/>
          </a:xfrm>
          <a:prstGeom prst="rect">
            <a:avLst/>
          </a:prstGeom>
          <a:solidFill>
            <a:srgbClr val="FF4204">
              <a:alpha val="60000"/>
            </a:srgbClr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4809694" y="5018132"/>
            <a:ext cx="755954" cy="493646"/>
          </a:xfrm>
          <a:prstGeom prst="rect">
            <a:avLst/>
          </a:prstGeom>
          <a:solidFill>
            <a:srgbClr val="FF9140">
              <a:alpha val="60000"/>
            </a:srgbClr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2627359" y="4524070"/>
            <a:ext cx="1148303" cy="493646"/>
          </a:xfrm>
          <a:prstGeom prst="rect">
            <a:avLst/>
          </a:prstGeom>
          <a:solidFill>
            <a:srgbClr val="252525">
              <a:alpha val="84705"/>
            </a:srgbClr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3918397" y="4524070"/>
            <a:ext cx="755954" cy="493646"/>
          </a:xfrm>
          <a:prstGeom prst="rect">
            <a:avLst/>
          </a:prstGeom>
          <a:solidFill>
            <a:srgbClr val="FF4204">
              <a:alpha val="80000"/>
            </a:srgbClr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4809694" y="4524070"/>
            <a:ext cx="755954" cy="493646"/>
          </a:xfrm>
          <a:prstGeom prst="rect">
            <a:avLst/>
          </a:prstGeom>
          <a:solidFill>
            <a:srgbClr val="FF9140">
              <a:alpha val="80000"/>
            </a:srgbClr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53" name="Google Shape;53;p1"/>
          <p:cNvCxnSpPr/>
          <p:nvPr/>
        </p:nvCxnSpPr>
        <p:spPr>
          <a:xfrm>
            <a:off x="8906230" y="5448861"/>
            <a:ext cx="199857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1" name="Graphic 2">
            <a:extLst>
              <a:ext uri="{FF2B5EF4-FFF2-40B4-BE49-F238E27FC236}">
                <a16:creationId xmlns:a16="http://schemas.microsoft.com/office/drawing/2014/main" id="{B0C98ADF-C905-0EC3-EE70-E370747D6D5B}"/>
              </a:ext>
            </a:extLst>
          </p:cNvPr>
          <p:cNvSpPr/>
          <p:nvPr/>
        </p:nvSpPr>
        <p:spPr>
          <a:xfrm>
            <a:off x="9429813" y="5863672"/>
            <a:ext cx="252525" cy="252525"/>
          </a:xfrm>
          <a:custGeom>
            <a:avLst/>
            <a:gdLst>
              <a:gd name="csX0" fmla="*/ 126263 w 252525"/>
              <a:gd name="csY0" fmla="*/ 0 h 252525"/>
              <a:gd name="csX1" fmla="*/ 0 w 252525"/>
              <a:gd name="csY1" fmla="*/ 126263 h 252525"/>
              <a:gd name="csX2" fmla="*/ 126263 w 252525"/>
              <a:gd name="csY2" fmla="*/ 252526 h 252525"/>
              <a:gd name="csX3" fmla="*/ 252526 w 252525"/>
              <a:gd name="csY3" fmla="*/ 126263 h 252525"/>
              <a:gd name="csX4" fmla="*/ 126263 w 252525"/>
              <a:gd name="csY4" fmla="*/ 0 h 252525"/>
              <a:gd name="csX5" fmla="*/ 126263 w 252525"/>
              <a:gd name="csY5" fmla="*/ 233101 h 252525"/>
              <a:gd name="csX6" fmla="*/ 19425 w 252525"/>
              <a:gd name="csY6" fmla="*/ 126263 h 252525"/>
              <a:gd name="csX7" fmla="*/ 126263 w 252525"/>
              <a:gd name="csY7" fmla="*/ 19425 h 252525"/>
              <a:gd name="csX8" fmla="*/ 233101 w 252525"/>
              <a:gd name="csY8" fmla="*/ 126263 h 252525"/>
              <a:gd name="csX9" fmla="*/ 126263 w 252525"/>
              <a:gd name="csY9" fmla="*/ 233101 h 252525"/>
              <a:gd name="csX10" fmla="*/ 116550 w 252525"/>
              <a:gd name="csY10" fmla="*/ 135975 h 252525"/>
              <a:gd name="csX11" fmla="*/ 116550 w 252525"/>
              <a:gd name="csY11" fmla="*/ 67988 h 252525"/>
              <a:gd name="csX12" fmla="*/ 126263 w 252525"/>
              <a:gd name="csY12" fmla="*/ 58275 h 252525"/>
              <a:gd name="csX13" fmla="*/ 135975 w 252525"/>
              <a:gd name="csY13" fmla="*/ 67988 h 252525"/>
              <a:gd name="csX14" fmla="*/ 135975 w 252525"/>
              <a:gd name="csY14" fmla="*/ 135975 h 252525"/>
              <a:gd name="csX15" fmla="*/ 126263 w 252525"/>
              <a:gd name="csY15" fmla="*/ 145688 h 252525"/>
              <a:gd name="csX16" fmla="*/ 116550 w 252525"/>
              <a:gd name="csY16" fmla="*/ 135975 h 252525"/>
              <a:gd name="csX17" fmla="*/ 140832 w 252525"/>
              <a:gd name="csY17" fmla="*/ 179682 h 252525"/>
              <a:gd name="csX18" fmla="*/ 126263 w 252525"/>
              <a:gd name="csY18" fmla="*/ 194251 h 252525"/>
              <a:gd name="csX19" fmla="*/ 111694 w 252525"/>
              <a:gd name="csY19" fmla="*/ 179682 h 252525"/>
              <a:gd name="csX20" fmla="*/ 126263 w 252525"/>
              <a:gd name="csY20" fmla="*/ 165113 h 252525"/>
              <a:gd name="csX21" fmla="*/ 140832 w 252525"/>
              <a:gd name="csY21" fmla="*/ 179682 h 2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2525" h="252525">
                <a:moveTo>
                  <a:pt x="126263" y="0"/>
                </a:moveTo>
                <a:cubicBezTo>
                  <a:pt x="56530" y="0"/>
                  <a:pt x="0" y="56530"/>
                  <a:pt x="0" y="126263"/>
                </a:cubicBezTo>
                <a:cubicBezTo>
                  <a:pt x="0" y="195996"/>
                  <a:pt x="56530" y="252526"/>
                  <a:pt x="126263" y="252526"/>
                </a:cubicBezTo>
                <a:cubicBezTo>
                  <a:pt x="195996" y="252526"/>
                  <a:pt x="252526" y="195996"/>
                  <a:pt x="252526" y="126263"/>
                </a:cubicBezTo>
                <a:cubicBezTo>
                  <a:pt x="252452" y="56560"/>
                  <a:pt x="195965" y="74"/>
                  <a:pt x="126263" y="0"/>
                </a:cubicBezTo>
                <a:close/>
                <a:moveTo>
                  <a:pt x="126263" y="233101"/>
                </a:moveTo>
                <a:cubicBezTo>
                  <a:pt x="67258" y="233101"/>
                  <a:pt x="19425" y="185268"/>
                  <a:pt x="19425" y="126263"/>
                </a:cubicBezTo>
                <a:cubicBezTo>
                  <a:pt x="19425" y="67258"/>
                  <a:pt x="67258" y="19425"/>
                  <a:pt x="126263" y="19425"/>
                </a:cubicBezTo>
                <a:cubicBezTo>
                  <a:pt x="185268" y="19425"/>
                  <a:pt x="233101" y="67258"/>
                  <a:pt x="233101" y="126263"/>
                </a:cubicBezTo>
                <a:cubicBezTo>
                  <a:pt x="233034" y="185240"/>
                  <a:pt x="185240" y="233034"/>
                  <a:pt x="126263" y="233101"/>
                </a:cubicBezTo>
                <a:close/>
                <a:moveTo>
                  <a:pt x="116550" y="135975"/>
                </a:moveTo>
                <a:lnTo>
                  <a:pt x="116550" y="67988"/>
                </a:lnTo>
                <a:cubicBezTo>
                  <a:pt x="116550" y="62624"/>
                  <a:pt x="120899" y="58275"/>
                  <a:pt x="126263" y="58275"/>
                </a:cubicBezTo>
                <a:cubicBezTo>
                  <a:pt x="131627" y="58275"/>
                  <a:pt x="135975" y="62624"/>
                  <a:pt x="135975" y="67988"/>
                </a:cubicBezTo>
                <a:lnTo>
                  <a:pt x="135975" y="135975"/>
                </a:lnTo>
                <a:cubicBezTo>
                  <a:pt x="135975" y="141340"/>
                  <a:pt x="131627" y="145688"/>
                  <a:pt x="126263" y="145688"/>
                </a:cubicBezTo>
                <a:cubicBezTo>
                  <a:pt x="120899" y="145688"/>
                  <a:pt x="116550" y="141340"/>
                  <a:pt x="116550" y="135975"/>
                </a:cubicBezTo>
                <a:close/>
                <a:moveTo>
                  <a:pt x="140832" y="179682"/>
                </a:moveTo>
                <a:cubicBezTo>
                  <a:pt x="140832" y="187728"/>
                  <a:pt x="134309" y="194251"/>
                  <a:pt x="126263" y="194251"/>
                </a:cubicBezTo>
                <a:cubicBezTo>
                  <a:pt x="118217" y="194251"/>
                  <a:pt x="111694" y="187728"/>
                  <a:pt x="111694" y="179682"/>
                </a:cubicBezTo>
                <a:cubicBezTo>
                  <a:pt x="111694" y="171636"/>
                  <a:pt x="118217" y="165113"/>
                  <a:pt x="126263" y="165113"/>
                </a:cubicBezTo>
                <a:cubicBezTo>
                  <a:pt x="134309" y="165113"/>
                  <a:pt x="140832" y="171636"/>
                  <a:pt x="140832" y="179682"/>
                </a:cubicBezTo>
                <a:close/>
              </a:path>
            </a:pathLst>
          </a:custGeom>
          <a:solidFill>
            <a:srgbClr val="000000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Graphic 4">
            <a:extLst>
              <a:ext uri="{FF2B5EF4-FFF2-40B4-BE49-F238E27FC236}">
                <a16:creationId xmlns:a16="http://schemas.microsoft.com/office/drawing/2014/main" id="{DCE87808-8527-6119-694A-047F856B266E}"/>
              </a:ext>
            </a:extLst>
          </p:cNvPr>
          <p:cNvSpPr/>
          <p:nvPr/>
        </p:nvSpPr>
        <p:spPr>
          <a:xfrm>
            <a:off x="8988789" y="5848003"/>
            <a:ext cx="233087" cy="271966"/>
          </a:xfrm>
          <a:custGeom>
            <a:avLst/>
            <a:gdLst>
              <a:gd name="csX0" fmla="*/ 145682 w 233087"/>
              <a:gd name="csY0" fmla="*/ 262253 h 271966"/>
              <a:gd name="csX1" fmla="*/ 135969 w 233087"/>
              <a:gd name="csY1" fmla="*/ 271966 h 271966"/>
              <a:gd name="csX2" fmla="*/ 97119 w 233087"/>
              <a:gd name="csY2" fmla="*/ 271966 h 271966"/>
              <a:gd name="csX3" fmla="*/ 87406 w 233087"/>
              <a:gd name="csY3" fmla="*/ 262253 h 271966"/>
              <a:gd name="csX4" fmla="*/ 97119 w 233087"/>
              <a:gd name="csY4" fmla="*/ 252541 h 271966"/>
              <a:gd name="csX5" fmla="*/ 135969 w 233087"/>
              <a:gd name="csY5" fmla="*/ 252541 h 271966"/>
              <a:gd name="csX6" fmla="*/ 145682 w 233087"/>
              <a:gd name="csY6" fmla="*/ 262253 h 271966"/>
              <a:gd name="csX7" fmla="*/ 116544 w 233087"/>
              <a:gd name="csY7" fmla="*/ 126278 h 271966"/>
              <a:gd name="csX8" fmla="*/ 131113 w 233087"/>
              <a:gd name="csY8" fmla="*/ 111709 h 271966"/>
              <a:gd name="csX9" fmla="*/ 116544 w 233087"/>
              <a:gd name="csY9" fmla="*/ 97140 h 271966"/>
              <a:gd name="csX10" fmla="*/ 101975 w 233087"/>
              <a:gd name="csY10" fmla="*/ 111709 h 271966"/>
              <a:gd name="csX11" fmla="*/ 116544 w 233087"/>
              <a:gd name="csY11" fmla="*/ 126278 h 271966"/>
              <a:gd name="csX12" fmla="*/ 232633 w 233087"/>
              <a:gd name="csY12" fmla="*/ 179491 h 271966"/>
              <a:gd name="csX13" fmla="*/ 217627 w 233087"/>
              <a:gd name="csY13" fmla="*/ 247029 h 271966"/>
              <a:gd name="csX14" fmla="*/ 194454 w 233087"/>
              <a:gd name="csY14" fmla="*/ 261783 h 271966"/>
              <a:gd name="csX15" fmla="*/ 186656 w 233087"/>
              <a:gd name="csY15" fmla="*/ 258089 h 271966"/>
              <a:gd name="csX16" fmla="*/ 153585 w 233087"/>
              <a:gd name="csY16" fmla="*/ 233116 h 271966"/>
              <a:gd name="csX17" fmla="*/ 79527 w 233087"/>
              <a:gd name="csY17" fmla="*/ 233116 h 271966"/>
              <a:gd name="csX18" fmla="*/ 46432 w 233087"/>
              <a:gd name="csY18" fmla="*/ 258089 h 271966"/>
              <a:gd name="csX19" fmla="*/ 19155 w 233087"/>
              <a:gd name="csY19" fmla="*/ 254827 h 271966"/>
              <a:gd name="csX20" fmla="*/ 15461 w 233087"/>
              <a:gd name="csY20" fmla="*/ 247029 h 271966"/>
              <a:gd name="csX21" fmla="*/ 455 w 233087"/>
              <a:gd name="csY21" fmla="*/ 179491 h 271966"/>
              <a:gd name="csX22" fmla="*/ 4486 w 233087"/>
              <a:gd name="csY22" fmla="*/ 162846 h 271966"/>
              <a:gd name="csX23" fmla="*/ 39159 w 233087"/>
              <a:gd name="csY23" fmla="*/ 121252 h 271966"/>
              <a:gd name="csX24" fmla="*/ 49564 w 233087"/>
              <a:gd name="csY24" fmla="*/ 76732 h 271966"/>
              <a:gd name="csX25" fmla="*/ 104646 w 233087"/>
              <a:gd name="csY25" fmla="*/ 4070 h 271966"/>
              <a:gd name="csX26" fmla="*/ 128442 w 233087"/>
              <a:gd name="csY26" fmla="*/ 4070 h 271966"/>
              <a:gd name="csX27" fmla="*/ 183524 w 233087"/>
              <a:gd name="csY27" fmla="*/ 76732 h 271966"/>
              <a:gd name="csX28" fmla="*/ 193929 w 233087"/>
              <a:gd name="csY28" fmla="*/ 121252 h 271966"/>
              <a:gd name="csX29" fmla="*/ 228602 w 233087"/>
              <a:gd name="csY29" fmla="*/ 162846 h 271966"/>
              <a:gd name="csX30" fmla="*/ 232633 w 233087"/>
              <a:gd name="csY30" fmla="*/ 179491 h 271966"/>
              <a:gd name="csX31" fmla="*/ 81858 w 233087"/>
              <a:gd name="csY31" fmla="*/ 213691 h 271966"/>
              <a:gd name="csX32" fmla="*/ 151230 w 233087"/>
              <a:gd name="csY32" fmla="*/ 213691 h 271966"/>
              <a:gd name="csX33" fmla="*/ 165483 w 233087"/>
              <a:gd name="csY33" fmla="*/ 83931 h 271966"/>
              <a:gd name="csX34" fmla="*/ 116544 w 233087"/>
              <a:gd name="csY34" fmla="*/ 19440 h 271966"/>
              <a:gd name="csX35" fmla="*/ 67581 w 233087"/>
              <a:gd name="csY35" fmla="*/ 83931 h 271966"/>
              <a:gd name="csX36" fmla="*/ 81858 w 233087"/>
              <a:gd name="csY36" fmla="*/ 213691 h 271966"/>
              <a:gd name="csX37" fmla="*/ 63647 w 233087"/>
              <a:gd name="csY37" fmla="*/ 220793 h 271966"/>
              <a:gd name="csX38" fmla="*/ 39851 w 233087"/>
              <a:gd name="csY38" fmla="*/ 150754 h 271966"/>
              <a:gd name="csX39" fmla="*/ 19419 w 233087"/>
              <a:gd name="csY39" fmla="*/ 175278 h 271966"/>
              <a:gd name="csX40" fmla="*/ 34424 w 233087"/>
              <a:gd name="csY40" fmla="*/ 242828 h 271966"/>
              <a:gd name="csX41" fmla="*/ 34643 w 233087"/>
              <a:gd name="csY41" fmla="*/ 242671 h 271966"/>
              <a:gd name="csX42" fmla="*/ 213669 w 233087"/>
              <a:gd name="csY42" fmla="*/ 175278 h 271966"/>
              <a:gd name="csX43" fmla="*/ 193236 w 233087"/>
              <a:gd name="csY43" fmla="*/ 150754 h 271966"/>
              <a:gd name="csX44" fmla="*/ 169489 w 233087"/>
              <a:gd name="csY44" fmla="*/ 220793 h 271966"/>
              <a:gd name="csX45" fmla="*/ 198445 w 233087"/>
              <a:gd name="csY45" fmla="*/ 242646 h 271966"/>
              <a:gd name="csX46" fmla="*/ 198663 w 233087"/>
              <a:gd name="csY46" fmla="*/ 242804 h 271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233087" h="271966">
                <a:moveTo>
                  <a:pt x="145682" y="262253"/>
                </a:moveTo>
                <a:cubicBezTo>
                  <a:pt x="145682" y="267618"/>
                  <a:pt x="141333" y="271966"/>
                  <a:pt x="135969" y="271966"/>
                </a:cubicBezTo>
                <a:lnTo>
                  <a:pt x="97119" y="271966"/>
                </a:lnTo>
                <a:cubicBezTo>
                  <a:pt x="91755" y="271966"/>
                  <a:pt x="87406" y="267618"/>
                  <a:pt x="87406" y="262253"/>
                </a:cubicBezTo>
                <a:cubicBezTo>
                  <a:pt x="87406" y="256889"/>
                  <a:pt x="91755" y="252541"/>
                  <a:pt x="97119" y="252541"/>
                </a:cubicBezTo>
                <a:lnTo>
                  <a:pt x="135969" y="252541"/>
                </a:lnTo>
                <a:cubicBezTo>
                  <a:pt x="141333" y="252541"/>
                  <a:pt x="145682" y="256889"/>
                  <a:pt x="145682" y="262253"/>
                </a:cubicBezTo>
                <a:close/>
                <a:moveTo>
                  <a:pt x="116544" y="126278"/>
                </a:moveTo>
                <a:cubicBezTo>
                  <a:pt x="124590" y="126278"/>
                  <a:pt x="131113" y="119755"/>
                  <a:pt x="131113" y="111709"/>
                </a:cubicBezTo>
                <a:cubicBezTo>
                  <a:pt x="131113" y="103663"/>
                  <a:pt x="124590" y="97140"/>
                  <a:pt x="116544" y="97140"/>
                </a:cubicBezTo>
                <a:cubicBezTo>
                  <a:pt x="108498" y="97140"/>
                  <a:pt x="101975" y="103663"/>
                  <a:pt x="101975" y="111709"/>
                </a:cubicBezTo>
                <a:cubicBezTo>
                  <a:pt x="101975" y="119755"/>
                  <a:pt x="108498" y="126278"/>
                  <a:pt x="116544" y="126278"/>
                </a:cubicBezTo>
                <a:close/>
                <a:moveTo>
                  <a:pt x="232633" y="179491"/>
                </a:moveTo>
                <a:lnTo>
                  <a:pt x="217627" y="247029"/>
                </a:lnTo>
                <a:cubicBezTo>
                  <a:pt x="215302" y="257502"/>
                  <a:pt x="204927" y="264108"/>
                  <a:pt x="194454" y="261783"/>
                </a:cubicBezTo>
                <a:cubicBezTo>
                  <a:pt x="191611" y="261152"/>
                  <a:pt x="188946" y="259890"/>
                  <a:pt x="186656" y="258089"/>
                </a:cubicBezTo>
                <a:lnTo>
                  <a:pt x="153585" y="233116"/>
                </a:lnTo>
                <a:lnTo>
                  <a:pt x="79527" y="233116"/>
                </a:lnTo>
                <a:lnTo>
                  <a:pt x="46432" y="258089"/>
                </a:lnTo>
                <a:cubicBezTo>
                  <a:pt x="37998" y="264721"/>
                  <a:pt x="25786" y="263260"/>
                  <a:pt x="19155" y="254827"/>
                </a:cubicBezTo>
                <a:cubicBezTo>
                  <a:pt x="17354" y="252538"/>
                  <a:pt x="16092" y="249873"/>
                  <a:pt x="15461" y="247029"/>
                </a:cubicBezTo>
                <a:lnTo>
                  <a:pt x="455" y="179491"/>
                </a:lnTo>
                <a:cubicBezTo>
                  <a:pt x="-835" y="173618"/>
                  <a:pt x="652" y="167478"/>
                  <a:pt x="4486" y="162846"/>
                </a:cubicBezTo>
                <a:lnTo>
                  <a:pt x="39159" y="121252"/>
                </a:lnTo>
                <a:cubicBezTo>
                  <a:pt x="40323" y="105966"/>
                  <a:pt x="43832" y="90950"/>
                  <a:pt x="49564" y="76732"/>
                </a:cubicBezTo>
                <a:cubicBezTo>
                  <a:pt x="65225" y="37469"/>
                  <a:pt x="93270" y="12836"/>
                  <a:pt x="104646" y="4070"/>
                </a:cubicBezTo>
                <a:cubicBezTo>
                  <a:pt x="111650" y="-1357"/>
                  <a:pt x="121438" y="-1357"/>
                  <a:pt x="128442" y="4070"/>
                </a:cubicBezTo>
                <a:cubicBezTo>
                  <a:pt x="139781" y="12836"/>
                  <a:pt x="167863" y="37469"/>
                  <a:pt x="183524" y="76732"/>
                </a:cubicBezTo>
                <a:cubicBezTo>
                  <a:pt x="189255" y="90950"/>
                  <a:pt x="192765" y="105966"/>
                  <a:pt x="193929" y="121252"/>
                </a:cubicBezTo>
                <a:lnTo>
                  <a:pt x="228602" y="162846"/>
                </a:lnTo>
                <a:cubicBezTo>
                  <a:pt x="232436" y="167478"/>
                  <a:pt x="233923" y="173618"/>
                  <a:pt x="232633" y="179491"/>
                </a:cubicBezTo>
                <a:close/>
                <a:moveTo>
                  <a:pt x="81858" y="213691"/>
                </a:moveTo>
                <a:lnTo>
                  <a:pt x="151230" y="213691"/>
                </a:lnTo>
                <a:cubicBezTo>
                  <a:pt x="176871" y="168115"/>
                  <a:pt x="181666" y="124481"/>
                  <a:pt x="165483" y="83931"/>
                </a:cubicBezTo>
                <a:cubicBezTo>
                  <a:pt x="151206" y="48141"/>
                  <a:pt x="124423" y="25511"/>
                  <a:pt x="116544" y="19440"/>
                </a:cubicBezTo>
                <a:cubicBezTo>
                  <a:pt x="108640" y="25511"/>
                  <a:pt x="81858" y="48141"/>
                  <a:pt x="67581" y="83931"/>
                </a:cubicBezTo>
                <a:cubicBezTo>
                  <a:pt x="51421" y="124481"/>
                  <a:pt x="56217" y="168115"/>
                  <a:pt x="81858" y="213691"/>
                </a:cubicBezTo>
                <a:close/>
                <a:moveTo>
                  <a:pt x="63647" y="220793"/>
                </a:moveTo>
                <a:cubicBezTo>
                  <a:pt x="50576" y="197038"/>
                  <a:pt x="42644" y="173691"/>
                  <a:pt x="39851" y="150754"/>
                </a:cubicBezTo>
                <a:lnTo>
                  <a:pt x="19419" y="175278"/>
                </a:lnTo>
                <a:lnTo>
                  <a:pt x="34424" y="242828"/>
                </a:lnTo>
                <a:lnTo>
                  <a:pt x="34643" y="242671"/>
                </a:lnTo>
                <a:close/>
                <a:moveTo>
                  <a:pt x="213669" y="175278"/>
                </a:moveTo>
                <a:lnTo>
                  <a:pt x="193236" y="150754"/>
                </a:lnTo>
                <a:cubicBezTo>
                  <a:pt x="190468" y="173643"/>
                  <a:pt x="182553" y="196989"/>
                  <a:pt x="169489" y="220793"/>
                </a:cubicBezTo>
                <a:lnTo>
                  <a:pt x="198445" y="242646"/>
                </a:lnTo>
                <a:lnTo>
                  <a:pt x="198663" y="242804"/>
                </a:lnTo>
                <a:close/>
              </a:path>
            </a:pathLst>
          </a:custGeom>
          <a:solidFill>
            <a:srgbClr val="000000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Graphic 8">
            <a:extLst>
              <a:ext uri="{FF2B5EF4-FFF2-40B4-BE49-F238E27FC236}">
                <a16:creationId xmlns:a16="http://schemas.microsoft.com/office/drawing/2014/main" id="{4E88E058-5F15-4058-35D0-2AE05DE63C0E}"/>
              </a:ext>
            </a:extLst>
          </p:cNvPr>
          <p:cNvSpPr/>
          <p:nvPr/>
        </p:nvSpPr>
        <p:spPr>
          <a:xfrm>
            <a:off x="9885452" y="5875947"/>
            <a:ext cx="256108" cy="256108"/>
          </a:xfrm>
          <a:custGeom>
            <a:avLst/>
            <a:gdLst>
              <a:gd name="csX0" fmla="*/ 267283 w 371475"/>
              <a:gd name="csY0" fmla="*/ 132767 h 371475"/>
              <a:gd name="csX1" fmla="*/ 267295 w 371475"/>
              <a:gd name="csY1" fmla="*/ 152972 h 371475"/>
              <a:gd name="csX2" fmla="*/ 267283 w 371475"/>
              <a:gd name="csY2" fmla="*/ 152983 h 371475"/>
              <a:gd name="csX3" fmla="*/ 167271 w 371475"/>
              <a:gd name="csY3" fmla="*/ 252996 h 371475"/>
              <a:gd name="csX4" fmla="*/ 147065 w 371475"/>
              <a:gd name="csY4" fmla="*/ 253007 h 371475"/>
              <a:gd name="csX5" fmla="*/ 147054 w 371475"/>
              <a:gd name="csY5" fmla="*/ 252996 h 371475"/>
              <a:gd name="csX6" fmla="*/ 104192 w 371475"/>
              <a:gd name="csY6" fmla="*/ 210133 h 371475"/>
              <a:gd name="csX7" fmla="*/ 104192 w 371475"/>
              <a:gd name="csY7" fmla="*/ 189917 h 371475"/>
              <a:gd name="csX8" fmla="*/ 124408 w 371475"/>
              <a:gd name="csY8" fmla="*/ 189917 h 371475"/>
              <a:gd name="csX9" fmla="*/ 157163 w 371475"/>
              <a:gd name="csY9" fmla="*/ 222689 h 371475"/>
              <a:gd name="csX10" fmla="*/ 247067 w 371475"/>
              <a:gd name="csY10" fmla="*/ 132767 h 371475"/>
              <a:gd name="csX11" fmla="*/ 267272 w 371475"/>
              <a:gd name="csY11" fmla="*/ 132755 h 371475"/>
              <a:gd name="csX12" fmla="*/ 267283 w 371475"/>
              <a:gd name="csY12" fmla="*/ 132767 h 371475"/>
              <a:gd name="csX13" fmla="*/ 371475 w 371475"/>
              <a:gd name="csY13" fmla="*/ 185738 h 371475"/>
              <a:gd name="csX14" fmla="*/ 185738 w 371475"/>
              <a:gd name="csY14" fmla="*/ 371475 h 371475"/>
              <a:gd name="csX15" fmla="*/ 0 w 371475"/>
              <a:gd name="csY15" fmla="*/ 185738 h 371475"/>
              <a:gd name="csX16" fmla="*/ 185738 w 371475"/>
              <a:gd name="csY16" fmla="*/ 0 h 371475"/>
              <a:gd name="csX17" fmla="*/ 371475 w 371475"/>
              <a:gd name="csY17" fmla="*/ 185738 h 371475"/>
              <a:gd name="csX18" fmla="*/ 342900 w 371475"/>
              <a:gd name="csY18" fmla="*/ 185738 h 371475"/>
              <a:gd name="csX19" fmla="*/ 185738 w 371475"/>
              <a:gd name="csY19" fmla="*/ 28575 h 371475"/>
              <a:gd name="csX20" fmla="*/ 28575 w 371475"/>
              <a:gd name="csY20" fmla="*/ 185738 h 371475"/>
              <a:gd name="csX21" fmla="*/ 185738 w 371475"/>
              <a:gd name="csY21" fmla="*/ 342900 h 371475"/>
              <a:gd name="csX22" fmla="*/ 342900 w 371475"/>
              <a:gd name="csY22" fmla="*/ 185738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71475" h="371475">
                <a:moveTo>
                  <a:pt x="267283" y="132767"/>
                </a:moveTo>
                <a:cubicBezTo>
                  <a:pt x="272866" y="138343"/>
                  <a:pt x="272871" y="147389"/>
                  <a:pt x="267295" y="152972"/>
                </a:cubicBezTo>
                <a:cubicBezTo>
                  <a:pt x="267291" y="152976"/>
                  <a:pt x="267287" y="152980"/>
                  <a:pt x="267283" y="152983"/>
                </a:cubicBezTo>
                <a:lnTo>
                  <a:pt x="167271" y="252996"/>
                </a:lnTo>
                <a:cubicBezTo>
                  <a:pt x="161694" y="258579"/>
                  <a:pt x="152648" y="258584"/>
                  <a:pt x="147065" y="253007"/>
                </a:cubicBezTo>
                <a:cubicBezTo>
                  <a:pt x="147062" y="253003"/>
                  <a:pt x="147058" y="253000"/>
                  <a:pt x="147054" y="252996"/>
                </a:cubicBezTo>
                <a:lnTo>
                  <a:pt x="104192" y="210133"/>
                </a:lnTo>
                <a:cubicBezTo>
                  <a:pt x="98609" y="204551"/>
                  <a:pt x="98609" y="195499"/>
                  <a:pt x="104192" y="189917"/>
                </a:cubicBezTo>
                <a:cubicBezTo>
                  <a:pt x="109774" y="184334"/>
                  <a:pt x="118826" y="184334"/>
                  <a:pt x="124408" y="189917"/>
                </a:cubicBezTo>
                <a:lnTo>
                  <a:pt x="157163" y="222689"/>
                </a:lnTo>
                <a:lnTo>
                  <a:pt x="247067" y="132767"/>
                </a:lnTo>
                <a:cubicBezTo>
                  <a:pt x="252643" y="127184"/>
                  <a:pt x="261689" y="127179"/>
                  <a:pt x="267272" y="132755"/>
                </a:cubicBezTo>
                <a:cubicBezTo>
                  <a:pt x="267276" y="132759"/>
                  <a:pt x="267280" y="132763"/>
                  <a:pt x="267283" y="132767"/>
                </a:cubicBezTo>
                <a:close/>
                <a:moveTo>
                  <a:pt x="371475" y="185738"/>
                </a:moveTo>
                <a:cubicBezTo>
                  <a:pt x="371475" y="288317"/>
                  <a:pt x="288317" y="371475"/>
                  <a:pt x="185738" y="371475"/>
                </a:cubicBezTo>
                <a:cubicBezTo>
                  <a:pt x="83158" y="371475"/>
                  <a:pt x="0" y="288317"/>
                  <a:pt x="0" y="185738"/>
                </a:cubicBezTo>
                <a:cubicBezTo>
                  <a:pt x="0" y="83158"/>
                  <a:pt x="83158" y="0"/>
                  <a:pt x="185738" y="0"/>
                </a:cubicBezTo>
                <a:cubicBezTo>
                  <a:pt x="288273" y="108"/>
                  <a:pt x="371367" y="83202"/>
                  <a:pt x="371475" y="185738"/>
                </a:cubicBezTo>
                <a:close/>
                <a:moveTo>
                  <a:pt x="342900" y="185738"/>
                </a:moveTo>
                <a:cubicBezTo>
                  <a:pt x="342900" y="98939"/>
                  <a:pt x="272536" y="28575"/>
                  <a:pt x="185738" y="28575"/>
                </a:cubicBezTo>
                <a:cubicBezTo>
                  <a:pt x="98939" y="28575"/>
                  <a:pt x="28575" y="98939"/>
                  <a:pt x="28575" y="185738"/>
                </a:cubicBezTo>
                <a:cubicBezTo>
                  <a:pt x="28575" y="272536"/>
                  <a:pt x="98939" y="342900"/>
                  <a:pt x="185738" y="342900"/>
                </a:cubicBezTo>
                <a:cubicBezTo>
                  <a:pt x="272495" y="342802"/>
                  <a:pt x="342802" y="272495"/>
                  <a:pt x="342900" y="185738"/>
                </a:cubicBezTo>
                <a:close/>
              </a:path>
            </a:pathLst>
          </a:custGeom>
          <a:solidFill>
            <a:srgbClr val="000000"/>
          </a:solidFill>
          <a:ln w="178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8A0"/>
            </a:gs>
            <a:gs pos="74000">
              <a:srgbClr val="FF4204"/>
            </a:gs>
            <a:gs pos="83000">
              <a:srgbClr val="FF4C02"/>
            </a:gs>
            <a:gs pos="100000">
              <a:srgbClr val="FF8227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753788" y="2002971"/>
            <a:ext cx="9812612" cy="4092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508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Inter Light"/>
              <a:buNone/>
            </a:pPr>
            <a:r>
              <a:rPr lang="en-US" sz="12000">
                <a:solidFill>
                  <a:schemeClr val="lt1"/>
                </a:solidFill>
              </a:rPr>
              <a:t>Luma </a:t>
            </a:r>
            <a:br>
              <a:rPr lang="en-US" sz="12000">
                <a:solidFill>
                  <a:schemeClr val="lt1"/>
                </a:solidFill>
              </a:rPr>
            </a:br>
            <a:r>
              <a:rPr lang="en-US" sz="12000">
                <a:solidFill>
                  <a:schemeClr val="lt1"/>
                </a:solidFill>
              </a:rPr>
              <a:t>Robotics</a:t>
            </a:r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753788" y="495958"/>
            <a:ext cx="2455800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SERIES A FUNDRAISE </a:t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9712411" y="495958"/>
            <a:ext cx="1857408" cy="266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OCTOBER 2025</a:t>
            </a:r>
            <a:endParaRPr sz="1400" b="1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3" name="Google Shape;63;p2"/>
          <p:cNvCxnSpPr/>
          <p:nvPr/>
        </p:nvCxnSpPr>
        <p:spPr>
          <a:xfrm>
            <a:off x="-210458" y="1045027"/>
            <a:ext cx="12612915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8A0"/>
            </a:gs>
            <a:gs pos="74000">
              <a:srgbClr val="FF4204"/>
            </a:gs>
            <a:gs pos="83000">
              <a:srgbClr val="FF4C02"/>
            </a:gs>
            <a:gs pos="100000">
              <a:srgbClr val="FF8227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>
            <a:spLocks noGrp="1"/>
          </p:cNvSpPr>
          <p:nvPr>
            <p:ph type="title"/>
          </p:nvPr>
        </p:nvSpPr>
        <p:spPr>
          <a:xfrm>
            <a:off x="753788" y="794851"/>
            <a:ext cx="9812612" cy="4092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508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Inter Light"/>
              <a:buNone/>
            </a:pPr>
            <a:r>
              <a:rPr lang="en-US" sz="12000">
                <a:solidFill>
                  <a:schemeClr val="lt1"/>
                </a:solidFill>
              </a:rPr>
              <a:t>Luma </a:t>
            </a:r>
            <a:br>
              <a:rPr lang="en-US" sz="12000">
                <a:solidFill>
                  <a:schemeClr val="lt1"/>
                </a:solidFill>
              </a:rPr>
            </a:br>
            <a:r>
              <a:rPr lang="en-US" sz="12000">
                <a:solidFill>
                  <a:schemeClr val="lt1"/>
                </a:solidFill>
              </a:rPr>
              <a:t>Robotics</a:t>
            </a:r>
            <a:endParaRPr/>
          </a:p>
        </p:txBody>
      </p:sp>
      <p:sp>
        <p:nvSpPr>
          <p:cNvPr id="69" name="Google Shape;69;p3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70" name="Google Shape;70;p3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0" y="5382883"/>
            <a:ext cx="12192000" cy="14751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35000" tIns="635000" rIns="635000" bIns="6350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Light"/>
              <a:buNone/>
            </a:pPr>
            <a:endParaRPr sz="2500" b="0" i="0" u="none" strike="noStrike" cap="none">
              <a:solidFill>
                <a:srgbClr val="0F2D4D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753788" y="5796409"/>
            <a:ext cx="2455800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SERIES A FUNDRAISE </a:t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9712411" y="5796409"/>
            <a:ext cx="1857408" cy="266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OCTOBER 2025</a:t>
            </a:r>
            <a:endParaRPr sz="1400" b="1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79" name="Google Shape;79;p4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602450" y="467535"/>
            <a:ext cx="4323209" cy="740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nter Light"/>
              <a:buNone/>
            </a:pPr>
            <a:r>
              <a:rPr lang="en-US"/>
              <a:t>Table of Contents</a:t>
            </a:r>
            <a:endParaRPr/>
          </a:p>
        </p:txBody>
      </p:sp>
      <p:graphicFrame>
        <p:nvGraphicFramePr>
          <p:cNvPr id="81" name="Google Shape;81;p4"/>
          <p:cNvGraphicFramePr/>
          <p:nvPr/>
        </p:nvGraphicFramePr>
        <p:xfrm>
          <a:off x="690989" y="30014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{BAEFE60F-7503-4905-AA46-1D1A2AA27E4A}</a:tableStyleId>
              </a:tblPr>
              <a:tblGrid>
                <a:gridCol w="383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ter Light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Problem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Inter SemiBold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ter Light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Solution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Inter SemiBold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ter Light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Market Opportunity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Inter SemiBold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ter Light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Traction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Inter SemiBold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2" name="Google Shape;82;p4"/>
          <p:cNvGraphicFramePr/>
          <p:nvPr/>
        </p:nvGraphicFramePr>
        <p:xfrm>
          <a:off x="6668532" y="30014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{BAEFE60F-7503-4905-AA46-1D1A2AA27E4A}</a:tableStyleId>
              </a:tblPr>
              <a:tblGrid>
                <a:gridCol w="383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ter Light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Luma Platform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Inter SemiBold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ter Light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Market Size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Inter SemiBold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ter Light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Roadmap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Inter SemiBold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Inter Light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Metrics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Inter SemiBold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0" marR="91450" marT="91450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602449" y="961805"/>
            <a:ext cx="6030825" cy="740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Inter Light"/>
              <a:buNone/>
            </a:pPr>
            <a:r>
              <a:rPr lang="en-US" dirty="0"/>
              <a:t>Manufacturing can’t keep up</a:t>
            </a:r>
            <a:endParaRPr dirty="0"/>
          </a:p>
        </p:txBody>
      </p:sp>
      <p:sp>
        <p:nvSpPr>
          <p:cNvPr id="90" name="Google Shape;90;p5"/>
          <p:cNvSpPr txBox="1"/>
          <p:nvPr/>
        </p:nvSpPr>
        <p:spPr>
          <a:xfrm>
            <a:off x="639521" y="529320"/>
            <a:ext cx="1609415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204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rgbClr val="FF4204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sz="1400" b="1" i="0" u="none" strike="noStrike" cap="none">
              <a:solidFill>
                <a:srgbClr val="FF420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639519" y="3793772"/>
            <a:ext cx="3586491" cy="214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Medium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Labor gap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By 2030, </a:t>
            </a:r>
            <a:r>
              <a:rPr lang="en-US" sz="1500" b="0" i="0" u="none" strike="noStrike" cap="none">
                <a:solidFill>
                  <a:srgbClr val="FF4204"/>
                </a:solidFill>
                <a:latin typeface="Inter Medium"/>
                <a:ea typeface="Inter Medium"/>
                <a:cs typeface="Inter Medium"/>
                <a:sym typeface="Inter Medium"/>
              </a:rPr>
              <a:t>over 2 million roles will go unfilled. </a:t>
            </a:r>
            <a:r>
              <a:rPr lang="en-US"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Skilled technicians are aging out, and few replacements are entering the field. Production demand continues to rise.</a:t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4651350" y="3793772"/>
            <a:ext cx="3314642" cy="214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Medium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Rising costs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Labor, energy, and supply chain volatility have driven </a:t>
            </a:r>
            <a:r>
              <a:rPr lang="en-US" sz="1500" b="0" i="0" u="none" strike="noStrike" cap="none" dirty="0">
                <a:solidFill>
                  <a:srgbClr val="FF4204"/>
                </a:solidFill>
                <a:latin typeface="Inter Medium"/>
                <a:ea typeface="Inter Medium"/>
                <a:cs typeface="Inter Medium"/>
                <a:sym typeface="Inter Medium"/>
              </a:rPr>
              <a:t>costs up 18% year over year. 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Many manufacturers can’t stay competitive without automation.</a:t>
            </a:r>
            <a:endParaRPr dirty="0"/>
          </a:p>
        </p:txBody>
      </p:sp>
      <p:sp>
        <p:nvSpPr>
          <p:cNvPr id="93" name="Google Shape;93;p5"/>
          <p:cNvSpPr txBox="1"/>
          <p:nvPr/>
        </p:nvSpPr>
        <p:spPr>
          <a:xfrm>
            <a:off x="8494302" y="3793772"/>
            <a:ext cx="3314642" cy="214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Medium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Rigid systems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Legacy robots are </a:t>
            </a:r>
            <a:r>
              <a:rPr lang="en-US" sz="1500" b="0" i="0" u="none" strike="noStrike" cap="none">
                <a:solidFill>
                  <a:srgbClr val="FF4204"/>
                </a:solidFill>
                <a:latin typeface="Inter Medium"/>
                <a:ea typeface="Inter Medium"/>
                <a:cs typeface="Inter Medium"/>
                <a:sym typeface="Inter Medium"/>
              </a:rPr>
              <a:t>expensive and slow</a:t>
            </a:r>
            <a:r>
              <a:rPr lang="en-US"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to reconfigure. Retooling </a:t>
            </a:r>
            <a:r>
              <a:rPr lang="en-US" sz="1500" b="0" i="0" u="none" strike="noStrike" cap="none">
                <a:solidFill>
                  <a:srgbClr val="FF4204"/>
                </a:solidFill>
                <a:latin typeface="Inter Medium"/>
                <a:ea typeface="Inter Medium"/>
                <a:cs typeface="Inter Medium"/>
                <a:sym typeface="Inter Medium"/>
              </a:rPr>
              <a:t>can take months, </a:t>
            </a:r>
            <a:r>
              <a:rPr lang="en-US"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leaving plants unable to adapt to new products or shifts in demand.</a:t>
            </a:r>
            <a:endParaRPr/>
          </a:p>
        </p:txBody>
      </p:sp>
      <p:cxnSp>
        <p:nvCxnSpPr>
          <p:cNvPr id="97" name="Google Shape;97;p5"/>
          <p:cNvCxnSpPr/>
          <p:nvPr/>
        </p:nvCxnSpPr>
        <p:spPr>
          <a:xfrm>
            <a:off x="-210458" y="2255989"/>
            <a:ext cx="1261291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" name="Graphic 2">
            <a:extLst>
              <a:ext uri="{FF2B5EF4-FFF2-40B4-BE49-F238E27FC236}">
                <a16:creationId xmlns:a16="http://schemas.microsoft.com/office/drawing/2014/main" id="{465C8F31-2BEF-47FB-461D-2DAE699DD890}"/>
              </a:ext>
            </a:extLst>
          </p:cNvPr>
          <p:cNvSpPr/>
          <p:nvPr/>
        </p:nvSpPr>
        <p:spPr>
          <a:xfrm>
            <a:off x="639519" y="3033952"/>
            <a:ext cx="395048" cy="395048"/>
          </a:xfrm>
          <a:custGeom>
            <a:avLst/>
            <a:gdLst>
              <a:gd name="csX0" fmla="*/ 126263 w 252525"/>
              <a:gd name="csY0" fmla="*/ 0 h 252525"/>
              <a:gd name="csX1" fmla="*/ 0 w 252525"/>
              <a:gd name="csY1" fmla="*/ 126263 h 252525"/>
              <a:gd name="csX2" fmla="*/ 126263 w 252525"/>
              <a:gd name="csY2" fmla="*/ 252526 h 252525"/>
              <a:gd name="csX3" fmla="*/ 252526 w 252525"/>
              <a:gd name="csY3" fmla="*/ 126263 h 252525"/>
              <a:gd name="csX4" fmla="*/ 126263 w 252525"/>
              <a:gd name="csY4" fmla="*/ 0 h 252525"/>
              <a:gd name="csX5" fmla="*/ 126263 w 252525"/>
              <a:gd name="csY5" fmla="*/ 233101 h 252525"/>
              <a:gd name="csX6" fmla="*/ 19425 w 252525"/>
              <a:gd name="csY6" fmla="*/ 126263 h 252525"/>
              <a:gd name="csX7" fmla="*/ 126263 w 252525"/>
              <a:gd name="csY7" fmla="*/ 19425 h 252525"/>
              <a:gd name="csX8" fmla="*/ 233101 w 252525"/>
              <a:gd name="csY8" fmla="*/ 126263 h 252525"/>
              <a:gd name="csX9" fmla="*/ 126263 w 252525"/>
              <a:gd name="csY9" fmla="*/ 233101 h 252525"/>
              <a:gd name="csX10" fmla="*/ 116550 w 252525"/>
              <a:gd name="csY10" fmla="*/ 135975 h 252525"/>
              <a:gd name="csX11" fmla="*/ 116550 w 252525"/>
              <a:gd name="csY11" fmla="*/ 67988 h 252525"/>
              <a:gd name="csX12" fmla="*/ 126263 w 252525"/>
              <a:gd name="csY12" fmla="*/ 58275 h 252525"/>
              <a:gd name="csX13" fmla="*/ 135975 w 252525"/>
              <a:gd name="csY13" fmla="*/ 67988 h 252525"/>
              <a:gd name="csX14" fmla="*/ 135975 w 252525"/>
              <a:gd name="csY14" fmla="*/ 135975 h 252525"/>
              <a:gd name="csX15" fmla="*/ 126263 w 252525"/>
              <a:gd name="csY15" fmla="*/ 145688 h 252525"/>
              <a:gd name="csX16" fmla="*/ 116550 w 252525"/>
              <a:gd name="csY16" fmla="*/ 135975 h 252525"/>
              <a:gd name="csX17" fmla="*/ 140832 w 252525"/>
              <a:gd name="csY17" fmla="*/ 179682 h 252525"/>
              <a:gd name="csX18" fmla="*/ 126263 w 252525"/>
              <a:gd name="csY18" fmla="*/ 194251 h 252525"/>
              <a:gd name="csX19" fmla="*/ 111694 w 252525"/>
              <a:gd name="csY19" fmla="*/ 179682 h 252525"/>
              <a:gd name="csX20" fmla="*/ 126263 w 252525"/>
              <a:gd name="csY20" fmla="*/ 165113 h 252525"/>
              <a:gd name="csX21" fmla="*/ 140832 w 252525"/>
              <a:gd name="csY21" fmla="*/ 179682 h 2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2525" h="252525">
                <a:moveTo>
                  <a:pt x="126263" y="0"/>
                </a:moveTo>
                <a:cubicBezTo>
                  <a:pt x="56530" y="0"/>
                  <a:pt x="0" y="56530"/>
                  <a:pt x="0" y="126263"/>
                </a:cubicBezTo>
                <a:cubicBezTo>
                  <a:pt x="0" y="195996"/>
                  <a:pt x="56530" y="252526"/>
                  <a:pt x="126263" y="252526"/>
                </a:cubicBezTo>
                <a:cubicBezTo>
                  <a:pt x="195996" y="252526"/>
                  <a:pt x="252526" y="195996"/>
                  <a:pt x="252526" y="126263"/>
                </a:cubicBezTo>
                <a:cubicBezTo>
                  <a:pt x="252452" y="56560"/>
                  <a:pt x="195965" y="74"/>
                  <a:pt x="126263" y="0"/>
                </a:cubicBezTo>
                <a:close/>
                <a:moveTo>
                  <a:pt x="126263" y="233101"/>
                </a:moveTo>
                <a:cubicBezTo>
                  <a:pt x="67258" y="233101"/>
                  <a:pt x="19425" y="185268"/>
                  <a:pt x="19425" y="126263"/>
                </a:cubicBezTo>
                <a:cubicBezTo>
                  <a:pt x="19425" y="67258"/>
                  <a:pt x="67258" y="19425"/>
                  <a:pt x="126263" y="19425"/>
                </a:cubicBezTo>
                <a:cubicBezTo>
                  <a:pt x="185268" y="19425"/>
                  <a:pt x="233101" y="67258"/>
                  <a:pt x="233101" y="126263"/>
                </a:cubicBezTo>
                <a:cubicBezTo>
                  <a:pt x="233034" y="185240"/>
                  <a:pt x="185240" y="233034"/>
                  <a:pt x="126263" y="233101"/>
                </a:cubicBezTo>
                <a:close/>
                <a:moveTo>
                  <a:pt x="116550" y="135975"/>
                </a:moveTo>
                <a:lnTo>
                  <a:pt x="116550" y="67988"/>
                </a:lnTo>
                <a:cubicBezTo>
                  <a:pt x="116550" y="62624"/>
                  <a:pt x="120899" y="58275"/>
                  <a:pt x="126263" y="58275"/>
                </a:cubicBezTo>
                <a:cubicBezTo>
                  <a:pt x="131627" y="58275"/>
                  <a:pt x="135975" y="62624"/>
                  <a:pt x="135975" y="67988"/>
                </a:cubicBezTo>
                <a:lnTo>
                  <a:pt x="135975" y="135975"/>
                </a:lnTo>
                <a:cubicBezTo>
                  <a:pt x="135975" y="141340"/>
                  <a:pt x="131627" y="145688"/>
                  <a:pt x="126263" y="145688"/>
                </a:cubicBezTo>
                <a:cubicBezTo>
                  <a:pt x="120899" y="145688"/>
                  <a:pt x="116550" y="141340"/>
                  <a:pt x="116550" y="135975"/>
                </a:cubicBezTo>
                <a:close/>
                <a:moveTo>
                  <a:pt x="140832" y="179682"/>
                </a:moveTo>
                <a:cubicBezTo>
                  <a:pt x="140832" y="187728"/>
                  <a:pt x="134309" y="194251"/>
                  <a:pt x="126263" y="194251"/>
                </a:cubicBezTo>
                <a:cubicBezTo>
                  <a:pt x="118217" y="194251"/>
                  <a:pt x="111694" y="187728"/>
                  <a:pt x="111694" y="179682"/>
                </a:cubicBezTo>
                <a:cubicBezTo>
                  <a:pt x="111694" y="171636"/>
                  <a:pt x="118217" y="165113"/>
                  <a:pt x="126263" y="165113"/>
                </a:cubicBezTo>
                <a:cubicBezTo>
                  <a:pt x="134309" y="165113"/>
                  <a:pt x="140832" y="171636"/>
                  <a:pt x="140832" y="179682"/>
                </a:cubicBezTo>
                <a:close/>
              </a:path>
            </a:pathLst>
          </a:custGeom>
          <a:solidFill>
            <a:schemeClr val="accent1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48170988-FAC9-8B41-0698-C5DEC13E6FB7}"/>
              </a:ext>
            </a:extLst>
          </p:cNvPr>
          <p:cNvSpPr/>
          <p:nvPr/>
        </p:nvSpPr>
        <p:spPr>
          <a:xfrm>
            <a:off x="4651350" y="3033952"/>
            <a:ext cx="395048" cy="395048"/>
          </a:xfrm>
          <a:custGeom>
            <a:avLst/>
            <a:gdLst>
              <a:gd name="csX0" fmla="*/ 126263 w 252525"/>
              <a:gd name="csY0" fmla="*/ 0 h 252525"/>
              <a:gd name="csX1" fmla="*/ 0 w 252525"/>
              <a:gd name="csY1" fmla="*/ 126263 h 252525"/>
              <a:gd name="csX2" fmla="*/ 126263 w 252525"/>
              <a:gd name="csY2" fmla="*/ 252526 h 252525"/>
              <a:gd name="csX3" fmla="*/ 252526 w 252525"/>
              <a:gd name="csY3" fmla="*/ 126263 h 252525"/>
              <a:gd name="csX4" fmla="*/ 126263 w 252525"/>
              <a:gd name="csY4" fmla="*/ 0 h 252525"/>
              <a:gd name="csX5" fmla="*/ 126263 w 252525"/>
              <a:gd name="csY5" fmla="*/ 233101 h 252525"/>
              <a:gd name="csX6" fmla="*/ 19425 w 252525"/>
              <a:gd name="csY6" fmla="*/ 126263 h 252525"/>
              <a:gd name="csX7" fmla="*/ 126263 w 252525"/>
              <a:gd name="csY7" fmla="*/ 19425 h 252525"/>
              <a:gd name="csX8" fmla="*/ 233101 w 252525"/>
              <a:gd name="csY8" fmla="*/ 126263 h 252525"/>
              <a:gd name="csX9" fmla="*/ 126263 w 252525"/>
              <a:gd name="csY9" fmla="*/ 233101 h 252525"/>
              <a:gd name="csX10" fmla="*/ 116550 w 252525"/>
              <a:gd name="csY10" fmla="*/ 135975 h 252525"/>
              <a:gd name="csX11" fmla="*/ 116550 w 252525"/>
              <a:gd name="csY11" fmla="*/ 67988 h 252525"/>
              <a:gd name="csX12" fmla="*/ 126263 w 252525"/>
              <a:gd name="csY12" fmla="*/ 58275 h 252525"/>
              <a:gd name="csX13" fmla="*/ 135975 w 252525"/>
              <a:gd name="csY13" fmla="*/ 67988 h 252525"/>
              <a:gd name="csX14" fmla="*/ 135975 w 252525"/>
              <a:gd name="csY14" fmla="*/ 135975 h 252525"/>
              <a:gd name="csX15" fmla="*/ 126263 w 252525"/>
              <a:gd name="csY15" fmla="*/ 145688 h 252525"/>
              <a:gd name="csX16" fmla="*/ 116550 w 252525"/>
              <a:gd name="csY16" fmla="*/ 135975 h 252525"/>
              <a:gd name="csX17" fmla="*/ 140832 w 252525"/>
              <a:gd name="csY17" fmla="*/ 179682 h 252525"/>
              <a:gd name="csX18" fmla="*/ 126263 w 252525"/>
              <a:gd name="csY18" fmla="*/ 194251 h 252525"/>
              <a:gd name="csX19" fmla="*/ 111694 w 252525"/>
              <a:gd name="csY19" fmla="*/ 179682 h 252525"/>
              <a:gd name="csX20" fmla="*/ 126263 w 252525"/>
              <a:gd name="csY20" fmla="*/ 165113 h 252525"/>
              <a:gd name="csX21" fmla="*/ 140832 w 252525"/>
              <a:gd name="csY21" fmla="*/ 179682 h 2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2525" h="252525">
                <a:moveTo>
                  <a:pt x="126263" y="0"/>
                </a:moveTo>
                <a:cubicBezTo>
                  <a:pt x="56530" y="0"/>
                  <a:pt x="0" y="56530"/>
                  <a:pt x="0" y="126263"/>
                </a:cubicBezTo>
                <a:cubicBezTo>
                  <a:pt x="0" y="195996"/>
                  <a:pt x="56530" y="252526"/>
                  <a:pt x="126263" y="252526"/>
                </a:cubicBezTo>
                <a:cubicBezTo>
                  <a:pt x="195996" y="252526"/>
                  <a:pt x="252526" y="195996"/>
                  <a:pt x="252526" y="126263"/>
                </a:cubicBezTo>
                <a:cubicBezTo>
                  <a:pt x="252452" y="56560"/>
                  <a:pt x="195965" y="74"/>
                  <a:pt x="126263" y="0"/>
                </a:cubicBezTo>
                <a:close/>
                <a:moveTo>
                  <a:pt x="126263" y="233101"/>
                </a:moveTo>
                <a:cubicBezTo>
                  <a:pt x="67258" y="233101"/>
                  <a:pt x="19425" y="185268"/>
                  <a:pt x="19425" y="126263"/>
                </a:cubicBezTo>
                <a:cubicBezTo>
                  <a:pt x="19425" y="67258"/>
                  <a:pt x="67258" y="19425"/>
                  <a:pt x="126263" y="19425"/>
                </a:cubicBezTo>
                <a:cubicBezTo>
                  <a:pt x="185268" y="19425"/>
                  <a:pt x="233101" y="67258"/>
                  <a:pt x="233101" y="126263"/>
                </a:cubicBezTo>
                <a:cubicBezTo>
                  <a:pt x="233034" y="185240"/>
                  <a:pt x="185240" y="233034"/>
                  <a:pt x="126263" y="233101"/>
                </a:cubicBezTo>
                <a:close/>
                <a:moveTo>
                  <a:pt x="116550" y="135975"/>
                </a:moveTo>
                <a:lnTo>
                  <a:pt x="116550" y="67988"/>
                </a:lnTo>
                <a:cubicBezTo>
                  <a:pt x="116550" y="62624"/>
                  <a:pt x="120899" y="58275"/>
                  <a:pt x="126263" y="58275"/>
                </a:cubicBezTo>
                <a:cubicBezTo>
                  <a:pt x="131627" y="58275"/>
                  <a:pt x="135975" y="62624"/>
                  <a:pt x="135975" y="67988"/>
                </a:cubicBezTo>
                <a:lnTo>
                  <a:pt x="135975" y="135975"/>
                </a:lnTo>
                <a:cubicBezTo>
                  <a:pt x="135975" y="141340"/>
                  <a:pt x="131627" y="145688"/>
                  <a:pt x="126263" y="145688"/>
                </a:cubicBezTo>
                <a:cubicBezTo>
                  <a:pt x="120899" y="145688"/>
                  <a:pt x="116550" y="141340"/>
                  <a:pt x="116550" y="135975"/>
                </a:cubicBezTo>
                <a:close/>
                <a:moveTo>
                  <a:pt x="140832" y="179682"/>
                </a:moveTo>
                <a:cubicBezTo>
                  <a:pt x="140832" y="187728"/>
                  <a:pt x="134309" y="194251"/>
                  <a:pt x="126263" y="194251"/>
                </a:cubicBezTo>
                <a:cubicBezTo>
                  <a:pt x="118217" y="194251"/>
                  <a:pt x="111694" y="187728"/>
                  <a:pt x="111694" y="179682"/>
                </a:cubicBezTo>
                <a:cubicBezTo>
                  <a:pt x="111694" y="171636"/>
                  <a:pt x="118217" y="165113"/>
                  <a:pt x="126263" y="165113"/>
                </a:cubicBezTo>
                <a:cubicBezTo>
                  <a:pt x="134309" y="165113"/>
                  <a:pt x="140832" y="171636"/>
                  <a:pt x="140832" y="179682"/>
                </a:cubicBezTo>
                <a:close/>
              </a:path>
            </a:pathLst>
          </a:custGeom>
          <a:solidFill>
            <a:schemeClr val="accent1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7F2C6944-6687-284E-47A7-7D0068A8D468}"/>
              </a:ext>
            </a:extLst>
          </p:cNvPr>
          <p:cNvSpPr/>
          <p:nvPr/>
        </p:nvSpPr>
        <p:spPr>
          <a:xfrm>
            <a:off x="8494302" y="3033952"/>
            <a:ext cx="395048" cy="395048"/>
          </a:xfrm>
          <a:custGeom>
            <a:avLst/>
            <a:gdLst>
              <a:gd name="csX0" fmla="*/ 126263 w 252525"/>
              <a:gd name="csY0" fmla="*/ 0 h 252525"/>
              <a:gd name="csX1" fmla="*/ 0 w 252525"/>
              <a:gd name="csY1" fmla="*/ 126263 h 252525"/>
              <a:gd name="csX2" fmla="*/ 126263 w 252525"/>
              <a:gd name="csY2" fmla="*/ 252526 h 252525"/>
              <a:gd name="csX3" fmla="*/ 252526 w 252525"/>
              <a:gd name="csY3" fmla="*/ 126263 h 252525"/>
              <a:gd name="csX4" fmla="*/ 126263 w 252525"/>
              <a:gd name="csY4" fmla="*/ 0 h 252525"/>
              <a:gd name="csX5" fmla="*/ 126263 w 252525"/>
              <a:gd name="csY5" fmla="*/ 233101 h 252525"/>
              <a:gd name="csX6" fmla="*/ 19425 w 252525"/>
              <a:gd name="csY6" fmla="*/ 126263 h 252525"/>
              <a:gd name="csX7" fmla="*/ 126263 w 252525"/>
              <a:gd name="csY7" fmla="*/ 19425 h 252525"/>
              <a:gd name="csX8" fmla="*/ 233101 w 252525"/>
              <a:gd name="csY8" fmla="*/ 126263 h 252525"/>
              <a:gd name="csX9" fmla="*/ 126263 w 252525"/>
              <a:gd name="csY9" fmla="*/ 233101 h 252525"/>
              <a:gd name="csX10" fmla="*/ 116550 w 252525"/>
              <a:gd name="csY10" fmla="*/ 135975 h 252525"/>
              <a:gd name="csX11" fmla="*/ 116550 w 252525"/>
              <a:gd name="csY11" fmla="*/ 67988 h 252525"/>
              <a:gd name="csX12" fmla="*/ 126263 w 252525"/>
              <a:gd name="csY12" fmla="*/ 58275 h 252525"/>
              <a:gd name="csX13" fmla="*/ 135975 w 252525"/>
              <a:gd name="csY13" fmla="*/ 67988 h 252525"/>
              <a:gd name="csX14" fmla="*/ 135975 w 252525"/>
              <a:gd name="csY14" fmla="*/ 135975 h 252525"/>
              <a:gd name="csX15" fmla="*/ 126263 w 252525"/>
              <a:gd name="csY15" fmla="*/ 145688 h 252525"/>
              <a:gd name="csX16" fmla="*/ 116550 w 252525"/>
              <a:gd name="csY16" fmla="*/ 135975 h 252525"/>
              <a:gd name="csX17" fmla="*/ 140832 w 252525"/>
              <a:gd name="csY17" fmla="*/ 179682 h 252525"/>
              <a:gd name="csX18" fmla="*/ 126263 w 252525"/>
              <a:gd name="csY18" fmla="*/ 194251 h 252525"/>
              <a:gd name="csX19" fmla="*/ 111694 w 252525"/>
              <a:gd name="csY19" fmla="*/ 179682 h 252525"/>
              <a:gd name="csX20" fmla="*/ 126263 w 252525"/>
              <a:gd name="csY20" fmla="*/ 165113 h 252525"/>
              <a:gd name="csX21" fmla="*/ 140832 w 252525"/>
              <a:gd name="csY21" fmla="*/ 179682 h 2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2525" h="252525">
                <a:moveTo>
                  <a:pt x="126263" y="0"/>
                </a:moveTo>
                <a:cubicBezTo>
                  <a:pt x="56530" y="0"/>
                  <a:pt x="0" y="56530"/>
                  <a:pt x="0" y="126263"/>
                </a:cubicBezTo>
                <a:cubicBezTo>
                  <a:pt x="0" y="195996"/>
                  <a:pt x="56530" y="252526"/>
                  <a:pt x="126263" y="252526"/>
                </a:cubicBezTo>
                <a:cubicBezTo>
                  <a:pt x="195996" y="252526"/>
                  <a:pt x="252526" y="195996"/>
                  <a:pt x="252526" y="126263"/>
                </a:cubicBezTo>
                <a:cubicBezTo>
                  <a:pt x="252452" y="56560"/>
                  <a:pt x="195965" y="74"/>
                  <a:pt x="126263" y="0"/>
                </a:cubicBezTo>
                <a:close/>
                <a:moveTo>
                  <a:pt x="126263" y="233101"/>
                </a:moveTo>
                <a:cubicBezTo>
                  <a:pt x="67258" y="233101"/>
                  <a:pt x="19425" y="185268"/>
                  <a:pt x="19425" y="126263"/>
                </a:cubicBezTo>
                <a:cubicBezTo>
                  <a:pt x="19425" y="67258"/>
                  <a:pt x="67258" y="19425"/>
                  <a:pt x="126263" y="19425"/>
                </a:cubicBezTo>
                <a:cubicBezTo>
                  <a:pt x="185268" y="19425"/>
                  <a:pt x="233101" y="67258"/>
                  <a:pt x="233101" y="126263"/>
                </a:cubicBezTo>
                <a:cubicBezTo>
                  <a:pt x="233034" y="185240"/>
                  <a:pt x="185240" y="233034"/>
                  <a:pt x="126263" y="233101"/>
                </a:cubicBezTo>
                <a:close/>
                <a:moveTo>
                  <a:pt x="116550" y="135975"/>
                </a:moveTo>
                <a:lnTo>
                  <a:pt x="116550" y="67988"/>
                </a:lnTo>
                <a:cubicBezTo>
                  <a:pt x="116550" y="62624"/>
                  <a:pt x="120899" y="58275"/>
                  <a:pt x="126263" y="58275"/>
                </a:cubicBezTo>
                <a:cubicBezTo>
                  <a:pt x="131627" y="58275"/>
                  <a:pt x="135975" y="62624"/>
                  <a:pt x="135975" y="67988"/>
                </a:cubicBezTo>
                <a:lnTo>
                  <a:pt x="135975" y="135975"/>
                </a:lnTo>
                <a:cubicBezTo>
                  <a:pt x="135975" y="141340"/>
                  <a:pt x="131627" y="145688"/>
                  <a:pt x="126263" y="145688"/>
                </a:cubicBezTo>
                <a:cubicBezTo>
                  <a:pt x="120899" y="145688"/>
                  <a:pt x="116550" y="141340"/>
                  <a:pt x="116550" y="135975"/>
                </a:cubicBezTo>
                <a:close/>
                <a:moveTo>
                  <a:pt x="140832" y="179682"/>
                </a:moveTo>
                <a:cubicBezTo>
                  <a:pt x="140832" y="187728"/>
                  <a:pt x="134309" y="194251"/>
                  <a:pt x="126263" y="194251"/>
                </a:cubicBezTo>
                <a:cubicBezTo>
                  <a:pt x="118217" y="194251"/>
                  <a:pt x="111694" y="187728"/>
                  <a:pt x="111694" y="179682"/>
                </a:cubicBezTo>
                <a:cubicBezTo>
                  <a:pt x="111694" y="171636"/>
                  <a:pt x="118217" y="165113"/>
                  <a:pt x="126263" y="165113"/>
                </a:cubicBezTo>
                <a:cubicBezTo>
                  <a:pt x="134309" y="165113"/>
                  <a:pt x="140832" y="171636"/>
                  <a:pt x="140832" y="179682"/>
                </a:cubicBezTo>
                <a:close/>
              </a:path>
            </a:pathLst>
          </a:custGeom>
          <a:solidFill>
            <a:schemeClr val="accent1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 rot="10800000" flipH="1">
            <a:off x="7997016" y="2591058"/>
            <a:ext cx="4512484" cy="155610"/>
          </a:xfrm>
          <a:prstGeom prst="rect">
            <a:avLst/>
          </a:prstGeom>
          <a:solidFill>
            <a:srgbClr val="FF4204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997016" y="2705100"/>
            <a:ext cx="4512484" cy="3585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4" name="Google Shape;104;p6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105" name="Google Shape;105;p6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602450" y="961805"/>
            <a:ext cx="6092818" cy="740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Inter Light"/>
              <a:buNone/>
            </a:pPr>
            <a:r>
              <a:rPr lang="en-US" dirty="0"/>
              <a:t>Manufacturing can’t keep up</a:t>
            </a:r>
            <a:endParaRPr dirty="0"/>
          </a:p>
        </p:txBody>
      </p:sp>
      <p:sp>
        <p:nvSpPr>
          <p:cNvPr id="107" name="Google Shape;107;p6"/>
          <p:cNvSpPr txBox="1"/>
          <p:nvPr/>
        </p:nvSpPr>
        <p:spPr>
          <a:xfrm>
            <a:off x="639521" y="529320"/>
            <a:ext cx="1609415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204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rgbClr val="FF4204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sz="1400" b="1" i="0" u="none" strike="noStrike" cap="none">
              <a:solidFill>
                <a:srgbClr val="FF420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639520" y="3943264"/>
            <a:ext cx="3314642" cy="214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Medium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Labor gap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By 2030, </a:t>
            </a:r>
            <a:r>
              <a:rPr lang="en-US" sz="1400" b="0" i="0" u="none" strike="noStrike" cap="none">
                <a:solidFill>
                  <a:srgbClr val="FF4204"/>
                </a:solidFill>
                <a:latin typeface="Inter Medium"/>
                <a:ea typeface="Inter Medium"/>
                <a:cs typeface="Inter Medium"/>
                <a:sym typeface="Inter Medium"/>
              </a:rPr>
              <a:t>over 2 million roles will go unfilled. </a:t>
            </a:r>
            <a:r>
              <a:rPr lang="en-US"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Skilled technicians are aging out, and few replacements are entering the field. Production demands rise.</a:t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4421414" y="3943264"/>
            <a:ext cx="3082950" cy="214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Medium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Rising costs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Labor, energy, and supply chain volatility have driven </a:t>
            </a:r>
            <a:r>
              <a:rPr lang="en-US" sz="1400" b="0" i="0" u="none" strike="noStrike" cap="none">
                <a:solidFill>
                  <a:srgbClr val="FF4204"/>
                </a:solidFill>
                <a:latin typeface="Inter Medium"/>
                <a:ea typeface="Inter Medium"/>
                <a:cs typeface="Inter Medium"/>
                <a:sym typeface="Inter Medium"/>
              </a:rPr>
              <a:t>costs up 18% year over year. </a:t>
            </a:r>
            <a:r>
              <a:rPr lang="en-US"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Many manufacturers can’t stay competitive without automation.</a:t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8491840" y="3962228"/>
            <a:ext cx="2735808" cy="214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Medium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Rigid systems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Legacy robots are </a:t>
            </a:r>
            <a:r>
              <a:rPr lang="en-US" sz="1400" b="0" i="0" u="none" strike="noStrike" cap="none">
                <a:solidFill>
                  <a:srgbClr val="FF4204"/>
                </a:solidFill>
                <a:latin typeface="Inter Medium"/>
                <a:ea typeface="Inter Medium"/>
                <a:cs typeface="Inter Medium"/>
                <a:sym typeface="Inter Medium"/>
              </a:rPr>
              <a:t>expensive and slow</a:t>
            </a:r>
            <a:r>
              <a:rPr lang="en-US"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to reconfigure. Retooling </a:t>
            </a:r>
            <a:r>
              <a:rPr lang="en-US" sz="1400" b="0" i="0" u="none" strike="noStrike" cap="none">
                <a:solidFill>
                  <a:srgbClr val="FF4204"/>
                </a:solidFill>
                <a:latin typeface="Inter Medium"/>
                <a:ea typeface="Inter Medium"/>
                <a:cs typeface="Inter Medium"/>
                <a:sym typeface="Inter Medium"/>
              </a:rPr>
              <a:t>can take months, </a:t>
            </a:r>
            <a:r>
              <a:rPr lang="en-US"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leaving plants unable to adapt  shifts in demand.</a:t>
            </a:r>
            <a:endParaRPr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AB0A1FCB-AFC5-5CD0-EC9A-8360E3A17BDB}"/>
              </a:ext>
            </a:extLst>
          </p:cNvPr>
          <p:cNvSpPr/>
          <p:nvPr/>
        </p:nvSpPr>
        <p:spPr>
          <a:xfrm>
            <a:off x="639519" y="3033952"/>
            <a:ext cx="395048" cy="395048"/>
          </a:xfrm>
          <a:custGeom>
            <a:avLst/>
            <a:gdLst>
              <a:gd name="csX0" fmla="*/ 126263 w 252525"/>
              <a:gd name="csY0" fmla="*/ 0 h 252525"/>
              <a:gd name="csX1" fmla="*/ 0 w 252525"/>
              <a:gd name="csY1" fmla="*/ 126263 h 252525"/>
              <a:gd name="csX2" fmla="*/ 126263 w 252525"/>
              <a:gd name="csY2" fmla="*/ 252526 h 252525"/>
              <a:gd name="csX3" fmla="*/ 252526 w 252525"/>
              <a:gd name="csY3" fmla="*/ 126263 h 252525"/>
              <a:gd name="csX4" fmla="*/ 126263 w 252525"/>
              <a:gd name="csY4" fmla="*/ 0 h 252525"/>
              <a:gd name="csX5" fmla="*/ 126263 w 252525"/>
              <a:gd name="csY5" fmla="*/ 233101 h 252525"/>
              <a:gd name="csX6" fmla="*/ 19425 w 252525"/>
              <a:gd name="csY6" fmla="*/ 126263 h 252525"/>
              <a:gd name="csX7" fmla="*/ 126263 w 252525"/>
              <a:gd name="csY7" fmla="*/ 19425 h 252525"/>
              <a:gd name="csX8" fmla="*/ 233101 w 252525"/>
              <a:gd name="csY8" fmla="*/ 126263 h 252525"/>
              <a:gd name="csX9" fmla="*/ 126263 w 252525"/>
              <a:gd name="csY9" fmla="*/ 233101 h 252525"/>
              <a:gd name="csX10" fmla="*/ 116550 w 252525"/>
              <a:gd name="csY10" fmla="*/ 135975 h 252525"/>
              <a:gd name="csX11" fmla="*/ 116550 w 252525"/>
              <a:gd name="csY11" fmla="*/ 67988 h 252525"/>
              <a:gd name="csX12" fmla="*/ 126263 w 252525"/>
              <a:gd name="csY12" fmla="*/ 58275 h 252525"/>
              <a:gd name="csX13" fmla="*/ 135975 w 252525"/>
              <a:gd name="csY13" fmla="*/ 67988 h 252525"/>
              <a:gd name="csX14" fmla="*/ 135975 w 252525"/>
              <a:gd name="csY14" fmla="*/ 135975 h 252525"/>
              <a:gd name="csX15" fmla="*/ 126263 w 252525"/>
              <a:gd name="csY15" fmla="*/ 145688 h 252525"/>
              <a:gd name="csX16" fmla="*/ 116550 w 252525"/>
              <a:gd name="csY16" fmla="*/ 135975 h 252525"/>
              <a:gd name="csX17" fmla="*/ 140832 w 252525"/>
              <a:gd name="csY17" fmla="*/ 179682 h 252525"/>
              <a:gd name="csX18" fmla="*/ 126263 w 252525"/>
              <a:gd name="csY18" fmla="*/ 194251 h 252525"/>
              <a:gd name="csX19" fmla="*/ 111694 w 252525"/>
              <a:gd name="csY19" fmla="*/ 179682 h 252525"/>
              <a:gd name="csX20" fmla="*/ 126263 w 252525"/>
              <a:gd name="csY20" fmla="*/ 165113 h 252525"/>
              <a:gd name="csX21" fmla="*/ 140832 w 252525"/>
              <a:gd name="csY21" fmla="*/ 179682 h 2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2525" h="252525">
                <a:moveTo>
                  <a:pt x="126263" y="0"/>
                </a:moveTo>
                <a:cubicBezTo>
                  <a:pt x="56530" y="0"/>
                  <a:pt x="0" y="56530"/>
                  <a:pt x="0" y="126263"/>
                </a:cubicBezTo>
                <a:cubicBezTo>
                  <a:pt x="0" y="195996"/>
                  <a:pt x="56530" y="252526"/>
                  <a:pt x="126263" y="252526"/>
                </a:cubicBezTo>
                <a:cubicBezTo>
                  <a:pt x="195996" y="252526"/>
                  <a:pt x="252526" y="195996"/>
                  <a:pt x="252526" y="126263"/>
                </a:cubicBezTo>
                <a:cubicBezTo>
                  <a:pt x="252452" y="56560"/>
                  <a:pt x="195965" y="74"/>
                  <a:pt x="126263" y="0"/>
                </a:cubicBezTo>
                <a:close/>
                <a:moveTo>
                  <a:pt x="126263" y="233101"/>
                </a:moveTo>
                <a:cubicBezTo>
                  <a:pt x="67258" y="233101"/>
                  <a:pt x="19425" y="185268"/>
                  <a:pt x="19425" y="126263"/>
                </a:cubicBezTo>
                <a:cubicBezTo>
                  <a:pt x="19425" y="67258"/>
                  <a:pt x="67258" y="19425"/>
                  <a:pt x="126263" y="19425"/>
                </a:cubicBezTo>
                <a:cubicBezTo>
                  <a:pt x="185268" y="19425"/>
                  <a:pt x="233101" y="67258"/>
                  <a:pt x="233101" y="126263"/>
                </a:cubicBezTo>
                <a:cubicBezTo>
                  <a:pt x="233034" y="185240"/>
                  <a:pt x="185240" y="233034"/>
                  <a:pt x="126263" y="233101"/>
                </a:cubicBezTo>
                <a:close/>
                <a:moveTo>
                  <a:pt x="116550" y="135975"/>
                </a:moveTo>
                <a:lnTo>
                  <a:pt x="116550" y="67988"/>
                </a:lnTo>
                <a:cubicBezTo>
                  <a:pt x="116550" y="62624"/>
                  <a:pt x="120899" y="58275"/>
                  <a:pt x="126263" y="58275"/>
                </a:cubicBezTo>
                <a:cubicBezTo>
                  <a:pt x="131627" y="58275"/>
                  <a:pt x="135975" y="62624"/>
                  <a:pt x="135975" y="67988"/>
                </a:cubicBezTo>
                <a:lnTo>
                  <a:pt x="135975" y="135975"/>
                </a:lnTo>
                <a:cubicBezTo>
                  <a:pt x="135975" y="141340"/>
                  <a:pt x="131627" y="145688"/>
                  <a:pt x="126263" y="145688"/>
                </a:cubicBezTo>
                <a:cubicBezTo>
                  <a:pt x="120899" y="145688"/>
                  <a:pt x="116550" y="141340"/>
                  <a:pt x="116550" y="135975"/>
                </a:cubicBezTo>
                <a:close/>
                <a:moveTo>
                  <a:pt x="140832" y="179682"/>
                </a:moveTo>
                <a:cubicBezTo>
                  <a:pt x="140832" y="187728"/>
                  <a:pt x="134309" y="194251"/>
                  <a:pt x="126263" y="194251"/>
                </a:cubicBezTo>
                <a:cubicBezTo>
                  <a:pt x="118217" y="194251"/>
                  <a:pt x="111694" y="187728"/>
                  <a:pt x="111694" y="179682"/>
                </a:cubicBezTo>
                <a:cubicBezTo>
                  <a:pt x="111694" y="171636"/>
                  <a:pt x="118217" y="165113"/>
                  <a:pt x="126263" y="165113"/>
                </a:cubicBezTo>
                <a:cubicBezTo>
                  <a:pt x="134309" y="165113"/>
                  <a:pt x="140832" y="171636"/>
                  <a:pt x="140832" y="179682"/>
                </a:cubicBezTo>
                <a:close/>
              </a:path>
            </a:pathLst>
          </a:custGeom>
          <a:solidFill>
            <a:schemeClr val="accent1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Graphic 2">
            <a:extLst>
              <a:ext uri="{FF2B5EF4-FFF2-40B4-BE49-F238E27FC236}">
                <a16:creationId xmlns:a16="http://schemas.microsoft.com/office/drawing/2014/main" id="{9DC61073-FC6C-768F-5F24-617DBCBCE1F5}"/>
              </a:ext>
            </a:extLst>
          </p:cNvPr>
          <p:cNvSpPr/>
          <p:nvPr/>
        </p:nvSpPr>
        <p:spPr>
          <a:xfrm>
            <a:off x="4651350" y="3033952"/>
            <a:ext cx="395048" cy="395048"/>
          </a:xfrm>
          <a:custGeom>
            <a:avLst/>
            <a:gdLst>
              <a:gd name="csX0" fmla="*/ 126263 w 252525"/>
              <a:gd name="csY0" fmla="*/ 0 h 252525"/>
              <a:gd name="csX1" fmla="*/ 0 w 252525"/>
              <a:gd name="csY1" fmla="*/ 126263 h 252525"/>
              <a:gd name="csX2" fmla="*/ 126263 w 252525"/>
              <a:gd name="csY2" fmla="*/ 252526 h 252525"/>
              <a:gd name="csX3" fmla="*/ 252526 w 252525"/>
              <a:gd name="csY3" fmla="*/ 126263 h 252525"/>
              <a:gd name="csX4" fmla="*/ 126263 w 252525"/>
              <a:gd name="csY4" fmla="*/ 0 h 252525"/>
              <a:gd name="csX5" fmla="*/ 126263 w 252525"/>
              <a:gd name="csY5" fmla="*/ 233101 h 252525"/>
              <a:gd name="csX6" fmla="*/ 19425 w 252525"/>
              <a:gd name="csY6" fmla="*/ 126263 h 252525"/>
              <a:gd name="csX7" fmla="*/ 126263 w 252525"/>
              <a:gd name="csY7" fmla="*/ 19425 h 252525"/>
              <a:gd name="csX8" fmla="*/ 233101 w 252525"/>
              <a:gd name="csY8" fmla="*/ 126263 h 252525"/>
              <a:gd name="csX9" fmla="*/ 126263 w 252525"/>
              <a:gd name="csY9" fmla="*/ 233101 h 252525"/>
              <a:gd name="csX10" fmla="*/ 116550 w 252525"/>
              <a:gd name="csY10" fmla="*/ 135975 h 252525"/>
              <a:gd name="csX11" fmla="*/ 116550 w 252525"/>
              <a:gd name="csY11" fmla="*/ 67988 h 252525"/>
              <a:gd name="csX12" fmla="*/ 126263 w 252525"/>
              <a:gd name="csY12" fmla="*/ 58275 h 252525"/>
              <a:gd name="csX13" fmla="*/ 135975 w 252525"/>
              <a:gd name="csY13" fmla="*/ 67988 h 252525"/>
              <a:gd name="csX14" fmla="*/ 135975 w 252525"/>
              <a:gd name="csY14" fmla="*/ 135975 h 252525"/>
              <a:gd name="csX15" fmla="*/ 126263 w 252525"/>
              <a:gd name="csY15" fmla="*/ 145688 h 252525"/>
              <a:gd name="csX16" fmla="*/ 116550 w 252525"/>
              <a:gd name="csY16" fmla="*/ 135975 h 252525"/>
              <a:gd name="csX17" fmla="*/ 140832 w 252525"/>
              <a:gd name="csY17" fmla="*/ 179682 h 252525"/>
              <a:gd name="csX18" fmla="*/ 126263 w 252525"/>
              <a:gd name="csY18" fmla="*/ 194251 h 252525"/>
              <a:gd name="csX19" fmla="*/ 111694 w 252525"/>
              <a:gd name="csY19" fmla="*/ 179682 h 252525"/>
              <a:gd name="csX20" fmla="*/ 126263 w 252525"/>
              <a:gd name="csY20" fmla="*/ 165113 h 252525"/>
              <a:gd name="csX21" fmla="*/ 140832 w 252525"/>
              <a:gd name="csY21" fmla="*/ 179682 h 2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2525" h="252525">
                <a:moveTo>
                  <a:pt x="126263" y="0"/>
                </a:moveTo>
                <a:cubicBezTo>
                  <a:pt x="56530" y="0"/>
                  <a:pt x="0" y="56530"/>
                  <a:pt x="0" y="126263"/>
                </a:cubicBezTo>
                <a:cubicBezTo>
                  <a:pt x="0" y="195996"/>
                  <a:pt x="56530" y="252526"/>
                  <a:pt x="126263" y="252526"/>
                </a:cubicBezTo>
                <a:cubicBezTo>
                  <a:pt x="195996" y="252526"/>
                  <a:pt x="252526" y="195996"/>
                  <a:pt x="252526" y="126263"/>
                </a:cubicBezTo>
                <a:cubicBezTo>
                  <a:pt x="252452" y="56560"/>
                  <a:pt x="195965" y="74"/>
                  <a:pt x="126263" y="0"/>
                </a:cubicBezTo>
                <a:close/>
                <a:moveTo>
                  <a:pt x="126263" y="233101"/>
                </a:moveTo>
                <a:cubicBezTo>
                  <a:pt x="67258" y="233101"/>
                  <a:pt x="19425" y="185268"/>
                  <a:pt x="19425" y="126263"/>
                </a:cubicBezTo>
                <a:cubicBezTo>
                  <a:pt x="19425" y="67258"/>
                  <a:pt x="67258" y="19425"/>
                  <a:pt x="126263" y="19425"/>
                </a:cubicBezTo>
                <a:cubicBezTo>
                  <a:pt x="185268" y="19425"/>
                  <a:pt x="233101" y="67258"/>
                  <a:pt x="233101" y="126263"/>
                </a:cubicBezTo>
                <a:cubicBezTo>
                  <a:pt x="233034" y="185240"/>
                  <a:pt x="185240" y="233034"/>
                  <a:pt x="126263" y="233101"/>
                </a:cubicBezTo>
                <a:close/>
                <a:moveTo>
                  <a:pt x="116550" y="135975"/>
                </a:moveTo>
                <a:lnTo>
                  <a:pt x="116550" y="67988"/>
                </a:lnTo>
                <a:cubicBezTo>
                  <a:pt x="116550" y="62624"/>
                  <a:pt x="120899" y="58275"/>
                  <a:pt x="126263" y="58275"/>
                </a:cubicBezTo>
                <a:cubicBezTo>
                  <a:pt x="131627" y="58275"/>
                  <a:pt x="135975" y="62624"/>
                  <a:pt x="135975" y="67988"/>
                </a:cubicBezTo>
                <a:lnTo>
                  <a:pt x="135975" y="135975"/>
                </a:lnTo>
                <a:cubicBezTo>
                  <a:pt x="135975" y="141340"/>
                  <a:pt x="131627" y="145688"/>
                  <a:pt x="126263" y="145688"/>
                </a:cubicBezTo>
                <a:cubicBezTo>
                  <a:pt x="120899" y="145688"/>
                  <a:pt x="116550" y="141340"/>
                  <a:pt x="116550" y="135975"/>
                </a:cubicBezTo>
                <a:close/>
                <a:moveTo>
                  <a:pt x="140832" y="179682"/>
                </a:moveTo>
                <a:cubicBezTo>
                  <a:pt x="140832" y="187728"/>
                  <a:pt x="134309" y="194251"/>
                  <a:pt x="126263" y="194251"/>
                </a:cubicBezTo>
                <a:cubicBezTo>
                  <a:pt x="118217" y="194251"/>
                  <a:pt x="111694" y="187728"/>
                  <a:pt x="111694" y="179682"/>
                </a:cubicBezTo>
                <a:cubicBezTo>
                  <a:pt x="111694" y="171636"/>
                  <a:pt x="118217" y="165113"/>
                  <a:pt x="126263" y="165113"/>
                </a:cubicBezTo>
                <a:cubicBezTo>
                  <a:pt x="134309" y="165113"/>
                  <a:pt x="140832" y="171636"/>
                  <a:pt x="140832" y="179682"/>
                </a:cubicBezTo>
                <a:close/>
              </a:path>
            </a:pathLst>
          </a:custGeom>
          <a:solidFill>
            <a:schemeClr val="accent1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Graphic 2">
            <a:extLst>
              <a:ext uri="{FF2B5EF4-FFF2-40B4-BE49-F238E27FC236}">
                <a16:creationId xmlns:a16="http://schemas.microsoft.com/office/drawing/2014/main" id="{9DA9A942-6E36-757B-DC8A-569E1A8935DA}"/>
              </a:ext>
            </a:extLst>
          </p:cNvPr>
          <p:cNvSpPr/>
          <p:nvPr/>
        </p:nvSpPr>
        <p:spPr>
          <a:xfrm>
            <a:off x="8494302" y="3033952"/>
            <a:ext cx="395048" cy="395048"/>
          </a:xfrm>
          <a:custGeom>
            <a:avLst/>
            <a:gdLst>
              <a:gd name="csX0" fmla="*/ 126263 w 252525"/>
              <a:gd name="csY0" fmla="*/ 0 h 252525"/>
              <a:gd name="csX1" fmla="*/ 0 w 252525"/>
              <a:gd name="csY1" fmla="*/ 126263 h 252525"/>
              <a:gd name="csX2" fmla="*/ 126263 w 252525"/>
              <a:gd name="csY2" fmla="*/ 252526 h 252525"/>
              <a:gd name="csX3" fmla="*/ 252526 w 252525"/>
              <a:gd name="csY3" fmla="*/ 126263 h 252525"/>
              <a:gd name="csX4" fmla="*/ 126263 w 252525"/>
              <a:gd name="csY4" fmla="*/ 0 h 252525"/>
              <a:gd name="csX5" fmla="*/ 126263 w 252525"/>
              <a:gd name="csY5" fmla="*/ 233101 h 252525"/>
              <a:gd name="csX6" fmla="*/ 19425 w 252525"/>
              <a:gd name="csY6" fmla="*/ 126263 h 252525"/>
              <a:gd name="csX7" fmla="*/ 126263 w 252525"/>
              <a:gd name="csY7" fmla="*/ 19425 h 252525"/>
              <a:gd name="csX8" fmla="*/ 233101 w 252525"/>
              <a:gd name="csY8" fmla="*/ 126263 h 252525"/>
              <a:gd name="csX9" fmla="*/ 126263 w 252525"/>
              <a:gd name="csY9" fmla="*/ 233101 h 252525"/>
              <a:gd name="csX10" fmla="*/ 116550 w 252525"/>
              <a:gd name="csY10" fmla="*/ 135975 h 252525"/>
              <a:gd name="csX11" fmla="*/ 116550 w 252525"/>
              <a:gd name="csY11" fmla="*/ 67988 h 252525"/>
              <a:gd name="csX12" fmla="*/ 126263 w 252525"/>
              <a:gd name="csY12" fmla="*/ 58275 h 252525"/>
              <a:gd name="csX13" fmla="*/ 135975 w 252525"/>
              <a:gd name="csY13" fmla="*/ 67988 h 252525"/>
              <a:gd name="csX14" fmla="*/ 135975 w 252525"/>
              <a:gd name="csY14" fmla="*/ 135975 h 252525"/>
              <a:gd name="csX15" fmla="*/ 126263 w 252525"/>
              <a:gd name="csY15" fmla="*/ 145688 h 252525"/>
              <a:gd name="csX16" fmla="*/ 116550 w 252525"/>
              <a:gd name="csY16" fmla="*/ 135975 h 252525"/>
              <a:gd name="csX17" fmla="*/ 140832 w 252525"/>
              <a:gd name="csY17" fmla="*/ 179682 h 252525"/>
              <a:gd name="csX18" fmla="*/ 126263 w 252525"/>
              <a:gd name="csY18" fmla="*/ 194251 h 252525"/>
              <a:gd name="csX19" fmla="*/ 111694 w 252525"/>
              <a:gd name="csY19" fmla="*/ 179682 h 252525"/>
              <a:gd name="csX20" fmla="*/ 126263 w 252525"/>
              <a:gd name="csY20" fmla="*/ 165113 h 252525"/>
              <a:gd name="csX21" fmla="*/ 140832 w 252525"/>
              <a:gd name="csY21" fmla="*/ 179682 h 2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2525" h="252525">
                <a:moveTo>
                  <a:pt x="126263" y="0"/>
                </a:moveTo>
                <a:cubicBezTo>
                  <a:pt x="56530" y="0"/>
                  <a:pt x="0" y="56530"/>
                  <a:pt x="0" y="126263"/>
                </a:cubicBezTo>
                <a:cubicBezTo>
                  <a:pt x="0" y="195996"/>
                  <a:pt x="56530" y="252526"/>
                  <a:pt x="126263" y="252526"/>
                </a:cubicBezTo>
                <a:cubicBezTo>
                  <a:pt x="195996" y="252526"/>
                  <a:pt x="252526" y="195996"/>
                  <a:pt x="252526" y="126263"/>
                </a:cubicBezTo>
                <a:cubicBezTo>
                  <a:pt x="252452" y="56560"/>
                  <a:pt x="195965" y="74"/>
                  <a:pt x="126263" y="0"/>
                </a:cubicBezTo>
                <a:close/>
                <a:moveTo>
                  <a:pt x="126263" y="233101"/>
                </a:moveTo>
                <a:cubicBezTo>
                  <a:pt x="67258" y="233101"/>
                  <a:pt x="19425" y="185268"/>
                  <a:pt x="19425" y="126263"/>
                </a:cubicBezTo>
                <a:cubicBezTo>
                  <a:pt x="19425" y="67258"/>
                  <a:pt x="67258" y="19425"/>
                  <a:pt x="126263" y="19425"/>
                </a:cubicBezTo>
                <a:cubicBezTo>
                  <a:pt x="185268" y="19425"/>
                  <a:pt x="233101" y="67258"/>
                  <a:pt x="233101" y="126263"/>
                </a:cubicBezTo>
                <a:cubicBezTo>
                  <a:pt x="233034" y="185240"/>
                  <a:pt x="185240" y="233034"/>
                  <a:pt x="126263" y="233101"/>
                </a:cubicBezTo>
                <a:close/>
                <a:moveTo>
                  <a:pt x="116550" y="135975"/>
                </a:moveTo>
                <a:lnTo>
                  <a:pt x="116550" y="67988"/>
                </a:lnTo>
                <a:cubicBezTo>
                  <a:pt x="116550" y="62624"/>
                  <a:pt x="120899" y="58275"/>
                  <a:pt x="126263" y="58275"/>
                </a:cubicBezTo>
                <a:cubicBezTo>
                  <a:pt x="131627" y="58275"/>
                  <a:pt x="135975" y="62624"/>
                  <a:pt x="135975" y="67988"/>
                </a:cubicBezTo>
                <a:lnTo>
                  <a:pt x="135975" y="135975"/>
                </a:lnTo>
                <a:cubicBezTo>
                  <a:pt x="135975" y="141340"/>
                  <a:pt x="131627" y="145688"/>
                  <a:pt x="126263" y="145688"/>
                </a:cubicBezTo>
                <a:cubicBezTo>
                  <a:pt x="120899" y="145688"/>
                  <a:pt x="116550" y="141340"/>
                  <a:pt x="116550" y="135975"/>
                </a:cubicBezTo>
                <a:close/>
                <a:moveTo>
                  <a:pt x="140832" y="179682"/>
                </a:moveTo>
                <a:cubicBezTo>
                  <a:pt x="140832" y="187728"/>
                  <a:pt x="134309" y="194251"/>
                  <a:pt x="126263" y="194251"/>
                </a:cubicBezTo>
                <a:cubicBezTo>
                  <a:pt x="118217" y="194251"/>
                  <a:pt x="111694" y="187728"/>
                  <a:pt x="111694" y="179682"/>
                </a:cubicBezTo>
                <a:cubicBezTo>
                  <a:pt x="111694" y="171636"/>
                  <a:pt x="118217" y="165113"/>
                  <a:pt x="126263" y="165113"/>
                </a:cubicBezTo>
                <a:cubicBezTo>
                  <a:pt x="134309" y="165113"/>
                  <a:pt x="140832" y="171636"/>
                  <a:pt x="140832" y="179682"/>
                </a:cubicBezTo>
                <a:close/>
              </a:path>
            </a:pathLst>
          </a:custGeom>
          <a:solidFill>
            <a:schemeClr val="tx1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119" name="Google Shape;119;p7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602450" y="961805"/>
            <a:ext cx="6495774" cy="740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 Light"/>
              <a:buNone/>
            </a:pPr>
            <a:r>
              <a:rPr lang="en-US" dirty="0">
                <a:solidFill>
                  <a:schemeClr val="lt1"/>
                </a:solidFill>
              </a:rPr>
              <a:t>Manufacturing can’t keep up</a:t>
            </a:r>
            <a:endParaRPr dirty="0"/>
          </a:p>
        </p:txBody>
      </p:sp>
      <p:sp>
        <p:nvSpPr>
          <p:cNvPr id="121" name="Google Shape;121;p7"/>
          <p:cNvSpPr txBox="1"/>
          <p:nvPr/>
        </p:nvSpPr>
        <p:spPr>
          <a:xfrm>
            <a:off x="639521" y="529320"/>
            <a:ext cx="1609415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204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rgbClr val="FF4204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sz="1400" b="1" i="0" u="none" strike="noStrike" cap="none">
              <a:solidFill>
                <a:srgbClr val="FF420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639519" y="3793772"/>
            <a:ext cx="3586491" cy="214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Medium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Labor gap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By 2030, </a:t>
            </a:r>
            <a:r>
              <a:rPr lang="en-US" sz="1500" b="1" i="0" u="none" strike="noStrike" cap="none">
                <a:solidFill>
                  <a:srgbClr val="FF420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over 2 million roles will go unfilled. </a:t>
            </a:r>
            <a:r>
              <a:rPr lang="en-US" sz="15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Skilled technicians are aging out, and few replacements are entering the field. Production demand continues to rise.</a:t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4651350" y="3793772"/>
            <a:ext cx="3314642" cy="243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Medium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Rising costs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Labor, energy, and supply chain volatility have driven </a:t>
            </a:r>
            <a:r>
              <a:rPr lang="en-US" sz="1500" b="1" i="0" u="none" strike="noStrike" cap="none">
                <a:solidFill>
                  <a:srgbClr val="FF420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costs up 18% year over year. </a:t>
            </a:r>
            <a:r>
              <a:rPr lang="en-US" sz="15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Manufacturers can’t stay competitive without automation.</a:t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8494302" y="3793772"/>
            <a:ext cx="3314642" cy="214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 Medium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Rigid systems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Legacy robots are </a:t>
            </a:r>
            <a:r>
              <a:rPr lang="en-US" sz="1500" b="1" i="0" u="none" strike="noStrike" cap="none">
                <a:solidFill>
                  <a:srgbClr val="FF420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expensive and slow </a:t>
            </a:r>
            <a:r>
              <a:rPr lang="en-US" sz="15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 reconfigure. Retooling </a:t>
            </a:r>
            <a:r>
              <a:rPr lang="en-US" sz="1500" b="1" i="0" u="none" strike="noStrike" cap="none">
                <a:solidFill>
                  <a:srgbClr val="FF420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can take months, </a:t>
            </a:r>
            <a:r>
              <a:rPr lang="en-US" sz="15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leaving plants unable to adapt to new products or shifts in demand.</a:t>
            </a:r>
            <a:endParaRPr/>
          </a:p>
        </p:txBody>
      </p:sp>
      <p:cxnSp>
        <p:nvCxnSpPr>
          <p:cNvPr id="128" name="Google Shape;128;p7"/>
          <p:cNvCxnSpPr/>
          <p:nvPr/>
        </p:nvCxnSpPr>
        <p:spPr>
          <a:xfrm>
            <a:off x="-210458" y="2255989"/>
            <a:ext cx="12612915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" name="Graphic 2">
            <a:extLst>
              <a:ext uri="{FF2B5EF4-FFF2-40B4-BE49-F238E27FC236}">
                <a16:creationId xmlns:a16="http://schemas.microsoft.com/office/drawing/2014/main" id="{8B543946-B9FB-B33E-2921-6E833196C2DE}"/>
              </a:ext>
            </a:extLst>
          </p:cNvPr>
          <p:cNvSpPr/>
          <p:nvPr/>
        </p:nvSpPr>
        <p:spPr>
          <a:xfrm>
            <a:off x="639519" y="3033952"/>
            <a:ext cx="395048" cy="395048"/>
          </a:xfrm>
          <a:custGeom>
            <a:avLst/>
            <a:gdLst>
              <a:gd name="csX0" fmla="*/ 126263 w 252525"/>
              <a:gd name="csY0" fmla="*/ 0 h 252525"/>
              <a:gd name="csX1" fmla="*/ 0 w 252525"/>
              <a:gd name="csY1" fmla="*/ 126263 h 252525"/>
              <a:gd name="csX2" fmla="*/ 126263 w 252525"/>
              <a:gd name="csY2" fmla="*/ 252526 h 252525"/>
              <a:gd name="csX3" fmla="*/ 252526 w 252525"/>
              <a:gd name="csY3" fmla="*/ 126263 h 252525"/>
              <a:gd name="csX4" fmla="*/ 126263 w 252525"/>
              <a:gd name="csY4" fmla="*/ 0 h 252525"/>
              <a:gd name="csX5" fmla="*/ 126263 w 252525"/>
              <a:gd name="csY5" fmla="*/ 233101 h 252525"/>
              <a:gd name="csX6" fmla="*/ 19425 w 252525"/>
              <a:gd name="csY6" fmla="*/ 126263 h 252525"/>
              <a:gd name="csX7" fmla="*/ 126263 w 252525"/>
              <a:gd name="csY7" fmla="*/ 19425 h 252525"/>
              <a:gd name="csX8" fmla="*/ 233101 w 252525"/>
              <a:gd name="csY8" fmla="*/ 126263 h 252525"/>
              <a:gd name="csX9" fmla="*/ 126263 w 252525"/>
              <a:gd name="csY9" fmla="*/ 233101 h 252525"/>
              <a:gd name="csX10" fmla="*/ 116550 w 252525"/>
              <a:gd name="csY10" fmla="*/ 135975 h 252525"/>
              <a:gd name="csX11" fmla="*/ 116550 w 252525"/>
              <a:gd name="csY11" fmla="*/ 67988 h 252525"/>
              <a:gd name="csX12" fmla="*/ 126263 w 252525"/>
              <a:gd name="csY12" fmla="*/ 58275 h 252525"/>
              <a:gd name="csX13" fmla="*/ 135975 w 252525"/>
              <a:gd name="csY13" fmla="*/ 67988 h 252525"/>
              <a:gd name="csX14" fmla="*/ 135975 w 252525"/>
              <a:gd name="csY14" fmla="*/ 135975 h 252525"/>
              <a:gd name="csX15" fmla="*/ 126263 w 252525"/>
              <a:gd name="csY15" fmla="*/ 145688 h 252525"/>
              <a:gd name="csX16" fmla="*/ 116550 w 252525"/>
              <a:gd name="csY16" fmla="*/ 135975 h 252525"/>
              <a:gd name="csX17" fmla="*/ 140832 w 252525"/>
              <a:gd name="csY17" fmla="*/ 179682 h 252525"/>
              <a:gd name="csX18" fmla="*/ 126263 w 252525"/>
              <a:gd name="csY18" fmla="*/ 194251 h 252525"/>
              <a:gd name="csX19" fmla="*/ 111694 w 252525"/>
              <a:gd name="csY19" fmla="*/ 179682 h 252525"/>
              <a:gd name="csX20" fmla="*/ 126263 w 252525"/>
              <a:gd name="csY20" fmla="*/ 165113 h 252525"/>
              <a:gd name="csX21" fmla="*/ 140832 w 252525"/>
              <a:gd name="csY21" fmla="*/ 179682 h 2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2525" h="252525">
                <a:moveTo>
                  <a:pt x="126263" y="0"/>
                </a:moveTo>
                <a:cubicBezTo>
                  <a:pt x="56530" y="0"/>
                  <a:pt x="0" y="56530"/>
                  <a:pt x="0" y="126263"/>
                </a:cubicBezTo>
                <a:cubicBezTo>
                  <a:pt x="0" y="195996"/>
                  <a:pt x="56530" y="252526"/>
                  <a:pt x="126263" y="252526"/>
                </a:cubicBezTo>
                <a:cubicBezTo>
                  <a:pt x="195996" y="252526"/>
                  <a:pt x="252526" y="195996"/>
                  <a:pt x="252526" y="126263"/>
                </a:cubicBezTo>
                <a:cubicBezTo>
                  <a:pt x="252452" y="56560"/>
                  <a:pt x="195965" y="74"/>
                  <a:pt x="126263" y="0"/>
                </a:cubicBezTo>
                <a:close/>
                <a:moveTo>
                  <a:pt x="126263" y="233101"/>
                </a:moveTo>
                <a:cubicBezTo>
                  <a:pt x="67258" y="233101"/>
                  <a:pt x="19425" y="185268"/>
                  <a:pt x="19425" y="126263"/>
                </a:cubicBezTo>
                <a:cubicBezTo>
                  <a:pt x="19425" y="67258"/>
                  <a:pt x="67258" y="19425"/>
                  <a:pt x="126263" y="19425"/>
                </a:cubicBezTo>
                <a:cubicBezTo>
                  <a:pt x="185268" y="19425"/>
                  <a:pt x="233101" y="67258"/>
                  <a:pt x="233101" y="126263"/>
                </a:cubicBezTo>
                <a:cubicBezTo>
                  <a:pt x="233034" y="185240"/>
                  <a:pt x="185240" y="233034"/>
                  <a:pt x="126263" y="233101"/>
                </a:cubicBezTo>
                <a:close/>
                <a:moveTo>
                  <a:pt x="116550" y="135975"/>
                </a:moveTo>
                <a:lnTo>
                  <a:pt x="116550" y="67988"/>
                </a:lnTo>
                <a:cubicBezTo>
                  <a:pt x="116550" y="62624"/>
                  <a:pt x="120899" y="58275"/>
                  <a:pt x="126263" y="58275"/>
                </a:cubicBezTo>
                <a:cubicBezTo>
                  <a:pt x="131627" y="58275"/>
                  <a:pt x="135975" y="62624"/>
                  <a:pt x="135975" y="67988"/>
                </a:cubicBezTo>
                <a:lnTo>
                  <a:pt x="135975" y="135975"/>
                </a:lnTo>
                <a:cubicBezTo>
                  <a:pt x="135975" y="141340"/>
                  <a:pt x="131627" y="145688"/>
                  <a:pt x="126263" y="145688"/>
                </a:cubicBezTo>
                <a:cubicBezTo>
                  <a:pt x="120899" y="145688"/>
                  <a:pt x="116550" y="141340"/>
                  <a:pt x="116550" y="135975"/>
                </a:cubicBezTo>
                <a:close/>
                <a:moveTo>
                  <a:pt x="140832" y="179682"/>
                </a:moveTo>
                <a:cubicBezTo>
                  <a:pt x="140832" y="187728"/>
                  <a:pt x="134309" y="194251"/>
                  <a:pt x="126263" y="194251"/>
                </a:cubicBezTo>
                <a:cubicBezTo>
                  <a:pt x="118217" y="194251"/>
                  <a:pt x="111694" y="187728"/>
                  <a:pt x="111694" y="179682"/>
                </a:cubicBezTo>
                <a:cubicBezTo>
                  <a:pt x="111694" y="171636"/>
                  <a:pt x="118217" y="165113"/>
                  <a:pt x="126263" y="165113"/>
                </a:cubicBezTo>
                <a:cubicBezTo>
                  <a:pt x="134309" y="165113"/>
                  <a:pt x="140832" y="171636"/>
                  <a:pt x="140832" y="179682"/>
                </a:cubicBezTo>
                <a:close/>
              </a:path>
            </a:pathLst>
          </a:custGeom>
          <a:solidFill>
            <a:schemeClr val="accent1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F5A1ED5F-9EA8-A767-6F5E-0F6D39743B28}"/>
              </a:ext>
            </a:extLst>
          </p:cNvPr>
          <p:cNvSpPr/>
          <p:nvPr/>
        </p:nvSpPr>
        <p:spPr>
          <a:xfrm>
            <a:off x="4651350" y="3033952"/>
            <a:ext cx="395048" cy="395048"/>
          </a:xfrm>
          <a:custGeom>
            <a:avLst/>
            <a:gdLst>
              <a:gd name="csX0" fmla="*/ 126263 w 252525"/>
              <a:gd name="csY0" fmla="*/ 0 h 252525"/>
              <a:gd name="csX1" fmla="*/ 0 w 252525"/>
              <a:gd name="csY1" fmla="*/ 126263 h 252525"/>
              <a:gd name="csX2" fmla="*/ 126263 w 252525"/>
              <a:gd name="csY2" fmla="*/ 252526 h 252525"/>
              <a:gd name="csX3" fmla="*/ 252526 w 252525"/>
              <a:gd name="csY3" fmla="*/ 126263 h 252525"/>
              <a:gd name="csX4" fmla="*/ 126263 w 252525"/>
              <a:gd name="csY4" fmla="*/ 0 h 252525"/>
              <a:gd name="csX5" fmla="*/ 126263 w 252525"/>
              <a:gd name="csY5" fmla="*/ 233101 h 252525"/>
              <a:gd name="csX6" fmla="*/ 19425 w 252525"/>
              <a:gd name="csY6" fmla="*/ 126263 h 252525"/>
              <a:gd name="csX7" fmla="*/ 126263 w 252525"/>
              <a:gd name="csY7" fmla="*/ 19425 h 252525"/>
              <a:gd name="csX8" fmla="*/ 233101 w 252525"/>
              <a:gd name="csY8" fmla="*/ 126263 h 252525"/>
              <a:gd name="csX9" fmla="*/ 126263 w 252525"/>
              <a:gd name="csY9" fmla="*/ 233101 h 252525"/>
              <a:gd name="csX10" fmla="*/ 116550 w 252525"/>
              <a:gd name="csY10" fmla="*/ 135975 h 252525"/>
              <a:gd name="csX11" fmla="*/ 116550 w 252525"/>
              <a:gd name="csY11" fmla="*/ 67988 h 252525"/>
              <a:gd name="csX12" fmla="*/ 126263 w 252525"/>
              <a:gd name="csY12" fmla="*/ 58275 h 252525"/>
              <a:gd name="csX13" fmla="*/ 135975 w 252525"/>
              <a:gd name="csY13" fmla="*/ 67988 h 252525"/>
              <a:gd name="csX14" fmla="*/ 135975 w 252525"/>
              <a:gd name="csY14" fmla="*/ 135975 h 252525"/>
              <a:gd name="csX15" fmla="*/ 126263 w 252525"/>
              <a:gd name="csY15" fmla="*/ 145688 h 252525"/>
              <a:gd name="csX16" fmla="*/ 116550 w 252525"/>
              <a:gd name="csY16" fmla="*/ 135975 h 252525"/>
              <a:gd name="csX17" fmla="*/ 140832 w 252525"/>
              <a:gd name="csY17" fmla="*/ 179682 h 252525"/>
              <a:gd name="csX18" fmla="*/ 126263 w 252525"/>
              <a:gd name="csY18" fmla="*/ 194251 h 252525"/>
              <a:gd name="csX19" fmla="*/ 111694 w 252525"/>
              <a:gd name="csY19" fmla="*/ 179682 h 252525"/>
              <a:gd name="csX20" fmla="*/ 126263 w 252525"/>
              <a:gd name="csY20" fmla="*/ 165113 h 252525"/>
              <a:gd name="csX21" fmla="*/ 140832 w 252525"/>
              <a:gd name="csY21" fmla="*/ 179682 h 2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2525" h="252525">
                <a:moveTo>
                  <a:pt x="126263" y="0"/>
                </a:moveTo>
                <a:cubicBezTo>
                  <a:pt x="56530" y="0"/>
                  <a:pt x="0" y="56530"/>
                  <a:pt x="0" y="126263"/>
                </a:cubicBezTo>
                <a:cubicBezTo>
                  <a:pt x="0" y="195996"/>
                  <a:pt x="56530" y="252526"/>
                  <a:pt x="126263" y="252526"/>
                </a:cubicBezTo>
                <a:cubicBezTo>
                  <a:pt x="195996" y="252526"/>
                  <a:pt x="252526" y="195996"/>
                  <a:pt x="252526" y="126263"/>
                </a:cubicBezTo>
                <a:cubicBezTo>
                  <a:pt x="252452" y="56560"/>
                  <a:pt x="195965" y="74"/>
                  <a:pt x="126263" y="0"/>
                </a:cubicBezTo>
                <a:close/>
                <a:moveTo>
                  <a:pt x="126263" y="233101"/>
                </a:moveTo>
                <a:cubicBezTo>
                  <a:pt x="67258" y="233101"/>
                  <a:pt x="19425" y="185268"/>
                  <a:pt x="19425" y="126263"/>
                </a:cubicBezTo>
                <a:cubicBezTo>
                  <a:pt x="19425" y="67258"/>
                  <a:pt x="67258" y="19425"/>
                  <a:pt x="126263" y="19425"/>
                </a:cubicBezTo>
                <a:cubicBezTo>
                  <a:pt x="185268" y="19425"/>
                  <a:pt x="233101" y="67258"/>
                  <a:pt x="233101" y="126263"/>
                </a:cubicBezTo>
                <a:cubicBezTo>
                  <a:pt x="233034" y="185240"/>
                  <a:pt x="185240" y="233034"/>
                  <a:pt x="126263" y="233101"/>
                </a:cubicBezTo>
                <a:close/>
                <a:moveTo>
                  <a:pt x="116550" y="135975"/>
                </a:moveTo>
                <a:lnTo>
                  <a:pt x="116550" y="67988"/>
                </a:lnTo>
                <a:cubicBezTo>
                  <a:pt x="116550" y="62624"/>
                  <a:pt x="120899" y="58275"/>
                  <a:pt x="126263" y="58275"/>
                </a:cubicBezTo>
                <a:cubicBezTo>
                  <a:pt x="131627" y="58275"/>
                  <a:pt x="135975" y="62624"/>
                  <a:pt x="135975" y="67988"/>
                </a:cubicBezTo>
                <a:lnTo>
                  <a:pt x="135975" y="135975"/>
                </a:lnTo>
                <a:cubicBezTo>
                  <a:pt x="135975" y="141340"/>
                  <a:pt x="131627" y="145688"/>
                  <a:pt x="126263" y="145688"/>
                </a:cubicBezTo>
                <a:cubicBezTo>
                  <a:pt x="120899" y="145688"/>
                  <a:pt x="116550" y="141340"/>
                  <a:pt x="116550" y="135975"/>
                </a:cubicBezTo>
                <a:close/>
                <a:moveTo>
                  <a:pt x="140832" y="179682"/>
                </a:moveTo>
                <a:cubicBezTo>
                  <a:pt x="140832" y="187728"/>
                  <a:pt x="134309" y="194251"/>
                  <a:pt x="126263" y="194251"/>
                </a:cubicBezTo>
                <a:cubicBezTo>
                  <a:pt x="118217" y="194251"/>
                  <a:pt x="111694" y="187728"/>
                  <a:pt x="111694" y="179682"/>
                </a:cubicBezTo>
                <a:cubicBezTo>
                  <a:pt x="111694" y="171636"/>
                  <a:pt x="118217" y="165113"/>
                  <a:pt x="126263" y="165113"/>
                </a:cubicBezTo>
                <a:cubicBezTo>
                  <a:pt x="134309" y="165113"/>
                  <a:pt x="140832" y="171636"/>
                  <a:pt x="140832" y="179682"/>
                </a:cubicBezTo>
                <a:close/>
              </a:path>
            </a:pathLst>
          </a:custGeom>
          <a:solidFill>
            <a:schemeClr val="accent1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F81ADC02-4B49-B3CD-09E4-55EB39DC17C5}"/>
              </a:ext>
            </a:extLst>
          </p:cNvPr>
          <p:cNvSpPr/>
          <p:nvPr/>
        </p:nvSpPr>
        <p:spPr>
          <a:xfrm>
            <a:off x="8494302" y="3033952"/>
            <a:ext cx="395048" cy="395048"/>
          </a:xfrm>
          <a:custGeom>
            <a:avLst/>
            <a:gdLst>
              <a:gd name="csX0" fmla="*/ 126263 w 252525"/>
              <a:gd name="csY0" fmla="*/ 0 h 252525"/>
              <a:gd name="csX1" fmla="*/ 0 w 252525"/>
              <a:gd name="csY1" fmla="*/ 126263 h 252525"/>
              <a:gd name="csX2" fmla="*/ 126263 w 252525"/>
              <a:gd name="csY2" fmla="*/ 252526 h 252525"/>
              <a:gd name="csX3" fmla="*/ 252526 w 252525"/>
              <a:gd name="csY3" fmla="*/ 126263 h 252525"/>
              <a:gd name="csX4" fmla="*/ 126263 w 252525"/>
              <a:gd name="csY4" fmla="*/ 0 h 252525"/>
              <a:gd name="csX5" fmla="*/ 126263 w 252525"/>
              <a:gd name="csY5" fmla="*/ 233101 h 252525"/>
              <a:gd name="csX6" fmla="*/ 19425 w 252525"/>
              <a:gd name="csY6" fmla="*/ 126263 h 252525"/>
              <a:gd name="csX7" fmla="*/ 126263 w 252525"/>
              <a:gd name="csY7" fmla="*/ 19425 h 252525"/>
              <a:gd name="csX8" fmla="*/ 233101 w 252525"/>
              <a:gd name="csY8" fmla="*/ 126263 h 252525"/>
              <a:gd name="csX9" fmla="*/ 126263 w 252525"/>
              <a:gd name="csY9" fmla="*/ 233101 h 252525"/>
              <a:gd name="csX10" fmla="*/ 116550 w 252525"/>
              <a:gd name="csY10" fmla="*/ 135975 h 252525"/>
              <a:gd name="csX11" fmla="*/ 116550 w 252525"/>
              <a:gd name="csY11" fmla="*/ 67988 h 252525"/>
              <a:gd name="csX12" fmla="*/ 126263 w 252525"/>
              <a:gd name="csY12" fmla="*/ 58275 h 252525"/>
              <a:gd name="csX13" fmla="*/ 135975 w 252525"/>
              <a:gd name="csY13" fmla="*/ 67988 h 252525"/>
              <a:gd name="csX14" fmla="*/ 135975 w 252525"/>
              <a:gd name="csY14" fmla="*/ 135975 h 252525"/>
              <a:gd name="csX15" fmla="*/ 126263 w 252525"/>
              <a:gd name="csY15" fmla="*/ 145688 h 252525"/>
              <a:gd name="csX16" fmla="*/ 116550 w 252525"/>
              <a:gd name="csY16" fmla="*/ 135975 h 252525"/>
              <a:gd name="csX17" fmla="*/ 140832 w 252525"/>
              <a:gd name="csY17" fmla="*/ 179682 h 252525"/>
              <a:gd name="csX18" fmla="*/ 126263 w 252525"/>
              <a:gd name="csY18" fmla="*/ 194251 h 252525"/>
              <a:gd name="csX19" fmla="*/ 111694 w 252525"/>
              <a:gd name="csY19" fmla="*/ 179682 h 252525"/>
              <a:gd name="csX20" fmla="*/ 126263 w 252525"/>
              <a:gd name="csY20" fmla="*/ 165113 h 252525"/>
              <a:gd name="csX21" fmla="*/ 140832 w 252525"/>
              <a:gd name="csY21" fmla="*/ 179682 h 2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52525" h="252525">
                <a:moveTo>
                  <a:pt x="126263" y="0"/>
                </a:moveTo>
                <a:cubicBezTo>
                  <a:pt x="56530" y="0"/>
                  <a:pt x="0" y="56530"/>
                  <a:pt x="0" y="126263"/>
                </a:cubicBezTo>
                <a:cubicBezTo>
                  <a:pt x="0" y="195996"/>
                  <a:pt x="56530" y="252526"/>
                  <a:pt x="126263" y="252526"/>
                </a:cubicBezTo>
                <a:cubicBezTo>
                  <a:pt x="195996" y="252526"/>
                  <a:pt x="252526" y="195996"/>
                  <a:pt x="252526" y="126263"/>
                </a:cubicBezTo>
                <a:cubicBezTo>
                  <a:pt x="252452" y="56560"/>
                  <a:pt x="195965" y="74"/>
                  <a:pt x="126263" y="0"/>
                </a:cubicBezTo>
                <a:close/>
                <a:moveTo>
                  <a:pt x="126263" y="233101"/>
                </a:moveTo>
                <a:cubicBezTo>
                  <a:pt x="67258" y="233101"/>
                  <a:pt x="19425" y="185268"/>
                  <a:pt x="19425" y="126263"/>
                </a:cubicBezTo>
                <a:cubicBezTo>
                  <a:pt x="19425" y="67258"/>
                  <a:pt x="67258" y="19425"/>
                  <a:pt x="126263" y="19425"/>
                </a:cubicBezTo>
                <a:cubicBezTo>
                  <a:pt x="185268" y="19425"/>
                  <a:pt x="233101" y="67258"/>
                  <a:pt x="233101" y="126263"/>
                </a:cubicBezTo>
                <a:cubicBezTo>
                  <a:pt x="233034" y="185240"/>
                  <a:pt x="185240" y="233034"/>
                  <a:pt x="126263" y="233101"/>
                </a:cubicBezTo>
                <a:close/>
                <a:moveTo>
                  <a:pt x="116550" y="135975"/>
                </a:moveTo>
                <a:lnTo>
                  <a:pt x="116550" y="67988"/>
                </a:lnTo>
                <a:cubicBezTo>
                  <a:pt x="116550" y="62624"/>
                  <a:pt x="120899" y="58275"/>
                  <a:pt x="126263" y="58275"/>
                </a:cubicBezTo>
                <a:cubicBezTo>
                  <a:pt x="131627" y="58275"/>
                  <a:pt x="135975" y="62624"/>
                  <a:pt x="135975" y="67988"/>
                </a:cubicBezTo>
                <a:lnTo>
                  <a:pt x="135975" y="135975"/>
                </a:lnTo>
                <a:cubicBezTo>
                  <a:pt x="135975" y="141340"/>
                  <a:pt x="131627" y="145688"/>
                  <a:pt x="126263" y="145688"/>
                </a:cubicBezTo>
                <a:cubicBezTo>
                  <a:pt x="120899" y="145688"/>
                  <a:pt x="116550" y="141340"/>
                  <a:pt x="116550" y="135975"/>
                </a:cubicBezTo>
                <a:close/>
                <a:moveTo>
                  <a:pt x="140832" y="179682"/>
                </a:moveTo>
                <a:cubicBezTo>
                  <a:pt x="140832" y="187728"/>
                  <a:pt x="134309" y="194251"/>
                  <a:pt x="126263" y="194251"/>
                </a:cubicBezTo>
                <a:cubicBezTo>
                  <a:pt x="118217" y="194251"/>
                  <a:pt x="111694" y="187728"/>
                  <a:pt x="111694" y="179682"/>
                </a:cubicBezTo>
                <a:cubicBezTo>
                  <a:pt x="111694" y="171636"/>
                  <a:pt x="118217" y="165113"/>
                  <a:pt x="126263" y="165113"/>
                </a:cubicBezTo>
                <a:cubicBezTo>
                  <a:pt x="134309" y="165113"/>
                  <a:pt x="140832" y="171636"/>
                  <a:pt x="140832" y="179682"/>
                </a:cubicBezTo>
                <a:close/>
              </a:path>
            </a:pathLst>
          </a:custGeom>
          <a:solidFill>
            <a:schemeClr val="accent1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5" name="Google Shape;135;p8"/>
          <p:cNvSpPr txBox="1">
            <a:spLocks noGrp="1"/>
          </p:cNvSpPr>
          <p:nvPr>
            <p:ph type="title"/>
          </p:nvPr>
        </p:nvSpPr>
        <p:spPr>
          <a:xfrm>
            <a:off x="602450" y="961805"/>
            <a:ext cx="5493550" cy="1212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Inter Light"/>
              <a:buNone/>
            </a:pPr>
            <a:r>
              <a:rPr lang="en-US" sz="4500" dirty="0"/>
              <a:t>Adaptive, intelligent robotics that learn, adapt, and improve</a:t>
            </a:r>
            <a:endParaRPr dirty="0"/>
          </a:p>
        </p:txBody>
      </p:sp>
      <p:sp>
        <p:nvSpPr>
          <p:cNvPr id="136" name="Google Shape;136;p8"/>
          <p:cNvSpPr txBox="1"/>
          <p:nvPr/>
        </p:nvSpPr>
        <p:spPr>
          <a:xfrm>
            <a:off x="639521" y="529320"/>
            <a:ext cx="1721625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204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rgbClr val="FF4204"/>
                </a:solidFill>
                <a:latin typeface="Inter"/>
                <a:ea typeface="Inter"/>
                <a:cs typeface="Inter"/>
                <a:sym typeface="Inter"/>
              </a:rPr>
              <a:t>OUR SOLUTION</a:t>
            </a:r>
            <a:endParaRPr sz="1400" b="1" i="0" u="none" strike="noStrike" cap="none">
              <a:solidFill>
                <a:srgbClr val="FF420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204886" y="0"/>
            <a:ext cx="3987113" cy="6858000"/>
          </a:xfrm>
          <a:prstGeom prst="rect">
            <a:avLst/>
          </a:prstGeom>
          <a:gradFill>
            <a:gsLst>
              <a:gs pos="0">
                <a:srgbClr val="FFC8A0"/>
              </a:gs>
              <a:gs pos="76000">
                <a:srgbClr val="FF4204"/>
              </a:gs>
              <a:gs pos="86000">
                <a:srgbClr val="FF4C02"/>
              </a:gs>
              <a:gs pos="100000">
                <a:srgbClr val="FF822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35000" tIns="635000" rIns="635000" bIns="6350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Light"/>
              <a:buNone/>
            </a:pPr>
            <a:endParaRPr sz="2500" b="0" i="0" u="none" strike="noStrike" cap="none">
              <a:solidFill>
                <a:srgbClr val="0F2D4D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1240340" y="3737065"/>
            <a:ext cx="549355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Modular design fits any production line</a:t>
            </a:r>
            <a:endParaRPr dirty="0"/>
          </a:p>
        </p:txBody>
      </p:sp>
      <p:sp>
        <p:nvSpPr>
          <p:cNvPr id="139" name="Google Shape;139;p8"/>
          <p:cNvSpPr/>
          <p:nvPr/>
        </p:nvSpPr>
        <p:spPr>
          <a:xfrm>
            <a:off x="6733889" y="529320"/>
            <a:ext cx="4818589" cy="2822643"/>
          </a:xfrm>
          <a:prstGeom prst="roundRect">
            <a:avLst>
              <a:gd name="adj" fmla="val 7087"/>
            </a:avLst>
          </a:prstGeom>
          <a:solidFill>
            <a:srgbClr val="FFFFFF"/>
          </a:solidFill>
          <a:ln w="19050" cap="flat" cmpd="sng">
            <a:solidFill>
              <a:srgbClr val="DCDEE0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127000" dist="42780" dir="5400000" rotWithShape="0">
              <a:srgbClr val="53585F">
                <a:alpha val="24313"/>
              </a:srgbClr>
            </a:outerShdw>
          </a:effectLst>
        </p:spPr>
        <p:txBody>
          <a:bodyPr spcFirstLastPara="1" wrap="square" lIns="635000" tIns="635000" rIns="635000" bIns="6350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Light"/>
              <a:buNone/>
            </a:pPr>
            <a:endParaRPr sz="2500" b="0" i="0" u="none" strike="noStrike" cap="none">
              <a:solidFill>
                <a:srgbClr val="0F2D4D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8880774" y="3804574"/>
            <a:ext cx="2289729" cy="104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 SemiBold"/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129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ACTIVE FACTORIES</a:t>
            </a:r>
            <a:endParaRPr sz="1400" b="0" i="0" u="none" strike="noStrike" cap="none" dirty="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8880775" y="5073563"/>
            <a:ext cx="2289728" cy="104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 SemiBold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2TB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OF VISUAL DATA</a:t>
            </a:r>
            <a:endParaRPr sz="1400" b="0" i="0" u="none" strike="noStrike" cap="none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238808" y="987160"/>
            <a:ext cx="3808749" cy="198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204"/>
              </a:buClr>
              <a:buSzPts val="3600"/>
              <a:buFont typeface="Inter SemiBold"/>
              <a:buNone/>
            </a:pPr>
            <a:r>
              <a:rPr lang="en-US" sz="4500" b="0" i="0" u="none" strike="noStrike" cap="none" dirty="0">
                <a:solidFill>
                  <a:srgbClr val="FF420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“</a:t>
            </a:r>
            <a:endParaRPr sz="45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Automation doesn’t replace people—it amplifies them.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Medium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Dr. Ren Ito, CEO, Luma Robotics</a:t>
            </a:r>
            <a:endParaRPr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D8A5CE5-E323-27ED-C9C9-ECD1AB433B3C}"/>
              </a:ext>
            </a:extLst>
          </p:cNvPr>
          <p:cNvSpPr/>
          <p:nvPr/>
        </p:nvSpPr>
        <p:spPr>
          <a:xfrm>
            <a:off x="693327" y="3754965"/>
            <a:ext cx="395048" cy="395048"/>
          </a:xfrm>
          <a:custGeom>
            <a:avLst/>
            <a:gdLst>
              <a:gd name="csX0" fmla="*/ 267283 w 371475"/>
              <a:gd name="csY0" fmla="*/ 132767 h 371475"/>
              <a:gd name="csX1" fmla="*/ 267295 w 371475"/>
              <a:gd name="csY1" fmla="*/ 152972 h 371475"/>
              <a:gd name="csX2" fmla="*/ 267283 w 371475"/>
              <a:gd name="csY2" fmla="*/ 152983 h 371475"/>
              <a:gd name="csX3" fmla="*/ 167271 w 371475"/>
              <a:gd name="csY3" fmla="*/ 252996 h 371475"/>
              <a:gd name="csX4" fmla="*/ 147065 w 371475"/>
              <a:gd name="csY4" fmla="*/ 253007 h 371475"/>
              <a:gd name="csX5" fmla="*/ 147054 w 371475"/>
              <a:gd name="csY5" fmla="*/ 252996 h 371475"/>
              <a:gd name="csX6" fmla="*/ 104192 w 371475"/>
              <a:gd name="csY6" fmla="*/ 210133 h 371475"/>
              <a:gd name="csX7" fmla="*/ 104192 w 371475"/>
              <a:gd name="csY7" fmla="*/ 189917 h 371475"/>
              <a:gd name="csX8" fmla="*/ 124408 w 371475"/>
              <a:gd name="csY8" fmla="*/ 189917 h 371475"/>
              <a:gd name="csX9" fmla="*/ 157163 w 371475"/>
              <a:gd name="csY9" fmla="*/ 222689 h 371475"/>
              <a:gd name="csX10" fmla="*/ 247067 w 371475"/>
              <a:gd name="csY10" fmla="*/ 132767 h 371475"/>
              <a:gd name="csX11" fmla="*/ 267272 w 371475"/>
              <a:gd name="csY11" fmla="*/ 132755 h 371475"/>
              <a:gd name="csX12" fmla="*/ 267283 w 371475"/>
              <a:gd name="csY12" fmla="*/ 132767 h 371475"/>
              <a:gd name="csX13" fmla="*/ 371475 w 371475"/>
              <a:gd name="csY13" fmla="*/ 185738 h 371475"/>
              <a:gd name="csX14" fmla="*/ 185738 w 371475"/>
              <a:gd name="csY14" fmla="*/ 371475 h 371475"/>
              <a:gd name="csX15" fmla="*/ 0 w 371475"/>
              <a:gd name="csY15" fmla="*/ 185738 h 371475"/>
              <a:gd name="csX16" fmla="*/ 185738 w 371475"/>
              <a:gd name="csY16" fmla="*/ 0 h 371475"/>
              <a:gd name="csX17" fmla="*/ 371475 w 371475"/>
              <a:gd name="csY17" fmla="*/ 185738 h 371475"/>
              <a:gd name="csX18" fmla="*/ 342900 w 371475"/>
              <a:gd name="csY18" fmla="*/ 185738 h 371475"/>
              <a:gd name="csX19" fmla="*/ 185738 w 371475"/>
              <a:gd name="csY19" fmla="*/ 28575 h 371475"/>
              <a:gd name="csX20" fmla="*/ 28575 w 371475"/>
              <a:gd name="csY20" fmla="*/ 185738 h 371475"/>
              <a:gd name="csX21" fmla="*/ 185738 w 371475"/>
              <a:gd name="csY21" fmla="*/ 342900 h 371475"/>
              <a:gd name="csX22" fmla="*/ 342900 w 371475"/>
              <a:gd name="csY22" fmla="*/ 185738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71475" h="371475">
                <a:moveTo>
                  <a:pt x="267283" y="132767"/>
                </a:moveTo>
                <a:cubicBezTo>
                  <a:pt x="272866" y="138343"/>
                  <a:pt x="272871" y="147389"/>
                  <a:pt x="267295" y="152972"/>
                </a:cubicBezTo>
                <a:cubicBezTo>
                  <a:pt x="267291" y="152976"/>
                  <a:pt x="267287" y="152980"/>
                  <a:pt x="267283" y="152983"/>
                </a:cubicBezTo>
                <a:lnTo>
                  <a:pt x="167271" y="252996"/>
                </a:lnTo>
                <a:cubicBezTo>
                  <a:pt x="161694" y="258579"/>
                  <a:pt x="152648" y="258584"/>
                  <a:pt x="147065" y="253007"/>
                </a:cubicBezTo>
                <a:cubicBezTo>
                  <a:pt x="147062" y="253003"/>
                  <a:pt x="147058" y="253000"/>
                  <a:pt x="147054" y="252996"/>
                </a:cubicBezTo>
                <a:lnTo>
                  <a:pt x="104192" y="210133"/>
                </a:lnTo>
                <a:cubicBezTo>
                  <a:pt x="98609" y="204551"/>
                  <a:pt x="98609" y="195499"/>
                  <a:pt x="104192" y="189917"/>
                </a:cubicBezTo>
                <a:cubicBezTo>
                  <a:pt x="109774" y="184334"/>
                  <a:pt x="118826" y="184334"/>
                  <a:pt x="124408" y="189917"/>
                </a:cubicBezTo>
                <a:lnTo>
                  <a:pt x="157163" y="222689"/>
                </a:lnTo>
                <a:lnTo>
                  <a:pt x="247067" y="132767"/>
                </a:lnTo>
                <a:cubicBezTo>
                  <a:pt x="252643" y="127184"/>
                  <a:pt x="261689" y="127179"/>
                  <a:pt x="267272" y="132755"/>
                </a:cubicBezTo>
                <a:cubicBezTo>
                  <a:pt x="267276" y="132759"/>
                  <a:pt x="267280" y="132763"/>
                  <a:pt x="267283" y="132767"/>
                </a:cubicBezTo>
                <a:close/>
                <a:moveTo>
                  <a:pt x="371475" y="185738"/>
                </a:moveTo>
                <a:cubicBezTo>
                  <a:pt x="371475" y="288317"/>
                  <a:pt x="288317" y="371475"/>
                  <a:pt x="185738" y="371475"/>
                </a:cubicBezTo>
                <a:cubicBezTo>
                  <a:pt x="83158" y="371475"/>
                  <a:pt x="0" y="288317"/>
                  <a:pt x="0" y="185738"/>
                </a:cubicBezTo>
                <a:cubicBezTo>
                  <a:pt x="0" y="83158"/>
                  <a:pt x="83158" y="0"/>
                  <a:pt x="185738" y="0"/>
                </a:cubicBezTo>
                <a:cubicBezTo>
                  <a:pt x="288273" y="108"/>
                  <a:pt x="371367" y="83202"/>
                  <a:pt x="371475" y="185738"/>
                </a:cubicBezTo>
                <a:close/>
                <a:moveTo>
                  <a:pt x="342900" y="185738"/>
                </a:moveTo>
                <a:cubicBezTo>
                  <a:pt x="342900" y="98939"/>
                  <a:pt x="272536" y="28575"/>
                  <a:pt x="185738" y="28575"/>
                </a:cubicBezTo>
                <a:cubicBezTo>
                  <a:pt x="98939" y="28575"/>
                  <a:pt x="28575" y="98939"/>
                  <a:pt x="28575" y="185738"/>
                </a:cubicBezTo>
                <a:cubicBezTo>
                  <a:pt x="28575" y="272536"/>
                  <a:pt x="98939" y="342900"/>
                  <a:pt x="185738" y="342900"/>
                </a:cubicBezTo>
                <a:cubicBezTo>
                  <a:pt x="272495" y="342802"/>
                  <a:pt x="342802" y="272495"/>
                  <a:pt x="342900" y="185738"/>
                </a:cubicBezTo>
                <a:close/>
              </a:path>
            </a:pathLst>
          </a:custGeom>
          <a:solidFill>
            <a:srgbClr val="000000"/>
          </a:solidFill>
          <a:ln w="178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EE660A5E-F9BA-D879-741D-6297FDE258A0}"/>
              </a:ext>
            </a:extLst>
          </p:cNvPr>
          <p:cNvSpPr/>
          <p:nvPr/>
        </p:nvSpPr>
        <p:spPr>
          <a:xfrm>
            <a:off x="693327" y="4638358"/>
            <a:ext cx="395048" cy="395048"/>
          </a:xfrm>
          <a:custGeom>
            <a:avLst/>
            <a:gdLst>
              <a:gd name="csX0" fmla="*/ 267283 w 371475"/>
              <a:gd name="csY0" fmla="*/ 132767 h 371475"/>
              <a:gd name="csX1" fmla="*/ 267295 w 371475"/>
              <a:gd name="csY1" fmla="*/ 152972 h 371475"/>
              <a:gd name="csX2" fmla="*/ 267283 w 371475"/>
              <a:gd name="csY2" fmla="*/ 152983 h 371475"/>
              <a:gd name="csX3" fmla="*/ 167271 w 371475"/>
              <a:gd name="csY3" fmla="*/ 252996 h 371475"/>
              <a:gd name="csX4" fmla="*/ 147065 w 371475"/>
              <a:gd name="csY4" fmla="*/ 253007 h 371475"/>
              <a:gd name="csX5" fmla="*/ 147054 w 371475"/>
              <a:gd name="csY5" fmla="*/ 252996 h 371475"/>
              <a:gd name="csX6" fmla="*/ 104192 w 371475"/>
              <a:gd name="csY6" fmla="*/ 210133 h 371475"/>
              <a:gd name="csX7" fmla="*/ 104192 w 371475"/>
              <a:gd name="csY7" fmla="*/ 189917 h 371475"/>
              <a:gd name="csX8" fmla="*/ 124408 w 371475"/>
              <a:gd name="csY8" fmla="*/ 189917 h 371475"/>
              <a:gd name="csX9" fmla="*/ 157163 w 371475"/>
              <a:gd name="csY9" fmla="*/ 222689 h 371475"/>
              <a:gd name="csX10" fmla="*/ 247067 w 371475"/>
              <a:gd name="csY10" fmla="*/ 132767 h 371475"/>
              <a:gd name="csX11" fmla="*/ 267272 w 371475"/>
              <a:gd name="csY11" fmla="*/ 132755 h 371475"/>
              <a:gd name="csX12" fmla="*/ 267283 w 371475"/>
              <a:gd name="csY12" fmla="*/ 132767 h 371475"/>
              <a:gd name="csX13" fmla="*/ 371475 w 371475"/>
              <a:gd name="csY13" fmla="*/ 185738 h 371475"/>
              <a:gd name="csX14" fmla="*/ 185738 w 371475"/>
              <a:gd name="csY14" fmla="*/ 371475 h 371475"/>
              <a:gd name="csX15" fmla="*/ 0 w 371475"/>
              <a:gd name="csY15" fmla="*/ 185738 h 371475"/>
              <a:gd name="csX16" fmla="*/ 185738 w 371475"/>
              <a:gd name="csY16" fmla="*/ 0 h 371475"/>
              <a:gd name="csX17" fmla="*/ 371475 w 371475"/>
              <a:gd name="csY17" fmla="*/ 185738 h 371475"/>
              <a:gd name="csX18" fmla="*/ 342900 w 371475"/>
              <a:gd name="csY18" fmla="*/ 185738 h 371475"/>
              <a:gd name="csX19" fmla="*/ 185738 w 371475"/>
              <a:gd name="csY19" fmla="*/ 28575 h 371475"/>
              <a:gd name="csX20" fmla="*/ 28575 w 371475"/>
              <a:gd name="csY20" fmla="*/ 185738 h 371475"/>
              <a:gd name="csX21" fmla="*/ 185738 w 371475"/>
              <a:gd name="csY21" fmla="*/ 342900 h 371475"/>
              <a:gd name="csX22" fmla="*/ 342900 w 371475"/>
              <a:gd name="csY22" fmla="*/ 185738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71475" h="371475">
                <a:moveTo>
                  <a:pt x="267283" y="132767"/>
                </a:moveTo>
                <a:cubicBezTo>
                  <a:pt x="272866" y="138343"/>
                  <a:pt x="272871" y="147389"/>
                  <a:pt x="267295" y="152972"/>
                </a:cubicBezTo>
                <a:cubicBezTo>
                  <a:pt x="267291" y="152976"/>
                  <a:pt x="267287" y="152980"/>
                  <a:pt x="267283" y="152983"/>
                </a:cubicBezTo>
                <a:lnTo>
                  <a:pt x="167271" y="252996"/>
                </a:lnTo>
                <a:cubicBezTo>
                  <a:pt x="161694" y="258579"/>
                  <a:pt x="152648" y="258584"/>
                  <a:pt x="147065" y="253007"/>
                </a:cubicBezTo>
                <a:cubicBezTo>
                  <a:pt x="147062" y="253003"/>
                  <a:pt x="147058" y="253000"/>
                  <a:pt x="147054" y="252996"/>
                </a:cubicBezTo>
                <a:lnTo>
                  <a:pt x="104192" y="210133"/>
                </a:lnTo>
                <a:cubicBezTo>
                  <a:pt x="98609" y="204551"/>
                  <a:pt x="98609" y="195499"/>
                  <a:pt x="104192" y="189917"/>
                </a:cubicBezTo>
                <a:cubicBezTo>
                  <a:pt x="109774" y="184334"/>
                  <a:pt x="118826" y="184334"/>
                  <a:pt x="124408" y="189917"/>
                </a:cubicBezTo>
                <a:lnTo>
                  <a:pt x="157163" y="222689"/>
                </a:lnTo>
                <a:lnTo>
                  <a:pt x="247067" y="132767"/>
                </a:lnTo>
                <a:cubicBezTo>
                  <a:pt x="252643" y="127184"/>
                  <a:pt x="261689" y="127179"/>
                  <a:pt x="267272" y="132755"/>
                </a:cubicBezTo>
                <a:cubicBezTo>
                  <a:pt x="267276" y="132759"/>
                  <a:pt x="267280" y="132763"/>
                  <a:pt x="267283" y="132767"/>
                </a:cubicBezTo>
                <a:close/>
                <a:moveTo>
                  <a:pt x="371475" y="185738"/>
                </a:moveTo>
                <a:cubicBezTo>
                  <a:pt x="371475" y="288317"/>
                  <a:pt x="288317" y="371475"/>
                  <a:pt x="185738" y="371475"/>
                </a:cubicBezTo>
                <a:cubicBezTo>
                  <a:pt x="83158" y="371475"/>
                  <a:pt x="0" y="288317"/>
                  <a:pt x="0" y="185738"/>
                </a:cubicBezTo>
                <a:cubicBezTo>
                  <a:pt x="0" y="83158"/>
                  <a:pt x="83158" y="0"/>
                  <a:pt x="185738" y="0"/>
                </a:cubicBezTo>
                <a:cubicBezTo>
                  <a:pt x="288273" y="108"/>
                  <a:pt x="371367" y="83202"/>
                  <a:pt x="371475" y="185738"/>
                </a:cubicBezTo>
                <a:close/>
                <a:moveTo>
                  <a:pt x="342900" y="185738"/>
                </a:moveTo>
                <a:cubicBezTo>
                  <a:pt x="342900" y="98939"/>
                  <a:pt x="272536" y="28575"/>
                  <a:pt x="185738" y="28575"/>
                </a:cubicBezTo>
                <a:cubicBezTo>
                  <a:pt x="98939" y="28575"/>
                  <a:pt x="28575" y="98939"/>
                  <a:pt x="28575" y="185738"/>
                </a:cubicBezTo>
                <a:cubicBezTo>
                  <a:pt x="28575" y="272536"/>
                  <a:pt x="98939" y="342900"/>
                  <a:pt x="185738" y="342900"/>
                </a:cubicBezTo>
                <a:cubicBezTo>
                  <a:pt x="272495" y="342802"/>
                  <a:pt x="342802" y="272495"/>
                  <a:pt x="342900" y="185738"/>
                </a:cubicBezTo>
                <a:close/>
              </a:path>
            </a:pathLst>
          </a:custGeom>
          <a:solidFill>
            <a:srgbClr val="000000"/>
          </a:solidFill>
          <a:ln w="178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DBF51C5C-A88A-9E34-FE85-6E94C9BB2492}"/>
              </a:ext>
            </a:extLst>
          </p:cNvPr>
          <p:cNvSpPr/>
          <p:nvPr/>
        </p:nvSpPr>
        <p:spPr>
          <a:xfrm>
            <a:off x="701782" y="5525441"/>
            <a:ext cx="395048" cy="395048"/>
          </a:xfrm>
          <a:custGeom>
            <a:avLst/>
            <a:gdLst>
              <a:gd name="csX0" fmla="*/ 267283 w 371475"/>
              <a:gd name="csY0" fmla="*/ 132767 h 371475"/>
              <a:gd name="csX1" fmla="*/ 267295 w 371475"/>
              <a:gd name="csY1" fmla="*/ 152972 h 371475"/>
              <a:gd name="csX2" fmla="*/ 267283 w 371475"/>
              <a:gd name="csY2" fmla="*/ 152983 h 371475"/>
              <a:gd name="csX3" fmla="*/ 167271 w 371475"/>
              <a:gd name="csY3" fmla="*/ 252996 h 371475"/>
              <a:gd name="csX4" fmla="*/ 147065 w 371475"/>
              <a:gd name="csY4" fmla="*/ 253007 h 371475"/>
              <a:gd name="csX5" fmla="*/ 147054 w 371475"/>
              <a:gd name="csY5" fmla="*/ 252996 h 371475"/>
              <a:gd name="csX6" fmla="*/ 104192 w 371475"/>
              <a:gd name="csY6" fmla="*/ 210133 h 371475"/>
              <a:gd name="csX7" fmla="*/ 104192 w 371475"/>
              <a:gd name="csY7" fmla="*/ 189917 h 371475"/>
              <a:gd name="csX8" fmla="*/ 124408 w 371475"/>
              <a:gd name="csY8" fmla="*/ 189917 h 371475"/>
              <a:gd name="csX9" fmla="*/ 157163 w 371475"/>
              <a:gd name="csY9" fmla="*/ 222689 h 371475"/>
              <a:gd name="csX10" fmla="*/ 247067 w 371475"/>
              <a:gd name="csY10" fmla="*/ 132767 h 371475"/>
              <a:gd name="csX11" fmla="*/ 267272 w 371475"/>
              <a:gd name="csY11" fmla="*/ 132755 h 371475"/>
              <a:gd name="csX12" fmla="*/ 267283 w 371475"/>
              <a:gd name="csY12" fmla="*/ 132767 h 371475"/>
              <a:gd name="csX13" fmla="*/ 371475 w 371475"/>
              <a:gd name="csY13" fmla="*/ 185738 h 371475"/>
              <a:gd name="csX14" fmla="*/ 185738 w 371475"/>
              <a:gd name="csY14" fmla="*/ 371475 h 371475"/>
              <a:gd name="csX15" fmla="*/ 0 w 371475"/>
              <a:gd name="csY15" fmla="*/ 185738 h 371475"/>
              <a:gd name="csX16" fmla="*/ 185738 w 371475"/>
              <a:gd name="csY16" fmla="*/ 0 h 371475"/>
              <a:gd name="csX17" fmla="*/ 371475 w 371475"/>
              <a:gd name="csY17" fmla="*/ 185738 h 371475"/>
              <a:gd name="csX18" fmla="*/ 342900 w 371475"/>
              <a:gd name="csY18" fmla="*/ 185738 h 371475"/>
              <a:gd name="csX19" fmla="*/ 185738 w 371475"/>
              <a:gd name="csY19" fmla="*/ 28575 h 371475"/>
              <a:gd name="csX20" fmla="*/ 28575 w 371475"/>
              <a:gd name="csY20" fmla="*/ 185738 h 371475"/>
              <a:gd name="csX21" fmla="*/ 185738 w 371475"/>
              <a:gd name="csY21" fmla="*/ 342900 h 371475"/>
              <a:gd name="csX22" fmla="*/ 342900 w 371475"/>
              <a:gd name="csY22" fmla="*/ 185738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71475" h="371475">
                <a:moveTo>
                  <a:pt x="267283" y="132767"/>
                </a:moveTo>
                <a:cubicBezTo>
                  <a:pt x="272866" y="138343"/>
                  <a:pt x="272871" y="147389"/>
                  <a:pt x="267295" y="152972"/>
                </a:cubicBezTo>
                <a:cubicBezTo>
                  <a:pt x="267291" y="152976"/>
                  <a:pt x="267287" y="152980"/>
                  <a:pt x="267283" y="152983"/>
                </a:cubicBezTo>
                <a:lnTo>
                  <a:pt x="167271" y="252996"/>
                </a:lnTo>
                <a:cubicBezTo>
                  <a:pt x="161694" y="258579"/>
                  <a:pt x="152648" y="258584"/>
                  <a:pt x="147065" y="253007"/>
                </a:cubicBezTo>
                <a:cubicBezTo>
                  <a:pt x="147062" y="253003"/>
                  <a:pt x="147058" y="253000"/>
                  <a:pt x="147054" y="252996"/>
                </a:cubicBezTo>
                <a:lnTo>
                  <a:pt x="104192" y="210133"/>
                </a:lnTo>
                <a:cubicBezTo>
                  <a:pt x="98609" y="204551"/>
                  <a:pt x="98609" y="195499"/>
                  <a:pt x="104192" y="189917"/>
                </a:cubicBezTo>
                <a:cubicBezTo>
                  <a:pt x="109774" y="184334"/>
                  <a:pt x="118826" y="184334"/>
                  <a:pt x="124408" y="189917"/>
                </a:cubicBezTo>
                <a:lnTo>
                  <a:pt x="157163" y="222689"/>
                </a:lnTo>
                <a:lnTo>
                  <a:pt x="247067" y="132767"/>
                </a:lnTo>
                <a:cubicBezTo>
                  <a:pt x="252643" y="127184"/>
                  <a:pt x="261689" y="127179"/>
                  <a:pt x="267272" y="132755"/>
                </a:cubicBezTo>
                <a:cubicBezTo>
                  <a:pt x="267276" y="132759"/>
                  <a:pt x="267280" y="132763"/>
                  <a:pt x="267283" y="132767"/>
                </a:cubicBezTo>
                <a:close/>
                <a:moveTo>
                  <a:pt x="371475" y="185738"/>
                </a:moveTo>
                <a:cubicBezTo>
                  <a:pt x="371475" y="288317"/>
                  <a:pt x="288317" y="371475"/>
                  <a:pt x="185738" y="371475"/>
                </a:cubicBezTo>
                <a:cubicBezTo>
                  <a:pt x="83158" y="371475"/>
                  <a:pt x="0" y="288317"/>
                  <a:pt x="0" y="185738"/>
                </a:cubicBezTo>
                <a:cubicBezTo>
                  <a:pt x="0" y="83158"/>
                  <a:pt x="83158" y="0"/>
                  <a:pt x="185738" y="0"/>
                </a:cubicBezTo>
                <a:cubicBezTo>
                  <a:pt x="288273" y="108"/>
                  <a:pt x="371367" y="83202"/>
                  <a:pt x="371475" y="185738"/>
                </a:cubicBezTo>
                <a:close/>
                <a:moveTo>
                  <a:pt x="342900" y="185738"/>
                </a:moveTo>
                <a:cubicBezTo>
                  <a:pt x="342900" y="98939"/>
                  <a:pt x="272536" y="28575"/>
                  <a:pt x="185738" y="28575"/>
                </a:cubicBezTo>
                <a:cubicBezTo>
                  <a:pt x="98939" y="28575"/>
                  <a:pt x="28575" y="98939"/>
                  <a:pt x="28575" y="185738"/>
                </a:cubicBezTo>
                <a:cubicBezTo>
                  <a:pt x="28575" y="272536"/>
                  <a:pt x="98939" y="342900"/>
                  <a:pt x="185738" y="342900"/>
                </a:cubicBezTo>
                <a:cubicBezTo>
                  <a:pt x="272495" y="342802"/>
                  <a:pt x="342802" y="272495"/>
                  <a:pt x="342900" y="185738"/>
                </a:cubicBezTo>
                <a:close/>
              </a:path>
            </a:pathLst>
          </a:custGeom>
          <a:solidFill>
            <a:srgbClr val="000000"/>
          </a:solidFill>
          <a:ln w="178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138;p8">
            <a:extLst>
              <a:ext uri="{FF2B5EF4-FFF2-40B4-BE49-F238E27FC236}">
                <a16:creationId xmlns:a16="http://schemas.microsoft.com/office/drawing/2014/main" id="{BCBD0464-0710-0112-6E85-484C692FA378}"/>
              </a:ext>
            </a:extLst>
          </p:cNvPr>
          <p:cNvSpPr txBox="1"/>
          <p:nvPr/>
        </p:nvSpPr>
        <p:spPr>
          <a:xfrm>
            <a:off x="1240340" y="4620458"/>
            <a:ext cx="549355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Vision models trained on real-world tasks</a:t>
            </a:r>
          </a:p>
        </p:txBody>
      </p:sp>
      <p:sp>
        <p:nvSpPr>
          <p:cNvPr id="7" name="Google Shape;138;p8">
            <a:extLst>
              <a:ext uri="{FF2B5EF4-FFF2-40B4-BE49-F238E27FC236}">
                <a16:creationId xmlns:a16="http://schemas.microsoft.com/office/drawing/2014/main" id="{58D978F1-EB09-0F94-9895-7E5C63D3E917}"/>
              </a:ext>
            </a:extLst>
          </p:cNvPr>
          <p:cNvSpPr txBox="1"/>
          <p:nvPr/>
        </p:nvSpPr>
        <p:spPr>
          <a:xfrm>
            <a:off x="1240340" y="5503916"/>
            <a:ext cx="549355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Continuous learning across entire fleet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32">
          <a:extLst>
            <a:ext uri="{FF2B5EF4-FFF2-40B4-BE49-F238E27FC236}">
              <a16:creationId xmlns:a16="http://schemas.microsoft.com/office/drawing/2014/main" id="{1E867E59-91C8-18E6-E500-085D07A9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1;p9">
            <a:extLst>
              <a:ext uri="{FF2B5EF4-FFF2-40B4-BE49-F238E27FC236}">
                <a16:creationId xmlns:a16="http://schemas.microsoft.com/office/drawing/2014/main" id="{A81205C5-7D7E-989F-E6EB-73775E69785A}"/>
              </a:ext>
            </a:extLst>
          </p:cNvPr>
          <p:cNvSpPr/>
          <p:nvPr/>
        </p:nvSpPr>
        <p:spPr>
          <a:xfrm>
            <a:off x="8204886" y="0"/>
            <a:ext cx="3987113" cy="68580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3" name="Google Shape;133;p8">
            <a:extLst>
              <a:ext uri="{FF2B5EF4-FFF2-40B4-BE49-F238E27FC236}">
                <a16:creationId xmlns:a16="http://schemas.microsoft.com/office/drawing/2014/main" id="{4C30839A-DDAB-6EA9-24EA-297E9D439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134" name="Google Shape;134;p8">
            <a:extLst>
              <a:ext uri="{FF2B5EF4-FFF2-40B4-BE49-F238E27FC236}">
                <a16:creationId xmlns:a16="http://schemas.microsoft.com/office/drawing/2014/main" id="{8833AA59-BF7A-3CBF-D09F-057E14789D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5" name="Google Shape;135;p8">
            <a:extLst>
              <a:ext uri="{FF2B5EF4-FFF2-40B4-BE49-F238E27FC236}">
                <a16:creationId xmlns:a16="http://schemas.microsoft.com/office/drawing/2014/main" id="{EECC103B-4752-703C-8640-AAB6A5D9F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2450" y="961805"/>
            <a:ext cx="5493550" cy="1212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Inter Light"/>
              <a:buNone/>
            </a:pPr>
            <a:r>
              <a:rPr lang="en-US" sz="4500" dirty="0"/>
              <a:t>Adaptive, intelligent robotics that learn, adapt, and improve</a:t>
            </a:r>
            <a:endParaRPr dirty="0"/>
          </a:p>
        </p:txBody>
      </p:sp>
      <p:sp>
        <p:nvSpPr>
          <p:cNvPr id="136" name="Google Shape;136;p8">
            <a:extLst>
              <a:ext uri="{FF2B5EF4-FFF2-40B4-BE49-F238E27FC236}">
                <a16:creationId xmlns:a16="http://schemas.microsoft.com/office/drawing/2014/main" id="{FDB2894D-7D5F-2473-FD9D-7E290768681D}"/>
              </a:ext>
            </a:extLst>
          </p:cNvPr>
          <p:cNvSpPr txBox="1"/>
          <p:nvPr/>
        </p:nvSpPr>
        <p:spPr>
          <a:xfrm>
            <a:off x="639521" y="529320"/>
            <a:ext cx="1721625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204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rgbClr val="FF4204"/>
                </a:solidFill>
                <a:latin typeface="Inter"/>
                <a:ea typeface="Inter"/>
                <a:cs typeface="Inter"/>
                <a:sym typeface="Inter"/>
              </a:rPr>
              <a:t>OUR SOLUTION</a:t>
            </a:r>
            <a:endParaRPr sz="1400" b="1" i="0" u="none" strike="noStrike" cap="none">
              <a:solidFill>
                <a:srgbClr val="FF420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8">
            <a:extLst>
              <a:ext uri="{FF2B5EF4-FFF2-40B4-BE49-F238E27FC236}">
                <a16:creationId xmlns:a16="http://schemas.microsoft.com/office/drawing/2014/main" id="{2311D93F-1364-CF7E-0E6C-A0636526D6C9}"/>
              </a:ext>
            </a:extLst>
          </p:cNvPr>
          <p:cNvSpPr txBox="1"/>
          <p:nvPr/>
        </p:nvSpPr>
        <p:spPr>
          <a:xfrm>
            <a:off x="1240340" y="3737065"/>
            <a:ext cx="549355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Modular design fits any production line</a:t>
            </a:r>
            <a:endParaRPr dirty="0"/>
          </a:p>
        </p:txBody>
      </p:sp>
      <p:sp>
        <p:nvSpPr>
          <p:cNvPr id="139" name="Google Shape;139;p8">
            <a:extLst>
              <a:ext uri="{FF2B5EF4-FFF2-40B4-BE49-F238E27FC236}">
                <a16:creationId xmlns:a16="http://schemas.microsoft.com/office/drawing/2014/main" id="{CBE9FBE0-B284-05F6-BC19-5EAB54C3F549}"/>
              </a:ext>
            </a:extLst>
          </p:cNvPr>
          <p:cNvSpPr/>
          <p:nvPr/>
        </p:nvSpPr>
        <p:spPr>
          <a:xfrm>
            <a:off x="6733889" y="529320"/>
            <a:ext cx="4818589" cy="2822643"/>
          </a:xfrm>
          <a:prstGeom prst="roundRect">
            <a:avLst>
              <a:gd name="adj" fmla="val 7087"/>
            </a:avLst>
          </a:prstGeom>
          <a:solidFill>
            <a:srgbClr val="FFFFFF"/>
          </a:solidFill>
          <a:ln w="19050" cap="flat" cmpd="sng">
            <a:solidFill>
              <a:srgbClr val="DCDEE0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127000" dist="42780" dir="5400000" rotWithShape="0">
              <a:srgbClr val="53585F">
                <a:alpha val="24313"/>
              </a:srgbClr>
            </a:outerShdw>
          </a:effectLst>
        </p:spPr>
        <p:txBody>
          <a:bodyPr spcFirstLastPara="1" wrap="square" lIns="635000" tIns="635000" rIns="635000" bIns="6350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Light"/>
              <a:buNone/>
            </a:pPr>
            <a:endParaRPr sz="2500" b="0" i="0" u="none" strike="noStrike" cap="none">
              <a:solidFill>
                <a:srgbClr val="0F2D4D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2" name="Google Shape;142;p8">
            <a:extLst>
              <a:ext uri="{FF2B5EF4-FFF2-40B4-BE49-F238E27FC236}">
                <a16:creationId xmlns:a16="http://schemas.microsoft.com/office/drawing/2014/main" id="{1BE4A30C-6BBF-BD94-A303-5A7C4A6C1C78}"/>
              </a:ext>
            </a:extLst>
          </p:cNvPr>
          <p:cNvSpPr txBox="1"/>
          <p:nvPr/>
        </p:nvSpPr>
        <p:spPr>
          <a:xfrm>
            <a:off x="7238808" y="987160"/>
            <a:ext cx="3808749" cy="198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204"/>
              </a:buClr>
              <a:buSzPts val="3600"/>
              <a:buFont typeface="Inter SemiBold"/>
              <a:buNone/>
            </a:pPr>
            <a:r>
              <a:rPr lang="en-US" sz="4500" b="0" i="0" u="none" strike="noStrike" cap="none" dirty="0">
                <a:solidFill>
                  <a:srgbClr val="FF420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“</a:t>
            </a:r>
            <a:endParaRPr sz="45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Automation doesn’t replace people—it amplifies them.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Medium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Dr. Ren Ito, CEO, Luma Robotics</a:t>
            </a:r>
            <a:endParaRPr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780A41B1-4A9B-DF81-01A6-8010DBA3801F}"/>
              </a:ext>
            </a:extLst>
          </p:cNvPr>
          <p:cNvSpPr/>
          <p:nvPr/>
        </p:nvSpPr>
        <p:spPr>
          <a:xfrm>
            <a:off x="693327" y="3754965"/>
            <a:ext cx="395048" cy="395048"/>
          </a:xfrm>
          <a:custGeom>
            <a:avLst/>
            <a:gdLst>
              <a:gd name="csX0" fmla="*/ 267283 w 371475"/>
              <a:gd name="csY0" fmla="*/ 132767 h 371475"/>
              <a:gd name="csX1" fmla="*/ 267295 w 371475"/>
              <a:gd name="csY1" fmla="*/ 152972 h 371475"/>
              <a:gd name="csX2" fmla="*/ 267283 w 371475"/>
              <a:gd name="csY2" fmla="*/ 152983 h 371475"/>
              <a:gd name="csX3" fmla="*/ 167271 w 371475"/>
              <a:gd name="csY3" fmla="*/ 252996 h 371475"/>
              <a:gd name="csX4" fmla="*/ 147065 w 371475"/>
              <a:gd name="csY4" fmla="*/ 253007 h 371475"/>
              <a:gd name="csX5" fmla="*/ 147054 w 371475"/>
              <a:gd name="csY5" fmla="*/ 252996 h 371475"/>
              <a:gd name="csX6" fmla="*/ 104192 w 371475"/>
              <a:gd name="csY6" fmla="*/ 210133 h 371475"/>
              <a:gd name="csX7" fmla="*/ 104192 w 371475"/>
              <a:gd name="csY7" fmla="*/ 189917 h 371475"/>
              <a:gd name="csX8" fmla="*/ 124408 w 371475"/>
              <a:gd name="csY8" fmla="*/ 189917 h 371475"/>
              <a:gd name="csX9" fmla="*/ 157163 w 371475"/>
              <a:gd name="csY9" fmla="*/ 222689 h 371475"/>
              <a:gd name="csX10" fmla="*/ 247067 w 371475"/>
              <a:gd name="csY10" fmla="*/ 132767 h 371475"/>
              <a:gd name="csX11" fmla="*/ 267272 w 371475"/>
              <a:gd name="csY11" fmla="*/ 132755 h 371475"/>
              <a:gd name="csX12" fmla="*/ 267283 w 371475"/>
              <a:gd name="csY12" fmla="*/ 132767 h 371475"/>
              <a:gd name="csX13" fmla="*/ 371475 w 371475"/>
              <a:gd name="csY13" fmla="*/ 185738 h 371475"/>
              <a:gd name="csX14" fmla="*/ 185738 w 371475"/>
              <a:gd name="csY14" fmla="*/ 371475 h 371475"/>
              <a:gd name="csX15" fmla="*/ 0 w 371475"/>
              <a:gd name="csY15" fmla="*/ 185738 h 371475"/>
              <a:gd name="csX16" fmla="*/ 185738 w 371475"/>
              <a:gd name="csY16" fmla="*/ 0 h 371475"/>
              <a:gd name="csX17" fmla="*/ 371475 w 371475"/>
              <a:gd name="csY17" fmla="*/ 185738 h 371475"/>
              <a:gd name="csX18" fmla="*/ 342900 w 371475"/>
              <a:gd name="csY18" fmla="*/ 185738 h 371475"/>
              <a:gd name="csX19" fmla="*/ 185738 w 371475"/>
              <a:gd name="csY19" fmla="*/ 28575 h 371475"/>
              <a:gd name="csX20" fmla="*/ 28575 w 371475"/>
              <a:gd name="csY20" fmla="*/ 185738 h 371475"/>
              <a:gd name="csX21" fmla="*/ 185738 w 371475"/>
              <a:gd name="csY21" fmla="*/ 342900 h 371475"/>
              <a:gd name="csX22" fmla="*/ 342900 w 371475"/>
              <a:gd name="csY22" fmla="*/ 185738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71475" h="371475">
                <a:moveTo>
                  <a:pt x="267283" y="132767"/>
                </a:moveTo>
                <a:cubicBezTo>
                  <a:pt x="272866" y="138343"/>
                  <a:pt x="272871" y="147389"/>
                  <a:pt x="267295" y="152972"/>
                </a:cubicBezTo>
                <a:cubicBezTo>
                  <a:pt x="267291" y="152976"/>
                  <a:pt x="267287" y="152980"/>
                  <a:pt x="267283" y="152983"/>
                </a:cubicBezTo>
                <a:lnTo>
                  <a:pt x="167271" y="252996"/>
                </a:lnTo>
                <a:cubicBezTo>
                  <a:pt x="161694" y="258579"/>
                  <a:pt x="152648" y="258584"/>
                  <a:pt x="147065" y="253007"/>
                </a:cubicBezTo>
                <a:cubicBezTo>
                  <a:pt x="147062" y="253003"/>
                  <a:pt x="147058" y="253000"/>
                  <a:pt x="147054" y="252996"/>
                </a:cubicBezTo>
                <a:lnTo>
                  <a:pt x="104192" y="210133"/>
                </a:lnTo>
                <a:cubicBezTo>
                  <a:pt x="98609" y="204551"/>
                  <a:pt x="98609" y="195499"/>
                  <a:pt x="104192" y="189917"/>
                </a:cubicBezTo>
                <a:cubicBezTo>
                  <a:pt x="109774" y="184334"/>
                  <a:pt x="118826" y="184334"/>
                  <a:pt x="124408" y="189917"/>
                </a:cubicBezTo>
                <a:lnTo>
                  <a:pt x="157163" y="222689"/>
                </a:lnTo>
                <a:lnTo>
                  <a:pt x="247067" y="132767"/>
                </a:lnTo>
                <a:cubicBezTo>
                  <a:pt x="252643" y="127184"/>
                  <a:pt x="261689" y="127179"/>
                  <a:pt x="267272" y="132755"/>
                </a:cubicBezTo>
                <a:cubicBezTo>
                  <a:pt x="267276" y="132759"/>
                  <a:pt x="267280" y="132763"/>
                  <a:pt x="267283" y="132767"/>
                </a:cubicBezTo>
                <a:close/>
                <a:moveTo>
                  <a:pt x="371475" y="185738"/>
                </a:moveTo>
                <a:cubicBezTo>
                  <a:pt x="371475" y="288317"/>
                  <a:pt x="288317" y="371475"/>
                  <a:pt x="185738" y="371475"/>
                </a:cubicBezTo>
                <a:cubicBezTo>
                  <a:pt x="83158" y="371475"/>
                  <a:pt x="0" y="288317"/>
                  <a:pt x="0" y="185738"/>
                </a:cubicBezTo>
                <a:cubicBezTo>
                  <a:pt x="0" y="83158"/>
                  <a:pt x="83158" y="0"/>
                  <a:pt x="185738" y="0"/>
                </a:cubicBezTo>
                <a:cubicBezTo>
                  <a:pt x="288273" y="108"/>
                  <a:pt x="371367" y="83202"/>
                  <a:pt x="371475" y="185738"/>
                </a:cubicBezTo>
                <a:close/>
                <a:moveTo>
                  <a:pt x="342900" y="185738"/>
                </a:moveTo>
                <a:cubicBezTo>
                  <a:pt x="342900" y="98939"/>
                  <a:pt x="272536" y="28575"/>
                  <a:pt x="185738" y="28575"/>
                </a:cubicBezTo>
                <a:cubicBezTo>
                  <a:pt x="98939" y="28575"/>
                  <a:pt x="28575" y="98939"/>
                  <a:pt x="28575" y="185738"/>
                </a:cubicBezTo>
                <a:cubicBezTo>
                  <a:pt x="28575" y="272536"/>
                  <a:pt x="98939" y="342900"/>
                  <a:pt x="185738" y="342900"/>
                </a:cubicBezTo>
                <a:cubicBezTo>
                  <a:pt x="272495" y="342802"/>
                  <a:pt x="342802" y="272495"/>
                  <a:pt x="342900" y="185738"/>
                </a:cubicBezTo>
                <a:close/>
              </a:path>
            </a:pathLst>
          </a:custGeom>
          <a:solidFill>
            <a:srgbClr val="000000"/>
          </a:solidFill>
          <a:ln w="178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7944BF43-2817-8242-6233-8E6B12840FAC}"/>
              </a:ext>
            </a:extLst>
          </p:cNvPr>
          <p:cNvSpPr/>
          <p:nvPr/>
        </p:nvSpPr>
        <p:spPr>
          <a:xfrm>
            <a:off x="693327" y="4638358"/>
            <a:ext cx="395048" cy="395048"/>
          </a:xfrm>
          <a:custGeom>
            <a:avLst/>
            <a:gdLst>
              <a:gd name="csX0" fmla="*/ 267283 w 371475"/>
              <a:gd name="csY0" fmla="*/ 132767 h 371475"/>
              <a:gd name="csX1" fmla="*/ 267295 w 371475"/>
              <a:gd name="csY1" fmla="*/ 152972 h 371475"/>
              <a:gd name="csX2" fmla="*/ 267283 w 371475"/>
              <a:gd name="csY2" fmla="*/ 152983 h 371475"/>
              <a:gd name="csX3" fmla="*/ 167271 w 371475"/>
              <a:gd name="csY3" fmla="*/ 252996 h 371475"/>
              <a:gd name="csX4" fmla="*/ 147065 w 371475"/>
              <a:gd name="csY4" fmla="*/ 253007 h 371475"/>
              <a:gd name="csX5" fmla="*/ 147054 w 371475"/>
              <a:gd name="csY5" fmla="*/ 252996 h 371475"/>
              <a:gd name="csX6" fmla="*/ 104192 w 371475"/>
              <a:gd name="csY6" fmla="*/ 210133 h 371475"/>
              <a:gd name="csX7" fmla="*/ 104192 w 371475"/>
              <a:gd name="csY7" fmla="*/ 189917 h 371475"/>
              <a:gd name="csX8" fmla="*/ 124408 w 371475"/>
              <a:gd name="csY8" fmla="*/ 189917 h 371475"/>
              <a:gd name="csX9" fmla="*/ 157163 w 371475"/>
              <a:gd name="csY9" fmla="*/ 222689 h 371475"/>
              <a:gd name="csX10" fmla="*/ 247067 w 371475"/>
              <a:gd name="csY10" fmla="*/ 132767 h 371475"/>
              <a:gd name="csX11" fmla="*/ 267272 w 371475"/>
              <a:gd name="csY11" fmla="*/ 132755 h 371475"/>
              <a:gd name="csX12" fmla="*/ 267283 w 371475"/>
              <a:gd name="csY12" fmla="*/ 132767 h 371475"/>
              <a:gd name="csX13" fmla="*/ 371475 w 371475"/>
              <a:gd name="csY13" fmla="*/ 185738 h 371475"/>
              <a:gd name="csX14" fmla="*/ 185738 w 371475"/>
              <a:gd name="csY14" fmla="*/ 371475 h 371475"/>
              <a:gd name="csX15" fmla="*/ 0 w 371475"/>
              <a:gd name="csY15" fmla="*/ 185738 h 371475"/>
              <a:gd name="csX16" fmla="*/ 185738 w 371475"/>
              <a:gd name="csY16" fmla="*/ 0 h 371475"/>
              <a:gd name="csX17" fmla="*/ 371475 w 371475"/>
              <a:gd name="csY17" fmla="*/ 185738 h 371475"/>
              <a:gd name="csX18" fmla="*/ 342900 w 371475"/>
              <a:gd name="csY18" fmla="*/ 185738 h 371475"/>
              <a:gd name="csX19" fmla="*/ 185738 w 371475"/>
              <a:gd name="csY19" fmla="*/ 28575 h 371475"/>
              <a:gd name="csX20" fmla="*/ 28575 w 371475"/>
              <a:gd name="csY20" fmla="*/ 185738 h 371475"/>
              <a:gd name="csX21" fmla="*/ 185738 w 371475"/>
              <a:gd name="csY21" fmla="*/ 342900 h 371475"/>
              <a:gd name="csX22" fmla="*/ 342900 w 371475"/>
              <a:gd name="csY22" fmla="*/ 185738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71475" h="371475">
                <a:moveTo>
                  <a:pt x="267283" y="132767"/>
                </a:moveTo>
                <a:cubicBezTo>
                  <a:pt x="272866" y="138343"/>
                  <a:pt x="272871" y="147389"/>
                  <a:pt x="267295" y="152972"/>
                </a:cubicBezTo>
                <a:cubicBezTo>
                  <a:pt x="267291" y="152976"/>
                  <a:pt x="267287" y="152980"/>
                  <a:pt x="267283" y="152983"/>
                </a:cubicBezTo>
                <a:lnTo>
                  <a:pt x="167271" y="252996"/>
                </a:lnTo>
                <a:cubicBezTo>
                  <a:pt x="161694" y="258579"/>
                  <a:pt x="152648" y="258584"/>
                  <a:pt x="147065" y="253007"/>
                </a:cubicBezTo>
                <a:cubicBezTo>
                  <a:pt x="147062" y="253003"/>
                  <a:pt x="147058" y="253000"/>
                  <a:pt x="147054" y="252996"/>
                </a:cubicBezTo>
                <a:lnTo>
                  <a:pt x="104192" y="210133"/>
                </a:lnTo>
                <a:cubicBezTo>
                  <a:pt x="98609" y="204551"/>
                  <a:pt x="98609" y="195499"/>
                  <a:pt x="104192" y="189917"/>
                </a:cubicBezTo>
                <a:cubicBezTo>
                  <a:pt x="109774" y="184334"/>
                  <a:pt x="118826" y="184334"/>
                  <a:pt x="124408" y="189917"/>
                </a:cubicBezTo>
                <a:lnTo>
                  <a:pt x="157163" y="222689"/>
                </a:lnTo>
                <a:lnTo>
                  <a:pt x="247067" y="132767"/>
                </a:lnTo>
                <a:cubicBezTo>
                  <a:pt x="252643" y="127184"/>
                  <a:pt x="261689" y="127179"/>
                  <a:pt x="267272" y="132755"/>
                </a:cubicBezTo>
                <a:cubicBezTo>
                  <a:pt x="267276" y="132759"/>
                  <a:pt x="267280" y="132763"/>
                  <a:pt x="267283" y="132767"/>
                </a:cubicBezTo>
                <a:close/>
                <a:moveTo>
                  <a:pt x="371475" y="185738"/>
                </a:moveTo>
                <a:cubicBezTo>
                  <a:pt x="371475" y="288317"/>
                  <a:pt x="288317" y="371475"/>
                  <a:pt x="185738" y="371475"/>
                </a:cubicBezTo>
                <a:cubicBezTo>
                  <a:pt x="83158" y="371475"/>
                  <a:pt x="0" y="288317"/>
                  <a:pt x="0" y="185738"/>
                </a:cubicBezTo>
                <a:cubicBezTo>
                  <a:pt x="0" y="83158"/>
                  <a:pt x="83158" y="0"/>
                  <a:pt x="185738" y="0"/>
                </a:cubicBezTo>
                <a:cubicBezTo>
                  <a:pt x="288273" y="108"/>
                  <a:pt x="371367" y="83202"/>
                  <a:pt x="371475" y="185738"/>
                </a:cubicBezTo>
                <a:close/>
                <a:moveTo>
                  <a:pt x="342900" y="185738"/>
                </a:moveTo>
                <a:cubicBezTo>
                  <a:pt x="342900" y="98939"/>
                  <a:pt x="272536" y="28575"/>
                  <a:pt x="185738" y="28575"/>
                </a:cubicBezTo>
                <a:cubicBezTo>
                  <a:pt x="98939" y="28575"/>
                  <a:pt x="28575" y="98939"/>
                  <a:pt x="28575" y="185738"/>
                </a:cubicBezTo>
                <a:cubicBezTo>
                  <a:pt x="28575" y="272536"/>
                  <a:pt x="98939" y="342900"/>
                  <a:pt x="185738" y="342900"/>
                </a:cubicBezTo>
                <a:cubicBezTo>
                  <a:pt x="272495" y="342802"/>
                  <a:pt x="342802" y="272495"/>
                  <a:pt x="342900" y="185738"/>
                </a:cubicBezTo>
                <a:close/>
              </a:path>
            </a:pathLst>
          </a:custGeom>
          <a:solidFill>
            <a:srgbClr val="000000"/>
          </a:solidFill>
          <a:ln w="178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5937D78B-A35F-6DAE-B7E1-D89AC0B30A40}"/>
              </a:ext>
            </a:extLst>
          </p:cNvPr>
          <p:cNvSpPr/>
          <p:nvPr/>
        </p:nvSpPr>
        <p:spPr>
          <a:xfrm>
            <a:off x="701782" y="5525441"/>
            <a:ext cx="395048" cy="395048"/>
          </a:xfrm>
          <a:custGeom>
            <a:avLst/>
            <a:gdLst>
              <a:gd name="csX0" fmla="*/ 267283 w 371475"/>
              <a:gd name="csY0" fmla="*/ 132767 h 371475"/>
              <a:gd name="csX1" fmla="*/ 267295 w 371475"/>
              <a:gd name="csY1" fmla="*/ 152972 h 371475"/>
              <a:gd name="csX2" fmla="*/ 267283 w 371475"/>
              <a:gd name="csY2" fmla="*/ 152983 h 371475"/>
              <a:gd name="csX3" fmla="*/ 167271 w 371475"/>
              <a:gd name="csY3" fmla="*/ 252996 h 371475"/>
              <a:gd name="csX4" fmla="*/ 147065 w 371475"/>
              <a:gd name="csY4" fmla="*/ 253007 h 371475"/>
              <a:gd name="csX5" fmla="*/ 147054 w 371475"/>
              <a:gd name="csY5" fmla="*/ 252996 h 371475"/>
              <a:gd name="csX6" fmla="*/ 104192 w 371475"/>
              <a:gd name="csY6" fmla="*/ 210133 h 371475"/>
              <a:gd name="csX7" fmla="*/ 104192 w 371475"/>
              <a:gd name="csY7" fmla="*/ 189917 h 371475"/>
              <a:gd name="csX8" fmla="*/ 124408 w 371475"/>
              <a:gd name="csY8" fmla="*/ 189917 h 371475"/>
              <a:gd name="csX9" fmla="*/ 157163 w 371475"/>
              <a:gd name="csY9" fmla="*/ 222689 h 371475"/>
              <a:gd name="csX10" fmla="*/ 247067 w 371475"/>
              <a:gd name="csY10" fmla="*/ 132767 h 371475"/>
              <a:gd name="csX11" fmla="*/ 267272 w 371475"/>
              <a:gd name="csY11" fmla="*/ 132755 h 371475"/>
              <a:gd name="csX12" fmla="*/ 267283 w 371475"/>
              <a:gd name="csY12" fmla="*/ 132767 h 371475"/>
              <a:gd name="csX13" fmla="*/ 371475 w 371475"/>
              <a:gd name="csY13" fmla="*/ 185738 h 371475"/>
              <a:gd name="csX14" fmla="*/ 185738 w 371475"/>
              <a:gd name="csY14" fmla="*/ 371475 h 371475"/>
              <a:gd name="csX15" fmla="*/ 0 w 371475"/>
              <a:gd name="csY15" fmla="*/ 185738 h 371475"/>
              <a:gd name="csX16" fmla="*/ 185738 w 371475"/>
              <a:gd name="csY16" fmla="*/ 0 h 371475"/>
              <a:gd name="csX17" fmla="*/ 371475 w 371475"/>
              <a:gd name="csY17" fmla="*/ 185738 h 371475"/>
              <a:gd name="csX18" fmla="*/ 342900 w 371475"/>
              <a:gd name="csY18" fmla="*/ 185738 h 371475"/>
              <a:gd name="csX19" fmla="*/ 185738 w 371475"/>
              <a:gd name="csY19" fmla="*/ 28575 h 371475"/>
              <a:gd name="csX20" fmla="*/ 28575 w 371475"/>
              <a:gd name="csY20" fmla="*/ 185738 h 371475"/>
              <a:gd name="csX21" fmla="*/ 185738 w 371475"/>
              <a:gd name="csY21" fmla="*/ 342900 h 371475"/>
              <a:gd name="csX22" fmla="*/ 342900 w 371475"/>
              <a:gd name="csY22" fmla="*/ 185738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71475" h="371475">
                <a:moveTo>
                  <a:pt x="267283" y="132767"/>
                </a:moveTo>
                <a:cubicBezTo>
                  <a:pt x="272866" y="138343"/>
                  <a:pt x="272871" y="147389"/>
                  <a:pt x="267295" y="152972"/>
                </a:cubicBezTo>
                <a:cubicBezTo>
                  <a:pt x="267291" y="152976"/>
                  <a:pt x="267287" y="152980"/>
                  <a:pt x="267283" y="152983"/>
                </a:cubicBezTo>
                <a:lnTo>
                  <a:pt x="167271" y="252996"/>
                </a:lnTo>
                <a:cubicBezTo>
                  <a:pt x="161694" y="258579"/>
                  <a:pt x="152648" y="258584"/>
                  <a:pt x="147065" y="253007"/>
                </a:cubicBezTo>
                <a:cubicBezTo>
                  <a:pt x="147062" y="253003"/>
                  <a:pt x="147058" y="253000"/>
                  <a:pt x="147054" y="252996"/>
                </a:cubicBezTo>
                <a:lnTo>
                  <a:pt x="104192" y="210133"/>
                </a:lnTo>
                <a:cubicBezTo>
                  <a:pt x="98609" y="204551"/>
                  <a:pt x="98609" y="195499"/>
                  <a:pt x="104192" y="189917"/>
                </a:cubicBezTo>
                <a:cubicBezTo>
                  <a:pt x="109774" y="184334"/>
                  <a:pt x="118826" y="184334"/>
                  <a:pt x="124408" y="189917"/>
                </a:cubicBezTo>
                <a:lnTo>
                  <a:pt x="157163" y="222689"/>
                </a:lnTo>
                <a:lnTo>
                  <a:pt x="247067" y="132767"/>
                </a:lnTo>
                <a:cubicBezTo>
                  <a:pt x="252643" y="127184"/>
                  <a:pt x="261689" y="127179"/>
                  <a:pt x="267272" y="132755"/>
                </a:cubicBezTo>
                <a:cubicBezTo>
                  <a:pt x="267276" y="132759"/>
                  <a:pt x="267280" y="132763"/>
                  <a:pt x="267283" y="132767"/>
                </a:cubicBezTo>
                <a:close/>
                <a:moveTo>
                  <a:pt x="371475" y="185738"/>
                </a:moveTo>
                <a:cubicBezTo>
                  <a:pt x="371475" y="288317"/>
                  <a:pt x="288317" y="371475"/>
                  <a:pt x="185738" y="371475"/>
                </a:cubicBezTo>
                <a:cubicBezTo>
                  <a:pt x="83158" y="371475"/>
                  <a:pt x="0" y="288317"/>
                  <a:pt x="0" y="185738"/>
                </a:cubicBezTo>
                <a:cubicBezTo>
                  <a:pt x="0" y="83158"/>
                  <a:pt x="83158" y="0"/>
                  <a:pt x="185738" y="0"/>
                </a:cubicBezTo>
                <a:cubicBezTo>
                  <a:pt x="288273" y="108"/>
                  <a:pt x="371367" y="83202"/>
                  <a:pt x="371475" y="185738"/>
                </a:cubicBezTo>
                <a:close/>
                <a:moveTo>
                  <a:pt x="342900" y="185738"/>
                </a:moveTo>
                <a:cubicBezTo>
                  <a:pt x="342900" y="98939"/>
                  <a:pt x="272536" y="28575"/>
                  <a:pt x="185738" y="28575"/>
                </a:cubicBezTo>
                <a:cubicBezTo>
                  <a:pt x="98939" y="28575"/>
                  <a:pt x="28575" y="98939"/>
                  <a:pt x="28575" y="185738"/>
                </a:cubicBezTo>
                <a:cubicBezTo>
                  <a:pt x="28575" y="272536"/>
                  <a:pt x="98939" y="342900"/>
                  <a:pt x="185738" y="342900"/>
                </a:cubicBezTo>
                <a:cubicBezTo>
                  <a:pt x="272495" y="342802"/>
                  <a:pt x="342802" y="272495"/>
                  <a:pt x="342900" y="185738"/>
                </a:cubicBezTo>
                <a:close/>
              </a:path>
            </a:pathLst>
          </a:custGeom>
          <a:solidFill>
            <a:srgbClr val="000000"/>
          </a:solidFill>
          <a:ln w="178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138;p8">
            <a:extLst>
              <a:ext uri="{FF2B5EF4-FFF2-40B4-BE49-F238E27FC236}">
                <a16:creationId xmlns:a16="http://schemas.microsoft.com/office/drawing/2014/main" id="{A0306A5E-15B9-466A-ECCF-9097F54EF408}"/>
              </a:ext>
            </a:extLst>
          </p:cNvPr>
          <p:cNvSpPr txBox="1"/>
          <p:nvPr/>
        </p:nvSpPr>
        <p:spPr>
          <a:xfrm>
            <a:off x="1240340" y="4620458"/>
            <a:ext cx="549355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Vision models trained on real-world tasks</a:t>
            </a:r>
          </a:p>
        </p:txBody>
      </p:sp>
      <p:sp>
        <p:nvSpPr>
          <p:cNvPr id="7" name="Google Shape;138;p8">
            <a:extLst>
              <a:ext uri="{FF2B5EF4-FFF2-40B4-BE49-F238E27FC236}">
                <a16:creationId xmlns:a16="http://schemas.microsoft.com/office/drawing/2014/main" id="{76B899F5-9388-1F3B-2401-9ED66261DBB3}"/>
              </a:ext>
            </a:extLst>
          </p:cNvPr>
          <p:cNvSpPr txBox="1"/>
          <p:nvPr/>
        </p:nvSpPr>
        <p:spPr>
          <a:xfrm>
            <a:off x="1240340" y="5503916"/>
            <a:ext cx="549355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Continuous learning across entire fleet</a:t>
            </a:r>
          </a:p>
        </p:txBody>
      </p:sp>
      <p:sp>
        <p:nvSpPr>
          <p:cNvPr id="8" name="Google Shape;154;p9">
            <a:extLst>
              <a:ext uri="{FF2B5EF4-FFF2-40B4-BE49-F238E27FC236}">
                <a16:creationId xmlns:a16="http://schemas.microsoft.com/office/drawing/2014/main" id="{5B805539-903A-7B5F-BBCB-05EA75A66F2B}"/>
              </a:ext>
            </a:extLst>
          </p:cNvPr>
          <p:cNvSpPr txBox="1"/>
          <p:nvPr/>
        </p:nvSpPr>
        <p:spPr>
          <a:xfrm>
            <a:off x="8880774" y="3689607"/>
            <a:ext cx="2289729" cy="104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8A0"/>
              </a:buClr>
              <a:buSzPts val="3600"/>
              <a:buFont typeface="Inter"/>
              <a:buNone/>
            </a:pPr>
            <a:r>
              <a:rPr lang="en-US" sz="3600" b="1" i="0" u="none" strike="noStrike" cap="none">
                <a:solidFill>
                  <a:srgbClr val="FFC8A0"/>
                </a:solidFill>
                <a:latin typeface="Inter"/>
                <a:ea typeface="Inter"/>
                <a:cs typeface="Inter"/>
                <a:sym typeface="Inter"/>
              </a:rPr>
              <a:t>129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ACTIVE FACTORIES</a:t>
            </a:r>
            <a:endParaRPr sz="1200" b="0" i="0" u="none" strike="noStrike" cap="none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" name="Google Shape;155;p9">
            <a:extLst>
              <a:ext uri="{FF2B5EF4-FFF2-40B4-BE49-F238E27FC236}">
                <a16:creationId xmlns:a16="http://schemas.microsoft.com/office/drawing/2014/main" id="{255BD715-D87A-15FC-BE62-805DD5DC99DA}"/>
              </a:ext>
            </a:extLst>
          </p:cNvPr>
          <p:cNvSpPr txBox="1"/>
          <p:nvPr/>
        </p:nvSpPr>
        <p:spPr>
          <a:xfrm>
            <a:off x="8880775" y="5073563"/>
            <a:ext cx="2289728" cy="104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8A0"/>
              </a:buClr>
              <a:buSzPts val="3600"/>
              <a:buFont typeface="Inter"/>
              <a:buNone/>
            </a:pPr>
            <a:r>
              <a:rPr lang="en-US" sz="3600" b="1" i="0" u="none" strike="noStrike" cap="none" dirty="0">
                <a:solidFill>
                  <a:srgbClr val="FFC8A0"/>
                </a:solidFill>
                <a:latin typeface="Inter"/>
                <a:ea typeface="Inter"/>
                <a:cs typeface="Inter"/>
                <a:sym typeface="Inter"/>
              </a:rPr>
              <a:t>2TB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OF VISUAL DATA</a:t>
            </a:r>
            <a:endParaRPr sz="1200" b="0" i="0" u="none" strike="noStrike" cap="none" dirty="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885039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Google Shape;161;p10"/>
          <p:cNvGraphicFramePr/>
          <p:nvPr/>
        </p:nvGraphicFramePr>
        <p:xfrm>
          <a:off x="333633" y="529320"/>
          <a:ext cx="11489748" cy="5933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2" name="Google Shape;162;p10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64" name="Google Shape;164;p10"/>
          <p:cNvSpPr txBox="1">
            <a:spLocks noGrp="1"/>
          </p:cNvSpPr>
          <p:nvPr>
            <p:ph type="title"/>
          </p:nvPr>
        </p:nvSpPr>
        <p:spPr>
          <a:xfrm>
            <a:off x="602450" y="960120"/>
            <a:ext cx="5493545" cy="740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Inter Light"/>
              <a:buNone/>
            </a:pPr>
            <a:r>
              <a:rPr lang="en-US" dirty="0"/>
              <a:t>Industrial automation adoption is accelerating</a:t>
            </a:r>
            <a:endParaRPr dirty="0"/>
          </a:p>
        </p:txBody>
      </p:sp>
      <p:sp>
        <p:nvSpPr>
          <p:cNvPr id="165" name="Google Shape;165;p10"/>
          <p:cNvSpPr txBox="1"/>
          <p:nvPr/>
        </p:nvSpPr>
        <p:spPr>
          <a:xfrm>
            <a:off x="639521" y="529320"/>
            <a:ext cx="2652970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204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rgbClr val="FF4204"/>
                </a:solidFill>
                <a:latin typeface="Inter"/>
                <a:ea typeface="Inter"/>
                <a:cs typeface="Inter"/>
                <a:sym typeface="Inter"/>
              </a:rPr>
              <a:t>MARKET OPPORTUNITY</a:t>
            </a:r>
            <a:endParaRPr sz="1400" b="1" i="0" u="none" strike="noStrike" cap="none">
              <a:solidFill>
                <a:srgbClr val="FF420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8427309" y="395417"/>
            <a:ext cx="2298356" cy="5708822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948439" y="4779808"/>
            <a:ext cx="2681792" cy="106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Medium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Global industrial automation market size growth</a:t>
            </a:r>
            <a:endParaRPr sz="2200" b="0" i="0" u="none" strike="noStrike" cap="none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6316340" y="1253980"/>
            <a:ext cx="3172037" cy="652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 Medium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AI-driven robotics fueling rebound in manufacturing automation.</a:t>
            </a:r>
            <a:endParaRPr/>
          </a:p>
        </p:txBody>
      </p:sp>
      <p:cxnSp>
        <p:nvCxnSpPr>
          <p:cNvPr id="169" name="Google Shape;169;p10"/>
          <p:cNvCxnSpPr/>
          <p:nvPr/>
        </p:nvCxnSpPr>
        <p:spPr>
          <a:xfrm>
            <a:off x="6240163" y="1421027"/>
            <a:ext cx="0" cy="206256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400000"/>
            <a:headEnd type="oval" w="med" len="med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573678" y="3156912"/>
            <a:ext cx="6419895" cy="354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A0"/>
              </a:buClr>
              <a:buSzPts val="20000"/>
              <a:buFont typeface="Inter"/>
              <a:buNone/>
            </a:pPr>
            <a:r>
              <a:rPr lang="en-US" sz="19800" b="1" dirty="0">
                <a:solidFill>
                  <a:srgbClr val="FFC8A0"/>
                </a:solidFill>
                <a:latin typeface="Inter"/>
                <a:ea typeface="Inter"/>
                <a:cs typeface="Inter"/>
                <a:sym typeface="Inter"/>
              </a:rPr>
              <a:t>40%</a:t>
            </a:r>
            <a:endParaRPr sz="19800" dirty="0"/>
          </a:p>
        </p:txBody>
      </p:sp>
      <p:sp>
        <p:nvSpPr>
          <p:cNvPr id="175" name="Google Shape;175;p11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666261" y="960120"/>
            <a:ext cx="5183186" cy="161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nter Light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the last five years, hardware costs have dropped by</a:t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7124700" y="0"/>
            <a:ext cx="50673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35000" tIns="635000" rIns="635000" bIns="6350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Light"/>
              <a:buNone/>
            </a:pPr>
            <a:endParaRPr sz="2500" b="0" i="0" u="none" strike="noStrike" cap="none">
              <a:solidFill>
                <a:srgbClr val="0F2D4D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872731" y="1423853"/>
            <a:ext cx="3715424" cy="77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 SemiBold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Advances in sensors and edge compute reduced cost</a:t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7872731" y="3274717"/>
            <a:ext cx="3715424" cy="77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 SemiBold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Modular manufacturing drives scale efficiencies</a:t>
            </a:r>
            <a:endParaRPr/>
          </a:p>
        </p:txBody>
      </p:sp>
      <p:sp>
        <p:nvSpPr>
          <p:cNvPr id="181" name="Google Shape;181;p11"/>
          <p:cNvSpPr txBox="1"/>
          <p:nvPr/>
        </p:nvSpPr>
        <p:spPr>
          <a:xfrm>
            <a:off x="7872731" y="5125581"/>
            <a:ext cx="3715424" cy="77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 SemiBold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Cloud-native control lowers infrastructure costs</a:t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7981113" y="999654"/>
            <a:ext cx="274320" cy="270526"/>
          </a:xfrm>
          <a:prstGeom prst="plus">
            <a:avLst>
              <a:gd name="adj" fmla="val 40241"/>
            </a:avLst>
          </a:prstGeom>
          <a:gradFill>
            <a:gsLst>
              <a:gs pos="0">
                <a:srgbClr val="FFC8A0"/>
              </a:gs>
              <a:gs pos="76000">
                <a:srgbClr val="FF4204"/>
              </a:gs>
              <a:gs pos="86000">
                <a:srgbClr val="FF4C02"/>
              </a:gs>
              <a:gs pos="100000">
                <a:srgbClr val="FF822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35000" tIns="635000" rIns="635000" bIns="6350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Light"/>
              <a:buNone/>
            </a:pPr>
            <a:endParaRPr sz="2500" b="0" i="0" u="none" strike="noStrike" cap="none">
              <a:solidFill>
                <a:srgbClr val="0F2D4D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7981113" y="2841154"/>
            <a:ext cx="274320" cy="270526"/>
          </a:xfrm>
          <a:prstGeom prst="plus">
            <a:avLst>
              <a:gd name="adj" fmla="val 40241"/>
            </a:avLst>
          </a:prstGeom>
          <a:gradFill>
            <a:gsLst>
              <a:gs pos="0">
                <a:srgbClr val="FFC8A0"/>
              </a:gs>
              <a:gs pos="76000">
                <a:srgbClr val="FF4204"/>
              </a:gs>
              <a:gs pos="86000">
                <a:srgbClr val="FF4C02"/>
              </a:gs>
              <a:gs pos="100000">
                <a:srgbClr val="FF822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35000" tIns="635000" rIns="635000" bIns="6350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Light"/>
              <a:buNone/>
            </a:pPr>
            <a:endParaRPr sz="2500" b="0" i="0" u="none" strike="noStrike" cap="none">
              <a:solidFill>
                <a:srgbClr val="0F2D4D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7981113" y="4733454"/>
            <a:ext cx="274320" cy="270526"/>
          </a:xfrm>
          <a:prstGeom prst="plus">
            <a:avLst>
              <a:gd name="adj" fmla="val 40241"/>
            </a:avLst>
          </a:prstGeom>
          <a:gradFill>
            <a:gsLst>
              <a:gs pos="0">
                <a:srgbClr val="FFC8A0"/>
              </a:gs>
              <a:gs pos="76000">
                <a:srgbClr val="FF4204"/>
              </a:gs>
              <a:gs pos="86000">
                <a:srgbClr val="FF4C02"/>
              </a:gs>
              <a:gs pos="100000">
                <a:srgbClr val="FF822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35000" tIns="635000" rIns="635000" bIns="6350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 Light"/>
              <a:buNone/>
            </a:pPr>
            <a:endParaRPr sz="2500" b="0" i="0" u="none" strike="noStrike" cap="none">
              <a:solidFill>
                <a:srgbClr val="0F2D4D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639521" y="529320"/>
            <a:ext cx="2050241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rgbClr val="A5A5A5"/>
                </a:solidFill>
                <a:latin typeface="Inter"/>
                <a:ea typeface="Inter"/>
                <a:cs typeface="Inter"/>
                <a:sym typeface="Inter"/>
              </a:rPr>
              <a:t>COST EFFICIENCY</a:t>
            </a:r>
            <a:endParaRPr sz="1400" b="1" i="0" u="none" strike="noStrike" cap="none">
              <a:solidFill>
                <a:srgbClr val="A5A5A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191" name="Google Shape;191;p12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92" name="Google Shape;192;p12"/>
          <p:cNvSpPr txBox="1">
            <a:spLocks noGrp="1"/>
          </p:cNvSpPr>
          <p:nvPr>
            <p:ph type="title"/>
          </p:nvPr>
        </p:nvSpPr>
        <p:spPr>
          <a:xfrm>
            <a:off x="602450" y="467535"/>
            <a:ext cx="5254653" cy="7407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Inter Light"/>
              <a:buNone/>
            </a:pPr>
            <a:r>
              <a:rPr lang="en-US" dirty="0"/>
              <a:t>Expanding from mid-sized manufacturers to enterprise clients </a:t>
            </a:r>
            <a:r>
              <a:rPr lang="en-US" b="1" dirty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by 2027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193" name="Google Shape;193;p12"/>
          <p:cNvGrpSpPr/>
          <p:nvPr/>
        </p:nvGrpSpPr>
        <p:grpSpPr>
          <a:xfrm>
            <a:off x="5918752" y="578748"/>
            <a:ext cx="5670798" cy="5670798"/>
            <a:chOff x="1417699" y="0"/>
            <a:chExt cx="5670798" cy="5670798"/>
          </a:xfrm>
        </p:grpSpPr>
        <p:sp>
          <p:nvSpPr>
            <p:cNvPr id="194" name="Google Shape;194;p12"/>
            <p:cNvSpPr/>
            <p:nvPr/>
          </p:nvSpPr>
          <p:spPr>
            <a:xfrm>
              <a:off x="1417699" y="0"/>
              <a:ext cx="5670798" cy="5670798"/>
            </a:xfrm>
            <a:prstGeom prst="ellipse">
              <a:avLst/>
            </a:prstGeom>
            <a:gradFill>
              <a:gsLst>
                <a:gs pos="0">
                  <a:srgbClr val="FFC8A0"/>
                </a:gs>
                <a:gs pos="62000">
                  <a:srgbClr val="FF4204"/>
                </a:gs>
                <a:gs pos="70000">
                  <a:srgbClr val="FF4C02"/>
                </a:gs>
                <a:gs pos="91000">
                  <a:srgbClr val="FF8227"/>
                </a:gs>
                <a:gs pos="100000">
                  <a:srgbClr val="FF8227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2"/>
            <p:cNvSpPr txBox="1"/>
            <p:nvPr/>
          </p:nvSpPr>
          <p:spPr>
            <a:xfrm>
              <a:off x="3262126" y="283539"/>
              <a:ext cx="1981943" cy="8506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365750" rIns="25400" bIns="0" anchor="ctr" anchorCtr="0">
              <a:no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Inter Medium"/>
                <a:buNone/>
              </a:pPr>
              <a:r>
                <a:rPr lang="en-US" sz="4000" b="0" i="0" u="none" strike="noStrike" cap="none">
                  <a:solidFill>
                    <a:schemeClr val="lt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$45M</a:t>
              </a:r>
              <a:br>
                <a:rPr lang="en-US" sz="2000" b="0" i="0" u="none" strike="noStrike" cap="none">
                  <a:solidFill>
                    <a:schemeClr val="lt1"/>
                  </a:solidFill>
                  <a:latin typeface="Inter Light"/>
                  <a:ea typeface="Inter Light"/>
                  <a:cs typeface="Inter Light"/>
                  <a:sym typeface="Inter Light"/>
                </a:rPr>
              </a:br>
              <a:r>
                <a:rPr lang="en-US" sz="1100" b="0" i="0" u="none" strike="noStrike" cap="none">
                  <a:solidFill>
                    <a:schemeClr val="lt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TAM</a:t>
              </a:r>
              <a:endParaRPr sz="2000" b="0" i="0" u="none" strike="noStrike" cap="non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2339203" y="1843009"/>
              <a:ext cx="3827788" cy="382778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 txBox="1"/>
            <p:nvPr/>
          </p:nvSpPr>
          <p:spPr>
            <a:xfrm>
              <a:off x="3361223" y="2082246"/>
              <a:ext cx="1783749" cy="717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575" tIns="457200" rIns="227575" bIns="227575" anchor="ctr" anchorCtr="0">
              <a:no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Inter Medium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$9M</a:t>
              </a:r>
              <a:endParaRPr/>
            </a:p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Inter Medium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SAM</a:t>
              </a:r>
              <a:endParaRPr sz="11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3056914" y="3278430"/>
              <a:ext cx="2392367" cy="2392367"/>
            </a:xfrm>
            <a:prstGeom prst="ellipse">
              <a:avLst/>
            </a:prstGeom>
            <a:solidFill>
              <a:schemeClr val="dk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 txBox="1"/>
            <p:nvPr/>
          </p:nvSpPr>
          <p:spPr>
            <a:xfrm>
              <a:off x="3407268" y="3876522"/>
              <a:ext cx="1691659" cy="11961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4900" tIns="184900" rIns="184900" bIns="1849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Inter Medium"/>
                <a:buNone/>
              </a:pPr>
              <a:r>
                <a:rPr lang="en-US" sz="2600" b="0" i="0" u="none" strike="noStrike" cap="none">
                  <a:solidFill>
                    <a:schemeClr val="lt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$1.2M</a:t>
              </a:r>
              <a:br>
                <a:rPr lang="en-US" sz="3000" b="0" i="0" u="none" strike="noStrike" cap="none">
                  <a:solidFill>
                    <a:schemeClr val="lt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</a:br>
              <a:r>
                <a:rPr lang="en-US" sz="1100" b="0" i="0" u="none" strike="noStrike" cap="none">
                  <a:solidFill>
                    <a:schemeClr val="lt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INITIAL FOCUS</a:t>
              </a:r>
              <a:endParaRPr sz="1100" b="0" i="0" u="none" strike="noStrike" cap="non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8A0"/>
            </a:gs>
            <a:gs pos="74000">
              <a:srgbClr val="FF4204"/>
            </a:gs>
            <a:gs pos="83000">
              <a:srgbClr val="FF4C02"/>
            </a:gs>
            <a:gs pos="100000">
              <a:srgbClr val="FF8227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/>
          <p:nvPr/>
        </p:nvSpPr>
        <p:spPr>
          <a:xfrm>
            <a:off x="0" y="2481943"/>
            <a:ext cx="12192000" cy="43760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nter Light"/>
              <a:buNone/>
            </a:pPr>
            <a:endParaRPr sz="600" b="0" i="0" u="none" strike="noStrike" cap="none">
              <a:solidFill>
                <a:srgbClr val="53585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5" name="Google Shape;205;p13"/>
          <p:cNvSpPr txBox="1">
            <a:spLocks noGrp="1"/>
          </p:cNvSpPr>
          <p:nvPr>
            <p:ph type="title"/>
          </p:nvPr>
        </p:nvSpPr>
        <p:spPr>
          <a:xfrm>
            <a:off x="753788" y="3643086"/>
            <a:ext cx="9696498" cy="253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50800" bIns="508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Inter Light"/>
              <a:buNone/>
            </a:pPr>
            <a:r>
              <a:rPr lang="en-US" sz="7200" dirty="0">
                <a:solidFill>
                  <a:schemeClr val="dk1"/>
                </a:solidFill>
              </a:rPr>
              <a:t>Let’s build the factories of the future</a:t>
            </a:r>
            <a:endParaRPr dirty="0"/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230246" y="6585754"/>
            <a:ext cx="344941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Inter"/>
              <a:buNone/>
            </a:pPr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sldNum" idx="12"/>
          </p:nvPr>
        </p:nvSpPr>
        <p:spPr>
          <a:xfrm>
            <a:off x="11823381" y="6585754"/>
            <a:ext cx="237493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7866743" y="679023"/>
            <a:ext cx="3790161" cy="121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INVEST@LUMAROBOTICS.COM</a:t>
            </a:r>
            <a:endParaRPr sz="1400" b="1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WWW.LUMAROBOTICS.COM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123.456.7890</a:t>
            </a:r>
            <a:endParaRPr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B4DBAF89-3249-92F0-4D4D-34E657A1D539}"/>
              </a:ext>
            </a:extLst>
          </p:cNvPr>
          <p:cNvSpPr/>
          <p:nvPr/>
        </p:nvSpPr>
        <p:spPr>
          <a:xfrm rot="18900000">
            <a:off x="777754" y="2897262"/>
            <a:ext cx="770754" cy="899316"/>
          </a:xfrm>
          <a:custGeom>
            <a:avLst/>
            <a:gdLst>
              <a:gd name="csX0" fmla="*/ 145682 w 233087"/>
              <a:gd name="csY0" fmla="*/ 262253 h 271966"/>
              <a:gd name="csX1" fmla="*/ 135969 w 233087"/>
              <a:gd name="csY1" fmla="*/ 271966 h 271966"/>
              <a:gd name="csX2" fmla="*/ 97119 w 233087"/>
              <a:gd name="csY2" fmla="*/ 271966 h 271966"/>
              <a:gd name="csX3" fmla="*/ 87406 w 233087"/>
              <a:gd name="csY3" fmla="*/ 262253 h 271966"/>
              <a:gd name="csX4" fmla="*/ 97119 w 233087"/>
              <a:gd name="csY4" fmla="*/ 252541 h 271966"/>
              <a:gd name="csX5" fmla="*/ 135969 w 233087"/>
              <a:gd name="csY5" fmla="*/ 252541 h 271966"/>
              <a:gd name="csX6" fmla="*/ 145682 w 233087"/>
              <a:gd name="csY6" fmla="*/ 262253 h 271966"/>
              <a:gd name="csX7" fmla="*/ 116544 w 233087"/>
              <a:gd name="csY7" fmla="*/ 126278 h 271966"/>
              <a:gd name="csX8" fmla="*/ 131113 w 233087"/>
              <a:gd name="csY8" fmla="*/ 111709 h 271966"/>
              <a:gd name="csX9" fmla="*/ 116544 w 233087"/>
              <a:gd name="csY9" fmla="*/ 97140 h 271966"/>
              <a:gd name="csX10" fmla="*/ 101975 w 233087"/>
              <a:gd name="csY10" fmla="*/ 111709 h 271966"/>
              <a:gd name="csX11" fmla="*/ 116544 w 233087"/>
              <a:gd name="csY11" fmla="*/ 126278 h 271966"/>
              <a:gd name="csX12" fmla="*/ 232633 w 233087"/>
              <a:gd name="csY12" fmla="*/ 179491 h 271966"/>
              <a:gd name="csX13" fmla="*/ 217627 w 233087"/>
              <a:gd name="csY13" fmla="*/ 247029 h 271966"/>
              <a:gd name="csX14" fmla="*/ 194454 w 233087"/>
              <a:gd name="csY14" fmla="*/ 261783 h 271966"/>
              <a:gd name="csX15" fmla="*/ 186656 w 233087"/>
              <a:gd name="csY15" fmla="*/ 258089 h 271966"/>
              <a:gd name="csX16" fmla="*/ 153585 w 233087"/>
              <a:gd name="csY16" fmla="*/ 233116 h 271966"/>
              <a:gd name="csX17" fmla="*/ 79527 w 233087"/>
              <a:gd name="csY17" fmla="*/ 233116 h 271966"/>
              <a:gd name="csX18" fmla="*/ 46432 w 233087"/>
              <a:gd name="csY18" fmla="*/ 258089 h 271966"/>
              <a:gd name="csX19" fmla="*/ 19155 w 233087"/>
              <a:gd name="csY19" fmla="*/ 254827 h 271966"/>
              <a:gd name="csX20" fmla="*/ 15461 w 233087"/>
              <a:gd name="csY20" fmla="*/ 247029 h 271966"/>
              <a:gd name="csX21" fmla="*/ 455 w 233087"/>
              <a:gd name="csY21" fmla="*/ 179491 h 271966"/>
              <a:gd name="csX22" fmla="*/ 4486 w 233087"/>
              <a:gd name="csY22" fmla="*/ 162846 h 271966"/>
              <a:gd name="csX23" fmla="*/ 39159 w 233087"/>
              <a:gd name="csY23" fmla="*/ 121252 h 271966"/>
              <a:gd name="csX24" fmla="*/ 49564 w 233087"/>
              <a:gd name="csY24" fmla="*/ 76732 h 271966"/>
              <a:gd name="csX25" fmla="*/ 104646 w 233087"/>
              <a:gd name="csY25" fmla="*/ 4070 h 271966"/>
              <a:gd name="csX26" fmla="*/ 128442 w 233087"/>
              <a:gd name="csY26" fmla="*/ 4070 h 271966"/>
              <a:gd name="csX27" fmla="*/ 183524 w 233087"/>
              <a:gd name="csY27" fmla="*/ 76732 h 271966"/>
              <a:gd name="csX28" fmla="*/ 193929 w 233087"/>
              <a:gd name="csY28" fmla="*/ 121252 h 271966"/>
              <a:gd name="csX29" fmla="*/ 228602 w 233087"/>
              <a:gd name="csY29" fmla="*/ 162846 h 271966"/>
              <a:gd name="csX30" fmla="*/ 232633 w 233087"/>
              <a:gd name="csY30" fmla="*/ 179491 h 271966"/>
              <a:gd name="csX31" fmla="*/ 81858 w 233087"/>
              <a:gd name="csY31" fmla="*/ 213691 h 271966"/>
              <a:gd name="csX32" fmla="*/ 151230 w 233087"/>
              <a:gd name="csY32" fmla="*/ 213691 h 271966"/>
              <a:gd name="csX33" fmla="*/ 165483 w 233087"/>
              <a:gd name="csY33" fmla="*/ 83931 h 271966"/>
              <a:gd name="csX34" fmla="*/ 116544 w 233087"/>
              <a:gd name="csY34" fmla="*/ 19440 h 271966"/>
              <a:gd name="csX35" fmla="*/ 67581 w 233087"/>
              <a:gd name="csY35" fmla="*/ 83931 h 271966"/>
              <a:gd name="csX36" fmla="*/ 81858 w 233087"/>
              <a:gd name="csY36" fmla="*/ 213691 h 271966"/>
              <a:gd name="csX37" fmla="*/ 63647 w 233087"/>
              <a:gd name="csY37" fmla="*/ 220793 h 271966"/>
              <a:gd name="csX38" fmla="*/ 39851 w 233087"/>
              <a:gd name="csY38" fmla="*/ 150754 h 271966"/>
              <a:gd name="csX39" fmla="*/ 19419 w 233087"/>
              <a:gd name="csY39" fmla="*/ 175278 h 271966"/>
              <a:gd name="csX40" fmla="*/ 34424 w 233087"/>
              <a:gd name="csY40" fmla="*/ 242828 h 271966"/>
              <a:gd name="csX41" fmla="*/ 34643 w 233087"/>
              <a:gd name="csY41" fmla="*/ 242671 h 271966"/>
              <a:gd name="csX42" fmla="*/ 213669 w 233087"/>
              <a:gd name="csY42" fmla="*/ 175278 h 271966"/>
              <a:gd name="csX43" fmla="*/ 193236 w 233087"/>
              <a:gd name="csY43" fmla="*/ 150754 h 271966"/>
              <a:gd name="csX44" fmla="*/ 169489 w 233087"/>
              <a:gd name="csY44" fmla="*/ 220793 h 271966"/>
              <a:gd name="csX45" fmla="*/ 198445 w 233087"/>
              <a:gd name="csY45" fmla="*/ 242646 h 271966"/>
              <a:gd name="csX46" fmla="*/ 198663 w 233087"/>
              <a:gd name="csY46" fmla="*/ 242804 h 271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233087" h="271966">
                <a:moveTo>
                  <a:pt x="145682" y="262253"/>
                </a:moveTo>
                <a:cubicBezTo>
                  <a:pt x="145682" y="267618"/>
                  <a:pt x="141333" y="271966"/>
                  <a:pt x="135969" y="271966"/>
                </a:cubicBezTo>
                <a:lnTo>
                  <a:pt x="97119" y="271966"/>
                </a:lnTo>
                <a:cubicBezTo>
                  <a:pt x="91755" y="271966"/>
                  <a:pt x="87406" y="267618"/>
                  <a:pt x="87406" y="262253"/>
                </a:cubicBezTo>
                <a:cubicBezTo>
                  <a:pt x="87406" y="256889"/>
                  <a:pt x="91755" y="252541"/>
                  <a:pt x="97119" y="252541"/>
                </a:cubicBezTo>
                <a:lnTo>
                  <a:pt x="135969" y="252541"/>
                </a:lnTo>
                <a:cubicBezTo>
                  <a:pt x="141333" y="252541"/>
                  <a:pt x="145682" y="256889"/>
                  <a:pt x="145682" y="262253"/>
                </a:cubicBezTo>
                <a:close/>
                <a:moveTo>
                  <a:pt x="116544" y="126278"/>
                </a:moveTo>
                <a:cubicBezTo>
                  <a:pt x="124590" y="126278"/>
                  <a:pt x="131113" y="119755"/>
                  <a:pt x="131113" y="111709"/>
                </a:cubicBezTo>
                <a:cubicBezTo>
                  <a:pt x="131113" y="103663"/>
                  <a:pt x="124590" y="97140"/>
                  <a:pt x="116544" y="97140"/>
                </a:cubicBezTo>
                <a:cubicBezTo>
                  <a:pt x="108498" y="97140"/>
                  <a:pt x="101975" y="103663"/>
                  <a:pt x="101975" y="111709"/>
                </a:cubicBezTo>
                <a:cubicBezTo>
                  <a:pt x="101975" y="119755"/>
                  <a:pt x="108498" y="126278"/>
                  <a:pt x="116544" y="126278"/>
                </a:cubicBezTo>
                <a:close/>
                <a:moveTo>
                  <a:pt x="232633" y="179491"/>
                </a:moveTo>
                <a:lnTo>
                  <a:pt x="217627" y="247029"/>
                </a:lnTo>
                <a:cubicBezTo>
                  <a:pt x="215302" y="257502"/>
                  <a:pt x="204927" y="264108"/>
                  <a:pt x="194454" y="261783"/>
                </a:cubicBezTo>
                <a:cubicBezTo>
                  <a:pt x="191611" y="261152"/>
                  <a:pt x="188946" y="259890"/>
                  <a:pt x="186656" y="258089"/>
                </a:cubicBezTo>
                <a:lnTo>
                  <a:pt x="153585" y="233116"/>
                </a:lnTo>
                <a:lnTo>
                  <a:pt x="79527" y="233116"/>
                </a:lnTo>
                <a:lnTo>
                  <a:pt x="46432" y="258089"/>
                </a:lnTo>
                <a:cubicBezTo>
                  <a:pt x="37998" y="264721"/>
                  <a:pt x="25786" y="263260"/>
                  <a:pt x="19155" y="254827"/>
                </a:cubicBezTo>
                <a:cubicBezTo>
                  <a:pt x="17354" y="252538"/>
                  <a:pt x="16092" y="249873"/>
                  <a:pt x="15461" y="247029"/>
                </a:cubicBezTo>
                <a:lnTo>
                  <a:pt x="455" y="179491"/>
                </a:lnTo>
                <a:cubicBezTo>
                  <a:pt x="-835" y="173618"/>
                  <a:pt x="652" y="167478"/>
                  <a:pt x="4486" y="162846"/>
                </a:cubicBezTo>
                <a:lnTo>
                  <a:pt x="39159" y="121252"/>
                </a:lnTo>
                <a:cubicBezTo>
                  <a:pt x="40323" y="105966"/>
                  <a:pt x="43832" y="90950"/>
                  <a:pt x="49564" y="76732"/>
                </a:cubicBezTo>
                <a:cubicBezTo>
                  <a:pt x="65225" y="37469"/>
                  <a:pt x="93270" y="12836"/>
                  <a:pt x="104646" y="4070"/>
                </a:cubicBezTo>
                <a:cubicBezTo>
                  <a:pt x="111650" y="-1357"/>
                  <a:pt x="121438" y="-1357"/>
                  <a:pt x="128442" y="4070"/>
                </a:cubicBezTo>
                <a:cubicBezTo>
                  <a:pt x="139781" y="12836"/>
                  <a:pt x="167863" y="37469"/>
                  <a:pt x="183524" y="76732"/>
                </a:cubicBezTo>
                <a:cubicBezTo>
                  <a:pt x="189255" y="90950"/>
                  <a:pt x="192765" y="105966"/>
                  <a:pt x="193929" y="121252"/>
                </a:cubicBezTo>
                <a:lnTo>
                  <a:pt x="228602" y="162846"/>
                </a:lnTo>
                <a:cubicBezTo>
                  <a:pt x="232436" y="167478"/>
                  <a:pt x="233923" y="173618"/>
                  <a:pt x="232633" y="179491"/>
                </a:cubicBezTo>
                <a:close/>
                <a:moveTo>
                  <a:pt x="81858" y="213691"/>
                </a:moveTo>
                <a:lnTo>
                  <a:pt x="151230" y="213691"/>
                </a:lnTo>
                <a:cubicBezTo>
                  <a:pt x="176871" y="168115"/>
                  <a:pt x="181666" y="124481"/>
                  <a:pt x="165483" y="83931"/>
                </a:cubicBezTo>
                <a:cubicBezTo>
                  <a:pt x="151206" y="48141"/>
                  <a:pt x="124423" y="25511"/>
                  <a:pt x="116544" y="19440"/>
                </a:cubicBezTo>
                <a:cubicBezTo>
                  <a:pt x="108640" y="25511"/>
                  <a:pt x="81858" y="48141"/>
                  <a:pt x="67581" y="83931"/>
                </a:cubicBezTo>
                <a:cubicBezTo>
                  <a:pt x="51421" y="124481"/>
                  <a:pt x="56217" y="168115"/>
                  <a:pt x="81858" y="213691"/>
                </a:cubicBezTo>
                <a:close/>
                <a:moveTo>
                  <a:pt x="63647" y="220793"/>
                </a:moveTo>
                <a:cubicBezTo>
                  <a:pt x="50576" y="197038"/>
                  <a:pt x="42644" y="173691"/>
                  <a:pt x="39851" y="150754"/>
                </a:cubicBezTo>
                <a:lnTo>
                  <a:pt x="19419" y="175278"/>
                </a:lnTo>
                <a:lnTo>
                  <a:pt x="34424" y="242828"/>
                </a:lnTo>
                <a:lnTo>
                  <a:pt x="34643" y="242671"/>
                </a:lnTo>
                <a:close/>
                <a:moveTo>
                  <a:pt x="213669" y="175278"/>
                </a:moveTo>
                <a:lnTo>
                  <a:pt x="193236" y="150754"/>
                </a:lnTo>
                <a:cubicBezTo>
                  <a:pt x="190468" y="173643"/>
                  <a:pt x="182553" y="196989"/>
                  <a:pt x="169489" y="220793"/>
                </a:cubicBezTo>
                <a:lnTo>
                  <a:pt x="198445" y="242646"/>
                </a:lnTo>
                <a:lnTo>
                  <a:pt x="198663" y="242804"/>
                </a:lnTo>
                <a:close/>
              </a:path>
            </a:pathLst>
          </a:custGeom>
          <a:solidFill>
            <a:schemeClr val="accent1"/>
          </a:solidFill>
          <a:ln w="1191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Luma Robotics">
      <a:dk1>
        <a:srgbClr val="000000"/>
      </a:dk1>
      <a:lt1>
        <a:srgbClr val="FFFFFF"/>
      </a:lt1>
      <a:dk2>
        <a:srgbClr val="252525"/>
      </a:dk2>
      <a:lt2>
        <a:srgbClr val="F0F2F4"/>
      </a:lt2>
      <a:accent1>
        <a:srgbClr val="FE4204"/>
      </a:accent1>
      <a:accent2>
        <a:srgbClr val="FE9040"/>
      </a:accent2>
      <a:accent3>
        <a:srgbClr val="A0A7AB"/>
      </a:accent3>
      <a:accent4>
        <a:srgbClr val="A3D1FF"/>
      </a:accent4>
      <a:accent5>
        <a:srgbClr val="D2E8FF"/>
      </a:accent5>
      <a:accent6>
        <a:srgbClr val="E8F4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1F86FF"/>
      </a:accent1>
      <a:accent2>
        <a:srgbClr val="39A1FF"/>
      </a:accent2>
      <a:accent3>
        <a:srgbClr val="70BAFF"/>
      </a:accent3>
      <a:accent4>
        <a:srgbClr val="A3D1FF"/>
      </a:accent4>
      <a:accent5>
        <a:srgbClr val="D2E8FF"/>
      </a:accent5>
      <a:accent6>
        <a:srgbClr val="E8F4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606</Words>
  <Application>Microsoft Macintosh PowerPoint</Application>
  <PresentationFormat>Widescreen</PresentationFormat>
  <Paragraphs>116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Inter SemiBold</vt:lpstr>
      <vt:lpstr>Arial</vt:lpstr>
      <vt:lpstr>Inter Light</vt:lpstr>
      <vt:lpstr>Inter</vt:lpstr>
      <vt:lpstr>Inter Medium</vt:lpstr>
      <vt:lpstr>White</vt:lpstr>
      <vt:lpstr>Theme 01</vt:lpstr>
      <vt:lpstr>Luma  Robotics</vt:lpstr>
      <vt:lpstr>Luma  Robotics</vt:lpstr>
      <vt:lpstr>Table of Contents</vt:lpstr>
      <vt:lpstr>Manufacturing can’t keep up</vt:lpstr>
      <vt:lpstr>Manufacturing can’t keep up</vt:lpstr>
      <vt:lpstr>Manufacturing can’t keep up</vt:lpstr>
      <vt:lpstr>Adaptive, intelligent robotics that learn, adapt, and improve</vt:lpstr>
      <vt:lpstr>Adaptive, intelligent robotics that learn, adapt, and improve</vt:lpstr>
      <vt:lpstr>Industrial automation adoption is accelerating</vt:lpstr>
      <vt:lpstr>40%</vt:lpstr>
      <vt:lpstr>Expanding from mid-sized manufacturers to enterprise clients by 2027</vt:lpstr>
      <vt:lpstr>Let’s build the factories of the future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Oona Gleeson</cp:lastModifiedBy>
  <cp:revision>5</cp:revision>
  <dcterms:modified xsi:type="dcterms:W3CDTF">2026-01-27T02:54:14Z</dcterms:modified>
</cp:coreProperties>
</file>