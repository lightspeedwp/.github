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62" r:id="rId5"/>
    <p:sldId id="275" r:id="rId6"/>
    <p:sldId id="257" r:id="rId7"/>
    <p:sldId id="259" r:id="rId8"/>
    <p:sldId id="260" r:id="rId9"/>
    <p:sldId id="263" r:id="rId10"/>
    <p:sldId id="261" r:id="rId11"/>
    <p:sldId id="264" r:id="rId12"/>
    <p:sldId id="272"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26A"/>
    <a:srgbClr val="192523"/>
    <a:srgbClr val="DEDAD1"/>
    <a:srgbClr val="E4EDF3"/>
    <a:srgbClr val="BDD6B2"/>
    <a:srgbClr val="FFFBEE"/>
    <a:srgbClr val="B4B1AA"/>
    <a:srgbClr val="94908C"/>
    <a:srgbClr val="ADD0B1"/>
    <a:srgbClr val="E7E7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6F5C35-8D22-F647-90F7-CCA07437F548}" v="46" dt="2025-11-04T23:38:49.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82"/>
    <p:restoredTop sz="94638"/>
  </p:normalViewPr>
  <p:slideViewPr>
    <p:cSldViewPr snapToGrid="0">
      <p:cViewPr>
        <p:scale>
          <a:sx n="142" d="100"/>
          <a:sy n="142" d="100"/>
        </p:scale>
        <p:origin x="1792" y="8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bg1"/>
                </a:solidFill>
                <a:latin typeface="Avenir Book" panose="02000503020000020003" pitchFamily="2" charset="0"/>
                <a:ea typeface="+mn-ea"/>
                <a:cs typeface="+mn-cs"/>
              </a:defRPr>
            </a:pPr>
            <a:r>
              <a:rPr lang="en-GB">
                <a:solidFill>
                  <a:schemeClr val="bg1"/>
                </a:solidFill>
                <a:latin typeface="Avenir Book" panose="02000503020000020003" pitchFamily="2" charset="0"/>
              </a:rPr>
              <a:t>Cost Efficiency &amp; Margin Improvement</a:t>
            </a:r>
            <a:endParaRPr lang="en-US">
              <a:solidFill>
                <a:schemeClr val="bg1"/>
              </a:solidFill>
              <a:latin typeface="Avenir Book" panose="02000503020000020003" pitchFamily="2" charset="0"/>
            </a:endParaRP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bg1"/>
              </a:solidFill>
              <a:latin typeface="Avenir Book" panose="02000503020000020003" pitchFamily="2" charset="0"/>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6CE534"/>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Claims Automation</c:v>
                </c:pt>
                <c:pt idx="1">
                  <c:v>Process Optimization</c:v>
                </c:pt>
                <c:pt idx="2">
                  <c:v>Pricing &amp; Underwriting</c:v>
                </c:pt>
              </c:strCache>
            </c:strRef>
          </c:cat>
          <c:val>
            <c:numRef>
              <c:f>Sheet1!$B$2:$B$4</c:f>
              <c:numCache>
                <c:formatCode>0%</c:formatCode>
                <c:ptCount val="3"/>
                <c:pt idx="0">
                  <c:v>0.45</c:v>
                </c:pt>
                <c:pt idx="1">
                  <c:v>0.25</c:v>
                </c:pt>
                <c:pt idx="2">
                  <c:v>0.1</c:v>
                </c:pt>
              </c:numCache>
            </c:numRef>
          </c:val>
          <c:extLst>
            <c:ext xmlns:c16="http://schemas.microsoft.com/office/drawing/2014/chart" uri="{C3380CC4-5D6E-409C-BE32-E72D297353CC}">
              <c16:uniqueId val="{00000000-16BE-744F-85D0-219A434966AE}"/>
            </c:ext>
          </c:extLst>
        </c:ser>
        <c:ser>
          <c:idx val="1"/>
          <c:order val="1"/>
          <c:tx>
            <c:strRef>
              <c:f>Sheet1!$C$1</c:f>
              <c:strCache>
                <c:ptCount val="1"/>
                <c:pt idx="0">
                  <c:v>Series 2</c:v>
                </c:pt>
              </c:strCache>
            </c:strRef>
          </c:tx>
          <c:spPr>
            <a:solidFill>
              <a:schemeClr val="bg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bg1"/>
                    </a:solidFill>
                    <a:latin typeface="Avenir Book" panose="02000503020000020003"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Claims Automation</c:v>
                </c:pt>
                <c:pt idx="1">
                  <c:v>Process Optimization</c:v>
                </c:pt>
                <c:pt idx="2">
                  <c:v>Pricing &amp; Underwriting</c:v>
                </c:pt>
              </c:strCache>
            </c:strRef>
          </c:cat>
          <c:val>
            <c:numRef>
              <c:f>Sheet1!$C$2:$C$4</c:f>
              <c:numCache>
                <c:formatCode>General</c:formatCode>
                <c:ptCount val="3"/>
                <c:pt idx="0">
                  <c:v>1.7</c:v>
                </c:pt>
                <c:pt idx="1">
                  <c:v>0.9</c:v>
                </c:pt>
                <c:pt idx="2">
                  <c:v>0.4</c:v>
                </c:pt>
              </c:numCache>
            </c:numRef>
          </c:val>
          <c:extLst>
            <c:ext xmlns:c16="http://schemas.microsoft.com/office/drawing/2014/chart" uri="{C3380CC4-5D6E-409C-BE32-E72D297353CC}">
              <c16:uniqueId val="{00000001-16BE-744F-85D0-219A434966AE}"/>
            </c:ext>
          </c:extLst>
        </c:ser>
        <c:dLbls>
          <c:dLblPos val="outEnd"/>
          <c:showLegendKey val="0"/>
          <c:showVal val="1"/>
          <c:showCatName val="0"/>
          <c:showSerName val="0"/>
          <c:showPercent val="0"/>
          <c:showBubbleSize val="0"/>
        </c:dLbls>
        <c:gapWidth val="444"/>
        <c:overlap val="-90"/>
        <c:axId val="1092100383"/>
        <c:axId val="1091909951"/>
      </c:barChart>
      <c:catAx>
        <c:axId val="109210038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bg1"/>
                </a:solidFill>
                <a:latin typeface="Avenir Book" panose="02000503020000020003" pitchFamily="2" charset="0"/>
                <a:ea typeface="+mn-ea"/>
                <a:cs typeface="+mn-cs"/>
              </a:defRPr>
            </a:pPr>
            <a:endParaRPr lang="en-US"/>
          </a:p>
        </c:txPr>
        <c:crossAx val="1091909951"/>
        <c:crosses val="autoZero"/>
        <c:auto val="1"/>
        <c:lblAlgn val="ctr"/>
        <c:lblOffset val="100"/>
        <c:noMultiLvlLbl val="0"/>
      </c:catAx>
      <c:valAx>
        <c:axId val="1091909951"/>
        <c:scaling>
          <c:orientation val="minMax"/>
        </c:scaling>
        <c:delete val="1"/>
        <c:axPos val="l"/>
        <c:numFmt formatCode="0%" sourceLinked="1"/>
        <c:majorTickMark val="none"/>
        <c:minorTickMark val="none"/>
        <c:tickLblPos val="nextTo"/>
        <c:crossAx val="1092100383"/>
        <c:crosses val="autoZero"/>
        <c:crossBetween val="between"/>
      </c:valAx>
      <c:spPr>
        <a:noFill/>
        <a:ln>
          <a:noFill/>
        </a:ln>
        <a:effectLst/>
      </c:spPr>
    </c:plotArea>
    <c:legend>
      <c:legendPos val="t"/>
      <c:layout>
        <c:manualLayout>
          <c:xMode val="edge"/>
          <c:yMode val="edge"/>
          <c:x val="0.10776247185224741"/>
          <c:y val="0.15045497560557833"/>
          <c:w val="0.76496561783344819"/>
          <c:h val="4.597674301734895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venir Book" panose="02000503020000020003"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Industry Average Impact</c:v>
                </c:pt>
              </c:strCache>
            </c:strRef>
          </c:tx>
          <c:spPr>
            <a:solidFill>
              <a:srgbClr val="BDD6B2"/>
            </a:solidFill>
            <a:ln>
              <a:noFill/>
            </a:ln>
            <a:effectLst/>
          </c:spPr>
          <c:invertIfNegative val="0"/>
          <c:cat>
            <c:strRef>
              <c:f>Sheet1!$A$2:$A$4</c:f>
              <c:strCache>
                <c:ptCount val="3"/>
                <c:pt idx="0">
                  <c:v>Manual reporting delays</c:v>
                </c:pt>
                <c:pt idx="1">
                  <c:v>Inefficient cost controls</c:v>
                </c:pt>
                <c:pt idx="2">
                  <c:v>Fragmented forecasting tools</c:v>
                </c:pt>
              </c:strCache>
            </c:strRef>
          </c:cat>
          <c:val>
            <c:numRef>
              <c:f>Sheet1!$B$2:$B$4</c:f>
              <c:numCache>
                <c:formatCode>0%</c:formatCode>
                <c:ptCount val="3"/>
                <c:pt idx="0">
                  <c:v>0.38</c:v>
                </c:pt>
                <c:pt idx="1">
                  <c:v>0.22</c:v>
                </c:pt>
                <c:pt idx="2">
                  <c:v>0.45</c:v>
                </c:pt>
              </c:numCache>
            </c:numRef>
          </c:val>
          <c:extLst>
            <c:ext xmlns:c16="http://schemas.microsoft.com/office/drawing/2014/chart" uri="{C3380CC4-5D6E-409C-BE32-E72D297353CC}">
              <c16:uniqueId val="{00000000-B793-3444-B958-BA9ED821670F}"/>
            </c:ext>
          </c:extLst>
        </c:ser>
        <c:ser>
          <c:idx val="1"/>
          <c:order val="1"/>
          <c:tx>
            <c:strRef>
              <c:f>Sheet1!$C$1</c:f>
              <c:strCache>
                <c:ptCount val="1"/>
                <c:pt idx="0">
                  <c:v>Cursor Optimization</c:v>
                </c:pt>
              </c:strCache>
            </c:strRef>
          </c:tx>
          <c:spPr>
            <a:solidFill>
              <a:srgbClr val="192523"/>
            </a:solidFill>
            <a:ln>
              <a:noFill/>
            </a:ln>
            <a:effectLst/>
          </c:spPr>
          <c:invertIfNegative val="0"/>
          <c:cat>
            <c:strRef>
              <c:f>Sheet1!$A$2:$A$4</c:f>
              <c:strCache>
                <c:ptCount val="3"/>
                <c:pt idx="0">
                  <c:v>Manual reporting delays</c:v>
                </c:pt>
                <c:pt idx="1">
                  <c:v>Inefficient cost controls</c:v>
                </c:pt>
                <c:pt idx="2">
                  <c:v>Fragmented forecasting tools</c:v>
                </c:pt>
              </c:strCache>
            </c:strRef>
          </c:cat>
          <c:val>
            <c:numRef>
              <c:f>Sheet1!$C$2:$C$4</c:f>
              <c:numCache>
                <c:formatCode>0%</c:formatCode>
                <c:ptCount val="3"/>
                <c:pt idx="0">
                  <c:v>0.12</c:v>
                </c:pt>
                <c:pt idx="1">
                  <c:v>0.08</c:v>
                </c:pt>
                <c:pt idx="2">
                  <c:v>0.1</c:v>
                </c:pt>
              </c:numCache>
            </c:numRef>
          </c:val>
          <c:extLst>
            <c:ext xmlns:c16="http://schemas.microsoft.com/office/drawing/2014/chart" uri="{C3380CC4-5D6E-409C-BE32-E72D297353CC}">
              <c16:uniqueId val="{00000001-B793-3444-B958-BA9ED821670F}"/>
            </c:ext>
          </c:extLst>
        </c:ser>
        <c:dLbls>
          <c:showLegendKey val="0"/>
          <c:showVal val="0"/>
          <c:showCatName val="0"/>
          <c:showSerName val="0"/>
          <c:showPercent val="0"/>
          <c:showBubbleSize val="0"/>
        </c:dLbls>
        <c:gapWidth val="219"/>
        <c:overlap val="-27"/>
        <c:axId val="1301646319"/>
        <c:axId val="1301577695"/>
      </c:barChart>
      <c:catAx>
        <c:axId val="13016463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Avenir Book" panose="02000503020000020003" pitchFamily="2" charset="0"/>
                <a:ea typeface="+mn-ea"/>
                <a:cs typeface="+mn-cs"/>
              </a:defRPr>
            </a:pPr>
            <a:endParaRPr lang="en-US"/>
          </a:p>
        </c:txPr>
        <c:crossAx val="1301577695"/>
        <c:crosses val="autoZero"/>
        <c:auto val="1"/>
        <c:lblAlgn val="ctr"/>
        <c:lblOffset val="100"/>
        <c:noMultiLvlLbl val="0"/>
      </c:catAx>
      <c:valAx>
        <c:axId val="130157769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Avenir Book" panose="02000503020000020003" pitchFamily="2" charset="0"/>
                <a:ea typeface="+mn-ea"/>
                <a:cs typeface="+mn-cs"/>
              </a:defRPr>
            </a:pPr>
            <a:endParaRPr lang="en-US"/>
          </a:p>
        </c:txPr>
        <c:crossAx val="13016463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Avenir Book" panose="02000503020000020003"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dPt>
            <c:idx val="0"/>
            <c:bubble3D val="0"/>
            <c:spPr>
              <a:solidFill>
                <a:srgbClr val="ADD0B1"/>
              </a:solidFill>
              <a:ln>
                <a:noFill/>
              </a:ln>
              <a:effectLst/>
            </c:spPr>
            <c:extLst>
              <c:ext xmlns:c16="http://schemas.microsoft.com/office/drawing/2014/chart" uri="{C3380CC4-5D6E-409C-BE32-E72D297353CC}">
                <c16:uniqueId val="{00000002-2D63-304E-A994-59D4ED30C649}"/>
              </c:ext>
            </c:extLst>
          </c:dPt>
          <c:dPt>
            <c:idx val="1"/>
            <c:bubble3D val="0"/>
            <c:spPr>
              <a:solidFill>
                <a:schemeClr val="accent6">
                  <a:lumMod val="75000"/>
                </a:schemeClr>
              </a:solidFill>
              <a:ln>
                <a:noFill/>
              </a:ln>
              <a:effectLst/>
            </c:spPr>
            <c:extLst>
              <c:ext xmlns:c16="http://schemas.microsoft.com/office/drawing/2014/chart" uri="{C3380CC4-5D6E-409C-BE32-E72D297353CC}">
                <c16:uniqueId val="{00000001-2D63-304E-A994-59D4ED30C649}"/>
              </c:ext>
            </c:extLst>
          </c:dPt>
          <c:dLbls>
            <c:dLbl>
              <c:idx val="0"/>
              <c:layout>
                <c:manualLayout>
                  <c:x val="5.1127550979328661E-2"/>
                  <c:y val="0.19609106788738551"/>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Avenir Heavy" panose="02000503020000020003" pitchFamily="2" charset="0"/>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2-2D63-304E-A994-59D4ED30C649}"/>
                </c:ext>
              </c:extLst>
            </c:dLbl>
            <c:dLbl>
              <c:idx val="1"/>
              <c:layout>
                <c:manualLayout>
                  <c:x val="-5.5775510159267627E-2"/>
                  <c:y val="-0.1918282185854859"/>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Avenir Heavy" panose="02000503020000020003" pitchFamily="2" charset="0"/>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D63-304E-A994-59D4ED30C64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Sheet1!$A$2:$A$3</c:f>
              <c:strCache>
                <c:ptCount val="2"/>
                <c:pt idx="0">
                  <c:v>efficiency score</c:v>
                </c:pt>
                <c:pt idx="1">
                  <c:v>industry average</c:v>
                </c:pt>
              </c:strCache>
            </c:strRef>
          </c:cat>
          <c:val>
            <c:numRef>
              <c:f>Sheet1!$B$2:$B$3</c:f>
              <c:numCache>
                <c:formatCode>0%</c:formatCode>
                <c:ptCount val="2"/>
                <c:pt idx="0">
                  <c:v>0.87</c:v>
                </c:pt>
                <c:pt idx="1">
                  <c:v>0.65</c:v>
                </c:pt>
              </c:numCache>
            </c:numRef>
          </c:val>
          <c:extLst>
            <c:ext xmlns:c16="http://schemas.microsoft.com/office/drawing/2014/chart" uri="{C3380CC4-5D6E-409C-BE32-E72D297353CC}">
              <c16:uniqueId val="{00000000-2D63-304E-A994-59D4ED30C649}"/>
            </c:ext>
          </c:extLst>
        </c:ser>
        <c:dLbls>
          <c:showLegendKey val="0"/>
          <c:showVal val="0"/>
          <c:showCatName val="0"/>
          <c:showSerName val="0"/>
          <c:showPercent val="1"/>
          <c:showBubbleSize val="0"/>
          <c:showLeaderLines val="0"/>
        </c:dLbls>
        <c:firstSliceAng val="0"/>
        <c:holeSize val="75"/>
      </c:doughnutChart>
      <c:spPr>
        <a:noFill/>
        <a:ln>
          <a:noFill/>
        </a:ln>
        <a:effectLst/>
      </c:spPr>
    </c:plotArea>
    <c:legend>
      <c:legendPos val="b"/>
      <c:layout>
        <c:manualLayout>
          <c:xMode val="edge"/>
          <c:yMode val="edge"/>
          <c:x val="4.9999963401896212E-2"/>
          <c:y val="0.81900411784529414"/>
          <c:w val="0.89999970721516975"/>
          <c:h val="8.721319751291273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dPt>
            <c:idx val="0"/>
            <c:bubble3D val="0"/>
            <c:spPr>
              <a:solidFill>
                <a:srgbClr val="DEDAD1"/>
              </a:solidFill>
              <a:ln>
                <a:noFill/>
              </a:ln>
              <a:effectLst/>
            </c:spPr>
            <c:extLst>
              <c:ext xmlns:c16="http://schemas.microsoft.com/office/drawing/2014/chart" uri="{C3380CC4-5D6E-409C-BE32-E72D297353CC}">
                <c16:uniqueId val="{00000002-2D63-304E-A994-59D4ED30C649}"/>
              </c:ext>
            </c:extLst>
          </c:dPt>
          <c:dPt>
            <c:idx val="1"/>
            <c:bubble3D val="0"/>
            <c:spPr>
              <a:solidFill>
                <a:srgbClr val="94908C"/>
              </a:solidFill>
              <a:ln>
                <a:noFill/>
              </a:ln>
              <a:effectLst/>
            </c:spPr>
            <c:extLst>
              <c:ext xmlns:c16="http://schemas.microsoft.com/office/drawing/2014/chart" uri="{C3380CC4-5D6E-409C-BE32-E72D297353CC}">
                <c16:uniqueId val="{00000001-2D63-304E-A994-59D4ED30C649}"/>
              </c:ext>
            </c:extLst>
          </c:dPt>
          <c:dLbls>
            <c:dLbl>
              <c:idx val="0"/>
              <c:layout>
                <c:manualLayout>
                  <c:x val="0.11155102031853525"/>
                  <c:y val="-8.099413673609405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Avenir Heavy" panose="02000503020000020003" pitchFamily="2" charset="0"/>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2-2D63-304E-A994-59D4ED30C649}"/>
                </c:ext>
              </c:extLst>
            </c:dLbl>
            <c:dLbl>
              <c:idx val="1"/>
              <c:layout>
                <c:manualLayout>
                  <c:x val="-8.3663265238901441E-2"/>
                  <c:y val="-0.40497068368047023"/>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Avenir Heavy" panose="02000503020000020003" pitchFamily="2" charset="0"/>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D63-304E-A994-59D4ED30C64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Sheet1!$A$2:$A$3</c:f>
              <c:strCache>
                <c:ptCount val="2"/>
                <c:pt idx="0">
                  <c:v>intelligent systems</c:v>
                </c:pt>
                <c:pt idx="1">
                  <c:v>automation</c:v>
                </c:pt>
              </c:strCache>
            </c:strRef>
          </c:cat>
          <c:val>
            <c:numRef>
              <c:f>Sheet1!$B$2:$B$3</c:f>
              <c:numCache>
                <c:formatCode>0%</c:formatCode>
                <c:ptCount val="2"/>
                <c:pt idx="0">
                  <c:v>0.38</c:v>
                </c:pt>
                <c:pt idx="1">
                  <c:v>0.72</c:v>
                </c:pt>
              </c:numCache>
            </c:numRef>
          </c:val>
          <c:extLst>
            <c:ext xmlns:c16="http://schemas.microsoft.com/office/drawing/2014/chart" uri="{C3380CC4-5D6E-409C-BE32-E72D297353CC}">
              <c16:uniqueId val="{00000000-2D63-304E-A994-59D4ED30C649}"/>
            </c:ext>
          </c:extLst>
        </c:ser>
        <c:dLbls>
          <c:showLegendKey val="0"/>
          <c:showVal val="0"/>
          <c:showCatName val="0"/>
          <c:showSerName val="0"/>
          <c:showPercent val="1"/>
          <c:showBubbleSize val="0"/>
          <c:showLeaderLines val="0"/>
        </c:dLbls>
        <c:firstSliceAng val="0"/>
        <c:holeSize val="75"/>
      </c:doughnutChart>
      <c:spPr>
        <a:noFill/>
        <a:ln>
          <a:noFill/>
        </a:ln>
        <a:effectLst/>
      </c:spPr>
    </c:plotArea>
    <c:legend>
      <c:legendPos val="b"/>
      <c:layout>
        <c:manualLayout>
          <c:xMode val="edge"/>
          <c:yMode val="edge"/>
          <c:x val="4.9999963401896212E-2"/>
          <c:y val="0.81900411784529414"/>
          <c:w val="0.89999970721516975"/>
          <c:h val="8.721319751291273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dPt>
            <c:idx val="0"/>
            <c:bubble3D val="0"/>
            <c:spPr>
              <a:solidFill>
                <a:srgbClr val="BDD6B2"/>
              </a:solidFill>
              <a:ln>
                <a:noFill/>
              </a:ln>
              <a:effectLst/>
            </c:spPr>
            <c:extLst>
              <c:ext xmlns:c16="http://schemas.microsoft.com/office/drawing/2014/chart" uri="{C3380CC4-5D6E-409C-BE32-E72D297353CC}">
                <c16:uniqueId val="{00000002-2D63-304E-A994-59D4ED30C649}"/>
              </c:ext>
            </c:extLst>
          </c:dPt>
          <c:dPt>
            <c:idx val="1"/>
            <c:bubble3D val="0"/>
            <c:spPr>
              <a:solidFill>
                <a:srgbClr val="192523"/>
              </a:solidFill>
              <a:ln>
                <a:noFill/>
              </a:ln>
              <a:effectLst/>
            </c:spPr>
            <c:extLst>
              <c:ext xmlns:c16="http://schemas.microsoft.com/office/drawing/2014/chart" uri="{C3380CC4-5D6E-409C-BE32-E72D297353CC}">
                <c16:uniqueId val="{00000001-2D63-304E-A994-59D4ED30C649}"/>
              </c:ext>
            </c:extLst>
          </c:dPt>
          <c:dLbls>
            <c:dLbl>
              <c:idx val="0"/>
              <c:layout>
                <c:manualLayout>
                  <c:x val="0.11155102031853525"/>
                  <c:y val="-8.099413673609405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Avenir Heavy" panose="02000503020000020003" pitchFamily="2" charset="0"/>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2-2D63-304E-A994-59D4ED30C649}"/>
                </c:ext>
              </c:extLst>
            </c:dLbl>
            <c:dLbl>
              <c:idx val="1"/>
              <c:layout>
                <c:manualLayout>
                  <c:x val="-8.3663265238901441E-2"/>
                  <c:y val="-0.40497068368047023"/>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Avenir Heavy" panose="02000503020000020003" pitchFamily="2" charset="0"/>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D63-304E-A994-59D4ED30C64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Sheet1!$A$2:$A$3</c:f>
              <c:strCache>
                <c:ptCount val="2"/>
                <c:pt idx="0">
                  <c:v>intelligent systems</c:v>
                </c:pt>
                <c:pt idx="1">
                  <c:v>automation</c:v>
                </c:pt>
              </c:strCache>
            </c:strRef>
          </c:cat>
          <c:val>
            <c:numRef>
              <c:f>Sheet1!$B$2:$B$3</c:f>
              <c:numCache>
                <c:formatCode>0%</c:formatCode>
                <c:ptCount val="2"/>
                <c:pt idx="0">
                  <c:v>0.38</c:v>
                </c:pt>
                <c:pt idx="1">
                  <c:v>0.72</c:v>
                </c:pt>
              </c:numCache>
            </c:numRef>
          </c:val>
          <c:extLst>
            <c:ext xmlns:c16="http://schemas.microsoft.com/office/drawing/2014/chart" uri="{C3380CC4-5D6E-409C-BE32-E72D297353CC}">
              <c16:uniqueId val="{00000000-2D63-304E-A994-59D4ED30C649}"/>
            </c:ext>
          </c:extLst>
        </c:ser>
        <c:dLbls>
          <c:showLegendKey val="0"/>
          <c:showVal val="0"/>
          <c:showCatName val="0"/>
          <c:showSerName val="0"/>
          <c:showPercent val="1"/>
          <c:showBubbleSize val="0"/>
          <c:showLeaderLines val="0"/>
        </c:dLbls>
        <c:firstSliceAng val="0"/>
        <c:holeSize val="75"/>
      </c:doughnutChart>
      <c:spPr>
        <a:noFill/>
        <a:ln>
          <a:noFill/>
        </a:ln>
        <a:effectLst/>
      </c:spPr>
    </c:plotArea>
    <c:legend>
      <c:legendPos val="b"/>
      <c:layout>
        <c:manualLayout>
          <c:xMode val="edge"/>
          <c:yMode val="edge"/>
          <c:x val="4.9999963401896212E-2"/>
          <c:y val="0.81900411784529414"/>
          <c:w val="0.89999970721516975"/>
          <c:h val="8.721319751291273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t" anchorCtr="0"/>
          <a:lstStyle/>
          <a:p>
            <a:pPr>
              <a:defRPr sz="1800" b="1" i="0" u="none" strike="noStrike" kern="1200" cap="all" spc="120" normalizeH="0" baseline="0">
                <a:solidFill>
                  <a:srgbClr val="192523"/>
                </a:solidFill>
                <a:latin typeface="Avenir Book" panose="02000503020000020003" pitchFamily="2" charset="0"/>
                <a:ea typeface="+mn-ea"/>
                <a:cs typeface="+mn-cs"/>
              </a:defRPr>
            </a:pPr>
            <a:r>
              <a:rPr lang="en-GB" sz="1800" dirty="0">
                <a:solidFill>
                  <a:srgbClr val="192523"/>
                </a:solidFill>
                <a:latin typeface="Avenir Book" panose="02000503020000020003" pitchFamily="2" charset="0"/>
              </a:rPr>
              <a:t>Cost Efficiency &amp;</a:t>
            </a:r>
            <a:r>
              <a:rPr lang="en-GB" sz="1800" baseline="0" dirty="0">
                <a:solidFill>
                  <a:srgbClr val="192523"/>
                </a:solidFill>
                <a:latin typeface="Avenir Book" panose="02000503020000020003" pitchFamily="2" charset="0"/>
              </a:rPr>
              <a:t> </a:t>
            </a:r>
            <a:r>
              <a:rPr lang="en-GB" sz="1800" dirty="0">
                <a:solidFill>
                  <a:srgbClr val="192523"/>
                </a:solidFill>
                <a:latin typeface="Avenir Book" panose="02000503020000020003" pitchFamily="2" charset="0"/>
              </a:rPr>
              <a:t>Margin Improvement</a:t>
            </a:r>
            <a:endParaRPr lang="en-US" sz="1800" dirty="0">
              <a:solidFill>
                <a:srgbClr val="192523"/>
              </a:solidFill>
              <a:latin typeface="Avenir Book" panose="02000503020000020003" pitchFamily="2" charset="0"/>
            </a:endParaRPr>
          </a:p>
        </c:rich>
      </c:tx>
      <c:layout>
        <c:manualLayout>
          <c:xMode val="edge"/>
          <c:yMode val="edge"/>
          <c:x val="0.19885436129352227"/>
          <c:y val="1.5371348170113621E-2"/>
        </c:manualLayout>
      </c:layout>
      <c:overlay val="0"/>
      <c:spPr>
        <a:noFill/>
        <a:ln>
          <a:noFill/>
        </a:ln>
        <a:effectLst/>
      </c:spPr>
      <c:txPr>
        <a:bodyPr rot="0" spcFirstLastPara="1" vertOverflow="ellipsis" vert="horz" wrap="square" anchor="t" anchorCtr="0"/>
        <a:lstStyle/>
        <a:p>
          <a:pPr>
            <a:defRPr sz="1800" b="1" i="0" u="none" strike="noStrike" kern="1200" cap="all" spc="120" normalizeH="0" baseline="0">
              <a:solidFill>
                <a:srgbClr val="192523"/>
              </a:solidFill>
              <a:latin typeface="Avenir Book" panose="02000503020000020003" pitchFamily="2" charset="0"/>
              <a:ea typeface="+mn-ea"/>
              <a:cs typeface="+mn-cs"/>
            </a:defRPr>
          </a:pPr>
          <a:endParaRPr lang="en-US"/>
        </a:p>
      </c:txPr>
    </c:title>
    <c:autoTitleDeleted val="0"/>
    <c:plotArea>
      <c:layout>
        <c:manualLayout>
          <c:layoutTarget val="inner"/>
          <c:xMode val="edge"/>
          <c:yMode val="edge"/>
          <c:x val="0.18398966094803737"/>
          <c:y val="0.23372477822997514"/>
          <c:w val="0.79799682249268611"/>
          <c:h val="0.66978612241604518"/>
        </c:manualLayout>
      </c:layout>
      <c:barChart>
        <c:barDir val="col"/>
        <c:grouping val="clustered"/>
        <c:varyColors val="0"/>
        <c:ser>
          <c:idx val="0"/>
          <c:order val="0"/>
          <c:tx>
            <c:strRef>
              <c:f>Sheet1!$B$1</c:f>
              <c:strCache>
                <c:ptCount val="1"/>
                <c:pt idx="0">
                  <c:v>Series 1</c:v>
                </c:pt>
              </c:strCache>
            </c:strRef>
          </c:tx>
          <c:spPr>
            <a:solidFill>
              <a:srgbClr val="19252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rgbClr val="192523"/>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Claims Automation</c:v>
                </c:pt>
                <c:pt idx="1">
                  <c:v>Process Optimization</c:v>
                </c:pt>
                <c:pt idx="2">
                  <c:v>Pricing &amp; Underwriting</c:v>
                </c:pt>
              </c:strCache>
            </c:strRef>
          </c:cat>
          <c:val>
            <c:numRef>
              <c:f>Sheet1!$B$2:$B$4</c:f>
              <c:numCache>
                <c:formatCode>0%</c:formatCode>
                <c:ptCount val="3"/>
                <c:pt idx="0">
                  <c:v>0.45</c:v>
                </c:pt>
                <c:pt idx="1">
                  <c:v>0.25</c:v>
                </c:pt>
                <c:pt idx="2">
                  <c:v>0.1</c:v>
                </c:pt>
              </c:numCache>
            </c:numRef>
          </c:val>
          <c:extLst>
            <c:ext xmlns:c16="http://schemas.microsoft.com/office/drawing/2014/chart" uri="{C3380CC4-5D6E-409C-BE32-E72D297353CC}">
              <c16:uniqueId val="{00000000-505A-F74F-BA65-E6552BFEFF0B}"/>
            </c:ext>
          </c:extLst>
        </c:ser>
        <c:ser>
          <c:idx val="1"/>
          <c:order val="1"/>
          <c:tx>
            <c:strRef>
              <c:f>Sheet1!$C$1</c:f>
              <c:strCache>
                <c:ptCount val="1"/>
                <c:pt idx="0">
                  <c:v>Series 2</c:v>
                </c:pt>
              </c:strCache>
            </c:strRef>
          </c:tx>
          <c:spPr>
            <a:solidFill>
              <a:srgbClr val="ADD0B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rgbClr val="192523"/>
                    </a:solidFill>
                    <a:latin typeface="Avenir Book" panose="02000503020000020003"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Claims Automation</c:v>
                </c:pt>
                <c:pt idx="1">
                  <c:v>Process Optimization</c:v>
                </c:pt>
                <c:pt idx="2">
                  <c:v>Pricing &amp; Underwriting</c:v>
                </c:pt>
              </c:strCache>
            </c:strRef>
          </c:cat>
          <c:val>
            <c:numRef>
              <c:f>Sheet1!$C$2:$C$4</c:f>
              <c:numCache>
                <c:formatCode>General</c:formatCode>
                <c:ptCount val="3"/>
                <c:pt idx="0">
                  <c:v>1.7</c:v>
                </c:pt>
                <c:pt idx="1">
                  <c:v>0.9</c:v>
                </c:pt>
                <c:pt idx="2">
                  <c:v>0.4</c:v>
                </c:pt>
              </c:numCache>
            </c:numRef>
          </c:val>
          <c:extLst>
            <c:ext xmlns:c16="http://schemas.microsoft.com/office/drawing/2014/chart" uri="{C3380CC4-5D6E-409C-BE32-E72D297353CC}">
              <c16:uniqueId val="{00000001-505A-F74F-BA65-E6552BFEFF0B}"/>
            </c:ext>
          </c:extLst>
        </c:ser>
        <c:dLbls>
          <c:dLblPos val="outEnd"/>
          <c:showLegendKey val="0"/>
          <c:showVal val="1"/>
          <c:showCatName val="0"/>
          <c:showSerName val="0"/>
          <c:showPercent val="0"/>
          <c:showBubbleSize val="0"/>
        </c:dLbls>
        <c:gapWidth val="444"/>
        <c:overlap val="-90"/>
        <c:axId val="1092100383"/>
        <c:axId val="1091909951"/>
      </c:barChart>
      <c:catAx>
        <c:axId val="109210038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all" spc="120" normalizeH="0" baseline="0">
                <a:solidFill>
                  <a:srgbClr val="192523"/>
                </a:solidFill>
                <a:latin typeface="Avenir Book" panose="02000503020000020003" pitchFamily="2" charset="0"/>
                <a:ea typeface="+mn-ea"/>
                <a:cs typeface="+mn-cs"/>
              </a:defRPr>
            </a:pPr>
            <a:endParaRPr lang="en-US"/>
          </a:p>
        </c:txPr>
        <c:crossAx val="1091909951"/>
        <c:crosses val="autoZero"/>
        <c:auto val="1"/>
        <c:lblAlgn val="ctr"/>
        <c:lblOffset val="100"/>
        <c:noMultiLvlLbl val="0"/>
      </c:catAx>
      <c:valAx>
        <c:axId val="1091909951"/>
        <c:scaling>
          <c:orientation val="minMax"/>
        </c:scaling>
        <c:delete val="1"/>
        <c:axPos val="l"/>
        <c:numFmt formatCode="0%" sourceLinked="1"/>
        <c:majorTickMark val="none"/>
        <c:minorTickMark val="none"/>
        <c:tickLblPos val="nextTo"/>
        <c:crossAx val="1092100383"/>
        <c:crosses val="autoZero"/>
        <c:crossBetween val="between"/>
      </c:valAx>
      <c:spPr>
        <a:noFill/>
        <a:ln>
          <a:noFill/>
        </a:ln>
        <a:effectLst/>
      </c:spPr>
    </c:plotArea>
    <c:legend>
      <c:legendPos val="r"/>
      <c:layout>
        <c:manualLayout>
          <c:xMode val="edge"/>
          <c:yMode val="edge"/>
          <c:x val="0.84296600620106865"/>
          <c:y val="0.14730754295454659"/>
          <c:w val="0.10904893538037282"/>
          <c:h val="0.11119254025649172"/>
        </c:manualLayout>
      </c:layout>
      <c:overlay val="0"/>
      <c:spPr>
        <a:noFill/>
        <a:ln>
          <a:noFill/>
        </a:ln>
        <a:effectLst/>
      </c:spPr>
      <c:txPr>
        <a:bodyPr rot="0" spcFirstLastPara="1" vertOverflow="ellipsis" vert="horz" wrap="square" anchor="ctr" anchorCtr="1"/>
        <a:lstStyle/>
        <a:p>
          <a:pPr>
            <a:defRPr sz="1197" b="0" i="0" u="none" strike="noStrike" kern="1200" baseline="0">
              <a:solidFill>
                <a:srgbClr val="192523"/>
              </a:solidFill>
              <a:latin typeface="Avenir Book" panose="02000503020000020003"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A9FF4C-2024-0F42-8A77-3CBE42412704}" type="datetimeFigureOut">
              <a:rPr lang="en-US" smtClean="0"/>
              <a:t>1/27/26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FF191-5A05-8B4B-969C-ABB5D73FF3CA}" type="slidenum">
              <a:rPr lang="en-US" smtClean="0"/>
              <a:t>‹#›</a:t>
            </a:fld>
            <a:endParaRPr lang="en-US"/>
          </a:p>
        </p:txBody>
      </p:sp>
    </p:spTree>
    <p:extLst>
      <p:ext uri="{BB962C8B-B14F-4D97-AF65-F5344CB8AC3E}">
        <p14:creationId xmlns:p14="http://schemas.microsoft.com/office/powerpoint/2010/main" val="1669481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EFF191-5A05-8B4B-969C-ABB5D73FF3CA}" type="slidenum">
              <a:rPr lang="en-US" smtClean="0"/>
              <a:t>1</a:t>
            </a:fld>
            <a:endParaRPr lang="en-US"/>
          </a:p>
        </p:txBody>
      </p:sp>
    </p:spTree>
    <p:extLst>
      <p:ext uri="{BB962C8B-B14F-4D97-AF65-F5344CB8AC3E}">
        <p14:creationId xmlns:p14="http://schemas.microsoft.com/office/powerpoint/2010/main" val="2165572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EFF191-5A05-8B4B-969C-ABB5D73FF3CA}" type="slidenum">
              <a:rPr lang="en-US" smtClean="0"/>
              <a:t>4</a:t>
            </a:fld>
            <a:endParaRPr lang="en-US"/>
          </a:p>
        </p:txBody>
      </p:sp>
    </p:spTree>
    <p:extLst>
      <p:ext uri="{BB962C8B-B14F-4D97-AF65-F5344CB8AC3E}">
        <p14:creationId xmlns:p14="http://schemas.microsoft.com/office/powerpoint/2010/main" val="1789132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FC147-EFFD-EB9D-4C0D-8D32F0074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CCEB6-A484-DA27-9ABC-26610C756E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BAD8CC-5C7D-287F-369A-FE57BF4B2F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26041-43CB-6550-99DB-30B9A37302B5}"/>
              </a:ext>
            </a:extLst>
          </p:cNvPr>
          <p:cNvSpPr>
            <a:spLocks noGrp="1"/>
          </p:cNvSpPr>
          <p:nvPr>
            <p:ph type="sldNum" sz="quarter" idx="5"/>
          </p:nvPr>
        </p:nvSpPr>
        <p:spPr/>
        <p:txBody>
          <a:bodyPr/>
          <a:lstStyle/>
          <a:p>
            <a:fld id="{0AEFF191-5A05-8B4B-969C-ABB5D73FF3CA}" type="slidenum">
              <a:rPr lang="en-US" smtClean="0"/>
              <a:t>5</a:t>
            </a:fld>
            <a:endParaRPr lang="en-US"/>
          </a:p>
        </p:txBody>
      </p:sp>
    </p:spTree>
    <p:extLst>
      <p:ext uri="{BB962C8B-B14F-4D97-AF65-F5344CB8AC3E}">
        <p14:creationId xmlns:p14="http://schemas.microsoft.com/office/powerpoint/2010/main" val="1138404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E0F4F-0AD2-D4F1-EA64-41F5C2FB7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105F4-1E9E-9E39-0E1C-FB4F7EAE7A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9F66D-84B4-30B2-76CE-E565A7FC79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1B6CC-90D2-8168-73C3-293A7EA9F303}"/>
              </a:ext>
            </a:extLst>
          </p:cNvPr>
          <p:cNvSpPr>
            <a:spLocks noGrp="1"/>
          </p:cNvSpPr>
          <p:nvPr>
            <p:ph type="sldNum" sz="quarter" idx="5"/>
          </p:nvPr>
        </p:nvSpPr>
        <p:spPr/>
        <p:txBody>
          <a:bodyPr/>
          <a:lstStyle/>
          <a:p>
            <a:fld id="{0AEFF191-5A05-8B4B-969C-ABB5D73FF3CA}" type="slidenum">
              <a:rPr lang="en-US" smtClean="0"/>
              <a:t>6</a:t>
            </a:fld>
            <a:endParaRPr lang="en-US"/>
          </a:p>
        </p:txBody>
      </p:sp>
    </p:spTree>
    <p:extLst>
      <p:ext uri="{BB962C8B-B14F-4D97-AF65-F5344CB8AC3E}">
        <p14:creationId xmlns:p14="http://schemas.microsoft.com/office/powerpoint/2010/main" val="3819157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75E6B-4E6D-FA0D-FE84-D6F0EB404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3DE1F-D930-2855-AB8E-66E64ECC61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2BE08-EE55-00A8-B816-BBEB1F58F2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AF4D0E-0660-101B-00C9-DB2D49C46050}"/>
              </a:ext>
            </a:extLst>
          </p:cNvPr>
          <p:cNvSpPr>
            <a:spLocks noGrp="1"/>
          </p:cNvSpPr>
          <p:nvPr>
            <p:ph type="sldNum" sz="quarter" idx="5"/>
          </p:nvPr>
        </p:nvSpPr>
        <p:spPr/>
        <p:txBody>
          <a:bodyPr/>
          <a:lstStyle/>
          <a:p>
            <a:fld id="{0AEFF191-5A05-8B4B-969C-ABB5D73FF3CA}" type="slidenum">
              <a:rPr lang="en-US" smtClean="0"/>
              <a:t>7</a:t>
            </a:fld>
            <a:endParaRPr lang="en-US"/>
          </a:p>
        </p:txBody>
      </p:sp>
    </p:spTree>
    <p:extLst>
      <p:ext uri="{BB962C8B-B14F-4D97-AF65-F5344CB8AC3E}">
        <p14:creationId xmlns:p14="http://schemas.microsoft.com/office/powerpoint/2010/main" val="3686260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7A749-2445-82B0-0A77-493EB09D6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A6A3C-F896-00A4-ECD3-A2A58C6F9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E51095-9020-0267-12E5-BC84B2184B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3AA35F-9FCB-D074-1391-F678DEF013BB}"/>
              </a:ext>
            </a:extLst>
          </p:cNvPr>
          <p:cNvSpPr>
            <a:spLocks noGrp="1"/>
          </p:cNvSpPr>
          <p:nvPr>
            <p:ph type="sldNum" sz="quarter" idx="5"/>
          </p:nvPr>
        </p:nvSpPr>
        <p:spPr/>
        <p:txBody>
          <a:bodyPr/>
          <a:lstStyle/>
          <a:p>
            <a:fld id="{0AEFF191-5A05-8B4B-969C-ABB5D73FF3CA}" type="slidenum">
              <a:rPr lang="en-US" smtClean="0"/>
              <a:t>8</a:t>
            </a:fld>
            <a:endParaRPr lang="en-US"/>
          </a:p>
        </p:txBody>
      </p:sp>
    </p:spTree>
    <p:extLst>
      <p:ext uri="{BB962C8B-B14F-4D97-AF65-F5344CB8AC3E}">
        <p14:creationId xmlns:p14="http://schemas.microsoft.com/office/powerpoint/2010/main" val="3906227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8D7AD-A841-38BE-9CCA-D74AF9BA0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69395-C751-692B-A43C-080F6BD47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47177B-68DD-E3BF-FB40-8C9962725E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770EB2-47FA-5453-971A-65E96F2A0FF8}"/>
              </a:ext>
            </a:extLst>
          </p:cNvPr>
          <p:cNvSpPr>
            <a:spLocks noGrp="1"/>
          </p:cNvSpPr>
          <p:nvPr>
            <p:ph type="sldNum" sz="quarter" idx="5"/>
          </p:nvPr>
        </p:nvSpPr>
        <p:spPr/>
        <p:txBody>
          <a:bodyPr/>
          <a:lstStyle/>
          <a:p>
            <a:fld id="{310D71F1-5BEC-4543-AE1E-3437EBCBAA76}" type="slidenum">
              <a:rPr lang="en-US" smtClean="0"/>
              <a:t>9</a:t>
            </a:fld>
            <a:endParaRPr lang="en-US"/>
          </a:p>
        </p:txBody>
      </p:sp>
    </p:spTree>
    <p:extLst>
      <p:ext uri="{BB962C8B-B14F-4D97-AF65-F5344CB8AC3E}">
        <p14:creationId xmlns:p14="http://schemas.microsoft.com/office/powerpoint/2010/main" val="3178208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C3FE3-072D-F5A1-0656-A3BCBDCDA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96BFB4-D9F4-F712-C5F0-619027711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E483F-0C1C-EC25-CD7C-38882D852D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AC9602-8947-CB12-6F2E-5DC12413C39C}"/>
              </a:ext>
            </a:extLst>
          </p:cNvPr>
          <p:cNvSpPr>
            <a:spLocks noGrp="1"/>
          </p:cNvSpPr>
          <p:nvPr>
            <p:ph type="sldNum" sz="quarter" idx="5"/>
          </p:nvPr>
        </p:nvSpPr>
        <p:spPr/>
        <p:txBody>
          <a:bodyPr/>
          <a:lstStyle/>
          <a:p>
            <a:fld id="{0AEFF191-5A05-8B4B-969C-ABB5D73FF3CA}" type="slidenum">
              <a:rPr lang="en-US" smtClean="0"/>
              <a:t>10</a:t>
            </a:fld>
            <a:endParaRPr lang="en-US"/>
          </a:p>
        </p:txBody>
      </p:sp>
    </p:spTree>
    <p:extLst>
      <p:ext uri="{BB962C8B-B14F-4D97-AF65-F5344CB8AC3E}">
        <p14:creationId xmlns:p14="http://schemas.microsoft.com/office/powerpoint/2010/main" val="2701640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48A6D-08FD-756D-4C47-B37DD5000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DBE9A-85D2-34A8-B9D6-3668ACD5E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E029E-2E48-3C0B-457D-BB93A6CF6C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5AF8AD-4272-7242-BCB3-8A3792224899}"/>
              </a:ext>
            </a:extLst>
          </p:cNvPr>
          <p:cNvSpPr>
            <a:spLocks noGrp="1"/>
          </p:cNvSpPr>
          <p:nvPr>
            <p:ph type="sldNum" sz="quarter" idx="5"/>
          </p:nvPr>
        </p:nvSpPr>
        <p:spPr/>
        <p:txBody>
          <a:bodyPr/>
          <a:lstStyle/>
          <a:p>
            <a:fld id="{0AEFF191-5A05-8B4B-969C-ABB5D73FF3CA}" type="slidenum">
              <a:rPr lang="en-US" smtClean="0"/>
              <a:t>11</a:t>
            </a:fld>
            <a:endParaRPr lang="en-US"/>
          </a:p>
        </p:txBody>
      </p:sp>
    </p:spTree>
    <p:extLst>
      <p:ext uri="{BB962C8B-B14F-4D97-AF65-F5344CB8AC3E}">
        <p14:creationId xmlns:p14="http://schemas.microsoft.com/office/powerpoint/2010/main" val="2908042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chart" Target="../charts/chart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A5574-AE91-7317-52E0-965424E0BAE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4F3DFFA-103A-CA01-4BB0-6A4880EE3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A46DE01-C6EF-6C3E-D5FE-53711391EB1C}"/>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5" name="Footer Placeholder 4">
            <a:extLst>
              <a:ext uri="{FF2B5EF4-FFF2-40B4-BE49-F238E27FC236}">
                <a16:creationId xmlns:a16="http://schemas.microsoft.com/office/drawing/2014/main" id="{99EC0B50-0A02-8F56-77B1-82B41D85F6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6C0D7-A3AC-C9A7-7683-640F3884C42F}"/>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292423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AF56E-0D82-5569-492B-C77B0E20421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ED6ADAF-125A-3F4C-503A-D8E2FF1AD30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F7E2C-1A4E-96E5-43A7-4BE73774624C}"/>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5" name="Footer Placeholder 4">
            <a:extLst>
              <a:ext uri="{FF2B5EF4-FFF2-40B4-BE49-F238E27FC236}">
                <a16:creationId xmlns:a16="http://schemas.microsoft.com/office/drawing/2014/main" id="{E5BA7015-ADA3-13D7-FF33-ED00D28FE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F213CA-4CA9-8268-6D44-2AD175B1D58E}"/>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4099216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D0D2-789F-1D8E-648F-66106053149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AAA7248-1E18-61EB-E9D1-598A8C1C2E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7D44466-ABAD-63C2-A35D-C7C0619E804E}"/>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5" name="Footer Placeholder 4">
            <a:extLst>
              <a:ext uri="{FF2B5EF4-FFF2-40B4-BE49-F238E27FC236}">
                <a16:creationId xmlns:a16="http://schemas.microsoft.com/office/drawing/2014/main" id="{84EB7531-33EC-38C3-581A-726278D74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8DBF-7FB1-9086-C84A-C38ABAFCC6AF}"/>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213971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F1586-AEA5-8FB0-D3EC-90AA09CAD61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2F5A65-33A1-4CFB-47C6-39F47EA95F9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1976DFC-E4AE-CC85-05B9-880B1710211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EEAC84A-C2F8-B755-A45B-7F4FFC858FB8}"/>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6" name="Footer Placeholder 5">
            <a:extLst>
              <a:ext uri="{FF2B5EF4-FFF2-40B4-BE49-F238E27FC236}">
                <a16:creationId xmlns:a16="http://schemas.microsoft.com/office/drawing/2014/main" id="{466F32F2-26A0-A79E-E7AD-1AF4F57C8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139B8E-53E8-65F8-331E-46024CADB809}"/>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3006795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728C0-9D68-6854-F0EF-A422F2CFD19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A45249C-9303-7FDD-31AB-BE92D83EE0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8D1FC5-3313-25A9-D694-6679058495A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1299E36-E0FB-02AE-02F6-EBD99E2232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90229C-6600-BF1D-723A-1281F8D91A0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9BB042E-8D09-DA79-3B3D-13A45C211105}"/>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8" name="Footer Placeholder 7">
            <a:extLst>
              <a:ext uri="{FF2B5EF4-FFF2-40B4-BE49-F238E27FC236}">
                <a16:creationId xmlns:a16="http://schemas.microsoft.com/office/drawing/2014/main" id="{5D15689C-5EF4-405C-C9AC-4951F9C470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7E9A21-A566-CFE3-5F42-ADEE34D06BD3}"/>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3010683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0D9CE-28C1-FBC3-FF21-B143B161D5E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1200DA3-F3BF-793F-B7F9-1B3EC440A907}"/>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4" name="Footer Placeholder 3">
            <a:extLst>
              <a:ext uri="{FF2B5EF4-FFF2-40B4-BE49-F238E27FC236}">
                <a16:creationId xmlns:a16="http://schemas.microsoft.com/office/drawing/2014/main" id="{7731AD3A-FC90-8A2F-3470-32F1CE6B32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029B9E-8D1E-9931-7741-CAAB6773EE74}"/>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648372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52F9B2-12FE-D7EE-7FFD-7EEB34813DC9}"/>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3" name="Footer Placeholder 2">
            <a:extLst>
              <a:ext uri="{FF2B5EF4-FFF2-40B4-BE49-F238E27FC236}">
                <a16:creationId xmlns:a16="http://schemas.microsoft.com/office/drawing/2014/main" id="{EC520410-2C1C-F008-014A-A1440C217C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105CF2-C9B5-991A-9018-6CF59A0AE225}"/>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3485953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D8CAE-1BA6-FE05-0777-978C067A63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1B26575-3739-AE3E-13DB-B754422F5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A3EE58D-45FA-E14E-41CD-02D5FC02A7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AE75B9-0FA5-1DC9-465C-38C853BD237E}"/>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6" name="Footer Placeholder 5">
            <a:extLst>
              <a:ext uri="{FF2B5EF4-FFF2-40B4-BE49-F238E27FC236}">
                <a16:creationId xmlns:a16="http://schemas.microsoft.com/office/drawing/2014/main" id="{8F8219C3-47E1-6E1C-B023-264552559C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1E5331-89BF-34F5-2412-EABE714C606A}"/>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1955364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232D5-4D23-27FA-B424-CC1C4D857F9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895C373-663F-CC4A-9B8B-6633C10C1E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1F7564-A035-7A90-4553-89835C8EE3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0B3FC6F-DBBF-5396-0637-9C84FDB35AB2}"/>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6" name="Footer Placeholder 5">
            <a:extLst>
              <a:ext uri="{FF2B5EF4-FFF2-40B4-BE49-F238E27FC236}">
                <a16:creationId xmlns:a16="http://schemas.microsoft.com/office/drawing/2014/main" id="{5279369E-A01A-C4E1-4A0E-8286604FB9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601A8-BDF6-34AD-C1D1-8261887E2A1F}"/>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1192355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048E-E0DA-7634-AB93-82CF83E1D62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381E1D6-E95C-4830-E646-77B64F3B88E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11294F-CB62-C474-9570-CEA3F0DDFF08}"/>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5" name="Footer Placeholder 4">
            <a:extLst>
              <a:ext uri="{FF2B5EF4-FFF2-40B4-BE49-F238E27FC236}">
                <a16:creationId xmlns:a16="http://schemas.microsoft.com/office/drawing/2014/main" id="{0620946D-03EF-D271-5F37-7F5CE4C3C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DF2DB9-4610-216F-FC62-F3B2072FCE9F}"/>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2517445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2F12E9-33EC-68BA-3887-D80E5279893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F1410FB-724F-C0A4-4D48-5FABDC98D0F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6E80692-A6CE-0495-7A1C-5142C4AB2A05}"/>
              </a:ext>
            </a:extLst>
          </p:cNvPr>
          <p:cNvSpPr>
            <a:spLocks noGrp="1"/>
          </p:cNvSpPr>
          <p:nvPr>
            <p:ph type="dt" sz="half" idx="10"/>
          </p:nvPr>
        </p:nvSpPr>
        <p:spPr/>
        <p:txBody>
          <a:bodyPr/>
          <a:lstStyle/>
          <a:p>
            <a:fld id="{BCD00079-6E58-954B-99B6-4D42C46F8309}" type="datetimeFigureOut">
              <a:rPr lang="en-US" smtClean="0"/>
              <a:t>1/27/26</a:t>
            </a:fld>
            <a:endParaRPr lang="en-US"/>
          </a:p>
        </p:txBody>
      </p:sp>
      <p:sp>
        <p:nvSpPr>
          <p:cNvPr id="5" name="Footer Placeholder 4">
            <a:extLst>
              <a:ext uri="{FF2B5EF4-FFF2-40B4-BE49-F238E27FC236}">
                <a16:creationId xmlns:a16="http://schemas.microsoft.com/office/drawing/2014/main" id="{24D54652-E29C-AB51-32FC-4AC9F86829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FAD5F-C0A4-DC34-048E-E8A99D30C830}"/>
              </a:ext>
            </a:extLst>
          </p:cNvPr>
          <p:cNvSpPr>
            <a:spLocks noGrp="1"/>
          </p:cNvSpPr>
          <p:nvPr>
            <p:ph type="sldNum" sz="quarter" idx="12"/>
          </p:nvPr>
        </p:nvSpPr>
        <p:spPr/>
        <p:txBody>
          <a:bodyPr/>
          <a:lstStyle/>
          <a:p>
            <a:fld id="{E2D4E52A-28F4-5045-A2CF-5125645CDED5}" type="slidenum">
              <a:rPr lang="en-US" smtClean="0"/>
              <a:t>‹#›</a:t>
            </a:fld>
            <a:endParaRPr lang="en-US"/>
          </a:p>
        </p:txBody>
      </p:sp>
    </p:spTree>
    <p:extLst>
      <p:ext uri="{BB962C8B-B14F-4D97-AF65-F5344CB8AC3E}">
        <p14:creationId xmlns:p14="http://schemas.microsoft.com/office/powerpoint/2010/main" val="3768055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Snip Single Corner of Rectangle 4">
            <a:extLst>
              <a:ext uri="{FF2B5EF4-FFF2-40B4-BE49-F238E27FC236}">
                <a16:creationId xmlns:a16="http://schemas.microsoft.com/office/drawing/2014/main" id="{0F3FAC8E-908D-6279-5B52-641795CAF454}"/>
              </a:ext>
            </a:extLst>
          </p:cNvPr>
          <p:cNvSpPr/>
          <p:nvPr userDrawn="1"/>
        </p:nvSpPr>
        <p:spPr>
          <a:xfrm rot="10800000" flipH="1">
            <a:off x="-3415" y="-774"/>
            <a:ext cx="6084425" cy="6847200"/>
          </a:xfrm>
          <a:prstGeom prst="snip1Rect">
            <a:avLst>
              <a:gd name="adj" fmla="val 30899"/>
            </a:avLst>
          </a:prstGeom>
          <a:blipFill dpi="0" rotWithShape="0">
            <a:blip r:embed="rId2" cstate="hqprint">
              <a:extLst>
                <a:ext uri="{BEBA8EAE-BF5A-486C-A8C5-ECC9F3942E4B}">
                  <a14:imgProps xmlns:a14="http://schemas.microsoft.com/office/drawing/2010/main">
                    <a14:imgLayer r:embed="rId3">
                      <a14:imgEffect>
                        <a14:artisticBlur radius="46"/>
                      </a14:imgEffect>
                      <a14:imgEffect>
                        <a14:brightnessContrast bright="-20000" contrast="4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D04A36A-05B2-E716-C754-7CB72CA99658}"/>
              </a:ext>
            </a:extLst>
          </p:cNvPr>
          <p:cNvSpPr>
            <a:spLocks noGrp="1"/>
          </p:cNvSpPr>
          <p:nvPr>
            <p:ph type="title" idx="4294967295"/>
          </p:nvPr>
        </p:nvSpPr>
        <p:spPr>
          <a:xfrm>
            <a:off x="482922" y="1296794"/>
            <a:ext cx="5111750" cy="2971800"/>
          </a:xfrm>
        </p:spPr>
        <p:txBody>
          <a:bodyPr>
            <a:noAutofit/>
          </a:bodyPr>
          <a:lstStyle/>
          <a:p>
            <a:r>
              <a:rPr lang="en-GB" b="1" dirty="0">
                <a:solidFill>
                  <a:schemeClr val="bg1"/>
                </a:solidFill>
                <a:latin typeface="Avenir Heavy" panose="02000503020000020003" pitchFamily="2" charset="0"/>
              </a:rPr>
              <a:t>Quantifying Value Creation Across Operations &amp; Financial Performance</a:t>
            </a:r>
            <a:endParaRPr lang="en-US" b="1" dirty="0">
              <a:solidFill>
                <a:schemeClr val="bg1"/>
              </a:solidFill>
              <a:latin typeface="Avenir Heavy" panose="02000503020000020003" pitchFamily="2" charset="0"/>
            </a:endParaRPr>
          </a:p>
        </p:txBody>
      </p:sp>
      <p:sp>
        <p:nvSpPr>
          <p:cNvPr id="7" name="Content Placeholder 2">
            <a:extLst>
              <a:ext uri="{FF2B5EF4-FFF2-40B4-BE49-F238E27FC236}">
                <a16:creationId xmlns:a16="http://schemas.microsoft.com/office/drawing/2014/main" id="{BC87C258-556F-BCC1-DE09-6B779FF6806A}"/>
              </a:ext>
            </a:extLst>
          </p:cNvPr>
          <p:cNvSpPr txBox="1">
            <a:spLocks/>
          </p:cNvSpPr>
          <p:nvPr userDrawn="1"/>
        </p:nvSpPr>
        <p:spPr>
          <a:xfrm>
            <a:off x="449893" y="4666953"/>
            <a:ext cx="4886605" cy="13324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solidFill>
                  <a:schemeClr val="bg1"/>
                </a:solidFill>
                <a:latin typeface="Avenir Book" panose="02000503020000020003" pitchFamily="2" charset="0"/>
              </a:rPr>
              <a:t>The insurance sector is experiencing rising operational pressure from increasing claim volumes, outdated systems, and evolving customer expectations.</a:t>
            </a:r>
          </a:p>
        </p:txBody>
      </p:sp>
      <p:graphicFrame>
        <p:nvGraphicFramePr>
          <p:cNvPr id="8" name="Chart 7">
            <a:extLst>
              <a:ext uri="{FF2B5EF4-FFF2-40B4-BE49-F238E27FC236}">
                <a16:creationId xmlns:a16="http://schemas.microsoft.com/office/drawing/2014/main" id="{E3E1AB0B-A6F7-F28B-F147-5E80CE276D48}"/>
              </a:ext>
            </a:extLst>
          </p:cNvPr>
          <p:cNvGraphicFramePr/>
          <p:nvPr userDrawn="1">
            <p:extLst>
              <p:ext uri="{D42A27DB-BD31-4B8C-83A1-F6EECF244321}">
                <p14:modId xmlns:p14="http://schemas.microsoft.com/office/powerpoint/2010/main" val="4175320534"/>
              </p:ext>
            </p:extLst>
          </p:nvPr>
        </p:nvGraphicFramePr>
        <p:xfrm>
          <a:off x="6534319" y="539647"/>
          <a:ext cx="5207787" cy="56512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644261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bg>
      <p:bgPr>
        <a:solidFill>
          <a:srgbClr val="0A333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3F891-7167-2F83-2663-4A86642C2E45}"/>
              </a:ext>
            </a:extLst>
          </p:cNvPr>
          <p:cNvSpPr>
            <a:spLocks noGrp="1"/>
          </p:cNvSpPr>
          <p:nvPr>
            <p:ph type="title"/>
          </p:nvPr>
        </p:nvSpPr>
        <p:spPr/>
        <p:txBody>
          <a:bodyPr/>
          <a:lstStyle>
            <a:lvl1pPr>
              <a:defRPr b="1" i="0">
                <a:solidFill>
                  <a:srgbClr val="ABE534"/>
                </a:solidFill>
                <a:latin typeface="Avenir Heavy" panose="02000503020000020003" pitchFamily="2" charset="0"/>
              </a:defRPr>
            </a:lvl1pPr>
          </a:lstStyle>
          <a:p>
            <a:r>
              <a:rPr lang="en-GB"/>
              <a:t>Click to edit Master title style</a:t>
            </a:r>
            <a:endParaRPr lang="en-US"/>
          </a:p>
        </p:txBody>
      </p:sp>
    </p:spTree>
    <p:extLst>
      <p:ext uri="{BB962C8B-B14F-4D97-AF65-F5344CB8AC3E}">
        <p14:creationId xmlns:p14="http://schemas.microsoft.com/office/powerpoint/2010/main" val="39108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5845B-45B2-34FF-FDDA-91197F644D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4403980-BB43-4F1D-07F4-56039336FD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55A5228-8E42-ECAB-0EC6-46681C0FEC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D00079-6E58-954B-99B6-4D42C46F8309}" type="datetimeFigureOut">
              <a:rPr lang="en-US" smtClean="0"/>
              <a:t>1/27/26</a:t>
            </a:fld>
            <a:endParaRPr lang="en-US"/>
          </a:p>
        </p:txBody>
      </p:sp>
      <p:sp>
        <p:nvSpPr>
          <p:cNvPr id="5" name="Footer Placeholder 4">
            <a:extLst>
              <a:ext uri="{FF2B5EF4-FFF2-40B4-BE49-F238E27FC236}">
                <a16:creationId xmlns:a16="http://schemas.microsoft.com/office/drawing/2014/main" id="{6777BE2A-08F0-7056-9B97-1C5CAE2B60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A6B4D8-12E3-B7B9-C4AF-A5A3D7ED48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D4E52A-28F4-5045-A2CF-5125645CDED5}" type="slidenum">
              <a:rPr lang="en-US" smtClean="0"/>
              <a:t>‹#›</a:t>
            </a:fld>
            <a:endParaRPr lang="en-US"/>
          </a:p>
        </p:txBody>
      </p:sp>
    </p:spTree>
    <p:extLst>
      <p:ext uri="{BB962C8B-B14F-4D97-AF65-F5344CB8AC3E}">
        <p14:creationId xmlns:p14="http://schemas.microsoft.com/office/powerpoint/2010/main" val="1975725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3.xml"/><Relationship Id="rId6" Type="http://schemas.microsoft.com/office/2007/relationships/hdphoto" Target="../media/hdphoto2.wdp"/><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3.wdp"/><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8ABBCF-C347-02F7-7BA6-85A6258B9C7B}"/>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40B763A5-79A9-3045-7743-35BEBABF46EB}"/>
              </a:ext>
            </a:extLst>
          </p:cNvPr>
          <p:cNvSpPr/>
          <p:nvPr/>
        </p:nvSpPr>
        <p:spPr>
          <a:xfrm>
            <a:off x="434542" y="482664"/>
            <a:ext cx="7427505" cy="5909830"/>
          </a:xfrm>
          <a:prstGeom prst="rect">
            <a:avLst/>
          </a:prstGeom>
          <a:solidFill>
            <a:srgbClr val="E4ED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E9800DA1-2080-9DB1-F152-2E1A8FEBD4C0}"/>
              </a:ext>
            </a:extLst>
          </p:cNvPr>
          <p:cNvGrpSpPr/>
          <p:nvPr/>
        </p:nvGrpSpPr>
        <p:grpSpPr>
          <a:xfrm>
            <a:off x="1009208" y="1976029"/>
            <a:ext cx="5402478" cy="2124597"/>
            <a:chOff x="1009208" y="1976029"/>
            <a:chExt cx="5402478" cy="2124597"/>
          </a:xfrm>
        </p:grpSpPr>
        <p:grpSp>
          <p:nvGrpSpPr>
            <p:cNvPr id="38" name="Group 37">
              <a:extLst>
                <a:ext uri="{FF2B5EF4-FFF2-40B4-BE49-F238E27FC236}">
                  <a16:creationId xmlns:a16="http://schemas.microsoft.com/office/drawing/2014/main" id="{F680D4A8-D0C8-D219-97B4-B24E0D4FD371}"/>
                </a:ext>
              </a:extLst>
            </p:cNvPr>
            <p:cNvGrpSpPr/>
            <p:nvPr/>
          </p:nvGrpSpPr>
          <p:grpSpPr>
            <a:xfrm>
              <a:off x="1009208" y="1976029"/>
              <a:ext cx="1652448" cy="2124597"/>
              <a:chOff x="693522" y="1976028"/>
              <a:chExt cx="1652448" cy="2124597"/>
            </a:xfrm>
          </p:grpSpPr>
          <p:sp>
            <p:nvSpPr>
              <p:cNvPr id="12" name="Data 7">
                <a:extLst>
                  <a:ext uri="{FF2B5EF4-FFF2-40B4-BE49-F238E27FC236}">
                    <a16:creationId xmlns:a16="http://schemas.microsoft.com/office/drawing/2014/main" id="{4A47D7EA-5F54-1B0E-5CB7-333FC82F2ABC}"/>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a 7">
                <a:extLst>
                  <a:ext uri="{FF2B5EF4-FFF2-40B4-BE49-F238E27FC236}">
                    <a16:creationId xmlns:a16="http://schemas.microsoft.com/office/drawing/2014/main" id="{72A9654A-0C7A-27AD-9DDC-D4251B69C755}"/>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a 7">
                <a:extLst>
                  <a:ext uri="{FF2B5EF4-FFF2-40B4-BE49-F238E27FC236}">
                    <a16:creationId xmlns:a16="http://schemas.microsoft.com/office/drawing/2014/main" id="{3139ADD3-826A-FB9D-D080-8FFE2D8F31AE}"/>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sp>
          <p:nvSpPr>
            <p:cNvPr id="16" name="TextBox 15">
              <a:extLst>
                <a:ext uri="{FF2B5EF4-FFF2-40B4-BE49-F238E27FC236}">
                  <a16:creationId xmlns:a16="http://schemas.microsoft.com/office/drawing/2014/main" id="{399274D1-A197-5B2A-0934-1519EA7598B2}"/>
                </a:ext>
              </a:extLst>
            </p:cNvPr>
            <p:cNvSpPr txBox="1"/>
            <p:nvPr/>
          </p:nvSpPr>
          <p:spPr>
            <a:xfrm>
              <a:off x="2492023" y="2480269"/>
              <a:ext cx="3919663" cy="1323439"/>
            </a:xfrm>
            <a:prstGeom prst="rect">
              <a:avLst/>
            </a:prstGeom>
            <a:noFill/>
          </p:spPr>
          <p:txBody>
            <a:bodyPr wrap="none" rtlCol="0">
              <a:spAutoFit/>
            </a:bodyPr>
            <a:lstStyle/>
            <a:p>
              <a:r>
                <a:rPr lang="en-US" sz="4000" dirty="0">
                  <a:latin typeface="DM Serif Display" pitchFamily="2" charset="0"/>
                </a:rPr>
                <a:t>Cursor Financial</a:t>
              </a:r>
            </a:p>
            <a:p>
              <a:r>
                <a:rPr lang="en-US" sz="4000" dirty="0">
                  <a:latin typeface="DM Serif Display" pitchFamily="2" charset="0"/>
                </a:rPr>
                <a:t>Consulting</a:t>
              </a:r>
            </a:p>
          </p:txBody>
        </p:sp>
      </p:grpSp>
      <p:sp>
        <p:nvSpPr>
          <p:cNvPr id="18" name="TextBox 17">
            <a:extLst>
              <a:ext uri="{FF2B5EF4-FFF2-40B4-BE49-F238E27FC236}">
                <a16:creationId xmlns:a16="http://schemas.microsoft.com/office/drawing/2014/main" id="{726A592A-8582-959A-925E-2622BD7496EB}"/>
              </a:ext>
            </a:extLst>
          </p:cNvPr>
          <p:cNvSpPr txBox="1"/>
          <p:nvPr/>
        </p:nvSpPr>
        <p:spPr>
          <a:xfrm>
            <a:off x="1009208" y="5276905"/>
            <a:ext cx="3632405" cy="338554"/>
          </a:xfrm>
          <a:prstGeom prst="rect">
            <a:avLst/>
          </a:prstGeom>
          <a:noFill/>
        </p:spPr>
        <p:txBody>
          <a:bodyPr wrap="none" rtlCol="0">
            <a:spAutoFit/>
          </a:bodyPr>
          <a:lstStyle/>
          <a:p>
            <a:r>
              <a:rPr lang="en-US" sz="1600" dirty="0">
                <a:latin typeface="Avenir Light" panose="020B0402020203020204" pitchFamily="34" charset="77"/>
              </a:rPr>
              <a:t>FINANCIAL FORESIGHT. DELIVERED.</a:t>
            </a:r>
          </a:p>
        </p:txBody>
      </p:sp>
      <p:sp>
        <p:nvSpPr>
          <p:cNvPr id="3" name="Freeform 2">
            <a:extLst>
              <a:ext uri="{FF2B5EF4-FFF2-40B4-BE49-F238E27FC236}">
                <a16:creationId xmlns:a16="http://schemas.microsoft.com/office/drawing/2014/main" id="{D23866DB-064D-ABCA-0B4E-B3861E3EDE12}"/>
              </a:ext>
            </a:extLst>
          </p:cNvPr>
          <p:cNvSpPr/>
          <p:nvPr/>
        </p:nvSpPr>
        <p:spPr>
          <a:xfrm>
            <a:off x="5724728" y="4862"/>
            <a:ext cx="6539013" cy="6387625"/>
          </a:xfrm>
          <a:custGeom>
            <a:avLst/>
            <a:gdLst>
              <a:gd name="connsiteX0" fmla="*/ 2207312 w 7002630"/>
              <a:gd name="connsiteY0" fmla="*/ 0 h 6858001"/>
              <a:gd name="connsiteX1" fmla="*/ 7002630 w 7002630"/>
              <a:gd name="connsiteY1" fmla="*/ 0 h 6858001"/>
              <a:gd name="connsiteX2" fmla="*/ 7002630 w 7002630"/>
              <a:gd name="connsiteY2" fmla="*/ 1730394 h 6858001"/>
              <a:gd name="connsiteX3" fmla="*/ 5340584 w 7002630"/>
              <a:gd name="connsiteY3" fmla="*/ 6858001 h 6858001"/>
              <a:gd name="connsiteX4" fmla="*/ 0 w 7002630"/>
              <a:gd name="connsiteY4" fmla="*/ 6858001 h 6858001"/>
              <a:gd name="connsiteX5" fmla="*/ 2207312 w 7002630"/>
              <a:gd name="connsiteY5"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02630" h="6858001">
                <a:moveTo>
                  <a:pt x="2207312" y="0"/>
                </a:moveTo>
                <a:lnTo>
                  <a:pt x="7002630" y="0"/>
                </a:lnTo>
                <a:lnTo>
                  <a:pt x="7002630" y="1730394"/>
                </a:lnTo>
                <a:lnTo>
                  <a:pt x="5340584" y="6858001"/>
                </a:lnTo>
                <a:lnTo>
                  <a:pt x="0" y="6858001"/>
                </a:lnTo>
                <a:lnTo>
                  <a:pt x="2207312" y="0"/>
                </a:lnTo>
                <a:close/>
              </a:path>
            </a:pathLst>
          </a:custGeom>
          <a:blipFill dpi="0" rotWithShape="1">
            <a:blip r:embed="rId3" cstate="hqprint">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a 7">
            <a:extLst>
              <a:ext uri="{FF2B5EF4-FFF2-40B4-BE49-F238E27FC236}">
                <a16:creationId xmlns:a16="http://schemas.microsoft.com/office/drawing/2014/main" id="{E1D34116-D3B3-1346-A412-B44285DDA0DA}"/>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a 7">
            <a:extLst>
              <a:ext uri="{FF2B5EF4-FFF2-40B4-BE49-F238E27FC236}">
                <a16:creationId xmlns:a16="http://schemas.microsoft.com/office/drawing/2014/main" id="{36C4B94B-66DE-FBC1-7A6A-AD93CF86F248}"/>
              </a:ext>
            </a:extLst>
          </p:cNvPr>
          <p:cNvSpPr/>
          <p:nvPr/>
        </p:nvSpPr>
        <p:spPr>
          <a:xfrm>
            <a:off x="11146259" y="5495141"/>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a 7">
            <a:extLst>
              <a:ext uri="{FF2B5EF4-FFF2-40B4-BE49-F238E27FC236}">
                <a16:creationId xmlns:a16="http://schemas.microsoft.com/office/drawing/2014/main" id="{3DF11D44-34F0-7F94-CA91-F5D402C5B115}"/>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7" name="Data 7">
            <a:extLst>
              <a:ext uri="{FF2B5EF4-FFF2-40B4-BE49-F238E27FC236}">
                <a16:creationId xmlns:a16="http://schemas.microsoft.com/office/drawing/2014/main" id="{C9E7E698-A416-BCE0-365A-4BFCB193AECD}"/>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cxnSp>
        <p:nvCxnSpPr>
          <p:cNvPr id="9" name="Straight Connector 8">
            <a:extLst>
              <a:ext uri="{FF2B5EF4-FFF2-40B4-BE49-F238E27FC236}">
                <a16:creationId xmlns:a16="http://schemas.microsoft.com/office/drawing/2014/main" id="{B3889099-A3D8-EFAD-5DFA-EFACDDA3B175}"/>
              </a:ext>
            </a:extLst>
          </p:cNvPr>
          <p:cNvCxnSpPr>
            <a:cxnSpLocks/>
          </p:cNvCxnSpPr>
          <p:nvPr/>
        </p:nvCxnSpPr>
        <p:spPr>
          <a:xfrm>
            <a:off x="532797" y="6389164"/>
            <a:ext cx="10175308" cy="0"/>
          </a:xfrm>
          <a:prstGeom prst="line">
            <a:avLst/>
          </a:prstGeom>
          <a:ln w="3175">
            <a:solidFill>
              <a:srgbClr val="ADD0B1">
                <a:alpha val="27475"/>
              </a:srgbClr>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033A5791-07B5-1685-EF6E-5C62E68DAF3A}"/>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1</a:t>
            </a:r>
          </a:p>
        </p:txBody>
      </p:sp>
    </p:spTree>
    <p:extLst>
      <p:ext uri="{BB962C8B-B14F-4D97-AF65-F5344CB8AC3E}">
        <p14:creationId xmlns:p14="http://schemas.microsoft.com/office/powerpoint/2010/main" val="388054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6DBEB2-083F-6961-6D50-70B4F9445AC8}"/>
            </a:ext>
          </a:extLst>
        </p:cNvPr>
        <p:cNvGrpSpPr/>
        <p:nvPr/>
      </p:nvGrpSpPr>
      <p:grpSpPr>
        <a:xfrm>
          <a:off x="0" y="0"/>
          <a:ext cx="0" cy="0"/>
          <a:chOff x="0" y="0"/>
          <a:chExt cx="0" cy="0"/>
        </a:xfrm>
      </p:grpSpPr>
      <p:sp>
        <p:nvSpPr>
          <p:cNvPr id="35" name="Snip Single Corner of Rectangle 34">
            <a:extLst>
              <a:ext uri="{FF2B5EF4-FFF2-40B4-BE49-F238E27FC236}">
                <a16:creationId xmlns:a16="http://schemas.microsoft.com/office/drawing/2014/main" id="{4F4CDCF9-A785-7605-038D-D14DD0E7EAF3}"/>
              </a:ext>
            </a:extLst>
          </p:cNvPr>
          <p:cNvSpPr/>
          <p:nvPr/>
        </p:nvSpPr>
        <p:spPr>
          <a:xfrm>
            <a:off x="4752276" y="1887655"/>
            <a:ext cx="1113263" cy="1189944"/>
          </a:xfrm>
          <a:prstGeom prst="snip1Rect">
            <a:avLst>
              <a:gd name="adj" fmla="val 23957"/>
            </a:avLst>
          </a:prstGeom>
          <a:solidFill>
            <a:srgbClr val="BDD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nip Single Corner of Rectangle 10">
            <a:extLst>
              <a:ext uri="{FF2B5EF4-FFF2-40B4-BE49-F238E27FC236}">
                <a16:creationId xmlns:a16="http://schemas.microsoft.com/office/drawing/2014/main" id="{D263B22B-048B-CB19-8487-C09DBDECD468}"/>
              </a:ext>
            </a:extLst>
          </p:cNvPr>
          <p:cNvSpPr/>
          <p:nvPr/>
        </p:nvSpPr>
        <p:spPr>
          <a:xfrm>
            <a:off x="4752276" y="3077599"/>
            <a:ext cx="1113263" cy="1944859"/>
          </a:xfrm>
          <a:prstGeom prst="snip1Rect">
            <a:avLst>
              <a:gd name="adj" fmla="val 23957"/>
            </a:avLst>
          </a:prstGeom>
          <a:solidFill>
            <a:srgbClr val="ADD0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Snip Single Corner of Rectangle 35">
            <a:extLst>
              <a:ext uri="{FF2B5EF4-FFF2-40B4-BE49-F238E27FC236}">
                <a16:creationId xmlns:a16="http://schemas.microsoft.com/office/drawing/2014/main" id="{10878E4A-86A1-0467-F5D8-5C688C0AFB7B}"/>
              </a:ext>
            </a:extLst>
          </p:cNvPr>
          <p:cNvSpPr/>
          <p:nvPr/>
        </p:nvSpPr>
        <p:spPr>
          <a:xfrm>
            <a:off x="4752276" y="5022458"/>
            <a:ext cx="1113263" cy="1189944"/>
          </a:xfrm>
          <a:prstGeom prst="snip1Rect">
            <a:avLst>
              <a:gd name="adj" fmla="val 23957"/>
            </a:avLst>
          </a:prstGeom>
          <a:solidFill>
            <a:srgbClr val="E4ED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nip Single Corner of Rectangle 11">
            <a:extLst>
              <a:ext uri="{FF2B5EF4-FFF2-40B4-BE49-F238E27FC236}">
                <a16:creationId xmlns:a16="http://schemas.microsoft.com/office/drawing/2014/main" id="{F57C0604-3B63-882D-1D4E-805DC256492B}"/>
              </a:ext>
            </a:extLst>
          </p:cNvPr>
          <p:cNvSpPr/>
          <p:nvPr/>
        </p:nvSpPr>
        <p:spPr>
          <a:xfrm>
            <a:off x="3391828" y="5015229"/>
            <a:ext cx="1113263" cy="1207152"/>
          </a:xfrm>
          <a:prstGeom prst="snip1Rect">
            <a:avLst>
              <a:gd name="adj" fmla="val 23957"/>
            </a:avLst>
          </a:prstGeom>
          <a:solidFill>
            <a:srgbClr val="DED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5B4EE4-7376-0BCB-1C17-14B2C07E603E}"/>
              </a:ext>
            </a:extLst>
          </p:cNvPr>
          <p:cNvSpPr>
            <a:spLocks noGrp="1"/>
          </p:cNvSpPr>
          <p:nvPr>
            <p:ph type="title"/>
          </p:nvPr>
        </p:nvSpPr>
        <p:spPr>
          <a:xfrm>
            <a:off x="586958" y="537611"/>
            <a:ext cx="10515600" cy="813429"/>
          </a:xfrm>
        </p:spPr>
        <p:txBody>
          <a:bodyPr>
            <a:normAutofit/>
          </a:bodyPr>
          <a:lstStyle/>
          <a:p>
            <a:r>
              <a:rPr lang="en-US" b="0" dirty="0">
                <a:solidFill>
                  <a:srgbClr val="192523"/>
                </a:solidFill>
                <a:latin typeface="DM Serif Display" pitchFamily="2" charset="0"/>
              </a:rPr>
              <a:t>Guideline</a:t>
            </a:r>
          </a:p>
        </p:txBody>
      </p:sp>
      <p:sp>
        <p:nvSpPr>
          <p:cNvPr id="7" name="Snip Single Corner of Rectangle 6">
            <a:extLst>
              <a:ext uri="{FF2B5EF4-FFF2-40B4-BE49-F238E27FC236}">
                <a16:creationId xmlns:a16="http://schemas.microsoft.com/office/drawing/2014/main" id="{3B48B910-2FA4-ED65-2B7C-35197129E952}"/>
              </a:ext>
            </a:extLst>
          </p:cNvPr>
          <p:cNvSpPr/>
          <p:nvPr/>
        </p:nvSpPr>
        <p:spPr>
          <a:xfrm>
            <a:off x="838200" y="1870228"/>
            <a:ext cx="421888" cy="4351339"/>
          </a:xfrm>
          <a:prstGeom prst="snip1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nip Single Corner of Rectangle 7">
            <a:extLst>
              <a:ext uri="{FF2B5EF4-FFF2-40B4-BE49-F238E27FC236}">
                <a16:creationId xmlns:a16="http://schemas.microsoft.com/office/drawing/2014/main" id="{1E1338E1-66C2-6647-D84D-80E1CE1A7B6C}"/>
              </a:ext>
            </a:extLst>
          </p:cNvPr>
          <p:cNvSpPr/>
          <p:nvPr/>
        </p:nvSpPr>
        <p:spPr>
          <a:xfrm>
            <a:off x="1451517" y="1870228"/>
            <a:ext cx="421888" cy="4351339"/>
          </a:xfrm>
          <a:prstGeom prst="snip1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nip Single Corner of Rectangle 8">
            <a:extLst>
              <a:ext uri="{FF2B5EF4-FFF2-40B4-BE49-F238E27FC236}">
                <a16:creationId xmlns:a16="http://schemas.microsoft.com/office/drawing/2014/main" id="{42A5B924-67A5-7B34-FB0A-447E3952EF00}"/>
              </a:ext>
            </a:extLst>
          </p:cNvPr>
          <p:cNvSpPr/>
          <p:nvPr/>
        </p:nvSpPr>
        <p:spPr>
          <a:xfrm>
            <a:off x="2098287" y="1870228"/>
            <a:ext cx="1113263" cy="4351339"/>
          </a:xfrm>
          <a:prstGeom prst="snip1Rect">
            <a:avLst>
              <a:gd name="adj" fmla="val 23957"/>
            </a:avLst>
          </a:prstGeom>
          <a:solidFill>
            <a:srgbClr val="192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nip Single Corner of Rectangle 9">
            <a:extLst>
              <a:ext uri="{FF2B5EF4-FFF2-40B4-BE49-F238E27FC236}">
                <a16:creationId xmlns:a16="http://schemas.microsoft.com/office/drawing/2014/main" id="{D797CA27-C2B9-15B1-E0F0-DD5E9FD35916}"/>
              </a:ext>
            </a:extLst>
          </p:cNvPr>
          <p:cNvSpPr/>
          <p:nvPr/>
        </p:nvSpPr>
        <p:spPr>
          <a:xfrm>
            <a:off x="3391828" y="3077599"/>
            <a:ext cx="1113263" cy="1944860"/>
          </a:xfrm>
          <a:prstGeom prst="snip1Rect">
            <a:avLst>
              <a:gd name="adj" fmla="val 23957"/>
            </a:avLst>
          </a:prstGeom>
          <a:solidFill>
            <a:srgbClr val="B4B1A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a:extLst>
              <a:ext uri="{FF2B5EF4-FFF2-40B4-BE49-F238E27FC236}">
                <a16:creationId xmlns:a16="http://schemas.microsoft.com/office/drawing/2014/main" id="{646357BA-AADF-CBD7-7C0E-8F6FE0E9C836}"/>
              </a:ext>
            </a:extLst>
          </p:cNvPr>
          <p:cNvSpPr txBox="1">
            <a:spLocks/>
          </p:cNvSpPr>
          <p:nvPr/>
        </p:nvSpPr>
        <p:spPr>
          <a:xfrm>
            <a:off x="3458841" y="5777041"/>
            <a:ext cx="1046250" cy="3245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400" dirty="0">
                <a:solidFill>
                  <a:srgbClr val="0A3330"/>
                </a:solidFill>
                <a:latin typeface="Avenir Book" panose="02000503020000020003" pitchFamily="2" charset="0"/>
              </a:rPr>
              <a:t>#DEDAD1</a:t>
            </a:r>
          </a:p>
        </p:txBody>
      </p:sp>
      <p:sp>
        <p:nvSpPr>
          <p:cNvPr id="15" name="Content Placeholder 2">
            <a:extLst>
              <a:ext uri="{FF2B5EF4-FFF2-40B4-BE49-F238E27FC236}">
                <a16:creationId xmlns:a16="http://schemas.microsoft.com/office/drawing/2014/main" id="{E41E7406-6969-B323-8366-170C60BDB09D}"/>
              </a:ext>
            </a:extLst>
          </p:cNvPr>
          <p:cNvSpPr txBox="1">
            <a:spLocks/>
          </p:cNvSpPr>
          <p:nvPr/>
        </p:nvSpPr>
        <p:spPr>
          <a:xfrm>
            <a:off x="2077930" y="5777041"/>
            <a:ext cx="1189482" cy="32452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GB" sz="1600" dirty="0">
                <a:solidFill>
                  <a:schemeClr val="bg1"/>
                </a:solidFill>
                <a:latin typeface="Avenir Book" panose="02000503020000020003" pitchFamily="2" charset="0"/>
              </a:rPr>
              <a:t>#192523</a:t>
            </a:r>
          </a:p>
        </p:txBody>
      </p:sp>
      <p:sp>
        <p:nvSpPr>
          <p:cNvPr id="16" name="Content Placeholder 2">
            <a:extLst>
              <a:ext uri="{FF2B5EF4-FFF2-40B4-BE49-F238E27FC236}">
                <a16:creationId xmlns:a16="http://schemas.microsoft.com/office/drawing/2014/main" id="{FD7B68C6-32E4-6963-3F8A-05FD0DF40B9D}"/>
              </a:ext>
            </a:extLst>
          </p:cNvPr>
          <p:cNvSpPr txBox="1">
            <a:spLocks/>
          </p:cNvSpPr>
          <p:nvPr/>
        </p:nvSpPr>
        <p:spPr>
          <a:xfrm>
            <a:off x="4830441" y="2374061"/>
            <a:ext cx="979236" cy="32452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600" dirty="0">
                <a:solidFill>
                  <a:srgbClr val="192523"/>
                </a:solidFill>
                <a:latin typeface="Avenir Book" panose="02000503020000020003" pitchFamily="2" charset="0"/>
              </a:rPr>
              <a:t>#BDD6B2</a:t>
            </a:r>
          </a:p>
        </p:txBody>
      </p:sp>
      <p:sp>
        <p:nvSpPr>
          <p:cNvPr id="17" name="Snip Single Corner of Rectangle 16">
            <a:extLst>
              <a:ext uri="{FF2B5EF4-FFF2-40B4-BE49-F238E27FC236}">
                <a16:creationId xmlns:a16="http://schemas.microsoft.com/office/drawing/2014/main" id="{8C3C9593-92C6-8B23-D3B1-408E4D78BECE}"/>
              </a:ext>
            </a:extLst>
          </p:cNvPr>
          <p:cNvSpPr/>
          <p:nvPr/>
        </p:nvSpPr>
        <p:spPr>
          <a:xfrm>
            <a:off x="3391828" y="1886498"/>
            <a:ext cx="1113263" cy="1191239"/>
          </a:xfrm>
          <a:prstGeom prst="snip1Rect">
            <a:avLst>
              <a:gd name="adj" fmla="val 23957"/>
            </a:avLst>
          </a:prstGeom>
          <a:solidFill>
            <a:srgbClr val="9490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a:extLst>
              <a:ext uri="{FF2B5EF4-FFF2-40B4-BE49-F238E27FC236}">
                <a16:creationId xmlns:a16="http://schemas.microsoft.com/office/drawing/2014/main" id="{2D379514-83CF-3BF2-3715-99B6DE00DAA4}"/>
              </a:ext>
            </a:extLst>
          </p:cNvPr>
          <p:cNvSpPr txBox="1">
            <a:spLocks/>
          </p:cNvSpPr>
          <p:nvPr/>
        </p:nvSpPr>
        <p:spPr>
          <a:xfrm>
            <a:off x="3458841" y="2368498"/>
            <a:ext cx="979236" cy="32452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600" dirty="0">
                <a:solidFill>
                  <a:srgbClr val="FFFBEE"/>
                </a:solidFill>
                <a:latin typeface="Avenir Book" panose="02000503020000020003" pitchFamily="2" charset="0"/>
              </a:rPr>
              <a:t>#94908C</a:t>
            </a:r>
          </a:p>
        </p:txBody>
      </p:sp>
      <p:sp>
        <p:nvSpPr>
          <p:cNvPr id="20" name="Title 1">
            <a:extLst>
              <a:ext uri="{FF2B5EF4-FFF2-40B4-BE49-F238E27FC236}">
                <a16:creationId xmlns:a16="http://schemas.microsoft.com/office/drawing/2014/main" id="{2F039CDA-454B-5154-FEB5-4743930C32E3}"/>
              </a:ext>
            </a:extLst>
          </p:cNvPr>
          <p:cNvSpPr txBox="1">
            <a:spLocks/>
          </p:cNvSpPr>
          <p:nvPr/>
        </p:nvSpPr>
        <p:spPr>
          <a:xfrm>
            <a:off x="6636830" y="1984761"/>
            <a:ext cx="3040561" cy="7507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rgbClr val="0A3330"/>
                </a:solidFill>
                <a:latin typeface="DM Serif Display" pitchFamily="2" charset="0"/>
              </a:rPr>
              <a:t>Heading 1</a:t>
            </a:r>
            <a:endParaRPr lang="en-US" dirty="0">
              <a:solidFill>
                <a:srgbClr val="0A3330"/>
              </a:solidFill>
              <a:latin typeface="DM Serif Display" pitchFamily="2" charset="0"/>
            </a:endParaRPr>
          </a:p>
        </p:txBody>
      </p:sp>
      <p:sp>
        <p:nvSpPr>
          <p:cNvPr id="21" name="Content Placeholder 2">
            <a:extLst>
              <a:ext uri="{FF2B5EF4-FFF2-40B4-BE49-F238E27FC236}">
                <a16:creationId xmlns:a16="http://schemas.microsoft.com/office/drawing/2014/main" id="{30D2AB83-763C-5C55-E289-DD34EB2F2CDD}"/>
              </a:ext>
            </a:extLst>
          </p:cNvPr>
          <p:cNvSpPr txBox="1">
            <a:spLocks/>
          </p:cNvSpPr>
          <p:nvPr/>
        </p:nvSpPr>
        <p:spPr>
          <a:xfrm>
            <a:off x="6636831" y="2958310"/>
            <a:ext cx="4960437" cy="11899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600" dirty="0">
                <a:solidFill>
                  <a:srgbClr val="0A3330"/>
                </a:solidFill>
                <a:latin typeface="Avenir Book" panose="02000503020000020003" pitchFamily="2" charset="0"/>
              </a:rPr>
              <a:t>Body text: The insurance sector is experiencing rising operational pressure from increasing claim volumes, outdated systems, and evolving customer expectations.</a:t>
            </a:r>
          </a:p>
        </p:txBody>
      </p:sp>
      <p:sp>
        <p:nvSpPr>
          <p:cNvPr id="29" name="Title 1">
            <a:extLst>
              <a:ext uri="{FF2B5EF4-FFF2-40B4-BE49-F238E27FC236}">
                <a16:creationId xmlns:a16="http://schemas.microsoft.com/office/drawing/2014/main" id="{33508225-1211-5BDF-F7ED-EAD2C1A901B0}"/>
              </a:ext>
            </a:extLst>
          </p:cNvPr>
          <p:cNvSpPr txBox="1">
            <a:spLocks/>
          </p:cNvSpPr>
          <p:nvPr/>
        </p:nvSpPr>
        <p:spPr>
          <a:xfrm>
            <a:off x="6636830" y="1426749"/>
            <a:ext cx="3040561" cy="7507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solidFill>
                  <a:srgbClr val="B4B1AA"/>
                </a:solidFill>
                <a:latin typeface="Avenir Medium" panose="02000503020000020003" pitchFamily="2" charset="0"/>
              </a:rPr>
              <a:t>SUPERTITLE</a:t>
            </a:r>
            <a:endParaRPr lang="en-US" sz="2400" dirty="0">
              <a:solidFill>
                <a:srgbClr val="B4B1AA"/>
              </a:solidFill>
              <a:latin typeface="Avenir Medium" panose="02000503020000020003" pitchFamily="2" charset="0"/>
            </a:endParaRPr>
          </a:p>
        </p:txBody>
      </p:sp>
      <p:sp>
        <p:nvSpPr>
          <p:cNvPr id="3" name="Data 7">
            <a:extLst>
              <a:ext uri="{FF2B5EF4-FFF2-40B4-BE49-F238E27FC236}">
                <a16:creationId xmlns:a16="http://schemas.microsoft.com/office/drawing/2014/main" id="{C7BED2A6-942D-C79D-BB4E-0C84FE2FB9CF}"/>
              </a:ext>
            </a:extLst>
          </p:cNvPr>
          <p:cNvSpPr/>
          <p:nvPr/>
        </p:nvSpPr>
        <p:spPr>
          <a:xfrm>
            <a:off x="6731162" y="4822950"/>
            <a:ext cx="1613396" cy="107320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BDD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pic>
        <p:nvPicPr>
          <p:cNvPr id="4" name="Picture 3" descr="A diagram of a diagram&#10;&#10;AI-generated content may be incorrect.">
            <a:extLst>
              <a:ext uri="{FF2B5EF4-FFF2-40B4-BE49-F238E27FC236}">
                <a16:creationId xmlns:a16="http://schemas.microsoft.com/office/drawing/2014/main" id="{86062A25-E496-E943-3C5C-70B162796CB5}"/>
              </a:ext>
            </a:extLst>
          </p:cNvPr>
          <p:cNvPicPr>
            <a:picLocks noChangeAspect="1"/>
          </p:cNvPicPr>
          <p:nvPr/>
        </p:nvPicPr>
        <p:blipFill>
          <a:blip r:embed="rId2" cstate="hqprint">
            <a:extLst>
              <a:ext uri="{28A0092B-C50C-407E-A947-70E740481C1C}">
                <a14:useLocalDpi xmlns:a14="http://schemas.microsoft.com/office/drawing/2010/main"/>
              </a:ext>
            </a:extLst>
          </a:blip>
          <a:srcRect/>
          <a:stretch>
            <a:fillRect/>
          </a:stretch>
        </p:blipFill>
        <p:spPr>
          <a:xfrm>
            <a:off x="6935686" y="4946469"/>
            <a:ext cx="941158" cy="938813"/>
          </a:xfrm>
          <a:prstGeom prst="rect">
            <a:avLst/>
          </a:prstGeom>
        </p:spPr>
      </p:pic>
      <p:pic>
        <p:nvPicPr>
          <p:cNvPr id="5" name="Picture 4" descr="A green flag on a pillar&#10;&#10;AI-generated content may be incorrect.">
            <a:extLst>
              <a:ext uri="{FF2B5EF4-FFF2-40B4-BE49-F238E27FC236}">
                <a16:creationId xmlns:a16="http://schemas.microsoft.com/office/drawing/2014/main" id="{C333BAFE-3071-3A2C-09A1-D4845AC86BD4}"/>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9274989" y="5313635"/>
            <a:ext cx="488927" cy="693856"/>
          </a:xfrm>
          <a:prstGeom prst="rect">
            <a:avLst/>
          </a:prstGeom>
        </p:spPr>
      </p:pic>
      <p:pic>
        <p:nvPicPr>
          <p:cNvPr id="6" name="Picture 5" descr="A handshake and a pillar&#10;&#10;AI-generated content may be incorrect.">
            <a:extLst>
              <a:ext uri="{FF2B5EF4-FFF2-40B4-BE49-F238E27FC236}">
                <a16:creationId xmlns:a16="http://schemas.microsoft.com/office/drawing/2014/main" id="{D76B4DB6-977F-6FEA-02D2-99DDAC0EF68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0323444" y="5322309"/>
            <a:ext cx="761814" cy="693855"/>
          </a:xfrm>
          <a:prstGeom prst="rect">
            <a:avLst/>
          </a:prstGeom>
        </p:spPr>
      </p:pic>
      <p:pic>
        <p:nvPicPr>
          <p:cNvPr id="18" name="Picture 17" descr="A green and black logo&#10;&#10;AI-generated content may be incorrect.">
            <a:extLst>
              <a:ext uri="{FF2B5EF4-FFF2-40B4-BE49-F238E27FC236}">
                <a16:creationId xmlns:a16="http://schemas.microsoft.com/office/drawing/2014/main" id="{130E645A-45A2-9F4A-7E37-9A0BCD6470EA}"/>
              </a:ext>
            </a:extLst>
          </p:cNvPr>
          <p:cNvPicPr>
            <a:picLocks noChangeAspect="1"/>
          </p:cNvPicPr>
          <p:nvPr/>
        </p:nvPicPr>
        <p:blipFill>
          <a:blip r:embed="rId5" cstate="hqprint">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a:ext>
            </a:extLst>
          </a:blip>
          <a:srcRect/>
          <a:stretch>
            <a:fillRect/>
          </a:stretch>
        </p:blipFill>
        <p:spPr>
          <a:xfrm>
            <a:off x="9094038" y="4375862"/>
            <a:ext cx="804311" cy="621519"/>
          </a:xfrm>
          <a:prstGeom prst="rect">
            <a:avLst/>
          </a:prstGeom>
        </p:spPr>
      </p:pic>
      <p:pic>
        <p:nvPicPr>
          <p:cNvPr id="22" name="Picture 21" descr="A computer screen with a rocket on it&#10;&#10;AI-generated content may be incorrect.">
            <a:extLst>
              <a:ext uri="{FF2B5EF4-FFF2-40B4-BE49-F238E27FC236}">
                <a16:creationId xmlns:a16="http://schemas.microsoft.com/office/drawing/2014/main" id="{7F0D8C7E-CB16-CB39-C697-6EAC3E266AC5}"/>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10394093" y="4463291"/>
            <a:ext cx="641145" cy="551938"/>
          </a:xfrm>
          <a:prstGeom prst="rect">
            <a:avLst/>
          </a:prstGeom>
        </p:spPr>
      </p:pic>
      <p:sp>
        <p:nvSpPr>
          <p:cNvPr id="34" name="Content Placeholder 2">
            <a:extLst>
              <a:ext uri="{FF2B5EF4-FFF2-40B4-BE49-F238E27FC236}">
                <a16:creationId xmlns:a16="http://schemas.microsoft.com/office/drawing/2014/main" id="{6C644866-B7A4-2DC1-4BCE-540A4E247FED}"/>
              </a:ext>
            </a:extLst>
          </p:cNvPr>
          <p:cNvSpPr txBox="1">
            <a:spLocks/>
          </p:cNvSpPr>
          <p:nvPr/>
        </p:nvSpPr>
        <p:spPr>
          <a:xfrm>
            <a:off x="3458841" y="4659441"/>
            <a:ext cx="979236" cy="32452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600" dirty="0">
                <a:solidFill>
                  <a:srgbClr val="0A3330"/>
                </a:solidFill>
                <a:latin typeface="Avenir Book" panose="02000503020000020003" pitchFamily="2" charset="0"/>
              </a:rPr>
              <a:t>#B4B1AA</a:t>
            </a:r>
          </a:p>
        </p:txBody>
      </p:sp>
      <p:sp>
        <p:nvSpPr>
          <p:cNvPr id="37" name="Content Placeholder 2">
            <a:extLst>
              <a:ext uri="{FF2B5EF4-FFF2-40B4-BE49-F238E27FC236}">
                <a16:creationId xmlns:a16="http://schemas.microsoft.com/office/drawing/2014/main" id="{C8987965-8F2E-4BA5-7164-27C55671A5F0}"/>
              </a:ext>
            </a:extLst>
          </p:cNvPr>
          <p:cNvSpPr txBox="1">
            <a:spLocks/>
          </p:cNvSpPr>
          <p:nvPr/>
        </p:nvSpPr>
        <p:spPr>
          <a:xfrm>
            <a:off x="4830441" y="3847261"/>
            <a:ext cx="979236" cy="32452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600" dirty="0">
                <a:solidFill>
                  <a:srgbClr val="192523"/>
                </a:solidFill>
                <a:latin typeface="Avenir Book" panose="02000503020000020003" pitchFamily="2" charset="0"/>
              </a:rPr>
              <a:t>#ADD0B1</a:t>
            </a:r>
          </a:p>
        </p:txBody>
      </p:sp>
      <p:sp>
        <p:nvSpPr>
          <p:cNvPr id="38" name="Content Placeholder 2">
            <a:extLst>
              <a:ext uri="{FF2B5EF4-FFF2-40B4-BE49-F238E27FC236}">
                <a16:creationId xmlns:a16="http://schemas.microsoft.com/office/drawing/2014/main" id="{2EE1E384-BC94-0BB2-2081-059690EB1BD5}"/>
              </a:ext>
            </a:extLst>
          </p:cNvPr>
          <p:cNvSpPr txBox="1">
            <a:spLocks/>
          </p:cNvSpPr>
          <p:nvPr/>
        </p:nvSpPr>
        <p:spPr>
          <a:xfrm>
            <a:off x="4830441" y="5498261"/>
            <a:ext cx="979236" cy="32452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1600" dirty="0">
                <a:solidFill>
                  <a:srgbClr val="192523"/>
                </a:solidFill>
                <a:latin typeface="Avenir Book" panose="02000503020000020003" pitchFamily="2" charset="0"/>
              </a:rPr>
              <a:t>#E4EDF3</a:t>
            </a:r>
          </a:p>
        </p:txBody>
      </p:sp>
      <p:sp>
        <p:nvSpPr>
          <p:cNvPr id="13" name="TextBox 12">
            <a:extLst>
              <a:ext uri="{FF2B5EF4-FFF2-40B4-BE49-F238E27FC236}">
                <a16:creationId xmlns:a16="http://schemas.microsoft.com/office/drawing/2014/main" id="{A0A46A45-FF6B-F026-7C60-7B4E5E4F8E16}"/>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2</a:t>
            </a:r>
          </a:p>
        </p:txBody>
      </p:sp>
    </p:spTree>
    <p:extLst>
      <p:ext uri="{BB962C8B-B14F-4D97-AF65-F5344CB8AC3E}">
        <p14:creationId xmlns:p14="http://schemas.microsoft.com/office/powerpoint/2010/main" val="3652490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7DB"/>
        </a:solidFill>
        <a:effectLst/>
      </p:bgPr>
    </p:bg>
    <p:spTree>
      <p:nvGrpSpPr>
        <p:cNvPr id="1" name=""/>
        <p:cNvGrpSpPr/>
        <p:nvPr/>
      </p:nvGrpSpPr>
      <p:grpSpPr>
        <a:xfrm>
          <a:off x="0" y="0"/>
          <a:ext cx="0" cy="0"/>
          <a:chOff x="0" y="0"/>
          <a:chExt cx="0" cy="0"/>
        </a:xfrm>
      </p:grpSpPr>
      <p:sp>
        <p:nvSpPr>
          <p:cNvPr id="54" name="Data 7">
            <a:extLst>
              <a:ext uri="{FF2B5EF4-FFF2-40B4-BE49-F238E27FC236}">
                <a16:creationId xmlns:a16="http://schemas.microsoft.com/office/drawing/2014/main" id="{73F90E7F-AA49-B0C9-056D-FB4597910E42}"/>
              </a:ext>
            </a:extLst>
          </p:cNvPr>
          <p:cNvSpPr/>
          <p:nvPr/>
        </p:nvSpPr>
        <p:spPr>
          <a:xfrm>
            <a:off x="9717900" y="2348846"/>
            <a:ext cx="1336716" cy="111019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 name="connsiteX0" fmla="*/ 0 w 15482"/>
              <a:gd name="connsiteY0" fmla="*/ 9971 h 10075"/>
              <a:gd name="connsiteX1" fmla="*/ 4068 w 15482"/>
              <a:gd name="connsiteY1" fmla="*/ 0 h 10075"/>
              <a:gd name="connsiteX2" fmla="*/ 15482 w 15482"/>
              <a:gd name="connsiteY2" fmla="*/ 83 h 10075"/>
              <a:gd name="connsiteX3" fmla="*/ 15037 w 15482"/>
              <a:gd name="connsiteY3" fmla="*/ 10075 h 10075"/>
              <a:gd name="connsiteX4" fmla="*/ 0 w 15482"/>
              <a:gd name="connsiteY4" fmla="*/ 9971 h 10075"/>
              <a:gd name="connsiteX0" fmla="*/ 0 w 15482"/>
              <a:gd name="connsiteY0" fmla="*/ 9971 h 10212"/>
              <a:gd name="connsiteX1" fmla="*/ 4068 w 15482"/>
              <a:gd name="connsiteY1" fmla="*/ 0 h 10212"/>
              <a:gd name="connsiteX2" fmla="*/ 15482 w 15482"/>
              <a:gd name="connsiteY2" fmla="*/ 83 h 10212"/>
              <a:gd name="connsiteX3" fmla="*/ 11651 w 15482"/>
              <a:gd name="connsiteY3" fmla="*/ 10212 h 10212"/>
              <a:gd name="connsiteX4" fmla="*/ 0 w 15482"/>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482"/>
              <a:gd name="connsiteY0" fmla="*/ 9971 h 10212"/>
              <a:gd name="connsiteX1" fmla="*/ 4068 w 15482"/>
              <a:gd name="connsiteY1" fmla="*/ 0 h 10212"/>
              <a:gd name="connsiteX2" fmla="*/ 15482 w 15482"/>
              <a:gd name="connsiteY2" fmla="*/ 151 h 10212"/>
              <a:gd name="connsiteX3" fmla="*/ 11651 w 15482"/>
              <a:gd name="connsiteY3" fmla="*/ 10212 h 10212"/>
              <a:gd name="connsiteX4" fmla="*/ 0 w 15482"/>
              <a:gd name="connsiteY4" fmla="*/ 9971 h 10212"/>
              <a:gd name="connsiteX0" fmla="*/ 0 w 15482"/>
              <a:gd name="connsiteY0" fmla="*/ 9971 h 10144"/>
              <a:gd name="connsiteX1" fmla="*/ 4068 w 15482"/>
              <a:gd name="connsiteY1" fmla="*/ 0 h 10144"/>
              <a:gd name="connsiteX2" fmla="*/ 15482 w 15482"/>
              <a:gd name="connsiteY2" fmla="*/ 151 h 10144"/>
              <a:gd name="connsiteX3" fmla="*/ 11304 w 15482"/>
              <a:gd name="connsiteY3" fmla="*/ 10144 h 10144"/>
              <a:gd name="connsiteX4" fmla="*/ 0 w 15482"/>
              <a:gd name="connsiteY4" fmla="*/ 9971 h 1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82" h="10144">
                <a:moveTo>
                  <a:pt x="0" y="9971"/>
                </a:moveTo>
                <a:lnTo>
                  <a:pt x="4068" y="0"/>
                </a:lnTo>
                <a:lnTo>
                  <a:pt x="15482" y="151"/>
                </a:lnTo>
                <a:cubicBezTo>
                  <a:pt x="15508" y="195"/>
                  <a:pt x="11192" y="10237"/>
                  <a:pt x="11304" y="10144"/>
                </a:cubicBezTo>
                <a:lnTo>
                  <a:pt x="0" y="99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ata 7">
            <a:extLst>
              <a:ext uri="{FF2B5EF4-FFF2-40B4-BE49-F238E27FC236}">
                <a16:creationId xmlns:a16="http://schemas.microsoft.com/office/drawing/2014/main" id="{429AD73C-952C-D5AD-F1F6-9B4879EC9399}"/>
              </a:ext>
            </a:extLst>
          </p:cNvPr>
          <p:cNvSpPr/>
          <p:nvPr/>
        </p:nvSpPr>
        <p:spPr>
          <a:xfrm>
            <a:off x="7350499" y="3434786"/>
            <a:ext cx="1336716" cy="111019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 name="connsiteX0" fmla="*/ 0 w 15482"/>
              <a:gd name="connsiteY0" fmla="*/ 9971 h 10075"/>
              <a:gd name="connsiteX1" fmla="*/ 4068 w 15482"/>
              <a:gd name="connsiteY1" fmla="*/ 0 h 10075"/>
              <a:gd name="connsiteX2" fmla="*/ 15482 w 15482"/>
              <a:gd name="connsiteY2" fmla="*/ 83 h 10075"/>
              <a:gd name="connsiteX3" fmla="*/ 15037 w 15482"/>
              <a:gd name="connsiteY3" fmla="*/ 10075 h 10075"/>
              <a:gd name="connsiteX4" fmla="*/ 0 w 15482"/>
              <a:gd name="connsiteY4" fmla="*/ 9971 h 10075"/>
              <a:gd name="connsiteX0" fmla="*/ 0 w 15482"/>
              <a:gd name="connsiteY0" fmla="*/ 9971 h 10212"/>
              <a:gd name="connsiteX1" fmla="*/ 4068 w 15482"/>
              <a:gd name="connsiteY1" fmla="*/ 0 h 10212"/>
              <a:gd name="connsiteX2" fmla="*/ 15482 w 15482"/>
              <a:gd name="connsiteY2" fmla="*/ 83 h 10212"/>
              <a:gd name="connsiteX3" fmla="*/ 11651 w 15482"/>
              <a:gd name="connsiteY3" fmla="*/ 10212 h 10212"/>
              <a:gd name="connsiteX4" fmla="*/ 0 w 15482"/>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482"/>
              <a:gd name="connsiteY0" fmla="*/ 9971 h 10212"/>
              <a:gd name="connsiteX1" fmla="*/ 4068 w 15482"/>
              <a:gd name="connsiteY1" fmla="*/ 0 h 10212"/>
              <a:gd name="connsiteX2" fmla="*/ 15482 w 15482"/>
              <a:gd name="connsiteY2" fmla="*/ 151 h 10212"/>
              <a:gd name="connsiteX3" fmla="*/ 11651 w 15482"/>
              <a:gd name="connsiteY3" fmla="*/ 10212 h 10212"/>
              <a:gd name="connsiteX4" fmla="*/ 0 w 15482"/>
              <a:gd name="connsiteY4" fmla="*/ 9971 h 10212"/>
              <a:gd name="connsiteX0" fmla="*/ 0 w 15482"/>
              <a:gd name="connsiteY0" fmla="*/ 9971 h 10144"/>
              <a:gd name="connsiteX1" fmla="*/ 4068 w 15482"/>
              <a:gd name="connsiteY1" fmla="*/ 0 h 10144"/>
              <a:gd name="connsiteX2" fmla="*/ 15482 w 15482"/>
              <a:gd name="connsiteY2" fmla="*/ 151 h 10144"/>
              <a:gd name="connsiteX3" fmla="*/ 11304 w 15482"/>
              <a:gd name="connsiteY3" fmla="*/ 10144 h 10144"/>
              <a:gd name="connsiteX4" fmla="*/ 0 w 15482"/>
              <a:gd name="connsiteY4" fmla="*/ 9971 h 1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82" h="10144">
                <a:moveTo>
                  <a:pt x="0" y="9971"/>
                </a:moveTo>
                <a:lnTo>
                  <a:pt x="4068" y="0"/>
                </a:lnTo>
                <a:lnTo>
                  <a:pt x="15482" y="151"/>
                </a:lnTo>
                <a:cubicBezTo>
                  <a:pt x="15508" y="195"/>
                  <a:pt x="11192" y="10237"/>
                  <a:pt x="11304" y="10144"/>
                </a:cubicBezTo>
                <a:lnTo>
                  <a:pt x="0" y="99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ata 7">
            <a:extLst>
              <a:ext uri="{FF2B5EF4-FFF2-40B4-BE49-F238E27FC236}">
                <a16:creationId xmlns:a16="http://schemas.microsoft.com/office/drawing/2014/main" id="{5A684193-C576-E234-D095-D276F961DEFE}"/>
              </a:ext>
            </a:extLst>
          </p:cNvPr>
          <p:cNvSpPr/>
          <p:nvPr/>
        </p:nvSpPr>
        <p:spPr>
          <a:xfrm>
            <a:off x="5329788" y="2357230"/>
            <a:ext cx="1336716" cy="111019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 name="connsiteX0" fmla="*/ 0 w 15482"/>
              <a:gd name="connsiteY0" fmla="*/ 9971 h 10075"/>
              <a:gd name="connsiteX1" fmla="*/ 4068 w 15482"/>
              <a:gd name="connsiteY1" fmla="*/ 0 h 10075"/>
              <a:gd name="connsiteX2" fmla="*/ 15482 w 15482"/>
              <a:gd name="connsiteY2" fmla="*/ 83 h 10075"/>
              <a:gd name="connsiteX3" fmla="*/ 15037 w 15482"/>
              <a:gd name="connsiteY3" fmla="*/ 10075 h 10075"/>
              <a:gd name="connsiteX4" fmla="*/ 0 w 15482"/>
              <a:gd name="connsiteY4" fmla="*/ 9971 h 10075"/>
              <a:gd name="connsiteX0" fmla="*/ 0 w 15482"/>
              <a:gd name="connsiteY0" fmla="*/ 9971 h 10212"/>
              <a:gd name="connsiteX1" fmla="*/ 4068 w 15482"/>
              <a:gd name="connsiteY1" fmla="*/ 0 h 10212"/>
              <a:gd name="connsiteX2" fmla="*/ 15482 w 15482"/>
              <a:gd name="connsiteY2" fmla="*/ 83 h 10212"/>
              <a:gd name="connsiteX3" fmla="*/ 11651 w 15482"/>
              <a:gd name="connsiteY3" fmla="*/ 10212 h 10212"/>
              <a:gd name="connsiteX4" fmla="*/ 0 w 15482"/>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482"/>
              <a:gd name="connsiteY0" fmla="*/ 9971 h 10212"/>
              <a:gd name="connsiteX1" fmla="*/ 4068 w 15482"/>
              <a:gd name="connsiteY1" fmla="*/ 0 h 10212"/>
              <a:gd name="connsiteX2" fmla="*/ 15482 w 15482"/>
              <a:gd name="connsiteY2" fmla="*/ 151 h 10212"/>
              <a:gd name="connsiteX3" fmla="*/ 11651 w 15482"/>
              <a:gd name="connsiteY3" fmla="*/ 10212 h 10212"/>
              <a:gd name="connsiteX4" fmla="*/ 0 w 15482"/>
              <a:gd name="connsiteY4" fmla="*/ 9971 h 10212"/>
              <a:gd name="connsiteX0" fmla="*/ 0 w 15482"/>
              <a:gd name="connsiteY0" fmla="*/ 9971 h 10144"/>
              <a:gd name="connsiteX1" fmla="*/ 4068 w 15482"/>
              <a:gd name="connsiteY1" fmla="*/ 0 h 10144"/>
              <a:gd name="connsiteX2" fmla="*/ 15482 w 15482"/>
              <a:gd name="connsiteY2" fmla="*/ 151 h 10144"/>
              <a:gd name="connsiteX3" fmla="*/ 11304 w 15482"/>
              <a:gd name="connsiteY3" fmla="*/ 10144 h 10144"/>
              <a:gd name="connsiteX4" fmla="*/ 0 w 15482"/>
              <a:gd name="connsiteY4" fmla="*/ 9971 h 1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82" h="10144">
                <a:moveTo>
                  <a:pt x="0" y="9971"/>
                </a:moveTo>
                <a:lnTo>
                  <a:pt x="4068" y="0"/>
                </a:lnTo>
                <a:lnTo>
                  <a:pt x="15482" y="151"/>
                </a:lnTo>
                <a:cubicBezTo>
                  <a:pt x="15508" y="195"/>
                  <a:pt x="11192" y="10237"/>
                  <a:pt x="11304" y="10144"/>
                </a:cubicBezTo>
                <a:lnTo>
                  <a:pt x="0" y="99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Data 7">
            <a:extLst>
              <a:ext uri="{FF2B5EF4-FFF2-40B4-BE49-F238E27FC236}">
                <a16:creationId xmlns:a16="http://schemas.microsoft.com/office/drawing/2014/main" id="{7FE3781D-859F-BC18-6CA9-E0E48A14A8AE}"/>
              </a:ext>
            </a:extLst>
          </p:cNvPr>
          <p:cNvSpPr/>
          <p:nvPr/>
        </p:nvSpPr>
        <p:spPr>
          <a:xfrm>
            <a:off x="3004277" y="3440963"/>
            <a:ext cx="1336716" cy="111019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 name="connsiteX0" fmla="*/ 0 w 15482"/>
              <a:gd name="connsiteY0" fmla="*/ 9971 h 10075"/>
              <a:gd name="connsiteX1" fmla="*/ 4068 w 15482"/>
              <a:gd name="connsiteY1" fmla="*/ 0 h 10075"/>
              <a:gd name="connsiteX2" fmla="*/ 15482 w 15482"/>
              <a:gd name="connsiteY2" fmla="*/ 83 h 10075"/>
              <a:gd name="connsiteX3" fmla="*/ 15037 w 15482"/>
              <a:gd name="connsiteY3" fmla="*/ 10075 h 10075"/>
              <a:gd name="connsiteX4" fmla="*/ 0 w 15482"/>
              <a:gd name="connsiteY4" fmla="*/ 9971 h 10075"/>
              <a:gd name="connsiteX0" fmla="*/ 0 w 15482"/>
              <a:gd name="connsiteY0" fmla="*/ 9971 h 10212"/>
              <a:gd name="connsiteX1" fmla="*/ 4068 w 15482"/>
              <a:gd name="connsiteY1" fmla="*/ 0 h 10212"/>
              <a:gd name="connsiteX2" fmla="*/ 15482 w 15482"/>
              <a:gd name="connsiteY2" fmla="*/ 83 h 10212"/>
              <a:gd name="connsiteX3" fmla="*/ 11651 w 15482"/>
              <a:gd name="connsiteY3" fmla="*/ 10212 h 10212"/>
              <a:gd name="connsiteX4" fmla="*/ 0 w 15482"/>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482"/>
              <a:gd name="connsiteY0" fmla="*/ 9971 h 10212"/>
              <a:gd name="connsiteX1" fmla="*/ 4068 w 15482"/>
              <a:gd name="connsiteY1" fmla="*/ 0 h 10212"/>
              <a:gd name="connsiteX2" fmla="*/ 15482 w 15482"/>
              <a:gd name="connsiteY2" fmla="*/ 151 h 10212"/>
              <a:gd name="connsiteX3" fmla="*/ 11651 w 15482"/>
              <a:gd name="connsiteY3" fmla="*/ 10212 h 10212"/>
              <a:gd name="connsiteX4" fmla="*/ 0 w 15482"/>
              <a:gd name="connsiteY4" fmla="*/ 9971 h 10212"/>
              <a:gd name="connsiteX0" fmla="*/ 0 w 15482"/>
              <a:gd name="connsiteY0" fmla="*/ 9971 h 10144"/>
              <a:gd name="connsiteX1" fmla="*/ 4068 w 15482"/>
              <a:gd name="connsiteY1" fmla="*/ 0 h 10144"/>
              <a:gd name="connsiteX2" fmla="*/ 15482 w 15482"/>
              <a:gd name="connsiteY2" fmla="*/ 151 h 10144"/>
              <a:gd name="connsiteX3" fmla="*/ 11304 w 15482"/>
              <a:gd name="connsiteY3" fmla="*/ 10144 h 10144"/>
              <a:gd name="connsiteX4" fmla="*/ 0 w 15482"/>
              <a:gd name="connsiteY4" fmla="*/ 9971 h 1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82" h="10144">
                <a:moveTo>
                  <a:pt x="0" y="9971"/>
                </a:moveTo>
                <a:lnTo>
                  <a:pt x="4068" y="0"/>
                </a:lnTo>
                <a:lnTo>
                  <a:pt x="15482" y="151"/>
                </a:lnTo>
                <a:cubicBezTo>
                  <a:pt x="15508" y="195"/>
                  <a:pt x="11192" y="10237"/>
                  <a:pt x="11304" y="10144"/>
                </a:cubicBezTo>
                <a:lnTo>
                  <a:pt x="0" y="99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a 7">
            <a:extLst>
              <a:ext uri="{FF2B5EF4-FFF2-40B4-BE49-F238E27FC236}">
                <a16:creationId xmlns:a16="http://schemas.microsoft.com/office/drawing/2014/main" id="{A7462DCC-A3BF-DE09-F2A6-018C795A5E99}"/>
              </a:ext>
            </a:extLst>
          </p:cNvPr>
          <p:cNvSpPr/>
          <p:nvPr/>
        </p:nvSpPr>
        <p:spPr>
          <a:xfrm>
            <a:off x="988100" y="2346681"/>
            <a:ext cx="1336716" cy="111019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 name="connsiteX0" fmla="*/ 0 w 15482"/>
              <a:gd name="connsiteY0" fmla="*/ 9971 h 10075"/>
              <a:gd name="connsiteX1" fmla="*/ 4068 w 15482"/>
              <a:gd name="connsiteY1" fmla="*/ 0 h 10075"/>
              <a:gd name="connsiteX2" fmla="*/ 15482 w 15482"/>
              <a:gd name="connsiteY2" fmla="*/ 83 h 10075"/>
              <a:gd name="connsiteX3" fmla="*/ 15037 w 15482"/>
              <a:gd name="connsiteY3" fmla="*/ 10075 h 10075"/>
              <a:gd name="connsiteX4" fmla="*/ 0 w 15482"/>
              <a:gd name="connsiteY4" fmla="*/ 9971 h 10075"/>
              <a:gd name="connsiteX0" fmla="*/ 0 w 15482"/>
              <a:gd name="connsiteY0" fmla="*/ 9971 h 10212"/>
              <a:gd name="connsiteX1" fmla="*/ 4068 w 15482"/>
              <a:gd name="connsiteY1" fmla="*/ 0 h 10212"/>
              <a:gd name="connsiteX2" fmla="*/ 15482 w 15482"/>
              <a:gd name="connsiteY2" fmla="*/ 83 h 10212"/>
              <a:gd name="connsiteX3" fmla="*/ 11651 w 15482"/>
              <a:gd name="connsiteY3" fmla="*/ 10212 h 10212"/>
              <a:gd name="connsiteX4" fmla="*/ 0 w 15482"/>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135"/>
              <a:gd name="connsiteY0" fmla="*/ 9971 h 10212"/>
              <a:gd name="connsiteX1" fmla="*/ 4068 w 15135"/>
              <a:gd name="connsiteY1" fmla="*/ 0 h 10212"/>
              <a:gd name="connsiteX2" fmla="*/ 15135 w 15135"/>
              <a:gd name="connsiteY2" fmla="*/ 151 h 10212"/>
              <a:gd name="connsiteX3" fmla="*/ 11651 w 15135"/>
              <a:gd name="connsiteY3" fmla="*/ 10212 h 10212"/>
              <a:gd name="connsiteX4" fmla="*/ 0 w 15135"/>
              <a:gd name="connsiteY4" fmla="*/ 9971 h 10212"/>
              <a:gd name="connsiteX0" fmla="*/ 0 w 15482"/>
              <a:gd name="connsiteY0" fmla="*/ 9971 h 10212"/>
              <a:gd name="connsiteX1" fmla="*/ 4068 w 15482"/>
              <a:gd name="connsiteY1" fmla="*/ 0 h 10212"/>
              <a:gd name="connsiteX2" fmla="*/ 15482 w 15482"/>
              <a:gd name="connsiteY2" fmla="*/ 151 h 10212"/>
              <a:gd name="connsiteX3" fmla="*/ 11651 w 15482"/>
              <a:gd name="connsiteY3" fmla="*/ 10212 h 10212"/>
              <a:gd name="connsiteX4" fmla="*/ 0 w 15482"/>
              <a:gd name="connsiteY4" fmla="*/ 9971 h 10212"/>
              <a:gd name="connsiteX0" fmla="*/ 0 w 15482"/>
              <a:gd name="connsiteY0" fmla="*/ 9971 h 10144"/>
              <a:gd name="connsiteX1" fmla="*/ 4068 w 15482"/>
              <a:gd name="connsiteY1" fmla="*/ 0 h 10144"/>
              <a:gd name="connsiteX2" fmla="*/ 15482 w 15482"/>
              <a:gd name="connsiteY2" fmla="*/ 151 h 10144"/>
              <a:gd name="connsiteX3" fmla="*/ 11304 w 15482"/>
              <a:gd name="connsiteY3" fmla="*/ 10144 h 10144"/>
              <a:gd name="connsiteX4" fmla="*/ 0 w 15482"/>
              <a:gd name="connsiteY4" fmla="*/ 9971 h 1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82" h="10144">
                <a:moveTo>
                  <a:pt x="0" y="9971"/>
                </a:moveTo>
                <a:lnTo>
                  <a:pt x="4068" y="0"/>
                </a:lnTo>
                <a:lnTo>
                  <a:pt x="15482" y="151"/>
                </a:lnTo>
                <a:cubicBezTo>
                  <a:pt x="15508" y="195"/>
                  <a:pt x="11192" y="10237"/>
                  <a:pt x="11304" y="10144"/>
                </a:cubicBezTo>
                <a:lnTo>
                  <a:pt x="0" y="997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FC96CF18-A27F-20ED-35F9-3D359B74DDBA}"/>
              </a:ext>
            </a:extLst>
          </p:cNvPr>
          <p:cNvCxnSpPr>
            <a:cxnSpLocks/>
          </p:cNvCxnSpPr>
          <p:nvPr/>
        </p:nvCxnSpPr>
        <p:spPr>
          <a:xfrm>
            <a:off x="965118" y="3449319"/>
            <a:ext cx="9742987"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28E19DE1-8C3E-45A4-C02E-593A1AEE355A}"/>
              </a:ext>
            </a:extLst>
          </p:cNvPr>
          <p:cNvSpPr>
            <a:spLocks noGrp="1"/>
          </p:cNvSpPr>
          <p:nvPr>
            <p:ph type="title"/>
          </p:nvPr>
        </p:nvSpPr>
        <p:spPr>
          <a:xfrm>
            <a:off x="581242" y="285531"/>
            <a:ext cx="10515600" cy="1325563"/>
          </a:xfrm>
        </p:spPr>
        <p:txBody>
          <a:bodyPr/>
          <a:lstStyle/>
          <a:p>
            <a:r>
              <a:rPr lang="en-US" dirty="0">
                <a:latin typeface="DM Serif Display" pitchFamily="2" charset="0"/>
              </a:rPr>
              <a:t>Company Timeline</a:t>
            </a:r>
          </a:p>
        </p:txBody>
      </p:sp>
      <p:grpSp>
        <p:nvGrpSpPr>
          <p:cNvPr id="18" name="Group 17">
            <a:extLst>
              <a:ext uri="{FF2B5EF4-FFF2-40B4-BE49-F238E27FC236}">
                <a16:creationId xmlns:a16="http://schemas.microsoft.com/office/drawing/2014/main" id="{7C940882-2E67-0B9B-CD4F-CBC22C1B1414}"/>
              </a:ext>
            </a:extLst>
          </p:cNvPr>
          <p:cNvGrpSpPr/>
          <p:nvPr/>
        </p:nvGrpSpPr>
        <p:grpSpPr>
          <a:xfrm>
            <a:off x="1392736" y="3327600"/>
            <a:ext cx="239376" cy="239376"/>
            <a:chOff x="1392736" y="3327600"/>
            <a:chExt cx="239376" cy="239376"/>
          </a:xfrm>
        </p:grpSpPr>
        <p:sp>
          <p:nvSpPr>
            <p:cNvPr id="12" name="Oval 11">
              <a:extLst>
                <a:ext uri="{FF2B5EF4-FFF2-40B4-BE49-F238E27FC236}">
                  <a16:creationId xmlns:a16="http://schemas.microsoft.com/office/drawing/2014/main" id="{83979ADA-D25C-42F1-8336-BD7F891A5BCE}"/>
                </a:ext>
              </a:extLst>
            </p:cNvPr>
            <p:cNvSpPr/>
            <p:nvPr/>
          </p:nvSpPr>
          <p:spPr>
            <a:xfrm>
              <a:off x="1392736" y="3327600"/>
              <a:ext cx="239376" cy="239376"/>
            </a:xfrm>
            <a:prstGeom prst="ellipse">
              <a:avLst/>
            </a:prstGeom>
            <a:solidFill>
              <a:schemeClr val="bg1">
                <a:alpha val="5564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AADE13D-D82E-31C0-9873-4BFBC1578F39}"/>
                </a:ext>
              </a:extLst>
            </p:cNvPr>
            <p:cNvSpPr/>
            <p:nvPr/>
          </p:nvSpPr>
          <p:spPr>
            <a:xfrm>
              <a:off x="1449493" y="3384357"/>
              <a:ext cx="125862" cy="1258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3F970D95-4C05-E399-2072-51E774298615}"/>
              </a:ext>
            </a:extLst>
          </p:cNvPr>
          <p:cNvSpPr txBox="1"/>
          <p:nvPr/>
        </p:nvSpPr>
        <p:spPr>
          <a:xfrm>
            <a:off x="3512899" y="3022233"/>
            <a:ext cx="627095" cy="369332"/>
          </a:xfrm>
          <a:prstGeom prst="rect">
            <a:avLst/>
          </a:prstGeom>
          <a:noFill/>
        </p:spPr>
        <p:txBody>
          <a:bodyPr wrap="none" rtlCol="0">
            <a:spAutoFit/>
          </a:bodyPr>
          <a:lstStyle/>
          <a:p>
            <a:r>
              <a:rPr lang="en-GB" dirty="0">
                <a:latin typeface="DM Serif Display" pitchFamily="2" charset="0"/>
              </a:rPr>
              <a:t>2019</a:t>
            </a:r>
            <a:endParaRPr lang="en-US" dirty="0">
              <a:latin typeface="DM Serif Display" pitchFamily="2" charset="0"/>
            </a:endParaRPr>
          </a:p>
        </p:txBody>
      </p:sp>
      <p:sp>
        <p:nvSpPr>
          <p:cNvPr id="16" name="TextBox 15">
            <a:extLst>
              <a:ext uri="{FF2B5EF4-FFF2-40B4-BE49-F238E27FC236}">
                <a16:creationId xmlns:a16="http://schemas.microsoft.com/office/drawing/2014/main" id="{12C9EEB9-BCAE-EF75-C3C2-DB99ADAD7EBF}"/>
              </a:ext>
            </a:extLst>
          </p:cNvPr>
          <p:cNvSpPr txBox="1"/>
          <p:nvPr/>
        </p:nvSpPr>
        <p:spPr>
          <a:xfrm>
            <a:off x="420593" y="3854694"/>
            <a:ext cx="2173793" cy="646331"/>
          </a:xfrm>
          <a:prstGeom prst="rect">
            <a:avLst/>
          </a:prstGeom>
          <a:noFill/>
        </p:spPr>
        <p:txBody>
          <a:bodyPr wrap="square" rtlCol="0">
            <a:spAutoFit/>
          </a:bodyPr>
          <a:lstStyle/>
          <a:p>
            <a:pPr algn="ctr"/>
            <a:r>
              <a:rPr lang="en-GB" sz="1200" dirty="0">
                <a:latin typeface="Avenir Book" panose="02000503020000020003" pitchFamily="2" charset="0"/>
              </a:rPr>
              <a:t>Launched with a mission to make financial data simple, actionable, and strategic.</a:t>
            </a:r>
          </a:p>
        </p:txBody>
      </p:sp>
      <p:grpSp>
        <p:nvGrpSpPr>
          <p:cNvPr id="19" name="Group 18">
            <a:extLst>
              <a:ext uri="{FF2B5EF4-FFF2-40B4-BE49-F238E27FC236}">
                <a16:creationId xmlns:a16="http://schemas.microsoft.com/office/drawing/2014/main" id="{A07A103D-257A-6CE8-D693-027923B3EBD4}"/>
              </a:ext>
            </a:extLst>
          </p:cNvPr>
          <p:cNvGrpSpPr/>
          <p:nvPr/>
        </p:nvGrpSpPr>
        <p:grpSpPr>
          <a:xfrm>
            <a:off x="3702751" y="3336838"/>
            <a:ext cx="239376" cy="239376"/>
            <a:chOff x="1392736" y="3327600"/>
            <a:chExt cx="239376" cy="239376"/>
          </a:xfrm>
        </p:grpSpPr>
        <p:sp>
          <p:nvSpPr>
            <p:cNvPr id="20" name="Oval 19">
              <a:extLst>
                <a:ext uri="{FF2B5EF4-FFF2-40B4-BE49-F238E27FC236}">
                  <a16:creationId xmlns:a16="http://schemas.microsoft.com/office/drawing/2014/main" id="{4A7A7D6F-E272-8DC0-E68E-C82EACFC7487}"/>
                </a:ext>
              </a:extLst>
            </p:cNvPr>
            <p:cNvSpPr/>
            <p:nvPr/>
          </p:nvSpPr>
          <p:spPr>
            <a:xfrm>
              <a:off x="1392736" y="3327600"/>
              <a:ext cx="239376" cy="239376"/>
            </a:xfrm>
            <a:prstGeom prst="ellipse">
              <a:avLst/>
            </a:prstGeom>
            <a:solidFill>
              <a:schemeClr val="bg1">
                <a:alpha val="5564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D5AE15A-6A97-5BDD-8D2C-3A07DA20EA69}"/>
                </a:ext>
              </a:extLst>
            </p:cNvPr>
            <p:cNvSpPr/>
            <p:nvPr/>
          </p:nvSpPr>
          <p:spPr>
            <a:xfrm>
              <a:off x="1449493" y="3384357"/>
              <a:ext cx="125862" cy="1258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7E493C3C-3AF7-8F88-F7BF-EC3649533471}"/>
              </a:ext>
            </a:extLst>
          </p:cNvPr>
          <p:cNvSpPr txBox="1"/>
          <p:nvPr/>
        </p:nvSpPr>
        <p:spPr>
          <a:xfrm>
            <a:off x="2798630" y="2349744"/>
            <a:ext cx="2173793" cy="646331"/>
          </a:xfrm>
          <a:prstGeom prst="rect">
            <a:avLst/>
          </a:prstGeom>
          <a:noFill/>
        </p:spPr>
        <p:txBody>
          <a:bodyPr wrap="square" rtlCol="0">
            <a:spAutoFit/>
          </a:bodyPr>
          <a:lstStyle/>
          <a:p>
            <a:pPr algn="ctr"/>
            <a:r>
              <a:rPr lang="en-GB" sz="1200" dirty="0">
                <a:latin typeface="Avenir Book" panose="02000503020000020003" pitchFamily="2" charset="0"/>
              </a:rPr>
              <a:t>Delivered measurable efficiency gains for insurance and banking partners.</a:t>
            </a:r>
          </a:p>
        </p:txBody>
      </p:sp>
      <p:sp>
        <p:nvSpPr>
          <p:cNvPr id="23" name="TextBox 22">
            <a:extLst>
              <a:ext uri="{FF2B5EF4-FFF2-40B4-BE49-F238E27FC236}">
                <a16:creationId xmlns:a16="http://schemas.microsoft.com/office/drawing/2014/main" id="{126A3D5D-7D71-D261-CF4B-F10905250C0F}"/>
              </a:ext>
            </a:extLst>
          </p:cNvPr>
          <p:cNvSpPr txBox="1"/>
          <p:nvPr/>
        </p:nvSpPr>
        <p:spPr>
          <a:xfrm>
            <a:off x="1197950" y="3539068"/>
            <a:ext cx="619080" cy="369332"/>
          </a:xfrm>
          <a:prstGeom prst="rect">
            <a:avLst/>
          </a:prstGeom>
          <a:noFill/>
        </p:spPr>
        <p:txBody>
          <a:bodyPr wrap="none" rtlCol="0">
            <a:spAutoFit/>
          </a:bodyPr>
          <a:lstStyle/>
          <a:p>
            <a:r>
              <a:rPr lang="en-GB" dirty="0">
                <a:latin typeface="DM Serif Display" pitchFamily="2" charset="0"/>
              </a:rPr>
              <a:t>2018</a:t>
            </a:r>
            <a:endParaRPr lang="en-US" dirty="0">
              <a:latin typeface="DM Serif Display" pitchFamily="2" charset="0"/>
            </a:endParaRPr>
          </a:p>
        </p:txBody>
      </p:sp>
      <p:grpSp>
        <p:nvGrpSpPr>
          <p:cNvPr id="25" name="Group 24">
            <a:extLst>
              <a:ext uri="{FF2B5EF4-FFF2-40B4-BE49-F238E27FC236}">
                <a16:creationId xmlns:a16="http://schemas.microsoft.com/office/drawing/2014/main" id="{D8339A08-DDB8-39B1-D192-1B294A64DF69}"/>
              </a:ext>
            </a:extLst>
          </p:cNvPr>
          <p:cNvGrpSpPr/>
          <p:nvPr/>
        </p:nvGrpSpPr>
        <p:grpSpPr>
          <a:xfrm>
            <a:off x="5762499" y="3327600"/>
            <a:ext cx="239376" cy="239376"/>
            <a:chOff x="1392736" y="3327600"/>
            <a:chExt cx="239376" cy="239376"/>
          </a:xfrm>
        </p:grpSpPr>
        <p:sp>
          <p:nvSpPr>
            <p:cNvPr id="26" name="Oval 25">
              <a:extLst>
                <a:ext uri="{FF2B5EF4-FFF2-40B4-BE49-F238E27FC236}">
                  <a16:creationId xmlns:a16="http://schemas.microsoft.com/office/drawing/2014/main" id="{44B95936-6DA9-A3A7-762F-7C2D62841CE8}"/>
                </a:ext>
              </a:extLst>
            </p:cNvPr>
            <p:cNvSpPr/>
            <p:nvPr/>
          </p:nvSpPr>
          <p:spPr>
            <a:xfrm>
              <a:off x="1392736" y="3327600"/>
              <a:ext cx="239376" cy="239376"/>
            </a:xfrm>
            <a:prstGeom prst="ellipse">
              <a:avLst/>
            </a:prstGeom>
            <a:solidFill>
              <a:schemeClr val="bg1">
                <a:alpha val="5564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96AC39B-00F2-70C1-6AFE-1740F93D1939}"/>
                </a:ext>
              </a:extLst>
            </p:cNvPr>
            <p:cNvSpPr/>
            <p:nvPr/>
          </p:nvSpPr>
          <p:spPr>
            <a:xfrm>
              <a:off x="1449493" y="3384357"/>
              <a:ext cx="125862" cy="1258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FD7806FB-AE25-A5BF-89EB-7057FCD30A18}"/>
              </a:ext>
            </a:extLst>
          </p:cNvPr>
          <p:cNvSpPr txBox="1"/>
          <p:nvPr/>
        </p:nvSpPr>
        <p:spPr>
          <a:xfrm>
            <a:off x="4790356" y="3854694"/>
            <a:ext cx="2212023" cy="646331"/>
          </a:xfrm>
          <a:prstGeom prst="rect">
            <a:avLst/>
          </a:prstGeom>
          <a:noFill/>
        </p:spPr>
        <p:txBody>
          <a:bodyPr wrap="square" rtlCol="0">
            <a:spAutoFit/>
          </a:bodyPr>
          <a:lstStyle/>
          <a:p>
            <a:pPr algn="ctr"/>
            <a:r>
              <a:rPr lang="en-GB" sz="1200" dirty="0">
                <a:latin typeface="Avenir Book" panose="02000503020000020003" pitchFamily="2" charset="0"/>
              </a:rPr>
              <a:t>Integrated AI and automation into financial </a:t>
            </a:r>
            <a:r>
              <a:rPr lang="en-GB" sz="1200" dirty="0" err="1">
                <a:latin typeface="Avenir Book" panose="02000503020000020003" pitchFamily="2" charset="0"/>
              </a:rPr>
              <a:t>modeling</a:t>
            </a:r>
            <a:r>
              <a:rPr lang="en-GB" sz="1200" dirty="0">
                <a:latin typeface="Avenir Book" panose="02000503020000020003" pitchFamily="2" charset="0"/>
              </a:rPr>
              <a:t> and forecasting.</a:t>
            </a:r>
          </a:p>
        </p:txBody>
      </p:sp>
      <p:sp>
        <p:nvSpPr>
          <p:cNvPr id="29" name="TextBox 28">
            <a:extLst>
              <a:ext uri="{FF2B5EF4-FFF2-40B4-BE49-F238E27FC236}">
                <a16:creationId xmlns:a16="http://schemas.microsoft.com/office/drawing/2014/main" id="{B9860D59-4936-9E32-0DF0-BF6D73612386}"/>
              </a:ext>
            </a:extLst>
          </p:cNvPr>
          <p:cNvSpPr txBox="1"/>
          <p:nvPr/>
        </p:nvSpPr>
        <p:spPr>
          <a:xfrm>
            <a:off x="5567713" y="3539068"/>
            <a:ext cx="662361" cy="369332"/>
          </a:xfrm>
          <a:prstGeom prst="rect">
            <a:avLst/>
          </a:prstGeom>
          <a:noFill/>
        </p:spPr>
        <p:txBody>
          <a:bodyPr wrap="none" rtlCol="0">
            <a:spAutoFit/>
          </a:bodyPr>
          <a:lstStyle/>
          <a:p>
            <a:r>
              <a:rPr lang="en-GB" dirty="0">
                <a:latin typeface="DM Serif Display" pitchFamily="2" charset="0"/>
              </a:rPr>
              <a:t>2020</a:t>
            </a:r>
            <a:endParaRPr lang="en-US" dirty="0">
              <a:latin typeface="DM Serif Display" pitchFamily="2" charset="0"/>
            </a:endParaRPr>
          </a:p>
        </p:txBody>
      </p:sp>
      <p:sp>
        <p:nvSpPr>
          <p:cNvPr id="31" name="TextBox 30">
            <a:extLst>
              <a:ext uri="{FF2B5EF4-FFF2-40B4-BE49-F238E27FC236}">
                <a16:creationId xmlns:a16="http://schemas.microsoft.com/office/drawing/2014/main" id="{061717A9-5F2C-5F15-817B-17689281D254}"/>
              </a:ext>
            </a:extLst>
          </p:cNvPr>
          <p:cNvSpPr txBox="1"/>
          <p:nvPr/>
        </p:nvSpPr>
        <p:spPr>
          <a:xfrm>
            <a:off x="7882662" y="3022233"/>
            <a:ext cx="670376" cy="369332"/>
          </a:xfrm>
          <a:prstGeom prst="rect">
            <a:avLst/>
          </a:prstGeom>
          <a:noFill/>
        </p:spPr>
        <p:txBody>
          <a:bodyPr wrap="none" rtlCol="0">
            <a:spAutoFit/>
          </a:bodyPr>
          <a:lstStyle/>
          <a:p>
            <a:r>
              <a:rPr lang="en-GB" dirty="0">
                <a:latin typeface="DM Serif Display" pitchFamily="2" charset="0"/>
              </a:rPr>
              <a:t>2022</a:t>
            </a:r>
            <a:endParaRPr lang="en-US" dirty="0">
              <a:latin typeface="DM Serif Display" pitchFamily="2" charset="0"/>
            </a:endParaRPr>
          </a:p>
        </p:txBody>
      </p:sp>
      <p:grpSp>
        <p:nvGrpSpPr>
          <p:cNvPr id="32" name="Group 31">
            <a:extLst>
              <a:ext uri="{FF2B5EF4-FFF2-40B4-BE49-F238E27FC236}">
                <a16:creationId xmlns:a16="http://schemas.microsoft.com/office/drawing/2014/main" id="{32F6F2A5-3556-327F-F080-53224C313A52}"/>
              </a:ext>
            </a:extLst>
          </p:cNvPr>
          <p:cNvGrpSpPr/>
          <p:nvPr/>
        </p:nvGrpSpPr>
        <p:grpSpPr>
          <a:xfrm>
            <a:off x="8072514" y="3336838"/>
            <a:ext cx="239376" cy="239376"/>
            <a:chOff x="1392736" y="3327600"/>
            <a:chExt cx="239376" cy="239376"/>
          </a:xfrm>
        </p:grpSpPr>
        <p:sp>
          <p:nvSpPr>
            <p:cNvPr id="33" name="Oval 32">
              <a:extLst>
                <a:ext uri="{FF2B5EF4-FFF2-40B4-BE49-F238E27FC236}">
                  <a16:creationId xmlns:a16="http://schemas.microsoft.com/office/drawing/2014/main" id="{1AABA42B-E244-FB45-B173-43449A9A5670}"/>
                </a:ext>
              </a:extLst>
            </p:cNvPr>
            <p:cNvSpPr/>
            <p:nvPr/>
          </p:nvSpPr>
          <p:spPr>
            <a:xfrm>
              <a:off x="1392736" y="3327600"/>
              <a:ext cx="239376" cy="239376"/>
            </a:xfrm>
            <a:prstGeom prst="ellipse">
              <a:avLst/>
            </a:prstGeom>
            <a:solidFill>
              <a:schemeClr val="bg1">
                <a:alpha val="5564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5E0BC9C-EE5A-AB49-DF5D-E3C53FBB2EEB}"/>
                </a:ext>
              </a:extLst>
            </p:cNvPr>
            <p:cNvSpPr/>
            <p:nvPr/>
          </p:nvSpPr>
          <p:spPr>
            <a:xfrm>
              <a:off x="1449493" y="3384357"/>
              <a:ext cx="125862" cy="1258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TextBox 34">
            <a:extLst>
              <a:ext uri="{FF2B5EF4-FFF2-40B4-BE49-F238E27FC236}">
                <a16:creationId xmlns:a16="http://schemas.microsoft.com/office/drawing/2014/main" id="{2FAD63D0-EAE1-7443-160C-A9119441B433}"/>
              </a:ext>
            </a:extLst>
          </p:cNvPr>
          <p:cNvSpPr txBox="1"/>
          <p:nvPr/>
        </p:nvSpPr>
        <p:spPr>
          <a:xfrm>
            <a:off x="6999949" y="2349744"/>
            <a:ext cx="2549507" cy="646331"/>
          </a:xfrm>
          <a:prstGeom prst="rect">
            <a:avLst/>
          </a:prstGeom>
          <a:noFill/>
        </p:spPr>
        <p:txBody>
          <a:bodyPr wrap="square" rtlCol="0">
            <a:spAutoFit/>
          </a:bodyPr>
          <a:lstStyle/>
          <a:p>
            <a:pPr algn="ctr"/>
            <a:r>
              <a:rPr lang="en-GB" sz="1200" dirty="0">
                <a:latin typeface="Avenir Book" panose="02000503020000020003" pitchFamily="2" charset="0"/>
              </a:rPr>
              <a:t>Introduced the Cursor Intelligence Suite for predictive analytics and process automation.</a:t>
            </a:r>
          </a:p>
        </p:txBody>
      </p:sp>
      <p:grpSp>
        <p:nvGrpSpPr>
          <p:cNvPr id="37" name="Group 36">
            <a:extLst>
              <a:ext uri="{FF2B5EF4-FFF2-40B4-BE49-F238E27FC236}">
                <a16:creationId xmlns:a16="http://schemas.microsoft.com/office/drawing/2014/main" id="{2C4B2F02-C30D-2996-FFAA-5ED7F8093F0A}"/>
              </a:ext>
            </a:extLst>
          </p:cNvPr>
          <p:cNvGrpSpPr/>
          <p:nvPr/>
        </p:nvGrpSpPr>
        <p:grpSpPr>
          <a:xfrm>
            <a:off x="10102851" y="3327600"/>
            <a:ext cx="239376" cy="239376"/>
            <a:chOff x="1392736" y="3327600"/>
            <a:chExt cx="239376" cy="239376"/>
          </a:xfrm>
        </p:grpSpPr>
        <p:sp>
          <p:nvSpPr>
            <p:cNvPr id="38" name="Oval 37">
              <a:extLst>
                <a:ext uri="{FF2B5EF4-FFF2-40B4-BE49-F238E27FC236}">
                  <a16:creationId xmlns:a16="http://schemas.microsoft.com/office/drawing/2014/main" id="{22E2C1E1-BD3A-A709-4707-E5CD8A2C8EBF}"/>
                </a:ext>
              </a:extLst>
            </p:cNvPr>
            <p:cNvSpPr/>
            <p:nvPr/>
          </p:nvSpPr>
          <p:spPr>
            <a:xfrm>
              <a:off x="1392736" y="3327600"/>
              <a:ext cx="239376" cy="239376"/>
            </a:xfrm>
            <a:prstGeom prst="ellipse">
              <a:avLst/>
            </a:prstGeom>
            <a:solidFill>
              <a:schemeClr val="bg1">
                <a:alpha val="5564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4BD0BF7-C97F-B6B2-3EFA-E116FE9B8C06}"/>
                </a:ext>
              </a:extLst>
            </p:cNvPr>
            <p:cNvSpPr/>
            <p:nvPr/>
          </p:nvSpPr>
          <p:spPr>
            <a:xfrm>
              <a:off x="1449493" y="3384357"/>
              <a:ext cx="125862" cy="12586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036BABCC-243B-8EFF-5B2F-D04525ADD9E4}"/>
              </a:ext>
            </a:extLst>
          </p:cNvPr>
          <p:cNvSpPr txBox="1"/>
          <p:nvPr/>
        </p:nvSpPr>
        <p:spPr>
          <a:xfrm>
            <a:off x="9130708" y="3854694"/>
            <a:ext cx="2237508" cy="646331"/>
          </a:xfrm>
          <a:prstGeom prst="rect">
            <a:avLst/>
          </a:prstGeom>
          <a:noFill/>
        </p:spPr>
        <p:txBody>
          <a:bodyPr wrap="square" rtlCol="0">
            <a:spAutoFit/>
          </a:bodyPr>
          <a:lstStyle/>
          <a:p>
            <a:pPr algn="ctr"/>
            <a:r>
              <a:rPr lang="en-GB" sz="1200" dirty="0">
                <a:latin typeface="Avenir Book" panose="02000503020000020003" pitchFamily="2" charset="0"/>
              </a:rPr>
              <a:t>Entered new sectors including logistics, healthcare, and manufacturing.</a:t>
            </a:r>
          </a:p>
        </p:txBody>
      </p:sp>
      <p:sp>
        <p:nvSpPr>
          <p:cNvPr id="41" name="TextBox 40">
            <a:extLst>
              <a:ext uri="{FF2B5EF4-FFF2-40B4-BE49-F238E27FC236}">
                <a16:creationId xmlns:a16="http://schemas.microsoft.com/office/drawing/2014/main" id="{D2530021-8361-02DB-3025-3BFB4AE0B935}"/>
              </a:ext>
            </a:extLst>
          </p:cNvPr>
          <p:cNvSpPr txBox="1"/>
          <p:nvPr/>
        </p:nvSpPr>
        <p:spPr>
          <a:xfrm>
            <a:off x="9908065" y="3539068"/>
            <a:ext cx="670376" cy="369332"/>
          </a:xfrm>
          <a:prstGeom prst="rect">
            <a:avLst/>
          </a:prstGeom>
          <a:noFill/>
        </p:spPr>
        <p:txBody>
          <a:bodyPr wrap="none" rtlCol="0">
            <a:spAutoFit/>
          </a:bodyPr>
          <a:lstStyle/>
          <a:p>
            <a:r>
              <a:rPr lang="en-GB" dirty="0">
                <a:latin typeface="DM Serif Display" pitchFamily="2" charset="0"/>
              </a:rPr>
              <a:t>2024</a:t>
            </a:r>
            <a:endParaRPr lang="en-US" dirty="0">
              <a:latin typeface="DM Serif Display" pitchFamily="2" charset="0"/>
            </a:endParaRPr>
          </a:p>
        </p:txBody>
      </p:sp>
      <p:pic>
        <p:nvPicPr>
          <p:cNvPr id="45" name="Picture 44" descr="A green flag on a pillar&#10;&#10;AI-generated content may be incorrect.">
            <a:extLst>
              <a:ext uri="{FF2B5EF4-FFF2-40B4-BE49-F238E27FC236}">
                <a16:creationId xmlns:a16="http://schemas.microsoft.com/office/drawing/2014/main" id="{EFCB3DF1-8528-AA7F-20F0-9689FDA4D508}"/>
              </a:ext>
            </a:extLst>
          </p:cNvPr>
          <p:cNvPicPr>
            <a:picLocks noChangeAspect="1"/>
          </p:cNvPicPr>
          <p:nvPr/>
        </p:nvPicPr>
        <p:blipFill>
          <a:blip r:embed="rId2" cstate="hqprint">
            <a:extLst>
              <a:ext uri="{28A0092B-C50C-407E-A947-70E740481C1C}">
                <a14:useLocalDpi xmlns:a14="http://schemas.microsoft.com/office/drawing/2010/main"/>
              </a:ext>
            </a:extLst>
          </a:blip>
          <a:srcRect l="25780" t="8674" r="24111" b="20214"/>
          <a:stretch>
            <a:fillRect/>
          </a:stretch>
        </p:blipFill>
        <p:spPr>
          <a:xfrm>
            <a:off x="1149603" y="2186674"/>
            <a:ext cx="766799" cy="1088195"/>
          </a:xfrm>
          <a:prstGeom prst="rect">
            <a:avLst/>
          </a:prstGeom>
        </p:spPr>
      </p:pic>
      <p:pic>
        <p:nvPicPr>
          <p:cNvPr id="51" name="Picture 50" descr="A handshake and a pillar&#10;&#10;AI-generated content may be incorrect.">
            <a:extLst>
              <a:ext uri="{FF2B5EF4-FFF2-40B4-BE49-F238E27FC236}">
                <a16:creationId xmlns:a16="http://schemas.microsoft.com/office/drawing/2014/main" id="{A913D7F3-9B85-B409-165A-4598DBAB26B6}"/>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3384370" y="3664133"/>
            <a:ext cx="892059" cy="812481"/>
          </a:xfrm>
          <a:prstGeom prst="rect">
            <a:avLst/>
          </a:prstGeom>
        </p:spPr>
      </p:pic>
      <p:pic>
        <p:nvPicPr>
          <p:cNvPr id="57" name="Picture 56" descr="A green and black logo&#10;&#10;AI-generated content may be incorrect.">
            <a:extLst>
              <a:ext uri="{FF2B5EF4-FFF2-40B4-BE49-F238E27FC236}">
                <a16:creationId xmlns:a16="http://schemas.microsoft.com/office/drawing/2014/main" id="{BCAA85BD-1ADC-FB15-9B51-5653027D794C}"/>
              </a:ext>
            </a:extLst>
          </p:cNvPr>
          <p:cNvPicPr>
            <a:picLocks noChangeAspect="1"/>
          </p:cNvPicPr>
          <p:nvPr/>
        </p:nvPicPr>
        <p:blipFill>
          <a:blip r:embed="rId4" cstate="hq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a:ext>
            </a:extLst>
          </a:blip>
          <a:srcRect/>
          <a:stretch>
            <a:fillRect/>
          </a:stretch>
        </p:blipFill>
        <p:spPr>
          <a:xfrm>
            <a:off x="5422955" y="2462942"/>
            <a:ext cx="941822" cy="727778"/>
          </a:xfrm>
          <a:prstGeom prst="rect">
            <a:avLst/>
          </a:prstGeom>
        </p:spPr>
      </p:pic>
      <p:pic>
        <p:nvPicPr>
          <p:cNvPr id="59" name="Picture 58" descr="A computer screen with a rocket on it&#10;&#10;AI-generated content may be incorrect.">
            <a:extLst>
              <a:ext uri="{FF2B5EF4-FFF2-40B4-BE49-F238E27FC236}">
                <a16:creationId xmlns:a16="http://schemas.microsoft.com/office/drawing/2014/main" id="{60E2CC8F-050A-847A-5208-6EFFAD258AE0}"/>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7779736" y="3738233"/>
            <a:ext cx="750760" cy="646301"/>
          </a:xfrm>
          <a:prstGeom prst="rect">
            <a:avLst/>
          </a:prstGeom>
        </p:spPr>
      </p:pic>
      <p:pic>
        <p:nvPicPr>
          <p:cNvPr id="61" name="Picture 60" descr="A logo of a globe with arrows&#10;&#10;AI-generated content may be incorrect.">
            <a:extLst>
              <a:ext uri="{FF2B5EF4-FFF2-40B4-BE49-F238E27FC236}">
                <a16:creationId xmlns:a16="http://schemas.microsoft.com/office/drawing/2014/main" id="{B3AC77B7-D701-AE51-8BED-19DDDE2D12F4}"/>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9947920" y="2427853"/>
            <a:ext cx="549238" cy="822580"/>
          </a:xfrm>
          <a:prstGeom prst="rect">
            <a:avLst/>
          </a:prstGeom>
        </p:spPr>
      </p:pic>
      <p:sp>
        <p:nvSpPr>
          <p:cNvPr id="62" name="Data 7">
            <a:extLst>
              <a:ext uri="{FF2B5EF4-FFF2-40B4-BE49-F238E27FC236}">
                <a16:creationId xmlns:a16="http://schemas.microsoft.com/office/drawing/2014/main" id="{19EBC4FB-C52C-815B-7777-B0BE78EC8DA0}"/>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ata 7">
            <a:extLst>
              <a:ext uri="{FF2B5EF4-FFF2-40B4-BE49-F238E27FC236}">
                <a16:creationId xmlns:a16="http://schemas.microsoft.com/office/drawing/2014/main" id="{799B5F68-BACE-5F80-CB18-520DB4451C47}"/>
              </a:ext>
            </a:extLst>
          </p:cNvPr>
          <p:cNvSpPr/>
          <p:nvPr/>
        </p:nvSpPr>
        <p:spPr>
          <a:xfrm>
            <a:off x="11146259" y="5495141"/>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ata 7">
            <a:extLst>
              <a:ext uri="{FF2B5EF4-FFF2-40B4-BE49-F238E27FC236}">
                <a16:creationId xmlns:a16="http://schemas.microsoft.com/office/drawing/2014/main" id="{AA995B31-FF25-ED31-62FD-F5B5BA8D3988}"/>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66" name="Data 7">
            <a:extLst>
              <a:ext uri="{FF2B5EF4-FFF2-40B4-BE49-F238E27FC236}">
                <a16:creationId xmlns:a16="http://schemas.microsoft.com/office/drawing/2014/main" id="{01F5E4D0-7897-6104-DF9E-3BFC22DDB3C1}"/>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nvGrpSpPr>
          <p:cNvPr id="74" name="Group 73">
            <a:extLst>
              <a:ext uri="{FF2B5EF4-FFF2-40B4-BE49-F238E27FC236}">
                <a16:creationId xmlns:a16="http://schemas.microsoft.com/office/drawing/2014/main" id="{072CF44B-189F-BC7E-2405-F9E398DB2AFE}"/>
              </a:ext>
            </a:extLst>
          </p:cNvPr>
          <p:cNvGrpSpPr/>
          <p:nvPr/>
        </p:nvGrpSpPr>
        <p:grpSpPr>
          <a:xfrm>
            <a:off x="532797" y="6015616"/>
            <a:ext cx="1233612" cy="371440"/>
            <a:chOff x="820922" y="6015616"/>
            <a:chExt cx="1233612" cy="371440"/>
          </a:xfrm>
        </p:grpSpPr>
        <p:sp>
          <p:nvSpPr>
            <p:cNvPr id="69" name="TextBox 68">
              <a:extLst>
                <a:ext uri="{FF2B5EF4-FFF2-40B4-BE49-F238E27FC236}">
                  <a16:creationId xmlns:a16="http://schemas.microsoft.com/office/drawing/2014/main" id="{1EDEB096-F545-8B83-E69F-369139592674}"/>
                </a:ext>
              </a:extLst>
            </p:cNvPr>
            <p:cNvSpPr txBox="1"/>
            <p:nvPr/>
          </p:nvSpPr>
          <p:spPr>
            <a:xfrm>
              <a:off x="1023483" y="6017724"/>
              <a:ext cx="1031051" cy="369332"/>
            </a:xfrm>
            <a:prstGeom prst="rect">
              <a:avLst/>
            </a:prstGeom>
            <a:noFill/>
          </p:spPr>
          <p:txBody>
            <a:bodyPr wrap="none" rtlCol="0">
              <a:spAutoFit/>
            </a:bodyPr>
            <a:lstStyle/>
            <a:p>
              <a:r>
                <a:rPr lang="en-US" sz="900" dirty="0">
                  <a:solidFill>
                    <a:schemeClr val="bg2">
                      <a:lumMod val="50000"/>
                    </a:schemeClr>
                  </a:solidFill>
                  <a:latin typeface="DM Serif Display" pitchFamily="2" charset="0"/>
                </a:rPr>
                <a:t>Cursor Financial</a:t>
              </a:r>
            </a:p>
            <a:p>
              <a:r>
                <a:rPr lang="en-US" sz="900" dirty="0">
                  <a:solidFill>
                    <a:schemeClr val="bg2">
                      <a:lumMod val="50000"/>
                    </a:schemeClr>
                  </a:solidFill>
                  <a:latin typeface="DM Serif Display" pitchFamily="2" charset="0"/>
                </a:rPr>
                <a:t>Consulting</a:t>
              </a:r>
            </a:p>
          </p:txBody>
        </p:sp>
        <p:grpSp>
          <p:nvGrpSpPr>
            <p:cNvPr id="70" name="Group 69">
              <a:extLst>
                <a:ext uri="{FF2B5EF4-FFF2-40B4-BE49-F238E27FC236}">
                  <a16:creationId xmlns:a16="http://schemas.microsoft.com/office/drawing/2014/main" id="{322877BA-E884-642E-C428-8DD3D57DF47A}"/>
                </a:ext>
              </a:extLst>
            </p:cNvPr>
            <p:cNvGrpSpPr/>
            <p:nvPr/>
          </p:nvGrpSpPr>
          <p:grpSpPr>
            <a:xfrm>
              <a:off x="820922" y="6015616"/>
              <a:ext cx="271596" cy="349198"/>
              <a:chOff x="693522" y="1976028"/>
              <a:chExt cx="1652448" cy="2124597"/>
            </a:xfrm>
          </p:grpSpPr>
          <p:sp>
            <p:nvSpPr>
              <p:cNvPr id="71" name="Data 7">
                <a:extLst>
                  <a:ext uri="{FF2B5EF4-FFF2-40B4-BE49-F238E27FC236}">
                    <a16:creationId xmlns:a16="http://schemas.microsoft.com/office/drawing/2014/main" id="{6E796A9E-297A-F4FE-9367-80C83EFD2118}"/>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Data 7">
                <a:extLst>
                  <a:ext uri="{FF2B5EF4-FFF2-40B4-BE49-F238E27FC236}">
                    <a16:creationId xmlns:a16="http://schemas.microsoft.com/office/drawing/2014/main" id="{EF1D2C34-330B-8828-0EF7-FBDEE5F9F01E}"/>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993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Data 7">
                <a:extLst>
                  <a:ext uri="{FF2B5EF4-FFF2-40B4-BE49-F238E27FC236}">
                    <a16:creationId xmlns:a16="http://schemas.microsoft.com/office/drawing/2014/main" id="{1B20BA31-671A-73F4-1033-C7617D8C9815}"/>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593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grpSp>
      <p:sp>
        <p:nvSpPr>
          <p:cNvPr id="3" name="TextBox 2">
            <a:extLst>
              <a:ext uri="{FF2B5EF4-FFF2-40B4-BE49-F238E27FC236}">
                <a16:creationId xmlns:a16="http://schemas.microsoft.com/office/drawing/2014/main" id="{8C1727F0-3982-7E45-6E71-04F191F14619}"/>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3</a:t>
            </a:r>
          </a:p>
        </p:txBody>
      </p:sp>
      <p:cxnSp>
        <p:nvCxnSpPr>
          <p:cNvPr id="13" name="Straight Connector 12">
            <a:extLst>
              <a:ext uri="{FF2B5EF4-FFF2-40B4-BE49-F238E27FC236}">
                <a16:creationId xmlns:a16="http://schemas.microsoft.com/office/drawing/2014/main" id="{0F3179D9-E0B1-A95A-BB13-B5EFFAB55222}"/>
              </a:ext>
            </a:extLst>
          </p:cNvPr>
          <p:cNvCxnSpPr>
            <a:cxnSpLocks/>
          </p:cNvCxnSpPr>
          <p:nvPr/>
        </p:nvCxnSpPr>
        <p:spPr>
          <a:xfrm>
            <a:off x="532797" y="6389164"/>
            <a:ext cx="10175308" cy="0"/>
          </a:xfrm>
          <a:prstGeom prst="line">
            <a:avLst/>
          </a:prstGeom>
          <a:ln w="9525">
            <a:solidFill>
              <a:srgbClr val="ADD0B1">
                <a:alpha val="75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2300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7E7DB"/>
        </a:solidFill>
        <a:effectLst/>
      </p:bgPr>
    </p:bg>
    <p:spTree>
      <p:nvGrpSpPr>
        <p:cNvPr id="1" name="">
          <a:extLst>
            <a:ext uri="{FF2B5EF4-FFF2-40B4-BE49-F238E27FC236}">
              <a16:creationId xmlns:a16="http://schemas.microsoft.com/office/drawing/2014/main" id="{C034612C-4491-13E2-0C17-3A5D22C7C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5FFBF-611A-36A2-EBB6-D205A72F6A88}"/>
              </a:ext>
            </a:extLst>
          </p:cNvPr>
          <p:cNvSpPr>
            <a:spLocks noGrp="1"/>
          </p:cNvSpPr>
          <p:nvPr>
            <p:ph type="title"/>
          </p:nvPr>
        </p:nvSpPr>
        <p:spPr>
          <a:xfrm>
            <a:off x="581286" y="582815"/>
            <a:ext cx="10515600" cy="732695"/>
          </a:xfrm>
        </p:spPr>
        <p:txBody>
          <a:bodyPr>
            <a:normAutofit/>
          </a:bodyPr>
          <a:lstStyle/>
          <a:p>
            <a:r>
              <a:rPr lang="en-US" dirty="0">
                <a:latin typeface="DM Serif Display" pitchFamily="2" charset="0"/>
              </a:rPr>
              <a:t>Our Core Services</a:t>
            </a:r>
          </a:p>
        </p:txBody>
      </p:sp>
      <p:sp>
        <p:nvSpPr>
          <p:cNvPr id="62" name="Data 7">
            <a:extLst>
              <a:ext uri="{FF2B5EF4-FFF2-40B4-BE49-F238E27FC236}">
                <a16:creationId xmlns:a16="http://schemas.microsoft.com/office/drawing/2014/main" id="{ACF4A157-4E5C-FAF9-CEF3-7CD222ACA529}"/>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ata 7">
            <a:extLst>
              <a:ext uri="{FF2B5EF4-FFF2-40B4-BE49-F238E27FC236}">
                <a16:creationId xmlns:a16="http://schemas.microsoft.com/office/drawing/2014/main" id="{49AF4E00-94D2-12B6-C157-BC76837E3A76}"/>
              </a:ext>
            </a:extLst>
          </p:cNvPr>
          <p:cNvSpPr/>
          <p:nvPr/>
        </p:nvSpPr>
        <p:spPr>
          <a:xfrm>
            <a:off x="11146259" y="5495141"/>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ata 7">
            <a:extLst>
              <a:ext uri="{FF2B5EF4-FFF2-40B4-BE49-F238E27FC236}">
                <a16:creationId xmlns:a16="http://schemas.microsoft.com/office/drawing/2014/main" id="{F79EEA00-A7ED-20DE-3C32-009196E5D598}"/>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66" name="Data 7">
            <a:extLst>
              <a:ext uri="{FF2B5EF4-FFF2-40B4-BE49-F238E27FC236}">
                <a16:creationId xmlns:a16="http://schemas.microsoft.com/office/drawing/2014/main" id="{1CF059FC-4FA9-13FF-3B46-45BB833D8565}"/>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nvGrpSpPr>
          <p:cNvPr id="74" name="Group 73">
            <a:extLst>
              <a:ext uri="{FF2B5EF4-FFF2-40B4-BE49-F238E27FC236}">
                <a16:creationId xmlns:a16="http://schemas.microsoft.com/office/drawing/2014/main" id="{B32255EF-0E73-E7C1-6DAA-3A3E9E79F820}"/>
              </a:ext>
            </a:extLst>
          </p:cNvPr>
          <p:cNvGrpSpPr/>
          <p:nvPr/>
        </p:nvGrpSpPr>
        <p:grpSpPr>
          <a:xfrm>
            <a:off x="532797" y="6015616"/>
            <a:ext cx="1233612" cy="371440"/>
            <a:chOff x="820922" y="6015616"/>
            <a:chExt cx="1233612" cy="371440"/>
          </a:xfrm>
        </p:grpSpPr>
        <p:sp>
          <p:nvSpPr>
            <p:cNvPr id="69" name="TextBox 68">
              <a:extLst>
                <a:ext uri="{FF2B5EF4-FFF2-40B4-BE49-F238E27FC236}">
                  <a16:creationId xmlns:a16="http://schemas.microsoft.com/office/drawing/2014/main" id="{C7FBFDAD-6C27-FA77-840C-D7F1D7600DDC}"/>
                </a:ext>
              </a:extLst>
            </p:cNvPr>
            <p:cNvSpPr txBox="1"/>
            <p:nvPr/>
          </p:nvSpPr>
          <p:spPr>
            <a:xfrm>
              <a:off x="1023483" y="6017724"/>
              <a:ext cx="1031051" cy="369332"/>
            </a:xfrm>
            <a:prstGeom prst="rect">
              <a:avLst/>
            </a:prstGeom>
            <a:noFill/>
          </p:spPr>
          <p:txBody>
            <a:bodyPr wrap="none" rtlCol="0">
              <a:spAutoFit/>
            </a:bodyPr>
            <a:lstStyle/>
            <a:p>
              <a:r>
                <a:rPr lang="en-US" sz="900" dirty="0">
                  <a:solidFill>
                    <a:schemeClr val="bg2">
                      <a:lumMod val="50000"/>
                    </a:schemeClr>
                  </a:solidFill>
                  <a:latin typeface="DM Serif Display" pitchFamily="2" charset="0"/>
                </a:rPr>
                <a:t>Cursor Financial</a:t>
              </a:r>
            </a:p>
            <a:p>
              <a:r>
                <a:rPr lang="en-US" sz="900" dirty="0">
                  <a:solidFill>
                    <a:schemeClr val="bg2">
                      <a:lumMod val="50000"/>
                    </a:schemeClr>
                  </a:solidFill>
                  <a:latin typeface="DM Serif Display" pitchFamily="2" charset="0"/>
                </a:rPr>
                <a:t>Consulting</a:t>
              </a:r>
            </a:p>
          </p:txBody>
        </p:sp>
        <p:grpSp>
          <p:nvGrpSpPr>
            <p:cNvPr id="70" name="Group 69">
              <a:extLst>
                <a:ext uri="{FF2B5EF4-FFF2-40B4-BE49-F238E27FC236}">
                  <a16:creationId xmlns:a16="http://schemas.microsoft.com/office/drawing/2014/main" id="{364025BC-4A9E-FC93-A40B-FB194CE2AA50}"/>
                </a:ext>
              </a:extLst>
            </p:cNvPr>
            <p:cNvGrpSpPr/>
            <p:nvPr/>
          </p:nvGrpSpPr>
          <p:grpSpPr>
            <a:xfrm>
              <a:off x="820922" y="6015616"/>
              <a:ext cx="271596" cy="349198"/>
              <a:chOff x="693522" y="1976028"/>
              <a:chExt cx="1652448" cy="2124597"/>
            </a:xfrm>
          </p:grpSpPr>
          <p:sp>
            <p:nvSpPr>
              <p:cNvPr id="71" name="Data 7">
                <a:extLst>
                  <a:ext uri="{FF2B5EF4-FFF2-40B4-BE49-F238E27FC236}">
                    <a16:creationId xmlns:a16="http://schemas.microsoft.com/office/drawing/2014/main" id="{C832C794-9A86-AF99-E91F-555AA2DBF2DA}"/>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Data 7">
                <a:extLst>
                  <a:ext uri="{FF2B5EF4-FFF2-40B4-BE49-F238E27FC236}">
                    <a16:creationId xmlns:a16="http://schemas.microsoft.com/office/drawing/2014/main" id="{8C67D2C1-6AFA-E939-84C9-DB31B6767A79}"/>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993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Data 7">
                <a:extLst>
                  <a:ext uri="{FF2B5EF4-FFF2-40B4-BE49-F238E27FC236}">
                    <a16:creationId xmlns:a16="http://schemas.microsoft.com/office/drawing/2014/main" id="{817E0651-76A8-45A3-7B58-DC482DEDDCA2}"/>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593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grpSp>
      <p:sp>
        <p:nvSpPr>
          <p:cNvPr id="3" name="Freeform 2">
            <a:extLst>
              <a:ext uri="{FF2B5EF4-FFF2-40B4-BE49-F238E27FC236}">
                <a16:creationId xmlns:a16="http://schemas.microsoft.com/office/drawing/2014/main" id="{05E8754C-3414-883E-21EB-B9C41B258883}"/>
              </a:ext>
            </a:extLst>
          </p:cNvPr>
          <p:cNvSpPr/>
          <p:nvPr/>
        </p:nvSpPr>
        <p:spPr>
          <a:xfrm>
            <a:off x="5724457" y="-2"/>
            <a:ext cx="6526812" cy="6392011"/>
          </a:xfrm>
          <a:custGeom>
            <a:avLst/>
            <a:gdLst>
              <a:gd name="connsiteX0" fmla="*/ 2207312 w 7002630"/>
              <a:gd name="connsiteY0" fmla="*/ 0 h 6858001"/>
              <a:gd name="connsiteX1" fmla="*/ 7002630 w 7002630"/>
              <a:gd name="connsiteY1" fmla="*/ 0 h 6858001"/>
              <a:gd name="connsiteX2" fmla="*/ 7002630 w 7002630"/>
              <a:gd name="connsiteY2" fmla="*/ 1730394 h 6858001"/>
              <a:gd name="connsiteX3" fmla="*/ 5340584 w 7002630"/>
              <a:gd name="connsiteY3" fmla="*/ 6858001 h 6858001"/>
              <a:gd name="connsiteX4" fmla="*/ 0 w 7002630"/>
              <a:gd name="connsiteY4" fmla="*/ 6858001 h 6858001"/>
              <a:gd name="connsiteX5" fmla="*/ 2207312 w 7002630"/>
              <a:gd name="connsiteY5"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02630" h="6858001">
                <a:moveTo>
                  <a:pt x="2207312" y="0"/>
                </a:moveTo>
                <a:lnTo>
                  <a:pt x="7002630" y="0"/>
                </a:lnTo>
                <a:lnTo>
                  <a:pt x="7002630" y="1730394"/>
                </a:lnTo>
                <a:lnTo>
                  <a:pt x="5340584" y="6858001"/>
                </a:lnTo>
                <a:lnTo>
                  <a:pt x="0" y="6858001"/>
                </a:lnTo>
                <a:lnTo>
                  <a:pt x="2207312" y="0"/>
                </a:lnTo>
                <a:close/>
              </a:path>
            </a:pathLst>
          </a:custGeom>
          <a:blipFill dpi="0" rotWithShape="1">
            <a:blip r:embed="rId3" cstate="hqprint">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83A1D11C-BE1A-64FE-FC6F-7E560A436701}"/>
              </a:ext>
            </a:extLst>
          </p:cNvPr>
          <p:cNvSpPr/>
          <p:nvPr/>
        </p:nvSpPr>
        <p:spPr>
          <a:xfrm>
            <a:off x="678176" y="1955804"/>
            <a:ext cx="9127982" cy="3183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1E686CD-8034-189B-0AEF-45EC527115D1}"/>
              </a:ext>
            </a:extLst>
          </p:cNvPr>
          <p:cNvSpPr txBox="1"/>
          <p:nvPr/>
        </p:nvSpPr>
        <p:spPr>
          <a:xfrm>
            <a:off x="919772" y="3633578"/>
            <a:ext cx="2263695" cy="461665"/>
          </a:xfrm>
          <a:prstGeom prst="rect">
            <a:avLst/>
          </a:prstGeom>
          <a:noFill/>
        </p:spPr>
        <p:txBody>
          <a:bodyPr wrap="square" rtlCol="0">
            <a:spAutoFit/>
          </a:bodyPr>
          <a:lstStyle/>
          <a:p>
            <a:r>
              <a:rPr lang="en-GB" sz="1200" dirty="0">
                <a:latin typeface="Avenir Book" panose="02000503020000020003" pitchFamily="2" charset="0"/>
              </a:rPr>
              <a:t>Aligns business and capital strategy with growth priorities.</a:t>
            </a:r>
          </a:p>
        </p:txBody>
      </p:sp>
      <p:sp>
        <p:nvSpPr>
          <p:cNvPr id="6" name="TextBox 5">
            <a:extLst>
              <a:ext uri="{FF2B5EF4-FFF2-40B4-BE49-F238E27FC236}">
                <a16:creationId xmlns:a16="http://schemas.microsoft.com/office/drawing/2014/main" id="{75438F2C-916A-F8AA-D553-0CAE817CBDC1}"/>
              </a:ext>
            </a:extLst>
          </p:cNvPr>
          <p:cNvSpPr txBox="1"/>
          <p:nvPr/>
        </p:nvSpPr>
        <p:spPr>
          <a:xfrm>
            <a:off x="919772" y="3003306"/>
            <a:ext cx="1693273" cy="523220"/>
          </a:xfrm>
          <a:prstGeom prst="rect">
            <a:avLst/>
          </a:prstGeom>
          <a:noFill/>
        </p:spPr>
        <p:txBody>
          <a:bodyPr wrap="square" rtlCol="0">
            <a:spAutoFit/>
          </a:bodyPr>
          <a:lstStyle/>
          <a:p>
            <a:r>
              <a:rPr lang="en-GB" sz="1400" dirty="0">
                <a:latin typeface="DM Serif Display" pitchFamily="2" charset="0"/>
              </a:rPr>
              <a:t>Financial Strategy Development</a:t>
            </a:r>
            <a:endParaRPr lang="en-US" sz="1400" dirty="0">
              <a:latin typeface="DM Serif Display" pitchFamily="2" charset="0"/>
            </a:endParaRPr>
          </a:p>
        </p:txBody>
      </p:sp>
      <p:sp>
        <p:nvSpPr>
          <p:cNvPr id="9" name="TextBox 8">
            <a:extLst>
              <a:ext uri="{FF2B5EF4-FFF2-40B4-BE49-F238E27FC236}">
                <a16:creationId xmlns:a16="http://schemas.microsoft.com/office/drawing/2014/main" id="{B08C6FFF-6C8E-BDC4-A597-1AD4B723A22E}"/>
              </a:ext>
            </a:extLst>
          </p:cNvPr>
          <p:cNvSpPr txBox="1"/>
          <p:nvPr/>
        </p:nvSpPr>
        <p:spPr>
          <a:xfrm>
            <a:off x="919773" y="4155553"/>
            <a:ext cx="1622092" cy="400110"/>
          </a:xfrm>
          <a:prstGeom prst="rect">
            <a:avLst/>
          </a:prstGeom>
          <a:noFill/>
        </p:spPr>
        <p:txBody>
          <a:bodyPr wrap="square" rtlCol="0">
            <a:spAutoFit/>
          </a:bodyPr>
          <a:lstStyle/>
          <a:p>
            <a:r>
              <a:rPr lang="en-GB" sz="1000" b="1" dirty="0">
                <a:solidFill>
                  <a:srgbClr val="15626A"/>
                </a:solidFill>
                <a:latin typeface="Avenir Book" panose="02000503020000020003" pitchFamily="2" charset="0"/>
              </a:rPr>
              <a:t>+25% ROI improvement within 12 months.</a:t>
            </a:r>
          </a:p>
        </p:txBody>
      </p:sp>
      <p:sp>
        <p:nvSpPr>
          <p:cNvPr id="48" name="TextBox 47">
            <a:extLst>
              <a:ext uri="{FF2B5EF4-FFF2-40B4-BE49-F238E27FC236}">
                <a16:creationId xmlns:a16="http://schemas.microsoft.com/office/drawing/2014/main" id="{12C5AC65-09EF-7344-BD1C-8F837A7693C4}"/>
              </a:ext>
            </a:extLst>
          </p:cNvPr>
          <p:cNvSpPr txBox="1"/>
          <p:nvPr/>
        </p:nvSpPr>
        <p:spPr>
          <a:xfrm>
            <a:off x="4115359" y="3633578"/>
            <a:ext cx="2339187" cy="461665"/>
          </a:xfrm>
          <a:prstGeom prst="rect">
            <a:avLst/>
          </a:prstGeom>
          <a:noFill/>
        </p:spPr>
        <p:txBody>
          <a:bodyPr wrap="square" rtlCol="0">
            <a:spAutoFit/>
          </a:bodyPr>
          <a:lstStyle/>
          <a:p>
            <a:r>
              <a:rPr lang="en-GB" sz="1200" dirty="0">
                <a:latin typeface="Avenir Book" panose="02000503020000020003" pitchFamily="2" charset="0"/>
              </a:rPr>
              <a:t>Streamlines finance operations using AI and analytics.</a:t>
            </a:r>
          </a:p>
        </p:txBody>
      </p:sp>
      <p:sp>
        <p:nvSpPr>
          <p:cNvPr id="50" name="TextBox 49">
            <a:extLst>
              <a:ext uri="{FF2B5EF4-FFF2-40B4-BE49-F238E27FC236}">
                <a16:creationId xmlns:a16="http://schemas.microsoft.com/office/drawing/2014/main" id="{0EC43791-F0C4-3506-6F89-A6E49187FDB9}"/>
              </a:ext>
            </a:extLst>
          </p:cNvPr>
          <p:cNvSpPr txBox="1"/>
          <p:nvPr/>
        </p:nvSpPr>
        <p:spPr>
          <a:xfrm>
            <a:off x="4115359" y="3003306"/>
            <a:ext cx="1989385" cy="523220"/>
          </a:xfrm>
          <a:prstGeom prst="rect">
            <a:avLst/>
          </a:prstGeom>
          <a:noFill/>
        </p:spPr>
        <p:txBody>
          <a:bodyPr wrap="square" rtlCol="0">
            <a:spAutoFit/>
          </a:bodyPr>
          <a:lstStyle/>
          <a:p>
            <a:r>
              <a:rPr lang="en-GB" sz="1400" dirty="0">
                <a:latin typeface="DM Serif Display" pitchFamily="2" charset="0"/>
              </a:rPr>
              <a:t>Process Optimization &amp; Automation</a:t>
            </a:r>
            <a:endParaRPr lang="en-US" sz="1400" dirty="0">
              <a:latin typeface="DM Serif Display" pitchFamily="2" charset="0"/>
            </a:endParaRPr>
          </a:p>
        </p:txBody>
      </p:sp>
      <p:sp>
        <p:nvSpPr>
          <p:cNvPr id="55" name="TextBox 54">
            <a:extLst>
              <a:ext uri="{FF2B5EF4-FFF2-40B4-BE49-F238E27FC236}">
                <a16:creationId xmlns:a16="http://schemas.microsoft.com/office/drawing/2014/main" id="{ED487AD1-B6FD-52D3-68C2-35F50C48CADA}"/>
              </a:ext>
            </a:extLst>
          </p:cNvPr>
          <p:cNvSpPr txBox="1"/>
          <p:nvPr/>
        </p:nvSpPr>
        <p:spPr>
          <a:xfrm>
            <a:off x="4115360" y="4155553"/>
            <a:ext cx="1622092" cy="400110"/>
          </a:xfrm>
          <a:prstGeom prst="rect">
            <a:avLst/>
          </a:prstGeom>
          <a:noFill/>
        </p:spPr>
        <p:txBody>
          <a:bodyPr wrap="square" rtlCol="0">
            <a:spAutoFit/>
          </a:bodyPr>
          <a:lstStyle/>
          <a:p>
            <a:r>
              <a:rPr lang="en-GB" sz="1000" b="1" dirty="0">
                <a:solidFill>
                  <a:srgbClr val="15626A"/>
                </a:solidFill>
                <a:latin typeface="Avenir Book" panose="02000503020000020003" pitchFamily="2" charset="0"/>
              </a:rPr>
              <a:t>–40% manual workload in financial close cycles.</a:t>
            </a:r>
          </a:p>
        </p:txBody>
      </p:sp>
      <p:grpSp>
        <p:nvGrpSpPr>
          <p:cNvPr id="8" name="Group 7">
            <a:extLst>
              <a:ext uri="{FF2B5EF4-FFF2-40B4-BE49-F238E27FC236}">
                <a16:creationId xmlns:a16="http://schemas.microsoft.com/office/drawing/2014/main" id="{42070BBE-B925-D695-19B3-C2EE95BDCB23}"/>
              </a:ext>
            </a:extLst>
          </p:cNvPr>
          <p:cNvGrpSpPr/>
          <p:nvPr/>
        </p:nvGrpSpPr>
        <p:grpSpPr>
          <a:xfrm>
            <a:off x="6156737" y="4205537"/>
            <a:ext cx="297809" cy="297809"/>
            <a:chOff x="5737452" y="4202295"/>
            <a:chExt cx="297809" cy="297809"/>
          </a:xfrm>
        </p:grpSpPr>
        <p:sp>
          <p:nvSpPr>
            <p:cNvPr id="56" name="Oval 55">
              <a:extLst>
                <a:ext uri="{FF2B5EF4-FFF2-40B4-BE49-F238E27FC236}">
                  <a16:creationId xmlns:a16="http://schemas.microsoft.com/office/drawing/2014/main" id="{C5AADB3F-B93D-EA21-2090-B3F59BFEF3DC}"/>
                </a:ext>
              </a:extLst>
            </p:cNvPr>
            <p:cNvSpPr/>
            <p:nvPr/>
          </p:nvSpPr>
          <p:spPr>
            <a:xfrm>
              <a:off x="5737452" y="4202295"/>
              <a:ext cx="297809" cy="297809"/>
            </a:xfrm>
            <a:prstGeom prst="ellipse">
              <a:avLst/>
            </a:prstGeom>
            <a:noFill/>
            <a:ln w="9525">
              <a:solidFill>
                <a:srgbClr val="BDD6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CD8E2810-ED12-974E-AABC-1178A4F05E2A}"/>
                </a:ext>
              </a:extLst>
            </p:cNvPr>
            <p:cNvCxnSpPr>
              <a:cxnSpLocks/>
            </p:cNvCxnSpPr>
            <p:nvPr/>
          </p:nvCxnSpPr>
          <p:spPr>
            <a:xfrm>
              <a:off x="5822579" y="4357621"/>
              <a:ext cx="116426" cy="0"/>
            </a:xfrm>
            <a:prstGeom prst="line">
              <a:avLst/>
            </a:prstGeom>
            <a:ln w="12700" cap="rnd">
              <a:solidFill>
                <a:srgbClr val="BDD6B2"/>
              </a:solidFill>
              <a:miter lim="800000"/>
              <a:tailEnd type="arrow" w="med" len="sm"/>
            </a:ln>
          </p:spPr>
          <p:style>
            <a:lnRef idx="2">
              <a:schemeClr val="accent1"/>
            </a:lnRef>
            <a:fillRef idx="0">
              <a:schemeClr val="accent1"/>
            </a:fillRef>
            <a:effectRef idx="1">
              <a:schemeClr val="accent1"/>
            </a:effectRef>
            <a:fontRef idx="minor">
              <a:schemeClr val="tx1"/>
            </a:fontRef>
          </p:style>
        </p:cxnSp>
      </p:grpSp>
      <p:sp>
        <p:nvSpPr>
          <p:cNvPr id="77" name="TextBox 76">
            <a:extLst>
              <a:ext uri="{FF2B5EF4-FFF2-40B4-BE49-F238E27FC236}">
                <a16:creationId xmlns:a16="http://schemas.microsoft.com/office/drawing/2014/main" id="{9B058AEE-604C-B973-70C6-30EE6AFFD0CB}"/>
              </a:ext>
            </a:extLst>
          </p:cNvPr>
          <p:cNvSpPr txBox="1"/>
          <p:nvPr/>
        </p:nvSpPr>
        <p:spPr>
          <a:xfrm>
            <a:off x="7108815" y="3633578"/>
            <a:ext cx="2400942" cy="461665"/>
          </a:xfrm>
          <a:prstGeom prst="rect">
            <a:avLst/>
          </a:prstGeom>
          <a:noFill/>
        </p:spPr>
        <p:txBody>
          <a:bodyPr wrap="square" rtlCol="0">
            <a:spAutoFit/>
          </a:bodyPr>
          <a:lstStyle/>
          <a:p>
            <a:r>
              <a:rPr lang="en-GB" sz="1200" dirty="0">
                <a:latin typeface="Avenir Book" panose="02000503020000020003" pitchFamily="2" charset="0"/>
              </a:rPr>
              <a:t>Data-driven insights to navigate volatility and compliance.</a:t>
            </a:r>
          </a:p>
        </p:txBody>
      </p:sp>
      <p:sp>
        <p:nvSpPr>
          <p:cNvPr id="78" name="TextBox 77">
            <a:extLst>
              <a:ext uri="{FF2B5EF4-FFF2-40B4-BE49-F238E27FC236}">
                <a16:creationId xmlns:a16="http://schemas.microsoft.com/office/drawing/2014/main" id="{845BF9E8-188F-41BE-7D5C-F0A36879925F}"/>
              </a:ext>
            </a:extLst>
          </p:cNvPr>
          <p:cNvSpPr txBox="1"/>
          <p:nvPr/>
        </p:nvSpPr>
        <p:spPr>
          <a:xfrm>
            <a:off x="7108815" y="3003306"/>
            <a:ext cx="1693273" cy="523220"/>
          </a:xfrm>
          <a:prstGeom prst="rect">
            <a:avLst/>
          </a:prstGeom>
          <a:noFill/>
        </p:spPr>
        <p:txBody>
          <a:bodyPr wrap="square" rtlCol="0">
            <a:spAutoFit/>
          </a:bodyPr>
          <a:lstStyle/>
          <a:p>
            <a:r>
              <a:rPr lang="en-GB" sz="1400" dirty="0">
                <a:latin typeface="DM Serif Display" pitchFamily="2" charset="0"/>
              </a:rPr>
              <a:t>Market &amp; Risk Intelligence</a:t>
            </a:r>
            <a:endParaRPr lang="en-US" sz="1400" dirty="0">
              <a:latin typeface="DM Serif Display" pitchFamily="2" charset="0"/>
            </a:endParaRPr>
          </a:p>
        </p:txBody>
      </p:sp>
      <p:sp>
        <p:nvSpPr>
          <p:cNvPr id="79" name="TextBox 78">
            <a:extLst>
              <a:ext uri="{FF2B5EF4-FFF2-40B4-BE49-F238E27FC236}">
                <a16:creationId xmlns:a16="http://schemas.microsoft.com/office/drawing/2014/main" id="{12618435-9F54-596D-937D-A520524E6064}"/>
              </a:ext>
            </a:extLst>
          </p:cNvPr>
          <p:cNvSpPr txBox="1"/>
          <p:nvPr/>
        </p:nvSpPr>
        <p:spPr>
          <a:xfrm>
            <a:off x="7108815" y="4242179"/>
            <a:ext cx="1740443" cy="246221"/>
          </a:xfrm>
          <a:prstGeom prst="rect">
            <a:avLst/>
          </a:prstGeom>
          <a:noFill/>
        </p:spPr>
        <p:txBody>
          <a:bodyPr wrap="square" rtlCol="0">
            <a:spAutoFit/>
          </a:bodyPr>
          <a:lstStyle/>
          <a:p>
            <a:r>
              <a:rPr lang="en-GB" sz="1000" b="1" dirty="0">
                <a:solidFill>
                  <a:srgbClr val="15626A"/>
                </a:solidFill>
                <a:latin typeface="Avenir Book" panose="02000503020000020003" pitchFamily="2" charset="0"/>
              </a:rPr>
              <a:t>60% faster decision cycles.</a:t>
            </a:r>
          </a:p>
        </p:txBody>
      </p:sp>
      <p:cxnSp>
        <p:nvCxnSpPr>
          <p:cNvPr id="86" name="Straight Connector 85">
            <a:extLst>
              <a:ext uri="{FF2B5EF4-FFF2-40B4-BE49-F238E27FC236}">
                <a16:creationId xmlns:a16="http://schemas.microsoft.com/office/drawing/2014/main" id="{D18F57BC-84FD-2A83-3960-682F925A794E}"/>
              </a:ext>
            </a:extLst>
          </p:cNvPr>
          <p:cNvCxnSpPr>
            <a:cxnSpLocks/>
          </p:cNvCxnSpPr>
          <p:nvPr/>
        </p:nvCxnSpPr>
        <p:spPr>
          <a:xfrm>
            <a:off x="3657600" y="2242686"/>
            <a:ext cx="0" cy="2592174"/>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83985F9C-BC9D-CD62-D6D0-DF1B9477F9C2}"/>
              </a:ext>
            </a:extLst>
          </p:cNvPr>
          <p:cNvCxnSpPr>
            <a:cxnSpLocks/>
          </p:cNvCxnSpPr>
          <p:nvPr/>
        </p:nvCxnSpPr>
        <p:spPr>
          <a:xfrm>
            <a:off x="6689558" y="2242686"/>
            <a:ext cx="0" cy="2592174"/>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90" name="Picture 89" descr="A diagram of a diagram&#10;&#10;AI-generated content may be incorrect.">
            <a:extLst>
              <a:ext uri="{FF2B5EF4-FFF2-40B4-BE49-F238E27FC236}">
                <a16:creationId xmlns:a16="http://schemas.microsoft.com/office/drawing/2014/main" id="{B1DB3EE5-67A7-7EB1-AF62-4CDDFC01A7BA}"/>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030404" y="2511144"/>
            <a:ext cx="327239" cy="326424"/>
          </a:xfrm>
          <a:prstGeom prst="rect">
            <a:avLst/>
          </a:prstGeom>
        </p:spPr>
      </p:pic>
      <p:pic>
        <p:nvPicPr>
          <p:cNvPr id="91" name="Picture 90" descr="A diagram of a diagram&#10;&#10;AI-generated content may be incorrect.">
            <a:extLst>
              <a:ext uri="{FF2B5EF4-FFF2-40B4-BE49-F238E27FC236}">
                <a16:creationId xmlns:a16="http://schemas.microsoft.com/office/drawing/2014/main" id="{399C2ADE-BD25-9ACF-FAC5-80E55A1218B0}"/>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4181993" y="2550543"/>
            <a:ext cx="358495" cy="329461"/>
          </a:xfrm>
          <a:prstGeom prst="rect">
            <a:avLst/>
          </a:prstGeom>
        </p:spPr>
      </p:pic>
      <p:pic>
        <p:nvPicPr>
          <p:cNvPr id="92" name="Picture 91" descr="A diagram of a diagram&#10;&#10;AI-generated content may be incorrect.">
            <a:extLst>
              <a:ext uri="{FF2B5EF4-FFF2-40B4-BE49-F238E27FC236}">
                <a16:creationId xmlns:a16="http://schemas.microsoft.com/office/drawing/2014/main" id="{BC6A2597-34C2-4B28-1439-D2BB2DEB8953}"/>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7208591" y="2589550"/>
            <a:ext cx="319298" cy="290095"/>
          </a:xfrm>
          <a:prstGeom prst="rect">
            <a:avLst/>
          </a:prstGeom>
        </p:spPr>
      </p:pic>
      <p:sp>
        <p:nvSpPr>
          <p:cNvPr id="7" name="TextBox 6">
            <a:extLst>
              <a:ext uri="{FF2B5EF4-FFF2-40B4-BE49-F238E27FC236}">
                <a16:creationId xmlns:a16="http://schemas.microsoft.com/office/drawing/2014/main" id="{0DEDF656-65F3-2B3B-164D-B9684E72ECA6}"/>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4</a:t>
            </a:r>
          </a:p>
        </p:txBody>
      </p:sp>
      <p:cxnSp>
        <p:nvCxnSpPr>
          <p:cNvPr id="12" name="Straight Connector 11">
            <a:extLst>
              <a:ext uri="{FF2B5EF4-FFF2-40B4-BE49-F238E27FC236}">
                <a16:creationId xmlns:a16="http://schemas.microsoft.com/office/drawing/2014/main" id="{E2882FF8-A493-21B3-A6D1-5299F0F33F29}"/>
              </a:ext>
            </a:extLst>
          </p:cNvPr>
          <p:cNvCxnSpPr>
            <a:cxnSpLocks/>
          </p:cNvCxnSpPr>
          <p:nvPr/>
        </p:nvCxnSpPr>
        <p:spPr>
          <a:xfrm>
            <a:off x="532797" y="6389164"/>
            <a:ext cx="10175308" cy="0"/>
          </a:xfrm>
          <a:prstGeom prst="line">
            <a:avLst/>
          </a:prstGeom>
          <a:ln w="9525">
            <a:solidFill>
              <a:srgbClr val="ADD0B1">
                <a:alpha val="75000"/>
              </a:srgbClr>
            </a:solidFill>
          </a:ln>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5ADAFC38-BECD-BD21-1945-AB1BD2A603B4}"/>
              </a:ext>
            </a:extLst>
          </p:cNvPr>
          <p:cNvGrpSpPr/>
          <p:nvPr/>
        </p:nvGrpSpPr>
        <p:grpSpPr>
          <a:xfrm>
            <a:off x="3115521" y="4205537"/>
            <a:ext cx="297809" cy="297809"/>
            <a:chOff x="5737452" y="4202295"/>
            <a:chExt cx="297809" cy="297809"/>
          </a:xfrm>
        </p:grpSpPr>
        <p:sp>
          <p:nvSpPr>
            <p:cNvPr id="11" name="Oval 10">
              <a:extLst>
                <a:ext uri="{FF2B5EF4-FFF2-40B4-BE49-F238E27FC236}">
                  <a16:creationId xmlns:a16="http://schemas.microsoft.com/office/drawing/2014/main" id="{13AB7A59-BF47-C2E9-F6C9-A57F8FAE6195}"/>
                </a:ext>
              </a:extLst>
            </p:cNvPr>
            <p:cNvSpPr/>
            <p:nvPr/>
          </p:nvSpPr>
          <p:spPr>
            <a:xfrm>
              <a:off x="5737452" y="4202295"/>
              <a:ext cx="297809" cy="297809"/>
            </a:xfrm>
            <a:prstGeom prst="ellipse">
              <a:avLst/>
            </a:prstGeom>
            <a:noFill/>
            <a:ln w="9525">
              <a:solidFill>
                <a:srgbClr val="BDD6B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23D066B4-CE6F-BE7B-43B7-9BA26CEEC723}"/>
                </a:ext>
              </a:extLst>
            </p:cNvPr>
            <p:cNvCxnSpPr>
              <a:cxnSpLocks/>
            </p:cNvCxnSpPr>
            <p:nvPr/>
          </p:nvCxnSpPr>
          <p:spPr>
            <a:xfrm>
              <a:off x="5822579" y="4357621"/>
              <a:ext cx="116426" cy="0"/>
            </a:xfrm>
            <a:prstGeom prst="line">
              <a:avLst/>
            </a:prstGeom>
            <a:ln w="12700" cap="rnd">
              <a:solidFill>
                <a:srgbClr val="BDD6B2"/>
              </a:solidFill>
              <a:miter lim="800000"/>
              <a:tailEnd type="arrow" w="med" len="sm"/>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60963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7E7DB"/>
        </a:solidFill>
        <a:effectLst/>
      </p:bgPr>
    </p:bg>
    <p:spTree>
      <p:nvGrpSpPr>
        <p:cNvPr id="1" name="">
          <a:extLst>
            <a:ext uri="{FF2B5EF4-FFF2-40B4-BE49-F238E27FC236}">
              <a16:creationId xmlns:a16="http://schemas.microsoft.com/office/drawing/2014/main" id="{79AFC0FA-8D11-71B8-621D-B4EE7E5E27BB}"/>
            </a:ext>
          </a:extLst>
        </p:cNvPr>
        <p:cNvGrpSpPr/>
        <p:nvPr/>
      </p:nvGrpSpPr>
      <p:grpSpPr>
        <a:xfrm>
          <a:off x="0" y="0"/>
          <a:ext cx="0" cy="0"/>
          <a:chOff x="0" y="0"/>
          <a:chExt cx="0" cy="0"/>
        </a:xfrm>
      </p:grpSpPr>
      <p:sp>
        <p:nvSpPr>
          <p:cNvPr id="9" name="Freeform 8">
            <a:extLst>
              <a:ext uri="{FF2B5EF4-FFF2-40B4-BE49-F238E27FC236}">
                <a16:creationId xmlns:a16="http://schemas.microsoft.com/office/drawing/2014/main" id="{71743F75-5969-89A8-D19D-24B1A07AC6D2}"/>
              </a:ext>
            </a:extLst>
          </p:cNvPr>
          <p:cNvSpPr/>
          <p:nvPr/>
        </p:nvSpPr>
        <p:spPr>
          <a:xfrm>
            <a:off x="-1" y="-8243"/>
            <a:ext cx="6697770" cy="6873178"/>
          </a:xfrm>
          <a:custGeom>
            <a:avLst/>
            <a:gdLst>
              <a:gd name="connsiteX0" fmla="*/ 0 w 6697770"/>
              <a:gd name="connsiteY0" fmla="*/ 0 h 6873178"/>
              <a:gd name="connsiteX1" fmla="*/ 6697770 w 6697770"/>
              <a:gd name="connsiteY1" fmla="*/ 0 h 6873178"/>
              <a:gd name="connsiteX2" fmla="*/ 4414621 w 6697770"/>
              <a:gd name="connsiteY2" fmla="*/ 6873178 h 6873178"/>
              <a:gd name="connsiteX3" fmla="*/ 0 w 6697770"/>
              <a:gd name="connsiteY3" fmla="*/ 6873178 h 6873178"/>
              <a:gd name="connsiteX4" fmla="*/ 0 w 6697770"/>
              <a:gd name="connsiteY4" fmla="*/ 0 h 6873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7770" h="6873178">
                <a:moveTo>
                  <a:pt x="0" y="0"/>
                </a:moveTo>
                <a:lnTo>
                  <a:pt x="6697770" y="0"/>
                </a:lnTo>
                <a:lnTo>
                  <a:pt x="4414621" y="6873178"/>
                </a:lnTo>
                <a:lnTo>
                  <a:pt x="0" y="6873178"/>
                </a:lnTo>
                <a:lnTo>
                  <a:pt x="0" y="0"/>
                </a:lnTo>
                <a:close/>
              </a:path>
            </a:pathLst>
          </a:custGeom>
          <a:solidFill>
            <a:srgbClr val="19252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t>v</a:t>
            </a:r>
          </a:p>
        </p:txBody>
      </p:sp>
      <p:sp>
        <p:nvSpPr>
          <p:cNvPr id="2" name="Title 1">
            <a:extLst>
              <a:ext uri="{FF2B5EF4-FFF2-40B4-BE49-F238E27FC236}">
                <a16:creationId xmlns:a16="http://schemas.microsoft.com/office/drawing/2014/main" id="{5481F578-BB61-4956-A871-BE2194511286}"/>
              </a:ext>
            </a:extLst>
          </p:cNvPr>
          <p:cNvSpPr>
            <a:spLocks noGrp="1"/>
          </p:cNvSpPr>
          <p:nvPr>
            <p:ph type="title"/>
          </p:nvPr>
        </p:nvSpPr>
        <p:spPr>
          <a:xfrm>
            <a:off x="574359" y="575888"/>
            <a:ext cx="5366104" cy="1334501"/>
          </a:xfrm>
        </p:spPr>
        <p:txBody>
          <a:bodyPr anchor="t">
            <a:normAutofit/>
          </a:bodyPr>
          <a:lstStyle/>
          <a:p>
            <a:r>
              <a:rPr lang="en-US" dirty="0">
                <a:solidFill>
                  <a:srgbClr val="E7E7DB"/>
                </a:solidFill>
                <a:latin typeface="DM Serif Display" pitchFamily="2" charset="0"/>
              </a:rPr>
              <a:t>Challenges We Solve</a:t>
            </a:r>
          </a:p>
        </p:txBody>
      </p:sp>
      <p:sp>
        <p:nvSpPr>
          <p:cNvPr id="62" name="Data 7">
            <a:extLst>
              <a:ext uri="{FF2B5EF4-FFF2-40B4-BE49-F238E27FC236}">
                <a16:creationId xmlns:a16="http://schemas.microsoft.com/office/drawing/2014/main" id="{ED235EAC-0E56-BAC2-EEB9-9F6781000249}"/>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ata 7">
            <a:extLst>
              <a:ext uri="{FF2B5EF4-FFF2-40B4-BE49-F238E27FC236}">
                <a16:creationId xmlns:a16="http://schemas.microsoft.com/office/drawing/2014/main" id="{09746F5C-4512-DE5E-AA04-1CCEF6CA7C2B}"/>
              </a:ext>
            </a:extLst>
          </p:cNvPr>
          <p:cNvSpPr/>
          <p:nvPr/>
        </p:nvSpPr>
        <p:spPr>
          <a:xfrm>
            <a:off x="11146259" y="5495141"/>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ata 7">
            <a:extLst>
              <a:ext uri="{FF2B5EF4-FFF2-40B4-BE49-F238E27FC236}">
                <a16:creationId xmlns:a16="http://schemas.microsoft.com/office/drawing/2014/main" id="{2DB324A3-9C16-D397-2A4B-3F6818BEFB8E}"/>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66" name="Data 7">
            <a:extLst>
              <a:ext uri="{FF2B5EF4-FFF2-40B4-BE49-F238E27FC236}">
                <a16:creationId xmlns:a16="http://schemas.microsoft.com/office/drawing/2014/main" id="{91C034BA-0B46-7DCF-D928-4020EDC348CD}"/>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nvGrpSpPr>
          <p:cNvPr id="74" name="Group 73">
            <a:extLst>
              <a:ext uri="{FF2B5EF4-FFF2-40B4-BE49-F238E27FC236}">
                <a16:creationId xmlns:a16="http://schemas.microsoft.com/office/drawing/2014/main" id="{E9B9BF97-127F-4BA4-5EAA-114DF6A87B35}"/>
              </a:ext>
            </a:extLst>
          </p:cNvPr>
          <p:cNvGrpSpPr/>
          <p:nvPr/>
        </p:nvGrpSpPr>
        <p:grpSpPr>
          <a:xfrm>
            <a:off x="532797" y="6015616"/>
            <a:ext cx="1233612" cy="371440"/>
            <a:chOff x="820922" y="6015616"/>
            <a:chExt cx="1233612" cy="371440"/>
          </a:xfrm>
        </p:grpSpPr>
        <p:sp>
          <p:nvSpPr>
            <p:cNvPr id="69" name="TextBox 68">
              <a:extLst>
                <a:ext uri="{FF2B5EF4-FFF2-40B4-BE49-F238E27FC236}">
                  <a16:creationId xmlns:a16="http://schemas.microsoft.com/office/drawing/2014/main" id="{87F9E1F0-E982-C18E-3AD7-47C782166E6C}"/>
                </a:ext>
              </a:extLst>
            </p:cNvPr>
            <p:cNvSpPr txBox="1"/>
            <p:nvPr/>
          </p:nvSpPr>
          <p:spPr>
            <a:xfrm>
              <a:off x="1023483" y="6017724"/>
              <a:ext cx="1031051" cy="369332"/>
            </a:xfrm>
            <a:prstGeom prst="rect">
              <a:avLst/>
            </a:prstGeom>
            <a:noFill/>
          </p:spPr>
          <p:txBody>
            <a:bodyPr wrap="none" rtlCol="0">
              <a:spAutoFit/>
            </a:bodyPr>
            <a:lstStyle/>
            <a:p>
              <a:r>
                <a:rPr lang="en-US" sz="900" dirty="0">
                  <a:solidFill>
                    <a:schemeClr val="bg2">
                      <a:lumMod val="50000"/>
                    </a:schemeClr>
                  </a:solidFill>
                  <a:latin typeface="DM Serif Display" pitchFamily="2" charset="0"/>
                </a:rPr>
                <a:t>Cursor Financial</a:t>
              </a:r>
            </a:p>
            <a:p>
              <a:r>
                <a:rPr lang="en-US" sz="900" dirty="0">
                  <a:solidFill>
                    <a:schemeClr val="bg2">
                      <a:lumMod val="50000"/>
                    </a:schemeClr>
                  </a:solidFill>
                  <a:latin typeface="DM Serif Display" pitchFamily="2" charset="0"/>
                </a:rPr>
                <a:t>Consulting</a:t>
              </a:r>
            </a:p>
          </p:txBody>
        </p:sp>
        <p:grpSp>
          <p:nvGrpSpPr>
            <p:cNvPr id="70" name="Group 69">
              <a:extLst>
                <a:ext uri="{FF2B5EF4-FFF2-40B4-BE49-F238E27FC236}">
                  <a16:creationId xmlns:a16="http://schemas.microsoft.com/office/drawing/2014/main" id="{63EEE5F4-B165-DCB2-ED7F-C46AE69DA883}"/>
                </a:ext>
              </a:extLst>
            </p:cNvPr>
            <p:cNvGrpSpPr/>
            <p:nvPr/>
          </p:nvGrpSpPr>
          <p:grpSpPr>
            <a:xfrm>
              <a:off x="820922" y="6015616"/>
              <a:ext cx="271596" cy="349198"/>
              <a:chOff x="693522" y="1976028"/>
              <a:chExt cx="1652448" cy="2124597"/>
            </a:xfrm>
          </p:grpSpPr>
          <p:sp>
            <p:nvSpPr>
              <p:cNvPr id="71" name="Data 7">
                <a:extLst>
                  <a:ext uri="{FF2B5EF4-FFF2-40B4-BE49-F238E27FC236}">
                    <a16:creationId xmlns:a16="http://schemas.microsoft.com/office/drawing/2014/main" id="{8FEC5CEF-59C8-8A8D-1DDA-940738FB2406}"/>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Data 7">
                <a:extLst>
                  <a:ext uri="{FF2B5EF4-FFF2-40B4-BE49-F238E27FC236}">
                    <a16:creationId xmlns:a16="http://schemas.microsoft.com/office/drawing/2014/main" id="{2BD1971C-3213-47C2-CE69-22958D874781}"/>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DEDAD1">
                  <a:alpha val="3778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73" name="Data 7">
                <a:extLst>
                  <a:ext uri="{FF2B5EF4-FFF2-40B4-BE49-F238E27FC236}">
                    <a16:creationId xmlns:a16="http://schemas.microsoft.com/office/drawing/2014/main" id="{742E744F-CBCF-FFB2-25C1-D6CE7E45B47C}"/>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593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grpSp>
      <p:sp>
        <p:nvSpPr>
          <p:cNvPr id="4" name="Rectangle 3">
            <a:extLst>
              <a:ext uri="{FF2B5EF4-FFF2-40B4-BE49-F238E27FC236}">
                <a16:creationId xmlns:a16="http://schemas.microsoft.com/office/drawing/2014/main" id="{81584C9B-03CA-833C-263D-FA091F9326C8}"/>
              </a:ext>
            </a:extLst>
          </p:cNvPr>
          <p:cNvSpPr/>
          <p:nvPr/>
        </p:nvSpPr>
        <p:spPr>
          <a:xfrm>
            <a:off x="678175" y="1955804"/>
            <a:ext cx="10601609" cy="3183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4162B3E-6CF5-564B-9DE3-DF9CF261F7A6}"/>
              </a:ext>
            </a:extLst>
          </p:cNvPr>
          <p:cNvSpPr txBox="1"/>
          <p:nvPr/>
        </p:nvSpPr>
        <p:spPr>
          <a:xfrm>
            <a:off x="6689558" y="5423950"/>
            <a:ext cx="4197506" cy="646331"/>
          </a:xfrm>
          <a:prstGeom prst="rect">
            <a:avLst/>
          </a:prstGeom>
          <a:noFill/>
        </p:spPr>
        <p:txBody>
          <a:bodyPr wrap="square" rtlCol="0">
            <a:spAutoFit/>
          </a:bodyPr>
          <a:lstStyle/>
          <a:p>
            <a:r>
              <a:rPr lang="en-GB" sz="1200" dirty="0">
                <a:latin typeface="Avenir Book" panose="02000503020000020003" pitchFamily="2" charset="0"/>
              </a:rPr>
              <a:t>Organizations lose millions annually to inefficiency. Our models identify leakages, automate reconciliation, and transform financial operations into insight-driven engines.</a:t>
            </a:r>
          </a:p>
        </p:txBody>
      </p:sp>
      <p:graphicFrame>
        <p:nvGraphicFramePr>
          <p:cNvPr id="11" name="Chart 10">
            <a:extLst>
              <a:ext uri="{FF2B5EF4-FFF2-40B4-BE49-F238E27FC236}">
                <a16:creationId xmlns:a16="http://schemas.microsoft.com/office/drawing/2014/main" id="{220BB0F8-1781-DCDB-D5EA-825E38F8777C}"/>
              </a:ext>
            </a:extLst>
          </p:cNvPr>
          <p:cNvGraphicFramePr/>
          <p:nvPr>
            <p:extLst>
              <p:ext uri="{D42A27DB-BD31-4B8C-83A1-F6EECF244321}">
                <p14:modId xmlns:p14="http://schemas.microsoft.com/office/powerpoint/2010/main" val="3863506242"/>
              </p:ext>
            </p:extLst>
          </p:nvPr>
        </p:nvGraphicFramePr>
        <p:xfrm>
          <a:off x="5525478" y="2225056"/>
          <a:ext cx="5549156" cy="275406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83E91512-B4F1-6AF3-DF9B-18D9137AEFA8}"/>
              </a:ext>
            </a:extLst>
          </p:cNvPr>
          <p:cNvSpPr txBox="1"/>
          <p:nvPr/>
        </p:nvSpPr>
        <p:spPr>
          <a:xfrm>
            <a:off x="1145710" y="2543734"/>
            <a:ext cx="3964172" cy="1569660"/>
          </a:xfrm>
          <a:prstGeom prst="rect">
            <a:avLst/>
          </a:prstGeom>
          <a:noFill/>
        </p:spPr>
        <p:txBody>
          <a:bodyPr wrap="square" rtlCol="0">
            <a:spAutoFit/>
          </a:bodyPr>
          <a:lstStyle/>
          <a:p>
            <a:r>
              <a:rPr lang="en-GB" sz="1600" i="1" dirty="0">
                <a:latin typeface="DM Serif Display" pitchFamily="2" charset="0"/>
              </a:rPr>
              <a:t>Cursor Consulting helped us uncover growth we didn’t know was possible. Their analytical models highlighted inefficiencies across our claims and underwriting teams, resulting in over $2 million in annual savings.</a:t>
            </a:r>
            <a:endParaRPr lang="en-US" sz="1600" i="1" dirty="0">
              <a:latin typeface="DM Serif Display" pitchFamily="2" charset="0"/>
            </a:endParaRPr>
          </a:p>
        </p:txBody>
      </p:sp>
      <p:grpSp>
        <p:nvGrpSpPr>
          <p:cNvPr id="13" name="Group 12">
            <a:extLst>
              <a:ext uri="{FF2B5EF4-FFF2-40B4-BE49-F238E27FC236}">
                <a16:creationId xmlns:a16="http://schemas.microsoft.com/office/drawing/2014/main" id="{4DE62328-272C-F147-11BA-C67C543F67CB}"/>
              </a:ext>
            </a:extLst>
          </p:cNvPr>
          <p:cNvGrpSpPr/>
          <p:nvPr/>
        </p:nvGrpSpPr>
        <p:grpSpPr>
          <a:xfrm>
            <a:off x="1214430" y="4338707"/>
            <a:ext cx="297809" cy="297809"/>
            <a:chOff x="8807908" y="4202295"/>
            <a:chExt cx="297809" cy="297809"/>
          </a:xfrm>
        </p:grpSpPr>
        <p:sp>
          <p:nvSpPr>
            <p:cNvPr id="14" name="Oval 13">
              <a:extLst>
                <a:ext uri="{FF2B5EF4-FFF2-40B4-BE49-F238E27FC236}">
                  <a16:creationId xmlns:a16="http://schemas.microsoft.com/office/drawing/2014/main" id="{62C21E5F-F090-23C1-5A33-5EE520B80F2F}"/>
                </a:ext>
              </a:extLst>
            </p:cNvPr>
            <p:cNvSpPr/>
            <p:nvPr/>
          </p:nvSpPr>
          <p:spPr>
            <a:xfrm>
              <a:off x="8807908" y="4202295"/>
              <a:ext cx="297809" cy="297809"/>
            </a:xfrm>
            <a:prstGeom prst="ellipse">
              <a:avLst/>
            </a:prstGeom>
            <a:noFill/>
            <a:ln w="9525">
              <a:solidFill>
                <a:srgbClr val="8EAA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41226E56-0943-DF35-7E1E-6AF724CEA546}"/>
                </a:ext>
              </a:extLst>
            </p:cNvPr>
            <p:cNvGrpSpPr/>
            <p:nvPr/>
          </p:nvGrpSpPr>
          <p:grpSpPr>
            <a:xfrm>
              <a:off x="8889055" y="4313761"/>
              <a:ext cx="124306" cy="89289"/>
              <a:chOff x="3613034" y="3864410"/>
              <a:chExt cx="250825" cy="180168"/>
            </a:xfrm>
          </p:grpSpPr>
          <p:cxnSp>
            <p:nvCxnSpPr>
              <p:cNvPr id="16" name="Straight Connector 15">
                <a:extLst>
                  <a:ext uri="{FF2B5EF4-FFF2-40B4-BE49-F238E27FC236}">
                    <a16:creationId xmlns:a16="http://schemas.microsoft.com/office/drawing/2014/main" id="{2BEA31A9-69CB-0DFF-35AA-E43C58CEB0FD}"/>
                  </a:ext>
                </a:extLst>
              </p:cNvPr>
              <p:cNvCxnSpPr/>
              <p:nvPr/>
            </p:nvCxnSpPr>
            <p:spPr>
              <a:xfrm>
                <a:off x="3767046" y="3864410"/>
                <a:ext cx="96813" cy="96813"/>
              </a:xfrm>
              <a:prstGeom prst="line">
                <a:avLst/>
              </a:prstGeom>
              <a:ln w="12700">
                <a:solidFill>
                  <a:srgbClr val="8EAA93"/>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0B7AAF3-F4E9-16B8-EFCD-12548231B363}"/>
                  </a:ext>
                </a:extLst>
              </p:cNvPr>
              <p:cNvCxnSpPr>
                <a:cxnSpLocks/>
              </p:cNvCxnSpPr>
              <p:nvPr/>
            </p:nvCxnSpPr>
            <p:spPr>
              <a:xfrm flipV="1">
                <a:off x="3767046" y="3947765"/>
                <a:ext cx="96813" cy="96813"/>
              </a:xfrm>
              <a:prstGeom prst="line">
                <a:avLst/>
              </a:prstGeom>
              <a:ln w="12700">
                <a:solidFill>
                  <a:srgbClr val="8EAA93"/>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2AE560F-E36E-158E-1AC5-C10C4253BDB8}"/>
                  </a:ext>
                </a:extLst>
              </p:cNvPr>
              <p:cNvCxnSpPr>
                <a:cxnSpLocks/>
              </p:cNvCxnSpPr>
              <p:nvPr/>
            </p:nvCxnSpPr>
            <p:spPr>
              <a:xfrm>
                <a:off x="3613034" y="3952938"/>
                <a:ext cx="234925" cy="0"/>
              </a:xfrm>
              <a:prstGeom prst="line">
                <a:avLst/>
              </a:prstGeom>
              <a:ln w="12700">
                <a:solidFill>
                  <a:srgbClr val="8EAA93"/>
                </a:solidFill>
              </a:ln>
            </p:spPr>
            <p:style>
              <a:lnRef idx="2">
                <a:schemeClr val="accent1"/>
              </a:lnRef>
              <a:fillRef idx="0">
                <a:schemeClr val="accent1"/>
              </a:fillRef>
              <a:effectRef idx="1">
                <a:schemeClr val="accent1"/>
              </a:effectRef>
              <a:fontRef idx="minor">
                <a:schemeClr val="tx1"/>
              </a:fontRef>
            </p:style>
          </p:cxnSp>
        </p:grpSp>
      </p:grpSp>
      <p:sp>
        <p:nvSpPr>
          <p:cNvPr id="20" name="TextBox 19">
            <a:extLst>
              <a:ext uri="{FF2B5EF4-FFF2-40B4-BE49-F238E27FC236}">
                <a16:creationId xmlns:a16="http://schemas.microsoft.com/office/drawing/2014/main" id="{4C7656E3-2DA1-9EE4-6115-19E4D20D0015}"/>
              </a:ext>
            </a:extLst>
          </p:cNvPr>
          <p:cNvSpPr txBox="1"/>
          <p:nvPr/>
        </p:nvSpPr>
        <p:spPr>
          <a:xfrm>
            <a:off x="1569477" y="4272835"/>
            <a:ext cx="3193897" cy="461665"/>
          </a:xfrm>
          <a:prstGeom prst="rect">
            <a:avLst/>
          </a:prstGeom>
          <a:noFill/>
        </p:spPr>
        <p:txBody>
          <a:bodyPr wrap="square" rtlCol="0">
            <a:spAutoFit/>
          </a:bodyPr>
          <a:lstStyle/>
          <a:p>
            <a:r>
              <a:rPr lang="en-GB" sz="1200" b="1" dirty="0">
                <a:solidFill>
                  <a:srgbClr val="192523"/>
                </a:solidFill>
                <a:latin typeface="Avenir Book" panose="02000503020000020003" pitchFamily="2" charset="0"/>
              </a:rPr>
              <a:t>David Lawson</a:t>
            </a:r>
          </a:p>
          <a:p>
            <a:r>
              <a:rPr lang="en-GB" sz="1200" dirty="0">
                <a:solidFill>
                  <a:srgbClr val="15626A"/>
                </a:solidFill>
                <a:latin typeface="Avenir Book" panose="02000503020000020003" pitchFamily="2" charset="0"/>
              </a:rPr>
              <a:t>VP of Operations, Horizon Insurance Group</a:t>
            </a:r>
          </a:p>
        </p:txBody>
      </p:sp>
      <p:sp>
        <p:nvSpPr>
          <p:cNvPr id="21" name="Data 7">
            <a:extLst>
              <a:ext uri="{FF2B5EF4-FFF2-40B4-BE49-F238E27FC236}">
                <a16:creationId xmlns:a16="http://schemas.microsoft.com/office/drawing/2014/main" id="{1B786E1D-5EA8-C0D2-539B-8D4815420B4D}"/>
              </a:ext>
            </a:extLst>
          </p:cNvPr>
          <p:cNvSpPr/>
          <p:nvPr/>
        </p:nvSpPr>
        <p:spPr>
          <a:xfrm>
            <a:off x="1245272" y="2167565"/>
            <a:ext cx="191491" cy="24186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rgbClr val="72DB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ata 7">
            <a:extLst>
              <a:ext uri="{FF2B5EF4-FFF2-40B4-BE49-F238E27FC236}">
                <a16:creationId xmlns:a16="http://schemas.microsoft.com/office/drawing/2014/main" id="{4946B38E-6386-A8F9-6A1B-0328E40DEE9D}"/>
              </a:ext>
            </a:extLst>
          </p:cNvPr>
          <p:cNvSpPr/>
          <p:nvPr/>
        </p:nvSpPr>
        <p:spPr>
          <a:xfrm>
            <a:off x="1436763" y="2167565"/>
            <a:ext cx="132714" cy="16762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rgbClr val="8EAA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21679CF-6D60-CBC4-0824-940A41954FEC}"/>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5</a:t>
            </a:r>
          </a:p>
        </p:txBody>
      </p:sp>
      <p:cxnSp>
        <p:nvCxnSpPr>
          <p:cNvPr id="25" name="Straight Connector 24">
            <a:extLst>
              <a:ext uri="{FF2B5EF4-FFF2-40B4-BE49-F238E27FC236}">
                <a16:creationId xmlns:a16="http://schemas.microsoft.com/office/drawing/2014/main" id="{4D3C29E9-6900-5358-56C1-FC1AF813B292}"/>
              </a:ext>
            </a:extLst>
          </p:cNvPr>
          <p:cNvCxnSpPr>
            <a:cxnSpLocks/>
          </p:cNvCxnSpPr>
          <p:nvPr/>
        </p:nvCxnSpPr>
        <p:spPr>
          <a:xfrm>
            <a:off x="532797" y="6389164"/>
            <a:ext cx="10175308" cy="0"/>
          </a:xfrm>
          <a:prstGeom prst="line">
            <a:avLst/>
          </a:prstGeom>
          <a:ln w="9525">
            <a:solidFill>
              <a:srgbClr val="ADD0B1">
                <a:alpha val="75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9787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D75B0E-1057-B1D1-F293-3673A0564790}"/>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37EFCAB4-3683-4FEB-4912-B7B946F1862A}"/>
              </a:ext>
            </a:extLst>
          </p:cNvPr>
          <p:cNvSpPr/>
          <p:nvPr/>
        </p:nvSpPr>
        <p:spPr>
          <a:xfrm>
            <a:off x="7868845" y="0"/>
            <a:ext cx="4323155" cy="6858000"/>
          </a:xfrm>
          <a:prstGeom prst="rect">
            <a:avLst/>
          </a:prstGeom>
          <a:solidFill>
            <a:srgbClr val="E7E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1EEE4EF9-C77F-30CF-008E-874B557FC435}"/>
              </a:ext>
            </a:extLst>
          </p:cNvPr>
          <p:cNvCxnSpPr>
            <a:cxnSpLocks/>
          </p:cNvCxnSpPr>
          <p:nvPr/>
        </p:nvCxnSpPr>
        <p:spPr>
          <a:xfrm>
            <a:off x="2376830" y="4851518"/>
            <a:ext cx="4938370"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CD51EEC-CBE6-F4BB-1783-5A54D3906031}"/>
              </a:ext>
            </a:extLst>
          </p:cNvPr>
          <p:cNvCxnSpPr>
            <a:cxnSpLocks/>
          </p:cNvCxnSpPr>
          <p:nvPr/>
        </p:nvCxnSpPr>
        <p:spPr>
          <a:xfrm>
            <a:off x="1823185" y="3806489"/>
            <a:ext cx="5492015"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B3BAF4B-718F-160E-CE8C-B60DC7AEB8C1}"/>
              </a:ext>
            </a:extLst>
          </p:cNvPr>
          <p:cNvSpPr>
            <a:spLocks noGrp="1"/>
          </p:cNvSpPr>
          <p:nvPr>
            <p:ph type="title"/>
          </p:nvPr>
        </p:nvSpPr>
        <p:spPr>
          <a:xfrm>
            <a:off x="580687" y="583407"/>
            <a:ext cx="10515600" cy="732695"/>
          </a:xfrm>
        </p:spPr>
        <p:txBody>
          <a:bodyPr>
            <a:normAutofit/>
          </a:bodyPr>
          <a:lstStyle/>
          <a:p>
            <a:r>
              <a:rPr lang="en-US" dirty="0">
                <a:latin typeface="DM Serif Display" pitchFamily="2" charset="0"/>
              </a:rPr>
              <a:t>Our Analytical Framework</a:t>
            </a:r>
          </a:p>
        </p:txBody>
      </p:sp>
      <p:sp>
        <p:nvSpPr>
          <p:cNvPr id="62" name="Data 7">
            <a:extLst>
              <a:ext uri="{FF2B5EF4-FFF2-40B4-BE49-F238E27FC236}">
                <a16:creationId xmlns:a16="http://schemas.microsoft.com/office/drawing/2014/main" id="{7906A757-9C25-BCBE-132D-75DD5076A499}"/>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ata 7">
            <a:extLst>
              <a:ext uri="{FF2B5EF4-FFF2-40B4-BE49-F238E27FC236}">
                <a16:creationId xmlns:a16="http://schemas.microsoft.com/office/drawing/2014/main" id="{C3D4F6CB-5F09-C403-97E8-EC0CF648DA2B}"/>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66" name="Data 7">
            <a:extLst>
              <a:ext uri="{FF2B5EF4-FFF2-40B4-BE49-F238E27FC236}">
                <a16:creationId xmlns:a16="http://schemas.microsoft.com/office/drawing/2014/main" id="{D5757E9A-E63B-FC3D-6B65-24E8066368FE}"/>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nvGrpSpPr>
          <p:cNvPr id="74" name="Group 73">
            <a:extLst>
              <a:ext uri="{FF2B5EF4-FFF2-40B4-BE49-F238E27FC236}">
                <a16:creationId xmlns:a16="http://schemas.microsoft.com/office/drawing/2014/main" id="{DAE94DA4-EA9F-5ED7-3312-45141D809797}"/>
              </a:ext>
            </a:extLst>
          </p:cNvPr>
          <p:cNvGrpSpPr/>
          <p:nvPr/>
        </p:nvGrpSpPr>
        <p:grpSpPr>
          <a:xfrm>
            <a:off x="532797" y="6015616"/>
            <a:ext cx="1233612" cy="371440"/>
            <a:chOff x="820922" y="6015616"/>
            <a:chExt cx="1233612" cy="371440"/>
          </a:xfrm>
        </p:grpSpPr>
        <p:sp>
          <p:nvSpPr>
            <p:cNvPr id="69" name="TextBox 68">
              <a:extLst>
                <a:ext uri="{FF2B5EF4-FFF2-40B4-BE49-F238E27FC236}">
                  <a16:creationId xmlns:a16="http://schemas.microsoft.com/office/drawing/2014/main" id="{E6B151A3-0008-B6F1-CB89-66B753688088}"/>
                </a:ext>
              </a:extLst>
            </p:cNvPr>
            <p:cNvSpPr txBox="1"/>
            <p:nvPr/>
          </p:nvSpPr>
          <p:spPr>
            <a:xfrm>
              <a:off x="1023483" y="6017724"/>
              <a:ext cx="1031051" cy="369332"/>
            </a:xfrm>
            <a:prstGeom prst="rect">
              <a:avLst/>
            </a:prstGeom>
            <a:noFill/>
          </p:spPr>
          <p:txBody>
            <a:bodyPr wrap="none" rtlCol="0">
              <a:spAutoFit/>
            </a:bodyPr>
            <a:lstStyle/>
            <a:p>
              <a:r>
                <a:rPr lang="en-US" sz="900" dirty="0">
                  <a:solidFill>
                    <a:schemeClr val="bg2">
                      <a:lumMod val="50000"/>
                    </a:schemeClr>
                  </a:solidFill>
                  <a:latin typeface="DM Serif Display" pitchFamily="2" charset="0"/>
                </a:rPr>
                <a:t>Cursor Financial</a:t>
              </a:r>
            </a:p>
            <a:p>
              <a:r>
                <a:rPr lang="en-US" sz="900" dirty="0">
                  <a:solidFill>
                    <a:schemeClr val="bg2">
                      <a:lumMod val="50000"/>
                    </a:schemeClr>
                  </a:solidFill>
                  <a:latin typeface="DM Serif Display" pitchFamily="2" charset="0"/>
                </a:rPr>
                <a:t>Consulting</a:t>
              </a:r>
            </a:p>
          </p:txBody>
        </p:sp>
        <p:grpSp>
          <p:nvGrpSpPr>
            <p:cNvPr id="70" name="Group 69">
              <a:extLst>
                <a:ext uri="{FF2B5EF4-FFF2-40B4-BE49-F238E27FC236}">
                  <a16:creationId xmlns:a16="http://schemas.microsoft.com/office/drawing/2014/main" id="{007169F6-A2BB-4B8C-D864-EF895EA2A4A1}"/>
                </a:ext>
              </a:extLst>
            </p:cNvPr>
            <p:cNvGrpSpPr/>
            <p:nvPr/>
          </p:nvGrpSpPr>
          <p:grpSpPr>
            <a:xfrm>
              <a:off x="820922" y="6015616"/>
              <a:ext cx="271596" cy="349198"/>
              <a:chOff x="693522" y="1976028"/>
              <a:chExt cx="1652448" cy="2124597"/>
            </a:xfrm>
          </p:grpSpPr>
          <p:sp>
            <p:nvSpPr>
              <p:cNvPr id="71" name="Data 7">
                <a:extLst>
                  <a:ext uri="{FF2B5EF4-FFF2-40B4-BE49-F238E27FC236}">
                    <a16:creationId xmlns:a16="http://schemas.microsoft.com/office/drawing/2014/main" id="{A3688320-DBA2-929E-CF87-3AEEAF764B66}"/>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Data 7">
                <a:extLst>
                  <a:ext uri="{FF2B5EF4-FFF2-40B4-BE49-F238E27FC236}">
                    <a16:creationId xmlns:a16="http://schemas.microsoft.com/office/drawing/2014/main" id="{80227F8F-DEB4-EC77-0757-9C18559E13F1}"/>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993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Data 7">
                <a:extLst>
                  <a:ext uri="{FF2B5EF4-FFF2-40B4-BE49-F238E27FC236}">
                    <a16:creationId xmlns:a16="http://schemas.microsoft.com/office/drawing/2014/main" id="{521CA093-8131-ED86-0BD8-2576E45D1301}"/>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593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grpSp>
      <p:sp>
        <p:nvSpPr>
          <p:cNvPr id="48" name="TextBox 47">
            <a:extLst>
              <a:ext uri="{FF2B5EF4-FFF2-40B4-BE49-F238E27FC236}">
                <a16:creationId xmlns:a16="http://schemas.microsoft.com/office/drawing/2014/main" id="{529C0ED1-0A2B-7919-5E27-01B3B5E68601}"/>
              </a:ext>
            </a:extLst>
          </p:cNvPr>
          <p:cNvSpPr txBox="1"/>
          <p:nvPr/>
        </p:nvSpPr>
        <p:spPr>
          <a:xfrm>
            <a:off x="2282085" y="1979993"/>
            <a:ext cx="2339187" cy="461665"/>
          </a:xfrm>
          <a:prstGeom prst="rect">
            <a:avLst/>
          </a:prstGeom>
          <a:noFill/>
        </p:spPr>
        <p:txBody>
          <a:bodyPr wrap="square" rtlCol="0">
            <a:spAutoFit/>
          </a:bodyPr>
          <a:lstStyle/>
          <a:p>
            <a:r>
              <a:rPr lang="en-GB" sz="1200" dirty="0">
                <a:latin typeface="Avenir Book" panose="02000503020000020003" pitchFamily="2" charset="0"/>
              </a:rPr>
              <a:t>Diagnose systems, workflows, and financial data.</a:t>
            </a:r>
          </a:p>
        </p:txBody>
      </p:sp>
      <p:sp>
        <p:nvSpPr>
          <p:cNvPr id="50" name="TextBox 49">
            <a:extLst>
              <a:ext uri="{FF2B5EF4-FFF2-40B4-BE49-F238E27FC236}">
                <a16:creationId xmlns:a16="http://schemas.microsoft.com/office/drawing/2014/main" id="{D98899A4-BFD6-A5CD-76B3-13E9D844756C}"/>
              </a:ext>
            </a:extLst>
          </p:cNvPr>
          <p:cNvSpPr txBox="1"/>
          <p:nvPr/>
        </p:nvSpPr>
        <p:spPr>
          <a:xfrm>
            <a:off x="2290899" y="1699397"/>
            <a:ext cx="1989385" cy="307777"/>
          </a:xfrm>
          <a:prstGeom prst="rect">
            <a:avLst/>
          </a:prstGeom>
          <a:noFill/>
        </p:spPr>
        <p:txBody>
          <a:bodyPr wrap="square" rtlCol="0">
            <a:spAutoFit/>
          </a:bodyPr>
          <a:lstStyle/>
          <a:p>
            <a:r>
              <a:rPr lang="en-GB" sz="1400" dirty="0">
                <a:latin typeface="DM Serif Display" pitchFamily="2" charset="0"/>
              </a:rPr>
              <a:t>Discover</a:t>
            </a:r>
            <a:endParaRPr lang="en-US" sz="1400" dirty="0">
              <a:latin typeface="DM Serif Display" pitchFamily="2" charset="0"/>
            </a:endParaRPr>
          </a:p>
        </p:txBody>
      </p:sp>
      <p:cxnSp>
        <p:nvCxnSpPr>
          <p:cNvPr id="86" name="Straight Connector 85">
            <a:extLst>
              <a:ext uri="{FF2B5EF4-FFF2-40B4-BE49-F238E27FC236}">
                <a16:creationId xmlns:a16="http://schemas.microsoft.com/office/drawing/2014/main" id="{7BB67259-C87B-60F6-A824-E98CCCAE2E27}"/>
              </a:ext>
            </a:extLst>
          </p:cNvPr>
          <p:cNvCxnSpPr>
            <a:cxnSpLocks/>
          </p:cNvCxnSpPr>
          <p:nvPr/>
        </p:nvCxnSpPr>
        <p:spPr>
          <a:xfrm>
            <a:off x="1823185" y="2750574"/>
            <a:ext cx="5492015" cy="0"/>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7" name="Data 7">
            <a:extLst>
              <a:ext uri="{FF2B5EF4-FFF2-40B4-BE49-F238E27FC236}">
                <a16:creationId xmlns:a16="http://schemas.microsoft.com/office/drawing/2014/main" id="{E13DEBC8-A1D2-1593-FD22-8EF61407B89C}"/>
              </a:ext>
            </a:extLst>
          </p:cNvPr>
          <p:cNvSpPr/>
          <p:nvPr/>
        </p:nvSpPr>
        <p:spPr>
          <a:xfrm>
            <a:off x="580687" y="1678966"/>
            <a:ext cx="1613396" cy="107320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BDD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10" name="Data 7">
            <a:extLst>
              <a:ext uri="{FF2B5EF4-FFF2-40B4-BE49-F238E27FC236}">
                <a16:creationId xmlns:a16="http://schemas.microsoft.com/office/drawing/2014/main" id="{4E49E93B-D5CF-2358-7A3F-918BDD9C77E1}"/>
              </a:ext>
            </a:extLst>
          </p:cNvPr>
          <p:cNvSpPr/>
          <p:nvPr/>
        </p:nvSpPr>
        <p:spPr>
          <a:xfrm>
            <a:off x="1484201" y="2750574"/>
            <a:ext cx="1613396" cy="107320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9AD4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11" name="Data 7">
            <a:extLst>
              <a:ext uri="{FF2B5EF4-FFF2-40B4-BE49-F238E27FC236}">
                <a16:creationId xmlns:a16="http://schemas.microsoft.com/office/drawing/2014/main" id="{3DF4310E-27F0-3703-79DD-893997C60311}"/>
              </a:ext>
            </a:extLst>
          </p:cNvPr>
          <p:cNvSpPr/>
          <p:nvPr/>
        </p:nvSpPr>
        <p:spPr>
          <a:xfrm>
            <a:off x="2376830" y="3795603"/>
            <a:ext cx="1613396" cy="107320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E4ED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12" name="Data 7">
            <a:extLst>
              <a:ext uri="{FF2B5EF4-FFF2-40B4-BE49-F238E27FC236}">
                <a16:creationId xmlns:a16="http://schemas.microsoft.com/office/drawing/2014/main" id="{BF596339-33D6-9482-C338-109C7FE9ACBC}"/>
              </a:ext>
            </a:extLst>
          </p:cNvPr>
          <p:cNvSpPr/>
          <p:nvPr/>
        </p:nvSpPr>
        <p:spPr>
          <a:xfrm>
            <a:off x="3269458" y="4851517"/>
            <a:ext cx="1613396" cy="1073200"/>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20" name="TextBox 19">
            <a:extLst>
              <a:ext uri="{FF2B5EF4-FFF2-40B4-BE49-F238E27FC236}">
                <a16:creationId xmlns:a16="http://schemas.microsoft.com/office/drawing/2014/main" id="{7570F511-EBAC-AD46-0F64-8A1B3F00E9A2}"/>
              </a:ext>
            </a:extLst>
          </p:cNvPr>
          <p:cNvSpPr txBox="1"/>
          <p:nvPr/>
        </p:nvSpPr>
        <p:spPr>
          <a:xfrm>
            <a:off x="3316228" y="3188308"/>
            <a:ext cx="2339187" cy="461665"/>
          </a:xfrm>
          <a:prstGeom prst="rect">
            <a:avLst/>
          </a:prstGeom>
          <a:noFill/>
        </p:spPr>
        <p:txBody>
          <a:bodyPr wrap="square" rtlCol="0">
            <a:spAutoFit/>
          </a:bodyPr>
          <a:lstStyle/>
          <a:p>
            <a:r>
              <a:rPr lang="en-GB" sz="1200" dirty="0">
                <a:latin typeface="Avenir Book" panose="02000503020000020003" pitchFamily="2" charset="0"/>
              </a:rPr>
              <a:t>Build predictive and performance models.</a:t>
            </a:r>
          </a:p>
        </p:txBody>
      </p:sp>
      <p:sp>
        <p:nvSpPr>
          <p:cNvPr id="21" name="TextBox 20">
            <a:extLst>
              <a:ext uri="{FF2B5EF4-FFF2-40B4-BE49-F238E27FC236}">
                <a16:creationId xmlns:a16="http://schemas.microsoft.com/office/drawing/2014/main" id="{EB98E110-7CEA-E15B-CC7B-B6CBD980AF3E}"/>
              </a:ext>
            </a:extLst>
          </p:cNvPr>
          <p:cNvSpPr txBox="1"/>
          <p:nvPr/>
        </p:nvSpPr>
        <p:spPr>
          <a:xfrm>
            <a:off x="3325042" y="2907712"/>
            <a:ext cx="1989385" cy="307777"/>
          </a:xfrm>
          <a:prstGeom prst="rect">
            <a:avLst/>
          </a:prstGeom>
          <a:noFill/>
        </p:spPr>
        <p:txBody>
          <a:bodyPr wrap="square" rtlCol="0">
            <a:spAutoFit/>
          </a:bodyPr>
          <a:lstStyle/>
          <a:p>
            <a:r>
              <a:rPr lang="en-GB" sz="1400" dirty="0">
                <a:latin typeface="DM Serif Display" pitchFamily="2" charset="0"/>
              </a:rPr>
              <a:t>Design</a:t>
            </a:r>
            <a:endParaRPr lang="en-US" sz="1400" dirty="0">
              <a:latin typeface="DM Serif Display" pitchFamily="2" charset="0"/>
            </a:endParaRPr>
          </a:p>
        </p:txBody>
      </p:sp>
      <p:sp>
        <p:nvSpPr>
          <p:cNvPr id="22" name="TextBox 21">
            <a:extLst>
              <a:ext uri="{FF2B5EF4-FFF2-40B4-BE49-F238E27FC236}">
                <a16:creationId xmlns:a16="http://schemas.microsoft.com/office/drawing/2014/main" id="{4DF58021-FA96-F77D-B6C5-E3CE8CD090D5}"/>
              </a:ext>
            </a:extLst>
          </p:cNvPr>
          <p:cNvSpPr txBox="1"/>
          <p:nvPr/>
        </p:nvSpPr>
        <p:spPr>
          <a:xfrm>
            <a:off x="4230628" y="4233336"/>
            <a:ext cx="2339187" cy="461665"/>
          </a:xfrm>
          <a:prstGeom prst="rect">
            <a:avLst/>
          </a:prstGeom>
          <a:noFill/>
        </p:spPr>
        <p:txBody>
          <a:bodyPr wrap="square" rtlCol="0">
            <a:spAutoFit/>
          </a:bodyPr>
          <a:lstStyle/>
          <a:p>
            <a:r>
              <a:rPr lang="en-GB" sz="1200" dirty="0">
                <a:latin typeface="Avenir Book" panose="02000503020000020003" pitchFamily="2" charset="0"/>
              </a:rPr>
              <a:t>Integrate automated dashboards and processes.</a:t>
            </a:r>
          </a:p>
        </p:txBody>
      </p:sp>
      <p:sp>
        <p:nvSpPr>
          <p:cNvPr id="23" name="TextBox 22">
            <a:extLst>
              <a:ext uri="{FF2B5EF4-FFF2-40B4-BE49-F238E27FC236}">
                <a16:creationId xmlns:a16="http://schemas.microsoft.com/office/drawing/2014/main" id="{E2A9D823-1C1E-7036-93F9-3CAF46951E11}"/>
              </a:ext>
            </a:extLst>
          </p:cNvPr>
          <p:cNvSpPr txBox="1"/>
          <p:nvPr/>
        </p:nvSpPr>
        <p:spPr>
          <a:xfrm>
            <a:off x="4239442" y="3952740"/>
            <a:ext cx="1989385" cy="307777"/>
          </a:xfrm>
          <a:prstGeom prst="rect">
            <a:avLst/>
          </a:prstGeom>
          <a:noFill/>
        </p:spPr>
        <p:txBody>
          <a:bodyPr wrap="square" rtlCol="0">
            <a:spAutoFit/>
          </a:bodyPr>
          <a:lstStyle/>
          <a:p>
            <a:r>
              <a:rPr lang="en-GB" sz="1400" dirty="0">
                <a:latin typeface="DM Serif Display" pitchFamily="2" charset="0"/>
              </a:rPr>
              <a:t>Deploy</a:t>
            </a:r>
            <a:endParaRPr lang="en-US" sz="1400" dirty="0">
              <a:latin typeface="DM Serif Display" pitchFamily="2" charset="0"/>
            </a:endParaRPr>
          </a:p>
        </p:txBody>
      </p:sp>
      <p:sp>
        <p:nvSpPr>
          <p:cNvPr id="25" name="TextBox 24">
            <a:extLst>
              <a:ext uri="{FF2B5EF4-FFF2-40B4-BE49-F238E27FC236}">
                <a16:creationId xmlns:a16="http://schemas.microsoft.com/office/drawing/2014/main" id="{C96DC34B-7E7A-78F5-4717-A54DE20015EB}"/>
              </a:ext>
            </a:extLst>
          </p:cNvPr>
          <p:cNvSpPr txBox="1"/>
          <p:nvPr/>
        </p:nvSpPr>
        <p:spPr>
          <a:xfrm>
            <a:off x="5036171" y="5332794"/>
            <a:ext cx="2339187" cy="461665"/>
          </a:xfrm>
          <a:prstGeom prst="rect">
            <a:avLst/>
          </a:prstGeom>
          <a:noFill/>
        </p:spPr>
        <p:txBody>
          <a:bodyPr wrap="square" rtlCol="0">
            <a:spAutoFit/>
          </a:bodyPr>
          <a:lstStyle/>
          <a:p>
            <a:r>
              <a:rPr lang="en-GB" sz="1200" dirty="0">
                <a:latin typeface="Avenir Book" panose="02000503020000020003" pitchFamily="2" charset="0"/>
              </a:rPr>
              <a:t>Measure ROI and continuously refine.</a:t>
            </a:r>
          </a:p>
        </p:txBody>
      </p:sp>
      <p:sp>
        <p:nvSpPr>
          <p:cNvPr id="26" name="TextBox 25">
            <a:extLst>
              <a:ext uri="{FF2B5EF4-FFF2-40B4-BE49-F238E27FC236}">
                <a16:creationId xmlns:a16="http://schemas.microsoft.com/office/drawing/2014/main" id="{B10C83D5-72F2-1816-BAF9-18E443DA6B57}"/>
              </a:ext>
            </a:extLst>
          </p:cNvPr>
          <p:cNvSpPr txBox="1"/>
          <p:nvPr/>
        </p:nvSpPr>
        <p:spPr>
          <a:xfrm>
            <a:off x="5044985" y="5052198"/>
            <a:ext cx="1989385" cy="307777"/>
          </a:xfrm>
          <a:prstGeom prst="rect">
            <a:avLst/>
          </a:prstGeom>
          <a:noFill/>
        </p:spPr>
        <p:txBody>
          <a:bodyPr wrap="square" rtlCol="0">
            <a:spAutoFit/>
          </a:bodyPr>
          <a:lstStyle/>
          <a:p>
            <a:r>
              <a:rPr lang="en-GB" sz="1400" dirty="0">
                <a:latin typeface="DM Serif Display" pitchFamily="2" charset="0"/>
              </a:rPr>
              <a:t>Deliver</a:t>
            </a:r>
            <a:endParaRPr lang="en-US" sz="1400" dirty="0">
              <a:latin typeface="DM Serif Display" pitchFamily="2" charset="0"/>
            </a:endParaRPr>
          </a:p>
        </p:txBody>
      </p:sp>
      <p:pic>
        <p:nvPicPr>
          <p:cNvPr id="32" name="Picture 31" descr="A diagram of a diagram&#10;&#10;AI-generated content may be incorrect.">
            <a:extLst>
              <a:ext uri="{FF2B5EF4-FFF2-40B4-BE49-F238E27FC236}">
                <a16:creationId xmlns:a16="http://schemas.microsoft.com/office/drawing/2014/main" id="{11D1D695-DA60-A427-3420-C1EE6ABDFC25}"/>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606474" y="2931758"/>
            <a:ext cx="1031051" cy="947548"/>
          </a:xfrm>
          <a:prstGeom prst="rect">
            <a:avLst/>
          </a:prstGeom>
        </p:spPr>
      </p:pic>
      <p:pic>
        <p:nvPicPr>
          <p:cNvPr id="33" name="Picture 32" descr="A diagram of a diagram&#10;&#10;AI-generated content may be incorrect.">
            <a:extLst>
              <a:ext uri="{FF2B5EF4-FFF2-40B4-BE49-F238E27FC236}">
                <a16:creationId xmlns:a16="http://schemas.microsoft.com/office/drawing/2014/main" id="{1F8F63FE-7A16-FA1D-6C16-63E9C78888D4}"/>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533360" y="4017188"/>
            <a:ext cx="918318" cy="834328"/>
          </a:xfrm>
          <a:prstGeom prst="rect">
            <a:avLst/>
          </a:prstGeom>
        </p:spPr>
      </p:pic>
      <p:pic>
        <p:nvPicPr>
          <p:cNvPr id="34" name="Picture 33" descr="A diagram of a diagram&#10;&#10;AI-generated content may be incorrect.">
            <a:extLst>
              <a:ext uri="{FF2B5EF4-FFF2-40B4-BE49-F238E27FC236}">
                <a16:creationId xmlns:a16="http://schemas.microsoft.com/office/drawing/2014/main" id="{C37B1637-5DBB-2A58-1C14-590327F0C752}"/>
              </a:ext>
            </a:extLst>
          </p:cNvPr>
          <p:cNvPicPr>
            <a:picLocks noChangeAspect="1"/>
          </p:cNvPicPr>
          <p:nvPr/>
        </p:nvPicPr>
        <p:blipFill>
          <a:blip r:embed="rId5" cstate="hqprint">
            <a:biLevel thresh="25000"/>
            <a:extLst>
              <a:ext uri="{28A0092B-C50C-407E-A947-70E740481C1C}">
                <a14:useLocalDpi xmlns:a14="http://schemas.microsoft.com/office/drawing/2010/main"/>
              </a:ext>
            </a:extLst>
          </a:blip>
          <a:srcRect/>
          <a:stretch>
            <a:fillRect/>
          </a:stretch>
        </p:blipFill>
        <p:spPr>
          <a:xfrm>
            <a:off x="3381668" y="5117909"/>
            <a:ext cx="918318" cy="834328"/>
          </a:xfrm>
          <a:prstGeom prst="rect">
            <a:avLst/>
          </a:prstGeom>
        </p:spPr>
      </p:pic>
      <p:pic>
        <p:nvPicPr>
          <p:cNvPr id="37" name="Picture 36" descr="A group of people in an office&#10;&#10;AI-generated content may be incorrect.">
            <a:extLst>
              <a:ext uri="{FF2B5EF4-FFF2-40B4-BE49-F238E27FC236}">
                <a16:creationId xmlns:a16="http://schemas.microsoft.com/office/drawing/2014/main" id="{D8593110-2986-90FC-786A-730313F9AFA6}"/>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flipH="1">
            <a:off x="7873206" y="1100673"/>
            <a:ext cx="3673560" cy="4851563"/>
          </a:xfrm>
          <a:prstGeom prst="rect">
            <a:avLst/>
          </a:prstGeom>
        </p:spPr>
      </p:pic>
      <p:sp>
        <p:nvSpPr>
          <p:cNvPr id="3" name="TextBox 2">
            <a:extLst>
              <a:ext uri="{FF2B5EF4-FFF2-40B4-BE49-F238E27FC236}">
                <a16:creationId xmlns:a16="http://schemas.microsoft.com/office/drawing/2014/main" id="{4122E09A-3AF7-4CE3-A123-870CB0E9B016}"/>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6</a:t>
            </a:r>
          </a:p>
        </p:txBody>
      </p:sp>
      <p:cxnSp>
        <p:nvCxnSpPr>
          <p:cNvPr id="4" name="Straight Connector 3">
            <a:extLst>
              <a:ext uri="{FF2B5EF4-FFF2-40B4-BE49-F238E27FC236}">
                <a16:creationId xmlns:a16="http://schemas.microsoft.com/office/drawing/2014/main" id="{EA11D3CA-2F66-D87B-93ED-E0760244DBE0}"/>
              </a:ext>
            </a:extLst>
          </p:cNvPr>
          <p:cNvCxnSpPr>
            <a:cxnSpLocks/>
          </p:cNvCxnSpPr>
          <p:nvPr/>
        </p:nvCxnSpPr>
        <p:spPr>
          <a:xfrm>
            <a:off x="532797" y="6389164"/>
            <a:ext cx="10175308" cy="0"/>
          </a:xfrm>
          <a:prstGeom prst="line">
            <a:avLst/>
          </a:prstGeom>
          <a:ln w="9525">
            <a:solidFill>
              <a:srgbClr val="ADD0B1">
                <a:alpha val="75000"/>
              </a:srgbClr>
            </a:solidFill>
          </a:ln>
        </p:spPr>
        <p:style>
          <a:lnRef idx="2">
            <a:schemeClr val="accent1"/>
          </a:lnRef>
          <a:fillRef idx="0">
            <a:schemeClr val="accent1"/>
          </a:fillRef>
          <a:effectRef idx="1">
            <a:schemeClr val="accent1"/>
          </a:effectRef>
          <a:fontRef idx="minor">
            <a:schemeClr val="tx1"/>
          </a:fontRef>
        </p:style>
      </p:cxnSp>
      <p:pic>
        <p:nvPicPr>
          <p:cNvPr id="8" name="Graphic 7" descr="Magnifying glass with solid fill">
            <a:extLst>
              <a:ext uri="{FF2B5EF4-FFF2-40B4-BE49-F238E27FC236}">
                <a16:creationId xmlns:a16="http://schemas.microsoft.com/office/drawing/2014/main" id="{80A66163-FF48-86E8-F74F-6B6EF1A5F32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flipH="1">
            <a:off x="534792" y="1744494"/>
            <a:ext cx="1023296" cy="1023296"/>
          </a:xfrm>
          <a:prstGeom prst="rect">
            <a:avLst/>
          </a:prstGeom>
        </p:spPr>
      </p:pic>
    </p:spTree>
    <p:extLst>
      <p:ext uri="{BB962C8B-B14F-4D97-AF65-F5344CB8AC3E}">
        <p14:creationId xmlns:p14="http://schemas.microsoft.com/office/powerpoint/2010/main" val="1766179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7E7DB"/>
        </a:solidFill>
        <a:effectLst/>
      </p:bgPr>
    </p:bg>
    <p:spTree>
      <p:nvGrpSpPr>
        <p:cNvPr id="1" name="">
          <a:extLst>
            <a:ext uri="{FF2B5EF4-FFF2-40B4-BE49-F238E27FC236}">
              <a16:creationId xmlns:a16="http://schemas.microsoft.com/office/drawing/2014/main" id="{3A04758D-10ED-F4EE-3202-0F0D206EB9B2}"/>
            </a:ext>
          </a:extLst>
        </p:cNvPr>
        <p:cNvGrpSpPr/>
        <p:nvPr/>
      </p:nvGrpSpPr>
      <p:grpSpPr>
        <a:xfrm>
          <a:off x="0" y="0"/>
          <a:ext cx="0" cy="0"/>
          <a:chOff x="0" y="0"/>
          <a:chExt cx="0" cy="0"/>
        </a:xfrm>
      </p:grpSpPr>
      <p:sp>
        <p:nvSpPr>
          <p:cNvPr id="39" name="Freeform 38">
            <a:extLst>
              <a:ext uri="{FF2B5EF4-FFF2-40B4-BE49-F238E27FC236}">
                <a16:creationId xmlns:a16="http://schemas.microsoft.com/office/drawing/2014/main" id="{F575D4DD-92B8-35BD-2932-C8E8EB91272C}"/>
              </a:ext>
            </a:extLst>
          </p:cNvPr>
          <p:cNvSpPr/>
          <p:nvPr/>
        </p:nvSpPr>
        <p:spPr>
          <a:xfrm rot="5400000" flipH="1" flipV="1">
            <a:off x="7717795" y="2392783"/>
            <a:ext cx="2130655" cy="6811476"/>
          </a:xfrm>
          <a:custGeom>
            <a:avLst/>
            <a:gdLst>
              <a:gd name="connsiteX0" fmla="*/ 2130655 w 2130655"/>
              <a:gd name="connsiteY0" fmla="*/ 753323 h 6811476"/>
              <a:gd name="connsiteX1" fmla="*/ 2130655 w 2130655"/>
              <a:gd name="connsiteY1" fmla="*/ 1430657 h 6811476"/>
              <a:gd name="connsiteX2" fmla="*/ 2130655 w 2130655"/>
              <a:gd name="connsiteY2" fmla="*/ 6134142 h 6811476"/>
              <a:gd name="connsiteX3" fmla="*/ 2130655 w 2130655"/>
              <a:gd name="connsiteY3" fmla="*/ 6811476 h 6811476"/>
              <a:gd name="connsiteX4" fmla="*/ 0 w 2130655"/>
              <a:gd name="connsiteY4" fmla="*/ 6811476 h 6811476"/>
              <a:gd name="connsiteX5" fmla="*/ 0 w 2130655"/>
              <a:gd name="connsiteY5" fmla="*/ 6134142 h 6811476"/>
              <a:gd name="connsiteX6" fmla="*/ 0 w 2130655"/>
              <a:gd name="connsiteY6" fmla="*/ 677334 h 6811476"/>
              <a:gd name="connsiteX7" fmla="*/ 0 w 2130655"/>
              <a:gd name="connsiteY7" fmla="*/ 0 h 681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30655" h="6811476">
                <a:moveTo>
                  <a:pt x="2130655" y="753323"/>
                </a:moveTo>
                <a:lnTo>
                  <a:pt x="2130655" y="1430657"/>
                </a:lnTo>
                <a:lnTo>
                  <a:pt x="2130655" y="6134142"/>
                </a:lnTo>
                <a:lnTo>
                  <a:pt x="2130655" y="6811476"/>
                </a:lnTo>
                <a:lnTo>
                  <a:pt x="0" y="6811476"/>
                </a:lnTo>
                <a:lnTo>
                  <a:pt x="0" y="6134142"/>
                </a:lnTo>
                <a:lnTo>
                  <a:pt x="0" y="677334"/>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35">
            <a:extLst>
              <a:ext uri="{FF2B5EF4-FFF2-40B4-BE49-F238E27FC236}">
                <a16:creationId xmlns:a16="http://schemas.microsoft.com/office/drawing/2014/main" id="{EC17CE15-39E9-B03D-53F4-FFADCA745629}"/>
              </a:ext>
            </a:extLst>
          </p:cNvPr>
          <p:cNvSpPr/>
          <p:nvPr/>
        </p:nvSpPr>
        <p:spPr>
          <a:xfrm rot="5400000">
            <a:off x="2001743" y="2716935"/>
            <a:ext cx="2130655" cy="6134142"/>
          </a:xfrm>
          <a:custGeom>
            <a:avLst/>
            <a:gdLst>
              <a:gd name="connsiteX0" fmla="*/ 0 w 2202090"/>
              <a:gd name="connsiteY0" fmla="*/ 6099958 h 6099958"/>
              <a:gd name="connsiteX1" fmla="*/ 0 w 2202090"/>
              <a:gd name="connsiteY1" fmla="*/ 0 h 6099958"/>
              <a:gd name="connsiteX2" fmla="*/ 2202090 w 2202090"/>
              <a:gd name="connsiteY2" fmla="*/ 749125 h 6099958"/>
              <a:gd name="connsiteX3" fmla="*/ 2202090 w 2202090"/>
              <a:gd name="connsiteY3" fmla="*/ 6099958 h 6099958"/>
              <a:gd name="connsiteX4" fmla="*/ 0 w 2202090"/>
              <a:gd name="connsiteY4" fmla="*/ 6099958 h 609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090" h="6099958">
                <a:moveTo>
                  <a:pt x="0" y="6099958"/>
                </a:moveTo>
                <a:lnTo>
                  <a:pt x="0" y="0"/>
                </a:lnTo>
                <a:lnTo>
                  <a:pt x="2202090" y="749125"/>
                </a:lnTo>
                <a:lnTo>
                  <a:pt x="2202090" y="6099958"/>
                </a:lnTo>
                <a:lnTo>
                  <a:pt x="0" y="6099958"/>
                </a:lnTo>
                <a:close/>
              </a:path>
            </a:pathLst>
          </a:cu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AB48C4C-778F-0E7C-49D2-F3B036D48CE8}"/>
              </a:ext>
            </a:extLst>
          </p:cNvPr>
          <p:cNvSpPr>
            <a:spLocks noGrp="1"/>
          </p:cNvSpPr>
          <p:nvPr>
            <p:ph type="title"/>
          </p:nvPr>
        </p:nvSpPr>
        <p:spPr>
          <a:xfrm>
            <a:off x="581286" y="596671"/>
            <a:ext cx="6901156" cy="465120"/>
          </a:xfrm>
        </p:spPr>
        <p:txBody>
          <a:bodyPr>
            <a:normAutofit/>
          </a:bodyPr>
          <a:lstStyle/>
          <a:p>
            <a:r>
              <a:rPr lang="en-US" sz="2000" b="1" dirty="0">
                <a:solidFill>
                  <a:srgbClr val="8EAA93"/>
                </a:solidFill>
                <a:latin typeface="Avenir Heavy" panose="02000503020000020003" pitchFamily="2" charset="0"/>
              </a:rPr>
              <a:t>CASE STUDY</a:t>
            </a:r>
          </a:p>
        </p:txBody>
      </p:sp>
      <p:sp>
        <p:nvSpPr>
          <p:cNvPr id="62" name="Data 7">
            <a:extLst>
              <a:ext uri="{FF2B5EF4-FFF2-40B4-BE49-F238E27FC236}">
                <a16:creationId xmlns:a16="http://schemas.microsoft.com/office/drawing/2014/main" id="{99C32A14-D209-4F09-F0B0-EDF1B65B37F1}"/>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ata 7">
            <a:extLst>
              <a:ext uri="{FF2B5EF4-FFF2-40B4-BE49-F238E27FC236}">
                <a16:creationId xmlns:a16="http://schemas.microsoft.com/office/drawing/2014/main" id="{4617DEE5-FAFD-D92F-30B5-42EEB0C4AD8E}"/>
              </a:ext>
            </a:extLst>
          </p:cNvPr>
          <p:cNvSpPr/>
          <p:nvPr/>
        </p:nvSpPr>
        <p:spPr>
          <a:xfrm>
            <a:off x="11146259" y="5495141"/>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E4EDF3">
              <a:alpha val="8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ata 7">
            <a:extLst>
              <a:ext uri="{FF2B5EF4-FFF2-40B4-BE49-F238E27FC236}">
                <a16:creationId xmlns:a16="http://schemas.microsoft.com/office/drawing/2014/main" id="{BC3EED26-42B0-DEE5-B8D8-2E5BA3BB4DAC}"/>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66" name="Data 7">
            <a:extLst>
              <a:ext uri="{FF2B5EF4-FFF2-40B4-BE49-F238E27FC236}">
                <a16:creationId xmlns:a16="http://schemas.microsoft.com/office/drawing/2014/main" id="{8037C874-5694-F56A-867F-504214E5202D}"/>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8" name="TextBox 7">
            <a:extLst>
              <a:ext uri="{FF2B5EF4-FFF2-40B4-BE49-F238E27FC236}">
                <a16:creationId xmlns:a16="http://schemas.microsoft.com/office/drawing/2014/main" id="{D2E19135-1DC5-D2F7-5968-51016D7119DC}"/>
              </a:ext>
            </a:extLst>
          </p:cNvPr>
          <p:cNvSpPr txBox="1"/>
          <p:nvPr/>
        </p:nvSpPr>
        <p:spPr>
          <a:xfrm>
            <a:off x="6401127" y="5423950"/>
            <a:ext cx="4456701" cy="646331"/>
          </a:xfrm>
          <a:prstGeom prst="rect">
            <a:avLst/>
          </a:prstGeom>
          <a:noFill/>
        </p:spPr>
        <p:txBody>
          <a:bodyPr wrap="square" rtlCol="0">
            <a:spAutoFit/>
          </a:bodyPr>
          <a:lstStyle/>
          <a:p>
            <a:r>
              <a:rPr lang="en-GB" sz="1200" dirty="0">
                <a:latin typeface="Avenir Book" panose="02000503020000020003" pitchFamily="2" charset="0"/>
              </a:rPr>
              <a:t>Organizations lose millions annually to inefficiency. Our models identify leakages, automate reconciliation, and transform financial operations into insight-driven engines.</a:t>
            </a:r>
          </a:p>
        </p:txBody>
      </p:sp>
      <p:sp>
        <p:nvSpPr>
          <p:cNvPr id="23" name="Title 1">
            <a:extLst>
              <a:ext uri="{FF2B5EF4-FFF2-40B4-BE49-F238E27FC236}">
                <a16:creationId xmlns:a16="http://schemas.microsoft.com/office/drawing/2014/main" id="{3B412248-5A5B-DDBE-0E19-0C0EC692947D}"/>
              </a:ext>
            </a:extLst>
          </p:cNvPr>
          <p:cNvSpPr txBox="1">
            <a:spLocks/>
          </p:cNvSpPr>
          <p:nvPr/>
        </p:nvSpPr>
        <p:spPr>
          <a:xfrm>
            <a:off x="581287" y="841501"/>
            <a:ext cx="6901156" cy="8955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192523"/>
                </a:solidFill>
                <a:latin typeface="DM Serif Display" pitchFamily="2" charset="0"/>
              </a:rPr>
              <a:t>Operational Efficiency</a:t>
            </a:r>
          </a:p>
        </p:txBody>
      </p:sp>
      <p:sp>
        <p:nvSpPr>
          <p:cNvPr id="24" name="TextBox 23">
            <a:extLst>
              <a:ext uri="{FF2B5EF4-FFF2-40B4-BE49-F238E27FC236}">
                <a16:creationId xmlns:a16="http://schemas.microsoft.com/office/drawing/2014/main" id="{EEC133E9-A1D8-4CEA-5586-30E4F4076119}"/>
              </a:ext>
            </a:extLst>
          </p:cNvPr>
          <p:cNvSpPr txBox="1"/>
          <p:nvPr/>
        </p:nvSpPr>
        <p:spPr>
          <a:xfrm>
            <a:off x="598246" y="1743572"/>
            <a:ext cx="5816621" cy="1899046"/>
          </a:xfrm>
          <a:prstGeom prst="rect">
            <a:avLst/>
          </a:prstGeom>
          <a:noFill/>
        </p:spPr>
        <p:txBody>
          <a:bodyPr wrap="square" rtlCol="0">
            <a:spAutoFit/>
          </a:bodyPr>
          <a:lstStyle/>
          <a:p>
            <a:pPr>
              <a:lnSpc>
                <a:spcPct val="150000"/>
              </a:lnSpc>
            </a:pPr>
            <a:r>
              <a:rPr lang="en-GB" sz="2000" b="1" dirty="0">
                <a:latin typeface="Avenir Heavy" panose="02000503020000020003" pitchFamily="2" charset="0"/>
              </a:rPr>
              <a:t>Client: </a:t>
            </a:r>
            <a:r>
              <a:rPr lang="en-GB" sz="2000" dirty="0">
                <a:latin typeface="Avenir Book" panose="02000503020000020003" pitchFamily="2" charset="0"/>
              </a:rPr>
              <a:t>Mid-size Insurance Provider</a:t>
            </a:r>
          </a:p>
          <a:p>
            <a:pPr>
              <a:lnSpc>
                <a:spcPct val="150000"/>
              </a:lnSpc>
            </a:pPr>
            <a:r>
              <a:rPr lang="en-GB" sz="2000" b="1" dirty="0">
                <a:latin typeface="Avenir Heavy" panose="02000503020000020003" pitchFamily="2" charset="0"/>
              </a:rPr>
              <a:t>Duration: </a:t>
            </a:r>
            <a:r>
              <a:rPr lang="en-GB" sz="2000" dirty="0">
                <a:latin typeface="Avenir Book" panose="02000503020000020003" pitchFamily="2" charset="0"/>
              </a:rPr>
              <a:t>6 Months</a:t>
            </a:r>
          </a:p>
          <a:p>
            <a:pPr>
              <a:lnSpc>
                <a:spcPct val="150000"/>
              </a:lnSpc>
            </a:pPr>
            <a:r>
              <a:rPr lang="en-GB" sz="2000" b="1" dirty="0">
                <a:latin typeface="Avenir Heavy" panose="02000503020000020003" pitchFamily="2" charset="0"/>
              </a:rPr>
              <a:t>Scope: </a:t>
            </a:r>
            <a:r>
              <a:rPr lang="en-GB" sz="2000" dirty="0">
                <a:latin typeface="Avenir Book" panose="02000503020000020003" pitchFamily="2" charset="0"/>
              </a:rPr>
              <a:t>Claims forecasting, automation, reporting consolidation</a:t>
            </a:r>
          </a:p>
        </p:txBody>
      </p:sp>
      <p:sp>
        <p:nvSpPr>
          <p:cNvPr id="25" name="Freeform 24">
            <a:extLst>
              <a:ext uri="{FF2B5EF4-FFF2-40B4-BE49-F238E27FC236}">
                <a16:creationId xmlns:a16="http://schemas.microsoft.com/office/drawing/2014/main" id="{47B03AA9-643E-4032-DBBD-8E2E0529F014}"/>
              </a:ext>
            </a:extLst>
          </p:cNvPr>
          <p:cNvSpPr/>
          <p:nvPr/>
        </p:nvSpPr>
        <p:spPr>
          <a:xfrm>
            <a:off x="694114" y="5406896"/>
            <a:ext cx="435493" cy="436852"/>
          </a:xfrm>
          <a:custGeom>
            <a:avLst/>
            <a:gdLst>
              <a:gd name="connsiteX0" fmla="*/ 1536840 w 4732597"/>
              <a:gd name="connsiteY0" fmla="*/ 0 h 4747365"/>
              <a:gd name="connsiteX1" fmla="*/ 3221829 w 4732597"/>
              <a:gd name="connsiteY1" fmla="*/ 0 h 4747365"/>
              <a:gd name="connsiteX2" fmla="*/ 4731726 w 4732597"/>
              <a:gd name="connsiteY2" fmla="*/ 1362554 h 4747365"/>
              <a:gd name="connsiteX3" fmla="*/ 4732597 w 4732597"/>
              <a:gd name="connsiteY3" fmla="*/ 1379805 h 4747365"/>
              <a:gd name="connsiteX4" fmla="*/ 1656109 w 4732597"/>
              <a:gd name="connsiteY4" fmla="*/ 1379805 h 4747365"/>
              <a:gd name="connsiteX5" fmla="*/ 1532255 w 4732597"/>
              <a:gd name="connsiteY5" fmla="*/ 803034 h 4747365"/>
              <a:gd name="connsiteX6" fmla="*/ 1406961 w 4732597"/>
              <a:gd name="connsiteY6" fmla="*/ 1386506 h 4747365"/>
              <a:gd name="connsiteX7" fmla="*/ 823490 w 4732597"/>
              <a:gd name="connsiteY7" fmla="*/ 1511800 h 4747365"/>
              <a:gd name="connsiteX8" fmla="*/ 1406961 w 4732597"/>
              <a:gd name="connsiteY8" fmla="*/ 1637093 h 4747365"/>
              <a:gd name="connsiteX9" fmla="*/ 1532255 w 4732597"/>
              <a:gd name="connsiteY9" fmla="*/ 2220564 h 4747365"/>
              <a:gd name="connsiteX10" fmla="*/ 1653986 w 4732597"/>
              <a:gd name="connsiteY10" fmla="*/ 1653683 h 4747365"/>
              <a:gd name="connsiteX11" fmla="*/ 3827310 w 4732597"/>
              <a:gd name="connsiteY11" fmla="*/ 1653683 h 4747365"/>
              <a:gd name="connsiteX12" fmla="*/ 3919679 w 4732597"/>
              <a:gd name="connsiteY12" fmla="*/ 1703851 h 4747365"/>
              <a:gd name="connsiteX13" fmla="*/ 4716467 w 4732597"/>
              <a:gd name="connsiteY13" fmla="*/ 3231688 h 4747365"/>
              <a:gd name="connsiteX14" fmla="*/ 3311465 w 4732597"/>
              <a:gd name="connsiteY14" fmla="*/ 4738417 h 4747365"/>
              <a:gd name="connsiteX15" fmla="*/ 3216690 w 4732597"/>
              <a:gd name="connsiteY15" fmla="*/ 4747365 h 4747365"/>
              <a:gd name="connsiteX16" fmla="*/ 1509930 w 4732597"/>
              <a:gd name="connsiteY16" fmla="*/ 4747365 h 4747365"/>
              <a:gd name="connsiteX17" fmla="*/ 33 w 4732597"/>
              <a:gd name="connsiteY17" fmla="*/ 3384811 h 4747365"/>
              <a:gd name="connsiteX18" fmla="*/ 0 w 4732597"/>
              <a:gd name="connsiteY18" fmla="*/ 3384161 h 4747365"/>
              <a:gd name="connsiteX19" fmla="*/ 3104428 w 4732597"/>
              <a:gd name="connsiteY19" fmla="*/ 3384161 h 4747365"/>
              <a:gd name="connsiteX20" fmla="*/ 3228444 w 4732597"/>
              <a:gd name="connsiteY20" fmla="*/ 3961681 h 4747365"/>
              <a:gd name="connsiteX21" fmla="*/ 3353737 w 4732597"/>
              <a:gd name="connsiteY21" fmla="*/ 3378211 h 4747365"/>
              <a:gd name="connsiteX22" fmla="*/ 3937208 w 4732597"/>
              <a:gd name="connsiteY22" fmla="*/ 3252918 h 4747365"/>
              <a:gd name="connsiteX23" fmla="*/ 3353737 w 4732597"/>
              <a:gd name="connsiteY23" fmla="*/ 3127624 h 4747365"/>
              <a:gd name="connsiteX24" fmla="*/ 3228444 w 4732597"/>
              <a:gd name="connsiteY24" fmla="*/ 2544152 h 4747365"/>
              <a:gd name="connsiteX25" fmla="*/ 3106875 w 4732597"/>
              <a:gd name="connsiteY25" fmla="*/ 3110283 h 4747365"/>
              <a:gd name="connsiteX26" fmla="*/ 958719 w 4732597"/>
              <a:gd name="connsiteY26" fmla="*/ 3110283 h 4747365"/>
              <a:gd name="connsiteX27" fmla="*/ 948177 w 4732597"/>
              <a:gd name="connsiteY27" fmla="*/ 3105607 h 4747365"/>
              <a:gd name="connsiteX28" fmla="*/ 37062 w 4732597"/>
              <a:gd name="connsiteY28" fmla="*/ 1515677 h 4747365"/>
              <a:gd name="connsiteX29" fmla="*/ 1442064 w 4732597"/>
              <a:gd name="connsiteY29" fmla="*/ 8948 h 4747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732597" h="4747365">
                <a:moveTo>
                  <a:pt x="1536840" y="0"/>
                </a:moveTo>
                <a:lnTo>
                  <a:pt x="3221829" y="0"/>
                </a:lnTo>
                <a:cubicBezTo>
                  <a:pt x="4007661" y="0"/>
                  <a:pt x="4654003" y="597227"/>
                  <a:pt x="4731726" y="1362554"/>
                </a:cubicBezTo>
                <a:lnTo>
                  <a:pt x="4732597" y="1379805"/>
                </a:lnTo>
                <a:lnTo>
                  <a:pt x="1656109" y="1379805"/>
                </a:lnTo>
                <a:lnTo>
                  <a:pt x="1532255" y="803034"/>
                </a:lnTo>
                <a:lnTo>
                  <a:pt x="1406961" y="1386506"/>
                </a:lnTo>
                <a:lnTo>
                  <a:pt x="823490" y="1511800"/>
                </a:lnTo>
                <a:lnTo>
                  <a:pt x="1406961" y="1637093"/>
                </a:lnTo>
                <a:lnTo>
                  <a:pt x="1532255" y="2220564"/>
                </a:lnTo>
                <a:lnTo>
                  <a:pt x="1653986" y="1653683"/>
                </a:lnTo>
                <a:lnTo>
                  <a:pt x="3827310" y="1653683"/>
                </a:lnTo>
                <a:lnTo>
                  <a:pt x="3919679" y="1703851"/>
                </a:lnTo>
                <a:cubicBezTo>
                  <a:pt x="4439422" y="2013579"/>
                  <a:pt x="4762133" y="2597405"/>
                  <a:pt x="4716467" y="3231688"/>
                </a:cubicBezTo>
                <a:cubicBezTo>
                  <a:pt x="4660549" y="4008362"/>
                  <a:pt x="4068826" y="4631036"/>
                  <a:pt x="3311465" y="4738417"/>
                </a:cubicBezTo>
                <a:lnTo>
                  <a:pt x="3216690" y="4747365"/>
                </a:lnTo>
                <a:lnTo>
                  <a:pt x="1509930" y="4747365"/>
                </a:lnTo>
                <a:cubicBezTo>
                  <a:pt x="724098" y="4747365"/>
                  <a:pt x="77756" y="4150138"/>
                  <a:pt x="33" y="3384811"/>
                </a:cubicBezTo>
                <a:lnTo>
                  <a:pt x="0" y="3384161"/>
                </a:lnTo>
                <a:lnTo>
                  <a:pt x="3104428" y="3384161"/>
                </a:lnTo>
                <a:lnTo>
                  <a:pt x="3228444" y="3961681"/>
                </a:lnTo>
                <a:lnTo>
                  <a:pt x="3353737" y="3378211"/>
                </a:lnTo>
                <a:lnTo>
                  <a:pt x="3937208" y="3252918"/>
                </a:lnTo>
                <a:lnTo>
                  <a:pt x="3353737" y="3127624"/>
                </a:lnTo>
                <a:lnTo>
                  <a:pt x="3228444" y="2544152"/>
                </a:lnTo>
                <a:lnTo>
                  <a:pt x="3106875" y="3110283"/>
                </a:lnTo>
                <a:lnTo>
                  <a:pt x="958719" y="3110283"/>
                </a:lnTo>
                <a:lnTo>
                  <a:pt x="948177" y="3105607"/>
                </a:lnTo>
                <a:cubicBezTo>
                  <a:pt x="362088" y="2816932"/>
                  <a:pt x="-11866" y="2195267"/>
                  <a:pt x="37062" y="1515677"/>
                </a:cubicBezTo>
                <a:cubicBezTo>
                  <a:pt x="92980" y="739003"/>
                  <a:pt x="684703" y="116329"/>
                  <a:pt x="1442064" y="8948"/>
                </a:cubicBezTo>
                <a:close/>
              </a:path>
            </a:pathLst>
          </a:custGeom>
          <a:solidFill>
            <a:srgbClr val="72DBA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Title 1">
            <a:extLst>
              <a:ext uri="{FF2B5EF4-FFF2-40B4-BE49-F238E27FC236}">
                <a16:creationId xmlns:a16="http://schemas.microsoft.com/office/drawing/2014/main" id="{F132C3A9-88DC-7CF5-020C-1AF51EFB1F08}"/>
              </a:ext>
            </a:extLst>
          </p:cNvPr>
          <p:cNvSpPr txBox="1">
            <a:spLocks/>
          </p:cNvSpPr>
          <p:nvPr/>
        </p:nvSpPr>
        <p:spPr>
          <a:xfrm>
            <a:off x="1179912" y="5440883"/>
            <a:ext cx="1732101" cy="4651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solidFill>
                  <a:schemeClr val="bg1"/>
                </a:solidFill>
                <a:latin typeface="Avenir Heavy" panose="02000503020000020003" pitchFamily="2" charset="0"/>
              </a:rPr>
              <a:t>Shiftline LLC</a:t>
            </a:r>
          </a:p>
        </p:txBody>
      </p:sp>
      <p:grpSp>
        <p:nvGrpSpPr>
          <p:cNvPr id="41" name="Group 40">
            <a:extLst>
              <a:ext uri="{FF2B5EF4-FFF2-40B4-BE49-F238E27FC236}">
                <a16:creationId xmlns:a16="http://schemas.microsoft.com/office/drawing/2014/main" id="{530DEF2D-A450-3367-283E-0818DB20654C}"/>
              </a:ext>
            </a:extLst>
          </p:cNvPr>
          <p:cNvGrpSpPr/>
          <p:nvPr/>
        </p:nvGrpSpPr>
        <p:grpSpPr>
          <a:xfrm>
            <a:off x="3192390" y="5392762"/>
            <a:ext cx="361756" cy="465120"/>
            <a:chOff x="693522" y="1976028"/>
            <a:chExt cx="1652448" cy="2124597"/>
          </a:xfrm>
        </p:grpSpPr>
        <p:sp>
          <p:nvSpPr>
            <p:cNvPr id="43" name="Data 7">
              <a:extLst>
                <a:ext uri="{FF2B5EF4-FFF2-40B4-BE49-F238E27FC236}">
                  <a16:creationId xmlns:a16="http://schemas.microsoft.com/office/drawing/2014/main" id="{A9459D84-6F01-DEDE-BF44-9FB60A593D5B}"/>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rgbClr val="E7E7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ata 7">
              <a:extLst>
                <a:ext uri="{FF2B5EF4-FFF2-40B4-BE49-F238E27FC236}">
                  <a16:creationId xmlns:a16="http://schemas.microsoft.com/office/drawing/2014/main" id="{A9C2F2F2-1997-2CDA-342B-E7957F72928E}"/>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Data 7">
              <a:extLst>
                <a:ext uri="{FF2B5EF4-FFF2-40B4-BE49-F238E27FC236}">
                  <a16:creationId xmlns:a16="http://schemas.microsoft.com/office/drawing/2014/main" id="{C0A81096-4D6E-E803-6DD4-5DE909FEE686}"/>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sp>
        <p:nvSpPr>
          <p:cNvPr id="42" name="TextBox 41">
            <a:extLst>
              <a:ext uri="{FF2B5EF4-FFF2-40B4-BE49-F238E27FC236}">
                <a16:creationId xmlns:a16="http://schemas.microsoft.com/office/drawing/2014/main" id="{CD1846F1-C27C-6E70-037C-3B570BD9008D}"/>
              </a:ext>
            </a:extLst>
          </p:cNvPr>
          <p:cNvSpPr txBox="1"/>
          <p:nvPr/>
        </p:nvSpPr>
        <p:spPr>
          <a:xfrm>
            <a:off x="3617180" y="5396217"/>
            <a:ext cx="1757065" cy="523220"/>
          </a:xfrm>
          <a:prstGeom prst="rect">
            <a:avLst/>
          </a:prstGeom>
          <a:noFill/>
        </p:spPr>
        <p:txBody>
          <a:bodyPr wrap="square" rtlCol="0">
            <a:spAutoFit/>
          </a:bodyPr>
          <a:lstStyle/>
          <a:p>
            <a:r>
              <a:rPr lang="en-US" sz="1400" dirty="0">
                <a:solidFill>
                  <a:schemeClr val="bg1"/>
                </a:solidFill>
                <a:latin typeface="DM Serif Display" pitchFamily="2" charset="0"/>
              </a:rPr>
              <a:t>Cursor Financial</a:t>
            </a:r>
          </a:p>
          <a:p>
            <a:r>
              <a:rPr lang="en-US" sz="1400" dirty="0">
                <a:solidFill>
                  <a:schemeClr val="bg1"/>
                </a:solidFill>
                <a:latin typeface="DM Serif Display" pitchFamily="2" charset="0"/>
              </a:rPr>
              <a:t>Consulting</a:t>
            </a:r>
          </a:p>
        </p:txBody>
      </p:sp>
      <p:sp>
        <p:nvSpPr>
          <p:cNvPr id="46" name="Freeform 45">
            <a:extLst>
              <a:ext uri="{FF2B5EF4-FFF2-40B4-BE49-F238E27FC236}">
                <a16:creationId xmlns:a16="http://schemas.microsoft.com/office/drawing/2014/main" id="{C455EF34-4303-6C4B-55F7-1AD5D42B51F9}"/>
              </a:ext>
            </a:extLst>
          </p:cNvPr>
          <p:cNvSpPr/>
          <p:nvPr/>
        </p:nvSpPr>
        <p:spPr>
          <a:xfrm rot="5400000" flipH="1" flipV="1">
            <a:off x="6801801" y="-663729"/>
            <a:ext cx="4726320" cy="6061637"/>
          </a:xfrm>
          <a:custGeom>
            <a:avLst/>
            <a:gdLst>
              <a:gd name="connsiteX0" fmla="*/ 0 w 2202090"/>
              <a:gd name="connsiteY0" fmla="*/ 6099958 h 6099958"/>
              <a:gd name="connsiteX1" fmla="*/ 0 w 2202090"/>
              <a:gd name="connsiteY1" fmla="*/ 0 h 6099958"/>
              <a:gd name="connsiteX2" fmla="*/ 2202090 w 2202090"/>
              <a:gd name="connsiteY2" fmla="*/ 749125 h 6099958"/>
              <a:gd name="connsiteX3" fmla="*/ 2202090 w 2202090"/>
              <a:gd name="connsiteY3" fmla="*/ 6099958 h 6099958"/>
              <a:gd name="connsiteX4" fmla="*/ 0 w 2202090"/>
              <a:gd name="connsiteY4" fmla="*/ 6099958 h 6099958"/>
              <a:gd name="connsiteX0" fmla="*/ 0 w 2202090"/>
              <a:gd name="connsiteY0" fmla="*/ 6099958 h 6099958"/>
              <a:gd name="connsiteX1" fmla="*/ 0 w 2202090"/>
              <a:gd name="connsiteY1" fmla="*/ 0 h 6099958"/>
              <a:gd name="connsiteX2" fmla="*/ 2202090 w 2202090"/>
              <a:gd name="connsiteY2" fmla="*/ 749125 h 6099958"/>
              <a:gd name="connsiteX3" fmla="*/ 2190867 w 2202090"/>
              <a:gd name="connsiteY3" fmla="*/ 2676930 h 6099958"/>
              <a:gd name="connsiteX4" fmla="*/ 0 w 2202090"/>
              <a:gd name="connsiteY4" fmla="*/ 6099958 h 6099958"/>
              <a:gd name="connsiteX0" fmla="*/ 0 w 2202090"/>
              <a:gd name="connsiteY0" fmla="*/ 2720123 h 2720123"/>
              <a:gd name="connsiteX1" fmla="*/ 0 w 2202090"/>
              <a:gd name="connsiteY1" fmla="*/ 0 h 2720123"/>
              <a:gd name="connsiteX2" fmla="*/ 2202090 w 2202090"/>
              <a:gd name="connsiteY2" fmla="*/ 749125 h 2720123"/>
              <a:gd name="connsiteX3" fmla="*/ 2190867 w 2202090"/>
              <a:gd name="connsiteY3" fmla="*/ 2676930 h 2720123"/>
              <a:gd name="connsiteX4" fmla="*/ 0 w 2202090"/>
              <a:gd name="connsiteY4" fmla="*/ 2720123 h 2720123"/>
              <a:gd name="connsiteX0" fmla="*/ 0 w 2204299"/>
              <a:gd name="connsiteY0" fmla="*/ 2720123 h 2720123"/>
              <a:gd name="connsiteX1" fmla="*/ 0 w 2204299"/>
              <a:gd name="connsiteY1" fmla="*/ 0 h 2720123"/>
              <a:gd name="connsiteX2" fmla="*/ 2202090 w 2204299"/>
              <a:gd name="connsiteY2" fmla="*/ 749125 h 2720123"/>
              <a:gd name="connsiteX3" fmla="*/ 2204299 w 2204299"/>
              <a:gd name="connsiteY3" fmla="*/ 2715703 h 2720123"/>
              <a:gd name="connsiteX4" fmla="*/ 0 w 2204299"/>
              <a:gd name="connsiteY4" fmla="*/ 2720123 h 2720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4299" h="2720123">
                <a:moveTo>
                  <a:pt x="0" y="2720123"/>
                </a:moveTo>
                <a:lnTo>
                  <a:pt x="0" y="0"/>
                </a:lnTo>
                <a:lnTo>
                  <a:pt x="2202090" y="749125"/>
                </a:lnTo>
                <a:cubicBezTo>
                  <a:pt x="2202826" y="1404651"/>
                  <a:pt x="2203563" y="2060177"/>
                  <a:pt x="2204299" y="2715703"/>
                </a:cubicBezTo>
                <a:lnTo>
                  <a:pt x="0" y="2720123"/>
                </a:lnTo>
                <a:close/>
              </a:path>
            </a:pathLst>
          </a:custGeom>
          <a:blipFill dpi="0" rotWithShape="0">
            <a:blip r:embed="rId3" cstate="hqprint">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3F42D6A7-F11B-AE09-0C86-F660A99F9322}"/>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7</a:t>
            </a:r>
          </a:p>
        </p:txBody>
      </p:sp>
      <p:cxnSp>
        <p:nvCxnSpPr>
          <p:cNvPr id="7" name="Straight Connector 6">
            <a:extLst>
              <a:ext uri="{FF2B5EF4-FFF2-40B4-BE49-F238E27FC236}">
                <a16:creationId xmlns:a16="http://schemas.microsoft.com/office/drawing/2014/main" id="{40FA08AF-D829-F783-D8BA-38248DD3A348}"/>
              </a:ext>
            </a:extLst>
          </p:cNvPr>
          <p:cNvCxnSpPr>
            <a:cxnSpLocks/>
          </p:cNvCxnSpPr>
          <p:nvPr/>
        </p:nvCxnSpPr>
        <p:spPr>
          <a:xfrm>
            <a:off x="532797" y="6389164"/>
            <a:ext cx="10175308" cy="0"/>
          </a:xfrm>
          <a:prstGeom prst="line">
            <a:avLst/>
          </a:prstGeom>
          <a:ln w="9525">
            <a:solidFill>
              <a:srgbClr val="ADD0B1">
                <a:alpha val="75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4723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7E7DB"/>
        </a:solidFill>
        <a:effectLst/>
      </p:bgPr>
    </p:bg>
    <p:spTree>
      <p:nvGrpSpPr>
        <p:cNvPr id="1" name="">
          <a:extLst>
            <a:ext uri="{FF2B5EF4-FFF2-40B4-BE49-F238E27FC236}">
              <a16:creationId xmlns:a16="http://schemas.microsoft.com/office/drawing/2014/main" id="{CF8C3DB9-57BB-32BB-68ED-6532662FDAED}"/>
            </a:ext>
          </a:extLst>
        </p:cNvPr>
        <p:cNvGrpSpPr/>
        <p:nvPr/>
      </p:nvGrpSpPr>
      <p:grpSpPr>
        <a:xfrm>
          <a:off x="0" y="0"/>
          <a:ext cx="0" cy="0"/>
          <a:chOff x="0" y="0"/>
          <a:chExt cx="0" cy="0"/>
        </a:xfrm>
      </p:grpSpPr>
      <p:sp>
        <p:nvSpPr>
          <p:cNvPr id="23" name="Freeform 22">
            <a:extLst>
              <a:ext uri="{FF2B5EF4-FFF2-40B4-BE49-F238E27FC236}">
                <a16:creationId xmlns:a16="http://schemas.microsoft.com/office/drawing/2014/main" id="{9EB3DD08-B5F2-1DE7-F05E-46D0D969F3DF}"/>
              </a:ext>
            </a:extLst>
          </p:cNvPr>
          <p:cNvSpPr/>
          <p:nvPr/>
        </p:nvSpPr>
        <p:spPr>
          <a:xfrm flipH="1">
            <a:off x="0" y="0"/>
            <a:ext cx="6526812" cy="6392011"/>
          </a:xfrm>
          <a:custGeom>
            <a:avLst/>
            <a:gdLst>
              <a:gd name="connsiteX0" fmla="*/ 6526812 w 6526812"/>
              <a:gd name="connsiteY0" fmla="*/ 0 h 6392011"/>
              <a:gd name="connsiteX1" fmla="*/ 2057328 w 6526812"/>
              <a:gd name="connsiteY1" fmla="*/ 0 h 6392011"/>
              <a:gd name="connsiteX2" fmla="*/ 0 w 6526812"/>
              <a:gd name="connsiteY2" fmla="*/ 6392011 h 6392011"/>
              <a:gd name="connsiteX3" fmla="*/ 4626429 w 6526812"/>
              <a:gd name="connsiteY3" fmla="*/ 6392011 h 6392011"/>
              <a:gd name="connsiteX4" fmla="*/ 6526812 w 6526812"/>
              <a:gd name="connsiteY4" fmla="*/ 487623 h 6392011"/>
              <a:gd name="connsiteX5" fmla="*/ 6526812 w 6526812"/>
              <a:gd name="connsiteY5" fmla="*/ 0 h 6392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812" h="6392011">
                <a:moveTo>
                  <a:pt x="6526812" y="0"/>
                </a:moveTo>
                <a:lnTo>
                  <a:pt x="2057328" y="0"/>
                </a:lnTo>
                <a:lnTo>
                  <a:pt x="0" y="6392011"/>
                </a:lnTo>
                <a:lnTo>
                  <a:pt x="4626429" y="6392011"/>
                </a:lnTo>
                <a:lnTo>
                  <a:pt x="6526812" y="487623"/>
                </a:lnTo>
                <a:lnTo>
                  <a:pt x="6526812" y="0"/>
                </a:lnTo>
                <a:close/>
              </a:path>
            </a:pathLst>
          </a:custGeom>
          <a:blipFill dpi="0" rotWithShape="0">
            <a:blip r:embed="rId3" cstate="hqprint">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3BB5DE6-13C6-A194-ECB8-966A5A0AC886}"/>
              </a:ext>
            </a:extLst>
          </p:cNvPr>
          <p:cNvSpPr>
            <a:spLocks noGrp="1"/>
          </p:cNvSpPr>
          <p:nvPr>
            <p:ph type="title"/>
          </p:nvPr>
        </p:nvSpPr>
        <p:spPr>
          <a:xfrm>
            <a:off x="1137261" y="588950"/>
            <a:ext cx="10515600" cy="732695"/>
          </a:xfrm>
        </p:spPr>
        <p:txBody>
          <a:bodyPr>
            <a:normAutofit/>
          </a:bodyPr>
          <a:lstStyle/>
          <a:p>
            <a:pPr algn="r"/>
            <a:r>
              <a:rPr lang="en-US" dirty="0">
                <a:latin typeface="DM Serif Display" pitchFamily="2" charset="0"/>
              </a:rPr>
              <a:t>Benchmarking Dashboard</a:t>
            </a:r>
          </a:p>
        </p:txBody>
      </p:sp>
      <p:sp>
        <p:nvSpPr>
          <p:cNvPr id="62" name="Data 7">
            <a:extLst>
              <a:ext uri="{FF2B5EF4-FFF2-40B4-BE49-F238E27FC236}">
                <a16:creationId xmlns:a16="http://schemas.microsoft.com/office/drawing/2014/main" id="{A1911EDD-7E14-663D-0266-78E50A16F6BB}"/>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ata 7">
            <a:extLst>
              <a:ext uri="{FF2B5EF4-FFF2-40B4-BE49-F238E27FC236}">
                <a16:creationId xmlns:a16="http://schemas.microsoft.com/office/drawing/2014/main" id="{EF86769A-A616-297C-2DD6-A3A90FA32F62}"/>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66" name="Data 7">
            <a:extLst>
              <a:ext uri="{FF2B5EF4-FFF2-40B4-BE49-F238E27FC236}">
                <a16:creationId xmlns:a16="http://schemas.microsoft.com/office/drawing/2014/main" id="{5FEA8BAF-FF63-807E-E2F0-FDCA7DCA702B}"/>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nvGrpSpPr>
          <p:cNvPr id="74" name="Group 73">
            <a:extLst>
              <a:ext uri="{FF2B5EF4-FFF2-40B4-BE49-F238E27FC236}">
                <a16:creationId xmlns:a16="http://schemas.microsoft.com/office/drawing/2014/main" id="{537EFC18-64E0-5514-3C10-AA519291F56B}"/>
              </a:ext>
            </a:extLst>
          </p:cNvPr>
          <p:cNvGrpSpPr/>
          <p:nvPr/>
        </p:nvGrpSpPr>
        <p:grpSpPr>
          <a:xfrm>
            <a:off x="532797" y="6015616"/>
            <a:ext cx="1233612" cy="371440"/>
            <a:chOff x="820922" y="6015616"/>
            <a:chExt cx="1233612" cy="371440"/>
          </a:xfrm>
        </p:grpSpPr>
        <p:sp>
          <p:nvSpPr>
            <p:cNvPr id="69" name="TextBox 68">
              <a:extLst>
                <a:ext uri="{FF2B5EF4-FFF2-40B4-BE49-F238E27FC236}">
                  <a16:creationId xmlns:a16="http://schemas.microsoft.com/office/drawing/2014/main" id="{BD7615F3-11D6-6D43-813C-FDB57DBC9329}"/>
                </a:ext>
              </a:extLst>
            </p:cNvPr>
            <p:cNvSpPr txBox="1"/>
            <p:nvPr/>
          </p:nvSpPr>
          <p:spPr>
            <a:xfrm>
              <a:off x="1023483" y="6017724"/>
              <a:ext cx="1031051" cy="369332"/>
            </a:xfrm>
            <a:prstGeom prst="rect">
              <a:avLst/>
            </a:prstGeom>
            <a:noFill/>
          </p:spPr>
          <p:txBody>
            <a:bodyPr wrap="none" rtlCol="0">
              <a:spAutoFit/>
            </a:bodyPr>
            <a:lstStyle/>
            <a:p>
              <a:r>
                <a:rPr lang="en-US" sz="900" dirty="0">
                  <a:solidFill>
                    <a:schemeClr val="bg2">
                      <a:lumMod val="50000"/>
                    </a:schemeClr>
                  </a:solidFill>
                  <a:latin typeface="DM Serif Display" pitchFamily="2" charset="0"/>
                </a:rPr>
                <a:t>Cursor Financial</a:t>
              </a:r>
            </a:p>
            <a:p>
              <a:r>
                <a:rPr lang="en-US" sz="900" dirty="0">
                  <a:solidFill>
                    <a:schemeClr val="bg2">
                      <a:lumMod val="50000"/>
                    </a:schemeClr>
                  </a:solidFill>
                  <a:latin typeface="DM Serif Display" pitchFamily="2" charset="0"/>
                </a:rPr>
                <a:t>Consulting</a:t>
              </a:r>
            </a:p>
          </p:txBody>
        </p:sp>
        <p:grpSp>
          <p:nvGrpSpPr>
            <p:cNvPr id="70" name="Group 69">
              <a:extLst>
                <a:ext uri="{FF2B5EF4-FFF2-40B4-BE49-F238E27FC236}">
                  <a16:creationId xmlns:a16="http://schemas.microsoft.com/office/drawing/2014/main" id="{A0451959-4F71-9125-65A3-3EBF3210C275}"/>
                </a:ext>
              </a:extLst>
            </p:cNvPr>
            <p:cNvGrpSpPr/>
            <p:nvPr/>
          </p:nvGrpSpPr>
          <p:grpSpPr>
            <a:xfrm>
              <a:off x="820922" y="6015616"/>
              <a:ext cx="271596" cy="349198"/>
              <a:chOff x="693522" y="1976028"/>
              <a:chExt cx="1652448" cy="2124597"/>
            </a:xfrm>
          </p:grpSpPr>
          <p:sp>
            <p:nvSpPr>
              <p:cNvPr id="71" name="Data 7">
                <a:extLst>
                  <a:ext uri="{FF2B5EF4-FFF2-40B4-BE49-F238E27FC236}">
                    <a16:creationId xmlns:a16="http://schemas.microsoft.com/office/drawing/2014/main" id="{94C732E1-E49E-56FF-121E-1E6B15F64ED1}"/>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Data 7">
                <a:extLst>
                  <a:ext uri="{FF2B5EF4-FFF2-40B4-BE49-F238E27FC236}">
                    <a16:creationId xmlns:a16="http://schemas.microsoft.com/office/drawing/2014/main" id="{9E899804-0123-03AD-CCD4-5A7A163959CD}"/>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993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Data 7">
                <a:extLst>
                  <a:ext uri="{FF2B5EF4-FFF2-40B4-BE49-F238E27FC236}">
                    <a16:creationId xmlns:a16="http://schemas.microsoft.com/office/drawing/2014/main" id="{EBFFDA79-A64D-ABF8-D396-28ECE38EC4AB}"/>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593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grpSp>
      <p:sp>
        <p:nvSpPr>
          <p:cNvPr id="4" name="Rectangle 3">
            <a:extLst>
              <a:ext uri="{FF2B5EF4-FFF2-40B4-BE49-F238E27FC236}">
                <a16:creationId xmlns:a16="http://schemas.microsoft.com/office/drawing/2014/main" id="{298DC951-F827-14B8-B9C7-03869B7B8835}"/>
              </a:ext>
            </a:extLst>
          </p:cNvPr>
          <p:cNvSpPr/>
          <p:nvPr/>
        </p:nvSpPr>
        <p:spPr>
          <a:xfrm>
            <a:off x="2394158" y="1415635"/>
            <a:ext cx="9127982" cy="43647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3AE0B9C-4AA4-4638-C046-906C901C7446}"/>
              </a:ext>
            </a:extLst>
          </p:cNvPr>
          <p:cNvSpPr txBox="1"/>
          <p:nvPr/>
        </p:nvSpPr>
        <p:spPr>
          <a:xfrm>
            <a:off x="2635754" y="1702517"/>
            <a:ext cx="2653186" cy="369332"/>
          </a:xfrm>
          <a:prstGeom prst="rect">
            <a:avLst/>
          </a:prstGeom>
          <a:noFill/>
        </p:spPr>
        <p:txBody>
          <a:bodyPr wrap="square" rtlCol="0">
            <a:spAutoFit/>
          </a:bodyPr>
          <a:lstStyle/>
          <a:p>
            <a:r>
              <a:rPr lang="en-GB" dirty="0">
                <a:latin typeface="DM Serif Display" pitchFamily="2" charset="0"/>
              </a:rPr>
              <a:t>Operational Efficiency</a:t>
            </a:r>
            <a:endParaRPr lang="en-US" dirty="0">
              <a:latin typeface="DM Serif Display" pitchFamily="2" charset="0"/>
            </a:endParaRPr>
          </a:p>
        </p:txBody>
      </p:sp>
      <p:sp>
        <p:nvSpPr>
          <p:cNvPr id="48" name="TextBox 47">
            <a:extLst>
              <a:ext uri="{FF2B5EF4-FFF2-40B4-BE49-F238E27FC236}">
                <a16:creationId xmlns:a16="http://schemas.microsoft.com/office/drawing/2014/main" id="{F8C61F3A-E4A4-0EB9-B9C9-20C640F0382B}"/>
              </a:ext>
            </a:extLst>
          </p:cNvPr>
          <p:cNvSpPr txBox="1"/>
          <p:nvPr/>
        </p:nvSpPr>
        <p:spPr>
          <a:xfrm>
            <a:off x="2596688" y="4911495"/>
            <a:ext cx="2549635" cy="646331"/>
          </a:xfrm>
          <a:prstGeom prst="rect">
            <a:avLst/>
          </a:prstGeom>
          <a:noFill/>
        </p:spPr>
        <p:txBody>
          <a:bodyPr wrap="square" rtlCol="0">
            <a:spAutoFit/>
          </a:bodyPr>
          <a:lstStyle/>
          <a:p>
            <a:r>
              <a:rPr lang="en-GB" sz="1200" dirty="0">
                <a:solidFill>
                  <a:schemeClr val="bg2">
                    <a:lumMod val="50000"/>
                  </a:schemeClr>
                </a:solidFill>
                <a:latin typeface="Avenir Book" panose="02000503020000020003" pitchFamily="2" charset="0"/>
              </a:rPr>
              <a:t>Cursor clients achieve an average efficiency score of 87%, compared to the industry average of 65%.</a:t>
            </a:r>
          </a:p>
        </p:txBody>
      </p:sp>
      <p:cxnSp>
        <p:nvCxnSpPr>
          <p:cNvPr id="86" name="Straight Connector 85">
            <a:extLst>
              <a:ext uri="{FF2B5EF4-FFF2-40B4-BE49-F238E27FC236}">
                <a16:creationId xmlns:a16="http://schemas.microsoft.com/office/drawing/2014/main" id="{38665666-62E2-8E3C-6B14-29435A254824}"/>
              </a:ext>
            </a:extLst>
          </p:cNvPr>
          <p:cNvCxnSpPr>
            <a:cxnSpLocks/>
          </p:cNvCxnSpPr>
          <p:nvPr/>
        </p:nvCxnSpPr>
        <p:spPr>
          <a:xfrm>
            <a:off x="5373582" y="1702517"/>
            <a:ext cx="0" cy="3794408"/>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8" name="Chart 7">
            <a:extLst>
              <a:ext uri="{FF2B5EF4-FFF2-40B4-BE49-F238E27FC236}">
                <a16:creationId xmlns:a16="http://schemas.microsoft.com/office/drawing/2014/main" id="{F657A237-65E4-FEE7-CB6D-BCFAFF373D3C}"/>
              </a:ext>
            </a:extLst>
          </p:cNvPr>
          <p:cNvGraphicFramePr/>
          <p:nvPr>
            <p:extLst>
              <p:ext uri="{D42A27DB-BD31-4B8C-83A1-F6EECF244321}">
                <p14:modId xmlns:p14="http://schemas.microsoft.com/office/powerpoint/2010/main" val="3843929549"/>
              </p:ext>
            </p:extLst>
          </p:nvPr>
        </p:nvGraphicFramePr>
        <p:xfrm>
          <a:off x="2505315" y="1953174"/>
          <a:ext cx="2732382" cy="2979228"/>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272B50D0-0E28-5D47-4236-166CE3819BE4}"/>
              </a:ext>
            </a:extLst>
          </p:cNvPr>
          <p:cNvSpPr txBox="1"/>
          <p:nvPr/>
        </p:nvSpPr>
        <p:spPr>
          <a:xfrm>
            <a:off x="3210444" y="3021011"/>
            <a:ext cx="1289506" cy="584775"/>
          </a:xfrm>
          <a:prstGeom prst="rect">
            <a:avLst/>
          </a:prstGeom>
          <a:noFill/>
        </p:spPr>
        <p:txBody>
          <a:bodyPr wrap="square" rtlCol="0">
            <a:spAutoFit/>
          </a:bodyPr>
          <a:lstStyle/>
          <a:p>
            <a:pPr algn="ctr"/>
            <a:r>
              <a:rPr lang="en-GB" sz="1600" dirty="0">
                <a:latin typeface="Avenir Medium" panose="02000503020000020003" pitchFamily="2" charset="0"/>
              </a:rPr>
              <a:t>Efficiency Index</a:t>
            </a:r>
            <a:endParaRPr lang="en-US" sz="1600" dirty="0">
              <a:latin typeface="Avenir Medium" panose="02000503020000020003" pitchFamily="2" charset="0"/>
            </a:endParaRPr>
          </a:p>
        </p:txBody>
      </p:sp>
      <p:sp>
        <p:nvSpPr>
          <p:cNvPr id="11" name="TextBox 10">
            <a:extLst>
              <a:ext uri="{FF2B5EF4-FFF2-40B4-BE49-F238E27FC236}">
                <a16:creationId xmlns:a16="http://schemas.microsoft.com/office/drawing/2014/main" id="{025DC5C0-BFA8-774A-C727-8C4A5E37B7AE}"/>
              </a:ext>
            </a:extLst>
          </p:cNvPr>
          <p:cNvSpPr txBox="1"/>
          <p:nvPr/>
        </p:nvSpPr>
        <p:spPr>
          <a:xfrm>
            <a:off x="5647178" y="1702517"/>
            <a:ext cx="2653186" cy="369332"/>
          </a:xfrm>
          <a:prstGeom prst="rect">
            <a:avLst/>
          </a:prstGeom>
          <a:noFill/>
        </p:spPr>
        <p:txBody>
          <a:bodyPr wrap="square" rtlCol="0">
            <a:spAutoFit/>
          </a:bodyPr>
          <a:lstStyle/>
          <a:p>
            <a:r>
              <a:rPr lang="en-GB" dirty="0">
                <a:latin typeface="DM Serif Display" pitchFamily="2" charset="0"/>
              </a:rPr>
              <a:t>Automation Maturity</a:t>
            </a:r>
            <a:endParaRPr lang="en-US" dirty="0">
              <a:latin typeface="DM Serif Display" pitchFamily="2" charset="0"/>
            </a:endParaRPr>
          </a:p>
        </p:txBody>
      </p:sp>
      <p:sp>
        <p:nvSpPr>
          <p:cNvPr id="12" name="TextBox 11">
            <a:extLst>
              <a:ext uri="{FF2B5EF4-FFF2-40B4-BE49-F238E27FC236}">
                <a16:creationId xmlns:a16="http://schemas.microsoft.com/office/drawing/2014/main" id="{1AFFC96C-01A6-B4F7-B16D-B49E1D19EC3F}"/>
              </a:ext>
            </a:extLst>
          </p:cNvPr>
          <p:cNvSpPr txBox="1"/>
          <p:nvPr/>
        </p:nvSpPr>
        <p:spPr>
          <a:xfrm>
            <a:off x="5608112" y="4911495"/>
            <a:ext cx="2549635" cy="646331"/>
          </a:xfrm>
          <a:prstGeom prst="rect">
            <a:avLst/>
          </a:prstGeom>
          <a:noFill/>
        </p:spPr>
        <p:txBody>
          <a:bodyPr wrap="square" rtlCol="0">
            <a:spAutoFit/>
          </a:bodyPr>
          <a:lstStyle/>
          <a:p>
            <a:r>
              <a:rPr lang="en-GB" sz="1200" dirty="0">
                <a:solidFill>
                  <a:schemeClr val="bg2">
                    <a:lumMod val="50000"/>
                  </a:schemeClr>
                </a:solidFill>
                <a:latin typeface="Avenir Book" panose="02000503020000020003" pitchFamily="2" charset="0"/>
              </a:rPr>
              <a:t>Most clients improved automation maturity from 38% to 72% within the first year of engagement.</a:t>
            </a:r>
          </a:p>
        </p:txBody>
      </p:sp>
      <p:cxnSp>
        <p:nvCxnSpPr>
          <p:cNvPr id="13" name="Straight Connector 12">
            <a:extLst>
              <a:ext uri="{FF2B5EF4-FFF2-40B4-BE49-F238E27FC236}">
                <a16:creationId xmlns:a16="http://schemas.microsoft.com/office/drawing/2014/main" id="{4FA94987-F4A0-07B4-C532-325C71C133A5}"/>
              </a:ext>
            </a:extLst>
          </p:cNvPr>
          <p:cNvCxnSpPr>
            <a:cxnSpLocks/>
          </p:cNvCxnSpPr>
          <p:nvPr/>
        </p:nvCxnSpPr>
        <p:spPr>
          <a:xfrm>
            <a:off x="8433774" y="1702517"/>
            <a:ext cx="0" cy="3794408"/>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graphicFrame>
        <p:nvGraphicFramePr>
          <p:cNvPr id="14" name="Chart 13">
            <a:extLst>
              <a:ext uri="{FF2B5EF4-FFF2-40B4-BE49-F238E27FC236}">
                <a16:creationId xmlns:a16="http://schemas.microsoft.com/office/drawing/2014/main" id="{7EE1913C-B832-024A-762A-7F6A1F5C089C}"/>
              </a:ext>
            </a:extLst>
          </p:cNvPr>
          <p:cNvGraphicFramePr/>
          <p:nvPr>
            <p:extLst>
              <p:ext uri="{D42A27DB-BD31-4B8C-83A1-F6EECF244321}">
                <p14:modId xmlns:p14="http://schemas.microsoft.com/office/powerpoint/2010/main" val="653896488"/>
              </p:ext>
            </p:extLst>
          </p:nvPr>
        </p:nvGraphicFramePr>
        <p:xfrm>
          <a:off x="5516739" y="1953174"/>
          <a:ext cx="2732382" cy="2979228"/>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Box 14">
            <a:extLst>
              <a:ext uri="{FF2B5EF4-FFF2-40B4-BE49-F238E27FC236}">
                <a16:creationId xmlns:a16="http://schemas.microsoft.com/office/drawing/2014/main" id="{7EC60E78-F397-CF56-1CC3-8C0BEDAA6186}"/>
              </a:ext>
            </a:extLst>
          </p:cNvPr>
          <p:cNvSpPr txBox="1"/>
          <p:nvPr/>
        </p:nvSpPr>
        <p:spPr>
          <a:xfrm>
            <a:off x="6245954" y="2939427"/>
            <a:ext cx="1289506" cy="830997"/>
          </a:xfrm>
          <a:prstGeom prst="rect">
            <a:avLst/>
          </a:prstGeom>
          <a:noFill/>
        </p:spPr>
        <p:txBody>
          <a:bodyPr wrap="square" rtlCol="0">
            <a:spAutoFit/>
          </a:bodyPr>
          <a:lstStyle/>
          <a:p>
            <a:pPr algn="ctr"/>
            <a:r>
              <a:rPr lang="en-GB" sz="1600" dirty="0">
                <a:latin typeface="Avenir Medium" panose="02000503020000020003" pitchFamily="2" charset="0"/>
              </a:rPr>
              <a:t>Automation Adoption Rate</a:t>
            </a:r>
            <a:endParaRPr lang="en-US" sz="1600" dirty="0">
              <a:latin typeface="Avenir Medium" panose="02000503020000020003" pitchFamily="2" charset="0"/>
            </a:endParaRPr>
          </a:p>
        </p:txBody>
      </p:sp>
      <p:sp>
        <p:nvSpPr>
          <p:cNvPr id="16" name="TextBox 15">
            <a:extLst>
              <a:ext uri="{FF2B5EF4-FFF2-40B4-BE49-F238E27FC236}">
                <a16:creationId xmlns:a16="http://schemas.microsoft.com/office/drawing/2014/main" id="{A8D1EC4C-4ACC-0974-FCB2-BBDAAD18FA5C}"/>
              </a:ext>
            </a:extLst>
          </p:cNvPr>
          <p:cNvSpPr txBox="1"/>
          <p:nvPr/>
        </p:nvSpPr>
        <p:spPr>
          <a:xfrm>
            <a:off x="8731754" y="1702517"/>
            <a:ext cx="2653186" cy="369332"/>
          </a:xfrm>
          <a:prstGeom prst="rect">
            <a:avLst/>
          </a:prstGeom>
          <a:noFill/>
        </p:spPr>
        <p:txBody>
          <a:bodyPr wrap="square" rtlCol="0">
            <a:spAutoFit/>
          </a:bodyPr>
          <a:lstStyle/>
          <a:p>
            <a:r>
              <a:rPr lang="en-GB" dirty="0">
                <a:latin typeface="DM Serif Display" pitchFamily="2" charset="0"/>
              </a:rPr>
              <a:t>Process Stability</a:t>
            </a:r>
            <a:endParaRPr lang="en-US" dirty="0">
              <a:latin typeface="DM Serif Display" pitchFamily="2" charset="0"/>
            </a:endParaRPr>
          </a:p>
        </p:txBody>
      </p:sp>
      <p:sp>
        <p:nvSpPr>
          <p:cNvPr id="18" name="TextBox 17">
            <a:extLst>
              <a:ext uri="{FF2B5EF4-FFF2-40B4-BE49-F238E27FC236}">
                <a16:creationId xmlns:a16="http://schemas.microsoft.com/office/drawing/2014/main" id="{E1B231DE-0611-FC8D-7885-2E403343AEAB}"/>
              </a:ext>
            </a:extLst>
          </p:cNvPr>
          <p:cNvSpPr txBox="1"/>
          <p:nvPr/>
        </p:nvSpPr>
        <p:spPr>
          <a:xfrm>
            <a:off x="8692688" y="4911495"/>
            <a:ext cx="2732381" cy="646331"/>
          </a:xfrm>
          <a:prstGeom prst="rect">
            <a:avLst/>
          </a:prstGeom>
          <a:noFill/>
        </p:spPr>
        <p:txBody>
          <a:bodyPr wrap="square" rtlCol="0">
            <a:spAutoFit/>
          </a:bodyPr>
          <a:lstStyle/>
          <a:p>
            <a:r>
              <a:rPr lang="en-GB" sz="1200" dirty="0">
                <a:solidFill>
                  <a:schemeClr val="bg2">
                    <a:lumMod val="50000"/>
                  </a:schemeClr>
                </a:solidFill>
                <a:latin typeface="Avenir Book" panose="02000503020000020003" pitchFamily="2" charset="0"/>
              </a:rPr>
              <a:t>Cursor implementations increased stability to 91%, ensuring sustainable and error-free performance.</a:t>
            </a:r>
          </a:p>
        </p:txBody>
      </p:sp>
      <p:graphicFrame>
        <p:nvGraphicFramePr>
          <p:cNvPr id="19" name="Chart 18">
            <a:extLst>
              <a:ext uri="{FF2B5EF4-FFF2-40B4-BE49-F238E27FC236}">
                <a16:creationId xmlns:a16="http://schemas.microsoft.com/office/drawing/2014/main" id="{55EB1473-CEB2-0412-7CF8-1E01B61013EB}"/>
              </a:ext>
            </a:extLst>
          </p:cNvPr>
          <p:cNvGraphicFramePr/>
          <p:nvPr>
            <p:extLst>
              <p:ext uri="{D42A27DB-BD31-4B8C-83A1-F6EECF244321}">
                <p14:modId xmlns:p14="http://schemas.microsoft.com/office/powerpoint/2010/main" val="2001518892"/>
              </p:ext>
            </p:extLst>
          </p:nvPr>
        </p:nvGraphicFramePr>
        <p:xfrm>
          <a:off x="8601315" y="1953174"/>
          <a:ext cx="2732382" cy="2979228"/>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9">
            <a:extLst>
              <a:ext uri="{FF2B5EF4-FFF2-40B4-BE49-F238E27FC236}">
                <a16:creationId xmlns:a16="http://schemas.microsoft.com/office/drawing/2014/main" id="{0E41E26D-C123-F6A2-2195-81617F2C36D0}"/>
              </a:ext>
            </a:extLst>
          </p:cNvPr>
          <p:cNvSpPr txBox="1"/>
          <p:nvPr/>
        </p:nvSpPr>
        <p:spPr>
          <a:xfrm>
            <a:off x="9330530" y="2939427"/>
            <a:ext cx="1289506" cy="830997"/>
          </a:xfrm>
          <a:prstGeom prst="rect">
            <a:avLst/>
          </a:prstGeom>
          <a:noFill/>
        </p:spPr>
        <p:txBody>
          <a:bodyPr wrap="square" rtlCol="0">
            <a:spAutoFit/>
          </a:bodyPr>
          <a:lstStyle/>
          <a:p>
            <a:pPr algn="ctr"/>
            <a:r>
              <a:rPr lang="en-GB" sz="1600" dirty="0">
                <a:latin typeface="Avenir Medium" panose="02000503020000020003" pitchFamily="2" charset="0"/>
              </a:rPr>
              <a:t>Financial Process Reliability</a:t>
            </a:r>
            <a:endParaRPr lang="en-US" sz="1600" dirty="0">
              <a:latin typeface="Avenir Medium" panose="02000503020000020003" pitchFamily="2" charset="0"/>
            </a:endParaRPr>
          </a:p>
        </p:txBody>
      </p:sp>
      <p:sp>
        <p:nvSpPr>
          <p:cNvPr id="5" name="TextBox 4">
            <a:extLst>
              <a:ext uri="{FF2B5EF4-FFF2-40B4-BE49-F238E27FC236}">
                <a16:creationId xmlns:a16="http://schemas.microsoft.com/office/drawing/2014/main" id="{E7A60D5C-8428-4E05-CF4A-4BD6DEC0F3DD}"/>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8</a:t>
            </a:r>
          </a:p>
        </p:txBody>
      </p:sp>
      <p:cxnSp>
        <p:nvCxnSpPr>
          <p:cNvPr id="21" name="Straight Connector 20">
            <a:extLst>
              <a:ext uri="{FF2B5EF4-FFF2-40B4-BE49-F238E27FC236}">
                <a16:creationId xmlns:a16="http://schemas.microsoft.com/office/drawing/2014/main" id="{DF33525C-975D-2027-CE0F-18269AD7B607}"/>
              </a:ext>
            </a:extLst>
          </p:cNvPr>
          <p:cNvCxnSpPr>
            <a:cxnSpLocks/>
          </p:cNvCxnSpPr>
          <p:nvPr/>
        </p:nvCxnSpPr>
        <p:spPr>
          <a:xfrm>
            <a:off x="532797" y="6389164"/>
            <a:ext cx="10175308" cy="0"/>
          </a:xfrm>
          <a:prstGeom prst="line">
            <a:avLst/>
          </a:prstGeom>
          <a:ln w="9525">
            <a:solidFill>
              <a:srgbClr val="ADD0B1">
                <a:alpha val="75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4913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7E7DB"/>
        </a:solidFill>
        <a:effectLst/>
      </p:bgPr>
    </p:bg>
    <p:spTree>
      <p:nvGrpSpPr>
        <p:cNvPr id="1" name="">
          <a:extLst>
            <a:ext uri="{FF2B5EF4-FFF2-40B4-BE49-F238E27FC236}">
              <a16:creationId xmlns:a16="http://schemas.microsoft.com/office/drawing/2014/main" id="{6CF6C3BF-F1A4-2D24-7F9B-A6B149439849}"/>
            </a:ext>
          </a:extLst>
        </p:cNvPr>
        <p:cNvGrpSpPr/>
        <p:nvPr/>
      </p:nvGrpSpPr>
      <p:grpSpPr>
        <a:xfrm>
          <a:off x="0" y="0"/>
          <a:ext cx="0" cy="0"/>
          <a:chOff x="0" y="0"/>
          <a:chExt cx="0" cy="0"/>
        </a:xfrm>
      </p:grpSpPr>
      <p:graphicFrame>
        <p:nvGraphicFramePr>
          <p:cNvPr id="19" name="Chart 18">
            <a:extLst>
              <a:ext uri="{FF2B5EF4-FFF2-40B4-BE49-F238E27FC236}">
                <a16:creationId xmlns:a16="http://schemas.microsoft.com/office/drawing/2014/main" id="{8436828A-EF25-808C-6A43-B4AD259F4338}"/>
              </a:ext>
            </a:extLst>
          </p:cNvPr>
          <p:cNvGraphicFramePr/>
          <p:nvPr>
            <p:extLst>
              <p:ext uri="{D42A27DB-BD31-4B8C-83A1-F6EECF244321}">
                <p14:modId xmlns:p14="http://schemas.microsoft.com/office/powerpoint/2010/main" val="489805078"/>
              </p:ext>
            </p:extLst>
          </p:nvPr>
        </p:nvGraphicFramePr>
        <p:xfrm>
          <a:off x="4527176" y="671122"/>
          <a:ext cx="7240896" cy="4957275"/>
        </p:xfrm>
        <a:graphic>
          <a:graphicData uri="http://schemas.openxmlformats.org/drawingml/2006/chart">
            <c:chart xmlns:c="http://schemas.openxmlformats.org/drawingml/2006/chart" xmlns:r="http://schemas.openxmlformats.org/officeDocument/2006/relationships" r:id="rId3"/>
          </a:graphicData>
        </a:graphic>
      </p:graphicFrame>
      <p:sp>
        <p:nvSpPr>
          <p:cNvPr id="9" name="Data 7">
            <a:extLst>
              <a:ext uri="{FF2B5EF4-FFF2-40B4-BE49-F238E27FC236}">
                <a16:creationId xmlns:a16="http://schemas.microsoft.com/office/drawing/2014/main" id="{3EFCC367-0747-3457-51C5-0FA901195DB7}"/>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a 7">
            <a:extLst>
              <a:ext uri="{FF2B5EF4-FFF2-40B4-BE49-F238E27FC236}">
                <a16:creationId xmlns:a16="http://schemas.microsoft.com/office/drawing/2014/main" id="{5D3F723B-1472-AB2D-F8CA-B4365869DCB7}"/>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1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12" name="Data 7">
            <a:extLst>
              <a:ext uri="{FF2B5EF4-FFF2-40B4-BE49-F238E27FC236}">
                <a16:creationId xmlns:a16="http://schemas.microsoft.com/office/drawing/2014/main" id="{01593056-1AC0-4ABE-9C7C-22EB4930A035}"/>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3" name="Freeform 2">
            <a:extLst>
              <a:ext uri="{FF2B5EF4-FFF2-40B4-BE49-F238E27FC236}">
                <a16:creationId xmlns:a16="http://schemas.microsoft.com/office/drawing/2014/main" id="{844BAE9A-7976-6A07-2E7B-CB571CCF32A7}"/>
              </a:ext>
            </a:extLst>
          </p:cNvPr>
          <p:cNvSpPr/>
          <p:nvPr/>
        </p:nvSpPr>
        <p:spPr>
          <a:xfrm flipH="1">
            <a:off x="-4794444" y="-15177"/>
            <a:ext cx="10651732" cy="6873178"/>
          </a:xfrm>
          <a:custGeom>
            <a:avLst/>
            <a:gdLst>
              <a:gd name="connsiteX0" fmla="*/ 678766 w 3268254"/>
              <a:gd name="connsiteY0" fmla="*/ 0 h 2108886"/>
              <a:gd name="connsiteX1" fmla="*/ 3268254 w 3268254"/>
              <a:gd name="connsiteY1" fmla="*/ 0 h 2108886"/>
              <a:gd name="connsiteX2" fmla="*/ 2567719 w 3268254"/>
              <a:gd name="connsiteY2" fmla="*/ 2108886 h 2108886"/>
              <a:gd name="connsiteX3" fmla="*/ 0 w 3268254"/>
              <a:gd name="connsiteY3" fmla="*/ 2108886 h 2108886"/>
              <a:gd name="connsiteX4" fmla="*/ 678766 w 3268254"/>
              <a:gd name="connsiteY4" fmla="*/ 0 h 2108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8254" h="2108886">
                <a:moveTo>
                  <a:pt x="678766" y="0"/>
                </a:moveTo>
                <a:lnTo>
                  <a:pt x="3268254" y="0"/>
                </a:lnTo>
                <a:lnTo>
                  <a:pt x="2567719" y="2108886"/>
                </a:lnTo>
                <a:lnTo>
                  <a:pt x="0" y="2108886"/>
                </a:lnTo>
                <a:lnTo>
                  <a:pt x="678766" y="0"/>
                </a:lnTo>
                <a:close/>
              </a:path>
            </a:pathLst>
          </a:custGeom>
          <a:solidFill>
            <a:srgbClr val="19252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CD6B1CF-B5B0-664A-DE29-0C7DAAB3E084}"/>
              </a:ext>
            </a:extLst>
          </p:cNvPr>
          <p:cNvSpPr>
            <a:spLocks noGrp="1"/>
          </p:cNvSpPr>
          <p:nvPr>
            <p:ph type="title"/>
          </p:nvPr>
        </p:nvSpPr>
        <p:spPr>
          <a:xfrm>
            <a:off x="606552" y="2355328"/>
            <a:ext cx="4002024" cy="1231726"/>
          </a:xfrm>
        </p:spPr>
        <p:txBody>
          <a:bodyPr>
            <a:noAutofit/>
          </a:bodyPr>
          <a:lstStyle/>
          <a:p>
            <a:r>
              <a:rPr lang="en-GB" b="1" dirty="0">
                <a:solidFill>
                  <a:schemeClr val="bg1"/>
                </a:solidFill>
                <a:latin typeface="DM Serif Display" pitchFamily="2" charset="0"/>
              </a:rPr>
              <a:t>Financial Analysis</a:t>
            </a:r>
            <a:endParaRPr lang="en-US" b="1" dirty="0">
              <a:solidFill>
                <a:schemeClr val="bg1"/>
              </a:solidFill>
              <a:latin typeface="DM Serif Display" pitchFamily="2" charset="0"/>
            </a:endParaRPr>
          </a:p>
        </p:txBody>
      </p:sp>
      <p:sp>
        <p:nvSpPr>
          <p:cNvPr id="15" name="Content Placeholder 2">
            <a:extLst>
              <a:ext uri="{FF2B5EF4-FFF2-40B4-BE49-F238E27FC236}">
                <a16:creationId xmlns:a16="http://schemas.microsoft.com/office/drawing/2014/main" id="{CEAB9E92-B56E-C330-7025-67F00F3C7D8C}"/>
              </a:ext>
            </a:extLst>
          </p:cNvPr>
          <p:cNvSpPr txBox="1">
            <a:spLocks/>
          </p:cNvSpPr>
          <p:nvPr/>
        </p:nvSpPr>
        <p:spPr>
          <a:xfrm>
            <a:off x="606552" y="3648828"/>
            <a:ext cx="3696507" cy="13324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dirty="0">
                <a:solidFill>
                  <a:schemeClr val="bg1"/>
                </a:solidFill>
                <a:latin typeface="Avenir Book" panose="02000503020000020003" pitchFamily="2" charset="0"/>
              </a:rPr>
              <a:t>The insurance sector is experiencing rising operational pressure from increasing claim volumes, outdated systems, and evolving customer expectations.</a:t>
            </a:r>
          </a:p>
        </p:txBody>
      </p:sp>
      <p:sp>
        <p:nvSpPr>
          <p:cNvPr id="5" name="TextBox 4">
            <a:extLst>
              <a:ext uri="{FF2B5EF4-FFF2-40B4-BE49-F238E27FC236}">
                <a16:creationId xmlns:a16="http://schemas.microsoft.com/office/drawing/2014/main" id="{69777D84-11EE-5EF7-C1A5-BD14876EA2CE}"/>
              </a:ext>
            </a:extLst>
          </p:cNvPr>
          <p:cNvSpPr txBox="1"/>
          <p:nvPr/>
        </p:nvSpPr>
        <p:spPr>
          <a:xfrm>
            <a:off x="11659203" y="6393370"/>
            <a:ext cx="264816"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9</a:t>
            </a:r>
          </a:p>
        </p:txBody>
      </p:sp>
      <p:cxnSp>
        <p:nvCxnSpPr>
          <p:cNvPr id="8" name="Straight Connector 7">
            <a:extLst>
              <a:ext uri="{FF2B5EF4-FFF2-40B4-BE49-F238E27FC236}">
                <a16:creationId xmlns:a16="http://schemas.microsoft.com/office/drawing/2014/main" id="{577862AC-C7F1-E056-9A9B-8630B59C384C}"/>
              </a:ext>
            </a:extLst>
          </p:cNvPr>
          <p:cNvCxnSpPr>
            <a:cxnSpLocks/>
          </p:cNvCxnSpPr>
          <p:nvPr/>
        </p:nvCxnSpPr>
        <p:spPr>
          <a:xfrm>
            <a:off x="532797" y="6389164"/>
            <a:ext cx="10175308" cy="0"/>
          </a:xfrm>
          <a:prstGeom prst="line">
            <a:avLst/>
          </a:prstGeom>
          <a:ln w="9525">
            <a:solidFill>
              <a:srgbClr val="ADD0B1">
                <a:alpha val="75000"/>
              </a:srgbClr>
            </a:solidFill>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EA381963-CCD6-C550-6BB6-B9D03085C31E}"/>
              </a:ext>
            </a:extLst>
          </p:cNvPr>
          <p:cNvGrpSpPr/>
          <p:nvPr/>
        </p:nvGrpSpPr>
        <p:grpSpPr>
          <a:xfrm>
            <a:off x="532797" y="6015616"/>
            <a:ext cx="1233612" cy="371440"/>
            <a:chOff x="820922" y="6015616"/>
            <a:chExt cx="1233612" cy="371440"/>
          </a:xfrm>
        </p:grpSpPr>
        <p:sp>
          <p:nvSpPr>
            <p:cNvPr id="14" name="TextBox 13">
              <a:extLst>
                <a:ext uri="{FF2B5EF4-FFF2-40B4-BE49-F238E27FC236}">
                  <a16:creationId xmlns:a16="http://schemas.microsoft.com/office/drawing/2014/main" id="{F84DDD29-7103-FE5E-6628-E9B17722C79C}"/>
                </a:ext>
              </a:extLst>
            </p:cNvPr>
            <p:cNvSpPr txBox="1"/>
            <p:nvPr/>
          </p:nvSpPr>
          <p:spPr>
            <a:xfrm>
              <a:off x="1023483" y="6017724"/>
              <a:ext cx="1031051" cy="369332"/>
            </a:xfrm>
            <a:prstGeom prst="rect">
              <a:avLst/>
            </a:prstGeom>
            <a:noFill/>
          </p:spPr>
          <p:txBody>
            <a:bodyPr wrap="none" rtlCol="0">
              <a:spAutoFit/>
            </a:bodyPr>
            <a:lstStyle/>
            <a:p>
              <a:r>
                <a:rPr lang="en-US" sz="900" dirty="0">
                  <a:solidFill>
                    <a:schemeClr val="bg2">
                      <a:lumMod val="50000"/>
                    </a:schemeClr>
                  </a:solidFill>
                  <a:latin typeface="DM Serif Display" pitchFamily="2" charset="0"/>
                </a:rPr>
                <a:t>Cursor Financial</a:t>
              </a:r>
            </a:p>
            <a:p>
              <a:r>
                <a:rPr lang="en-US" sz="900" dirty="0">
                  <a:solidFill>
                    <a:schemeClr val="bg2">
                      <a:lumMod val="50000"/>
                    </a:schemeClr>
                  </a:solidFill>
                  <a:latin typeface="DM Serif Display" pitchFamily="2" charset="0"/>
                </a:rPr>
                <a:t>Consulting</a:t>
              </a:r>
            </a:p>
          </p:txBody>
        </p:sp>
        <p:grpSp>
          <p:nvGrpSpPr>
            <p:cNvPr id="16" name="Group 15">
              <a:extLst>
                <a:ext uri="{FF2B5EF4-FFF2-40B4-BE49-F238E27FC236}">
                  <a16:creationId xmlns:a16="http://schemas.microsoft.com/office/drawing/2014/main" id="{1F097A28-459F-FF25-4970-3776132CA90D}"/>
                </a:ext>
              </a:extLst>
            </p:cNvPr>
            <p:cNvGrpSpPr/>
            <p:nvPr/>
          </p:nvGrpSpPr>
          <p:grpSpPr>
            <a:xfrm>
              <a:off x="820922" y="6015616"/>
              <a:ext cx="271596" cy="349198"/>
              <a:chOff x="693522" y="1976028"/>
              <a:chExt cx="1652448" cy="2124597"/>
            </a:xfrm>
          </p:grpSpPr>
          <p:sp>
            <p:nvSpPr>
              <p:cNvPr id="17" name="Data 7">
                <a:extLst>
                  <a:ext uri="{FF2B5EF4-FFF2-40B4-BE49-F238E27FC236}">
                    <a16:creationId xmlns:a16="http://schemas.microsoft.com/office/drawing/2014/main" id="{4A472755-C5D4-E9B2-1719-A143AC624E46}"/>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a 7">
                <a:extLst>
                  <a:ext uri="{FF2B5EF4-FFF2-40B4-BE49-F238E27FC236}">
                    <a16:creationId xmlns:a16="http://schemas.microsoft.com/office/drawing/2014/main" id="{445C83CF-9D07-637F-704D-860B8B089D01}"/>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DEDAD1">
                  <a:alpha val="1993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ata 7">
                <a:extLst>
                  <a:ext uri="{FF2B5EF4-FFF2-40B4-BE49-F238E27FC236}">
                    <a16:creationId xmlns:a16="http://schemas.microsoft.com/office/drawing/2014/main" id="{401F5050-A495-0A7E-72EE-7824A5D815E1}"/>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593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grpSp>
    </p:spTree>
    <p:extLst>
      <p:ext uri="{BB962C8B-B14F-4D97-AF65-F5344CB8AC3E}">
        <p14:creationId xmlns:p14="http://schemas.microsoft.com/office/powerpoint/2010/main" val="2539360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549C87-57F9-DD6F-D6E4-65F73F939666}"/>
            </a:ext>
          </a:extLst>
        </p:cNvPr>
        <p:cNvGrpSpPr/>
        <p:nvPr/>
      </p:nvGrpSpPr>
      <p:grpSpPr>
        <a:xfrm>
          <a:off x="0" y="0"/>
          <a:ext cx="0" cy="0"/>
          <a:chOff x="0" y="0"/>
          <a:chExt cx="0" cy="0"/>
        </a:xfrm>
      </p:grpSpPr>
      <p:sp>
        <p:nvSpPr>
          <p:cNvPr id="28" name="Freeform 27">
            <a:extLst>
              <a:ext uri="{FF2B5EF4-FFF2-40B4-BE49-F238E27FC236}">
                <a16:creationId xmlns:a16="http://schemas.microsoft.com/office/drawing/2014/main" id="{B6780EBF-AE7B-DEFD-B60E-0635681AD1D9}"/>
              </a:ext>
            </a:extLst>
          </p:cNvPr>
          <p:cNvSpPr/>
          <p:nvPr/>
        </p:nvSpPr>
        <p:spPr>
          <a:xfrm rot="5400000">
            <a:off x="758446" y="2756708"/>
            <a:ext cx="1374181" cy="1593379"/>
          </a:xfrm>
          <a:custGeom>
            <a:avLst/>
            <a:gdLst>
              <a:gd name="connsiteX0" fmla="*/ 0 w 1374181"/>
              <a:gd name="connsiteY0" fmla="*/ 1107518 h 1593379"/>
              <a:gd name="connsiteX1" fmla="*/ 0 w 1374181"/>
              <a:gd name="connsiteY1" fmla="*/ 0 h 1593379"/>
              <a:gd name="connsiteX2" fmla="*/ 1374181 w 1374181"/>
              <a:gd name="connsiteY2" fmla="*/ 485861 h 1593379"/>
              <a:gd name="connsiteX3" fmla="*/ 1374181 w 1374181"/>
              <a:gd name="connsiteY3" fmla="*/ 1593379 h 1593379"/>
              <a:gd name="connsiteX4" fmla="*/ 0 w 1374181"/>
              <a:gd name="connsiteY4" fmla="*/ 1107518 h 159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4181" h="1593379">
                <a:moveTo>
                  <a:pt x="0" y="1107518"/>
                </a:moveTo>
                <a:lnTo>
                  <a:pt x="0" y="0"/>
                </a:lnTo>
                <a:lnTo>
                  <a:pt x="1374181" y="485861"/>
                </a:lnTo>
                <a:lnTo>
                  <a:pt x="1374181" y="1593379"/>
                </a:lnTo>
                <a:lnTo>
                  <a:pt x="0" y="1107518"/>
                </a:lnTo>
                <a:close/>
              </a:path>
            </a:pathLst>
          </a:custGeom>
          <a:solidFill>
            <a:srgbClr val="E7E7D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FC842AD-2542-BDA9-4E20-14FF7BB2AC87}"/>
              </a:ext>
            </a:extLst>
          </p:cNvPr>
          <p:cNvSpPr/>
          <p:nvPr/>
        </p:nvSpPr>
        <p:spPr>
          <a:xfrm rot="5400000">
            <a:off x="758446" y="4207556"/>
            <a:ext cx="1374181" cy="1593379"/>
          </a:xfrm>
          <a:custGeom>
            <a:avLst/>
            <a:gdLst>
              <a:gd name="connsiteX0" fmla="*/ 0 w 1374181"/>
              <a:gd name="connsiteY0" fmla="*/ 1107518 h 1593379"/>
              <a:gd name="connsiteX1" fmla="*/ 0 w 1374181"/>
              <a:gd name="connsiteY1" fmla="*/ 0 h 1593379"/>
              <a:gd name="connsiteX2" fmla="*/ 1374181 w 1374181"/>
              <a:gd name="connsiteY2" fmla="*/ 485861 h 1593379"/>
              <a:gd name="connsiteX3" fmla="*/ 1374181 w 1374181"/>
              <a:gd name="connsiteY3" fmla="*/ 1593379 h 1593379"/>
              <a:gd name="connsiteX4" fmla="*/ 0 w 1374181"/>
              <a:gd name="connsiteY4" fmla="*/ 1107518 h 159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4181" h="1593379">
                <a:moveTo>
                  <a:pt x="0" y="1107518"/>
                </a:moveTo>
                <a:lnTo>
                  <a:pt x="0" y="0"/>
                </a:lnTo>
                <a:lnTo>
                  <a:pt x="1374181" y="485861"/>
                </a:lnTo>
                <a:lnTo>
                  <a:pt x="1374181" y="1593379"/>
                </a:lnTo>
                <a:lnTo>
                  <a:pt x="0" y="1107518"/>
                </a:lnTo>
                <a:close/>
              </a:path>
            </a:pathLst>
          </a:custGeom>
          <a:solidFill>
            <a:srgbClr val="DEDAD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a:extLst>
              <a:ext uri="{FF2B5EF4-FFF2-40B4-BE49-F238E27FC236}">
                <a16:creationId xmlns:a16="http://schemas.microsoft.com/office/drawing/2014/main" id="{38DC650D-B876-AE3B-02D2-6BD4FABC58E7}"/>
              </a:ext>
            </a:extLst>
          </p:cNvPr>
          <p:cNvSpPr/>
          <p:nvPr/>
        </p:nvSpPr>
        <p:spPr>
          <a:xfrm rot="5400000">
            <a:off x="758446" y="1293668"/>
            <a:ext cx="1374181" cy="1593379"/>
          </a:xfrm>
          <a:custGeom>
            <a:avLst/>
            <a:gdLst>
              <a:gd name="connsiteX0" fmla="*/ 0 w 1374181"/>
              <a:gd name="connsiteY0" fmla="*/ 1107518 h 1593379"/>
              <a:gd name="connsiteX1" fmla="*/ 0 w 1374181"/>
              <a:gd name="connsiteY1" fmla="*/ 0 h 1593379"/>
              <a:gd name="connsiteX2" fmla="*/ 1374181 w 1374181"/>
              <a:gd name="connsiteY2" fmla="*/ 485861 h 1593379"/>
              <a:gd name="connsiteX3" fmla="*/ 1374181 w 1374181"/>
              <a:gd name="connsiteY3" fmla="*/ 1593379 h 1593379"/>
              <a:gd name="connsiteX4" fmla="*/ 0 w 1374181"/>
              <a:gd name="connsiteY4" fmla="*/ 1107518 h 1593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4181" h="1593379">
                <a:moveTo>
                  <a:pt x="0" y="1107518"/>
                </a:moveTo>
                <a:lnTo>
                  <a:pt x="0" y="0"/>
                </a:lnTo>
                <a:lnTo>
                  <a:pt x="1374181" y="485861"/>
                </a:lnTo>
                <a:lnTo>
                  <a:pt x="1374181" y="1593379"/>
                </a:lnTo>
                <a:lnTo>
                  <a:pt x="0" y="1107518"/>
                </a:lnTo>
                <a:close/>
              </a:path>
            </a:pathLst>
          </a:custGeom>
          <a:solidFill>
            <a:srgbClr val="BDD6B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FBB4BEEE-705C-2051-1AEF-E2EF6212F8C9}"/>
              </a:ext>
            </a:extLst>
          </p:cNvPr>
          <p:cNvSpPr/>
          <p:nvPr/>
        </p:nvSpPr>
        <p:spPr>
          <a:xfrm rot="16200000">
            <a:off x="3114223" y="114085"/>
            <a:ext cx="1374181" cy="3956258"/>
          </a:xfrm>
          <a:custGeom>
            <a:avLst/>
            <a:gdLst>
              <a:gd name="connsiteX0" fmla="*/ 0 w 2202090"/>
              <a:gd name="connsiteY0" fmla="*/ 6099958 h 6099958"/>
              <a:gd name="connsiteX1" fmla="*/ 0 w 2202090"/>
              <a:gd name="connsiteY1" fmla="*/ 0 h 6099958"/>
              <a:gd name="connsiteX2" fmla="*/ 2202090 w 2202090"/>
              <a:gd name="connsiteY2" fmla="*/ 749125 h 6099958"/>
              <a:gd name="connsiteX3" fmla="*/ 2202090 w 2202090"/>
              <a:gd name="connsiteY3" fmla="*/ 6099958 h 6099958"/>
              <a:gd name="connsiteX4" fmla="*/ 0 w 2202090"/>
              <a:gd name="connsiteY4" fmla="*/ 6099958 h 609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090" h="6099958">
                <a:moveTo>
                  <a:pt x="0" y="6099958"/>
                </a:moveTo>
                <a:lnTo>
                  <a:pt x="0" y="0"/>
                </a:lnTo>
                <a:lnTo>
                  <a:pt x="2202090" y="749125"/>
                </a:lnTo>
                <a:lnTo>
                  <a:pt x="2202090" y="6099958"/>
                </a:lnTo>
                <a:lnTo>
                  <a:pt x="0" y="6099958"/>
                </a:lnTo>
                <a:close/>
              </a:path>
            </a:pathLst>
          </a:custGeom>
          <a:solidFill>
            <a:srgbClr val="15626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36A6407-5659-A4E4-F743-8D1FD1C2E55C}"/>
              </a:ext>
            </a:extLst>
          </p:cNvPr>
          <p:cNvSpPr>
            <a:spLocks noGrp="1"/>
          </p:cNvSpPr>
          <p:nvPr>
            <p:ph type="title"/>
          </p:nvPr>
        </p:nvSpPr>
        <p:spPr>
          <a:xfrm>
            <a:off x="580687" y="575494"/>
            <a:ext cx="10515600" cy="732695"/>
          </a:xfrm>
        </p:spPr>
        <p:txBody>
          <a:bodyPr>
            <a:normAutofit/>
          </a:bodyPr>
          <a:lstStyle/>
          <a:p>
            <a:r>
              <a:rPr lang="en-US" dirty="0">
                <a:latin typeface="DM Serif Display" pitchFamily="2" charset="0"/>
              </a:rPr>
              <a:t>Client ROI Pathway</a:t>
            </a:r>
          </a:p>
        </p:txBody>
      </p:sp>
      <p:sp>
        <p:nvSpPr>
          <p:cNvPr id="62" name="Data 7">
            <a:extLst>
              <a:ext uri="{FF2B5EF4-FFF2-40B4-BE49-F238E27FC236}">
                <a16:creationId xmlns:a16="http://schemas.microsoft.com/office/drawing/2014/main" id="{A369261E-DDDD-A8BA-D5FA-7016BBC07AD7}"/>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ata 7">
            <a:extLst>
              <a:ext uri="{FF2B5EF4-FFF2-40B4-BE49-F238E27FC236}">
                <a16:creationId xmlns:a16="http://schemas.microsoft.com/office/drawing/2014/main" id="{33C1C0A5-04DF-27C6-D088-B5795C2DAF66}"/>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66" name="Data 7">
            <a:extLst>
              <a:ext uri="{FF2B5EF4-FFF2-40B4-BE49-F238E27FC236}">
                <a16:creationId xmlns:a16="http://schemas.microsoft.com/office/drawing/2014/main" id="{9DB14B5F-647A-BD63-9BF0-22CC6A36E0A7}"/>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cxnSp>
        <p:nvCxnSpPr>
          <p:cNvPr id="68" name="Straight Connector 67">
            <a:extLst>
              <a:ext uri="{FF2B5EF4-FFF2-40B4-BE49-F238E27FC236}">
                <a16:creationId xmlns:a16="http://schemas.microsoft.com/office/drawing/2014/main" id="{2403568F-4EA9-197D-1F27-C13FE44ACCB6}"/>
              </a:ext>
            </a:extLst>
          </p:cNvPr>
          <p:cNvCxnSpPr>
            <a:cxnSpLocks/>
          </p:cNvCxnSpPr>
          <p:nvPr/>
        </p:nvCxnSpPr>
        <p:spPr>
          <a:xfrm>
            <a:off x="532797" y="6389164"/>
            <a:ext cx="10175308" cy="0"/>
          </a:xfrm>
          <a:prstGeom prst="line">
            <a:avLst/>
          </a:prstGeom>
          <a:ln w="3175">
            <a:solidFill>
              <a:srgbClr val="ADD0B1">
                <a:alpha val="75000"/>
              </a:srgbClr>
            </a:solidFill>
          </a:ln>
        </p:spPr>
        <p:style>
          <a:lnRef idx="2">
            <a:schemeClr val="accent1"/>
          </a:lnRef>
          <a:fillRef idx="0">
            <a:schemeClr val="accent1"/>
          </a:fillRef>
          <a:effectRef idx="1">
            <a:schemeClr val="accent1"/>
          </a:effectRef>
          <a:fontRef idx="minor">
            <a:schemeClr val="tx1"/>
          </a:fontRef>
        </p:style>
      </p:cxnSp>
      <p:grpSp>
        <p:nvGrpSpPr>
          <p:cNvPr id="74" name="Group 73">
            <a:extLst>
              <a:ext uri="{FF2B5EF4-FFF2-40B4-BE49-F238E27FC236}">
                <a16:creationId xmlns:a16="http://schemas.microsoft.com/office/drawing/2014/main" id="{28D2FBD7-37E5-4E05-44D9-07471AE7C921}"/>
              </a:ext>
            </a:extLst>
          </p:cNvPr>
          <p:cNvGrpSpPr/>
          <p:nvPr/>
        </p:nvGrpSpPr>
        <p:grpSpPr>
          <a:xfrm>
            <a:off x="532797" y="6015616"/>
            <a:ext cx="1233612" cy="371440"/>
            <a:chOff x="820922" y="6015616"/>
            <a:chExt cx="1233612" cy="371440"/>
          </a:xfrm>
        </p:grpSpPr>
        <p:sp>
          <p:nvSpPr>
            <p:cNvPr id="69" name="TextBox 68">
              <a:extLst>
                <a:ext uri="{FF2B5EF4-FFF2-40B4-BE49-F238E27FC236}">
                  <a16:creationId xmlns:a16="http://schemas.microsoft.com/office/drawing/2014/main" id="{C3692F68-C6E3-14CA-B436-E67BC7742356}"/>
                </a:ext>
              </a:extLst>
            </p:cNvPr>
            <p:cNvSpPr txBox="1"/>
            <p:nvPr/>
          </p:nvSpPr>
          <p:spPr>
            <a:xfrm>
              <a:off x="1023483" y="6017724"/>
              <a:ext cx="1031051" cy="369332"/>
            </a:xfrm>
            <a:prstGeom prst="rect">
              <a:avLst/>
            </a:prstGeom>
            <a:noFill/>
          </p:spPr>
          <p:txBody>
            <a:bodyPr wrap="none" rtlCol="0">
              <a:spAutoFit/>
            </a:bodyPr>
            <a:lstStyle/>
            <a:p>
              <a:r>
                <a:rPr lang="en-US" sz="900" dirty="0">
                  <a:solidFill>
                    <a:schemeClr val="bg2">
                      <a:lumMod val="50000"/>
                    </a:schemeClr>
                  </a:solidFill>
                  <a:latin typeface="DM Serif Display" pitchFamily="2" charset="0"/>
                </a:rPr>
                <a:t>Cursor Financial</a:t>
              </a:r>
            </a:p>
            <a:p>
              <a:r>
                <a:rPr lang="en-US" sz="900" dirty="0">
                  <a:solidFill>
                    <a:schemeClr val="bg2">
                      <a:lumMod val="50000"/>
                    </a:schemeClr>
                  </a:solidFill>
                  <a:latin typeface="DM Serif Display" pitchFamily="2" charset="0"/>
                </a:rPr>
                <a:t>Consulting</a:t>
              </a:r>
            </a:p>
          </p:txBody>
        </p:sp>
        <p:grpSp>
          <p:nvGrpSpPr>
            <p:cNvPr id="70" name="Group 69">
              <a:extLst>
                <a:ext uri="{FF2B5EF4-FFF2-40B4-BE49-F238E27FC236}">
                  <a16:creationId xmlns:a16="http://schemas.microsoft.com/office/drawing/2014/main" id="{4C1025BD-31AC-DECA-66AE-AFFE06F6ECC3}"/>
                </a:ext>
              </a:extLst>
            </p:cNvPr>
            <p:cNvGrpSpPr/>
            <p:nvPr/>
          </p:nvGrpSpPr>
          <p:grpSpPr>
            <a:xfrm>
              <a:off x="820922" y="6015616"/>
              <a:ext cx="271596" cy="349198"/>
              <a:chOff x="693522" y="1976028"/>
              <a:chExt cx="1652448" cy="2124597"/>
            </a:xfrm>
          </p:grpSpPr>
          <p:sp>
            <p:nvSpPr>
              <p:cNvPr id="71" name="Data 7">
                <a:extLst>
                  <a:ext uri="{FF2B5EF4-FFF2-40B4-BE49-F238E27FC236}">
                    <a16:creationId xmlns:a16="http://schemas.microsoft.com/office/drawing/2014/main" id="{6BCEFF17-E2D4-108C-E7AD-FC3907828602}"/>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Data 7">
                <a:extLst>
                  <a:ext uri="{FF2B5EF4-FFF2-40B4-BE49-F238E27FC236}">
                    <a16:creationId xmlns:a16="http://schemas.microsoft.com/office/drawing/2014/main" id="{D7F5F9BB-5A99-9AB5-77C0-6EF0169D4C17}"/>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993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Data 7">
                <a:extLst>
                  <a:ext uri="{FF2B5EF4-FFF2-40B4-BE49-F238E27FC236}">
                    <a16:creationId xmlns:a16="http://schemas.microsoft.com/office/drawing/2014/main" id="{DD5D9840-37DC-2AFE-D084-1422907F514F}"/>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593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grpSp>
      <p:sp>
        <p:nvSpPr>
          <p:cNvPr id="48" name="TextBox 47">
            <a:extLst>
              <a:ext uri="{FF2B5EF4-FFF2-40B4-BE49-F238E27FC236}">
                <a16:creationId xmlns:a16="http://schemas.microsoft.com/office/drawing/2014/main" id="{2593445E-3DAF-B7B9-6009-B7A51A450C06}"/>
              </a:ext>
            </a:extLst>
          </p:cNvPr>
          <p:cNvSpPr txBox="1"/>
          <p:nvPr/>
        </p:nvSpPr>
        <p:spPr>
          <a:xfrm>
            <a:off x="2513898" y="2036612"/>
            <a:ext cx="2339187" cy="338554"/>
          </a:xfrm>
          <a:prstGeom prst="rect">
            <a:avLst/>
          </a:prstGeom>
          <a:noFill/>
        </p:spPr>
        <p:txBody>
          <a:bodyPr wrap="square" rtlCol="0">
            <a:spAutoFit/>
          </a:bodyPr>
          <a:lstStyle/>
          <a:p>
            <a:r>
              <a:rPr lang="en-GB" sz="1600" dirty="0">
                <a:solidFill>
                  <a:srgbClr val="ADD0B1"/>
                </a:solidFill>
                <a:latin typeface="Avenir Book" panose="02000503020000020003" pitchFamily="2" charset="0"/>
              </a:rPr>
              <a:t>Identify inefficiencies</a:t>
            </a:r>
          </a:p>
        </p:txBody>
      </p:sp>
      <p:sp>
        <p:nvSpPr>
          <p:cNvPr id="50" name="TextBox 49">
            <a:extLst>
              <a:ext uri="{FF2B5EF4-FFF2-40B4-BE49-F238E27FC236}">
                <a16:creationId xmlns:a16="http://schemas.microsoft.com/office/drawing/2014/main" id="{B2BF2134-C9A2-F085-B389-021400BB5144}"/>
              </a:ext>
            </a:extLst>
          </p:cNvPr>
          <p:cNvSpPr txBox="1"/>
          <p:nvPr/>
        </p:nvSpPr>
        <p:spPr>
          <a:xfrm>
            <a:off x="2513898" y="1636502"/>
            <a:ext cx="2463706" cy="461665"/>
          </a:xfrm>
          <a:prstGeom prst="rect">
            <a:avLst/>
          </a:prstGeom>
          <a:noFill/>
        </p:spPr>
        <p:txBody>
          <a:bodyPr wrap="square" rtlCol="0">
            <a:spAutoFit/>
          </a:bodyPr>
          <a:lstStyle/>
          <a:p>
            <a:r>
              <a:rPr lang="en-GB" sz="2400" dirty="0">
                <a:solidFill>
                  <a:schemeClr val="bg1"/>
                </a:solidFill>
                <a:latin typeface="DM Serif Display" pitchFamily="2" charset="0"/>
              </a:rPr>
              <a:t>Baseline Audit</a:t>
            </a:r>
            <a:endParaRPr lang="en-US" sz="2400" dirty="0">
              <a:solidFill>
                <a:schemeClr val="bg1"/>
              </a:solidFill>
              <a:latin typeface="DM Serif Display" pitchFamily="2" charset="0"/>
            </a:endParaRPr>
          </a:p>
        </p:txBody>
      </p:sp>
      <p:sp>
        <p:nvSpPr>
          <p:cNvPr id="27" name="TextBox 26">
            <a:extLst>
              <a:ext uri="{FF2B5EF4-FFF2-40B4-BE49-F238E27FC236}">
                <a16:creationId xmlns:a16="http://schemas.microsoft.com/office/drawing/2014/main" id="{E2CC953B-8A5D-5D35-09F2-4AB5008BD81E}"/>
              </a:ext>
            </a:extLst>
          </p:cNvPr>
          <p:cNvSpPr txBox="1"/>
          <p:nvPr/>
        </p:nvSpPr>
        <p:spPr>
          <a:xfrm>
            <a:off x="4690048" y="2415873"/>
            <a:ext cx="994692" cy="276999"/>
          </a:xfrm>
          <a:prstGeom prst="rect">
            <a:avLst/>
          </a:prstGeom>
          <a:noFill/>
        </p:spPr>
        <p:txBody>
          <a:bodyPr wrap="square" rtlCol="0">
            <a:spAutoFit/>
          </a:bodyPr>
          <a:lstStyle/>
          <a:p>
            <a:pPr algn="ctr"/>
            <a:r>
              <a:rPr lang="en-GB" sz="1200" dirty="0">
                <a:solidFill>
                  <a:schemeClr val="bg1"/>
                </a:solidFill>
                <a:latin typeface="Avenir Book" panose="02000503020000020003" pitchFamily="2" charset="0"/>
              </a:rPr>
              <a:t>Week 1–3</a:t>
            </a:r>
          </a:p>
        </p:txBody>
      </p:sp>
      <p:sp>
        <p:nvSpPr>
          <p:cNvPr id="29" name="Freeform 28">
            <a:extLst>
              <a:ext uri="{FF2B5EF4-FFF2-40B4-BE49-F238E27FC236}">
                <a16:creationId xmlns:a16="http://schemas.microsoft.com/office/drawing/2014/main" id="{A7F3F3D1-1870-F590-FCAF-F73851B51EC5}"/>
              </a:ext>
            </a:extLst>
          </p:cNvPr>
          <p:cNvSpPr/>
          <p:nvPr/>
        </p:nvSpPr>
        <p:spPr>
          <a:xfrm rot="16200000">
            <a:off x="3114223" y="1577125"/>
            <a:ext cx="1374181" cy="3956258"/>
          </a:xfrm>
          <a:custGeom>
            <a:avLst/>
            <a:gdLst>
              <a:gd name="connsiteX0" fmla="*/ 0 w 2202090"/>
              <a:gd name="connsiteY0" fmla="*/ 6099958 h 6099958"/>
              <a:gd name="connsiteX1" fmla="*/ 0 w 2202090"/>
              <a:gd name="connsiteY1" fmla="*/ 0 h 6099958"/>
              <a:gd name="connsiteX2" fmla="*/ 2202090 w 2202090"/>
              <a:gd name="connsiteY2" fmla="*/ 749125 h 6099958"/>
              <a:gd name="connsiteX3" fmla="*/ 2202090 w 2202090"/>
              <a:gd name="connsiteY3" fmla="*/ 6099958 h 6099958"/>
              <a:gd name="connsiteX4" fmla="*/ 0 w 2202090"/>
              <a:gd name="connsiteY4" fmla="*/ 6099958 h 609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090" h="6099958">
                <a:moveTo>
                  <a:pt x="0" y="6099958"/>
                </a:moveTo>
                <a:lnTo>
                  <a:pt x="0" y="0"/>
                </a:lnTo>
                <a:lnTo>
                  <a:pt x="2202090" y="749125"/>
                </a:lnTo>
                <a:lnTo>
                  <a:pt x="2202090" y="6099958"/>
                </a:lnTo>
                <a:lnTo>
                  <a:pt x="0" y="6099958"/>
                </a:lnTo>
                <a:close/>
              </a:path>
            </a:pathLst>
          </a:custGeom>
          <a:solidFill>
            <a:srgbClr val="15626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TextBox 29">
            <a:extLst>
              <a:ext uri="{FF2B5EF4-FFF2-40B4-BE49-F238E27FC236}">
                <a16:creationId xmlns:a16="http://schemas.microsoft.com/office/drawing/2014/main" id="{EB48343B-C4BF-BF33-DA7C-9773F1C5A82E}"/>
              </a:ext>
            </a:extLst>
          </p:cNvPr>
          <p:cNvSpPr txBox="1"/>
          <p:nvPr/>
        </p:nvSpPr>
        <p:spPr>
          <a:xfrm>
            <a:off x="2513898" y="3499652"/>
            <a:ext cx="3170842" cy="338554"/>
          </a:xfrm>
          <a:prstGeom prst="rect">
            <a:avLst/>
          </a:prstGeom>
          <a:noFill/>
        </p:spPr>
        <p:txBody>
          <a:bodyPr wrap="square" rtlCol="0">
            <a:spAutoFit/>
          </a:bodyPr>
          <a:lstStyle/>
          <a:p>
            <a:r>
              <a:rPr lang="en-GB" sz="1600" dirty="0">
                <a:solidFill>
                  <a:srgbClr val="ADD0B1"/>
                </a:solidFill>
                <a:latin typeface="Avenir Book" panose="02000503020000020003" pitchFamily="2" charset="0"/>
              </a:rPr>
              <a:t>Apply AI to key workflows</a:t>
            </a:r>
          </a:p>
        </p:txBody>
      </p:sp>
      <p:sp>
        <p:nvSpPr>
          <p:cNvPr id="36" name="TextBox 35">
            <a:extLst>
              <a:ext uri="{FF2B5EF4-FFF2-40B4-BE49-F238E27FC236}">
                <a16:creationId xmlns:a16="http://schemas.microsoft.com/office/drawing/2014/main" id="{55B60F61-5B60-566D-49B5-DA198D52EB13}"/>
              </a:ext>
            </a:extLst>
          </p:cNvPr>
          <p:cNvSpPr txBox="1"/>
          <p:nvPr/>
        </p:nvSpPr>
        <p:spPr>
          <a:xfrm>
            <a:off x="2513898" y="3099542"/>
            <a:ext cx="2844446" cy="461665"/>
          </a:xfrm>
          <a:prstGeom prst="rect">
            <a:avLst/>
          </a:prstGeom>
          <a:noFill/>
        </p:spPr>
        <p:txBody>
          <a:bodyPr wrap="square" rtlCol="0">
            <a:spAutoFit/>
          </a:bodyPr>
          <a:lstStyle/>
          <a:p>
            <a:r>
              <a:rPr lang="en-GB" sz="2400" dirty="0">
                <a:solidFill>
                  <a:schemeClr val="bg1"/>
                </a:solidFill>
                <a:latin typeface="DM Serif Display" pitchFamily="2" charset="0"/>
              </a:rPr>
              <a:t>Automation</a:t>
            </a:r>
            <a:endParaRPr lang="en-US" sz="2400" dirty="0">
              <a:solidFill>
                <a:schemeClr val="bg1"/>
              </a:solidFill>
              <a:latin typeface="DM Serif Display" pitchFamily="2" charset="0"/>
            </a:endParaRPr>
          </a:p>
        </p:txBody>
      </p:sp>
      <p:sp>
        <p:nvSpPr>
          <p:cNvPr id="39" name="TextBox 38">
            <a:extLst>
              <a:ext uri="{FF2B5EF4-FFF2-40B4-BE49-F238E27FC236}">
                <a16:creationId xmlns:a16="http://schemas.microsoft.com/office/drawing/2014/main" id="{9C882A32-C520-5756-31A2-17DA7BB81EB0}"/>
              </a:ext>
            </a:extLst>
          </p:cNvPr>
          <p:cNvSpPr txBox="1"/>
          <p:nvPr/>
        </p:nvSpPr>
        <p:spPr>
          <a:xfrm>
            <a:off x="4690048" y="3878913"/>
            <a:ext cx="994692" cy="276999"/>
          </a:xfrm>
          <a:prstGeom prst="rect">
            <a:avLst/>
          </a:prstGeom>
          <a:noFill/>
        </p:spPr>
        <p:txBody>
          <a:bodyPr wrap="square" rtlCol="0">
            <a:spAutoFit/>
          </a:bodyPr>
          <a:lstStyle/>
          <a:p>
            <a:pPr algn="ctr"/>
            <a:r>
              <a:rPr lang="en-GB" sz="1200" dirty="0">
                <a:solidFill>
                  <a:schemeClr val="bg1"/>
                </a:solidFill>
                <a:latin typeface="Avenir Book" panose="02000503020000020003" pitchFamily="2" charset="0"/>
              </a:rPr>
              <a:t>Month 2–4</a:t>
            </a:r>
          </a:p>
        </p:txBody>
      </p:sp>
      <p:sp>
        <p:nvSpPr>
          <p:cNvPr id="41" name="Freeform 40">
            <a:extLst>
              <a:ext uri="{FF2B5EF4-FFF2-40B4-BE49-F238E27FC236}">
                <a16:creationId xmlns:a16="http://schemas.microsoft.com/office/drawing/2014/main" id="{FA247616-2760-EAE5-BC07-2CF667CD2357}"/>
              </a:ext>
            </a:extLst>
          </p:cNvPr>
          <p:cNvSpPr/>
          <p:nvPr/>
        </p:nvSpPr>
        <p:spPr>
          <a:xfrm rot="16200000">
            <a:off x="3114223" y="3027973"/>
            <a:ext cx="1374181" cy="3956258"/>
          </a:xfrm>
          <a:custGeom>
            <a:avLst/>
            <a:gdLst>
              <a:gd name="connsiteX0" fmla="*/ 0 w 2202090"/>
              <a:gd name="connsiteY0" fmla="*/ 6099958 h 6099958"/>
              <a:gd name="connsiteX1" fmla="*/ 0 w 2202090"/>
              <a:gd name="connsiteY1" fmla="*/ 0 h 6099958"/>
              <a:gd name="connsiteX2" fmla="*/ 2202090 w 2202090"/>
              <a:gd name="connsiteY2" fmla="*/ 749125 h 6099958"/>
              <a:gd name="connsiteX3" fmla="*/ 2202090 w 2202090"/>
              <a:gd name="connsiteY3" fmla="*/ 6099958 h 6099958"/>
              <a:gd name="connsiteX4" fmla="*/ 0 w 2202090"/>
              <a:gd name="connsiteY4" fmla="*/ 6099958 h 609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090" h="6099958">
                <a:moveTo>
                  <a:pt x="0" y="6099958"/>
                </a:moveTo>
                <a:lnTo>
                  <a:pt x="0" y="0"/>
                </a:lnTo>
                <a:lnTo>
                  <a:pt x="2202090" y="749125"/>
                </a:lnTo>
                <a:lnTo>
                  <a:pt x="2202090" y="6099958"/>
                </a:lnTo>
                <a:lnTo>
                  <a:pt x="0" y="6099958"/>
                </a:lnTo>
                <a:close/>
              </a:path>
            </a:pathLst>
          </a:custGeom>
          <a:solidFill>
            <a:srgbClr val="15626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TextBox 41">
            <a:extLst>
              <a:ext uri="{FF2B5EF4-FFF2-40B4-BE49-F238E27FC236}">
                <a16:creationId xmlns:a16="http://schemas.microsoft.com/office/drawing/2014/main" id="{DF13FD24-543C-782C-D09D-ABD3E839EB86}"/>
              </a:ext>
            </a:extLst>
          </p:cNvPr>
          <p:cNvSpPr txBox="1"/>
          <p:nvPr/>
        </p:nvSpPr>
        <p:spPr>
          <a:xfrm>
            <a:off x="2513898" y="4950500"/>
            <a:ext cx="2339187" cy="338554"/>
          </a:xfrm>
          <a:prstGeom prst="rect">
            <a:avLst/>
          </a:prstGeom>
          <a:noFill/>
        </p:spPr>
        <p:txBody>
          <a:bodyPr wrap="square" rtlCol="0">
            <a:spAutoFit/>
          </a:bodyPr>
          <a:lstStyle/>
          <a:p>
            <a:r>
              <a:rPr lang="en-GB" sz="1600" dirty="0">
                <a:solidFill>
                  <a:srgbClr val="ADD0B1"/>
                </a:solidFill>
                <a:latin typeface="Avenir Book" panose="02000503020000020003" pitchFamily="2" charset="0"/>
              </a:rPr>
              <a:t>Real-time KPI tracking</a:t>
            </a:r>
          </a:p>
        </p:txBody>
      </p:sp>
      <p:sp>
        <p:nvSpPr>
          <p:cNvPr id="43" name="TextBox 42">
            <a:extLst>
              <a:ext uri="{FF2B5EF4-FFF2-40B4-BE49-F238E27FC236}">
                <a16:creationId xmlns:a16="http://schemas.microsoft.com/office/drawing/2014/main" id="{76FB881E-A591-F56B-4834-28828C8CCF80}"/>
              </a:ext>
            </a:extLst>
          </p:cNvPr>
          <p:cNvSpPr txBox="1"/>
          <p:nvPr/>
        </p:nvSpPr>
        <p:spPr>
          <a:xfrm>
            <a:off x="2513898" y="4550390"/>
            <a:ext cx="2463706" cy="461665"/>
          </a:xfrm>
          <a:prstGeom prst="rect">
            <a:avLst/>
          </a:prstGeom>
          <a:noFill/>
        </p:spPr>
        <p:txBody>
          <a:bodyPr wrap="square" rtlCol="0">
            <a:spAutoFit/>
          </a:bodyPr>
          <a:lstStyle/>
          <a:p>
            <a:r>
              <a:rPr lang="en-GB" sz="2400" dirty="0">
                <a:solidFill>
                  <a:schemeClr val="bg1"/>
                </a:solidFill>
                <a:latin typeface="DM Serif Display" pitchFamily="2" charset="0"/>
              </a:rPr>
              <a:t>Performance</a:t>
            </a:r>
            <a:endParaRPr lang="en-US" sz="2400" dirty="0">
              <a:solidFill>
                <a:schemeClr val="bg1"/>
              </a:solidFill>
              <a:latin typeface="DM Serif Display" pitchFamily="2" charset="0"/>
            </a:endParaRPr>
          </a:p>
        </p:txBody>
      </p:sp>
      <p:sp>
        <p:nvSpPr>
          <p:cNvPr id="45" name="TextBox 44">
            <a:extLst>
              <a:ext uri="{FF2B5EF4-FFF2-40B4-BE49-F238E27FC236}">
                <a16:creationId xmlns:a16="http://schemas.microsoft.com/office/drawing/2014/main" id="{AD4DB09F-39D2-FDF0-D64A-B8D099EBDC88}"/>
              </a:ext>
            </a:extLst>
          </p:cNvPr>
          <p:cNvSpPr txBox="1"/>
          <p:nvPr/>
        </p:nvSpPr>
        <p:spPr>
          <a:xfrm>
            <a:off x="4690048" y="5329761"/>
            <a:ext cx="994692" cy="276999"/>
          </a:xfrm>
          <a:prstGeom prst="rect">
            <a:avLst/>
          </a:prstGeom>
          <a:noFill/>
        </p:spPr>
        <p:txBody>
          <a:bodyPr wrap="square" rtlCol="0">
            <a:spAutoFit/>
          </a:bodyPr>
          <a:lstStyle/>
          <a:p>
            <a:pPr algn="ctr"/>
            <a:r>
              <a:rPr lang="en-GB" sz="1200" dirty="0">
                <a:solidFill>
                  <a:schemeClr val="bg1"/>
                </a:solidFill>
                <a:latin typeface="Avenir Book" panose="02000503020000020003" pitchFamily="2" charset="0"/>
              </a:rPr>
              <a:t>Month 4–5</a:t>
            </a:r>
          </a:p>
        </p:txBody>
      </p:sp>
      <p:sp>
        <p:nvSpPr>
          <p:cNvPr id="46" name="TextBox 45">
            <a:extLst>
              <a:ext uri="{FF2B5EF4-FFF2-40B4-BE49-F238E27FC236}">
                <a16:creationId xmlns:a16="http://schemas.microsoft.com/office/drawing/2014/main" id="{20B7EF1C-489B-5EEC-C04E-025D49420549}"/>
              </a:ext>
            </a:extLst>
          </p:cNvPr>
          <p:cNvSpPr txBox="1"/>
          <p:nvPr/>
        </p:nvSpPr>
        <p:spPr>
          <a:xfrm>
            <a:off x="6171309" y="1338920"/>
            <a:ext cx="5371844" cy="2308324"/>
          </a:xfrm>
          <a:prstGeom prst="rect">
            <a:avLst/>
          </a:prstGeom>
          <a:noFill/>
        </p:spPr>
        <p:txBody>
          <a:bodyPr wrap="square" rtlCol="0">
            <a:spAutoFit/>
          </a:bodyPr>
          <a:lstStyle/>
          <a:p>
            <a:r>
              <a:rPr lang="en-GB" dirty="0">
                <a:latin typeface="Avenir Book" panose="02000503020000020003" pitchFamily="2" charset="0"/>
              </a:rPr>
              <a:t>Our ROI Pathway illustrates how Cursor Consulting transforms data and strategy into tangible business outcomes. Each phase delivers quantifiable progress—from identifying inefficiencies to realizing sustained financial gains. By integrating automation, forecasting models, and performance analytics, we help clients achieve measurable ROI within months, not years.</a:t>
            </a:r>
          </a:p>
        </p:txBody>
      </p:sp>
      <p:cxnSp>
        <p:nvCxnSpPr>
          <p:cNvPr id="47" name="Straight Connector 46">
            <a:extLst>
              <a:ext uri="{FF2B5EF4-FFF2-40B4-BE49-F238E27FC236}">
                <a16:creationId xmlns:a16="http://schemas.microsoft.com/office/drawing/2014/main" id="{0BFE6409-9B4E-592E-4FC0-9C4C6A5C0C61}"/>
              </a:ext>
            </a:extLst>
          </p:cNvPr>
          <p:cNvCxnSpPr>
            <a:cxnSpLocks/>
          </p:cNvCxnSpPr>
          <p:nvPr/>
        </p:nvCxnSpPr>
        <p:spPr>
          <a:xfrm>
            <a:off x="6265443" y="4445262"/>
            <a:ext cx="5155655" cy="0"/>
          </a:xfrm>
          <a:prstGeom prst="line">
            <a:avLst/>
          </a:prstGeom>
          <a:ln w="6350">
            <a:solidFill>
              <a:srgbClr val="94908C"/>
            </a:solidFill>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16E613F5-6A1E-379A-A763-610C5F9B9D88}"/>
              </a:ext>
            </a:extLst>
          </p:cNvPr>
          <p:cNvSpPr txBox="1"/>
          <p:nvPr/>
        </p:nvSpPr>
        <p:spPr>
          <a:xfrm>
            <a:off x="6269034" y="3940790"/>
            <a:ext cx="1593379" cy="461665"/>
          </a:xfrm>
          <a:prstGeom prst="rect">
            <a:avLst/>
          </a:prstGeom>
          <a:noFill/>
        </p:spPr>
        <p:txBody>
          <a:bodyPr wrap="square" rtlCol="0">
            <a:spAutoFit/>
          </a:bodyPr>
          <a:lstStyle/>
          <a:p>
            <a:r>
              <a:rPr lang="en-GB" sz="2400" dirty="0">
                <a:solidFill>
                  <a:srgbClr val="192523"/>
                </a:solidFill>
                <a:latin typeface="DM Serif Display" pitchFamily="2" charset="0"/>
              </a:rPr>
              <a:t>8.5-month</a:t>
            </a:r>
            <a:endParaRPr lang="en-US" sz="2400" dirty="0">
              <a:solidFill>
                <a:srgbClr val="192523"/>
              </a:solidFill>
              <a:latin typeface="DM Serif Display" pitchFamily="2" charset="0"/>
            </a:endParaRPr>
          </a:p>
        </p:txBody>
      </p:sp>
      <p:sp>
        <p:nvSpPr>
          <p:cNvPr id="52" name="TextBox 51">
            <a:extLst>
              <a:ext uri="{FF2B5EF4-FFF2-40B4-BE49-F238E27FC236}">
                <a16:creationId xmlns:a16="http://schemas.microsoft.com/office/drawing/2014/main" id="{0C5ED700-E22F-9D74-DD49-E915B90F94A8}"/>
              </a:ext>
            </a:extLst>
          </p:cNvPr>
          <p:cNvSpPr txBox="1"/>
          <p:nvPr/>
        </p:nvSpPr>
        <p:spPr>
          <a:xfrm>
            <a:off x="7744266" y="4036100"/>
            <a:ext cx="3170842" cy="338554"/>
          </a:xfrm>
          <a:prstGeom prst="rect">
            <a:avLst/>
          </a:prstGeom>
          <a:noFill/>
        </p:spPr>
        <p:txBody>
          <a:bodyPr wrap="square" rtlCol="0">
            <a:spAutoFit/>
          </a:bodyPr>
          <a:lstStyle/>
          <a:p>
            <a:r>
              <a:rPr lang="en-GB" sz="1600" dirty="0">
                <a:solidFill>
                  <a:srgbClr val="15626A"/>
                </a:solidFill>
                <a:latin typeface="Avenir Book" panose="02000503020000020003" pitchFamily="2" charset="0"/>
              </a:rPr>
              <a:t>average payback period</a:t>
            </a:r>
          </a:p>
        </p:txBody>
      </p:sp>
      <p:cxnSp>
        <p:nvCxnSpPr>
          <p:cNvPr id="53" name="Straight Connector 52">
            <a:extLst>
              <a:ext uri="{FF2B5EF4-FFF2-40B4-BE49-F238E27FC236}">
                <a16:creationId xmlns:a16="http://schemas.microsoft.com/office/drawing/2014/main" id="{8AF1435B-D67D-ED34-0DF0-8426F33B7D8D}"/>
              </a:ext>
            </a:extLst>
          </p:cNvPr>
          <p:cNvCxnSpPr>
            <a:cxnSpLocks/>
          </p:cNvCxnSpPr>
          <p:nvPr/>
        </p:nvCxnSpPr>
        <p:spPr>
          <a:xfrm>
            <a:off x="6265443" y="5079246"/>
            <a:ext cx="5155655" cy="0"/>
          </a:xfrm>
          <a:prstGeom prst="line">
            <a:avLst/>
          </a:prstGeom>
          <a:ln w="6350">
            <a:solidFill>
              <a:srgbClr val="94908C"/>
            </a:solidFill>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F1398E77-A657-8754-F5ED-60905DF8511F}"/>
              </a:ext>
            </a:extLst>
          </p:cNvPr>
          <p:cNvSpPr txBox="1"/>
          <p:nvPr/>
        </p:nvSpPr>
        <p:spPr>
          <a:xfrm>
            <a:off x="6269035" y="4574774"/>
            <a:ext cx="777942" cy="461665"/>
          </a:xfrm>
          <a:prstGeom prst="rect">
            <a:avLst/>
          </a:prstGeom>
          <a:noFill/>
        </p:spPr>
        <p:txBody>
          <a:bodyPr wrap="square" rtlCol="0">
            <a:spAutoFit/>
          </a:bodyPr>
          <a:lstStyle/>
          <a:p>
            <a:r>
              <a:rPr lang="en-GB" sz="2400" dirty="0">
                <a:solidFill>
                  <a:srgbClr val="192523"/>
                </a:solidFill>
                <a:latin typeface="DM Serif Display" pitchFamily="2" charset="0"/>
              </a:rPr>
              <a:t>2.6×</a:t>
            </a:r>
            <a:endParaRPr lang="en-US" sz="2400" dirty="0">
              <a:solidFill>
                <a:srgbClr val="192523"/>
              </a:solidFill>
              <a:latin typeface="DM Serif Display" pitchFamily="2" charset="0"/>
            </a:endParaRPr>
          </a:p>
        </p:txBody>
      </p:sp>
      <p:sp>
        <p:nvSpPr>
          <p:cNvPr id="55" name="TextBox 54">
            <a:extLst>
              <a:ext uri="{FF2B5EF4-FFF2-40B4-BE49-F238E27FC236}">
                <a16:creationId xmlns:a16="http://schemas.microsoft.com/office/drawing/2014/main" id="{81E3C31E-D129-15FD-25AE-BB7D22E85FA9}"/>
              </a:ext>
            </a:extLst>
          </p:cNvPr>
          <p:cNvSpPr txBox="1"/>
          <p:nvPr/>
        </p:nvSpPr>
        <p:spPr>
          <a:xfrm>
            <a:off x="7046977" y="4670084"/>
            <a:ext cx="3868131" cy="338554"/>
          </a:xfrm>
          <a:prstGeom prst="rect">
            <a:avLst/>
          </a:prstGeom>
          <a:noFill/>
        </p:spPr>
        <p:txBody>
          <a:bodyPr wrap="square" rtlCol="0">
            <a:spAutoFit/>
          </a:bodyPr>
          <a:lstStyle/>
          <a:p>
            <a:r>
              <a:rPr lang="en-GB" sz="1600" dirty="0">
                <a:solidFill>
                  <a:srgbClr val="15626A"/>
                </a:solidFill>
                <a:latin typeface="Avenir Book" panose="02000503020000020003" pitchFamily="2" charset="0"/>
              </a:rPr>
              <a:t>ROI across optimization projects</a:t>
            </a:r>
          </a:p>
        </p:txBody>
      </p:sp>
      <p:cxnSp>
        <p:nvCxnSpPr>
          <p:cNvPr id="56" name="Straight Connector 55">
            <a:extLst>
              <a:ext uri="{FF2B5EF4-FFF2-40B4-BE49-F238E27FC236}">
                <a16:creationId xmlns:a16="http://schemas.microsoft.com/office/drawing/2014/main" id="{590A4824-A272-5EB9-D7E2-8F062E6C7833}"/>
              </a:ext>
            </a:extLst>
          </p:cNvPr>
          <p:cNvCxnSpPr>
            <a:cxnSpLocks/>
          </p:cNvCxnSpPr>
          <p:nvPr/>
        </p:nvCxnSpPr>
        <p:spPr>
          <a:xfrm>
            <a:off x="6265443" y="5688846"/>
            <a:ext cx="5155655" cy="0"/>
          </a:xfrm>
          <a:prstGeom prst="line">
            <a:avLst/>
          </a:prstGeom>
          <a:ln w="6350">
            <a:solidFill>
              <a:srgbClr val="94908C"/>
            </a:solidFill>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D6E242A4-959F-90BC-7D10-3FF2A10C263B}"/>
              </a:ext>
            </a:extLst>
          </p:cNvPr>
          <p:cNvSpPr txBox="1"/>
          <p:nvPr/>
        </p:nvSpPr>
        <p:spPr>
          <a:xfrm>
            <a:off x="6269035" y="5184374"/>
            <a:ext cx="1253430" cy="461665"/>
          </a:xfrm>
          <a:prstGeom prst="rect">
            <a:avLst/>
          </a:prstGeom>
          <a:noFill/>
        </p:spPr>
        <p:txBody>
          <a:bodyPr wrap="square" rtlCol="0">
            <a:spAutoFit/>
          </a:bodyPr>
          <a:lstStyle/>
          <a:p>
            <a:r>
              <a:rPr lang="en-GB" sz="2400" dirty="0">
                <a:solidFill>
                  <a:srgbClr val="192523"/>
                </a:solidFill>
                <a:latin typeface="DM Serif Display" pitchFamily="2" charset="0"/>
              </a:rPr>
              <a:t>35–50%</a:t>
            </a:r>
            <a:endParaRPr lang="en-US" sz="2400" dirty="0">
              <a:solidFill>
                <a:srgbClr val="192523"/>
              </a:solidFill>
              <a:latin typeface="DM Serif Display" pitchFamily="2" charset="0"/>
            </a:endParaRPr>
          </a:p>
        </p:txBody>
      </p:sp>
      <p:sp>
        <p:nvSpPr>
          <p:cNvPr id="58" name="TextBox 57">
            <a:extLst>
              <a:ext uri="{FF2B5EF4-FFF2-40B4-BE49-F238E27FC236}">
                <a16:creationId xmlns:a16="http://schemas.microsoft.com/office/drawing/2014/main" id="{5439F455-24F1-CC88-690F-1842DF287763}"/>
              </a:ext>
            </a:extLst>
          </p:cNvPr>
          <p:cNvSpPr txBox="1"/>
          <p:nvPr/>
        </p:nvSpPr>
        <p:spPr>
          <a:xfrm>
            <a:off x="7522465" y="5279684"/>
            <a:ext cx="3392643" cy="338554"/>
          </a:xfrm>
          <a:prstGeom prst="rect">
            <a:avLst/>
          </a:prstGeom>
          <a:noFill/>
        </p:spPr>
        <p:txBody>
          <a:bodyPr wrap="square" rtlCol="0">
            <a:spAutoFit/>
          </a:bodyPr>
          <a:lstStyle/>
          <a:p>
            <a:r>
              <a:rPr lang="en-GB" sz="1600" dirty="0">
                <a:solidFill>
                  <a:srgbClr val="15626A"/>
                </a:solidFill>
                <a:latin typeface="Avenir Book" panose="02000503020000020003" pitchFamily="2" charset="0"/>
              </a:rPr>
              <a:t>reduction in operational costs</a:t>
            </a:r>
          </a:p>
        </p:txBody>
      </p:sp>
      <p:sp>
        <p:nvSpPr>
          <p:cNvPr id="3" name="TextBox 2">
            <a:extLst>
              <a:ext uri="{FF2B5EF4-FFF2-40B4-BE49-F238E27FC236}">
                <a16:creationId xmlns:a16="http://schemas.microsoft.com/office/drawing/2014/main" id="{906803CF-3364-5FB1-04C2-BAF43DF311FD}"/>
              </a:ext>
            </a:extLst>
          </p:cNvPr>
          <p:cNvSpPr txBox="1"/>
          <p:nvPr/>
        </p:nvSpPr>
        <p:spPr>
          <a:xfrm>
            <a:off x="11659203" y="6393370"/>
            <a:ext cx="351224" cy="276999"/>
          </a:xfrm>
          <a:prstGeom prst="rect">
            <a:avLst/>
          </a:prstGeom>
          <a:noFill/>
        </p:spPr>
        <p:txBody>
          <a:bodyPr wrap="square" rtlCol="0">
            <a:spAutoFit/>
          </a:bodyPr>
          <a:lstStyle/>
          <a:p>
            <a:r>
              <a:rPr lang="en-US" sz="1200" dirty="0">
                <a:solidFill>
                  <a:srgbClr val="192523"/>
                </a:solidFill>
                <a:latin typeface="Avenir Light" panose="020B0402020203020204" pitchFamily="34" charset="77"/>
              </a:rPr>
              <a:t>10</a:t>
            </a:r>
          </a:p>
        </p:txBody>
      </p:sp>
      <p:pic>
        <p:nvPicPr>
          <p:cNvPr id="32" name="Picture 31" descr="A diagram of a diagram&#10;&#10;AI-generated content may be incorrect.">
            <a:extLst>
              <a:ext uri="{FF2B5EF4-FFF2-40B4-BE49-F238E27FC236}">
                <a16:creationId xmlns:a16="http://schemas.microsoft.com/office/drawing/2014/main" id="{D2647053-EAA4-EC64-781F-C2587F28BB67}"/>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1059137" y="3260808"/>
            <a:ext cx="658375" cy="605055"/>
          </a:xfrm>
          <a:prstGeom prst="rect">
            <a:avLst/>
          </a:prstGeom>
        </p:spPr>
      </p:pic>
      <p:pic>
        <p:nvPicPr>
          <p:cNvPr id="33" name="Picture 32" descr="A diagram of a diagram&#10;&#10;AI-generated content may be incorrect.">
            <a:extLst>
              <a:ext uri="{FF2B5EF4-FFF2-40B4-BE49-F238E27FC236}">
                <a16:creationId xmlns:a16="http://schemas.microsoft.com/office/drawing/2014/main" id="{C301FA8D-E8DC-85EB-6F2B-E5A91B04E455}"/>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152341" y="4677936"/>
            <a:ext cx="586390" cy="532758"/>
          </a:xfrm>
          <a:prstGeom prst="rect">
            <a:avLst/>
          </a:prstGeom>
        </p:spPr>
      </p:pic>
      <p:pic>
        <p:nvPicPr>
          <p:cNvPr id="9" name="Graphic 8" descr="Magnifying glass with solid fill">
            <a:extLst>
              <a:ext uri="{FF2B5EF4-FFF2-40B4-BE49-F238E27FC236}">
                <a16:creationId xmlns:a16="http://schemas.microsoft.com/office/drawing/2014/main" id="{AE9A7797-FEE4-127C-AE47-2C88E9062F7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6200000" flipH="1">
            <a:off x="1073144" y="1712599"/>
            <a:ext cx="653423" cy="653423"/>
          </a:xfrm>
          <a:prstGeom prst="rect">
            <a:avLst/>
          </a:prstGeom>
        </p:spPr>
      </p:pic>
    </p:spTree>
    <p:extLst>
      <p:ext uri="{BB962C8B-B14F-4D97-AF65-F5344CB8AC3E}">
        <p14:creationId xmlns:p14="http://schemas.microsoft.com/office/powerpoint/2010/main" val="4198391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92523"/>
        </a:solidFill>
        <a:effectLst/>
      </p:bgPr>
    </p:bg>
    <p:spTree>
      <p:nvGrpSpPr>
        <p:cNvPr id="1" name="">
          <a:extLst>
            <a:ext uri="{FF2B5EF4-FFF2-40B4-BE49-F238E27FC236}">
              <a16:creationId xmlns:a16="http://schemas.microsoft.com/office/drawing/2014/main" id="{F56D93E7-3EC8-D0AE-6B5E-F2D96BCB67AF}"/>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30B501D7-4A04-B765-D2D3-8CE7A3EF11FC}"/>
              </a:ext>
            </a:extLst>
          </p:cNvPr>
          <p:cNvSpPr/>
          <p:nvPr/>
        </p:nvSpPr>
        <p:spPr>
          <a:xfrm flipH="1">
            <a:off x="-6456" y="-2"/>
            <a:ext cx="6526812" cy="6392011"/>
          </a:xfrm>
          <a:custGeom>
            <a:avLst/>
            <a:gdLst>
              <a:gd name="connsiteX0" fmla="*/ 2207312 w 7002630"/>
              <a:gd name="connsiteY0" fmla="*/ 0 h 6858001"/>
              <a:gd name="connsiteX1" fmla="*/ 7002630 w 7002630"/>
              <a:gd name="connsiteY1" fmla="*/ 0 h 6858001"/>
              <a:gd name="connsiteX2" fmla="*/ 7002630 w 7002630"/>
              <a:gd name="connsiteY2" fmla="*/ 1730394 h 6858001"/>
              <a:gd name="connsiteX3" fmla="*/ 5340584 w 7002630"/>
              <a:gd name="connsiteY3" fmla="*/ 6858001 h 6858001"/>
              <a:gd name="connsiteX4" fmla="*/ 0 w 7002630"/>
              <a:gd name="connsiteY4" fmla="*/ 6858001 h 6858001"/>
              <a:gd name="connsiteX5" fmla="*/ 2207312 w 7002630"/>
              <a:gd name="connsiteY5"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02630" h="6858001">
                <a:moveTo>
                  <a:pt x="2207312" y="0"/>
                </a:moveTo>
                <a:lnTo>
                  <a:pt x="7002630" y="0"/>
                </a:lnTo>
                <a:lnTo>
                  <a:pt x="7002630" y="1730394"/>
                </a:lnTo>
                <a:lnTo>
                  <a:pt x="5340584" y="6858001"/>
                </a:lnTo>
                <a:lnTo>
                  <a:pt x="0" y="6858001"/>
                </a:lnTo>
                <a:lnTo>
                  <a:pt x="2207312" y="0"/>
                </a:lnTo>
                <a:close/>
              </a:path>
            </a:pathLst>
          </a:custGeom>
          <a:blipFill dpi="0" rotWithShape="1">
            <a:blip r:embed="rId3" cstate="hqprint">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1A078B6-D2AF-26FE-E733-2172F8182947}"/>
              </a:ext>
            </a:extLst>
          </p:cNvPr>
          <p:cNvSpPr>
            <a:spLocks noGrp="1"/>
          </p:cNvSpPr>
          <p:nvPr>
            <p:ph type="title"/>
          </p:nvPr>
        </p:nvSpPr>
        <p:spPr>
          <a:xfrm>
            <a:off x="858250" y="543230"/>
            <a:ext cx="10744803" cy="732695"/>
          </a:xfrm>
        </p:spPr>
        <p:txBody>
          <a:bodyPr>
            <a:normAutofit/>
          </a:bodyPr>
          <a:lstStyle/>
          <a:p>
            <a:pPr algn="r"/>
            <a:r>
              <a:rPr lang="en-US" dirty="0">
                <a:solidFill>
                  <a:srgbClr val="FFFBEE"/>
                </a:solidFill>
                <a:latin typeface="DM Serif Display" pitchFamily="2" charset="0"/>
              </a:rPr>
              <a:t>The Cursor Advantage</a:t>
            </a:r>
          </a:p>
        </p:txBody>
      </p:sp>
      <p:sp>
        <p:nvSpPr>
          <p:cNvPr id="62" name="Data 7">
            <a:extLst>
              <a:ext uri="{FF2B5EF4-FFF2-40B4-BE49-F238E27FC236}">
                <a16:creationId xmlns:a16="http://schemas.microsoft.com/office/drawing/2014/main" id="{BBF5D217-3B40-8DBE-8234-2F5B1FCE9A3A}"/>
              </a:ext>
            </a:extLst>
          </p:cNvPr>
          <p:cNvSpPr/>
          <p:nvPr/>
        </p:nvSpPr>
        <p:spPr>
          <a:xfrm>
            <a:off x="11279785" y="5775285"/>
            <a:ext cx="488287" cy="61672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1807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Data 7">
            <a:extLst>
              <a:ext uri="{FF2B5EF4-FFF2-40B4-BE49-F238E27FC236}">
                <a16:creationId xmlns:a16="http://schemas.microsoft.com/office/drawing/2014/main" id="{7F940F1C-4312-A430-9E3F-E8080A22CB37}"/>
              </a:ext>
            </a:extLst>
          </p:cNvPr>
          <p:cNvSpPr/>
          <p:nvPr/>
        </p:nvSpPr>
        <p:spPr>
          <a:xfrm>
            <a:off x="11146259" y="5495141"/>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192523">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Data 7">
            <a:extLst>
              <a:ext uri="{FF2B5EF4-FFF2-40B4-BE49-F238E27FC236}">
                <a16:creationId xmlns:a16="http://schemas.microsoft.com/office/drawing/2014/main" id="{F819F0A0-14F9-6D6E-4779-F6737A2A405A}"/>
              </a:ext>
            </a:extLst>
          </p:cNvPr>
          <p:cNvSpPr/>
          <p:nvPr/>
        </p:nvSpPr>
        <p:spPr>
          <a:xfrm>
            <a:off x="11769447" y="5496925"/>
            <a:ext cx="422553" cy="281074"/>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sp>
        <p:nvSpPr>
          <p:cNvPr id="66" name="Data 7">
            <a:extLst>
              <a:ext uri="{FF2B5EF4-FFF2-40B4-BE49-F238E27FC236}">
                <a16:creationId xmlns:a16="http://schemas.microsoft.com/office/drawing/2014/main" id="{A9276B4C-71B0-1FE3-05A7-D364741B6D92}"/>
              </a:ext>
            </a:extLst>
          </p:cNvPr>
          <p:cNvSpPr/>
          <p:nvPr/>
        </p:nvSpPr>
        <p:spPr>
          <a:xfrm>
            <a:off x="10566437" y="6384948"/>
            <a:ext cx="711163" cy="47305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ADD0B1">
              <a:alpha val="3262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cxnSp>
        <p:nvCxnSpPr>
          <p:cNvPr id="68" name="Straight Connector 67">
            <a:extLst>
              <a:ext uri="{FF2B5EF4-FFF2-40B4-BE49-F238E27FC236}">
                <a16:creationId xmlns:a16="http://schemas.microsoft.com/office/drawing/2014/main" id="{371A4131-72AA-9354-ECEE-E7FDB58734AB}"/>
              </a:ext>
            </a:extLst>
          </p:cNvPr>
          <p:cNvCxnSpPr>
            <a:cxnSpLocks/>
          </p:cNvCxnSpPr>
          <p:nvPr/>
        </p:nvCxnSpPr>
        <p:spPr>
          <a:xfrm>
            <a:off x="532797" y="6389164"/>
            <a:ext cx="10175308" cy="0"/>
          </a:xfrm>
          <a:prstGeom prst="line">
            <a:avLst/>
          </a:prstGeom>
          <a:ln w="3175">
            <a:solidFill>
              <a:srgbClr val="ADD0B1">
                <a:alpha val="27475"/>
              </a:srgbClr>
            </a:solidFill>
          </a:ln>
        </p:spPr>
        <p:style>
          <a:lnRef idx="2">
            <a:schemeClr val="accent1"/>
          </a:lnRef>
          <a:fillRef idx="0">
            <a:schemeClr val="accent1"/>
          </a:fillRef>
          <a:effectRef idx="1">
            <a:schemeClr val="accent1"/>
          </a:effectRef>
          <a:fontRef idx="minor">
            <a:schemeClr val="tx1"/>
          </a:fontRef>
        </p:style>
      </p:cxnSp>
      <p:grpSp>
        <p:nvGrpSpPr>
          <p:cNvPr id="74" name="Group 73">
            <a:extLst>
              <a:ext uri="{FF2B5EF4-FFF2-40B4-BE49-F238E27FC236}">
                <a16:creationId xmlns:a16="http://schemas.microsoft.com/office/drawing/2014/main" id="{0F887284-5E39-DE20-F1CF-F35DC01884E5}"/>
              </a:ext>
            </a:extLst>
          </p:cNvPr>
          <p:cNvGrpSpPr/>
          <p:nvPr/>
        </p:nvGrpSpPr>
        <p:grpSpPr>
          <a:xfrm>
            <a:off x="532797" y="6015616"/>
            <a:ext cx="1233612" cy="371440"/>
            <a:chOff x="820922" y="6015616"/>
            <a:chExt cx="1233612" cy="371440"/>
          </a:xfrm>
        </p:grpSpPr>
        <p:sp>
          <p:nvSpPr>
            <p:cNvPr id="69" name="TextBox 68">
              <a:extLst>
                <a:ext uri="{FF2B5EF4-FFF2-40B4-BE49-F238E27FC236}">
                  <a16:creationId xmlns:a16="http://schemas.microsoft.com/office/drawing/2014/main" id="{A075E27C-120E-A3E1-5721-A0DDEC4EB41A}"/>
                </a:ext>
              </a:extLst>
            </p:cNvPr>
            <p:cNvSpPr txBox="1"/>
            <p:nvPr/>
          </p:nvSpPr>
          <p:spPr>
            <a:xfrm>
              <a:off x="1023483" y="6017724"/>
              <a:ext cx="1031051" cy="369332"/>
            </a:xfrm>
            <a:prstGeom prst="rect">
              <a:avLst/>
            </a:prstGeom>
            <a:noFill/>
          </p:spPr>
          <p:txBody>
            <a:bodyPr wrap="none" rtlCol="0">
              <a:spAutoFit/>
            </a:bodyPr>
            <a:lstStyle/>
            <a:p>
              <a:r>
                <a:rPr lang="en-US" sz="900" dirty="0">
                  <a:solidFill>
                    <a:schemeClr val="bg2">
                      <a:lumMod val="50000"/>
                    </a:schemeClr>
                  </a:solidFill>
                  <a:latin typeface="DM Serif Display" pitchFamily="2" charset="0"/>
                </a:rPr>
                <a:t>Cursor Financial</a:t>
              </a:r>
            </a:p>
            <a:p>
              <a:r>
                <a:rPr lang="en-US" sz="900" dirty="0">
                  <a:solidFill>
                    <a:schemeClr val="bg2">
                      <a:lumMod val="50000"/>
                    </a:schemeClr>
                  </a:solidFill>
                  <a:latin typeface="DM Serif Display" pitchFamily="2" charset="0"/>
                </a:rPr>
                <a:t>Consulting</a:t>
              </a:r>
            </a:p>
          </p:txBody>
        </p:sp>
        <p:grpSp>
          <p:nvGrpSpPr>
            <p:cNvPr id="70" name="Group 69">
              <a:extLst>
                <a:ext uri="{FF2B5EF4-FFF2-40B4-BE49-F238E27FC236}">
                  <a16:creationId xmlns:a16="http://schemas.microsoft.com/office/drawing/2014/main" id="{C3429C85-C2F6-4808-04DA-3A4109190E45}"/>
                </a:ext>
              </a:extLst>
            </p:cNvPr>
            <p:cNvGrpSpPr/>
            <p:nvPr/>
          </p:nvGrpSpPr>
          <p:grpSpPr>
            <a:xfrm>
              <a:off x="820922" y="6015616"/>
              <a:ext cx="271596" cy="349198"/>
              <a:chOff x="693522" y="1976028"/>
              <a:chExt cx="1652448" cy="2124597"/>
            </a:xfrm>
          </p:grpSpPr>
          <p:sp>
            <p:nvSpPr>
              <p:cNvPr id="71" name="Data 7">
                <a:extLst>
                  <a:ext uri="{FF2B5EF4-FFF2-40B4-BE49-F238E27FC236}">
                    <a16:creationId xmlns:a16="http://schemas.microsoft.com/office/drawing/2014/main" id="{AC997849-86DE-5F47-B5BD-A80412119E24}"/>
                  </a:ext>
                </a:extLst>
              </p:cNvPr>
              <p:cNvSpPr/>
              <p:nvPr/>
            </p:nvSpPr>
            <p:spPr>
              <a:xfrm>
                <a:off x="693522" y="2480268"/>
                <a:ext cx="884517" cy="1117176"/>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Data 7">
                <a:extLst>
                  <a:ext uri="{FF2B5EF4-FFF2-40B4-BE49-F238E27FC236}">
                    <a16:creationId xmlns:a16="http://schemas.microsoft.com/office/drawing/2014/main" id="{ADA77EA6-3562-3682-7C6C-70224E1E0DDB}"/>
                  </a:ext>
                </a:extLst>
              </p:cNvPr>
              <p:cNvSpPr/>
              <p:nvPr/>
            </p:nvSpPr>
            <p:spPr>
              <a:xfrm>
                <a:off x="1052209" y="359146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DEDAD1">
                  <a:alpha val="1993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Data 7">
                <a:extLst>
                  <a:ext uri="{FF2B5EF4-FFF2-40B4-BE49-F238E27FC236}">
                    <a16:creationId xmlns:a16="http://schemas.microsoft.com/office/drawing/2014/main" id="{2A93676F-9BB7-BDA2-11ED-EB2978027644}"/>
                  </a:ext>
                </a:extLst>
              </p:cNvPr>
              <p:cNvSpPr/>
              <p:nvPr/>
            </p:nvSpPr>
            <p:spPr>
              <a:xfrm>
                <a:off x="1580529" y="1976028"/>
                <a:ext cx="765441" cy="509157"/>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 name="connsiteX0" fmla="*/ 0 w 15139"/>
                  <a:gd name="connsiteY0" fmla="*/ 9971 h 10000"/>
                  <a:gd name="connsiteX1" fmla="*/ 4068 w 15139"/>
                  <a:gd name="connsiteY1" fmla="*/ 0 h 10000"/>
                  <a:gd name="connsiteX2" fmla="*/ 15139 w 15139"/>
                  <a:gd name="connsiteY2" fmla="*/ 9 h 10000"/>
                  <a:gd name="connsiteX3" fmla="*/ 5931 w 15139"/>
                  <a:gd name="connsiteY3" fmla="*/ 10000 h 10000"/>
                  <a:gd name="connsiteX4" fmla="*/ 0 w 15139"/>
                  <a:gd name="connsiteY4" fmla="*/ 9971 h 10000"/>
                  <a:gd name="connsiteX0" fmla="*/ 0 w 15139"/>
                  <a:gd name="connsiteY0" fmla="*/ 9971 h 10075"/>
                  <a:gd name="connsiteX1" fmla="*/ 4068 w 15139"/>
                  <a:gd name="connsiteY1" fmla="*/ 0 h 10075"/>
                  <a:gd name="connsiteX2" fmla="*/ 15139 w 15139"/>
                  <a:gd name="connsiteY2" fmla="*/ 9 h 10075"/>
                  <a:gd name="connsiteX3" fmla="*/ 11034 w 15139"/>
                  <a:gd name="connsiteY3" fmla="*/ 10075 h 10075"/>
                  <a:gd name="connsiteX4" fmla="*/ 0 w 15139"/>
                  <a:gd name="connsiteY4" fmla="*/ 9971 h 10075"/>
                  <a:gd name="connsiteX0" fmla="*/ 0 w 19302"/>
                  <a:gd name="connsiteY0" fmla="*/ 10025 h 10129"/>
                  <a:gd name="connsiteX1" fmla="*/ 4068 w 19302"/>
                  <a:gd name="connsiteY1" fmla="*/ 54 h 10129"/>
                  <a:gd name="connsiteX2" fmla="*/ 19302 w 19302"/>
                  <a:gd name="connsiteY2" fmla="*/ 0 h 10129"/>
                  <a:gd name="connsiteX3" fmla="*/ 11034 w 19302"/>
                  <a:gd name="connsiteY3" fmla="*/ 10129 h 10129"/>
                  <a:gd name="connsiteX4" fmla="*/ 0 w 19302"/>
                  <a:gd name="connsiteY4" fmla="*/ 10025 h 10129"/>
                  <a:gd name="connsiteX0" fmla="*/ 0 w 19302"/>
                  <a:gd name="connsiteY0" fmla="*/ 10025 h 10129"/>
                  <a:gd name="connsiteX1" fmla="*/ 4068 w 19302"/>
                  <a:gd name="connsiteY1" fmla="*/ 54 h 10129"/>
                  <a:gd name="connsiteX2" fmla="*/ 19302 w 19302"/>
                  <a:gd name="connsiteY2" fmla="*/ 0 h 10129"/>
                  <a:gd name="connsiteX3" fmla="*/ 15037 w 19302"/>
                  <a:gd name="connsiteY3" fmla="*/ 10129 h 10129"/>
                  <a:gd name="connsiteX4" fmla="*/ 0 w 19302"/>
                  <a:gd name="connsiteY4" fmla="*/ 10025 h 10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 h="10129">
                    <a:moveTo>
                      <a:pt x="0" y="10025"/>
                    </a:moveTo>
                    <a:lnTo>
                      <a:pt x="4068" y="54"/>
                    </a:lnTo>
                    <a:lnTo>
                      <a:pt x="19302" y="0"/>
                    </a:lnTo>
                    <a:lnTo>
                      <a:pt x="15037" y="10129"/>
                    </a:lnTo>
                    <a:lnTo>
                      <a:pt x="0" y="10025"/>
                    </a:lnTo>
                    <a:close/>
                  </a:path>
                </a:pathLst>
              </a:custGeom>
              <a:solidFill>
                <a:srgbClr val="72DBAF">
                  <a:alpha val="3593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2DBAF"/>
                  </a:solidFill>
                </a:endParaRPr>
              </a:p>
            </p:txBody>
          </p:sp>
        </p:grpSp>
      </p:grpSp>
      <p:sp>
        <p:nvSpPr>
          <p:cNvPr id="4" name="Rectangle 3">
            <a:extLst>
              <a:ext uri="{FF2B5EF4-FFF2-40B4-BE49-F238E27FC236}">
                <a16:creationId xmlns:a16="http://schemas.microsoft.com/office/drawing/2014/main" id="{AB5484C6-7AFC-9BF9-30A9-5620D77ED350}"/>
              </a:ext>
            </a:extLst>
          </p:cNvPr>
          <p:cNvSpPr/>
          <p:nvPr/>
        </p:nvSpPr>
        <p:spPr>
          <a:xfrm>
            <a:off x="2149618" y="1955804"/>
            <a:ext cx="9356994" cy="3183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8207A27-2D0D-F675-C6C9-B2BE5D101D08}"/>
              </a:ext>
            </a:extLst>
          </p:cNvPr>
          <p:cNvSpPr txBox="1"/>
          <p:nvPr/>
        </p:nvSpPr>
        <p:spPr>
          <a:xfrm>
            <a:off x="2391214" y="3633578"/>
            <a:ext cx="2445218" cy="1015663"/>
          </a:xfrm>
          <a:prstGeom prst="rect">
            <a:avLst/>
          </a:prstGeom>
          <a:noFill/>
        </p:spPr>
        <p:txBody>
          <a:bodyPr wrap="square" rtlCol="0">
            <a:spAutoFit/>
          </a:bodyPr>
          <a:lstStyle/>
          <a:p>
            <a:r>
              <a:rPr lang="en-GB" sz="1200" dirty="0">
                <a:latin typeface="Avenir Book" panose="02000503020000020003" pitchFamily="2" charset="0"/>
              </a:rPr>
              <a:t>Our advisory approach combines financial analytics with predictive </a:t>
            </a:r>
            <a:r>
              <a:rPr lang="en-GB" sz="1200" dirty="0" err="1">
                <a:latin typeface="Avenir Book" panose="02000503020000020003" pitchFamily="2" charset="0"/>
              </a:rPr>
              <a:t>modeling</a:t>
            </a:r>
            <a:r>
              <a:rPr lang="en-GB" sz="1200" dirty="0">
                <a:latin typeface="Avenir Book" panose="02000503020000020003" pitchFamily="2" charset="0"/>
              </a:rPr>
              <a:t> to ensure every decision is backed by quantifiable data.</a:t>
            </a:r>
          </a:p>
        </p:txBody>
      </p:sp>
      <p:sp>
        <p:nvSpPr>
          <p:cNvPr id="6" name="TextBox 5">
            <a:extLst>
              <a:ext uri="{FF2B5EF4-FFF2-40B4-BE49-F238E27FC236}">
                <a16:creationId xmlns:a16="http://schemas.microsoft.com/office/drawing/2014/main" id="{236E379A-B06C-952B-7B2A-BA59E7799C39}"/>
              </a:ext>
            </a:extLst>
          </p:cNvPr>
          <p:cNvSpPr txBox="1"/>
          <p:nvPr/>
        </p:nvSpPr>
        <p:spPr>
          <a:xfrm>
            <a:off x="2391214" y="3003306"/>
            <a:ext cx="1693273" cy="461665"/>
          </a:xfrm>
          <a:prstGeom prst="rect">
            <a:avLst/>
          </a:prstGeom>
          <a:noFill/>
        </p:spPr>
        <p:txBody>
          <a:bodyPr wrap="square" rtlCol="0">
            <a:spAutoFit/>
          </a:bodyPr>
          <a:lstStyle/>
          <a:p>
            <a:r>
              <a:rPr lang="en-GB" sz="2400" dirty="0">
                <a:latin typeface="DM Serif Display" pitchFamily="2" charset="0"/>
              </a:rPr>
              <a:t>Precision</a:t>
            </a:r>
            <a:endParaRPr lang="en-US" sz="2400" dirty="0">
              <a:latin typeface="DM Serif Display" pitchFamily="2" charset="0"/>
            </a:endParaRPr>
          </a:p>
        </p:txBody>
      </p:sp>
      <p:cxnSp>
        <p:nvCxnSpPr>
          <p:cNvPr id="86" name="Straight Connector 85">
            <a:extLst>
              <a:ext uri="{FF2B5EF4-FFF2-40B4-BE49-F238E27FC236}">
                <a16:creationId xmlns:a16="http://schemas.microsoft.com/office/drawing/2014/main" id="{C244621A-6ED9-6B03-42C6-D53E3D9338EB}"/>
              </a:ext>
            </a:extLst>
          </p:cNvPr>
          <p:cNvCxnSpPr>
            <a:cxnSpLocks/>
          </p:cNvCxnSpPr>
          <p:nvPr/>
        </p:nvCxnSpPr>
        <p:spPr>
          <a:xfrm>
            <a:off x="5129042" y="2242686"/>
            <a:ext cx="0" cy="2592174"/>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FAD6FC0B-0CE9-9BBF-E9A6-CE533EA674DA}"/>
              </a:ext>
            </a:extLst>
          </p:cNvPr>
          <p:cNvCxnSpPr>
            <a:cxnSpLocks/>
          </p:cNvCxnSpPr>
          <p:nvPr/>
        </p:nvCxnSpPr>
        <p:spPr>
          <a:xfrm>
            <a:off x="8204544" y="2242686"/>
            <a:ext cx="0" cy="2592174"/>
          </a:xfrm>
          <a:prstGeom prst="line">
            <a:avLst/>
          </a:prstGeom>
          <a:ln w="6350">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BD3DA05-D484-DF53-9EDC-D0794C282EF5}"/>
              </a:ext>
            </a:extLst>
          </p:cNvPr>
          <p:cNvSpPr txBox="1"/>
          <p:nvPr/>
        </p:nvSpPr>
        <p:spPr>
          <a:xfrm>
            <a:off x="5503222" y="3633578"/>
            <a:ext cx="2445218" cy="830997"/>
          </a:xfrm>
          <a:prstGeom prst="rect">
            <a:avLst/>
          </a:prstGeom>
          <a:noFill/>
        </p:spPr>
        <p:txBody>
          <a:bodyPr wrap="square" rtlCol="0">
            <a:spAutoFit/>
          </a:bodyPr>
          <a:lstStyle/>
          <a:p>
            <a:r>
              <a:rPr lang="en-GB" sz="1200" dirty="0">
                <a:latin typeface="Avenir Book" panose="02000503020000020003" pitchFamily="2" charset="0"/>
              </a:rPr>
              <a:t>AI-enabled workflows and rapid deployment frameworks help clients realize results in weeks, not quarters.</a:t>
            </a:r>
          </a:p>
        </p:txBody>
      </p:sp>
      <p:sp>
        <p:nvSpPr>
          <p:cNvPr id="8" name="TextBox 7">
            <a:extLst>
              <a:ext uri="{FF2B5EF4-FFF2-40B4-BE49-F238E27FC236}">
                <a16:creationId xmlns:a16="http://schemas.microsoft.com/office/drawing/2014/main" id="{489A8280-8CA3-54B4-BCCF-8BBE2562F211}"/>
              </a:ext>
            </a:extLst>
          </p:cNvPr>
          <p:cNvSpPr txBox="1"/>
          <p:nvPr/>
        </p:nvSpPr>
        <p:spPr>
          <a:xfrm>
            <a:off x="5503222" y="3003306"/>
            <a:ext cx="1693273" cy="461665"/>
          </a:xfrm>
          <a:prstGeom prst="rect">
            <a:avLst/>
          </a:prstGeom>
          <a:noFill/>
        </p:spPr>
        <p:txBody>
          <a:bodyPr wrap="square" rtlCol="0">
            <a:spAutoFit/>
          </a:bodyPr>
          <a:lstStyle/>
          <a:p>
            <a:r>
              <a:rPr lang="en-GB" sz="2400" dirty="0">
                <a:latin typeface="DM Serif Display" pitchFamily="2" charset="0"/>
              </a:rPr>
              <a:t>Speed</a:t>
            </a:r>
            <a:endParaRPr lang="en-US" sz="2400" dirty="0">
              <a:latin typeface="DM Serif Display" pitchFamily="2" charset="0"/>
            </a:endParaRPr>
          </a:p>
        </p:txBody>
      </p:sp>
      <p:sp>
        <p:nvSpPr>
          <p:cNvPr id="10" name="TextBox 9">
            <a:extLst>
              <a:ext uri="{FF2B5EF4-FFF2-40B4-BE49-F238E27FC236}">
                <a16:creationId xmlns:a16="http://schemas.microsoft.com/office/drawing/2014/main" id="{3E4F5420-6640-37DB-B311-F5A24CE601AB}"/>
              </a:ext>
            </a:extLst>
          </p:cNvPr>
          <p:cNvSpPr txBox="1"/>
          <p:nvPr/>
        </p:nvSpPr>
        <p:spPr>
          <a:xfrm>
            <a:off x="8662691" y="3633578"/>
            <a:ext cx="2445218" cy="830997"/>
          </a:xfrm>
          <a:prstGeom prst="rect">
            <a:avLst/>
          </a:prstGeom>
          <a:noFill/>
        </p:spPr>
        <p:txBody>
          <a:bodyPr wrap="square" rtlCol="0">
            <a:spAutoFit/>
          </a:bodyPr>
          <a:lstStyle/>
          <a:p>
            <a:r>
              <a:rPr lang="en-GB" sz="1200" dirty="0">
                <a:latin typeface="Avenir Book" panose="02000503020000020003" pitchFamily="2" charset="0"/>
              </a:rPr>
              <a:t>From startups to enterprises, our modular systems and dashboards evolve with changing financial priorities.</a:t>
            </a:r>
          </a:p>
        </p:txBody>
      </p:sp>
      <p:sp>
        <p:nvSpPr>
          <p:cNvPr id="11" name="TextBox 10">
            <a:extLst>
              <a:ext uri="{FF2B5EF4-FFF2-40B4-BE49-F238E27FC236}">
                <a16:creationId xmlns:a16="http://schemas.microsoft.com/office/drawing/2014/main" id="{5AEAE290-2BE1-360A-E8A8-414EA28EF88D}"/>
              </a:ext>
            </a:extLst>
          </p:cNvPr>
          <p:cNvSpPr txBox="1"/>
          <p:nvPr/>
        </p:nvSpPr>
        <p:spPr>
          <a:xfrm>
            <a:off x="8662691" y="3003306"/>
            <a:ext cx="1693273" cy="461665"/>
          </a:xfrm>
          <a:prstGeom prst="rect">
            <a:avLst/>
          </a:prstGeom>
          <a:noFill/>
        </p:spPr>
        <p:txBody>
          <a:bodyPr wrap="square" rtlCol="0">
            <a:spAutoFit/>
          </a:bodyPr>
          <a:lstStyle/>
          <a:p>
            <a:r>
              <a:rPr lang="en-GB" sz="2400" dirty="0">
                <a:latin typeface="DM Serif Display" pitchFamily="2" charset="0"/>
              </a:rPr>
              <a:t>Scalability</a:t>
            </a:r>
            <a:endParaRPr lang="en-US" sz="2400" dirty="0">
              <a:latin typeface="DM Serif Display" pitchFamily="2" charset="0"/>
            </a:endParaRPr>
          </a:p>
        </p:txBody>
      </p:sp>
      <p:sp>
        <p:nvSpPr>
          <p:cNvPr id="13" name="Data 7">
            <a:extLst>
              <a:ext uri="{FF2B5EF4-FFF2-40B4-BE49-F238E27FC236}">
                <a16:creationId xmlns:a16="http://schemas.microsoft.com/office/drawing/2014/main" id="{22C1F795-255E-51A2-2698-0E638484AE66}"/>
              </a:ext>
            </a:extLst>
          </p:cNvPr>
          <p:cNvSpPr/>
          <p:nvPr/>
        </p:nvSpPr>
        <p:spPr>
          <a:xfrm>
            <a:off x="2521444" y="2534471"/>
            <a:ext cx="270514" cy="341669"/>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a 7">
            <a:extLst>
              <a:ext uri="{FF2B5EF4-FFF2-40B4-BE49-F238E27FC236}">
                <a16:creationId xmlns:a16="http://schemas.microsoft.com/office/drawing/2014/main" id="{7CB58C54-59EA-4E97-E554-773C2D71542D}"/>
              </a:ext>
            </a:extLst>
          </p:cNvPr>
          <p:cNvSpPr/>
          <p:nvPr/>
        </p:nvSpPr>
        <p:spPr>
          <a:xfrm>
            <a:off x="5633452" y="2534471"/>
            <a:ext cx="270514" cy="341669"/>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rgbClr val="ADD0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a 7">
            <a:extLst>
              <a:ext uri="{FF2B5EF4-FFF2-40B4-BE49-F238E27FC236}">
                <a16:creationId xmlns:a16="http://schemas.microsoft.com/office/drawing/2014/main" id="{257D783A-B3A0-2F71-447F-C8154B590482}"/>
              </a:ext>
            </a:extLst>
          </p:cNvPr>
          <p:cNvSpPr/>
          <p:nvPr/>
        </p:nvSpPr>
        <p:spPr>
          <a:xfrm>
            <a:off x="8768537" y="2534471"/>
            <a:ext cx="270514" cy="341669"/>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8000"/>
              <a:gd name="connsiteY0" fmla="*/ 10048 h 10048"/>
              <a:gd name="connsiteX1" fmla="*/ 2000 w 8000"/>
              <a:gd name="connsiteY1" fmla="*/ 48 h 10048"/>
              <a:gd name="connsiteX2" fmla="*/ 4810 w 8000"/>
              <a:gd name="connsiteY2" fmla="*/ 0 h 10048"/>
              <a:gd name="connsiteX3" fmla="*/ 8000 w 8000"/>
              <a:gd name="connsiteY3" fmla="*/ 10048 h 10048"/>
              <a:gd name="connsiteX4" fmla="*/ 0 w 8000"/>
              <a:gd name="connsiteY4" fmla="*/ 10048 h 10048"/>
              <a:gd name="connsiteX0" fmla="*/ 0 w 10000"/>
              <a:gd name="connsiteY0" fmla="*/ 9952 h 9952"/>
              <a:gd name="connsiteX1" fmla="*/ 2500 w 10000"/>
              <a:gd name="connsiteY1" fmla="*/ 0 h 9952"/>
              <a:gd name="connsiteX2" fmla="*/ 6057 w 10000"/>
              <a:gd name="connsiteY2" fmla="*/ 37 h 9952"/>
              <a:gd name="connsiteX3" fmla="*/ 10000 w 10000"/>
              <a:gd name="connsiteY3" fmla="*/ 9952 h 9952"/>
              <a:gd name="connsiteX4" fmla="*/ 0 w 10000"/>
              <a:gd name="connsiteY4" fmla="*/ 9952 h 9952"/>
              <a:gd name="connsiteX0" fmla="*/ 0 w 10000"/>
              <a:gd name="connsiteY0" fmla="*/ 10000 h 10000"/>
              <a:gd name="connsiteX1" fmla="*/ 2500 w 10000"/>
              <a:gd name="connsiteY1" fmla="*/ 0 h 10000"/>
              <a:gd name="connsiteX2" fmla="*/ 5592 w 10000"/>
              <a:gd name="connsiteY2" fmla="*/ 2973 h 10000"/>
              <a:gd name="connsiteX3" fmla="*/ 10000 w 10000"/>
              <a:gd name="connsiteY3" fmla="*/ 10000 h 10000"/>
              <a:gd name="connsiteX4" fmla="*/ 0 w 10000"/>
              <a:gd name="connsiteY4" fmla="*/ 10000 h 10000"/>
              <a:gd name="connsiteX0" fmla="*/ 0 w 10000"/>
              <a:gd name="connsiteY0" fmla="*/ 10000 h 10000"/>
              <a:gd name="connsiteX1" fmla="*/ 2500 w 10000"/>
              <a:gd name="connsiteY1" fmla="*/ 0 h 10000"/>
              <a:gd name="connsiteX2" fmla="*/ 6146 w 10000"/>
              <a:gd name="connsiteY2" fmla="*/ 37 h 10000"/>
              <a:gd name="connsiteX3" fmla="*/ 10000 w 10000"/>
              <a:gd name="connsiteY3" fmla="*/ 10000 h 10000"/>
              <a:gd name="connsiteX4" fmla="*/ 0 w 10000"/>
              <a:gd name="connsiteY4" fmla="*/ 10000 h 10000"/>
              <a:gd name="connsiteX0" fmla="*/ 0 w 6146"/>
              <a:gd name="connsiteY0" fmla="*/ 10000 h 10029"/>
              <a:gd name="connsiteX1" fmla="*/ 2500 w 6146"/>
              <a:gd name="connsiteY1" fmla="*/ 0 h 10029"/>
              <a:gd name="connsiteX2" fmla="*/ 6146 w 6146"/>
              <a:gd name="connsiteY2" fmla="*/ 37 h 10029"/>
              <a:gd name="connsiteX3" fmla="*/ 3579 w 6146"/>
              <a:gd name="connsiteY3" fmla="*/ 10029 h 10029"/>
              <a:gd name="connsiteX4" fmla="*/ 0 w 6146"/>
              <a:gd name="connsiteY4" fmla="*/ 10000 h 10029"/>
              <a:gd name="connsiteX0" fmla="*/ 0 w 10000"/>
              <a:gd name="connsiteY0" fmla="*/ 9971 h 10000"/>
              <a:gd name="connsiteX1" fmla="*/ 4068 w 10000"/>
              <a:gd name="connsiteY1" fmla="*/ 0 h 10000"/>
              <a:gd name="connsiteX2" fmla="*/ 10000 w 10000"/>
              <a:gd name="connsiteY2" fmla="*/ 37 h 10000"/>
              <a:gd name="connsiteX3" fmla="*/ 5931 w 10000"/>
              <a:gd name="connsiteY3" fmla="*/ 10000 h 10000"/>
              <a:gd name="connsiteX4" fmla="*/ 0 w 10000"/>
              <a:gd name="connsiteY4" fmla="*/ 9971 h 10000"/>
              <a:gd name="connsiteX0" fmla="*/ 0 w 10036"/>
              <a:gd name="connsiteY0" fmla="*/ 9971 h 10000"/>
              <a:gd name="connsiteX1" fmla="*/ 4068 w 10036"/>
              <a:gd name="connsiteY1" fmla="*/ 0 h 10000"/>
              <a:gd name="connsiteX2" fmla="*/ 10036 w 10036"/>
              <a:gd name="connsiteY2" fmla="*/ 9 h 10000"/>
              <a:gd name="connsiteX3" fmla="*/ 5931 w 10036"/>
              <a:gd name="connsiteY3" fmla="*/ 10000 h 10000"/>
              <a:gd name="connsiteX4" fmla="*/ 0 w 10036"/>
              <a:gd name="connsiteY4" fmla="*/ 9971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6" h="10000">
                <a:moveTo>
                  <a:pt x="0" y="9971"/>
                </a:moveTo>
                <a:lnTo>
                  <a:pt x="4068" y="0"/>
                </a:lnTo>
                <a:lnTo>
                  <a:pt x="10036" y="9"/>
                </a:lnTo>
                <a:lnTo>
                  <a:pt x="5931" y="10000"/>
                </a:lnTo>
                <a:lnTo>
                  <a:pt x="0" y="9971"/>
                </a:lnTo>
                <a:close/>
              </a:path>
            </a:pathLst>
          </a:custGeom>
          <a:solidFill>
            <a:srgbClr val="DED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D811510-F1F0-2568-04EB-184715A833AF}"/>
              </a:ext>
            </a:extLst>
          </p:cNvPr>
          <p:cNvSpPr txBox="1"/>
          <p:nvPr/>
        </p:nvSpPr>
        <p:spPr>
          <a:xfrm>
            <a:off x="11659203" y="6393370"/>
            <a:ext cx="351224" cy="276999"/>
          </a:xfrm>
          <a:prstGeom prst="rect">
            <a:avLst/>
          </a:prstGeom>
          <a:noFill/>
        </p:spPr>
        <p:txBody>
          <a:bodyPr wrap="square" rtlCol="0">
            <a:spAutoFit/>
          </a:bodyPr>
          <a:lstStyle/>
          <a:p>
            <a:r>
              <a:rPr lang="en-US" sz="1200" dirty="0">
                <a:solidFill>
                  <a:srgbClr val="E4EDF3"/>
                </a:solidFill>
                <a:latin typeface="Avenir Light" panose="020B0402020203020204" pitchFamily="34" charset="77"/>
              </a:rPr>
              <a:t>11</a:t>
            </a:r>
          </a:p>
        </p:txBody>
      </p:sp>
    </p:spTree>
    <p:extLst>
      <p:ext uri="{BB962C8B-B14F-4D97-AF65-F5344CB8AC3E}">
        <p14:creationId xmlns:p14="http://schemas.microsoft.com/office/powerpoint/2010/main" val="2595870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844016c-0c50-4da6-8b82-860d6f605335">
      <Terms xmlns="http://schemas.microsoft.com/office/infopath/2007/PartnerControls"/>
    </lcf76f155ced4ddcb4097134ff3c332f>
    <TaxCatchAll xmlns="c462f2cf-72a5-4d94-863f-876efe88e18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CA834DC3A7C6408CC7CDD43288D673" ma:contentTypeVersion="14" ma:contentTypeDescription="Create a new document." ma:contentTypeScope="" ma:versionID="ac91173658e3a86f30ed4a847a273d24">
  <xsd:schema xmlns:xsd="http://www.w3.org/2001/XMLSchema" xmlns:xs="http://www.w3.org/2001/XMLSchema" xmlns:p="http://schemas.microsoft.com/office/2006/metadata/properties" xmlns:ns2="2844016c-0c50-4da6-8b82-860d6f605335" xmlns:ns3="c462f2cf-72a5-4d94-863f-876efe88e181" targetNamespace="http://schemas.microsoft.com/office/2006/metadata/properties" ma:root="true" ma:fieldsID="4c0630e1dff526c339373395ce8b63c6" ns2:_="" ns3:_="">
    <xsd:import namespace="2844016c-0c50-4da6-8b82-860d6f605335"/>
    <xsd:import namespace="c462f2cf-72a5-4d94-863f-876efe88e18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44016c-0c50-4da6-8b82-860d6f605335"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26e55408-b488-4806-928c-04569d5b0705"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462f2cf-72a5-4d94-863f-876efe88e18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bdd9747-1658-4f9d-a970-3baf5d1f95b7}" ma:internalName="TaxCatchAll" ma:showField="CatchAllData" ma:web="c462f2cf-72a5-4d94-863f-876efe88e1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C2B046-2132-44EE-BDCB-ABE8F7747F0C}">
  <ds:schemaRefs>
    <ds:schemaRef ds:uri="http://schemas.microsoft.com/sharepoint/v3/contenttype/forms"/>
  </ds:schemaRefs>
</ds:datastoreItem>
</file>

<file path=customXml/itemProps2.xml><?xml version="1.0" encoding="utf-8"?>
<ds:datastoreItem xmlns:ds="http://schemas.openxmlformats.org/officeDocument/2006/customXml" ds:itemID="{B7F94FE4-68D7-412E-A74E-D9E4AF5AA546}">
  <ds:schemaRefs>
    <ds:schemaRef ds:uri="http://www.w3.org/XML/1998/namespace"/>
    <ds:schemaRef ds:uri="2844016c-0c50-4da6-8b82-860d6f605335"/>
    <ds:schemaRef ds:uri="http://schemas.microsoft.com/office/2006/metadata/properties"/>
    <ds:schemaRef ds:uri="http://schemas.openxmlformats.org/package/2006/metadata/core-properties"/>
    <ds:schemaRef ds:uri="http://purl.org/dc/elements/1.1/"/>
    <ds:schemaRef ds:uri="http://schemas.microsoft.com/office/2006/documentManagement/types"/>
    <ds:schemaRef ds:uri="c462f2cf-72a5-4d94-863f-876efe88e181"/>
    <ds:schemaRef ds:uri="http://schemas.microsoft.com/office/infopath/2007/PartnerControls"/>
    <ds:schemaRef ds:uri="http://purl.org/dc/dcmitype/"/>
    <ds:schemaRef ds:uri="http://purl.org/dc/terms/"/>
  </ds:schemaRefs>
</ds:datastoreItem>
</file>

<file path=customXml/itemProps3.xml><?xml version="1.0" encoding="utf-8"?>
<ds:datastoreItem xmlns:ds="http://schemas.openxmlformats.org/officeDocument/2006/customXml" ds:itemID="{D45F6E46-4071-40E7-89DE-BFB44DBB74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44016c-0c50-4da6-8b82-860d6f605335"/>
    <ds:schemaRef ds:uri="c462f2cf-72a5-4d94-863f-876efe88e1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847</TotalTime>
  <Words>626</Words>
  <Application>Microsoft Macintosh PowerPoint</Application>
  <PresentationFormat>Widescreen</PresentationFormat>
  <Paragraphs>138</Paragraphs>
  <Slides>11</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Avenir Book</vt:lpstr>
      <vt:lpstr>Avenir Heavy</vt:lpstr>
      <vt:lpstr>Avenir Light</vt:lpstr>
      <vt:lpstr>Avenir Medium</vt:lpstr>
      <vt:lpstr>DM Serif Display</vt:lpstr>
      <vt:lpstr>Office Theme</vt:lpstr>
      <vt:lpstr>PowerPoint Presentation</vt:lpstr>
      <vt:lpstr>Guideline</vt:lpstr>
      <vt:lpstr>Company Timeline</vt:lpstr>
      <vt:lpstr>Our Core Services</vt:lpstr>
      <vt:lpstr>Challenges We Solve</vt:lpstr>
      <vt:lpstr>Our Analytical Framework</vt:lpstr>
      <vt:lpstr>CASE STUDY</vt:lpstr>
      <vt:lpstr>Benchmarking Dashboard</vt:lpstr>
      <vt:lpstr>Financial Analysis</vt:lpstr>
      <vt:lpstr>Client ROI Pathway</vt:lpstr>
      <vt:lpstr>The Cursor Advantage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Farin Sadiq</dc:creator>
  <cp:lastModifiedBy>Oona Gleeson</cp:lastModifiedBy>
  <cp:revision>5</cp:revision>
  <dcterms:created xsi:type="dcterms:W3CDTF">2025-10-31T17:36:02Z</dcterms:created>
  <dcterms:modified xsi:type="dcterms:W3CDTF">2026-01-27T19:52:55Z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0x01010011CA834DC3A7C6408CC7CDD43288D673</vt:lpwstr>
  </property>
</Properties>
</file>