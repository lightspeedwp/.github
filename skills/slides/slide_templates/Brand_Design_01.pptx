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lay"/>
      <p:regular r:id="rId17"/>
      <p:bold r:id="rId18"/>
    </p:embeddedFont>
    <p:embeddedFont>
      <p:font typeface="Arial Black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SEjColnHsdGYw/jfzUbqP9RI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ArialBlack-regular.fnt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4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0.jpg"/><Relationship Id="rId5" Type="http://schemas.openxmlformats.org/officeDocument/2006/relationships/image" Target="../media/image3.jp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5.png"/><Relationship Id="rId5" Type="http://schemas.openxmlformats.org/officeDocument/2006/relationships/hyperlink" Target="mailto:janedoe@branddesign.co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35" l="0" r="0" t="36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454062" y="4630851"/>
            <a:ext cx="10660019" cy="102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Brand Design </a:t>
            </a:r>
            <a:b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 b="0" i="0" sz="8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" name="Google Shape;86;p1"/>
          <p:cNvSpPr txBox="1"/>
          <p:nvPr/>
        </p:nvSpPr>
        <p:spPr>
          <a:xfrm rot="-5400000">
            <a:off x="8586425" y="3233409"/>
            <a:ext cx="661774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PAGE 01     00/00/2025                     COMPANY NAME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11581911" y="-192919"/>
            <a:ext cx="685933" cy="7363071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54062" y="5558951"/>
            <a:ext cx="9152466" cy="49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BRANDING GUIDELINES</a:t>
            </a:r>
            <a:endParaRPr b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letter in a white square&#10;&#10;AI-generated content may be incorrect.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1475" y="323848"/>
            <a:ext cx="687918" cy="740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1" r="4978" t="0"/>
          <a:stretch/>
        </p:blipFill>
        <p:spPr>
          <a:xfrm>
            <a:off x="0" y="2480"/>
            <a:ext cx="4704735" cy="68555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3855495" y="632834"/>
            <a:ext cx="7458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Brand Overview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4524547" y="2204984"/>
            <a:ext cx="6152365" cy="39497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We blend </a:t>
            </a:r>
            <a:r>
              <a:rPr lang="en-US" sz="1800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cutting-edge technology</a:t>
            </a: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with human intuition to craft seamless, forward-thinking experiences that redefine what’s possible.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We're built for the long game. Our commitment to </a:t>
            </a:r>
            <a:r>
              <a:rPr lang="en-US" sz="1800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timeless design and scalable systems</a:t>
            </a: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ensures every solution evolves with the market, adapts to new demands, and sustains growth for decades to come. Always positioned at the cutting edge of innovation. 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Arial Black"/>
              <a:buNone/>
            </a:pPr>
            <a:r>
              <a:rPr lang="en-US" sz="1800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Designed to move ideas forward.</a:t>
            </a: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 We turn bold concepts into elegant, real-world solutions that inspire progress and deliver measurable impact across industries.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 rot="-5400000">
            <a:off x="8586425" y="3233409"/>
            <a:ext cx="661774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PAGE 02     00/00/2025                     COMPANY NAME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11581911" y="-192919"/>
            <a:ext cx="685933" cy="7363071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bulb with solid fill"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90662" y="2284628"/>
            <a:ext cx="523642" cy="51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urglass Finished with solid fill"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4854" y="3519681"/>
            <a:ext cx="450291" cy="4342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nd with solid fill" id="101" name="Google Shape;10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36931" y="5272454"/>
            <a:ext cx="528515" cy="416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lass cubes stacked on top of each other&#10;&#10;AI-generated content may be incorrect.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3" y="-1672"/>
            <a:ext cx="4164050" cy="68741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3855495" y="632834"/>
            <a:ext cx="7458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Brand Story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Diamond with solid fill" id="108" name="Google Shape;1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310" y="2218370"/>
            <a:ext cx="486742" cy="4802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ye with solid fill" id="109" name="Google Shape;10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0064" y="3381179"/>
            <a:ext cx="506400" cy="495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llseye with solid fill" id="110" name="Google Shape;11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10715" y="5239382"/>
            <a:ext cx="474132" cy="47413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 rot="-5400000">
            <a:off x="8586425" y="3233409"/>
            <a:ext cx="661774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PAGE 03     00/00/2025                     COMPANY NAME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11581911" y="-192919"/>
            <a:ext cx="685933" cy="7363071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4524547" y="2204984"/>
            <a:ext cx="6152365" cy="39497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Born from a spark. What began as a single idea—</a:t>
            </a:r>
            <a:r>
              <a:rPr lang="en-US" sz="1800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to make technology feel beautifully human—</a:t>
            </a: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became a mission to elevate how people connect.</a:t>
            </a:r>
            <a:endParaRPr sz="6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Seeing what others missed. Our founders recognized a gap between innovation and empathy. They built a company where </a:t>
            </a:r>
            <a:r>
              <a:rPr lang="en-US" sz="1800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advanced technology serves real human needs,</a:t>
            </a: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shaping experiences that feel both powerful and personal.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Purpose in every pixel. Every product we design reflects our founding vision: </a:t>
            </a:r>
            <a:r>
              <a:rPr lang="en-US" sz="1800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clarity, precision, and impact </a:t>
            </a: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that endures beyond the latest trend. 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033"/>
            <a:ext cx="12192000" cy="684393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900689" y="627448"/>
            <a:ext cx="7458000" cy="9287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Brand Style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1307551" y="2580540"/>
            <a:ext cx="1935646" cy="57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Sleek </a:t>
            </a:r>
            <a:b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 modern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1306286" y="3521109"/>
            <a:ext cx="241997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Clean lines, balanced composition, and intentional spacing create a visual rhythm that feels effortless</a:t>
            </a:r>
            <a:r>
              <a:rPr lang="en-US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lang="en-US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and unmistakably refined</a:t>
            </a:r>
            <a:r>
              <a:rPr lang="en-US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4688284" y="2580540"/>
            <a:ext cx="2126902" cy="57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b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chrome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4642258" y="3520373"/>
            <a:ext cx="239440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Reflective metallic gradients add depth and movement, evoking innovation and high-end craftsmanship with a futuristic edge. 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8011649" y="2580540"/>
            <a:ext cx="2126902" cy="57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Glass- </a:t>
            </a:r>
            <a:b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morphism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8010385" y="3537554"/>
            <a:ext cx="2419979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Soft transparency and layered blurs bring a luminous quality, suggesting clarity, openness, and seamless digital flow.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 rot="-5400000">
            <a:off x="8586425" y="3233409"/>
            <a:ext cx="661774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PAGE 04     00/00/2025                     COMPANY NAME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1581911" y="-192919"/>
            <a:ext cx="685800" cy="73632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tom with solid fill"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3197" y="2433267"/>
            <a:ext cx="481209" cy="460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eaker with solid fill" id="129" name="Google Shape;12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76685" y="2433267"/>
            <a:ext cx="460940" cy="460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twork with solid fill" id="130" name="Google Shape;13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6048" y="2453723"/>
            <a:ext cx="447211" cy="460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 b="11251" l="1130" r="696" t="850"/>
          <a:stretch/>
        </p:blipFill>
        <p:spPr>
          <a:xfrm>
            <a:off x="-1" y="0"/>
            <a:ext cx="115819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 txBox="1"/>
          <p:nvPr/>
        </p:nvSpPr>
        <p:spPr>
          <a:xfrm>
            <a:off x="6565511" y="566151"/>
            <a:ext cx="465580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Brand 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6576806" y="3318376"/>
            <a:ext cx="461387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 visionary woman in her early 30s—tech-savvy, ambitious, and effortlessly modern, balancing innovation with </a:t>
            </a:r>
            <a:r>
              <a:rPr lang="en-US" sz="1600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an appreciation for meaningful, beautifully designed experiences. </a:t>
            </a:r>
            <a:endParaRPr sz="1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6565511" y="2724352"/>
            <a:ext cx="5161936" cy="49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CHARACTERISTICS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 rot="-5400000">
            <a:off x="8575461" y="3291499"/>
            <a:ext cx="66177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PAGE 05    00/00/2025                  COMPANY NAME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1581911" y="-192919"/>
            <a:ext cx="685800" cy="7363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6587613" y="1247467"/>
            <a:ext cx="6096000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Persona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690730" y="5181219"/>
            <a:ext cx="3319499" cy="98288"/>
          </a:xfrm>
          <a:prstGeom prst="roundRect">
            <a:avLst>
              <a:gd fmla="val 16667" name="adj"/>
            </a:avLst>
          </a:prstGeom>
          <a:solidFill>
            <a:srgbClr val="872D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690729" y="5181218"/>
            <a:ext cx="4203706" cy="98288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690730" y="5860890"/>
            <a:ext cx="2248386" cy="98288"/>
          </a:xfrm>
          <a:prstGeom prst="roundRect">
            <a:avLst>
              <a:gd fmla="val 16667" name="adj"/>
            </a:avLst>
          </a:prstGeom>
          <a:solidFill>
            <a:srgbClr val="872D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690729" y="5859092"/>
            <a:ext cx="4203706" cy="98288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6583106" y="4883061"/>
            <a:ext cx="82771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TRENDY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6583106" y="5568000"/>
            <a:ext cx="142148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ONLINE SHOPPER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/>
        </p:nvSpPr>
        <p:spPr>
          <a:xfrm>
            <a:off x="900689" y="627448"/>
            <a:ext cx="7458000" cy="9287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Moodboard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3" name="Google Shape;153;p6"/>
          <p:cNvSpPr txBox="1"/>
          <p:nvPr/>
        </p:nvSpPr>
        <p:spPr>
          <a:xfrm rot="-5400000">
            <a:off x="8586425" y="3233409"/>
            <a:ext cx="661774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PAGE 06     00/00/2025                     COMPANY NAME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1581911" y="-192919"/>
            <a:ext cx="685933" cy="7363071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967415" y="3500731"/>
            <a:ext cx="2709073" cy="1220826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967414" y="4922448"/>
            <a:ext cx="2709073" cy="1220826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188904" y="647064"/>
            <a:ext cx="658832" cy="658276"/>
          </a:xfrm>
          <a:prstGeom prst="roundRect">
            <a:avLst>
              <a:gd fmla="val 16667" name="adj"/>
            </a:avLst>
          </a:prstGeom>
          <a:solidFill>
            <a:srgbClr val="151F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183789" y="1614651"/>
            <a:ext cx="658832" cy="658276"/>
          </a:xfrm>
          <a:prstGeom prst="roundRect">
            <a:avLst>
              <a:gd fmla="val 16667" name="adj"/>
            </a:avLst>
          </a:prstGeom>
          <a:solidFill>
            <a:srgbClr val="3C3A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183788" y="2582238"/>
            <a:ext cx="658832" cy="658276"/>
          </a:xfrm>
          <a:prstGeom prst="roundRect">
            <a:avLst>
              <a:gd fmla="val 16667" name="adj"/>
            </a:avLst>
          </a:prstGeom>
          <a:solidFill>
            <a:srgbClr val="5BCA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188903" y="3549824"/>
            <a:ext cx="658832" cy="658276"/>
          </a:xfrm>
          <a:prstGeom prst="roundRect">
            <a:avLst>
              <a:gd fmla="val 16667" name="adj"/>
            </a:avLst>
          </a:prstGeom>
          <a:solidFill>
            <a:srgbClr val="9682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188902" y="4517411"/>
            <a:ext cx="658832" cy="658276"/>
          </a:xfrm>
          <a:prstGeom prst="roundRect">
            <a:avLst>
              <a:gd fmla="val 16667" name="adj"/>
            </a:avLst>
          </a:prstGeom>
          <a:solidFill>
            <a:srgbClr val="0043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188901" y="5484998"/>
            <a:ext cx="658832" cy="658276"/>
          </a:xfrm>
          <a:prstGeom prst="roundRect">
            <a:avLst>
              <a:gd fmla="val 16667" name="adj"/>
            </a:avLst>
          </a:prstGeom>
          <a:solidFill>
            <a:srgbClr val="3E12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354919" y="2748958"/>
            <a:ext cx="3583581" cy="3394314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931831" y="1719657"/>
            <a:ext cx="485071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Futuristic design inspired by </a:t>
            </a: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chrome, glass, and liquid metal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—where texture, light, and reflection merge to create an atmosphere of elegance and innovation.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1258" y="4918592"/>
            <a:ext cx="1755472" cy="1228886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pic>
        <p:nvPicPr>
          <p:cNvPr id="166" name="Google Shape;16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725" y="4923636"/>
            <a:ext cx="2722331" cy="1220555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pic>
        <p:nvPicPr>
          <p:cNvPr descr="A glass cubes stacked on top of each other&#10;&#10;AI-generated content may be incorrect." id="167" name="Google Shape;16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9285" y="2750013"/>
            <a:ext cx="3608110" cy="3393112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pic>
        <p:nvPicPr>
          <p:cNvPr descr="A screenshot of a product sales overview&#10;&#10;AI-generated content may be incorrect." id="168" name="Google Shape;16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56329" y="602697"/>
            <a:ext cx="3596326" cy="186414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pic>
        <p:nvPicPr>
          <p:cNvPr descr="A logo with a tree&#10;&#10;AI-generated content may be incorrect." id="169" name="Google Shape;16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05250" y="3486481"/>
            <a:ext cx="1758945" cy="1238261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pic>
        <p:nvPicPr>
          <p:cNvPr id="170" name="Google Shape;17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9486" y="3497851"/>
            <a:ext cx="2712942" cy="12225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7"/>
          <p:cNvPicPr preferRelativeResize="0"/>
          <p:nvPr/>
        </p:nvPicPr>
        <p:blipFill rotWithShape="1">
          <a:blip r:embed="rId3">
            <a:alphaModFix/>
          </a:blip>
          <a:srcRect b="2567" l="2320" r="1408" t="0"/>
          <a:stretch/>
        </p:blipFill>
        <p:spPr>
          <a:xfrm>
            <a:off x="-1" y="-9272"/>
            <a:ext cx="12192000" cy="687655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 txBox="1"/>
          <p:nvPr/>
        </p:nvSpPr>
        <p:spPr>
          <a:xfrm>
            <a:off x="900689" y="627448"/>
            <a:ext cx="7458000" cy="9287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Typography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6733500" y="2230573"/>
            <a:ext cx="4469719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This is the standard body copy treatment. Arial 18pt in white. </a:t>
            </a:r>
            <a:r>
              <a:rPr lang="en-US" sz="1800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Use Arial Black</a:t>
            </a: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to accentuate</a:t>
            </a: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key phrases that aid in the scanability of the content.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The subhead and body copy should always be the same size. </a:t>
            </a:r>
            <a:endParaRPr/>
          </a:p>
        </p:txBody>
      </p:sp>
      <p:sp>
        <p:nvSpPr>
          <p:cNvPr id="178" name="Google Shape;178;p7"/>
          <p:cNvSpPr txBox="1"/>
          <p:nvPr/>
        </p:nvSpPr>
        <p:spPr>
          <a:xfrm>
            <a:off x="6734924" y="1506964"/>
            <a:ext cx="4117088" cy="49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SUBHEAD ARIAL BOLD 18PT CAPS</a:t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880095" y="2930158"/>
            <a:ext cx="516170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Arial 80 pt</a:t>
            </a: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1024581" y="1632122"/>
            <a:ext cx="47573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Use the following guidelines to map out the typographic hierarchy in print and digital media.  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309584" y="3600935"/>
            <a:ext cx="592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854351" y="4226352"/>
            <a:ext cx="3982663" cy="9287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Arial 60 pt 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309584" y="4646111"/>
            <a:ext cx="592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H2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874945" y="5412222"/>
            <a:ext cx="3982663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Arial 48 pt </a:t>
            </a:r>
            <a:endParaRPr sz="4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309584" y="5711881"/>
            <a:ext cx="592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H3</a:t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6733500" y="4887277"/>
            <a:ext cx="45932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This is the secondary body copy that is smaller for more detailed information. Arial 16 pt.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6733500" y="5613236"/>
            <a:ext cx="44697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This is the smallest body copy for tertiary information such as legal copy or disclaimers. Arial 12 pt</a:t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 rot="-5400000">
            <a:off x="8586425" y="3233409"/>
            <a:ext cx="661774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PAGE 07     00/00/2025                     COMPANY NAME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11581911" y="-192919"/>
            <a:ext cx="685933" cy="7363071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4393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 txBox="1"/>
          <p:nvPr/>
        </p:nvSpPr>
        <p:spPr>
          <a:xfrm>
            <a:off x="900689" y="627448"/>
            <a:ext cx="7458000" cy="9287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Colors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6" name="Google Shape;196;p8"/>
          <p:cNvSpPr txBox="1"/>
          <p:nvPr/>
        </p:nvSpPr>
        <p:spPr>
          <a:xfrm rot="-5400000">
            <a:off x="8586425" y="3233409"/>
            <a:ext cx="661774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PAGE 08     00/00/2025                     COMPANY NAME</a:t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11581911" y="-192919"/>
            <a:ext cx="685933" cy="7363071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8905833" y="3535822"/>
            <a:ext cx="2045057" cy="2514523"/>
          </a:xfrm>
          <a:prstGeom prst="roundRect">
            <a:avLst>
              <a:gd fmla="val 16667" name="adj"/>
            </a:avLst>
          </a:prstGeom>
          <a:solidFill>
            <a:srgbClr val="002C7C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1106027" y="3493082"/>
            <a:ext cx="1945588" cy="2236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Use white or black text overlays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Combine colors for gradients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Use tints and shades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1106811" y="2980012"/>
            <a:ext cx="1153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DO'S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3815843" y="3485174"/>
            <a:ext cx="2047747" cy="2236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Use single color as a background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Use colors outside of this brand palette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Use Electric Blue as a text color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3815695" y="2980012"/>
            <a:ext cx="1153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DONT'S</a:t>
            </a:r>
            <a:endParaRPr/>
          </a:p>
        </p:txBody>
      </p:sp>
      <p:pic>
        <p:nvPicPr>
          <p:cNvPr descr="Checkmark with solid fill" id="203" name="Google Shape;20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3851" y="2907682"/>
            <a:ext cx="394138" cy="367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 sign with solid fill" id="204" name="Google Shape;20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1600" y="2875604"/>
            <a:ext cx="422438" cy="40340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/>
          <p:nvPr/>
        </p:nvSpPr>
        <p:spPr>
          <a:xfrm>
            <a:off x="6630089" y="3535821"/>
            <a:ext cx="2045057" cy="2514523"/>
          </a:xfrm>
          <a:prstGeom prst="roundRect">
            <a:avLst>
              <a:gd fmla="val 16667" name="adj"/>
            </a:avLst>
          </a:prstGeom>
          <a:solidFill>
            <a:srgbClr val="540A26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9619704" y="1266578"/>
            <a:ext cx="1324993" cy="1147167"/>
          </a:xfrm>
          <a:prstGeom prst="roundRect">
            <a:avLst>
              <a:gd fmla="val 16667" name="adj"/>
            </a:avLst>
          </a:prstGeom>
          <a:solidFill>
            <a:srgbClr val="6770D6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8122072" y="1266578"/>
            <a:ext cx="1324993" cy="1147167"/>
          </a:xfrm>
          <a:prstGeom prst="roundRect">
            <a:avLst>
              <a:gd fmla="val 16667" name="adj"/>
            </a:avLst>
          </a:prstGeom>
          <a:solidFill>
            <a:srgbClr val="3FB7EB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630090" y="1266577"/>
            <a:ext cx="1324993" cy="1147167"/>
          </a:xfrm>
          <a:prstGeom prst="roundRect">
            <a:avLst>
              <a:gd fmla="val 16667" name="adj"/>
            </a:avLst>
          </a:prstGeom>
          <a:solidFill>
            <a:srgbClr val="872D6C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6632859" y="793635"/>
            <a:ext cx="24793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SECONDARY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6632859" y="3079634"/>
            <a:ext cx="24793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PRIMARY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6647366" y="1338678"/>
            <a:ext cx="8797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Plum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6647366" y="1769956"/>
            <a:ext cx="172843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#872D6C</a:t>
            </a:r>
            <a:b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RGB 135 45 108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CMYK 44 100 26 6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6735002" y="3682999"/>
            <a:ext cx="8797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Maroon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6735002" y="5343290"/>
            <a:ext cx="1728439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HEX #540A26</a:t>
            </a:r>
            <a:b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RGB 84 10 38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CMYK 40 100 63 55</a:t>
            </a:r>
            <a:endParaRPr/>
          </a:p>
        </p:txBody>
      </p:sp>
      <p:sp>
        <p:nvSpPr>
          <p:cNvPr id="215" name="Google Shape;215;p8"/>
          <p:cNvSpPr txBox="1"/>
          <p:nvPr/>
        </p:nvSpPr>
        <p:spPr>
          <a:xfrm>
            <a:off x="9009458" y="3682999"/>
            <a:ext cx="13276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Dawn Blue</a:t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9009458" y="5343290"/>
            <a:ext cx="17284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HEX #002C7C</a:t>
            </a:r>
            <a:b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RGB 0 44 124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CMYK 100 90 20 10</a:t>
            </a:r>
            <a:endParaRPr sz="11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8143530" y="1338678"/>
            <a:ext cx="13018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Electric Blue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8158975" y="1769956"/>
            <a:ext cx="172843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#3FB7EB</a:t>
            </a:r>
            <a:b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RGB 63 183 235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CMYK 73 2 00 00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9689170" y="1338678"/>
            <a:ext cx="8797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Periwinkle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9689170" y="1769956"/>
            <a:ext cx="172843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#6770D6</a:t>
            </a:r>
            <a:b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RGB 103 112 214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CMYK 68 60 00 00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 txBox="1"/>
          <p:nvPr/>
        </p:nvSpPr>
        <p:spPr>
          <a:xfrm>
            <a:off x="900689" y="627448"/>
            <a:ext cx="7458000" cy="9287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6" name="Google Shape;226;p9"/>
          <p:cNvSpPr txBox="1"/>
          <p:nvPr/>
        </p:nvSpPr>
        <p:spPr>
          <a:xfrm rot="-5400000">
            <a:off x="8586425" y="3233409"/>
            <a:ext cx="661774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PAGE 09     00/00/2025                     COMPANY NAME</a:t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11581911" y="-192919"/>
            <a:ext cx="685933" cy="7363071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letter in a white square&#10;&#10;AI-generated content may be incorrect." id="228" name="Google Shape;2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86" y="2357564"/>
            <a:ext cx="687918" cy="74083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9"/>
          <p:cNvSpPr txBox="1"/>
          <p:nvPr/>
        </p:nvSpPr>
        <p:spPr>
          <a:xfrm>
            <a:off x="901505" y="1805585"/>
            <a:ext cx="4117088" cy="49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SECONDARY MARK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1814358" y="2419998"/>
            <a:ext cx="259847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main mark is white with a knocked out B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1814358" y="3480620"/>
            <a:ext cx="259847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colored variation can be used on company swag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2540318" y="5648201"/>
            <a:ext cx="15172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Maximum size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0.5in / 350px</a:t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3050033" y="4541241"/>
            <a:ext cx="19188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Minimum size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0.125in / 25px</a:t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5313896" y="2154353"/>
            <a:ext cx="5408398" cy="10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Brand Design</a:t>
            </a:r>
            <a:endParaRPr sz="6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5313896" y="1764396"/>
            <a:ext cx="4117088" cy="49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PRIMARY WORDMARK</a:t>
            </a:r>
            <a:endParaRPr sz="6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5313896" y="4215152"/>
            <a:ext cx="4117088" cy="49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PRIMARY LOGOTYPE</a:t>
            </a:r>
            <a:endParaRPr sz="6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237" name="Google Shape;237;p9"/>
          <p:cNvGrpSpPr/>
          <p:nvPr/>
        </p:nvGrpSpPr>
        <p:grpSpPr>
          <a:xfrm>
            <a:off x="5313896" y="4692636"/>
            <a:ext cx="7326993" cy="1058952"/>
            <a:chOff x="5300448" y="4826501"/>
            <a:chExt cx="7326993" cy="1058952"/>
          </a:xfrm>
        </p:grpSpPr>
        <p:pic>
          <p:nvPicPr>
            <p:cNvPr descr="A black letter in a white square&#10;&#10;AI-generated content may be incorrect." id="238" name="Google Shape;23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00448" y="5003969"/>
              <a:ext cx="590094" cy="6687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9"/>
            <p:cNvSpPr txBox="1"/>
            <p:nvPr/>
          </p:nvSpPr>
          <p:spPr>
            <a:xfrm>
              <a:off x="5937030" y="4826501"/>
              <a:ext cx="6690411" cy="10589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600"/>
                <a:buFont typeface="Arial"/>
                <a:buNone/>
              </a:pPr>
              <a:r>
                <a:rPr lang="en-US" sz="6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Brand Design</a:t>
              </a:r>
              <a:endParaRPr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240" name="Google Shape;240;p9"/>
          <p:cNvSpPr txBox="1"/>
          <p:nvPr/>
        </p:nvSpPr>
        <p:spPr>
          <a:xfrm>
            <a:off x="5313896" y="3212890"/>
            <a:ext cx="53890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wordmark is the primary leading brand mark. Minimum height: 0.125in / 100px</a:t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5313896" y="5648201"/>
            <a:ext cx="597598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logotype when the secondary mark isn't represented in the layout. Minimum height: 0.125in / 100px</a:t>
            </a:r>
            <a:endParaRPr/>
          </a:p>
        </p:txBody>
      </p:sp>
      <p:pic>
        <p:nvPicPr>
          <p:cNvPr descr="A blue and black sign&#10;&#10;AI-generated content may be incorrect." id="242" name="Google Shape;24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927" y="3428614"/>
            <a:ext cx="687602" cy="763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letter in a white square&#10;&#10;AI-generated content may be incorrect." id="243" name="Google Shape;2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3745" y="4602374"/>
            <a:ext cx="317216" cy="344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black sign&#10;&#10;AI-generated content may be incorrect." id="244" name="Google Shape;2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739" y="4571615"/>
            <a:ext cx="1557722" cy="1664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0"/>
          <p:cNvPicPr preferRelativeResize="0"/>
          <p:nvPr/>
        </p:nvPicPr>
        <p:blipFill rotWithShape="1">
          <a:blip r:embed="rId3">
            <a:alphaModFix/>
          </a:blip>
          <a:srcRect b="0" l="61" r="62" t="0"/>
          <a:stretch/>
        </p:blipFill>
        <p:spPr>
          <a:xfrm>
            <a:off x="5532920" y="1157"/>
            <a:ext cx="6730761" cy="687922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0"/>
          <p:cNvSpPr txBox="1"/>
          <p:nvPr/>
        </p:nvSpPr>
        <p:spPr>
          <a:xfrm>
            <a:off x="900689" y="627448"/>
            <a:ext cx="7458000" cy="9287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 rot="-5400000">
            <a:off x="8586425" y="3233409"/>
            <a:ext cx="661774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PAGE 09     00/00/2025                     COMPANY NAME</a:t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11581911" y="-192919"/>
            <a:ext cx="685933" cy="7363071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letter in a white square&#10;&#10;AI-generated content may be incorrect." id="253" name="Google Shape;2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286" y="2468083"/>
            <a:ext cx="687918" cy="740834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254" name="Google Shape;254;p10"/>
          <p:cNvSpPr txBox="1"/>
          <p:nvPr/>
        </p:nvSpPr>
        <p:spPr>
          <a:xfrm>
            <a:off x="901505" y="1805585"/>
            <a:ext cx="4117088" cy="49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 ICON</a:t>
            </a:r>
            <a:endParaRPr sz="6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6096491" y="600801"/>
            <a:ext cx="4117088" cy="49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BOOKLET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A blue and black sign&#10;&#10;AI-generated content may be incorrect." id="256" name="Google Shape;25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5247" y="2521193"/>
            <a:ext cx="641301" cy="687926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cap="sq" cmpd="sng" w="1270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  <a:effectLst>
            <a:reflection blurRad="0" dir="5400000" dist="5000" endA="0" endPos="28000" kx="0" rotWithShape="0" algn="bl" stA="33000" stPos="0" sy="-100000" ky="0"/>
          </a:effectLst>
        </p:spPr>
      </p:pic>
      <p:sp>
        <p:nvSpPr>
          <p:cNvPr id="257" name="Google Shape;257;p10"/>
          <p:cNvSpPr txBox="1"/>
          <p:nvPr/>
        </p:nvSpPr>
        <p:spPr>
          <a:xfrm>
            <a:off x="901504" y="4104514"/>
            <a:ext cx="4117088" cy="49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UI BROWSER NAV</a:t>
            </a:r>
            <a:endParaRPr sz="6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1014378" y="4824933"/>
            <a:ext cx="3821263" cy="1297812"/>
          </a:xfrm>
          <a:prstGeom prst="rect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1241274" y="4876612"/>
            <a:ext cx="2199158" cy="5179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Brand Design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035312" y="5588968"/>
            <a:ext cx="3820174" cy="209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3250591" y="5121468"/>
            <a:ext cx="18468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        Link        Link  </a:t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4802095" y="4700178"/>
            <a:ext cx="332845" cy="15431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 rot="5400000">
            <a:off x="2806992" y="4229078"/>
            <a:ext cx="317400" cy="402483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534254" y="-191539"/>
            <a:ext cx="6928594" cy="7355691"/>
          </a:xfrm>
          <a:prstGeom prst="rect">
            <a:avLst/>
          </a:prstGeom>
          <a:noFill/>
          <a:ln cap="flat" cmpd="sng" w="19050">
            <a:solidFill>
              <a:srgbClr val="FFFFFF">
                <a:alpha val="49803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41300" dir="2700000" dist="152400">
              <a:srgbClr val="000000">
                <a:alpha val="2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11"/>
          <p:cNvPicPr preferRelativeResize="0"/>
          <p:nvPr/>
        </p:nvPicPr>
        <p:blipFill rotWithShape="1">
          <a:blip r:embed="rId3">
            <a:alphaModFix/>
          </a:blip>
          <a:srcRect b="2567" l="2320" r="1408" t="0"/>
          <a:stretch/>
        </p:blipFill>
        <p:spPr>
          <a:xfrm>
            <a:off x="-1" y="-9272"/>
            <a:ext cx="12192000" cy="687655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 txBox="1"/>
          <p:nvPr/>
        </p:nvSpPr>
        <p:spPr>
          <a:xfrm>
            <a:off x="1050962" y="3209824"/>
            <a:ext cx="10660019" cy="102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 sz="8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1" name="Google Shape;271;p11"/>
          <p:cNvSpPr txBox="1"/>
          <p:nvPr/>
        </p:nvSpPr>
        <p:spPr>
          <a:xfrm rot="-5400000">
            <a:off x="8586425" y="3233409"/>
            <a:ext cx="661774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PAGE 10     00/00/2025                     COMPANY NAME</a:t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11581911" y="-192919"/>
            <a:ext cx="685933" cy="7363071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1133194" y="4137924"/>
            <a:ext cx="4436304" cy="49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BRANDING QUESTIONS</a:t>
            </a:r>
            <a:endParaRPr sz="6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A black letter in a white square&#10;&#10;AI-generated content may be incorrect." id="274" name="Google Shape;27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1475" y="323848"/>
            <a:ext cx="687918" cy="74083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1"/>
          <p:cNvSpPr txBox="1"/>
          <p:nvPr/>
        </p:nvSpPr>
        <p:spPr>
          <a:xfrm>
            <a:off x="6909978" y="4137924"/>
            <a:ext cx="4436304" cy="49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CREDITS</a:t>
            </a:r>
            <a:endParaRPr/>
          </a:p>
        </p:txBody>
      </p:sp>
      <p:sp>
        <p:nvSpPr>
          <p:cNvPr id="276" name="Google Shape;276;p11"/>
          <p:cNvSpPr txBox="1"/>
          <p:nvPr/>
        </p:nvSpPr>
        <p:spPr>
          <a:xfrm>
            <a:off x="1134736" y="4742038"/>
            <a:ext cx="333472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 Jane Doe at </a:t>
            </a:r>
            <a:r>
              <a:rPr lang="en-US" sz="16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janedoe@branddesign.com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Download brand assets at www.heresthelink.co</a:t>
            </a:r>
            <a:endParaRPr/>
          </a:p>
        </p:txBody>
      </p:sp>
      <p:sp>
        <p:nvSpPr>
          <p:cNvPr id="277" name="Google Shape;277;p11"/>
          <p:cNvSpPr txBox="1"/>
          <p:nvPr/>
        </p:nvSpPr>
        <p:spPr>
          <a:xfrm>
            <a:off x="6911520" y="4742038"/>
            <a:ext cx="333472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Branding by The Design Agency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Anchorage, AK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www.thedesignagency.co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 txBox="1"/>
          <p:nvPr/>
        </p:nvSpPr>
        <p:spPr>
          <a:xfrm>
            <a:off x="900689" y="627448"/>
            <a:ext cx="7458000" cy="9287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Style Guide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83" name="Google Shape;283;p12"/>
          <p:cNvSpPr txBox="1"/>
          <p:nvPr/>
        </p:nvSpPr>
        <p:spPr>
          <a:xfrm rot="-5400000">
            <a:off x="8586425" y="3233409"/>
            <a:ext cx="661774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PAGE 09     00/00/2025                     COMPANY NAME</a:t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11581911" y="-192919"/>
            <a:ext cx="685933" cy="7363071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880095" y="2930158"/>
            <a:ext cx="516170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Arial 80 pt</a:t>
            </a: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309584" y="3600935"/>
            <a:ext cx="592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854351" y="4226352"/>
            <a:ext cx="3982663" cy="9287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Arial 60 pt 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88" name="Google Shape;288;p12"/>
          <p:cNvSpPr txBox="1"/>
          <p:nvPr/>
        </p:nvSpPr>
        <p:spPr>
          <a:xfrm>
            <a:off x="309584" y="4646111"/>
            <a:ext cx="592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H2</a:t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874945" y="5412222"/>
            <a:ext cx="3982663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Arial 48 pt </a:t>
            </a:r>
            <a:endParaRPr sz="4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309584" y="5711881"/>
            <a:ext cx="592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H3</a:t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6632859" y="4701925"/>
            <a:ext cx="446971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This is the standard body copy treatment. Arial 18pt in white. </a:t>
            </a:r>
            <a:r>
              <a:rPr lang="en-US" sz="1800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Use Arial Black</a:t>
            </a: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to accentuate</a:t>
            </a:r>
            <a:r>
              <a:rPr lang="en-US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key phrases that aid in the scanability of the content.</a:t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947843" y="2248370"/>
            <a:ext cx="4117088" cy="49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SUBHEAD ARIAL BOLD 18PT CAPS</a:t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6632859" y="6081764"/>
            <a:ext cx="45932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This is the secondary body copy that is smaller for more detailed information. Arial 16 pt.</a:t>
            </a:r>
            <a:endParaRPr/>
          </a:p>
        </p:txBody>
      </p:sp>
      <p:sp>
        <p:nvSpPr>
          <p:cNvPr id="294" name="Google Shape;294;p12"/>
          <p:cNvSpPr txBox="1"/>
          <p:nvPr/>
        </p:nvSpPr>
        <p:spPr>
          <a:xfrm>
            <a:off x="946419" y="6874655"/>
            <a:ext cx="44697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This is the smallest body copy for tertiary information such as legal copy or disclaimers. Arial 12 pt</a:t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8905833" y="2588471"/>
            <a:ext cx="2045057" cy="1809159"/>
          </a:xfrm>
          <a:prstGeom prst="roundRect">
            <a:avLst>
              <a:gd fmla="val 16667" name="adj"/>
            </a:avLst>
          </a:prstGeom>
          <a:solidFill>
            <a:srgbClr val="002C7C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6630089" y="2588470"/>
            <a:ext cx="2045057" cy="1809159"/>
          </a:xfrm>
          <a:prstGeom prst="roundRect">
            <a:avLst>
              <a:gd fmla="val 16667" name="adj"/>
            </a:avLst>
          </a:prstGeom>
          <a:solidFill>
            <a:srgbClr val="540A26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9619704" y="1266578"/>
            <a:ext cx="1324993" cy="1147167"/>
          </a:xfrm>
          <a:prstGeom prst="roundRect">
            <a:avLst>
              <a:gd fmla="val 16667" name="adj"/>
            </a:avLst>
          </a:prstGeom>
          <a:solidFill>
            <a:srgbClr val="6770D6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8122072" y="1266578"/>
            <a:ext cx="1324993" cy="1147167"/>
          </a:xfrm>
          <a:prstGeom prst="roundRect">
            <a:avLst>
              <a:gd fmla="val 16667" name="adj"/>
            </a:avLst>
          </a:prstGeom>
          <a:solidFill>
            <a:srgbClr val="3FB7EB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6630090" y="1266577"/>
            <a:ext cx="1324993" cy="1147167"/>
          </a:xfrm>
          <a:prstGeom prst="roundRect">
            <a:avLst>
              <a:gd fmla="val 16667" name="adj"/>
            </a:avLst>
          </a:prstGeom>
          <a:solidFill>
            <a:srgbClr val="872D6C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2"/>
          <p:cNvSpPr txBox="1"/>
          <p:nvPr/>
        </p:nvSpPr>
        <p:spPr>
          <a:xfrm>
            <a:off x="6632859" y="793635"/>
            <a:ext cx="24793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COLORS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 txBox="1"/>
          <p:nvPr/>
        </p:nvSpPr>
        <p:spPr>
          <a:xfrm>
            <a:off x="6647366" y="1338678"/>
            <a:ext cx="8797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Plum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 txBox="1"/>
          <p:nvPr/>
        </p:nvSpPr>
        <p:spPr>
          <a:xfrm>
            <a:off x="6647366" y="1769956"/>
            <a:ext cx="172843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#872D6C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"/>
          <p:cNvSpPr txBox="1"/>
          <p:nvPr/>
        </p:nvSpPr>
        <p:spPr>
          <a:xfrm>
            <a:off x="6735002" y="2735648"/>
            <a:ext cx="8797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Maroon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6735002" y="3597898"/>
            <a:ext cx="1728439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HEX #540A26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9009458" y="2735648"/>
            <a:ext cx="13276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Dawn Blue</a:t>
            </a:r>
            <a:endParaRPr/>
          </a:p>
        </p:txBody>
      </p:sp>
      <p:sp>
        <p:nvSpPr>
          <p:cNvPr id="306" name="Google Shape;306;p12"/>
          <p:cNvSpPr txBox="1"/>
          <p:nvPr/>
        </p:nvSpPr>
        <p:spPr>
          <a:xfrm>
            <a:off x="9009458" y="3597898"/>
            <a:ext cx="1728439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HEX #002C7C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8143530" y="1338678"/>
            <a:ext cx="13018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Electric Blue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8158975" y="1769956"/>
            <a:ext cx="172843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#3FB7EB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2"/>
          <p:cNvSpPr txBox="1"/>
          <p:nvPr/>
        </p:nvSpPr>
        <p:spPr>
          <a:xfrm>
            <a:off x="9689170" y="1338678"/>
            <a:ext cx="8797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Periwinkle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9689170" y="1769956"/>
            <a:ext cx="172843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#6770D6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2025-10-27T21:45:09Z</dcterms:created>
</cp:coreProperties>
</file>