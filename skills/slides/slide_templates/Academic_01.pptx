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1" r:id="rId3"/>
    <p:sldId id="268" r:id="rId4"/>
    <p:sldId id="259" r:id="rId5"/>
    <p:sldId id="258" r:id="rId6"/>
    <p:sldId id="260" r:id="rId7"/>
    <p:sldId id="261" r:id="rId8"/>
    <p:sldId id="269" r:id="rId9"/>
    <p:sldId id="264" r:id="rId10"/>
    <p:sldId id="270" r:id="rId11"/>
    <p:sldId id="265" r:id="rId12"/>
    <p:sldId id="267" r:id="rId13"/>
    <p:sldId id="262" r:id="rId14"/>
    <p:sldId id="263"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79"/>
    <p:restoredTop sz="94694"/>
  </p:normalViewPr>
  <p:slideViewPr>
    <p:cSldViewPr snapToGrid="0">
      <p:cViewPr varScale="1">
        <p:scale>
          <a:sx n="117" d="100"/>
          <a:sy n="117" d="100"/>
        </p:scale>
        <p:origin x="1208" y="168"/>
      </p:cViewPr>
      <p:guideLst/>
    </p:cSldViewPr>
  </p:slideViewPr>
  <p:notesTextViewPr>
    <p:cViewPr>
      <p:scale>
        <a:sx n="155" d="100"/>
        <a:sy n="15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41990-2327-5F45-8C62-609830753B80}" type="datetimeFigureOut">
              <a:rPr lang="en-US" smtClean="0"/>
              <a:t>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07DD0C-C8A1-FE42-9F2B-4DB2E32C9DAF}" type="slidenum">
              <a:rPr lang="en-US" smtClean="0"/>
              <a:t>‹#›</a:t>
            </a:fld>
            <a:endParaRPr lang="en-US"/>
          </a:p>
        </p:txBody>
      </p:sp>
    </p:spTree>
    <p:extLst>
      <p:ext uri="{BB962C8B-B14F-4D97-AF65-F5344CB8AC3E}">
        <p14:creationId xmlns:p14="http://schemas.microsoft.com/office/powerpoint/2010/main" val="2092013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07DD0C-C8A1-FE42-9F2B-4DB2E32C9DAF}" type="slidenum">
              <a:rPr lang="en-US" smtClean="0"/>
              <a:t>1</a:t>
            </a:fld>
            <a:endParaRPr lang="en-US"/>
          </a:p>
        </p:txBody>
      </p:sp>
    </p:spTree>
    <p:extLst>
      <p:ext uri="{BB962C8B-B14F-4D97-AF65-F5344CB8AC3E}">
        <p14:creationId xmlns:p14="http://schemas.microsoft.com/office/powerpoint/2010/main" val="2453985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C27C5-D6B9-E3EB-40FA-E7023AA70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F096E-004A-629F-EED2-0C863D98F0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00EC2-F888-612B-AA7F-81AB6AD543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4866F2-A8FE-FAB3-4C32-864E10D85427}"/>
              </a:ext>
            </a:extLst>
          </p:cNvPr>
          <p:cNvSpPr>
            <a:spLocks noGrp="1"/>
          </p:cNvSpPr>
          <p:nvPr>
            <p:ph type="sldNum" sz="quarter" idx="5"/>
          </p:nvPr>
        </p:nvSpPr>
        <p:spPr/>
        <p:txBody>
          <a:bodyPr/>
          <a:lstStyle/>
          <a:p>
            <a:fld id="{D507DD0C-C8A1-FE42-9F2B-4DB2E32C9DAF}" type="slidenum">
              <a:rPr lang="en-US" smtClean="0"/>
              <a:t>2</a:t>
            </a:fld>
            <a:endParaRPr lang="en-US"/>
          </a:p>
        </p:txBody>
      </p:sp>
    </p:spTree>
    <p:extLst>
      <p:ext uri="{BB962C8B-B14F-4D97-AF65-F5344CB8AC3E}">
        <p14:creationId xmlns:p14="http://schemas.microsoft.com/office/powerpoint/2010/main" val="686924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CED60-DA69-4739-7041-32C5DA290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E89CA-49FF-C5BB-C981-576086061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A9C4E4-5682-FDDD-5F81-EA479C6ECF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AD350D-3960-846E-AC99-2198BAD65025}"/>
              </a:ext>
            </a:extLst>
          </p:cNvPr>
          <p:cNvSpPr>
            <a:spLocks noGrp="1"/>
          </p:cNvSpPr>
          <p:nvPr>
            <p:ph type="sldNum" sz="quarter" idx="5"/>
          </p:nvPr>
        </p:nvSpPr>
        <p:spPr/>
        <p:txBody>
          <a:bodyPr/>
          <a:lstStyle/>
          <a:p>
            <a:fld id="{D507DD0C-C8A1-FE42-9F2B-4DB2E32C9DAF}" type="slidenum">
              <a:rPr lang="en-US" smtClean="0"/>
              <a:t>3</a:t>
            </a:fld>
            <a:endParaRPr lang="en-US"/>
          </a:p>
        </p:txBody>
      </p:sp>
    </p:spTree>
    <p:extLst>
      <p:ext uri="{BB962C8B-B14F-4D97-AF65-F5344CB8AC3E}">
        <p14:creationId xmlns:p14="http://schemas.microsoft.com/office/powerpoint/2010/main" val="3261652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947EC-E0A1-4245-54D0-1C8FEE10C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F3C9E-0EBF-6800-4BE8-CD912C57C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698206-88EF-0CA2-C8FC-215AA7AFE3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AA685A-18C3-309D-44B9-B44682AABCDE}"/>
              </a:ext>
            </a:extLst>
          </p:cNvPr>
          <p:cNvSpPr>
            <a:spLocks noGrp="1"/>
          </p:cNvSpPr>
          <p:nvPr>
            <p:ph type="sldNum" sz="quarter" idx="5"/>
          </p:nvPr>
        </p:nvSpPr>
        <p:spPr/>
        <p:txBody>
          <a:bodyPr/>
          <a:lstStyle/>
          <a:p>
            <a:fld id="{D507DD0C-C8A1-FE42-9F2B-4DB2E32C9DAF}" type="slidenum">
              <a:rPr lang="en-US" smtClean="0"/>
              <a:t>4</a:t>
            </a:fld>
            <a:endParaRPr lang="en-US"/>
          </a:p>
        </p:txBody>
      </p:sp>
    </p:spTree>
    <p:extLst>
      <p:ext uri="{BB962C8B-B14F-4D97-AF65-F5344CB8AC3E}">
        <p14:creationId xmlns:p14="http://schemas.microsoft.com/office/powerpoint/2010/main" val="2898484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29896-A061-B3A3-AA05-47CA0EE3B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2D1DF-FFD1-B80F-5C06-545887417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EDD007-7A58-A86B-DAA8-F7FC482C5B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50A265-4BD4-2373-CB12-F28EA46DE119}"/>
              </a:ext>
            </a:extLst>
          </p:cNvPr>
          <p:cNvSpPr>
            <a:spLocks noGrp="1"/>
          </p:cNvSpPr>
          <p:nvPr>
            <p:ph type="sldNum" sz="quarter" idx="5"/>
          </p:nvPr>
        </p:nvSpPr>
        <p:spPr/>
        <p:txBody>
          <a:bodyPr/>
          <a:lstStyle/>
          <a:p>
            <a:fld id="{D507DD0C-C8A1-FE42-9F2B-4DB2E32C9DAF}" type="slidenum">
              <a:rPr lang="en-US" smtClean="0"/>
              <a:t>5</a:t>
            </a:fld>
            <a:endParaRPr lang="en-US"/>
          </a:p>
        </p:txBody>
      </p:sp>
    </p:spTree>
    <p:extLst>
      <p:ext uri="{BB962C8B-B14F-4D97-AF65-F5344CB8AC3E}">
        <p14:creationId xmlns:p14="http://schemas.microsoft.com/office/powerpoint/2010/main" val="409102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14BD-67EA-44E9-A48E-F582E6C7B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0822C-C6D5-C0D3-DE01-11FEF5CBD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B1BD9-8AA4-E32A-A3E1-2F7E168E70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FFCD8-2B46-4D7C-DD5E-B40A0CCE4ADF}"/>
              </a:ext>
            </a:extLst>
          </p:cNvPr>
          <p:cNvSpPr>
            <a:spLocks noGrp="1"/>
          </p:cNvSpPr>
          <p:nvPr>
            <p:ph type="sldNum" sz="quarter" idx="5"/>
          </p:nvPr>
        </p:nvSpPr>
        <p:spPr/>
        <p:txBody>
          <a:bodyPr/>
          <a:lstStyle/>
          <a:p>
            <a:fld id="{D507DD0C-C8A1-FE42-9F2B-4DB2E32C9DAF}" type="slidenum">
              <a:rPr lang="en-US" smtClean="0"/>
              <a:t>6</a:t>
            </a:fld>
            <a:endParaRPr lang="en-US"/>
          </a:p>
        </p:txBody>
      </p:sp>
    </p:spTree>
    <p:extLst>
      <p:ext uri="{BB962C8B-B14F-4D97-AF65-F5344CB8AC3E}">
        <p14:creationId xmlns:p14="http://schemas.microsoft.com/office/powerpoint/2010/main" val="3734846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2B82F-C52A-51ED-9C1D-05515225D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974D9-0556-E78B-3EDA-12AEA3389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3DBAA-C544-A6DE-78EC-905FC6E615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91C07B-4AF3-28DB-02FA-348EAA5FCC88}"/>
              </a:ext>
            </a:extLst>
          </p:cNvPr>
          <p:cNvSpPr>
            <a:spLocks noGrp="1"/>
          </p:cNvSpPr>
          <p:nvPr>
            <p:ph type="sldNum" sz="quarter" idx="5"/>
          </p:nvPr>
        </p:nvSpPr>
        <p:spPr/>
        <p:txBody>
          <a:bodyPr/>
          <a:lstStyle/>
          <a:p>
            <a:fld id="{D507DD0C-C8A1-FE42-9F2B-4DB2E32C9DAF}" type="slidenum">
              <a:rPr lang="en-US" smtClean="0"/>
              <a:t>7</a:t>
            </a:fld>
            <a:endParaRPr lang="en-US"/>
          </a:p>
        </p:txBody>
      </p:sp>
    </p:spTree>
    <p:extLst>
      <p:ext uri="{BB962C8B-B14F-4D97-AF65-F5344CB8AC3E}">
        <p14:creationId xmlns:p14="http://schemas.microsoft.com/office/powerpoint/2010/main" val="3167567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DF5BB-49BD-F4B4-E2CA-93D23B3C2D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B14A4-F72C-D9FC-0324-934218DA78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6574E-E8DB-713F-894F-2A72457F34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585E2E-3770-F52D-FB66-F5FB3754E791}"/>
              </a:ext>
            </a:extLst>
          </p:cNvPr>
          <p:cNvSpPr>
            <a:spLocks noGrp="1"/>
          </p:cNvSpPr>
          <p:nvPr>
            <p:ph type="sldNum" sz="quarter" idx="5"/>
          </p:nvPr>
        </p:nvSpPr>
        <p:spPr/>
        <p:txBody>
          <a:bodyPr/>
          <a:lstStyle/>
          <a:p>
            <a:fld id="{D507DD0C-C8A1-FE42-9F2B-4DB2E32C9DAF}" type="slidenum">
              <a:rPr lang="en-US" smtClean="0"/>
              <a:t>8</a:t>
            </a:fld>
            <a:endParaRPr lang="en-US"/>
          </a:p>
        </p:txBody>
      </p:sp>
    </p:spTree>
    <p:extLst>
      <p:ext uri="{BB962C8B-B14F-4D97-AF65-F5344CB8AC3E}">
        <p14:creationId xmlns:p14="http://schemas.microsoft.com/office/powerpoint/2010/main" val="2042534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DB5B7-A7ED-194D-DDC9-86CC7489E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EEFCC-1189-351C-EE34-7400221E0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8B527-038E-802D-2CEC-D398E69093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A1AAAE-65BB-C787-C873-39FFFB5EA883}"/>
              </a:ext>
            </a:extLst>
          </p:cNvPr>
          <p:cNvSpPr>
            <a:spLocks noGrp="1"/>
          </p:cNvSpPr>
          <p:nvPr>
            <p:ph type="sldNum" sz="quarter" idx="5"/>
          </p:nvPr>
        </p:nvSpPr>
        <p:spPr/>
        <p:txBody>
          <a:bodyPr/>
          <a:lstStyle/>
          <a:p>
            <a:fld id="{D507DD0C-C8A1-FE42-9F2B-4DB2E32C9DAF}" type="slidenum">
              <a:rPr lang="en-US" smtClean="0"/>
              <a:t>9</a:t>
            </a:fld>
            <a:endParaRPr lang="en-US"/>
          </a:p>
        </p:txBody>
      </p:sp>
    </p:spTree>
    <p:extLst>
      <p:ext uri="{BB962C8B-B14F-4D97-AF65-F5344CB8AC3E}">
        <p14:creationId xmlns:p14="http://schemas.microsoft.com/office/powerpoint/2010/main" val="6061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FF24-658A-C972-942F-9C6D80B00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BCB85-C17F-07E4-7E51-6968C597E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D28D9-2673-ED17-F30F-229F93F4A9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964ADA-2D9A-B900-F383-6BA8DF536EE5}"/>
              </a:ext>
            </a:extLst>
          </p:cNvPr>
          <p:cNvSpPr>
            <a:spLocks noGrp="1"/>
          </p:cNvSpPr>
          <p:nvPr>
            <p:ph type="sldNum" sz="quarter" idx="5"/>
          </p:nvPr>
        </p:nvSpPr>
        <p:spPr/>
        <p:txBody>
          <a:bodyPr/>
          <a:lstStyle/>
          <a:p>
            <a:fld id="{D507DD0C-C8A1-FE42-9F2B-4DB2E32C9DAF}" type="slidenum">
              <a:rPr lang="en-US" smtClean="0"/>
              <a:t>10</a:t>
            </a:fld>
            <a:endParaRPr lang="en-US"/>
          </a:p>
        </p:txBody>
      </p:sp>
    </p:spTree>
    <p:extLst>
      <p:ext uri="{BB962C8B-B14F-4D97-AF65-F5344CB8AC3E}">
        <p14:creationId xmlns:p14="http://schemas.microsoft.com/office/powerpoint/2010/main" val="2808549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F5F0-873E-38CC-F6F1-3F46DC812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EE4A4-81C9-B127-6269-11FDDB0DD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7FD8B-1573-3017-65EB-E889036D41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61EFB7-691B-196D-B536-8B6A523B2186}"/>
              </a:ext>
            </a:extLst>
          </p:cNvPr>
          <p:cNvSpPr>
            <a:spLocks noGrp="1"/>
          </p:cNvSpPr>
          <p:nvPr>
            <p:ph type="sldNum" sz="quarter" idx="5"/>
          </p:nvPr>
        </p:nvSpPr>
        <p:spPr/>
        <p:txBody>
          <a:bodyPr/>
          <a:lstStyle/>
          <a:p>
            <a:fld id="{D507DD0C-C8A1-FE42-9F2B-4DB2E32C9DAF}" type="slidenum">
              <a:rPr lang="en-US" smtClean="0"/>
              <a:t>11</a:t>
            </a:fld>
            <a:endParaRPr lang="en-US"/>
          </a:p>
        </p:txBody>
      </p:sp>
    </p:spTree>
    <p:extLst>
      <p:ext uri="{BB962C8B-B14F-4D97-AF65-F5344CB8AC3E}">
        <p14:creationId xmlns:p14="http://schemas.microsoft.com/office/powerpoint/2010/main" val="299125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797C7-3510-82E1-D178-D4F26A484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9B860-C91F-332D-2538-353DE0C4D0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4F32B-109D-A309-2268-9B7DA5FC06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9D699-B3D9-3914-00B0-AF2ABBE75F61}"/>
              </a:ext>
            </a:extLst>
          </p:cNvPr>
          <p:cNvSpPr>
            <a:spLocks noGrp="1"/>
          </p:cNvSpPr>
          <p:nvPr>
            <p:ph type="sldNum" sz="quarter" idx="5"/>
          </p:nvPr>
        </p:nvSpPr>
        <p:spPr/>
        <p:txBody>
          <a:bodyPr/>
          <a:lstStyle/>
          <a:p>
            <a:fld id="{D507DD0C-C8A1-FE42-9F2B-4DB2E32C9DAF}" type="slidenum">
              <a:rPr lang="en-US" smtClean="0"/>
              <a:t>12</a:t>
            </a:fld>
            <a:endParaRPr lang="en-US"/>
          </a:p>
        </p:txBody>
      </p:sp>
    </p:spTree>
    <p:extLst>
      <p:ext uri="{BB962C8B-B14F-4D97-AF65-F5344CB8AC3E}">
        <p14:creationId xmlns:p14="http://schemas.microsoft.com/office/powerpoint/2010/main" val="3080702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A3700-8717-8D66-A018-C97042D39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D8D5E-9999-2F00-430B-C7042965F7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8C29D7-D7F2-D2E7-33F8-B8EE6536D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8E31AD-7EE0-D7ED-7694-BB787BA2B7EE}"/>
              </a:ext>
            </a:extLst>
          </p:cNvPr>
          <p:cNvSpPr>
            <a:spLocks noGrp="1"/>
          </p:cNvSpPr>
          <p:nvPr>
            <p:ph type="sldNum" sz="quarter" idx="5"/>
          </p:nvPr>
        </p:nvSpPr>
        <p:spPr/>
        <p:txBody>
          <a:bodyPr/>
          <a:lstStyle/>
          <a:p>
            <a:fld id="{D507DD0C-C8A1-FE42-9F2B-4DB2E32C9DAF}" type="slidenum">
              <a:rPr lang="en-US" smtClean="0"/>
              <a:t>13</a:t>
            </a:fld>
            <a:endParaRPr lang="en-US"/>
          </a:p>
        </p:txBody>
      </p:sp>
    </p:spTree>
    <p:extLst>
      <p:ext uri="{BB962C8B-B14F-4D97-AF65-F5344CB8AC3E}">
        <p14:creationId xmlns:p14="http://schemas.microsoft.com/office/powerpoint/2010/main" val="4294539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A939-E45A-205E-A5E7-E3017F465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A2A77-F7B6-1F40-8FC0-3C8D45C70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B1D707-C7A4-1DF0-B784-D5084A1938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838612-E953-29DD-09F3-3B415368E2CF}"/>
              </a:ext>
            </a:extLst>
          </p:cNvPr>
          <p:cNvSpPr>
            <a:spLocks noGrp="1"/>
          </p:cNvSpPr>
          <p:nvPr>
            <p:ph type="sldNum" sz="quarter" idx="5"/>
          </p:nvPr>
        </p:nvSpPr>
        <p:spPr/>
        <p:txBody>
          <a:bodyPr/>
          <a:lstStyle/>
          <a:p>
            <a:fld id="{D507DD0C-C8A1-FE42-9F2B-4DB2E32C9DAF}" type="slidenum">
              <a:rPr lang="en-US" smtClean="0"/>
              <a:t>14</a:t>
            </a:fld>
            <a:endParaRPr lang="en-US"/>
          </a:p>
        </p:txBody>
      </p:sp>
    </p:spTree>
    <p:extLst>
      <p:ext uri="{BB962C8B-B14F-4D97-AF65-F5344CB8AC3E}">
        <p14:creationId xmlns:p14="http://schemas.microsoft.com/office/powerpoint/2010/main" val="4210696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EEE30-78DB-2FBC-2113-CB475CBA0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5AF6E-0BD7-1C5B-3DAF-9BF45E6A1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A09E0-A289-665C-0A2F-8C7B2BD7E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8BE07F-C703-D3E7-7DA5-143541947303}"/>
              </a:ext>
            </a:extLst>
          </p:cNvPr>
          <p:cNvSpPr>
            <a:spLocks noGrp="1"/>
          </p:cNvSpPr>
          <p:nvPr>
            <p:ph type="sldNum" sz="quarter" idx="5"/>
          </p:nvPr>
        </p:nvSpPr>
        <p:spPr/>
        <p:txBody>
          <a:bodyPr/>
          <a:lstStyle/>
          <a:p>
            <a:fld id="{D507DD0C-C8A1-FE42-9F2B-4DB2E32C9DAF}" type="slidenum">
              <a:rPr lang="en-US" smtClean="0"/>
              <a:t>15</a:t>
            </a:fld>
            <a:endParaRPr lang="en-US"/>
          </a:p>
        </p:txBody>
      </p:sp>
    </p:spTree>
    <p:extLst>
      <p:ext uri="{BB962C8B-B14F-4D97-AF65-F5344CB8AC3E}">
        <p14:creationId xmlns:p14="http://schemas.microsoft.com/office/powerpoint/2010/main" val="3072889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7C613-E7DB-ADAC-4241-9606C6B7E1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6B0BC3-FF3D-8FEC-A9FC-27FA218C0B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C0AD29-9A65-89C4-59B9-91FCDAA5DA86}"/>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5" name="Footer Placeholder 4">
            <a:extLst>
              <a:ext uri="{FF2B5EF4-FFF2-40B4-BE49-F238E27FC236}">
                <a16:creationId xmlns:a16="http://schemas.microsoft.com/office/drawing/2014/main" id="{8C4B34B0-5B25-51F1-DA8C-B7B23A3927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D1B10-427E-5E1A-2498-FF998709B39F}"/>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400936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37E2-E448-2214-7B85-ECD4583E6E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F285E6-CBB0-55EA-406F-AD35F36D4B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E7783-8435-3883-D3FC-1003A9AEC339}"/>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5" name="Footer Placeholder 4">
            <a:extLst>
              <a:ext uri="{FF2B5EF4-FFF2-40B4-BE49-F238E27FC236}">
                <a16:creationId xmlns:a16="http://schemas.microsoft.com/office/drawing/2014/main" id="{2F838F4D-8585-7BFA-1815-9D4FED080A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2C4AA9-7DC9-8B86-CCA7-ECBBE7F6F32E}"/>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1643649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9941-9D68-3F02-C6E3-CB339F319E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10F292-A614-C809-C217-DDD58D4AD1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8FD236-54C5-0636-EE7B-F59AE1232E0A}"/>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5" name="Footer Placeholder 4">
            <a:extLst>
              <a:ext uri="{FF2B5EF4-FFF2-40B4-BE49-F238E27FC236}">
                <a16:creationId xmlns:a16="http://schemas.microsoft.com/office/drawing/2014/main" id="{B4FDF4E6-74AA-9B13-FF5A-9911A817B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24B54A-6EA5-7DCD-F50A-D7E0D6AB5C6E}"/>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2182442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4390D-123A-A86E-7976-42162C22D2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A5AFE0-B48A-657C-AEF6-01B224760A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9A637D-4B1E-00CD-6FF0-2C4A032E4A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01E3D4-3028-652A-264A-3618E2471F9C}"/>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6" name="Footer Placeholder 5">
            <a:extLst>
              <a:ext uri="{FF2B5EF4-FFF2-40B4-BE49-F238E27FC236}">
                <a16:creationId xmlns:a16="http://schemas.microsoft.com/office/drawing/2014/main" id="{7BD319D9-DF7C-E7A8-620D-A0EEBA73D9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591F77-7225-1EAB-2970-10B106022684}"/>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3911855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3868-FFF6-2A20-C724-789BD95E8E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1198D5-863C-BE8F-099D-54780BBC18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17DA1-A16D-84DE-5EBC-1B5DB78A8E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0D52C0-EACC-F195-A862-AE57200CC9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A39E91-65A3-6A5B-83E7-03934B8655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DC6D73-3204-8791-CEF1-67DF21D7CD31}"/>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8" name="Footer Placeholder 7">
            <a:extLst>
              <a:ext uri="{FF2B5EF4-FFF2-40B4-BE49-F238E27FC236}">
                <a16:creationId xmlns:a16="http://schemas.microsoft.com/office/drawing/2014/main" id="{2CC5F509-D506-39FE-0981-6C864E4203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0CB2B6-0AD6-350C-5B02-2BD1C19C3B00}"/>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819527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A364-B1B6-3E1D-2145-5DAF528E27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A87F45-B73B-B0C1-308F-72BF76C0F031}"/>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4" name="Footer Placeholder 3">
            <a:extLst>
              <a:ext uri="{FF2B5EF4-FFF2-40B4-BE49-F238E27FC236}">
                <a16:creationId xmlns:a16="http://schemas.microsoft.com/office/drawing/2014/main" id="{9C81B1D8-D121-01EB-1FB5-AECBDD553C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D6626-F177-3FBC-3A76-EFE6D44F56DE}"/>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84288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8E11B8-2D81-7164-ACB2-B459FE82D81B}"/>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3" name="Footer Placeholder 2">
            <a:extLst>
              <a:ext uri="{FF2B5EF4-FFF2-40B4-BE49-F238E27FC236}">
                <a16:creationId xmlns:a16="http://schemas.microsoft.com/office/drawing/2014/main" id="{83A6709F-4CBC-338C-E3EB-B3F1724B04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C3EA41-BE6B-ECBC-DC08-DE10FAB6C29A}"/>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695082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A5A8E-C7E2-3511-7303-1E833AE7EF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1B44A0-BB1C-2C1B-4426-3B69317FFA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EAF70C-2E3D-245B-ABD5-7C76A54D5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B850FB-DF07-72E5-0BDC-2436DADA1C1E}"/>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6" name="Footer Placeholder 5">
            <a:extLst>
              <a:ext uri="{FF2B5EF4-FFF2-40B4-BE49-F238E27FC236}">
                <a16:creationId xmlns:a16="http://schemas.microsoft.com/office/drawing/2014/main" id="{9292EE08-7BC4-7AB7-6819-5045BB69D3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A4E3E-5ABE-96CD-7936-CFEC9A55EFE7}"/>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619353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2AC2E-1367-7409-3E59-5A47D8EF11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72AC20-9FCF-C494-1FA9-D1BDF7AEC2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D3C4F3-3FAE-3475-9895-E97C15BE9A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F7A62C-40DF-1136-57D4-AD37FFD21CC1}"/>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6" name="Footer Placeholder 5">
            <a:extLst>
              <a:ext uri="{FF2B5EF4-FFF2-40B4-BE49-F238E27FC236}">
                <a16:creationId xmlns:a16="http://schemas.microsoft.com/office/drawing/2014/main" id="{8D309A50-20A7-EAAC-F91D-EEF91451BE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A8038-68AD-7AE0-7FF9-5605593A2686}"/>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3953140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99B6B-7633-7A06-E83B-1DBF83B3E0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A25EB0-C262-DA3E-C5E5-8A0C958EB0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A8F45C-B0D1-BAA7-5C4D-22631A856E71}"/>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5" name="Footer Placeholder 4">
            <a:extLst>
              <a:ext uri="{FF2B5EF4-FFF2-40B4-BE49-F238E27FC236}">
                <a16:creationId xmlns:a16="http://schemas.microsoft.com/office/drawing/2014/main" id="{51AF6A49-80A9-E824-1432-D4EB02D103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EDFEA2-4AAC-C39E-3B85-1D8945476794}"/>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1633156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A7B6EE-64C6-7C57-3B12-7C63C75477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85D442-E84E-6556-EB0E-EA62D4D372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26AC08-C57A-8A9C-3AF5-6D3E7846E202}"/>
              </a:ext>
            </a:extLst>
          </p:cNvPr>
          <p:cNvSpPr>
            <a:spLocks noGrp="1"/>
          </p:cNvSpPr>
          <p:nvPr>
            <p:ph type="dt" sz="half" idx="10"/>
          </p:nvPr>
        </p:nvSpPr>
        <p:spPr/>
        <p:txBody>
          <a:bodyPr/>
          <a:lstStyle/>
          <a:p>
            <a:fld id="{94F0663F-1374-8F4B-9525-E9192DF6662A}" type="datetimeFigureOut">
              <a:rPr lang="en-US" smtClean="0"/>
              <a:t>2/1/26</a:t>
            </a:fld>
            <a:endParaRPr lang="en-US"/>
          </a:p>
        </p:txBody>
      </p:sp>
      <p:sp>
        <p:nvSpPr>
          <p:cNvPr id="5" name="Footer Placeholder 4">
            <a:extLst>
              <a:ext uri="{FF2B5EF4-FFF2-40B4-BE49-F238E27FC236}">
                <a16:creationId xmlns:a16="http://schemas.microsoft.com/office/drawing/2014/main" id="{275D5A26-3018-6D34-5FD7-10AD98D98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C7D81-F1DF-4AFA-0A44-7FCB5F84B6CC}"/>
              </a:ext>
            </a:extLst>
          </p:cNvPr>
          <p:cNvSpPr>
            <a:spLocks noGrp="1"/>
          </p:cNvSpPr>
          <p:nvPr>
            <p:ph type="sldNum" sz="quarter" idx="12"/>
          </p:nvPr>
        </p:nvSpPr>
        <p:spPr/>
        <p:txBody>
          <a:bodyPr/>
          <a:lstStyle/>
          <a:p>
            <a:fld id="{00435A6B-7623-264E-B03F-26487D1F128A}" type="slidenum">
              <a:rPr lang="en-US" smtClean="0"/>
              <a:t>‹#›</a:t>
            </a:fld>
            <a:endParaRPr lang="en-US"/>
          </a:p>
        </p:txBody>
      </p:sp>
    </p:spTree>
    <p:extLst>
      <p:ext uri="{BB962C8B-B14F-4D97-AF65-F5344CB8AC3E}">
        <p14:creationId xmlns:p14="http://schemas.microsoft.com/office/powerpoint/2010/main" val="4207259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9C1846-85BD-7C72-06FD-F5E944523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A2A357-BF29-F8AF-EE20-37208EA4F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2AE944-3A88-1485-1D8D-D266A19587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F0663F-1374-8F4B-9525-E9192DF6662A}" type="datetimeFigureOut">
              <a:rPr lang="en-US" smtClean="0"/>
              <a:t>2/1/26</a:t>
            </a:fld>
            <a:endParaRPr lang="en-US"/>
          </a:p>
        </p:txBody>
      </p:sp>
      <p:sp>
        <p:nvSpPr>
          <p:cNvPr id="5" name="Footer Placeholder 4">
            <a:extLst>
              <a:ext uri="{FF2B5EF4-FFF2-40B4-BE49-F238E27FC236}">
                <a16:creationId xmlns:a16="http://schemas.microsoft.com/office/drawing/2014/main" id="{91120216-0C6F-9DA0-1982-7F958FB24C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83232C-3C96-3396-7D1F-E6262EA4BA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435A6B-7623-264E-B03F-26487D1F128A}" type="slidenum">
              <a:rPr lang="en-US" smtClean="0"/>
              <a:t>‹#›</a:t>
            </a:fld>
            <a:endParaRPr lang="en-US"/>
          </a:p>
        </p:txBody>
      </p:sp>
    </p:spTree>
    <p:extLst>
      <p:ext uri="{BB962C8B-B14F-4D97-AF65-F5344CB8AC3E}">
        <p14:creationId xmlns:p14="http://schemas.microsoft.com/office/powerpoint/2010/main" val="2492288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6.png"/><Relationship Id="rId1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3.png"/><Relationship Id="rId12" Type="http://schemas.microsoft.com/office/2007/relationships/hdphoto" Target="../media/hdphoto5.wdp"/><Relationship Id="rId17" Type="http://schemas.microsoft.com/office/2007/relationships/hdphoto" Target="../media/hdphoto7.wdp"/><Relationship Id="rId2" Type="http://schemas.openxmlformats.org/officeDocument/2006/relationships/notesSlide" Target="../notesSlides/notesSlide1.xml"/><Relationship Id="rId16" Type="http://schemas.openxmlformats.org/officeDocument/2006/relationships/image" Target="../media/image8.png"/><Relationship Id="rId1" Type="http://schemas.openxmlformats.org/officeDocument/2006/relationships/slideLayout" Target="../slideLayouts/slideLayout7.xml"/><Relationship Id="rId6" Type="http://schemas.microsoft.com/office/2007/relationships/hdphoto" Target="../media/hdphoto2.wdp"/><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jpeg"/><Relationship Id="rId10" Type="http://schemas.microsoft.com/office/2007/relationships/hdphoto" Target="../media/hdphoto4.wdp"/><Relationship Id="rId19" Type="http://schemas.microsoft.com/office/2007/relationships/hdphoto" Target="../media/hdphoto8.wdp"/><Relationship Id="rId4" Type="http://schemas.microsoft.com/office/2007/relationships/hdphoto" Target="../media/hdphoto1.wdp"/><Relationship Id="rId9" Type="http://schemas.openxmlformats.org/officeDocument/2006/relationships/image" Target="../media/image4.png"/><Relationship Id="rId14" Type="http://schemas.microsoft.com/office/2007/relationships/hdphoto" Target="../media/hdphoto6.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5F8FBA-A97A-43B6-CAF5-C3BF7F73639C}"/>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pic>
        <p:nvPicPr>
          <p:cNvPr id="1026" name="Picture 2" descr="white concrete building during daytime">
            <a:extLst>
              <a:ext uri="{FF2B5EF4-FFF2-40B4-BE49-F238E27FC236}">
                <a16:creationId xmlns:a16="http://schemas.microsoft.com/office/drawing/2014/main" id="{E28BED83-C76C-3AF8-83E9-B826FE390C99}"/>
              </a:ext>
            </a:extLst>
          </p:cNvPr>
          <p:cNvPicPr>
            <a:picLocks noChangeAspect="1" noChangeArrowheads="1"/>
          </p:cNvPicPr>
          <p:nvPr/>
        </p:nvPicPr>
        <p:blipFill>
          <a:blip r:embed="rId3" cstate="hq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977029" y="278951"/>
            <a:ext cx="3678041" cy="47318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rown concrete building during daytime">
            <a:extLst>
              <a:ext uri="{FF2B5EF4-FFF2-40B4-BE49-F238E27FC236}">
                <a16:creationId xmlns:a16="http://schemas.microsoft.com/office/drawing/2014/main" id="{28CC6E69-1A41-6369-DAB7-4C284B2DD014}"/>
              </a:ext>
            </a:extLst>
          </p:cNvPr>
          <p:cNvPicPr>
            <a:picLocks noChangeAspect="1" noChangeArrowheads="1"/>
          </p:cNvPicPr>
          <p:nvPr/>
        </p:nvPicPr>
        <p:blipFill>
          <a:blip r:embed="rId5" cstate="hq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a:ext>
            </a:extLst>
          </a:blip>
          <a:srcRect/>
          <a:stretch>
            <a:fillRect/>
          </a:stretch>
        </p:blipFill>
        <p:spPr bwMode="auto">
          <a:xfrm>
            <a:off x="5748223" y="278951"/>
            <a:ext cx="3908203" cy="26272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w-angle photo of high-rise building">
            <a:extLst>
              <a:ext uri="{FF2B5EF4-FFF2-40B4-BE49-F238E27FC236}">
                <a16:creationId xmlns:a16="http://schemas.microsoft.com/office/drawing/2014/main" id="{3B4108EA-9799-32D3-DA82-9EE5F1894454}"/>
              </a:ext>
            </a:extLst>
          </p:cNvPr>
          <p:cNvPicPr>
            <a:picLocks noChangeAspect="1" noChangeArrowheads="1"/>
          </p:cNvPicPr>
          <p:nvPr/>
        </p:nvPicPr>
        <p:blipFill>
          <a:blip r:embed="rId7" cstate="hq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a:ext>
            </a:extLst>
          </a:blip>
          <a:srcRect/>
          <a:stretch>
            <a:fillRect/>
          </a:stretch>
        </p:blipFill>
        <p:spPr bwMode="auto">
          <a:xfrm>
            <a:off x="231939" y="278951"/>
            <a:ext cx="1651936" cy="473735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 tall building with a clock on the top of it">
            <a:extLst>
              <a:ext uri="{FF2B5EF4-FFF2-40B4-BE49-F238E27FC236}">
                <a16:creationId xmlns:a16="http://schemas.microsoft.com/office/drawing/2014/main" id="{CF948F43-9438-5C72-668E-870F0CC8CD7D}"/>
              </a:ext>
            </a:extLst>
          </p:cNvPr>
          <p:cNvPicPr>
            <a:picLocks noChangeAspect="1" noChangeArrowheads="1"/>
          </p:cNvPicPr>
          <p:nvPr/>
        </p:nvPicPr>
        <p:blipFill rotWithShape="1">
          <a:blip r:embed="rId9" cstate="hq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a:ext>
            </a:extLst>
          </a:blip>
          <a:srcRect r="-125"/>
          <a:stretch>
            <a:fillRect/>
          </a:stretch>
        </p:blipFill>
        <p:spPr bwMode="auto">
          <a:xfrm>
            <a:off x="5748223" y="4529460"/>
            <a:ext cx="6211838" cy="48133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low-angle photography of high-rise building">
            <a:extLst>
              <a:ext uri="{FF2B5EF4-FFF2-40B4-BE49-F238E27FC236}">
                <a16:creationId xmlns:a16="http://schemas.microsoft.com/office/drawing/2014/main" id="{06F57FB5-E2FA-585C-1C38-52CC4684E3AD}"/>
              </a:ext>
            </a:extLst>
          </p:cNvPr>
          <p:cNvPicPr>
            <a:picLocks noChangeAspect="1" noChangeArrowheads="1"/>
          </p:cNvPicPr>
          <p:nvPr/>
        </p:nvPicPr>
        <p:blipFill>
          <a:blip r:embed="rId11" cstate="hqprint">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a:ext>
            </a:extLst>
          </a:blip>
          <a:srcRect/>
          <a:stretch>
            <a:fillRect/>
          </a:stretch>
        </p:blipFill>
        <p:spPr bwMode="auto">
          <a:xfrm>
            <a:off x="5748223" y="3012540"/>
            <a:ext cx="2098335" cy="141058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a very tall building with many windows on top of it">
            <a:extLst>
              <a:ext uri="{FF2B5EF4-FFF2-40B4-BE49-F238E27FC236}">
                <a16:creationId xmlns:a16="http://schemas.microsoft.com/office/drawing/2014/main" id="{FF3BBD1D-BFED-47DB-046E-962ABC60BCCC}"/>
              </a:ext>
            </a:extLst>
          </p:cNvPr>
          <p:cNvPicPr>
            <a:picLocks noChangeAspect="1" noChangeArrowheads="1"/>
          </p:cNvPicPr>
          <p:nvPr/>
        </p:nvPicPr>
        <p:blipFill>
          <a:blip r:embed="rId13" cstate="hqprint">
            <a:extLst>
              <a:ext uri="{BEBA8EAE-BF5A-486C-A8C5-ECC9F3942E4B}">
                <a14:imgProps xmlns:a14="http://schemas.microsoft.com/office/drawing/2010/main">
                  <a14:imgLayer r:embed="rId14">
                    <a14:imgEffect>
                      <a14:saturation sat="0"/>
                    </a14:imgEffect>
                  </a14:imgLayer>
                </a14:imgProps>
              </a:ext>
              <a:ext uri="{28A0092B-C50C-407E-A947-70E740481C1C}">
                <a14:useLocalDpi xmlns:a14="http://schemas.microsoft.com/office/drawing/2010/main"/>
              </a:ext>
            </a:extLst>
          </a:blip>
          <a:srcRect/>
          <a:stretch>
            <a:fillRect/>
          </a:stretch>
        </p:blipFill>
        <p:spPr bwMode="auto">
          <a:xfrm>
            <a:off x="9742746" y="273677"/>
            <a:ext cx="2191487" cy="332048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 circular object with a circle in the middle">
            <a:extLst>
              <a:ext uri="{FF2B5EF4-FFF2-40B4-BE49-F238E27FC236}">
                <a16:creationId xmlns:a16="http://schemas.microsoft.com/office/drawing/2014/main" id="{B097824D-0C40-E411-7E43-4D2ECC212265}"/>
              </a:ext>
            </a:extLst>
          </p:cNvPr>
          <p:cNvPicPr>
            <a:picLocks noChangeAspect="1" noChangeArrowheads="1"/>
          </p:cNvPicPr>
          <p:nvPr/>
        </p:nvPicPr>
        <p:blipFill>
          <a:blip r:embed="rId15" cstate="hqprint">
            <a:extLst>
              <a:ext uri="{28A0092B-C50C-407E-A947-70E740481C1C}">
                <a14:useLocalDpi xmlns:a14="http://schemas.microsoft.com/office/drawing/2010/main"/>
              </a:ext>
            </a:extLst>
          </a:blip>
          <a:srcRect/>
          <a:stretch>
            <a:fillRect/>
          </a:stretch>
        </p:blipFill>
        <p:spPr bwMode="auto">
          <a:xfrm>
            <a:off x="8603069" y="3012540"/>
            <a:ext cx="1049492" cy="141058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a large circular building with a staircase leading up to it">
            <a:extLst>
              <a:ext uri="{FF2B5EF4-FFF2-40B4-BE49-F238E27FC236}">
                <a16:creationId xmlns:a16="http://schemas.microsoft.com/office/drawing/2014/main" id="{BA9BE14A-1C0F-C493-7C74-54B50C388B53}"/>
              </a:ext>
            </a:extLst>
          </p:cNvPr>
          <p:cNvPicPr>
            <a:picLocks noChangeAspect="1" noChangeArrowheads="1"/>
          </p:cNvPicPr>
          <p:nvPr/>
        </p:nvPicPr>
        <p:blipFill rotWithShape="1">
          <a:blip r:embed="rId16" cstate="hqprint">
            <a:extLst>
              <a:ext uri="{BEBA8EAE-BF5A-486C-A8C5-ECC9F3942E4B}">
                <a14:imgProps xmlns:a14="http://schemas.microsoft.com/office/drawing/2010/main">
                  <a14:imgLayer r:embed="rId17">
                    <a14:imgEffect>
                      <a14:saturation sat="0"/>
                    </a14:imgEffect>
                  </a14:imgLayer>
                </a14:imgProps>
              </a:ext>
              <a:ext uri="{28A0092B-C50C-407E-A947-70E740481C1C}">
                <a14:useLocalDpi xmlns:a14="http://schemas.microsoft.com/office/drawing/2010/main"/>
              </a:ext>
            </a:extLst>
          </a:blip>
          <a:srcRect/>
          <a:stretch>
            <a:fillRect/>
          </a:stretch>
        </p:blipFill>
        <p:spPr bwMode="auto">
          <a:xfrm>
            <a:off x="9742746" y="3578088"/>
            <a:ext cx="2191488" cy="81609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a very tall building with a clock on it's side">
            <a:extLst>
              <a:ext uri="{FF2B5EF4-FFF2-40B4-BE49-F238E27FC236}">
                <a16:creationId xmlns:a16="http://schemas.microsoft.com/office/drawing/2014/main" id="{B316FC12-69AA-616A-8655-6DBF95DA3F50}"/>
              </a:ext>
            </a:extLst>
          </p:cNvPr>
          <p:cNvPicPr>
            <a:picLocks noChangeAspect="1" noChangeArrowheads="1"/>
          </p:cNvPicPr>
          <p:nvPr/>
        </p:nvPicPr>
        <p:blipFill rotWithShape="1">
          <a:blip r:embed="rId18" cstate="hqprint">
            <a:extLst>
              <a:ext uri="{BEBA8EAE-BF5A-486C-A8C5-ECC9F3942E4B}">
                <a14:imgProps xmlns:a14="http://schemas.microsoft.com/office/drawing/2010/main">
                  <a14:imgLayer r:embed="rId19">
                    <a14:imgEffect>
                      <a14:saturation sat="0"/>
                    </a14:imgEffect>
                  </a14:imgLayer>
                </a14:imgProps>
              </a:ext>
              <a:ext uri="{28A0092B-C50C-407E-A947-70E740481C1C}">
                <a14:useLocalDpi xmlns:a14="http://schemas.microsoft.com/office/drawing/2010/main"/>
              </a:ext>
            </a:extLst>
          </a:blip>
          <a:srcRect b="-16"/>
          <a:stretch>
            <a:fillRect/>
          </a:stretch>
        </p:blipFill>
        <p:spPr bwMode="auto">
          <a:xfrm>
            <a:off x="7939711" y="3012540"/>
            <a:ext cx="573172" cy="1411024"/>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C602F896-6637-4CA6-2D36-5281A7E74360}"/>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DCDEFA9-2832-44B5-B5FF-7B4B50C09F99}"/>
              </a:ext>
            </a:extLst>
          </p:cNvPr>
          <p:cNvSpPr txBox="1"/>
          <p:nvPr/>
        </p:nvSpPr>
        <p:spPr>
          <a:xfrm>
            <a:off x="154449" y="5285850"/>
            <a:ext cx="6272477" cy="707886"/>
          </a:xfrm>
          <a:prstGeom prst="rect">
            <a:avLst/>
          </a:prstGeom>
          <a:noFill/>
        </p:spPr>
        <p:txBody>
          <a:bodyPr wrap="square" rtlCol="0">
            <a:spAutoFit/>
          </a:bodyPr>
          <a:lstStyle/>
          <a:p>
            <a:r>
              <a:rPr lang="en-US" sz="4000" dirty="0">
                <a:solidFill>
                  <a:schemeClr val="bg1"/>
                </a:solidFill>
                <a:latin typeface="Avenir Medium" panose="02000503020000020003" pitchFamily="2" charset="0"/>
              </a:rPr>
              <a:t>ACADEMIC LECTURE</a:t>
            </a:r>
          </a:p>
        </p:txBody>
      </p:sp>
      <p:sp>
        <p:nvSpPr>
          <p:cNvPr id="17" name="TextBox 16">
            <a:extLst>
              <a:ext uri="{FF2B5EF4-FFF2-40B4-BE49-F238E27FC236}">
                <a16:creationId xmlns:a16="http://schemas.microsoft.com/office/drawing/2014/main" id="{CE9060EE-5E1E-45AC-47BC-E5014A3FF101}"/>
              </a:ext>
            </a:extLst>
          </p:cNvPr>
          <p:cNvSpPr txBox="1"/>
          <p:nvPr/>
        </p:nvSpPr>
        <p:spPr>
          <a:xfrm>
            <a:off x="169947" y="5929028"/>
            <a:ext cx="7346732" cy="400110"/>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PROFESSOR CHIP HEATH</a:t>
            </a:r>
          </a:p>
        </p:txBody>
      </p:sp>
      <p:sp>
        <p:nvSpPr>
          <p:cNvPr id="15" name="TextBox 14">
            <a:extLst>
              <a:ext uri="{FF2B5EF4-FFF2-40B4-BE49-F238E27FC236}">
                <a16:creationId xmlns:a16="http://schemas.microsoft.com/office/drawing/2014/main" id="{894ACF3E-9DCA-54BB-D26E-97905E5F73BD}"/>
              </a:ext>
            </a:extLst>
          </p:cNvPr>
          <p:cNvSpPr txBox="1"/>
          <p:nvPr/>
        </p:nvSpPr>
        <p:spPr>
          <a:xfrm>
            <a:off x="8007988" y="5474829"/>
            <a:ext cx="3952073" cy="775020"/>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Created in partnership with the Massachusetts Institute of Technology, this template advises users on how to build and deliver a memorable presentation </a:t>
            </a:r>
          </a:p>
          <a:p>
            <a:pPr>
              <a:lnSpc>
                <a:spcPct val="120000"/>
              </a:lnSpc>
              <a:spcAft>
                <a:spcPts val="1200"/>
              </a:spcAft>
            </a:pPr>
            <a:r>
              <a:rPr lang="en-US" sz="800" dirty="0">
                <a:solidFill>
                  <a:schemeClr val="bg1"/>
                </a:solidFill>
                <a:latin typeface="Avenir Light" panose="020B0402020203020204" pitchFamily="34" charset="77"/>
              </a:rPr>
              <a:t>of a new product, service, or idea. In this industry it is extremely important to maintain a consistent look and feel for brand trust and exposure. Our hope is that this template will make great use for all of your academic needs.</a:t>
            </a:r>
          </a:p>
        </p:txBody>
      </p:sp>
    </p:spTree>
    <p:extLst>
      <p:ext uri="{BB962C8B-B14F-4D97-AF65-F5344CB8AC3E}">
        <p14:creationId xmlns:p14="http://schemas.microsoft.com/office/powerpoint/2010/main" val="922104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BA708B-FA3F-2B83-631E-AFF4D7730BD7}"/>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B7BC9CDE-9DE2-0DFA-BF6C-4FE6A88383F6}"/>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CF4485F-BB98-FB76-0D99-01DF24B33C86}"/>
              </a:ext>
            </a:extLst>
          </p:cNvPr>
          <p:cNvCxnSpPr>
            <a:cxnSpLocks/>
          </p:cNvCxnSpPr>
          <p:nvPr/>
        </p:nvCxnSpPr>
        <p:spPr>
          <a:xfrm>
            <a:off x="6972300" y="476250"/>
            <a:ext cx="0" cy="5632450"/>
          </a:xfrm>
          <a:prstGeom prst="line">
            <a:avLst/>
          </a:prstGeom>
          <a:ln w="9525">
            <a:solidFill>
              <a:schemeClr val="bg1"/>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7407A6CD-E1A6-951D-E0FE-2A880A850026}"/>
              </a:ext>
            </a:extLst>
          </p:cNvPr>
          <p:cNvSpPr txBox="1"/>
          <p:nvPr/>
        </p:nvSpPr>
        <p:spPr>
          <a:xfrm>
            <a:off x="2067927" y="527502"/>
            <a:ext cx="1359222" cy="215444"/>
          </a:xfrm>
          <a:prstGeom prst="rect">
            <a:avLst/>
          </a:prstGeom>
          <a:noFill/>
        </p:spPr>
        <p:txBody>
          <a:bodyPr wrap="square" rtlCol="0">
            <a:spAutoFit/>
          </a:bodyPr>
          <a:lstStyle/>
          <a:p>
            <a:r>
              <a:rPr lang="en-US" sz="800" spc="300" dirty="0">
                <a:solidFill>
                  <a:schemeClr val="bg1"/>
                </a:solidFill>
                <a:latin typeface="Avenir Medium" panose="02000503020000020003" pitchFamily="2" charset="0"/>
              </a:rPr>
              <a:t>STYLE GUIDE</a:t>
            </a:r>
          </a:p>
        </p:txBody>
      </p:sp>
      <p:sp>
        <p:nvSpPr>
          <p:cNvPr id="25" name="TextBox 24">
            <a:extLst>
              <a:ext uri="{FF2B5EF4-FFF2-40B4-BE49-F238E27FC236}">
                <a16:creationId xmlns:a16="http://schemas.microsoft.com/office/drawing/2014/main" id="{5F7A93D7-356F-6E5D-CD90-F6267C4AAE33}"/>
              </a:ext>
            </a:extLst>
          </p:cNvPr>
          <p:cNvSpPr txBox="1"/>
          <p:nvPr/>
        </p:nvSpPr>
        <p:spPr>
          <a:xfrm>
            <a:off x="2067927" y="3515091"/>
            <a:ext cx="670124" cy="445699"/>
          </a:xfrm>
          <a:prstGeom prst="rect">
            <a:avLst/>
          </a:prstGeom>
          <a:noFill/>
        </p:spPr>
        <p:txBody>
          <a:bodyPr wrap="square" rtlCol="0">
            <a:spAutoFit/>
          </a:bodyPr>
          <a:lstStyle/>
          <a:p>
            <a:pPr>
              <a:lnSpc>
                <a:spcPct val="150000"/>
              </a:lnSpc>
            </a:pPr>
            <a:r>
              <a:rPr lang="en-US" sz="800" dirty="0">
                <a:solidFill>
                  <a:schemeClr val="bg1"/>
                </a:solidFill>
                <a:latin typeface="Avenir Light" panose="020B0402020203020204" pitchFamily="34" charset="77"/>
              </a:rPr>
              <a:t>#FFFFFF</a:t>
            </a:r>
          </a:p>
          <a:p>
            <a:pPr>
              <a:lnSpc>
                <a:spcPct val="150000"/>
              </a:lnSpc>
            </a:pPr>
            <a:r>
              <a:rPr lang="en-US" sz="800" dirty="0">
                <a:solidFill>
                  <a:schemeClr val="bg1"/>
                </a:solidFill>
                <a:latin typeface="Avenir Light" panose="020B0402020203020204" pitchFamily="34" charset="77"/>
              </a:rPr>
              <a:t>#000000</a:t>
            </a:r>
          </a:p>
        </p:txBody>
      </p:sp>
      <p:sp>
        <p:nvSpPr>
          <p:cNvPr id="1035" name="TextBox 1034">
            <a:extLst>
              <a:ext uri="{FF2B5EF4-FFF2-40B4-BE49-F238E27FC236}">
                <a16:creationId xmlns:a16="http://schemas.microsoft.com/office/drawing/2014/main" id="{ECF105F0-3E92-3364-3973-FA4F0316A514}"/>
              </a:ext>
            </a:extLst>
          </p:cNvPr>
          <p:cNvSpPr txBox="1"/>
          <p:nvPr/>
        </p:nvSpPr>
        <p:spPr>
          <a:xfrm>
            <a:off x="2067927" y="3219902"/>
            <a:ext cx="1359222" cy="215444"/>
          </a:xfrm>
          <a:prstGeom prst="rect">
            <a:avLst/>
          </a:prstGeom>
          <a:noFill/>
        </p:spPr>
        <p:txBody>
          <a:bodyPr wrap="square" rtlCol="0">
            <a:spAutoFit/>
          </a:bodyPr>
          <a:lstStyle/>
          <a:p>
            <a:r>
              <a:rPr lang="en-US" sz="800" spc="300" dirty="0">
                <a:solidFill>
                  <a:schemeClr val="bg1"/>
                </a:solidFill>
                <a:latin typeface="Avenir Medium" panose="02000503020000020003" pitchFamily="2" charset="0"/>
              </a:rPr>
              <a:t>COLOR CODES</a:t>
            </a:r>
          </a:p>
        </p:txBody>
      </p:sp>
      <p:sp>
        <p:nvSpPr>
          <p:cNvPr id="1057" name="TextBox 1056">
            <a:extLst>
              <a:ext uri="{FF2B5EF4-FFF2-40B4-BE49-F238E27FC236}">
                <a16:creationId xmlns:a16="http://schemas.microsoft.com/office/drawing/2014/main" id="{1B9FA84D-8908-3A2E-7511-AC358DA87F8F}"/>
              </a:ext>
            </a:extLst>
          </p:cNvPr>
          <p:cNvSpPr txBox="1"/>
          <p:nvPr/>
        </p:nvSpPr>
        <p:spPr>
          <a:xfrm>
            <a:off x="2067926" y="778241"/>
            <a:ext cx="1691273" cy="261034"/>
          </a:xfrm>
          <a:prstGeom prst="rect">
            <a:avLst/>
          </a:prstGeom>
          <a:noFill/>
        </p:spPr>
        <p:txBody>
          <a:bodyPr wrap="square" rtlCol="0">
            <a:spAutoFit/>
          </a:bodyPr>
          <a:lstStyle/>
          <a:p>
            <a:pPr>
              <a:lnSpc>
                <a:spcPct val="150000"/>
              </a:lnSpc>
            </a:pPr>
            <a:endParaRPr lang="en-US" sz="800" dirty="0">
              <a:solidFill>
                <a:schemeClr val="bg1"/>
              </a:solidFill>
              <a:latin typeface="Avenir Light" panose="020B0402020203020204" pitchFamily="34" charset="77"/>
            </a:endParaRPr>
          </a:p>
        </p:txBody>
      </p:sp>
      <p:cxnSp>
        <p:nvCxnSpPr>
          <p:cNvPr id="1046" name="Straight Connector 1045">
            <a:extLst>
              <a:ext uri="{FF2B5EF4-FFF2-40B4-BE49-F238E27FC236}">
                <a16:creationId xmlns:a16="http://schemas.microsoft.com/office/drawing/2014/main" id="{550988DF-2FF3-DCFA-16A7-49080E0CCC03}"/>
              </a:ext>
            </a:extLst>
          </p:cNvPr>
          <p:cNvCxnSpPr>
            <a:cxnSpLocks/>
          </p:cNvCxnSpPr>
          <p:nvPr/>
        </p:nvCxnSpPr>
        <p:spPr>
          <a:xfrm>
            <a:off x="2127250" y="4307801"/>
            <a:ext cx="3685372"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51" name="TextBox 1050">
            <a:extLst>
              <a:ext uri="{FF2B5EF4-FFF2-40B4-BE49-F238E27FC236}">
                <a16:creationId xmlns:a16="http://schemas.microsoft.com/office/drawing/2014/main" id="{CA8E5500-0628-FAE1-43A9-E1EBE925E91B}"/>
              </a:ext>
            </a:extLst>
          </p:cNvPr>
          <p:cNvSpPr txBox="1"/>
          <p:nvPr/>
        </p:nvSpPr>
        <p:spPr>
          <a:xfrm>
            <a:off x="3260663" y="4578630"/>
            <a:ext cx="1359222" cy="215444"/>
          </a:xfrm>
          <a:prstGeom prst="rect">
            <a:avLst/>
          </a:prstGeom>
          <a:noFill/>
        </p:spPr>
        <p:txBody>
          <a:bodyPr wrap="square" rtlCol="0">
            <a:spAutoFit/>
          </a:bodyPr>
          <a:lstStyle/>
          <a:p>
            <a:pPr algn="ctr"/>
            <a:r>
              <a:rPr lang="en-US" sz="800" spc="300" dirty="0">
                <a:solidFill>
                  <a:schemeClr val="bg1"/>
                </a:solidFill>
                <a:latin typeface="Avenir Medium" panose="02000503020000020003" pitchFamily="2" charset="0"/>
              </a:rPr>
              <a:t>TYPOGRAPHY</a:t>
            </a:r>
          </a:p>
        </p:txBody>
      </p:sp>
      <p:grpSp>
        <p:nvGrpSpPr>
          <p:cNvPr id="1053" name="Group 1052">
            <a:extLst>
              <a:ext uri="{FF2B5EF4-FFF2-40B4-BE49-F238E27FC236}">
                <a16:creationId xmlns:a16="http://schemas.microsoft.com/office/drawing/2014/main" id="{5B72022A-850C-FF0F-B79C-4BBFBA073BAC}"/>
              </a:ext>
            </a:extLst>
          </p:cNvPr>
          <p:cNvGrpSpPr/>
          <p:nvPr/>
        </p:nvGrpSpPr>
        <p:grpSpPr>
          <a:xfrm>
            <a:off x="2511365" y="4893794"/>
            <a:ext cx="2857818" cy="1169551"/>
            <a:chOff x="2551457" y="4893794"/>
            <a:chExt cx="2857818" cy="1169551"/>
          </a:xfrm>
        </p:grpSpPr>
        <p:sp>
          <p:nvSpPr>
            <p:cNvPr id="1050" name="TextBox 1049">
              <a:extLst>
                <a:ext uri="{FF2B5EF4-FFF2-40B4-BE49-F238E27FC236}">
                  <a16:creationId xmlns:a16="http://schemas.microsoft.com/office/drawing/2014/main" id="{790A9DB0-F50E-C0F1-B992-6EC37EDB8C5A}"/>
                </a:ext>
              </a:extLst>
            </p:cNvPr>
            <p:cNvSpPr txBox="1"/>
            <p:nvPr/>
          </p:nvSpPr>
          <p:spPr>
            <a:xfrm>
              <a:off x="2551457" y="4893794"/>
              <a:ext cx="1359218" cy="1169551"/>
            </a:xfrm>
            <a:prstGeom prst="rect">
              <a:avLst/>
            </a:prstGeom>
            <a:noFill/>
          </p:spPr>
          <p:txBody>
            <a:bodyPr wrap="square" rtlCol="0">
              <a:spAutoFit/>
            </a:bodyPr>
            <a:lstStyle/>
            <a:p>
              <a:pPr algn="ctr"/>
              <a:r>
                <a:rPr lang="en-US" sz="1400" dirty="0">
                  <a:solidFill>
                    <a:schemeClr val="bg1"/>
                  </a:solidFill>
                  <a:latin typeface="Avenir Medium" panose="02000503020000020003" pitchFamily="2" charset="0"/>
                </a:rPr>
                <a:t>ABCDEFGHI</a:t>
              </a:r>
            </a:p>
            <a:p>
              <a:pPr algn="ctr"/>
              <a:r>
                <a:rPr lang="en-US" sz="1400" dirty="0">
                  <a:solidFill>
                    <a:schemeClr val="bg1"/>
                  </a:solidFill>
                  <a:latin typeface="Avenir Medium" panose="02000503020000020003" pitchFamily="2" charset="0"/>
                </a:rPr>
                <a:t>JKLMNOPQ</a:t>
              </a:r>
            </a:p>
            <a:p>
              <a:pPr algn="ctr"/>
              <a:r>
                <a:rPr lang="en-US" sz="1400" dirty="0">
                  <a:solidFill>
                    <a:schemeClr val="bg1"/>
                  </a:solidFill>
                  <a:latin typeface="Avenir Medium" panose="02000503020000020003" pitchFamily="2" charset="0"/>
                </a:rPr>
                <a:t>RSTUVWXYZ</a:t>
              </a:r>
            </a:p>
            <a:p>
              <a:pPr algn="ctr"/>
              <a:r>
                <a:rPr lang="en-US" sz="1400" dirty="0">
                  <a:solidFill>
                    <a:schemeClr val="bg1"/>
                  </a:solidFill>
                  <a:latin typeface="Avenir Medium" panose="02000503020000020003" pitchFamily="2" charset="0"/>
                </a:rPr>
                <a:t>1234567890</a:t>
              </a:r>
            </a:p>
            <a:p>
              <a:pPr algn="ctr"/>
              <a:r>
                <a:rPr lang="en-US" sz="1400" dirty="0">
                  <a:solidFill>
                    <a:schemeClr val="bg1"/>
                  </a:solidFill>
                  <a:latin typeface="Avenir Medium" panose="02000503020000020003" pitchFamily="2" charset="0"/>
                </a:rPr>
                <a:t>!@#$%^&amp;*/?</a:t>
              </a:r>
            </a:p>
          </p:txBody>
        </p:sp>
        <p:sp>
          <p:nvSpPr>
            <p:cNvPr id="1052" name="TextBox 1051">
              <a:extLst>
                <a:ext uri="{FF2B5EF4-FFF2-40B4-BE49-F238E27FC236}">
                  <a16:creationId xmlns:a16="http://schemas.microsoft.com/office/drawing/2014/main" id="{71910846-E9BC-A038-BC3D-7F6EBE305870}"/>
                </a:ext>
              </a:extLst>
            </p:cNvPr>
            <p:cNvSpPr txBox="1"/>
            <p:nvPr/>
          </p:nvSpPr>
          <p:spPr>
            <a:xfrm>
              <a:off x="4050057" y="4893794"/>
              <a:ext cx="1359218" cy="1169551"/>
            </a:xfrm>
            <a:prstGeom prst="rect">
              <a:avLst/>
            </a:prstGeom>
            <a:noFill/>
          </p:spPr>
          <p:txBody>
            <a:bodyPr wrap="square" rtlCol="0">
              <a:spAutoFit/>
            </a:bodyPr>
            <a:lstStyle/>
            <a:p>
              <a:pPr algn="ctr"/>
              <a:r>
                <a:rPr lang="en-US" sz="1400" dirty="0" err="1">
                  <a:solidFill>
                    <a:schemeClr val="bg1"/>
                  </a:solidFill>
                  <a:latin typeface="Avenir Book" panose="02000503020000020003" pitchFamily="2" charset="0"/>
                </a:rPr>
                <a:t>abcdefghi</a:t>
              </a:r>
              <a:endParaRPr lang="en-US" sz="1400" dirty="0">
                <a:solidFill>
                  <a:schemeClr val="bg1"/>
                </a:solidFill>
                <a:latin typeface="Avenir Book" panose="02000503020000020003" pitchFamily="2" charset="0"/>
              </a:endParaRPr>
            </a:p>
            <a:p>
              <a:pPr algn="ctr"/>
              <a:r>
                <a:rPr lang="en-US" sz="1400" dirty="0" err="1">
                  <a:solidFill>
                    <a:schemeClr val="bg1"/>
                  </a:solidFill>
                  <a:latin typeface="Avenir Book" panose="02000503020000020003" pitchFamily="2" charset="0"/>
                </a:rPr>
                <a:t>jklmnopq</a:t>
              </a:r>
              <a:endParaRPr lang="en-US" sz="1400" dirty="0">
                <a:solidFill>
                  <a:schemeClr val="bg1"/>
                </a:solidFill>
                <a:latin typeface="Avenir Book" panose="02000503020000020003" pitchFamily="2" charset="0"/>
              </a:endParaRPr>
            </a:p>
            <a:p>
              <a:pPr algn="ctr"/>
              <a:r>
                <a:rPr lang="en-US" sz="1400" dirty="0" err="1">
                  <a:solidFill>
                    <a:schemeClr val="bg1"/>
                  </a:solidFill>
                  <a:latin typeface="Avenir Book" panose="02000503020000020003" pitchFamily="2" charset="0"/>
                </a:rPr>
                <a:t>rstuvwxyz</a:t>
              </a:r>
              <a:endParaRPr lang="en-US" sz="1400" dirty="0">
                <a:solidFill>
                  <a:schemeClr val="bg1"/>
                </a:solidFill>
                <a:latin typeface="Avenir Book" panose="02000503020000020003" pitchFamily="2" charset="0"/>
              </a:endParaRPr>
            </a:p>
            <a:p>
              <a:pPr algn="ctr"/>
              <a:r>
                <a:rPr lang="en-US" sz="1400" dirty="0">
                  <a:solidFill>
                    <a:schemeClr val="bg1"/>
                  </a:solidFill>
                  <a:latin typeface="Avenir Book" panose="02000503020000020003" pitchFamily="2" charset="0"/>
                </a:rPr>
                <a:t>1234567890</a:t>
              </a:r>
            </a:p>
            <a:p>
              <a:pPr algn="ctr"/>
              <a:r>
                <a:rPr lang="en-US" sz="1400" dirty="0">
                  <a:solidFill>
                    <a:schemeClr val="bg1"/>
                  </a:solidFill>
                  <a:latin typeface="Avenir Book" panose="02000503020000020003" pitchFamily="2" charset="0"/>
                </a:rPr>
                <a:t>!@#$%^&amp;*/?</a:t>
              </a:r>
            </a:p>
          </p:txBody>
        </p:sp>
      </p:grpSp>
      <p:cxnSp>
        <p:nvCxnSpPr>
          <p:cNvPr id="7" name="Straight Connector 6">
            <a:extLst>
              <a:ext uri="{FF2B5EF4-FFF2-40B4-BE49-F238E27FC236}">
                <a16:creationId xmlns:a16="http://schemas.microsoft.com/office/drawing/2014/main" id="{FF43546F-F1F5-2499-B9F0-70C5E0D8BC55}"/>
              </a:ext>
            </a:extLst>
          </p:cNvPr>
          <p:cNvCxnSpPr>
            <a:cxnSpLocks/>
          </p:cNvCxnSpPr>
          <p:nvPr/>
        </p:nvCxnSpPr>
        <p:spPr>
          <a:xfrm>
            <a:off x="7399755" y="4307801"/>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32ED7A1-5ED2-9C95-FDAE-28E6BB89685B}"/>
              </a:ext>
            </a:extLst>
          </p:cNvPr>
          <p:cNvSpPr txBox="1"/>
          <p:nvPr/>
        </p:nvSpPr>
        <p:spPr>
          <a:xfrm>
            <a:off x="7304350" y="4370542"/>
            <a:ext cx="3127492" cy="1119730"/>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r>
              <a:rPr lang="en-US" sz="800" dirty="0" err="1">
                <a:solidFill>
                  <a:schemeClr val="bg1"/>
                </a:solidFill>
                <a:latin typeface="Avenir Light" panose="020B0402020203020204" pitchFamily="34" charset="77"/>
              </a:rPr>
              <a:t>enim</a:t>
            </a:r>
            <a:r>
              <a:rPr lang="en-US" sz="800" dirty="0">
                <a:solidFill>
                  <a:schemeClr val="bg1"/>
                </a:solidFill>
                <a:latin typeface="Avenir Light" panose="020B0402020203020204" pitchFamily="34" charset="77"/>
              </a:rPr>
              <a:t> ad minim </a:t>
            </a:r>
            <a:r>
              <a:rPr lang="en-US" sz="800" dirty="0" err="1">
                <a:solidFill>
                  <a:schemeClr val="bg1"/>
                </a:solidFill>
                <a:latin typeface="Avenir Light" panose="020B0402020203020204" pitchFamily="34" charset="77"/>
              </a:rPr>
              <a:t>veniam</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quis</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nostrud</a:t>
            </a:r>
            <a:r>
              <a:rPr lang="en-US" sz="800" dirty="0">
                <a:solidFill>
                  <a:schemeClr val="bg1"/>
                </a:solidFill>
                <a:latin typeface="Avenir Light" panose="020B0402020203020204" pitchFamily="34" charset="77"/>
              </a:rPr>
              <a:t> exercitation </a:t>
            </a:r>
            <a:r>
              <a:rPr lang="en-US" sz="800" dirty="0" err="1">
                <a:solidFill>
                  <a:schemeClr val="bg1"/>
                </a:solidFill>
                <a:latin typeface="Avenir Light" panose="020B0402020203020204" pitchFamily="34" charset="77"/>
              </a:rPr>
              <a:t>ullamco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laboris</a:t>
            </a:r>
            <a:r>
              <a:rPr lang="en-US" sz="800" dirty="0">
                <a:solidFill>
                  <a:schemeClr val="bg1"/>
                </a:solidFill>
                <a:latin typeface="Avenir Light" panose="020B0402020203020204" pitchFamily="34" charset="77"/>
              </a:rPr>
              <a:t> nisi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aliquip</a:t>
            </a:r>
            <a:r>
              <a:rPr lang="en-US" sz="800" dirty="0">
                <a:solidFill>
                  <a:schemeClr val="bg1"/>
                </a:solidFill>
                <a:latin typeface="Avenir Light" panose="020B0402020203020204" pitchFamily="34" charset="77"/>
              </a:rPr>
              <a:t> ex </a:t>
            </a:r>
            <a:r>
              <a:rPr lang="en-US" sz="800" dirty="0" err="1">
                <a:solidFill>
                  <a:schemeClr val="bg1"/>
                </a:solidFill>
                <a:latin typeface="Avenir Light" panose="020B0402020203020204" pitchFamily="34" charset="77"/>
              </a:rPr>
              <a:t>ea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commodo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consequat</a:t>
            </a:r>
            <a:r>
              <a:rPr lang="en-US" sz="800" dirty="0">
                <a:solidFill>
                  <a:schemeClr val="bg1"/>
                </a:solidFill>
                <a:latin typeface="Avenir Light" panose="020B0402020203020204" pitchFamily="34" charset="77"/>
              </a:rPr>
              <a:t>. Duis </a:t>
            </a:r>
            <a:r>
              <a:rPr lang="en-US" sz="800" dirty="0" err="1">
                <a:solidFill>
                  <a:schemeClr val="bg1"/>
                </a:solidFill>
                <a:latin typeface="Avenir Light" panose="020B0402020203020204" pitchFamily="34" charset="77"/>
              </a:rPr>
              <a:t>aute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irure</a:t>
            </a:r>
            <a:r>
              <a:rPr lang="en-US" sz="800" dirty="0">
                <a:solidFill>
                  <a:schemeClr val="bg1"/>
                </a:solidFill>
                <a:latin typeface="Avenir Light" panose="020B0402020203020204" pitchFamily="34" charset="77"/>
              </a:rPr>
              <a:t> dolor in </a:t>
            </a:r>
            <a:r>
              <a:rPr lang="en-US" sz="800" dirty="0" err="1">
                <a:solidFill>
                  <a:schemeClr val="bg1"/>
                </a:solidFill>
                <a:latin typeface="Avenir Light" panose="020B0402020203020204" pitchFamily="34" charset="77"/>
              </a:rPr>
              <a:t>reprehenderit</a:t>
            </a:r>
            <a:r>
              <a:rPr lang="en-US" sz="800" dirty="0">
                <a:solidFill>
                  <a:schemeClr val="bg1"/>
                </a:solidFill>
                <a:latin typeface="Avenir Light" panose="020B0402020203020204" pitchFamily="34" charset="77"/>
              </a:rPr>
              <a:t> in </a:t>
            </a:r>
            <a:r>
              <a:rPr lang="en-US" sz="800" dirty="0" err="1">
                <a:solidFill>
                  <a:schemeClr val="bg1"/>
                </a:solidFill>
                <a:latin typeface="Avenir Light" panose="020B0402020203020204" pitchFamily="34" charset="77"/>
              </a:rPr>
              <a:t>voluptate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velit</a:t>
            </a:r>
            <a:r>
              <a:rPr lang="en-US" sz="800" dirty="0">
                <a:solidFill>
                  <a:schemeClr val="bg1"/>
                </a:solidFill>
                <a:latin typeface="Avenir Light" panose="020B0402020203020204" pitchFamily="34" charset="77"/>
              </a:rPr>
              <a:t> esse </a:t>
            </a:r>
            <a:r>
              <a:rPr lang="en-US" sz="800" dirty="0" err="1">
                <a:solidFill>
                  <a:schemeClr val="bg1"/>
                </a:solidFill>
                <a:latin typeface="Avenir Light" panose="020B0402020203020204" pitchFamily="34" charset="77"/>
              </a:rPr>
              <a:t>cillum</a:t>
            </a:r>
            <a:r>
              <a:rPr lang="en-US" sz="800" dirty="0">
                <a:solidFill>
                  <a:schemeClr val="bg1"/>
                </a:solidFill>
                <a:latin typeface="Avenir Light" panose="020B0402020203020204" pitchFamily="34" charset="77"/>
              </a:rPr>
              <a:t> dolore </a:t>
            </a:r>
            <a:r>
              <a:rPr lang="en-US" sz="800" dirty="0" err="1">
                <a:solidFill>
                  <a:schemeClr val="bg1"/>
                </a:solidFill>
                <a:latin typeface="Avenir Light" panose="020B0402020203020204" pitchFamily="34" charset="77"/>
              </a:rPr>
              <a:t>eu</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fugiat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nulla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pariatur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Excepteur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sint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occaecat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cupidatat</a:t>
            </a:r>
            <a:r>
              <a:rPr lang="en-US" sz="800" dirty="0">
                <a:solidFill>
                  <a:schemeClr val="bg1"/>
                </a:solidFill>
                <a:latin typeface="Avenir Light" panose="020B0402020203020204" pitchFamily="34" charset="77"/>
              </a:rPr>
              <a:t> non </a:t>
            </a:r>
            <a:r>
              <a:rPr lang="en-US" sz="800" dirty="0" err="1">
                <a:solidFill>
                  <a:schemeClr val="bg1"/>
                </a:solidFill>
                <a:latin typeface="Avenir Light" panose="020B0402020203020204" pitchFamily="34" charset="77"/>
              </a:rPr>
              <a:t>proident</a:t>
            </a:r>
            <a:r>
              <a:rPr lang="en-US" sz="800" dirty="0">
                <a:solidFill>
                  <a:schemeClr val="bg1"/>
                </a:solidFill>
                <a:latin typeface="Avenir Light" panose="020B0402020203020204" pitchFamily="34" charset="77"/>
              </a:rPr>
              <a:t>, sunt in culpa qui </a:t>
            </a:r>
            <a:r>
              <a:rPr lang="en-US" sz="800" dirty="0" err="1">
                <a:solidFill>
                  <a:schemeClr val="bg1"/>
                </a:solidFill>
                <a:latin typeface="Avenir Light" panose="020B0402020203020204" pitchFamily="34" charset="77"/>
              </a:rPr>
              <a:t>officia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deserunt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mollit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anim</a:t>
            </a:r>
            <a:r>
              <a:rPr lang="en-US" sz="800" dirty="0">
                <a:solidFill>
                  <a:schemeClr val="bg1"/>
                </a:solidFill>
                <a:latin typeface="Avenir Light" panose="020B0402020203020204" pitchFamily="34" charset="77"/>
              </a:rPr>
              <a:t> id est </a:t>
            </a:r>
            <a:r>
              <a:rPr lang="en-US" sz="800" dirty="0" err="1">
                <a:solidFill>
                  <a:schemeClr val="bg1"/>
                </a:solidFill>
                <a:latin typeface="Avenir Light" panose="020B0402020203020204" pitchFamily="34" charset="77"/>
              </a:rPr>
              <a:t>laborum</a:t>
            </a:r>
            <a:r>
              <a:rPr lang="en-US" sz="800" dirty="0">
                <a:solidFill>
                  <a:schemeClr val="bg1"/>
                </a:solidFill>
                <a:latin typeface="Avenir Light" panose="020B0402020203020204" pitchFamily="34" charset="77"/>
              </a:rPr>
              <a:t>.</a:t>
            </a:r>
          </a:p>
        </p:txBody>
      </p:sp>
      <p:sp>
        <p:nvSpPr>
          <p:cNvPr id="6" name="TextBox 5">
            <a:extLst>
              <a:ext uri="{FF2B5EF4-FFF2-40B4-BE49-F238E27FC236}">
                <a16:creationId xmlns:a16="http://schemas.microsoft.com/office/drawing/2014/main" id="{8A5FB755-778C-CA1E-AB70-DD8715456395}"/>
              </a:ext>
            </a:extLst>
          </p:cNvPr>
          <p:cNvSpPr txBox="1"/>
          <p:nvPr/>
        </p:nvSpPr>
        <p:spPr>
          <a:xfrm>
            <a:off x="7304350" y="3831521"/>
            <a:ext cx="3497400"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HEADLINE COPY</a:t>
            </a:r>
          </a:p>
        </p:txBody>
      </p:sp>
      <p:sp>
        <p:nvSpPr>
          <p:cNvPr id="9" name="TextBox 8">
            <a:extLst>
              <a:ext uri="{FF2B5EF4-FFF2-40B4-BE49-F238E27FC236}">
                <a16:creationId xmlns:a16="http://schemas.microsoft.com/office/drawing/2014/main" id="{747E8237-FE3A-6A84-D970-837F24A0EE7A}"/>
              </a:ext>
            </a:extLst>
          </p:cNvPr>
          <p:cNvSpPr txBox="1"/>
          <p:nvPr/>
        </p:nvSpPr>
        <p:spPr>
          <a:xfrm>
            <a:off x="7304350" y="5802311"/>
            <a:ext cx="3127492" cy="261034"/>
          </a:xfrm>
          <a:prstGeom prst="rect">
            <a:avLst/>
          </a:prstGeom>
          <a:noFill/>
        </p:spPr>
        <p:txBody>
          <a:bodyPr wrap="square" rtlCol="0">
            <a:spAutoFit/>
          </a:bodyPr>
          <a:lstStyle/>
          <a:p>
            <a:pPr>
              <a:lnSpc>
                <a:spcPct val="150000"/>
              </a:lnSpc>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endParaRPr lang="en-US" sz="800" dirty="0">
              <a:solidFill>
                <a:schemeClr val="bg1"/>
              </a:solidFill>
              <a:latin typeface="Avenir Light" panose="020B0402020203020204" pitchFamily="34" charset="77"/>
            </a:endParaRPr>
          </a:p>
        </p:txBody>
      </p:sp>
      <p:sp>
        <p:nvSpPr>
          <p:cNvPr id="10" name="TextBox 9">
            <a:extLst>
              <a:ext uri="{FF2B5EF4-FFF2-40B4-BE49-F238E27FC236}">
                <a16:creationId xmlns:a16="http://schemas.microsoft.com/office/drawing/2014/main" id="{7B0EDBFA-27EA-80FF-341A-E9580B588B76}"/>
              </a:ext>
            </a:extLst>
          </p:cNvPr>
          <p:cNvSpPr txBox="1"/>
          <p:nvPr/>
        </p:nvSpPr>
        <p:spPr>
          <a:xfrm>
            <a:off x="7304350" y="3264005"/>
            <a:ext cx="3497400" cy="338554"/>
          </a:xfrm>
          <a:prstGeom prst="rect">
            <a:avLst/>
          </a:prstGeom>
          <a:noFill/>
        </p:spPr>
        <p:txBody>
          <a:bodyPr wrap="square" rtlCol="0">
            <a:spAutoFit/>
          </a:bodyPr>
          <a:lstStyle/>
          <a:p>
            <a:r>
              <a:rPr lang="en-US" sz="1600" dirty="0">
                <a:solidFill>
                  <a:schemeClr val="bg1"/>
                </a:solidFill>
                <a:latin typeface="Avenir Medium" panose="02000503020000020003" pitchFamily="2" charset="0"/>
              </a:rPr>
              <a:t>TITLE LOREM IPSUM DOLOR</a:t>
            </a:r>
          </a:p>
        </p:txBody>
      </p:sp>
      <p:sp>
        <p:nvSpPr>
          <p:cNvPr id="20" name="TextBox 19">
            <a:extLst>
              <a:ext uri="{FF2B5EF4-FFF2-40B4-BE49-F238E27FC236}">
                <a16:creationId xmlns:a16="http://schemas.microsoft.com/office/drawing/2014/main" id="{51201D08-F281-A4E1-008F-FCC4CBAC51A3}"/>
              </a:ext>
            </a:extLst>
          </p:cNvPr>
          <p:cNvSpPr txBox="1"/>
          <p:nvPr/>
        </p:nvSpPr>
        <p:spPr>
          <a:xfrm>
            <a:off x="7304350" y="3002189"/>
            <a:ext cx="3497400" cy="215444"/>
          </a:xfrm>
          <a:prstGeom prst="rect">
            <a:avLst/>
          </a:prstGeom>
          <a:noFill/>
        </p:spPr>
        <p:txBody>
          <a:bodyPr wrap="square" rtlCol="0">
            <a:spAutoFit/>
          </a:bodyPr>
          <a:lstStyle/>
          <a:p>
            <a:r>
              <a:rPr lang="en-US" sz="800" spc="300" dirty="0">
                <a:solidFill>
                  <a:schemeClr val="bg1"/>
                </a:solidFill>
                <a:latin typeface="Avenir Medium" panose="02000503020000020003" pitchFamily="2" charset="0"/>
              </a:rPr>
              <a:t>SUPERTITLE</a:t>
            </a:r>
          </a:p>
        </p:txBody>
      </p:sp>
      <p:sp>
        <p:nvSpPr>
          <p:cNvPr id="1058" name="TextBox 1057">
            <a:extLst>
              <a:ext uri="{FF2B5EF4-FFF2-40B4-BE49-F238E27FC236}">
                <a16:creationId xmlns:a16="http://schemas.microsoft.com/office/drawing/2014/main" id="{EABCB5F6-CFE4-CDB9-B0A6-5B2CF03A6E06}"/>
              </a:ext>
            </a:extLst>
          </p:cNvPr>
          <p:cNvSpPr txBox="1"/>
          <p:nvPr/>
        </p:nvSpPr>
        <p:spPr>
          <a:xfrm>
            <a:off x="7304350" y="877359"/>
            <a:ext cx="3685372" cy="1569660"/>
          </a:xfrm>
          <a:prstGeom prst="rect">
            <a:avLst/>
          </a:prstGeom>
          <a:noFill/>
        </p:spPr>
        <p:txBody>
          <a:bodyPr wrap="square" rtlCol="0">
            <a:spAutoFit/>
          </a:bodyPr>
          <a:lstStyle/>
          <a:p>
            <a:r>
              <a:rPr lang="en-US" sz="1600" dirty="0">
                <a:solidFill>
                  <a:schemeClr val="bg1"/>
                </a:solidFill>
                <a:latin typeface="Avenir Medium" panose="02000503020000020003" pitchFamily="2" charset="0"/>
              </a:rPr>
              <a:t>Harmonizing function, atmosphere, </a:t>
            </a:r>
          </a:p>
          <a:p>
            <a:r>
              <a:rPr lang="en-US" sz="1600" dirty="0">
                <a:solidFill>
                  <a:schemeClr val="bg1"/>
                </a:solidFill>
                <a:latin typeface="Avenir Medium" panose="02000503020000020003" pitchFamily="2" charset="0"/>
              </a:rPr>
              <a:t>and detail, interiors create meaningful places where daily rituals unfold </a:t>
            </a:r>
          </a:p>
          <a:p>
            <a:r>
              <a:rPr lang="en-US" sz="1600" dirty="0">
                <a:solidFill>
                  <a:schemeClr val="bg1"/>
                </a:solidFill>
                <a:latin typeface="Avenir Medium" panose="02000503020000020003" pitchFamily="2" charset="0"/>
              </a:rPr>
              <a:t>with ease, beauty, and intention.</a:t>
            </a:r>
          </a:p>
          <a:p>
            <a:r>
              <a:rPr lang="en-US" sz="1600" dirty="0">
                <a:solidFill>
                  <a:schemeClr val="bg1"/>
                </a:solidFill>
                <a:latin typeface="Avenir Medium" panose="02000503020000020003" pitchFamily="2" charset="0"/>
              </a:rPr>
              <a:t>Design shapes the lived experience </a:t>
            </a:r>
          </a:p>
          <a:p>
            <a:r>
              <a:rPr lang="en-US" sz="1600" dirty="0">
                <a:solidFill>
                  <a:schemeClr val="bg1"/>
                </a:solidFill>
                <a:latin typeface="Avenir Medium" panose="02000503020000020003" pitchFamily="2" charset="0"/>
              </a:rPr>
              <a:t>from the inside out and beyond.</a:t>
            </a:r>
          </a:p>
        </p:txBody>
      </p:sp>
      <p:sp>
        <p:nvSpPr>
          <p:cNvPr id="1061" name="TextBox 1060">
            <a:extLst>
              <a:ext uri="{FF2B5EF4-FFF2-40B4-BE49-F238E27FC236}">
                <a16:creationId xmlns:a16="http://schemas.microsoft.com/office/drawing/2014/main" id="{84839CC0-0A45-4255-72C5-3F4E4EDC54D7}"/>
              </a:ext>
            </a:extLst>
          </p:cNvPr>
          <p:cNvSpPr txBox="1"/>
          <p:nvPr/>
        </p:nvSpPr>
        <p:spPr>
          <a:xfrm>
            <a:off x="7305204" y="591902"/>
            <a:ext cx="2090819" cy="215444"/>
          </a:xfrm>
          <a:prstGeom prst="rect">
            <a:avLst/>
          </a:prstGeom>
          <a:noFill/>
        </p:spPr>
        <p:txBody>
          <a:bodyPr wrap="square" rtlCol="0">
            <a:spAutoFit/>
          </a:bodyPr>
          <a:lstStyle/>
          <a:p>
            <a:r>
              <a:rPr lang="en-US" sz="800" spc="300" dirty="0">
                <a:solidFill>
                  <a:schemeClr val="bg1"/>
                </a:solidFill>
                <a:latin typeface="Avenir Medium" panose="02000503020000020003" pitchFamily="2" charset="0"/>
              </a:rPr>
              <a:t>MAIN BODY COPY</a:t>
            </a:r>
          </a:p>
        </p:txBody>
      </p:sp>
      <p:sp>
        <p:nvSpPr>
          <p:cNvPr id="2" name="Rectangle 1">
            <a:extLst>
              <a:ext uri="{FF2B5EF4-FFF2-40B4-BE49-F238E27FC236}">
                <a16:creationId xmlns:a16="http://schemas.microsoft.com/office/drawing/2014/main" id="{CC411975-7202-8AFA-0492-CD3D0E894F27}"/>
              </a:ext>
            </a:extLst>
          </p:cNvPr>
          <p:cNvSpPr/>
          <p:nvPr/>
        </p:nvSpPr>
        <p:spPr>
          <a:xfrm>
            <a:off x="3714546" y="877359"/>
            <a:ext cx="975028" cy="32545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3E6988-8D58-14FB-2489-F182A3880C49}"/>
              </a:ext>
            </a:extLst>
          </p:cNvPr>
          <p:cNvSpPr/>
          <p:nvPr/>
        </p:nvSpPr>
        <p:spPr>
          <a:xfrm>
            <a:off x="4837595" y="877358"/>
            <a:ext cx="975028" cy="3254569"/>
          </a:xfrm>
          <a:prstGeom prst="rect">
            <a:avLst/>
          </a:prstGeom>
          <a:solidFill>
            <a:schemeClr val="tx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7CFBEE8-17E3-88C5-CE7A-F8420B0A0A20}"/>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3441196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81C7F9F-A7D6-D2B7-B0F8-47B6B4F98DD3}"/>
            </a:ext>
          </a:extLst>
        </p:cNvPr>
        <p:cNvGrpSpPr/>
        <p:nvPr/>
      </p:nvGrpSpPr>
      <p:grpSpPr>
        <a:xfrm>
          <a:off x="0" y="0"/>
          <a:ext cx="0" cy="0"/>
          <a:chOff x="0" y="0"/>
          <a:chExt cx="0" cy="0"/>
        </a:xfrm>
      </p:grpSpPr>
      <p:sp>
        <p:nvSpPr>
          <p:cNvPr id="30" name="TextBox 29">
            <a:extLst>
              <a:ext uri="{FF2B5EF4-FFF2-40B4-BE49-F238E27FC236}">
                <a16:creationId xmlns:a16="http://schemas.microsoft.com/office/drawing/2014/main" id="{CF13B007-EE0F-9C5E-FED5-915D4060C120}"/>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AGENDA</a:t>
            </a:r>
          </a:p>
        </p:txBody>
      </p:sp>
      <p:cxnSp>
        <p:nvCxnSpPr>
          <p:cNvPr id="32" name="Straight Connector 31">
            <a:extLst>
              <a:ext uri="{FF2B5EF4-FFF2-40B4-BE49-F238E27FC236}">
                <a16:creationId xmlns:a16="http://schemas.microsoft.com/office/drawing/2014/main" id="{15606B11-7CE8-54CE-9C2F-70962FAEC1FC}"/>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56B9CADA-7614-6B8F-B46E-343A54A9DB1C}"/>
              </a:ext>
            </a:extLst>
          </p:cNvPr>
          <p:cNvCxnSpPr>
            <a:cxnSpLocks/>
          </p:cNvCxnSpPr>
          <p:nvPr/>
        </p:nvCxnSpPr>
        <p:spPr>
          <a:xfrm>
            <a:off x="1332854" y="580615"/>
            <a:ext cx="1055893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39DFE31D-2DA2-CE19-F945-5314689D65E5}"/>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002 // 045</a:t>
            </a:r>
          </a:p>
        </p:txBody>
      </p:sp>
      <p:sp>
        <p:nvSpPr>
          <p:cNvPr id="3" name="TextBox 2">
            <a:extLst>
              <a:ext uri="{FF2B5EF4-FFF2-40B4-BE49-F238E27FC236}">
                <a16:creationId xmlns:a16="http://schemas.microsoft.com/office/drawing/2014/main" id="{BA676706-355C-0581-217C-A1BD57C62E7F}"/>
              </a:ext>
            </a:extLst>
          </p:cNvPr>
          <p:cNvSpPr txBox="1"/>
          <p:nvPr/>
        </p:nvSpPr>
        <p:spPr>
          <a:xfrm>
            <a:off x="7256555" y="1144595"/>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01</a:t>
            </a:r>
          </a:p>
        </p:txBody>
      </p:sp>
      <p:sp>
        <p:nvSpPr>
          <p:cNvPr id="4" name="TextBox 3">
            <a:extLst>
              <a:ext uri="{FF2B5EF4-FFF2-40B4-BE49-F238E27FC236}">
                <a16:creationId xmlns:a16="http://schemas.microsoft.com/office/drawing/2014/main" id="{23C0C825-CAB9-97B8-B3D7-E98E5B18250D}"/>
              </a:ext>
            </a:extLst>
          </p:cNvPr>
          <p:cNvSpPr txBox="1"/>
          <p:nvPr/>
        </p:nvSpPr>
        <p:spPr>
          <a:xfrm>
            <a:off x="8164080" y="1144595"/>
            <a:ext cx="2786922"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Agenda</a:t>
            </a:r>
          </a:p>
        </p:txBody>
      </p:sp>
      <p:sp>
        <p:nvSpPr>
          <p:cNvPr id="6" name="TextBox 5">
            <a:extLst>
              <a:ext uri="{FF2B5EF4-FFF2-40B4-BE49-F238E27FC236}">
                <a16:creationId xmlns:a16="http://schemas.microsoft.com/office/drawing/2014/main" id="{15D39D38-BF16-F2BB-1E51-17FE1E3D6CE7}"/>
              </a:ext>
            </a:extLst>
          </p:cNvPr>
          <p:cNvSpPr txBox="1"/>
          <p:nvPr/>
        </p:nvSpPr>
        <p:spPr>
          <a:xfrm>
            <a:off x="7256555" y="1745683"/>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02</a:t>
            </a:r>
          </a:p>
        </p:txBody>
      </p:sp>
      <p:sp>
        <p:nvSpPr>
          <p:cNvPr id="7" name="TextBox 6">
            <a:extLst>
              <a:ext uri="{FF2B5EF4-FFF2-40B4-BE49-F238E27FC236}">
                <a16:creationId xmlns:a16="http://schemas.microsoft.com/office/drawing/2014/main" id="{EABC3C2D-DBF1-E014-59AC-C281376AF8A2}"/>
              </a:ext>
            </a:extLst>
          </p:cNvPr>
          <p:cNvSpPr txBox="1"/>
          <p:nvPr/>
        </p:nvSpPr>
        <p:spPr>
          <a:xfrm>
            <a:off x="8164080" y="1745683"/>
            <a:ext cx="2786922"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Objectives</a:t>
            </a:r>
          </a:p>
        </p:txBody>
      </p:sp>
      <p:sp>
        <p:nvSpPr>
          <p:cNvPr id="10" name="TextBox 9">
            <a:extLst>
              <a:ext uri="{FF2B5EF4-FFF2-40B4-BE49-F238E27FC236}">
                <a16:creationId xmlns:a16="http://schemas.microsoft.com/office/drawing/2014/main" id="{7E71AFB9-B81D-750D-ECAA-A629ED478948}"/>
              </a:ext>
            </a:extLst>
          </p:cNvPr>
          <p:cNvSpPr txBox="1"/>
          <p:nvPr/>
        </p:nvSpPr>
        <p:spPr>
          <a:xfrm>
            <a:off x="7256555" y="2346771"/>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03</a:t>
            </a:r>
          </a:p>
        </p:txBody>
      </p:sp>
      <p:sp>
        <p:nvSpPr>
          <p:cNvPr id="11" name="TextBox 10">
            <a:extLst>
              <a:ext uri="{FF2B5EF4-FFF2-40B4-BE49-F238E27FC236}">
                <a16:creationId xmlns:a16="http://schemas.microsoft.com/office/drawing/2014/main" id="{1BC32595-78E1-A72E-30BA-889EA600042D}"/>
              </a:ext>
            </a:extLst>
          </p:cNvPr>
          <p:cNvSpPr txBox="1"/>
          <p:nvPr/>
        </p:nvSpPr>
        <p:spPr>
          <a:xfrm>
            <a:off x="8164080" y="2346771"/>
            <a:ext cx="2786922"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Case Studies</a:t>
            </a:r>
          </a:p>
        </p:txBody>
      </p:sp>
      <p:sp>
        <p:nvSpPr>
          <p:cNvPr id="13" name="TextBox 12">
            <a:extLst>
              <a:ext uri="{FF2B5EF4-FFF2-40B4-BE49-F238E27FC236}">
                <a16:creationId xmlns:a16="http://schemas.microsoft.com/office/drawing/2014/main" id="{1967FFA5-57A5-437D-CF70-37E224D910BB}"/>
              </a:ext>
            </a:extLst>
          </p:cNvPr>
          <p:cNvSpPr txBox="1"/>
          <p:nvPr/>
        </p:nvSpPr>
        <p:spPr>
          <a:xfrm>
            <a:off x="7256555" y="2947859"/>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04</a:t>
            </a:r>
          </a:p>
        </p:txBody>
      </p:sp>
      <p:sp>
        <p:nvSpPr>
          <p:cNvPr id="14" name="TextBox 13">
            <a:extLst>
              <a:ext uri="{FF2B5EF4-FFF2-40B4-BE49-F238E27FC236}">
                <a16:creationId xmlns:a16="http://schemas.microsoft.com/office/drawing/2014/main" id="{6D489973-940D-D9CF-B201-FD15445D37ED}"/>
              </a:ext>
            </a:extLst>
          </p:cNvPr>
          <p:cNvSpPr txBox="1"/>
          <p:nvPr/>
        </p:nvSpPr>
        <p:spPr>
          <a:xfrm>
            <a:off x="8164079" y="2947859"/>
            <a:ext cx="2990705"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Key Takeaways</a:t>
            </a:r>
          </a:p>
        </p:txBody>
      </p:sp>
      <p:sp>
        <p:nvSpPr>
          <p:cNvPr id="16" name="TextBox 15">
            <a:extLst>
              <a:ext uri="{FF2B5EF4-FFF2-40B4-BE49-F238E27FC236}">
                <a16:creationId xmlns:a16="http://schemas.microsoft.com/office/drawing/2014/main" id="{97D8C817-7481-FDDD-922A-6A8DB63BE034}"/>
              </a:ext>
            </a:extLst>
          </p:cNvPr>
          <p:cNvSpPr txBox="1"/>
          <p:nvPr/>
        </p:nvSpPr>
        <p:spPr>
          <a:xfrm>
            <a:off x="7256555" y="3548947"/>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05</a:t>
            </a:r>
          </a:p>
        </p:txBody>
      </p:sp>
      <p:sp>
        <p:nvSpPr>
          <p:cNvPr id="17" name="TextBox 16">
            <a:extLst>
              <a:ext uri="{FF2B5EF4-FFF2-40B4-BE49-F238E27FC236}">
                <a16:creationId xmlns:a16="http://schemas.microsoft.com/office/drawing/2014/main" id="{29AEC576-A241-A9F6-7D57-18A91C44CE98}"/>
              </a:ext>
            </a:extLst>
          </p:cNvPr>
          <p:cNvSpPr txBox="1"/>
          <p:nvPr/>
        </p:nvSpPr>
        <p:spPr>
          <a:xfrm>
            <a:off x="8164080" y="3548947"/>
            <a:ext cx="2786922"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Methodology</a:t>
            </a:r>
          </a:p>
        </p:txBody>
      </p:sp>
      <p:sp>
        <p:nvSpPr>
          <p:cNvPr id="19" name="TextBox 18">
            <a:extLst>
              <a:ext uri="{FF2B5EF4-FFF2-40B4-BE49-F238E27FC236}">
                <a16:creationId xmlns:a16="http://schemas.microsoft.com/office/drawing/2014/main" id="{7F6E730B-BB9B-3590-DFCA-B37EB11356A3}"/>
              </a:ext>
            </a:extLst>
          </p:cNvPr>
          <p:cNvSpPr txBox="1"/>
          <p:nvPr/>
        </p:nvSpPr>
        <p:spPr>
          <a:xfrm>
            <a:off x="7256555" y="4150035"/>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06</a:t>
            </a:r>
          </a:p>
        </p:txBody>
      </p:sp>
      <p:sp>
        <p:nvSpPr>
          <p:cNvPr id="20" name="TextBox 19">
            <a:extLst>
              <a:ext uri="{FF2B5EF4-FFF2-40B4-BE49-F238E27FC236}">
                <a16:creationId xmlns:a16="http://schemas.microsoft.com/office/drawing/2014/main" id="{A7C33602-EED6-E996-887D-E8AC39A22F63}"/>
              </a:ext>
            </a:extLst>
          </p:cNvPr>
          <p:cNvSpPr txBox="1"/>
          <p:nvPr/>
        </p:nvSpPr>
        <p:spPr>
          <a:xfrm>
            <a:off x="8164080" y="4150035"/>
            <a:ext cx="3350688"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Points of Interest</a:t>
            </a:r>
          </a:p>
        </p:txBody>
      </p:sp>
      <p:sp>
        <p:nvSpPr>
          <p:cNvPr id="22" name="TextBox 21">
            <a:extLst>
              <a:ext uri="{FF2B5EF4-FFF2-40B4-BE49-F238E27FC236}">
                <a16:creationId xmlns:a16="http://schemas.microsoft.com/office/drawing/2014/main" id="{2036734E-4C20-A6C8-1A4D-18B8FD1B383E}"/>
              </a:ext>
            </a:extLst>
          </p:cNvPr>
          <p:cNvSpPr txBox="1"/>
          <p:nvPr/>
        </p:nvSpPr>
        <p:spPr>
          <a:xfrm>
            <a:off x="7256555" y="4751123"/>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07</a:t>
            </a:r>
          </a:p>
        </p:txBody>
      </p:sp>
      <p:sp>
        <p:nvSpPr>
          <p:cNvPr id="23" name="TextBox 22">
            <a:extLst>
              <a:ext uri="{FF2B5EF4-FFF2-40B4-BE49-F238E27FC236}">
                <a16:creationId xmlns:a16="http://schemas.microsoft.com/office/drawing/2014/main" id="{846B719D-1A54-65BF-B545-690BF203766E}"/>
              </a:ext>
            </a:extLst>
          </p:cNvPr>
          <p:cNvSpPr txBox="1"/>
          <p:nvPr/>
        </p:nvSpPr>
        <p:spPr>
          <a:xfrm>
            <a:off x="8164080" y="4751123"/>
            <a:ext cx="2786922"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Action Items</a:t>
            </a:r>
          </a:p>
        </p:txBody>
      </p:sp>
      <p:sp>
        <p:nvSpPr>
          <p:cNvPr id="25" name="TextBox 24">
            <a:extLst>
              <a:ext uri="{FF2B5EF4-FFF2-40B4-BE49-F238E27FC236}">
                <a16:creationId xmlns:a16="http://schemas.microsoft.com/office/drawing/2014/main" id="{9D487BB5-16D4-A0AC-8F9E-447D7A64E659}"/>
              </a:ext>
            </a:extLst>
          </p:cNvPr>
          <p:cNvSpPr txBox="1"/>
          <p:nvPr/>
        </p:nvSpPr>
        <p:spPr>
          <a:xfrm>
            <a:off x="7256555" y="5352212"/>
            <a:ext cx="703742"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08</a:t>
            </a:r>
          </a:p>
        </p:txBody>
      </p:sp>
      <p:sp>
        <p:nvSpPr>
          <p:cNvPr id="26" name="TextBox 25">
            <a:extLst>
              <a:ext uri="{FF2B5EF4-FFF2-40B4-BE49-F238E27FC236}">
                <a16:creationId xmlns:a16="http://schemas.microsoft.com/office/drawing/2014/main" id="{ECE8C5BF-B64F-1C38-11A9-3A7536526A20}"/>
              </a:ext>
            </a:extLst>
          </p:cNvPr>
          <p:cNvSpPr txBox="1"/>
          <p:nvPr/>
        </p:nvSpPr>
        <p:spPr>
          <a:xfrm>
            <a:off x="8164080" y="5352212"/>
            <a:ext cx="2786922" cy="584775"/>
          </a:xfrm>
          <a:prstGeom prst="rect">
            <a:avLst/>
          </a:prstGeom>
          <a:noFill/>
        </p:spPr>
        <p:txBody>
          <a:bodyPr wrap="square" rtlCol="0">
            <a:spAutoFit/>
          </a:bodyPr>
          <a:lstStyle/>
          <a:p>
            <a:r>
              <a:rPr lang="en-US" sz="3200" dirty="0">
                <a:solidFill>
                  <a:schemeClr val="bg1"/>
                </a:solidFill>
                <a:latin typeface="Avenir Book" panose="02000503020000020003" pitchFamily="2" charset="0"/>
              </a:rPr>
              <a:t>Appendix</a:t>
            </a:r>
          </a:p>
        </p:txBody>
      </p:sp>
      <p:sp>
        <p:nvSpPr>
          <p:cNvPr id="27" name="TextBox 26">
            <a:extLst>
              <a:ext uri="{FF2B5EF4-FFF2-40B4-BE49-F238E27FC236}">
                <a16:creationId xmlns:a16="http://schemas.microsoft.com/office/drawing/2014/main" id="{D672AB24-8BE8-4F8B-0487-6EE56613157A}"/>
              </a:ext>
            </a:extLst>
          </p:cNvPr>
          <p:cNvSpPr txBox="1"/>
          <p:nvPr/>
        </p:nvSpPr>
        <p:spPr>
          <a:xfrm>
            <a:off x="540026" y="3136612"/>
            <a:ext cx="2732564"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CONTENTS</a:t>
            </a:r>
          </a:p>
        </p:txBody>
      </p:sp>
      <p:sp>
        <p:nvSpPr>
          <p:cNvPr id="2" name="TextBox 1">
            <a:extLst>
              <a:ext uri="{FF2B5EF4-FFF2-40B4-BE49-F238E27FC236}">
                <a16:creationId xmlns:a16="http://schemas.microsoft.com/office/drawing/2014/main" id="{ED3306A1-C605-C41B-FF76-21E276CB7818}"/>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2105160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66E9EE6-F45A-D65C-BA5C-B7BEEBE34F4C}"/>
            </a:ext>
          </a:extLst>
        </p:cNvPr>
        <p:cNvGrpSpPr/>
        <p:nvPr/>
      </p:nvGrpSpPr>
      <p:grpSpPr>
        <a:xfrm>
          <a:off x="0" y="0"/>
          <a:ext cx="0" cy="0"/>
          <a:chOff x="0" y="0"/>
          <a:chExt cx="0" cy="0"/>
        </a:xfrm>
      </p:grpSpPr>
      <p:sp>
        <p:nvSpPr>
          <p:cNvPr id="30" name="TextBox 29">
            <a:extLst>
              <a:ext uri="{FF2B5EF4-FFF2-40B4-BE49-F238E27FC236}">
                <a16:creationId xmlns:a16="http://schemas.microsoft.com/office/drawing/2014/main" id="{6147F920-7736-7A9C-27C5-67A1798ED14A}"/>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02</a:t>
            </a:r>
          </a:p>
        </p:txBody>
      </p:sp>
      <p:cxnSp>
        <p:nvCxnSpPr>
          <p:cNvPr id="32" name="Straight Connector 31">
            <a:extLst>
              <a:ext uri="{FF2B5EF4-FFF2-40B4-BE49-F238E27FC236}">
                <a16:creationId xmlns:a16="http://schemas.microsoft.com/office/drawing/2014/main" id="{8322CC3C-3C1E-BB73-C7B9-238208870779}"/>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8A0FE283-1636-2794-10B0-D5A52F882095}"/>
              </a:ext>
            </a:extLst>
          </p:cNvPr>
          <p:cNvCxnSpPr>
            <a:cxnSpLocks/>
          </p:cNvCxnSpPr>
          <p:nvPr/>
        </p:nvCxnSpPr>
        <p:spPr>
          <a:xfrm>
            <a:off x="940526" y="580615"/>
            <a:ext cx="10951258"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3E39D93F-701F-94D1-8C9F-575965188597}"/>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002 // 045</a:t>
            </a:r>
          </a:p>
        </p:txBody>
      </p:sp>
      <p:sp>
        <p:nvSpPr>
          <p:cNvPr id="27" name="TextBox 26">
            <a:extLst>
              <a:ext uri="{FF2B5EF4-FFF2-40B4-BE49-F238E27FC236}">
                <a16:creationId xmlns:a16="http://schemas.microsoft.com/office/drawing/2014/main" id="{E38EBF6B-6F26-159F-B457-FAFD42EF5415}"/>
              </a:ext>
            </a:extLst>
          </p:cNvPr>
          <p:cNvSpPr txBox="1"/>
          <p:nvPr/>
        </p:nvSpPr>
        <p:spPr>
          <a:xfrm>
            <a:off x="540026" y="3136612"/>
            <a:ext cx="2732564"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OBJECTIVES</a:t>
            </a:r>
          </a:p>
        </p:txBody>
      </p:sp>
      <p:sp>
        <p:nvSpPr>
          <p:cNvPr id="31" name="TextBox 30">
            <a:extLst>
              <a:ext uri="{FF2B5EF4-FFF2-40B4-BE49-F238E27FC236}">
                <a16:creationId xmlns:a16="http://schemas.microsoft.com/office/drawing/2014/main" id="{35AEEFAA-47C3-E243-4F91-712BF28893D3}"/>
              </a:ext>
            </a:extLst>
          </p:cNvPr>
          <p:cNvSpPr txBox="1"/>
          <p:nvPr/>
        </p:nvSpPr>
        <p:spPr>
          <a:xfrm>
            <a:off x="8225313" y="3014275"/>
            <a:ext cx="3446980" cy="3052567"/>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The first objective is to ensure that every design decision begins with a deep understanding of the user, their environment, and the conditions surrounding their needs. This means grounding the process in empathy, research, and observation so that solutions respond to real behaviors rather than assumptions. By establishing clarity early, teams gain alignment around the problem space.</a:t>
            </a:r>
          </a:p>
          <a:p>
            <a:pPr>
              <a:lnSpc>
                <a:spcPct val="120000"/>
              </a:lnSpc>
              <a:spcAft>
                <a:spcPts val="1200"/>
              </a:spcAft>
            </a:pPr>
            <a:r>
              <a:rPr lang="en-US" sz="800" dirty="0">
                <a:solidFill>
                  <a:schemeClr val="bg1"/>
                </a:solidFill>
                <a:latin typeface="Avenir Light" panose="020B0402020203020204" pitchFamily="34" charset="77"/>
              </a:rPr>
              <a:t>The second objective is to translate insight into purposeful creation—forming concepts that balance imagination with practical constraints. This involves developing ideas that explore a range of possibilities, then prototyping and testing them to understand how they perform in real-world scenarios.</a:t>
            </a:r>
          </a:p>
          <a:p>
            <a:pPr>
              <a:lnSpc>
                <a:spcPct val="120000"/>
              </a:lnSpc>
              <a:spcAft>
                <a:spcPts val="1200"/>
              </a:spcAft>
            </a:pPr>
            <a:r>
              <a:rPr lang="en-US" sz="800" dirty="0">
                <a:solidFill>
                  <a:schemeClr val="bg1"/>
                </a:solidFill>
                <a:latin typeface="Avenir Light" panose="020B0402020203020204" pitchFamily="34" charset="77"/>
              </a:rPr>
              <a:t>The final objective is to refine and evolve solutions based on evidence, iteration, and reflection so that outcomes remain relevant and intentional. This requires refining details, improving usability, and strengthening coherence between aesthetic and functional qualities. By capturing learnings throughout the process, teams create a foundation for continuous improvement, enabling each project to inform future work and elevate the broader practice of design.</a:t>
            </a:r>
          </a:p>
        </p:txBody>
      </p:sp>
      <p:pic>
        <p:nvPicPr>
          <p:cNvPr id="7172" name="Picture 4" descr="a room with a window and a staircase">
            <a:extLst>
              <a:ext uri="{FF2B5EF4-FFF2-40B4-BE49-F238E27FC236}">
                <a16:creationId xmlns:a16="http://schemas.microsoft.com/office/drawing/2014/main" id="{2F2885C4-6236-1358-1D99-D38A1E50A96D}"/>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a:fillRect/>
          </a:stretch>
        </p:blipFill>
        <p:spPr bwMode="auto">
          <a:xfrm>
            <a:off x="8225313" y="885748"/>
            <a:ext cx="3287235" cy="190654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0CA4087-FA10-893C-6E46-CE3063B4C2DB}"/>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283665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72C4582-5B39-BB27-62CE-1F61110E441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9AB5EC1-56FD-71B1-0D8D-C8C51C497CA5}"/>
              </a:ext>
            </a:extLst>
          </p:cNvPr>
          <p:cNvSpPr txBox="1"/>
          <p:nvPr/>
        </p:nvSpPr>
        <p:spPr>
          <a:xfrm>
            <a:off x="519707" y="866361"/>
            <a:ext cx="8024853" cy="3046988"/>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Architecture becomes meaningful </a:t>
            </a:r>
          </a:p>
          <a:p>
            <a:r>
              <a:rPr lang="en-US" sz="3200" dirty="0">
                <a:solidFill>
                  <a:schemeClr val="bg1"/>
                </a:solidFill>
                <a:latin typeface="Avenir Medium" panose="02000503020000020003" pitchFamily="2" charset="0"/>
              </a:rPr>
              <a:t>when it begins with people. Translating their needs, culture, and environment into spaces that elevate daily life. Through thoughtful research and iterative exploration design evolves over time.</a:t>
            </a:r>
          </a:p>
        </p:txBody>
      </p:sp>
      <p:sp>
        <p:nvSpPr>
          <p:cNvPr id="30" name="TextBox 29">
            <a:extLst>
              <a:ext uri="{FF2B5EF4-FFF2-40B4-BE49-F238E27FC236}">
                <a16:creationId xmlns:a16="http://schemas.microsoft.com/office/drawing/2014/main" id="{E30B98C6-CCC8-D809-C3F9-38434D240A77}"/>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CASE STUDY</a:t>
            </a:r>
          </a:p>
        </p:txBody>
      </p:sp>
      <p:cxnSp>
        <p:nvCxnSpPr>
          <p:cNvPr id="32" name="Straight Connector 31">
            <a:extLst>
              <a:ext uri="{FF2B5EF4-FFF2-40B4-BE49-F238E27FC236}">
                <a16:creationId xmlns:a16="http://schemas.microsoft.com/office/drawing/2014/main" id="{C74EDA1C-CC88-87D3-F3D8-EC5D5A78FDD4}"/>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2DBB0C5D-E761-6024-A354-D07CE18152F3}"/>
              </a:ext>
            </a:extLst>
          </p:cNvPr>
          <p:cNvSpPr txBox="1"/>
          <p:nvPr/>
        </p:nvSpPr>
        <p:spPr>
          <a:xfrm>
            <a:off x="8544801" y="3014275"/>
            <a:ext cx="3127492" cy="1077218"/>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The first objective in this architectural case study is to establish </a:t>
            </a:r>
          </a:p>
          <a:p>
            <a:r>
              <a:rPr lang="en-US" sz="800" dirty="0">
                <a:solidFill>
                  <a:schemeClr val="bg1"/>
                </a:solidFill>
                <a:latin typeface="Avenir Light" panose="020B0402020203020204" pitchFamily="34" charset="77"/>
              </a:rPr>
              <a:t>a deep understanding of the people who will inhabit the space, the cultural and ecological context in which the structure will exist, and the regulations and site constraints that define </a:t>
            </a:r>
          </a:p>
          <a:p>
            <a:r>
              <a:rPr lang="en-US" sz="800" dirty="0">
                <a:solidFill>
                  <a:schemeClr val="bg1"/>
                </a:solidFill>
                <a:latin typeface="Avenir Light" panose="020B0402020203020204" pitchFamily="34" charset="77"/>
              </a:rPr>
              <a:t>the project boundaries. This requires extensive site analysis</a:t>
            </a:r>
          </a:p>
          <a:p>
            <a:r>
              <a:rPr lang="en-US" sz="800" dirty="0">
                <a:solidFill>
                  <a:schemeClr val="bg1"/>
                </a:solidFill>
                <a:latin typeface="Avenir Light" panose="020B0402020203020204" pitchFamily="34" charset="77"/>
              </a:rPr>
              <a:t>—examining climate, orientation, circulation patterns, </a:t>
            </a:r>
          </a:p>
          <a:p>
            <a:r>
              <a:rPr lang="en-US" sz="800" dirty="0">
                <a:solidFill>
                  <a:schemeClr val="bg1"/>
                </a:solidFill>
                <a:latin typeface="Avenir Light" panose="020B0402020203020204" pitchFamily="34" charset="77"/>
              </a:rPr>
              <a:t>and adjacent structures—as well as ethnographic research </a:t>
            </a:r>
          </a:p>
          <a:p>
            <a:r>
              <a:rPr lang="en-US" sz="800" dirty="0">
                <a:solidFill>
                  <a:schemeClr val="bg1"/>
                </a:solidFill>
                <a:latin typeface="Avenir Light" panose="020B0402020203020204" pitchFamily="34" charset="77"/>
              </a:rPr>
              <a:t>to uncover community rhythms, needs, and aspirations.</a:t>
            </a:r>
          </a:p>
        </p:txBody>
      </p:sp>
      <p:grpSp>
        <p:nvGrpSpPr>
          <p:cNvPr id="70" name="Group 69">
            <a:extLst>
              <a:ext uri="{FF2B5EF4-FFF2-40B4-BE49-F238E27FC236}">
                <a16:creationId xmlns:a16="http://schemas.microsoft.com/office/drawing/2014/main" id="{D987A672-54EB-AE3E-F427-97F17489ED98}"/>
              </a:ext>
            </a:extLst>
          </p:cNvPr>
          <p:cNvGrpSpPr/>
          <p:nvPr/>
        </p:nvGrpSpPr>
        <p:grpSpPr>
          <a:xfrm>
            <a:off x="540026" y="4170439"/>
            <a:ext cx="3193032" cy="1973935"/>
            <a:chOff x="540027" y="4131407"/>
            <a:chExt cx="3193032" cy="1973935"/>
          </a:xfrm>
        </p:grpSpPr>
        <p:grpSp>
          <p:nvGrpSpPr>
            <p:cNvPr id="40" name="Group 39">
              <a:extLst>
                <a:ext uri="{FF2B5EF4-FFF2-40B4-BE49-F238E27FC236}">
                  <a16:creationId xmlns:a16="http://schemas.microsoft.com/office/drawing/2014/main" id="{CD49BA34-8A16-5859-5114-5F5FBB2115E6}"/>
                </a:ext>
              </a:extLst>
            </p:cNvPr>
            <p:cNvGrpSpPr/>
            <p:nvPr/>
          </p:nvGrpSpPr>
          <p:grpSpPr>
            <a:xfrm>
              <a:off x="540027" y="4131407"/>
              <a:ext cx="3193032" cy="267798"/>
              <a:chOff x="540027" y="4251969"/>
              <a:chExt cx="3193032" cy="267798"/>
            </a:xfrm>
          </p:grpSpPr>
          <p:sp>
            <p:nvSpPr>
              <p:cNvPr id="34" name="TextBox 33">
                <a:extLst>
                  <a:ext uri="{FF2B5EF4-FFF2-40B4-BE49-F238E27FC236}">
                    <a16:creationId xmlns:a16="http://schemas.microsoft.com/office/drawing/2014/main" id="{C0A23C56-24F5-74E8-967F-CBEDFF472BC5}"/>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36" name="TextBox 35">
                <a:extLst>
                  <a:ext uri="{FF2B5EF4-FFF2-40B4-BE49-F238E27FC236}">
                    <a16:creationId xmlns:a16="http://schemas.microsoft.com/office/drawing/2014/main" id="{F39400E5-B3F4-A787-E3D6-DB55C5C51AB9}"/>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37" name="Straight Connector 36">
                <a:extLst>
                  <a:ext uri="{FF2B5EF4-FFF2-40B4-BE49-F238E27FC236}">
                    <a16:creationId xmlns:a16="http://schemas.microsoft.com/office/drawing/2014/main" id="{D5FB1D2B-0B35-E3D3-1036-297C400C931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3123F608-66E4-326E-FBE5-227B8EE15CC2}"/>
                </a:ext>
              </a:extLst>
            </p:cNvPr>
            <p:cNvGrpSpPr/>
            <p:nvPr/>
          </p:nvGrpSpPr>
          <p:grpSpPr>
            <a:xfrm>
              <a:off x="540027" y="4454792"/>
              <a:ext cx="3193032" cy="267798"/>
              <a:chOff x="540027" y="4251969"/>
              <a:chExt cx="3193032" cy="267798"/>
            </a:xfrm>
          </p:grpSpPr>
          <p:sp>
            <p:nvSpPr>
              <p:cNvPr id="43" name="TextBox 42">
                <a:extLst>
                  <a:ext uri="{FF2B5EF4-FFF2-40B4-BE49-F238E27FC236}">
                    <a16:creationId xmlns:a16="http://schemas.microsoft.com/office/drawing/2014/main" id="{4E53ADD7-E606-BD0E-A913-7D87C9DF35B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44" name="TextBox 43">
                <a:extLst>
                  <a:ext uri="{FF2B5EF4-FFF2-40B4-BE49-F238E27FC236}">
                    <a16:creationId xmlns:a16="http://schemas.microsoft.com/office/drawing/2014/main" id="{EA48F259-CA4E-BFCA-4C10-FECB7426CAC9}"/>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45" name="Straight Connector 44">
                <a:extLst>
                  <a:ext uri="{FF2B5EF4-FFF2-40B4-BE49-F238E27FC236}">
                    <a16:creationId xmlns:a16="http://schemas.microsoft.com/office/drawing/2014/main" id="{19A77D19-A979-C167-F6AE-357951CF818E}"/>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54" name="Group 53">
              <a:extLst>
                <a:ext uri="{FF2B5EF4-FFF2-40B4-BE49-F238E27FC236}">
                  <a16:creationId xmlns:a16="http://schemas.microsoft.com/office/drawing/2014/main" id="{32936CD2-BC47-50F8-6E96-BF2E38B80A1D}"/>
                </a:ext>
              </a:extLst>
            </p:cNvPr>
            <p:cNvGrpSpPr/>
            <p:nvPr/>
          </p:nvGrpSpPr>
          <p:grpSpPr>
            <a:xfrm>
              <a:off x="540027" y="4800480"/>
              <a:ext cx="3193032" cy="267798"/>
              <a:chOff x="540027" y="4251969"/>
              <a:chExt cx="3193032" cy="267798"/>
            </a:xfrm>
          </p:grpSpPr>
          <p:sp>
            <p:nvSpPr>
              <p:cNvPr id="55" name="TextBox 54">
                <a:extLst>
                  <a:ext uri="{FF2B5EF4-FFF2-40B4-BE49-F238E27FC236}">
                    <a16:creationId xmlns:a16="http://schemas.microsoft.com/office/drawing/2014/main" id="{953A295C-7D4B-AB14-C4E2-A6CE3535BAA6}"/>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56" name="TextBox 55">
                <a:extLst>
                  <a:ext uri="{FF2B5EF4-FFF2-40B4-BE49-F238E27FC236}">
                    <a16:creationId xmlns:a16="http://schemas.microsoft.com/office/drawing/2014/main" id="{8C041768-EDA1-390C-8CAF-C163D82F60C0}"/>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57" name="Straight Connector 56">
                <a:extLst>
                  <a:ext uri="{FF2B5EF4-FFF2-40B4-BE49-F238E27FC236}">
                    <a16:creationId xmlns:a16="http://schemas.microsoft.com/office/drawing/2014/main" id="{B1AD217F-3E4E-EE8B-5C2E-DF7181F7B8E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58" name="Group 57">
              <a:extLst>
                <a:ext uri="{FF2B5EF4-FFF2-40B4-BE49-F238E27FC236}">
                  <a16:creationId xmlns:a16="http://schemas.microsoft.com/office/drawing/2014/main" id="{73381BC3-EE67-46D3-A8D6-709842A943C9}"/>
                </a:ext>
              </a:extLst>
            </p:cNvPr>
            <p:cNvGrpSpPr/>
            <p:nvPr/>
          </p:nvGrpSpPr>
          <p:grpSpPr>
            <a:xfrm>
              <a:off x="540027" y="5146168"/>
              <a:ext cx="3193032" cy="267798"/>
              <a:chOff x="540027" y="4251969"/>
              <a:chExt cx="3193032" cy="267798"/>
            </a:xfrm>
          </p:grpSpPr>
          <p:sp>
            <p:nvSpPr>
              <p:cNvPr id="59" name="TextBox 58">
                <a:extLst>
                  <a:ext uri="{FF2B5EF4-FFF2-40B4-BE49-F238E27FC236}">
                    <a16:creationId xmlns:a16="http://schemas.microsoft.com/office/drawing/2014/main" id="{276981FD-2FDC-4AE1-2CA5-696D42FD4535}"/>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60" name="TextBox 59">
                <a:extLst>
                  <a:ext uri="{FF2B5EF4-FFF2-40B4-BE49-F238E27FC236}">
                    <a16:creationId xmlns:a16="http://schemas.microsoft.com/office/drawing/2014/main" id="{22940359-DD93-BFF3-CECE-02577B22CBE6}"/>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61" name="Straight Connector 60">
                <a:extLst>
                  <a:ext uri="{FF2B5EF4-FFF2-40B4-BE49-F238E27FC236}">
                    <a16:creationId xmlns:a16="http://schemas.microsoft.com/office/drawing/2014/main" id="{590A26A4-9029-0215-E4E3-7A05CE977E8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62" name="Group 61">
              <a:extLst>
                <a:ext uri="{FF2B5EF4-FFF2-40B4-BE49-F238E27FC236}">
                  <a16:creationId xmlns:a16="http://schemas.microsoft.com/office/drawing/2014/main" id="{085EECD6-4C79-7B5B-64FB-0CDA1F144FF7}"/>
                </a:ext>
              </a:extLst>
            </p:cNvPr>
            <p:cNvGrpSpPr/>
            <p:nvPr/>
          </p:nvGrpSpPr>
          <p:grpSpPr>
            <a:xfrm>
              <a:off x="540027" y="5491856"/>
              <a:ext cx="3193032" cy="267798"/>
              <a:chOff x="540027" y="4251969"/>
              <a:chExt cx="3193032" cy="267798"/>
            </a:xfrm>
          </p:grpSpPr>
          <p:sp>
            <p:nvSpPr>
              <p:cNvPr id="63" name="TextBox 62">
                <a:extLst>
                  <a:ext uri="{FF2B5EF4-FFF2-40B4-BE49-F238E27FC236}">
                    <a16:creationId xmlns:a16="http://schemas.microsoft.com/office/drawing/2014/main" id="{BF4E34E6-2840-68B1-7372-B4E18A94F4DA}"/>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64" name="TextBox 63">
                <a:extLst>
                  <a:ext uri="{FF2B5EF4-FFF2-40B4-BE49-F238E27FC236}">
                    <a16:creationId xmlns:a16="http://schemas.microsoft.com/office/drawing/2014/main" id="{D0C31F01-AB2E-CA6A-049F-FC86773658FB}"/>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65" name="Straight Connector 64">
                <a:extLst>
                  <a:ext uri="{FF2B5EF4-FFF2-40B4-BE49-F238E27FC236}">
                    <a16:creationId xmlns:a16="http://schemas.microsoft.com/office/drawing/2014/main" id="{9B198FBA-CC1E-C6B6-0D91-BEDF1B8EAFD7}"/>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66" name="Group 65">
              <a:extLst>
                <a:ext uri="{FF2B5EF4-FFF2-40B4-BE49-F238E27FC236}">
                  <a16:creationId xmlns:a16="http://schemas.microsoft.com/office/drawing/2014/main" id="{216FA4CD-85E0-3BAA-7C09-B0064230756D}"/>
                </a:ext>
              </a:extLst>
            </p:cNvPr>
            <p:cNvGrpSpPr/>
            <p:nvPr/>
          </p:nvGrpSpPr>
          <p:grpSpPr>
            <a:xfrm>
              <a:off x="540027" y="5837544"/>
              <a:ext cx="3193032" cy="267798"/>
              <a:chOff x="540027" y="4251969"/>
              <a:chExt cx="3193032" cy="267798"/>
            </a:xfrm>
          </p:grpSpPr>
          <p:sp>
            <p:nvSpPr>
              <p:cNvPr id="67" name="TextBox 66">
                <a:extLst>
                  <a:ext uri="{FF2B5EF4-FFF2-40B4-BE49-F238E27FC236}">
                    <a16:creationId xmlns:a16="http://schemas.microsoft.com/office/drawing/2014/main" id="{7E5A3510-3315-028E-DB53-936AAF089E0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68" name="TextBox 67">
                <a:extLst>
                  <a:ext uri="{FF2B5EF4-FFF2-40B4-BE49-F238E27FC236}">
                    <a16:creationId xmlns:a16="http://schemas.microsoft.com/office/drawing/2014/main" id="{7A30B72A-8A21-73AB-85F2-366D9A39FE4F}"/>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69" name="Straight Connector 68">
                <a:extLst>
                  <a:ext uri="{FF2B5EF4-FFF2-40B4-BE49-F238E27FC236}">
                    <a16:creationId xmlns:a16="http://schemas.microsoft.com/office/drawing/2014/main" id="{A164EAAC-BCAE-198A-A8B6-17568D4AA88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71" name="Group 70">
            <a:extLst>
              <a:ext uri="{FF2B5EF4-FFF2-40B4-BE49-F238E27FC236}">
                <a16:creationId xmlns:a16="http://schemas.microsoft.com/office/drawing/2014/main" id="{55A5C600-1300-BFB9-57B6-DE986846ADE2}"/>
              </a:ext>
            </a:extLst>
          </p:cNvPr>
          <p:cNvGrpSpPr/>
          <p:nvPr/>
        </p:nvGrpSpPr>
        <p:grpSpPr>
          <a:xfrm>
            <a:off x="4381621" y="4170439"/>
            <a:ext cx="3193032" cy="1973935"/>
            <a:chOff x="540027" y="4131407"/>
            <a:chExt cx="3193032" cy="1973935"/>
          </a:xfrm>
        </p:grpSpPr>
        <p:grpSp>
          <p:nvGrpSpPr>
            <p:cNvPr id="72" name="Group 71">
              <a:extLst>
                <a:ext uri="{FF2B5EF4-FFF2-40B4-BE49-F238E27FC236}">
                  <a16:creationId xmlns:a16="http://schemas.microsoft.com/office/drawing/2014/main" id="{16FCE7E1-1A8C-9987-78C6-A09EAF8B243D}"/>
                </a:ext>
              </a:extLst>
            </p:cNvPr>
            <p:cNvGrpSpPr/>
            <p:nvPr/>
          </p:nvGrpSpPr>
          <p:grpSpPr>
            <a:xfrm>
              <a:off x="540027" y="4131407"/>
              <a:ext cx="3193032" cy="267798"/>
              <a:chOff x="540027" y="4251969"/>
              <a:chExt cx="3193032" cy="267798"/>
            </a:xfrm>
          </p:grpSpPr>
          <p:sp>
            <p:nvSpPr>
              <p:cNvPr id="93" name="TextBox 92">
                <a:extLst>
                  <a:ext uri="{FF2B5EF4-FFF2-40B4-BE49-F238E27FC236}">
                    <a16:creationId xmlns:a16="http://schemas.microsoft.com/office/drawing/2014/main" id="{B966C06F-25ED-14E6-086E-FE407F5EC4BD}"/>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94" name="TextBox 93">
                <a:extLst>
                  <a:ext uri="{FF2B5EF4-FFF2-40B4-BE49-F238E27FC236}">
                    <a16:creationId xmlns:a16="http://schemas.microsoft.com/office/drawing/2014/main" id="{673891B8-CC5A-3F90-7687-BE25780D88F1}"/>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95" name="Straight Connector 94">
                <a:extLst>
                  <a:ext uri="{FF2B5EF4-FFF2-40B4-BE49-F238E27FC236}">
                    <a16:creationId xmlns:a16="http://schemas.microsoft.com/office/drawing/2014/main" id="{7272DAA5-AC57-6553-2525-3A4570A93F42}"/>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3" name="Group 72">
              <a:extLst>
                <a:ext uri="{FF2B5EF4-FFF2-40B4-BE49-F238E27FC236}">
                  <a16:creationId xmlns:a16="http://schemas.microsoft.com/office/drawing/2014/main" id="{4F4F8D25-AA2B-3EA5-DAA3-CAF2BA00E39E}"/>
                </a:ext>
              </a:extLst>
            </p:cNvPr>
            <p:cNvGrpSpPr/>
            <p:nvPr/>
          </p:nvGrpSpPr>
          <p:grpSpPr>
            <a:xfrm>
              <a:off x="540027" y="4454792"/>
              <a:ext cx="3193032" cy="267798"/>
              <a:chOff x="540027" y="4251969"/>
              <a:chExt cx="3193032" cy="267798"/>
            </a:xfrm>
          </p:grpSpPr>
          <p:sp>
            <p:nvSpPr>
              <p:cNvPr id="90" name="TextBox 89">
                <a:extLst>
                  <a:ext uri="{FF2B5EF4-FFF2-40B4-BE49-F238E27FC236}">
                    <a16:creationId xmlns:a16="http://schemas.microsoft.com/office/drawing/2014/main" id="{090A3932-BC52-8896-ED32-BEAAD9B40C00}"/>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91" name="TextBox 90">
                <a:extLst>
                  <a:ext uri="{FF2B5EF4-FFF2-40B4-BE49-F238E27FC236}">
                    <a16:creationId xmlns:a16="http://schemas.microsoft.com/office/drawing/2014/main" id="{4C6CD0C7-677C-9786-CB54-ABF5737F2FD1}"/>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92" name="Straight Connector 91">
                <a:extLst>
                  <a:ext uri="{FF2B5EF4-FFF2-40B4-BE49-F238E27FC236}">
                    <a16:creationId xmlns:a16="http://schemas.microsoft.com/office/drawing/2014/main" id="{737AC04C-9682-6C8E-2971-0355ADD3BFF2}"/>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4" name="Group 73">
              <a:extLst>
                <a:ext uri="{FF2B5EF4-FFF2-40B4-BE49-F238E27FC236}">
                  <a16:creationId xmlns:a16="http://schemas.microsoft.com/office/drawing/2014/main" id="{65A106B1-2E04-4B75-F6E1-11C11A9C609C}"/>
                </a:ext>
              </a:extLst>
            </p:cNvPr>
            <p:cNvGrpSpPr/>
            <p:nvPr/>
          </p:nvGrpSpPr>
          <p:grpSpPr>
            <a:xfrm>
              <a:off x="540027" y="4800480"/>
              <a:ext cx="3193032" cy="267798"/>
              <a:chOff x="540027" y="4251969"/>
              <a:chExt cx="3193032" cy="267798"/>
            </a:xfrm>
          </p:grpSpPr>
          <p:sp>
            <p:nvSpPr>
              <p:cNvPr id="87" name="TextBox 86">
                <a:extLst>
                  <a:ext uri="{FF2B5EF4-FFF2-40B4-BE49-F238E27FC236}">
                    <a16:creationId xmlns:a16="http://schemas.microsoft.com/office/drawing/2014/main" id="{21B764B8-C5C0-7A25-2158-0873CD67CEBE}"/>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88" name="TextBox 87">
                <a:extLst>
                  <a:ext uri="{FF2B5EF4-FFF2-40B4-BE49-F238E27FC236}">
                    <a16:creationId xmlns:a16="http://schemas.microsoft.com/office/drawing/2014/main" id="{A8A77A82-9B40-DED4-5889-C80FF77D75A7}"/>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89" name="Straight Connector 88">
                <a:extLst>
                  <a:ext uri="{FF2B5EF4-FFF2-40B4-BE49-F238E27FC236}">
                    <a16:creationId xmlns:a16="http://schemas.microsoft.com/office/drawing/2014/main" id="{744EBBE5-9FCC-24AC-520A-E9551CE4E4C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5" name="Group 74">
              <a:extLst>
                <a:ext uri="{FF2B5EF4-FFF2-40B4-BE49-F238E27FC236}">
                  <a16:creationId xmlns:a16="http://schemas.microsoft.com/office/drawing/2014/main" id="{7F9A3E86-A7D4-C8DE-3E43-4B16B1E2F908}"/>
                </a:ext>
              </a:extLst>
            </p:cNvPr>
            <p:cNvGrpSpPr/>
            <p:nvPr/>
          </p:nvGrpSpPr>
          <p:grpSpPr>
            <a:xfrm>
              <a:off x="540027" y="5146168"/>
              <a:ext cx="3193032" cy="267798"/>
              <a:chOff x="540027" y="4251969"/>
              <a:chExt cx="3193032" cy="267798"/>
            </a:xfrm>
          </p:grpSpPr>
          <p:sp>
            <p:nvSpPr>
              <p:cNvPr id="84" name="TextBox 83">
                <a:extLst>
                  <a:ext uri="{FF2B5EF4-FFF2-40B4-BE49-F238E27FC236}">
                    <a16:creationId xmlns:a16="http://schemas.microsoft.com/office/drawing/2014/main" id="{C0A205A3-F968-F2B4-E2E2-E3A92B9A5BA4}"/>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85" name="TextBox 84">
                <a:extLst>
                  <a:ext uri="{FF2B5EF4-FFF2-40B4-BE49-F238E27FC236}">
                    <a16:creationId xmlns:a16="http://schemas.microsoft.com/office/drawing/2014/main" id="{EA4085A4-28AC-688F-7F24-0E2753475C27}"/>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86" name="Straight Connector 85">
                <a:extLst>
                  <a:ext uri="{FF2B5EF4-FFF2-40B4-BE49-F238E27FC236}">
                    <a16:creationId xmlns:a16="http://schemas.microsoft.com/office/drawing/2014/main" id="{23BA674B-5C30-85E2-80F4-09402801F16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6" name="Group 75">
              <a:extLst>
                <a:ext uri="{FF2B5EF4-FFF2-40B4-BE49-F238E27FC236}">
                  <a16:creationId xmlns:a16="http://schemas.microsoft.com/office/drawing/2014/main" id="{6FEE7D29-6CB5-F9DD-0C00-AD865734A61B}"/>
                </a:ext>
              </a:extLst>
            </p:cNvPr>
            <p:cNvGrpSpPr/>
            <p:nvPr/>
          </p:nvGrpSpPr>
          <p:grpSpPr>
            <a:xfrm>
              <a:off x="540027" y="5491856"/>
              <a:ext cx="3193032" cy="267798"/>
              <a:chOff x="540027" y="4251969"/>
              <a:chExt cx="3193032" cy="267798"/>
            </a:xfrm>
          </p:grpSpPr>
          <p:sp>
            <p:nvSpPr>
              <p:cNvPr id="81" name="TextBox 80">
                <a:extLst>
                  <a:ext uri="{FF2B5EF4-FFF2-40B4-BE49-F238E27FC236}">
                    <a16:creationId xmlns:a16="http://schemas.microsoft.com/office/drawing/2014/main" id="{784F3A4C-A832-4DB0-9891-98402DA4F5F5}"/>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82" name="TextBox 81">
                <a:extLst>
                  <a:ext uri="{FF2B5EF4-FFF2-40B4-BE49-F238E27FC236}">
                    <a16:creationId xmlns:a16="http://schemas.microsoft.com/office/drawing/2014/main" id="{D20C017E-6933-A613-8E4C-08D211CB9A4A}"/>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83" name="Straight Connector 82">
                <a:extLst>
                  <a:ext uri="{FF2B5EF4-FFF2-40B4-BE49-F238E27FC236}">
                    <a16:creationId xmlns:a16="http://schemas.microsoft.com/office/drawing/2014/main" id="{76B8A3CA-8553-A8CB-77F1-3746D3F4EB6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7" name="Group 76">
              <a:extLst>
                <a:ext uri="{FF2B5EF4-FFF2-40B4-BE49-F238E27FC236}">
                  <a16:creationId xmlns:a16="http://schemas.microsoft.com/office/drawing/2014/main" id="{333BB8A5-9955-C5B7-21DF-1272BBDD3BC8}"/>
                </a:ext>
              </a:extLst>
            </p:cNvPr>
            <p:cNvGrpSpPr/>
            <p:nvPr/>
          </p:nvGrpSpPr>
          <p:grpSpPr>
            <a:xfrm>
              <a:off x="540027" y="5837544"/>
              <a:ext cx="3193032" cy="267798"/>
              <a:chOff x="540027" y="4251969"/>
              <a:chExt cx="3193032" cy="267798"/>
            </a:xfrm>
          </p:grpSpPr>
          <p:sp>
            <p:nvSpPr>
              <p:cNvPr id="78" name="TextBox 77">
                <a:extLst>
                  <a:ext uri="{FF2B5EF4-FFF2-40B4-BE49-F238E27FC236}">
                    <a16:creationId xmlns:a16="http://schemas.microsoft.com/office/drawing/2014/main" id="{4DE63970-3F84-3917-52D3-FB0C7A9BA56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79" name="TextBox 78">
                <a:extLst>
                  <a:ext uri="{FF2B5EF4-FFF2-40B4-BE49-F238E27FC236}">
                    <a16:creationId xmlns:a16="http://schemas.microsoft.com/office/drawing/2014/main" id="{8307FC22-40EA-18E5-E925-9018190DB86E}"/>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80" name="Straight Connector 79">
                <a:extLst>
                  <a:ext uri="{FF2B5EF4-FFF2-40B4-BE49-F238E27FC236}">
                    <a16:creationId xmlns:a16="http://schemas.microsoft.com/office/drawing/2014/main" id="{C33122B7-C92B-8214-B86C-FF7E5647F9B6}"/>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cxnSp>
        <p:nvCxnSpPr>
          <p:cNvPr id="96" name="Straight Connector 95">
            <a:extLst>
              <a:ext uri="{FF2B5EF4-FFF2-40B4-BE49-F238E27FC236}">
                <a16:creationId xmlns:a16="http://schemas.microsoft.com/office/drawing/2014/main" id="{7B6295DA-9E1E-DD59-28D9-4813F8F9356C}"/>
              </a:ext>
            </a:extLst>
          </p:cNvPr>
          <p:cNvCxnSpPr>
            <a:cxnSpLocks/>
          </p:cNvCxnSpPr>
          <p:nvPr/>
        </p:nvCxnSpPr>
        <p:spPr>
          <a:xfrm>
            <a:off x="1518834" y="580615"/>
            <a:ext cx="1037295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98" name="TextBox 97">
            <a:extLst>
              <a:ext uri="{FF2B5EF4-FFF2-40B4-BE49-F238E27FC236}">
                <a16:creationId xmlns:a16="http://schemas.microsoft.com/office/drawing/2014/main" id="{7FB193F3-72E7-7FD7-7823-A0999DC09A01}"/>
              </a:ext>
            </a:extLst>
          </p:cNvPr>
          <p:cNvSpPr txBox="1"/>
          <p:nvPr/>
        </p:nvSpPr>
        <p:spPr>
          <a:xfrm>
            <a:off x="8544801" y="4206006"/>
            <a:ext cx="3127492" cy="954107"/>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Early massing studies, circulation diagrams, and program planning explore multiple configurations, testing how spaces might hold activity, foster connection, and encourage well-being. Through sketches, physical models, and digital simulations, concepts are iteratively shaped and evaluated to understand daylighting, materials, spatial hierarchy, structural strategies, </a:t>
            </a:r>
          </a:p>
          <a:p>
            <a:r>
              <a:rPr lang="en-US" sz="800" dirty="0">
                <a:solidFill>
                  <a:schemeClr val="bg1"/>
                </a:solidFill>
                <a:latin typeface="Avenir Light" panose="020B0402020203020204" pitchFamily="34" charset="77"/>
              </a:rPr>
              <a:t>and environmental performance.</a:t>
            </a:r>
          </a:p>
        </p:txBody>
      </p:sp>
      <p:sp>
        <p:nvSpPr>
          <p:cNvPr id="99" name="TextBox 98">
            <a:extLst>
              <a:ext uri="{FF2B5EF4-FFF2-40B4-BE49-F238E27FC236}">
                <a16:creationId xmlns:a16="http://schemas.microsoft.com/office/drawing/2014/main" id="{F877769B-9746-0C07-6397-1C61F05B5977}"/>
              </a:ext>
            </a:extLst>
          </p:cNvPr>
          <p:cNvSpPr txBox="1"/>
          <p:nvPr/>
        </p:nvSpPr>
        <p:spPr>
          <a:xfrm>
            <a:off x="8544801" y="5274626"/>
            <a:ext cx="3127492" cy="954107"/>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Detailing evolves to resolve structural clarity, material performance, and long-term durability, while mock-ups </a:t>
            </a:r>
          </a:p>
          <a:p>
            <a:r>
              <a:rPr lang="en-US" sz="800" dirty="0">
                <a:solidFill>
                  <a:schemeClr val="bg1"/>
                </a:solidFill>
                <a:latin typeface="Avenir Light" panose="020B0402020203020204" pitchFamily="34" charset="77"/>
              </a:rPr>
              <a:t>and simulation data validate design decisions before they </a:t>
            </a:r>
          </a:p>
          <a:p>
            <a:r>
              <a:rPr lang="en-US" sz="800" dirty="0">
                <a:solidFill>
                  <a:schemeClr val="bg1"/>
                </a:solidFill>
                <a:latin typeface="Avenir Light" panose="020B0402020203020204" pitchFamily="34" charset="77"/>
              </a:rPr>
              <a:t>are built. Lessons gained throughout the process—about program adjacency, micro-climate response, or community engagement—are captured to inform future practice </a:t>
            </a:r>
          </a:p>
          <a:p>
            <a:r>
              <a:rPr lang="en-US" sz="800" dirty="0">
                <a:solidFill>
                  <a:schemeClr val="bg1"/>
                </a:solidFill>
                <a:latin typeface="Avenir Light" panose="020B0402020203020204" pitchFamily="34" charset="77"/>
              </a:rPr>
              <a:t>and strengthen the entire project ecosystem.</a:t>
            </a:r>
          </a:p>
        </p:txBody>
      </p:sp>
      <p:sp>
        <p:nvSpPr>
          <p:cNvPr id="102" name="TextBox 101">
            <a:extLst>
              <a:ext uri="{FF2B5EF4-FFF2-40B4-BE49-F238E27FC236}">
                <a16:creationId xmlns:a16="http://schemas.microsoft.com/office/drawing/2014/main" id="{D000E126-6131-1A0F-C4CB-628FE651D560}"/>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003 // 045</a:t>
            </a:r>
          </a:p>
        </p:txBody>
      </p:sp>
      <p:pic>
        <p:nvPicPr>
          <p:cNvPr id="5125" name="Picture 5" descr="a very tall building with lots of windows">
            <a:extLst>
              <a:ext uri="{FF2B5EF4-FFF2-40B4-BE49-F238E27FC236}">
                <a16:creationId xmlns:a16="http://schemas.microsoft.com/office/drawing/2014/main" id="{9DAD03B7-575B-5454-4984-7A898F423892}"/>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8642433" y="984423"/>
            <a:ext cx="2795316" cy="186354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336CB1A-A8D0-DAF4-B072-B9977CDB6741}"/>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4248077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A36AA13-56AD-46FF-1763-B358496A770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18468C9-D6CB-8A74-E9C4-164E8CABE5A0}"/>
              </a:ext>
            </a:extLst>
          </p:cNvPr>
          <p:cNvSpPr txBox="1"/>
          <p:nvPr/>
        </p:nvSpPr>
        <p:spPr>
          <a:xfrm>
            <a:off x="4107155" y="866361"/>
            <a:ext cx="7544819" cy="3046988"/>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Harmonizing function, atmosphere, </a:t>
            </a:r>
          </a:p>
          <a:p>
            <a:r>
              <a:rPr lang="en-US" sz="3200" dirty="0">
                <a:solidFill>
                  <a:schemeClr val="bg1"/>
                </a:solidFill>
                <a:latin typeface="Avenir Medium" panose="02000503020000020003" pitchFamily="2" charset="0"/>
              </a:rPr>
              <a:t>and detail, interiors create meaningful places where daily rituals unfold </a:t>
            </a:r>
          </a:p>
          <a:p>
            <a:r>
              <a:rPr lang="en-US" sz="3200" dirty="0">
                <a:solidFill>
                  <a:schemeClr val="bg1"/>
                </a:solidFill>
                <a:latin typeface="Avenir Medium" panose="02000503020000020003" pitchFamily="2" charset="0"/>
              </a:rPr>
              <a:t>with ease, beauty, and intention.</a:t>
            </a:r>
          </a:p>
          <a:p>
            <a:r>
              <a:rPr lang="en-US" sz="3200" dirty="0">
                <a:solidFill>
                  <a:schemeClr val="bg1"/>
                </a:solidFill>
                <a:latin typeface="Avenir Medium" panose="02000503020000020003" pitchFamily="2" charset="0"/>
              </a:rPr>
              <a:t>Design shapes the lived experience </a:t>
            </a:r>
          </a:p>
          <a:p>
            <a:r>
              <a:rPr lang="en-US" sz="3200" dirty="0">
                <a:solidFill>
                  <a:schemeClr val="bg1"/>
                </a:solidFill>
                <a:latin typeface="Avenir Medium" panose="02000503020000020003" pitchFamily="2" charset="0"/>
              </a:rPr>
              <a:t>from the inside out and beyond.</a:t>
            </a:r>
          </a:p>
        </p:txBody>
      </p:sp>
      <p:sp>
        <p:nvSpPr>
          <p:cNvPr id="30" name="TextBox 29">
            <a:extLst>
              <a:ext uri="{FF2B5EF4-FFF2-40B4-BE49-F238E27FC236}">
                <a16:creationId xmlns:a16="http://schemas.microsoft.com/office/drawing/2014/main" id="{B9C7A3EA-12A7-586A-60B3-97812ECAC004}"/>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CASE STUDY</a:t>
            </a:r>
          </a:p>
        </p:txBody>
      </p:sp>
      <p:cxnSp>
        <p:nvCxnSpPr>
          <p:cNvPr id="32" name="Straight Connector 31">
            <a:extLst>
              <a:ext uri="{FF2B5EF4-FFF2-40B4-BE49-F238E27FC236}">
                <a16:creationId xmlns:a16="http://schemas.microsoft.com/office/drawing/2014/main" id="{D8CF1AD5-021E-0491-844D-B5979960ED87}"/>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24E7036A-91C1-3811-7A49-37CBD489A974}"/>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004 // 045</a:t>
            </a:r>
          </a:p>
        </p:txBody>
      </p:sp>
      <p:pic>
        <p:nvPicPr>
          <p:cNvPr id="2" name="Picture 4" descr="a black and white photo of the inside of a building">
            <a:extLst>
              <a:ext uri="{FF2B5EF4-FFF2-40B4-BE49-F238E27FC236}">
                <a16:creationId xmlns:a16="http://schemas.microsoft.com/office/drawing/2014/main" id="{9EB67A0C-B754-BC5E-A9BC-9A403E6CDACE}"/>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629919" y="982428"/>
            <a:ext cx="2934690" cy="2201018"/>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5972B676-20A3-42AD-A8F9-0940932BDF8A}"/>
              </a:ext>
            </a:extLst>
          </p:cNvPr>
          <p:cNvCxnSpPr>
            <a:cxnSpLocks/>
          </p:cNvCxnSpPr>
          <p:nvPr/>
        </p:nvCxnSpPr>
        <p:spPr>
          <a:xfrm>
            <a:off x="4202560" y="4199094"/>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4E01487-E673-E068-7C05-E795F08671FB}"/>
              </a:ext>
            </a:extLst>
          </p:cNvPr>
          <p:cNvSpPr txBox="1"/>
          <p:nvPr/>
        </p:nvSpPr>
        <p:spPr>
          <a:xfrm>
            <a:off x="4107155" y="4338445"/>
            <a:ext cx="3127492" cy="954107"/>
          </a:xfrm>
          <a:prstGeom prst="rect">
            <a:avLst/>
          </a:prstGeom>
        </p:spPr>
        <p:txBody>
          <a:bodyPr wrap="square" rtlCol="0">
            <a:spAutoFit/>
          </a:bodyPr>
          <a:lstStyle/>
          <a:p>
            <a:pPr>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r>
              <a:rPr lang="en-US" sz="800" dirty="0" err="1">
                <a:solidFill>
                  <a:schemeClr val="bg1"/>
                </a:solidFill>
                <a:latin typeface="Avenir Light" panose="020B0402020203020204" pitchFamily="34" charset="77"/>
              </a:rPr>
              <a:t>enim</a:t>
            </a:r>
            <a:r>
              <a:rPr lang="en-US" sz="800" dirty="0">
                <a:solidFill>
                  <a:schemeClr val="bg1"/>
                </a:solidFill>
                <a:latin typeface="Avenir Light" panose="020B0402020203020204" pitchFamily="34" charset="77"/>
              </a:rPr>
              <a:t> ad minim </a:t>
            </a:r>
            <a:r>
              <a:rPr lang="en-US" sz="800" dirty="0" err="1">
                <a:solidFill>
                  <a:schemeClr val="bg1"/>
                </a:solidFill>
                <a:latin typeface="Avenir Light" panose="020B0402020203020204" pitchFamily="34" charset="77"/>
              </a:rPr>
              <a:t>veniam</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quis</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nostrud</a:t>
            </a:r>
            <a:r>
              <a:rPr lang="en-US" sz="800" dirty="0">
                <a:solidFill>
                  <a:schemeClr val="bg1"/>
                </a:solidFill>
                <a:latin typeface="Avenir Light" panose="020B0402020203020204" pitchFamily="34" charset="77"/>
              </a:rPr>
              <a:t> exercitation </a:t>
            </a:r>
            <a:r>
              <a:rPr lang="en-US" sz="800" dirty="0" err="1">
                <a:solidFill>
                  <a:schemeClr val="bg1"/>
                </a:solidFill>
                <a:latin typeface="Avenir Light" panose="020B0402020203020204" pitchFamily="34" charset="77"/>
              </a:rPr>
              <a:t>ullamco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laboris</a:t>
            </a:r>
            <a:r>
              <a:rPr lang="en-US" sz="800" dirty="0">
                <a:solidFill>
                  <a:schemeClr val="bg1"/>
                </a:solidFill>
                <a:latin typeface="Avenir Light" panose="020B0402020203020204" pitchFamily="34" charset="77"/>
              </a:rPr>
              <a:t> nisi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ali</a:t>
            </a:r>
            <a:r>
              <a:rPr lang="en-US" sz="800" dirty="0">
                <a:solidFill>
                  <a:schemeClr val="bg1"/>
                </a:solidFill>
                <a:latin typeface="Avenir Light" panose="020B0402020203020204" pitchFamily="34" charset="77"/>
              </a:rPr>
              <a:t>   quip ex </a:t>
            </a:r>
            <a:r>
              <a:rPr lang="en-US" sz="800" dirty="0" err="1">
                <a:solidFill>
                  <a:schemeClr val="bg1"/>
                </a:solidFill>
                <a:latin typeface="Avenir Light" panose="020B0402020203020204" pitchFamily="34" charset="77"/>
              </a:rPr>
              <a:t>ea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commodo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consequat</a:t>
            </a:r>
            <a:r>
              <a:rPr lang="en-US" sz="800" dirty="0">
                <a:solidFill>
                  <a:schemeClr val="bg1"/>
                </a:solidFill>
                <a:latin typeface="Avenir Light" panose="020B0402020203020204" pitchFamily="34" charset="77"/>
              </a:rPr>
              <a:t>. Duis </a:t>
            </a:r>
            <a:r>
              <a:rPr lang="en-US" sz="800" dirty="0" err="1">
                <a:solidFill>
                  <a:schemeClr val="bg1"/>
                </a:solidFill>
                <a:latin typeface="Avenir Light" panose="020B0402020203020204" pitchFamily="34" charset="77"/>
              </a:rPr>
              <a:t>aute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irure</a:t>
            </a:r>
            <a:r>
              <a:rPr lang="en-US" sz="800" dirty="0">
                <a:solidFill>
                  <a:schemeClr val="bg1"/>
                </a:solidFill>
                <a:latin typeface="Avenir Light" panose="020B0402020203020204" pitchFamily="34" charset="77"/>
              </a:rPr>
              <a:t> dolor in </a:t>
            </a:r>
            <a:r>
              <a:rPr lang="en-US" sz="800" dirty="0" err="1">
                <a:solidFill>
                  <a:schemeClr val="bg1"/>
                </a:solidFill>
                <a:latin typeface="Avenir Light" panose="020B0402020203020204" pitchFamily="34" charset="77"/>
              </a:rPr>
              <a:t>reprehenderit</a:t>
            </a:r>
            <a:r>
              <a:rPr lang="en-US" sz="800" dirty="0">
                <a:solidFill>
                  <a:schemeClr val="bg1"/>
                </a:solidFill>
                <a:latin typeface="Avenir Light" panose="020B0402020203020204" pitchFamily="34" charset="77"/>
              </a:rPr>
              <a:t> in </a:t>
            </a:r>
            <a:r>
              <a:rPr lang="en-US" sz="800" dirty="0" err="1">
                <a:solidFill>
                  <a:schemeClr val="bg1"/>
                </a:solidFill>
                <a:latin typeface="Avenir Light" panose="020B0402020203020204" pitchFamily="34" charset="77"/>
              </a:rPr>
              <a:t>voluptate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velit</a:t>
            </a:r>
            <a:r>
              <a:rPr lang="en-US" sz="800" dirty="0">
                <a:solidFill>
                  <a:schemeClr val="bg1"/>
                </a:solidFill>
                <a:latin typeface="Avenir Light" panose="020B0402020203020204" pitchFamily="34" charset="77"/>
              </a:rPr>
              <a:t> esse </a:t>
            </a:r>
            <a:r>
              <a:rPr lang="en-US" sz="800" dirty="0" err="1">
                <a:solidFill>
                  <a:schemeClr val="bg1"/>
                </a:solidFill>
                <a:latin typeface="Avenir Light" panose="020B0402020203020204" pitchFamily="34" charset="77"/>
              </a:rPr>
              <a:t>cillum</a:t>
            </a:r>
            <a:r>
              <a:rPr lang="en-US" sz="800" dirty="0">
                <a:solidFill>
                  <a:schemeClr val="bg1"/>
                </a:solidFill>
                <a:latin typeface="Avenir Light" panose="020B0402020203020204" pitchFamily="34" charset="77"/>
              </a:rPr>
              <a:t> dolore </a:t>
            </a:r>
            <a:r>
              <a:rPr lang="en-US" sz="800" dirty="0" err="1">
                <a:solidFill>
                  <a:schemeClr val="bg1"/>
                </a:solidFill>
                <a:latin typeface="Avenir Light" panose="020B0402020203020204" pitchFamily="34" charset="77"/>
              </a:rPr>
              <a:t>eu</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fugiat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nulla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pariatur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Excepteur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sint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occaecat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cupidatat</a:t>
            </a:r>
            <a:r>
              <a:rPr lang="en-US" sz="800" dirty="0">
                <a:solidFill>
                  <a:schemeClr val="bg1"/>
                </a:solidFill>
                <a:latin typeface="Avenir Light" panose="020B0402020203020204" pitchFamily="34" charset="77"/>
              </a:rPr>
              <a:t> non </a:t>
            </a:r>
            <a:r>
              <a:rPr lang="en-US" sz="800" dirty="0" err="1">
                <a:solidFill>
                  <a:schemeClr val="bg1"/>
                </a:solidFill>
                <a:latin typeface="Avenir Light" panose="020B0402020203020204" pitchFamily="34" charset="77"/>
              </a:rPr>
              <a:t>proident</a:t>
            </a:r>
            <a:r>
              <a:rPr lang="en-US" sz="800" dirty="0">
                <a:solidFill>
                  <a:schemeClr val="bg1"/>
                </a:solidFill>
                <a:latin typeface="Avenir Light" panose="020B0402020203020204" pitchFamily="34" charset="77"/>
              </a:rPr>
              <a:t>, sunt in culpa qui.</a:t>
            </a:r>
          </a:p>
        </p:txBody>
      </p:sp>
      <p:cxnSp>
        <p:nvCxnSpPr>
          <p:cNvPr id="10" name="Straight Connector 9">
            <a:extLst>
              <a:ext uri="{FF2B5EF4-FFF2-40B4-BE49-F238E27FC236}">
                <a16:creationId xmlns:a16="http://schemas.microsoft.com/office/drawing/2014/main" id="{6F0C7A8C-40C1-9FAD-B1DA-C429AD94CCA9}"/>
              </a:ext>
            </a:extLst>
          </p:cNvPr>
          <p:cNvCxnSpPr>
            <a:cxnSpLocks/>
          </p:cNvCxnSpPr>
          <p:nvPr/>
        </p:nvCxnSpPr>
        <p:spPr>
          <a:xfrm>
            <a:off x="7604438" y="4199094"/>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7C2C9B5-8AAD-C3FC-931F-5348D43B7A31}"/>
              </a:ext>
            </a:extLst>
          </p:cNvPr>
          <p:cNvSpPr txBox="1"/>
          <p:nvPr/>
        </p:nvSpPr>
        <p:spPr>
          <a:xfrm>
            <a:off x="7509033" y="4338445"/>
            <a:ext cx="3127492" cy="954107"/>
          </a:xfrm>
          <a:prstGeom prst="rect">
            <a:avLst/>
          </a:prstGeom>
        </p:spPr>
        <p:txBody>
          <a:bodyPr wrap="square" rtlCol="0">
            <a:spAutoFit/>
          </a:bodyPr>
          <a:lstStyle/>
          <a:p>
            <a:pPr>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r>
              <a:rPr lang="en-US" sz="800" dirty="0" err="1">
                <a:solidFill>
                  <a:schemeClr val="bg1"/>
                </a:solidFill>
                <a:latin typeface="Avenir Light" panose="020B0402020203020204" pitchFamily="34" charset="77"/>
              </a:rPr>
              <a:t>enim</a:t>
            </a:r>
            <a:r>
              <a:rPr lang="en-US" sz="800" dirty="0">
                <a:solidFill>
                  <a:schemeClr val="bg1"/>
                </a:solidFill>
                <a:latin typeface="Avenir Light" panose="020B0402020203020204" pitchFamily="34" charset="77"/>
              </a:rPr>
              <a:t> ad minim </a:t>
            </a:r>
            <a:r>
              <a:rPr lang="en-US" sz="800" dirty="0" err="1">
                <a:solidFill>
                  <a:schemeClr val="bg1"/>
                </a:solidFill>
                <a:latin typeface="Avenir Light" panose="020B0402020203020204" pitchFamily="34" charset="77"/>
              </a:rPr>
              <a:t>veniam</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quis</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nostrud</a:t>
            </a:r>
            <a:r>
              <a:rPr lang="en-US" sz="800" dirty="0">
                <a:solidFill>
                  <a:schemeClr val="bg1"/>
                </a:solidFill>
                <a:latin typeface="Avenir Light" panose="020B0402020203020204" pitchFamily="34" charset="77"/>
              </a:rPr>
              <a:t> exercitation </a:t>
            </a:r>
            <a:r>
              <a:rPr lang="en-US" sz="800" dirty="0" err="1">
                <a:solidFill>
                  <a:schemeClr val="bg1"/>
                </a:solidFill>
                <a:latin typeface="Avenir Light" panose="020B0402020203020204" pitchFamily="34" charset="77"/>
              </a:rPr>
              <a:t>ullamco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laboris</a:t>
            </a:r>
            <a:r>
              <a:rPr lang="en-US" sz="800" dirty="0">
                <a:solidFill>
                  <a:schemeClr val="bg1"/>
                </a:solidFill>
                <a:latin typeface="Avenir Light" panose="020B0402020203020204" pitchFamily="34" charset="77"/>
              </a:rPr>
              <a:t> nisi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ali</a:t>
            </a:r>
            <a:r>
              <a:rPr lang="en-US" sz="800" dirty="0">
                <a:solidFill>
                  <a:schemeClr val="bg1"/>
                </a:solidFill>
                <a:latin typeface="Avenir Light" panose="020B0402020203020204" pitchFamily="34" charset="77"/>
              </a:rPr>
              <a:t>   quip ex </a:t>
            </a:r>
            <a:r>
              <a:rPr lang="en-US" sz="800" dirty="0" err="1">
                <a:solidFill>
                  <a:schemeClr val="bg1"/>
                </a:solidFill>
                <a:latin typeface="Avenir Light" panose="020B0402020203020204" pitchFamily="34" charset="77"/>
              </a:rPr>
              <a:t>ea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commodo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consequat</a:t>
            </a:r>
            <a:r>
              <a:rPr lang="en-US" sz="800" dirty="0">
                <a:solidFill>
                  <a:schemeClr val="bg1"/>
                </a:solidFill>
                <a:latin typeface="Avenir Light" panose="020B0402020203020204" pitchFamily="34" charset="77"/>
              </a:rPr>
              <a:t>. Duis </a:t>
            </a:r>
            <a:r>
              <a:rPr lang="en-US" sz="800" dirty="0" err="1">
                <a:solidFill>
                  <a:schemeClr val="bg1"/>
                </a:solidFill>
                <a:latin typeface="Avenir Light" panose="020B0402020203020204" pitchFamily="34" charset="77"/>
              </a:rPr>
              <a:t>aute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irure</a:t>
            </a:r>
            <a:r>
              <a:rPr lang="en-US" sz="800" dirty="0">
                <a:solidFill>
                  <a:schemeClr val="bg1"/>
                </a:solidFill>
                <a:latin typeface="Avenir Light" panose="020B0402020203020204" pitchFamily="34" charset="77"/>
              </a:rPr>
              <a:t> dolor in </a:t>
            </a:r>
            <a:r>
              <a:rPr lang="en-US" sz="800" dirty="0" err="1">
                <a:solidFill>
                  <a:schemeClr val="bg1"/>
                </a:solidFill>
                <a:latin typeface="Avenir Light" panose="020B0402020203020204" pitchFamily="34" charset="77"/>
              </a:rPr>
              <a:t>reprehenderit</a:t>
            </a:r>
            <a:r>
              <a:rPr lang="en-US" sz="800" dirty="0">
                <a:solidFill>
                  <a:schemeClr val="bg1"/>
                </a:solidFill>
                <a:latin typeface="Avenir Light" panose="020B0402020203020204" pitchFamily="34" charset="77"/>
              </a:rPr>
              <a:t> in </a:t>
            </a:r>
            <a:r>
              <a:rPr lang="en-US" sz="800" dirty="0" err="1">
                <a:solidFill>
                  <a:schemeClr val="bg1"/>
                </a:solidFill>
                <a:latin typeface="Avenir Light" panose="020B0402020203020204" pitchFamily="34" charset="77"/>
              </a:rPr>
              <a:t>voluptate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velit</a:t>
            </a:r>
            <a:r>
              <a:rPr lang="en-US" sz="800" dirty="0">
                <a:solidFill>
                  <a:schemeClr val="bg1"/>
                </a:solidFill>
                <a:latin typeface="Avenir Light" panose="020B0402020203020204" pitchFamily="34" charset="77"/>
              </a:rPr>
              <a:t> esse </a:t>
            </a:r>
            <a:r>
              <a:rPr lang="en-US" sz="800" dirty="0" err="1">
                <a:solidFill>
                  <a:schemeClr val="bg1"/>
                </a:solidFill>
                <a:latin typeface="Avenir Light" panose="020B0402020203020204" pitchFamily="34" charset="77"/>
              </a:rPr>
              <a:t>cillum</a:t>
            </a:r>
            <a:r>
              <a:rPr lang="en-US" sz="800" dirty="0">
                <a:solidFill>
                  <a:schemeClr val="bg1"/>
                </a:solidFill>
                <a:latin typeface="Avenir Light" panose="020B0402020203020204" pitchFamily="34" charset="77"/>
              </a:rPr>
              <a:t> dolore </a:t>
            </a:r>
            <a:r>
              <a:rPr lang="en-US" sz="800" dirty="0" err="1">
                <a:solidFill>
                  <a:schemeClr val="bg1"/>
                </a:solidFill>
                <a:latin typeface="Avenir Light" panose="020B0402020203020204" pitchFamily="34" charset="77"/>
              </a:rPr>
              <a:t>eu</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fugiat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nulla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pariatur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Excepteur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sint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occaecat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cupidatat</a:t>
            </a:r>
            <a:r>
              <a:rPr lang="en-US" sz="800" dirty="0">
                <a:solidFill>
                  <a:schemeClr val="bg1"/>
                </a:solidFill>
                <a:latin typeface="Avenir Light" panose="020B0402020203020204" pitchFamily="34" charset="77"/>
              </a:rPr>
              <a:t> non </a:t>
            </a:r>
            <a:r>
              <a:rPr lang="en-US" sz="800" dirty="0" err="1">
                <a:solidFill>
                  <a:schemeClr val="bg1"/>
                </a:solidFill>
                <a:latin typeface="Avenir Light" panose="020B0402020203020204" pitchFamily="34" charset="77"/>
              </a:rPr>
              <a:t>proident</a:t>
            </a:r>
            <a:r>
              <a:rPr lang="en-US" sz="800" dirty="0">
                <a:solidFill>
                  <a:schemeClr val="bg1"/>
                </a:solidFill>
                <a:latin typeface="Avenir Light" panose="020B0402020203020204" pitchFamily="34" charset="77"/>
              </a:rPr>
              <a:t>, sunt in culpa qui.</a:t>
            </a:r>
          </a:p>
        </p:txBody>
      </p:sp>
      <p:sp>
        <p:nvSpPr>
          <p:cNvPr id="13" name="TextBox 12">
            <a:extLst>
              <a:ext uri="{FF2B5EF4-FFF2-40B4-BE49-F238E27FC236}">
                <a16:creationId xmlns:a16="http://schemas.microsoft.com/office/drawing/2014/main" id="{3F147264-B050-935C-FCFB-6CF97197B4EB}"/>
              </a:ext>
            </a:extLst>
          </p:cNvPr>
          <p:cNvSpPr txBox="1"/>
          <p:nvPr/>
        </p:nvSpPr>
        <p:spPr>
          <a:xfrm>
            <a:off x="4107155" y="5883917"/>
            <a:ext cx="7784629"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 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a:t>
            </a:r>
          </a:p>
        </p:txBody>
      </p:sp>
      <p:sp>
        <p:nvSpPr>
          <p:cNvPr id="17" name="TextBox 16">
            <a:extLst>
              <a:ext uri="{FF2B5EF4-FFF2-40B4-BE49-F238E27FC236}">
                <a16:creationId xmlns:a16="http://schemas.microsoft.com/office/drawing/2014/main" id="{E83B0736-581A-0D5B-8C67-DD8508F583A0}"/>
              </a:ext>
            </a:extLst>
          </p:cNvPr>
          <p:cNvSpPr txBox="1"/>
          <p:nvPr/>
        </p:nvSpPr>
        <p:spPr>
          <a:xfrm>
            <a:off x="540026" y="3297913"/>
            <a:ext cx="3127492" cy="2862322"/>
          </a:xfrm>
          <a:prstGeom prst="rect">
            <a:avLst/>
          </a:prstGeom>
          <a:noFill/>
        </p:spPr>
        <p:txBody>
          <a:bodyPr wrap="square" rtlCol="0">
            <a:spAutoFit/>
          </a:bodyPr>
          <a:lstStyle/>
          <a:p>
            <a:pPr>
              <a:spcAft>
                <a:spcPts val="1200"/>
              </a:spcAft>
            </a:pPr>
            <a:r>
              <a:rPr lang="en-US" sz="800" dirty="0">
                <a:solidFill>
                  <a:schemeClr val="bg1"/>
                </a:solidFill>
                <a:latin typeface="Avenir Light" panose="020B0402020203020204" pitchFamily="34" charset="77"/>
              </a:rPr>
              <a:t>Harmonizing begins with a precise understanding of how to live, work, and move within a space. Rather than imposing a predetermined form, the architect studies patterns of use, circulation routes, communal needs, privacy thresholds, and temporal rhythms to shape environments that support intuitive behavior. By listening to users and observing context, functional goals emerge organically, guiding spatial organization in a way that respects both human need and environmental conditions.</a:t>
            </a:r>
          </a:p>
          <a:p>
            <a:pPr>
              <a:spcAft>
                <a:spcPts val="1200"/>
              </a:spcAft>
            </a:pPr>
            <a:r>
              <a:rPr lang="en-US" sz="800" dirty="0">
                <a:solidFill>
                  <a:schemeClr val="bg1"/>
                </a:solidFill>
                <a:latin typeface="Avenir Light" panose="020B0402020203020204" pitchFamily="34" charset="77"/>
              </a:rPr>
              <a:t>Harmonizing begins with a precise understanding of how to live, work, and move within a space. Rather than imposing a predetermined form, the architect studies patterns of use, circulation routes, communal needs, privacy thresholds, and temporal rhythms to shape environments that support intuitive behavior. By listening to users and observing context, functional goals emerge organically, guiding spatial organization in a way that respects both human need and environmental conditions.</a:t>
            </a:r>
          </a:p>
          <a:p>
            <a:pPr>
              <a:spcAft>
                <a:spcPts val="1200"/>
              </a:spcAft>
            </a:pPr>
            <a:r>
              <a:rPr lang="en-US" sz="800" dirty="0">
                <a:solidFill>
                  <a:schemeClr val="bg1"/>
                </a:solidFill>
                <a:latin typeface="Avenir Light" panose="020B0402020203020204" pitchFamily="34" charset="77"/>
              </a:rPr>
              <a:t>Details are tuned to accommodate specific activities, ergonomics, and cultural practices; thresholds guide movement, acoustics support focus, and furnishings enable adaptability. This stage acknowledges that successful function is dynamic.</a:t>
            </a:r>
          </a:p>
        </p:txBody>
      </p:sp>
      <p:cxnSp>
        <p:nvCxnSpPr>
          <p:cNvPr id="22" name="Straight Connector 21">
            <a:extLst>
              <a:ext uri="{FF2B5EF4-FFF2-40B4-BE49-F238E27FC236}">
                <a16:creationId xmlns:a16="http://schemas.microsoft.com/office/drawing/2014/main" id="{D596C523-928A-D525-6E5B-309349A38614}"/>
              </a:ext>
            </a:extLst>
          </p:cNvPr>
          <p:cNvCxnSpPr>
            <a:cxnSpLocks/>
          </p:cNvCxnSpPr>
          <p:nvPr/>
        </p:nvCxnSpPr>
        <p:spPr>
          <a:xfrm>
            <a:off x="1518834" y="580615"/>
            <a:ext cx="10372950"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6213E44-6074-CF8D-750F-485C021228DB}"/>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104407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59AA4C-0B60-8FB7-BD08-8E97D7E342A4}"/>
            </a:ext>
          </a:extLst>
        </p:cNvPr>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0F22F40C-1EFE-3EFB-AAC9-E6C646EAD0DA}"/>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7B28EED7-6467-46A9-FC1B-0E784A9A9482}"/>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005 // 045</a:t>
            </a:r>
          </a:p>
        </p:txBody>
      </p:sp>
      <p:pic>
        <p:nvPicPr>
          <p:cNvPr id="12" name="Picture 11">
            <a:extLst>
              <a:ext uri="{FF2B5EF4-FFF2-40B4-BE49-F238E27FC236}">
                <a16:creationId xmlns:a16="http://schemas.microsoft.com/office/drawing/2014/main" id="{02214934-6D4B-1E17-A832-CB93D3CC8A75}"/>
              </a:ext>
            </a:extLst>
          </p:cNvPr>
          <p:cNvPicPr>
            <a:picLocks noChangeAspect="1"/>
          </p:cNvPicPr>
          <p:nvPr/>
        </p:nvPicPr>
        <p:blipFill>
          <a:blip r:embed="rId3"/>
          <a:srcRect/>
          <a:stretch/>
        </p:blipFill>
        <p:spPr>
          <a:xfrm>
            <a:off x="1547617" y="884225"/>
            <a:ext cx="5090508" cy="5049597"/>
          </a:xfrm>
          <a:prstGeom prst="rect">
            <a:avLst/>
          </a:prstGeom>
        </p:spPr>
      </p:pic>
      <p:sp>
        <p:nvSpPr>
          <p:cNvPr id="14" name="TextBox 13">
            <a:extLst>
              <a:ext uri="{FF2B5EF4-FFF2-40B4-BE49-F238E27FC236}">
                <a16:creationId xmlns:a16="http://schemas.microsoft.com/office/drawing/2014/main" id="{F974942F-AE61-2D59-FEB6-F8B1776279BD}"/>
              </a:ext>
            </a:extLst>
          </p:cNvPr>
          <p:cNvSpPr txBox="1"/>
          <p:nvPr/>
        </p:nvSpPr>
        <p:spPr>
          <a:xfrm>
            <a:off x="6685702" y="3316605"/>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sp>
        <p:nvSpPr>
          <p:cNvPr id="15" name="TextBox 14">
            <a:extLst>
              <a:ext uri="{FF2B5EF4-FFF2-40B4-BE49-F238E27FC236}">
                <a16:creationId xmlns:a16="http://schemas.microsoft.com/office/drawing/2014/main" id="{9C082FEC-1AC6-04E7-09C3-DA7AB5D112E8}"/>
              </a:ext>
            </a:extLst>
          </p:cNvPr>
          <p:cNvSpPr txBox="1"/>
          <p:nvPr/>
        </p:nvSpPr>
        <p:spPr>
          <a:xfrm>
            <a:off x="4686420" y="1667282"/>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sp>
        <p:nvSpPr>
          <p:cNvPr id="16" name="TextBox 15">
            <a:extLst>
              <a:ext uri="{FF2B5EF4-FFF2-40B4-BE49-F238E27FC236}">
                <a16:creationId xmlns:a16="http://schemas.microsoft.com/office/drawing/2014/main" id="{92E91B82-089A-93E1-9794-80F727004A80}"/>
              </a:ext>
            </a:extLst>
          </p:cNvPr>
          <p:cNvSpPr txBox="1"/>
          <p:nvPr/>
        </p:nvSpPr>
        <p:spPr>
          <a:xfrm>
            <a:off x="579370" y="3316605"/>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sp>
        <p:nvSpPr>
          <p:cNvPr id="19" name="TextBox 18">
            <a:extLst>
              <a:ext uri="{FF2B5EF4-FFF2-40B4-BE49-F238E27FC236}">
                <a16:creationId xmlns:a16="http://schemas.microsoft.com/office/drawing/2014/main" id="{D386DD0F-14D1-41A1-92CC-CDD032C829D3}"/>
              </a:ext>
            </a:extLst>
          </p:cNvPr>
          <p:cNvSpPr txBox="1"/>
          <p:nvPr/>
        </p:nvSpPr>
        <p:spPr>
          <a:xfrm>
            <a:off x="4887898" y="2366674"/>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sp>
        <p:nvSpPr>
          <p:cNvPr id="22" name="TextBox 21">
            <a:extLst>
              <a:ext uri="{FF2B5EF4-FFF2-40B4-BE49-F238E27FC236}">
                <a16:creationId xmlns:a16="http://schemas.microsoft.com/office/drawing/2014/main" id="{6AEB4CBE-F093-42CF-6F88-8A167C8AB554}"/>
              </a:ext>
            </a:extLst>
          </p:cNvPr>
          <p:cNvSpPr txBox="1"/>
          <p:nvPr/>
        </p:nvSpPr>
        <p:spPr>
          <a:xfrm>
            <a:off x="3203747" y="4427948"/>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sp>
        <p:nvSpPr>
          <p:cNvPr id="23" name="TextBox 22">
            <a:extLst>
              <a:ext uri="{FF2B5EF4-FFF2-40B4-BE49-F238E27FC236}">
                <a16:creationId xmlns:a16="http://schemas.microsoft.com/office/drawing/2014/main" id="{FEAF1A94-CAFD-86D8-0480-4004AACAEF49}"/>
              </a:ext>
            </a:extLst>
          </p:cNvPr>
          <p:cNvSpPr txBox="1"/>
          <p:nvPr/>
        </p:nvSpPr>
        <p:spPr>
          <a:xfrm>
            <a:off x="1584174" y="1064816"/>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sp>
        <p:nvSpPr>
          <p:cNvPr id="24" name="TextBox 23">
            <a:extLst>
              <a:ext uri="{FF2B5EF4-FFF2-40B4-BE49-F238E27FC236}">
                <a16:creationId xmlns:a16="http://schemas.microsoft.com/office/drawing/2014/main" id="{177F0556-9ABE-D2C9-548D-DC5BE88C42ED}"/>
              </a:ext>
            </a:extLst>
          </p:cNvPr>
          <p:cNvSpPr txBox="1"/>
          <p:nvPr/>
        </p:nvSpPr>
        <p:spPr>
          <a:xfrm>
            <a:off x="3648309" y="6096095"/>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sp>
        <p:nvSpPr>
          <p:cNvPr id="27" name="TextBox 26">
            <a:extLst>
              <a:ext uri="{FF2B5EF4-FFF2-40B4-BE49-F238E27FC236}">
                <a16:creationId xmlns:a16="http://schemas.microsoft.com/office/drawing/2014/main" id="{5F76D45B-D069-F5DB-2CC9-F29D90C85954}"/>
              </a:ext>
            </a:extLst>
          </p:cNvPr>
          <p:cNvSpPr txBox="1"/>
          <p:nvPr/>
        </p:nvSpPr>
        <p:spPr>
          <a:xfrm>
            <a:off x="3555043" y="3301301"/>
            <a:ext cx="889124" cy="215444"/>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LOREM IPSUM</a:t>
            </a:r>
          </a:p>
        </p:txBody>
      </p:sp>
      <p:cxnSp>
        <p:nvCxnSpPr>
          <p:cNvPr id="33" name="Straight Connector 32">
            <a:extLst>
              <a:ext uri="{FF2B5EF4-FFF2-40B4-BE49-F238E27FC236}">
                <a16:creationId xmlns:a16="http://schemas.microsoft.com/office/drawing/2014/main" id="{F424341A-1A37-02D5-2433-F7DD87B78A72}"/>
              </a:ext>
            </a:extLst>
          </p:cNvPr>
          <p:cNvCxnSpPr>
            <a:cxnSpLocks/>
          </p:cNvCxnSpPr>
          <p:nvPr/>
        </p:nvCxnSpPr>
        <p:spPr>
          <a:xfrm>
            <a:off x="8405571" y="4812087"/>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0906A153-62B3-AA5E-46F6-4C9F84C5FD0B}"/>
              </a:ext>
            </a:extLst>
          </p:cNvPr>
          <p:cNvSpPr txBox="1"/>
          <p:nvPr/>
        </p:nvSpPr>
        <p:spPr>
          <a:xfrm>
            <a:off x="8310166" y="4874828"/>
            <a:ext cx="3127492" cy="954107"/>
          </a:xfrm>
          <a:prstGeom prst="rect">
            <a:avLst/>
          </a:prstGeom>
          <a:noFill/>
        </p:spPr>
        <p:txBody>
          <a:bodyPr wrap="square" rtlCol="0">
            <a:spAutoFit/>
          </a:bodyPr>
          <a:lstStyle/>
          <a:p>
            <a:pPr>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r>
              <a:rPr lang="en-US" sz="800" dirty="0" err="1">
                <a:solidFill>
                  <a:schemeClr val="bg1"/>
                </a:solidFill>
                <a:latin typeface="Avenir Light" panose="020B0402020203020204" pitchFamily="34" charset="77"/>
              </a:rPr>
              <a:t>enim</a:t>
            </a:r>
            <a:r>
              <a:rPr lang="en-US" sz="800" dirty="0">
                <a:solidFill>
                  <a:schemeClr val="bg1"/>
                </a:solidFill>
                <a:latin typeface="Avenir Light" panose="020B0402020203020204" pitchFamily="34" charset="77"/>
              </a:rPr>
              <a:t> ad minim </a:t>
            </a:r>
            <a:r>
              <a:rPr lang="en-US" sz="800" dirty="0" err="1">
                <a:solidFill>
                  <a:schemeClr val="bg1"/>
                </a:solidFill>
                <a:latin typeface="Avenir Light" panose="020B0402020203020204" pitchFamily="34" charset="77"/>
              </a:rPr>
              <a:t>veniam</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quis</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nostrud</a:t>
            </a:r>
            <a:r>
              <a:rPr lang="en-US" sz="800" dirty="0">
                <a:solidFill>
                  <a:schemeClr val="bg1"/>
                </a:solidFill>
                <a:latin typeface="Avenir Light" panose="020B0402020203020204" pitchFamily="34" charset="77"/>
              </a:rPr>
              <a:t> exercitation </a:t>
            </a:r>
            <a:r>
              <a:rPr lang="en-US" sz="800" dirty="0" err="1">
                <a:solidFill>
                  <a:schemeClr val="bg1"/>
                </a:solidFill>
                <a:latin typeface="Avenir Light" panose="020B0402020203020204" pitchFamily="34" charset="77"/>
              </a:rPr>
              <a:t>ullamco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laboris</a:t>
            </a:r>
            <a:r>
              <a:rPr lang="en-US" sz="800" dirty="0">
                <a:solidFill>
                  <a:schemeClr val="bg1"/>
                </a:solidFill>
                <a:latin typeface="Avenir Light" panose="020B0402020203020204" pitchFamily="34" charset="77"/>
              </a:rPr>
              <a:t> nisi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ali</a:t>
            </a:r>
            <a:r>
              <a:rPr lang="en-US" sz="800" dirty="0">
                <a:solidFill>
                  <a:schemeClr val="bg1"/>
                </a:solidFill>
                <a:latin typeface="Avenir Light" panose="020B0402020203020204" pitchFamily="34" charset="77"/>
              </a:rPr>
              <a:t>   quip ex </a:t>
            </a:r>
            <a:r>
              <a:rPr lang="en-US" sz="800" dirty="0" err="1">
                <a:solidFill>
                  <a:schemeClr val="bg1"/>
                </a:solidFill>
                <a:latin typeface="Avenir Light" panose="020B0402020203020204" pitchFamily="34" charset="77"/>
              </a:rPr>
              <a:t>ea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commodo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consequat</a:t>
            </a:r>
            <a:r>
              <a:rPr lang="en-US" sz="800" dirty="0">
                <a:solidFill>
                  <a:schemeClr val="bg1"/>
                </a:solidFill>
                <a:latin typeface="Avenir Light" panose="020B0402020203020204" pitchFamily="34" charset="77"/>
              </a:rPr>
              <a:t>. Duis </a:t>
            </a:r>
            <a:r>
              <a:rPr lang="en-US" sz="800" dirty="0" err="1">
                <a:solidFill>
                  <a:schemeClr val="bg1"/>
                </a:solidFill>
                <a:latin typeface="Avenir Light" panose="020B0402020203020204" pitchFamily="34" charset="77"/>
              </a:rPr>
              <a:t>aute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irure</a:t>
            </a:r>
            <a:r>
              <a:rPr lang="en-US" sz="800" dirty="0">
                <a:solidFill>
                  <a:schemeClr val="bg1"/>
                </a:solidFill>
                <a:latin typeface="Avenir Light" panose="020B0402020203020204" pitchFamily="34" charset="77"/>
              </a:rPr>
              <a:t> dolor in </a:t>
            </a:r>
            <a:r>
              <a:rPr lang="en-US" sz="800" dirty="0" err="1">
                <a:solidFill>
                  <a:schemeClr val="bg1"/>
                </a:solidFill>
                <a:latin typeface="Avenir Light" panose="020B0402020203020204" pitchFamily="34" charset="77"/>
              </a:rPr>
              <a:t>reprehenderit</a:t>
            </a:r>
            <a:r>
              <a:rPr lang="en-US" sz="800" dirty="0">
                <a:solidFill>
                  <a:schemeClr val="bg1"/>
                </a:solidFill>
                <a:latin typeface="Avenir Light" panose="020B0402020203020204" pitchFamily="34" charset="77"/>
              </a:rPr>
              <a:t> in </a:t>
            </a:r>
            <a:r>
              <a:rPr lang="en-US" sz="800" dirty="0" err="1">
                <a:solidFill>
                  <a:schemeClr val="bg1"/>
                </a:solidFill>
                <a:latin typeface="Avenir Light" panose="020B0402020203020204" pitchFamily="34" charset="77"/>
              </a:rPr>
              <a:t>voluptate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velit</a:t>
            </a:r>
            <a:r>
              <a:rPr lang="en-US" sz="800" dirty="0">
                <a:solidFill>
                  <a:schemeClr val="bg1"/>
                </a:solidFill>
                <a:latin typeface="Avenir Light" panose="020B0402020203020204" pitchFamily="34" charset="77"/>
              </a:rPr>
              <a:t> esse </a:t>
            </a:r>
            <a:r>
              <a:rPr lang="en-US" sz="800" dirty="0" err="1">
                <a:solidFill>
                  <a:schemeClr val="bg1"/>
                </a:solidFill>
                <a:latin typeface="Avenir Light" panose="020B0402020203020204" pitchFamily="34" charset="77"/>
              </a:rPr>
              <a:t>cillum</a:t>
            </a:r>
            <a:r>
              <a:rPr lang="en-US" sz="800" dirty="0">
                <a:solidFill>
                  <a:schemeClr val="bg1"/>
                </a:solidFill>
                <a:latin typeface="Avenir Light" panose="020B0402020203020204" pitchFamily="34" charset="77"/>
              </a:rPr>
              <a:t> dolore </a:t>
            </a:r>
            <a:r>
              <a:rPr lang="en-US" sz="800" dirty="0" err="1">
                <a:solidFill>
                  <a:schemeClr val="bg1"/>
                </a:solidFill>
                <a:latin typeface="Avenir Light" panose="020B0402020203020204" pitchFamily="34" charset="77"/>
              </a:rPr>
              <a:t>eu</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fugiat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nulla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pariatur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Excepteur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sint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occaecat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cupidatat</a:t>
            </a:r>
            <a:r>
              <a:rPr lang="en-US" sz="800" dirty="0">
                <a:solidFill>
                  <a:schemeClr val="bg1"/>
                </a:solidFill>
                <a:latin typeface="Avenir Light" panose="020B0402020203020204" pitchFamily="34" charset="77"/>
              </a:rPr>
              <a:t> non </a:t>
            </a:r>
            <a:r>
              <a:rPr lang="en-US" sz="800" dirty="0" err="1">
                <a:solidFill>
                  <a:schemeClr val="bg1"/>
                </a:solidFill>
                <a:latin typeface="Avenir Light" panose="020B0402020203020204" pitchFamily="34" charset="77"/>
              </a:rPr>
              <a:t>proident</a:t>
            </a:r>
            <a:r>
              <a:rPr lang="en-US" sz="800" dirty="0">
                <a:solidFill>
                  <a:schemeClr val="bg1"/>
                </a:solidFill>
                <a:latin typeface="Avenir Light" panose="020B0402020203020204" pitchFamily="34" charset="77"/>
              </a:rPr>
              <a:t>, sunt in culpa qui.</a:t>
            </a:r>
          </a:p>
        </p:txBody>
      </p:sp>
      <p:grpSp>
        <p:nvGrpSpPr>
          <p:cNvPr id="38" name="Group 37">
            <a:extLst>
              <a:ext uri="{FF2B5EF4-FFF2-40B4-BE49-F238E27FC236}">
                <a16:creationId xmlns:a16="http://schemas.microsoft.com/office/drawing/2014/main" id="{044DAE3B-350E-63A0-99BF-AEE2905D8439}"/>
              </a:ext>
            </a:extLst>
          </p:cNvPr>
          <p:cNvGrpSpPr/>
          <p:nvPr/>
        </p:nvGrpSpPr>
        <p:grpSpPr>
          <a:xfrm>
            <a:off x="8310166" y="2418452"/>
            <a:ext cx="3193032" cy="267798"/>
            <a:chOff x="540027" y="4251969"/>
            <a:chExt cx="3193032" cy="267798"/>
          </a:xfrm>
        </p:grpSpPr>
        <p:sp>
          <p:nvSpPr>
            <p:cNvPr id="59" name="TextBox 58">
              <a:extLst>
                <a:ext uri="{FF2B5EF4-FFF2-40B4-BE49-F238E27FC236}">
                  <a16:creationId xmlns:a16="http://schemas.microsoft.com/office/drawing/2014/main" id="{B2EE2551-4E34-85C6-5D9F-17CF942FDC5E}"/>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60" name="TextBox 59">
              <a:extLst>
                <a:ext uri="{FF2B5EF4-FFF2-40B4-BE49-F238E27FC236}">
                  <a16:creationId xmlns:a16="http://schemas.microsoft.com/office/drawing/2014/main" id="{0A2CB412-D1A7-2620-79EA-73D5F9216A34}"/>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61" name="Straight Connector 60">
              <a:extLst>
                <a:ext uri="{FF2B5EF4-FFF2-40B4-BE49-F238E27FC236}">
                  <a16:creationId xmlns:a16="http://schemas.microsoft.com/office/drawing/2014/main" id="{66E71635-0857-9C9F-813C-01ED5ABDB3F4}"/>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4DB7A698-D622-71F0-3F0E-22E96FCEB6EC}"/>
              </a:ext>
            </a:extLst>
          </p:cNvPr>
          <p:cNvGrpSpPr/>
          <p:nvPr/>
        </p:nvGrpSpPr>
        <p:grpSpPr>
          <a:xfrm>
            <a:off x="8310166" y="2741837"/>
            <a:ext cx="3193032" cy="267798"/>
            <a:chOff x="540027" y="4251969"/>
            <a:chExt cx="3193032" cy="267798"/>
          </a:xfrm>
        </p:grpSpPr>
        <p:sp>
          <p:nvSpPr>
            <p:cNvPr id="56" name="TextBox 55">
              <a:extLst>
                <a:ext uri="{FF2B5EF4-FFF2-40B4-BE49-F238E27FC236}">
                  <a16:creationId xmlns:a16="http://schemas.microsoft.com/office/drawing/2014/main" id="{DA6A1FDE-F4FB-782A-A54A-1F2E64565AA4}"/>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57" name="TextBox 56">
              <a:extLst>
                <a:ext uri="{FF2B5EF4-FFF2-40B4-BE49-F238E27FC236}">
                  <a16:creationId xmlns:a16="http://schemas.microsoft.com/office/drawing/2014/main" id="{96F11918-0D2A-4CEA-7A1B-AFDF4A1598D6}"/>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58" name="Straight Connector 57">
              <a:extLst>
                <a:ext uri="{FF2B5EF4-FFF2-40B4-BE49-F238E27FC236}">
                  <a16:creationId xmlns:a16="http://schemas.microsoft.com/office/drawing/2014/main" id="{DE2ABDC9-12F5-192D-B8B2-77EBC2414FD6}"/>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387DBE96-1AE4-BEC6-C704-F12B18DFF07F}"/>
              </a:ext>
            </a:extLst>
          </p:cNvPr>
          <p:cNvGrpSpPr/>
          <p:nvPr/>
        </p:nvGrpSpPr>
        <p:grpSpPr>
          <a:xfrm>
            <a:off x="8310166" y="3087525"/>
            <a:ext cx="3193032" cy="267798"/>
            <a:chOff x="540027" y="4251969"/>
            <a:chExt cx="3193032" cy="267798"/>
          </a:xfrm>
        </p:grpSpPr>
        <p:sp>
          <p:nvSpPr>
            <p:cNvPr id="53" name="TextBox 52">
              <a:extLst>
                <a:ext uri="{FF2B5EF4-FFF2-40B4-BE49-F238E27FC236}">
                  <a16:creationId xmlns:a16="http://schemas.microsoft.com/office/drawing/2014/main" id="{F03486FA-1920-4D43-ED6E-285F151FCED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54" name="TextBox 53">
              <a:extLst>
                <a:ext uri="{FF2B5EF4-FFF2-40B4-BE49-F238E27FC236}">
                  <a16:creationId xmlns:a16="http://schemas.microsoft.com/office/drawing/2014/main" id="{6A123980-3108-9BE5-290E-C9C54B76B4EB}"/>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55" name="Straight Connector 54">
              <a:extLst>
                <a:ext uri="{FF2B5EF4-FFF2-40B4-BE49-F238E27FC236}">
                  <a16:creationId xmlns:a16="http://schemas.microsoft.com/office/drawing/2014/main" id="{92C337AE-258B-0E09-97B4-DBA2BF13794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04505683-F0E0-CB9C-C3E8-52018D92DEA8}"/>
              </a:ext>
            </a:extLst>
          </p:cNvPr>
          <p:cNvGrpSpPr/>
          <p:nvPr/>
        </p:nvGrpSpPr>
        <p:grpSpPr>
          <a:xfrm>
            <a:off x="8310166" y="3433213"/>
            <a:ext cx="3193032" cy="267798"/>
            <a:chOff x="540027" y="4251969"/>
            <a:chExt cx="3193032" cy="267798"/>
          </a:xfrm>
        </p:grpSpPr>
        <p:sp>
          <p:nvSpPr>
            <p:cNvPr id="50" name="TextBox 49">
              <a:extLst>
                <a:ext uri="{FF2B5EF4-FFF2-40B4-BE49-F238E27FC236}">
                  <a16:creationId xmlns:a16="http://schemas.microsoft.com/office/drawing/2014/main" id="{89AE6A86-59B1-B2B0-F2DB-BC24A1691D3B}"/>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51" name="TextBox 50">
              <a:extLst>
                <a:ext uri="{FF2B5EF4-FFF2-40B4-BE49-F238E27FC236}">
                  <a16:creationId xmlns:a16="http://schemas.microsoft.com/office/drawing/2014/main" id="{0E32EFAC-8D8A-6FA2-DC44-3545FCD7E9BB}"/>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52" name="Straight Connector 51">
              <a:extLst>
                <a:ext uri="{FF2B5EF4-FFF2-40B4-BE49-F238E27FC236}">
                  <a16:creationId xmlns:a16="http://schemas.microsoft.com/office/drawing/2014/main" id="{F1060DA9-E45E-CC10-684B-BAE20F8D479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582F9C57-92B4-1FF3-58B4-6763E60A71D6}"/>
              </a:ext>
            </a:extLst>
          </p:cNvPr>
          <p:cNvGrpSpPr/>
          <p:nvPr/>
        </p:nvGrpSpPr>
        <p:grpSpPr>
          <a:xfrm>
            <a:off x="8310166" y="3778901"/>
            <a:ext cx="3193032" cy="267798"/>
            <a:chOff x="540027" y="4251969"/>
            <a:chExt cx="3193032" cy="267798"/>
          </a:xfrm>
        </p:grpSpPr>
        <p:sp>
          <p:nvSpPr>
            <p:cNvPr id="47" name="TextBox 46">
              <a:extLst>
                <a:ext uri="{FF2B5EF4-FFF2-40B4-BE49-F238E27FC236}">
                  <a16:creationId xmlns:a16="http://schemas.microsoft.com/office/drawing/2014/main" id="{294B68D5-C776-C2A3-D616-7A8036513E11}"/>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48" name="TextBox 47">
              <a:extLst>
                <a:ext uri="{FF2B5EF4-FFF2-40B4-BE49-F238E27FC236}">
                  <a16:creationId xmlns:a16="http://schemas.microsoft.com/office/drawing/2014/main" id="{97E3A409-832A-635C-BFB2-CE51B1D5537D}"/>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49" name="Straight Connector 48">
              <a:extLst>
                <a:ext uri="{FF2B5EF4-FFF2-40B4-BE49-F238E27FC236}">
                  <a16:creationId xmlns:a16="http://schemas.microsoft.com/office/drawing/2014/main" id="{4AC60E63-C3DD-1530-BF7C-5806C6BCA00A}"/>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51F96043-07B2-6FCA-78A3-368363D50017}"/>
              </a:ext>
            </a:extLst>
          </p:cNvPr>
          <p:cNvGrpSpPr/>
          <p:nvPr/>
        </p:nvGrpSpPr>
        <p:grpSpPr>
          <a:xfrm>
            <a:off x="8310166" y="4124589"/>
            <a:ext cx="3193032" cy="267798"/>
            <a:chOff x="540027" y="4251969"/>
            <a:chExt cx="3193032" cy="267798"/>
          </a:xfrm>
        </p:grpSpPr>
        <p:sp>
          <p:nvSpPr>
            <p:cNvPr id="44" name="TextBox 43">
              <a:extLst>
                <a:ext uri="{FF2B5EF4-FFF2-40B4-BE49-F238E27FC236}">
                  <a16:creationId xmlns:a16="http://schemas.microsoft.com/office/drawing/2014/main" id="{BB85B9E6-3509-5ACE-1D14-24380B9ECFF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45" name="TextBox 44">
              <a:extLst>
                <a:ext uri="{FF2B5EF4-FFF2-40B4-BE49-F238E27FC236}">
                  <a16:creationId xmlns:a16="http://schemas.microsoft.com/office/drawing/2014/main" id="{B5518636-DD07-BCC9-4151-140B583AE0F3}"/>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46" name="Straight Connector 45">
              <a:extLst>
                <a:ext uri="{FF2B5EF4-FFF2-40B4-BE49-F238E27FC236}">
                  <a16:creationId xmlns:a16="http://schemas.microsoft.com/office/drawing/2014/main" id="{0B579842-B036-CD47-A228-66D8CD6D7A86}"/>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62" name="TextBox 61">
            <a:extLst>
              <a:ext uri="{FF2B5EF4-FFF2-40B4-BE49-F238E27FC236}">
                <a16:creationId xmlns:a16="http://schemas.microsoft.com/office/drawing/2014/main" id="{934F2683-1241-35F3-3D71-A1AF76B51BD5}"/>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DIAGRAM</a:t>
            </a:r>
          </a:p>
        </p:txBody>
      </p:sp>
      <p:cxnSp>
        <p:nvCxnSpPr>
          <p:cNvPr id="63" name="Straight Connector 62">
            <a:extLst>
              <a:ext uri="{FF2B5EF4-FFF2-40B4-BE49-F238E27FC236}">
                <a16:creationId xmlns:a16="http://schemas.microsoft.com/office/drawing/2014/main" id="{03A89961-D3C2-B6D8-456A-EC6A0BFD97C6}"/>
              </a:ext>
            </a:extLst>
          </p:cNvPr>
          <p:cNvCxnSpPr>
            <a:cxnSpLocks/>
          </p:cNvCxnSpPr>
          <p:nvPr/>
        </p:nvCxnSpPr>
        <p:spPr>
          <a:xfrm>
            <a:off x="1337709" y="580615"/>
            <a:ext cx="10554075"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8A7F7D8F-1B22-1ADF-A9FB-DFA7A4294261}"/>
              </a:ext>
            </a:extLst>
          </p:cNvPr>
          <p:cNvSpPr txBox="1"/>
          <p:nvPr/>
        </p:nvSpPr>
        <p:spPr>
          <a:xfrm>
            <a:off x="8310166" y="855673"/>
            <a:ext cx="3497400" cy="1323439"/>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Lorem ipsum dolor sit </a:t>
            </a:r>
            <a:r>
              <a:rPr lang="en-US" sz="2000" dirty="0" err="1">
                <a:solidFill>
                  <a:schemeClr val="bg1"/>
                </a:solidFill>
                <a:latin typeface="Avenir Medium" panose="02000503020000020003" pitchFamily="2" charset="0"/>
              </a:rPr>
              <a:t>amet</a:t>
            </a:r>
            <a:r>
              <a:rPr lang="en-US" sz="2000" dirty="0">
                <a:solidFill>
                  <a:schemeClr val="bg1"/>
                </a:solidFill>
                <a:latin typeface="Avenir Medium" panose="02000503020000020003" pitchFamily="2" charset="0"/>
              </a:rPr>
              <a:t>, </a:t>
            </a:r>
            <a:r>
              <a:rPr lang="en-US" sz="2000" dirty="0" err="1">
                <a:solidFill>
                  <a:schemeClr val="bg1"/>
                </a:solidFill>
                <a:latin typeface="Avenir Medium" panose="02000503020000020003" pitchFamily="2" charset="0"/>
              </a:rPr>
              <a:t>consectetur</a:t>
            </a:r>
            <a:r>
              <a:rPr lang="en-US" sz="2000" dirty="0">
                <a:solidFill>
                  <a:schemeClr val="bg1"/>
                </a:solidFill>
                <a:latin typeface="Avenir Medium" panose="02000503020000020003" pitchFamily="2" charset="0"/>
              </a:rPr>
              <a:t> </a:t>
            </a:r>
            <a:r>
              <a:rPr lang="en-US" sz="2000" dirty="0" err="1">
                <a:solidFill>
                  <a:schemeClr val="bg1"/>
                </a:solidFill>
                <a:latin typeface="Avenir Medium" panose="02000503020000020003" pitchFamily="2" charset="0"/>
              </a:rPr>
              <a:t>adipiscing</a:t>
            </a:r>
            <a:r>
              <a:rPr lang="en-US" sz="2000" dirty="0">
                <a:solidFill>
                  <a:schemeClr val="bg1"/>
                </a:solidFill>
                <a:latin typeface="Avenir Medium" panose="02000503020000020003" pitchFamily="2" charset="0"/>
              </a:rPr>
              <a:t> </a:t>
            </a:r>
            <a:r>
              <a:rPr lang="en-US" sz="2000" dirty="0" err="1">
                <a:solidFill>
                  <a:schemeClr val="bg1"/>
                </a:solidFill>
                <a:latin typeface="Avenir Medium" panose="02000503020000020003" pitchFamily="2" charset="0"/>
              </a:rPr>
              <a:t>elit</a:t>
            </a:r>
            <a:r>
              <a:rPr lang="en-US" sz="2000" dirty="0">
                <a:solidFill>
                  <a:schemeClr val="bg1"/>
                </a:solidFill>
                <a:latin typeface="Avenir Medium" panose="02000503020000020003" pitchFamily="2" charset="0"/>
              </a:rPr>
              <a:t>, sed do </a:t>
            </a:r>
            <a:r>
              <a:rPr lang="en-US" sz="2000" dirty="0" err="1">
                <a:solidFill>
                  <a:schemeClr val="bg1"/>
                </a:solidFill>
                <a:latin typeface="Avenir Medium" panose="02000503020000020003" pitchFamily="2" charset="0"/>
              </a:rPr>
              <a:t>eiusmod</a:t>
            </a:r>
            <a:r>
              <a:rPr lang="en-US" sz="2000" dirty="0">
                <a:solidFill>
                  <a:schemeClr val="bg1"/>
                </a:solidFill>
                <a:latin typeface="Avenir Medium" panose="02000503020000020003" pitchFamily="2" charset="0"/>
              </a:rPr>
              <a:t> </a:t>
            </a:r>
            <a:r>
              <a:rPr lang="en-US" sz="2000" dirty="0" err="1">
                <a:solidFill>
                  <a:schemeClr val="bg1"/>
                </a:solidFill>
                <a:latin typeface="Avenir Medium" panose="02000503020000020003" pitchFamily="2" charset="0"/>
              </a:rPr>
              <a:t>tempor</a:t>
            </a:r>
            <a:r>
              <a:rPr lang="en-US" sz="2000" dirty="0">
                <a:solidFill>
                  <a:schemeClr val="bg1"/>
                </a:solidFill>
                <a:latin typeface="Avenir Medium" panose="02000503020000020003" pitchFamily="2" charset="0"/>
              </a:rPr>
              <a:t> </a:t>
            </a:r>
            <a:r>
              <a:rPr lang="en-US" sz="2000" dirty="0" err="1">
                <a:solidFill>
                  <a:schemeClr val="bg1"/>
                </a:solidFill>
                <a:latin typeface="Avenir Medium" panose="02000503020000020003" pitchFamily="2" charset="0"/>
              </a:rPr>
              <a:t>incididunt</a:t>
            </a:r>
            <a:r>
              <a:rPr lang="en-US" sz="2000" dirty="0">
                <a:solidFill>
                  <a:schemeClr val="bg1"/>
                </a:solidFill>
                <a:latin typeface="Avenir Medium" panose="02000503020000020003" pitchFamily="2" charset="0"/>
              </a:rPr>
              <a:t> </a:t>
            </a:r>
            <a:r>
              <a:rPr lang="en-US" sz="2000" dirty="0" err="1">
                <a:solidFill>
                  <a:schemeClr val="bg1"/>
                </a:solidFill>
                <a:latin typeface="Avenir Medium" panose="02000503020000020003" pitchFamily="2" charset="0"/>
              </a:rPr>
              <a:t>ut</a:t>
            </a:r>
            <a:r>
              <a:rPr lang="en-US" sz="2000" dirty="0">
                <a:solidFill>
                  <a:schemeClr val="bg1"/>
                </a:solidFill>
                <a:latin typeface="Avenir Medium" panose="02000503020000020003" pitchFamily="2" charset="0"/>
              </a:rPr>
              <a:t> labore et.</a:t>
            </a:r>
          </a:p>
        </p:txBody>
      </p:sp>
      <p:grpSp>
        <p:nvGrpSpPr>
          <p:cNvPr id="69" name="Group 68">
            <a:extLst>
              <a:ext uri="{FF2B5EF4-FFF2-40B4-BE49-F238E27FC236}">
                <a16:creationId xmlns:a16="http://schemas.microsoft.com/office/drawing/2014/main" id="{DB242927-DECE-B554-597E-4A324B3CEDF8}"/>
              </a:ext>
            </a:extLst>
          </p:cNvPr>
          <p:cNvGrpSpPr/>
          <p:nvPr/>
        </p:nvGrpSpPr>
        <p:grpSpPr>
          <a:xfrm>
            <a:off x="6219984" y="5171637"/>
            <a:ext cx="1358685" cy="215444"/>
            <a:chOff x="6096000" y="5381273"/>
            <a:chExt cx="1358685" cy="215444"/>
          </a:xfrm>
        </p:grpSpPr>
        <p:sp>
          <p:nvSpPr>
            <p:cNvPr id="67" name="TextBox 66">
              <a:extLst>
                <a:ext uri="{FF2B5EF4-FFF2-40B4-BE49-F238E27FC236}">
                  <a16:creationId xmlns:a16="http://schemas.microsoft.com/office/drawing/2014/main" id="{FFFB3961-885A-35B8-506E-FC27B270C23B}"/>
                </a:ext>
              </a:extLst>
            </p:cNvPr>
            <p:cNvSpPr txBox="1"/>
            <p:nvPr/>
          </p:nvSpPr>
          <p:spPr>
            <a:xfrm>
              <a:off x="6096000" y="5381273"/>
              <a:ext cx="250556"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I.</a:t>
              </a:r>
            </a:p>
          </p:txBody>
        </p:sp>
        <p:sp>
          <p:nvSpPr>
            <p:cNvPr id="68" name="TextBox 67">
              <a:extLst>
                <a:ext uri="{FF2B5EF4-FFF2-40B4-BE49-F238E27FC236}">
                  <a16:creationId xmlns:a16="http://schemas.microsoft.com/office/drawing/2014/main" id="{2FBD0465-2B67-5EC7-7F5A-CF8198DB3075}"/>
                </a:ext>
              </a:extLst>
            </p:cNvPr>
            <p:cNvSpPr txBox="1"/>
            <p:nvPr/>
          </p:nvSpPr>
          <p:spPr>
            <a:xfrm>
              <a:off x="6398217" y="5381273"/>
              <a:ext cx="1056468"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Lorem Ipsum</a:t>
              </a:r>
            </a:p>
          </p:txBody>
        </p:sp>
      </p:grpSp>
      <p:grpSp>
        <p:nvGrpSpPr>
          <p:cNvPr id="70" name="Group 69">
            <a:extLst>
              <a:ext uri="{FF2B5EF4-FFF2-40B4-BE49-F238E27FC236}">
                <a16:creationId xmlns:a16="http://schemas.microsoft.com/office/drawing/2014/main" id="{E411A9E7-65B5-CF31-F4A7-3FF997A2D915}"/>
              </a:ext>
            </a:extLst>
          </p:cNvPr>
          <p:cNvGrpSpPr/>
          <p:nvPr/>
        </p:nvGrpSpPr>
        <p:grpSpPr>
          <a:xfrm>
            <a:off x="6219983" y="5414444"/>
            <a:ext cx="1358686" cy="215444"/>
            <a:chOff x="6095999" y="5381273"/>
            <a:chExt cx="1358686" cy="215444"/>
          </a:xfrm>
        </p:grpSpPr>
        <p:sp>
          <p:nvSpPr>
            <p:cNvPr id="71" name="TextBox 70">
              <a:extLst>
                <a:ext uri="{FF2B5EF4-FFF2-40B4-BE49-F238E27FC236}">
                  <a16:creationId xmlns:a16="http://schemas.microsoft.com/office/drawing/2014/main" id="{5FD0B1EE-63F5-A9B4-ED85-B938670298FA}"/>
                </a:ext>
              </a:extLst>
            </p:cNvPr>
            <p:cNvSpPr txBox="1"/>
            <p:nvPr/>
          </p:nvSpPr>
          <p:spPr>
            <a:xfrm>
              <a:off x="6095999" y="5381273"/>
              <a:ext cx="343237"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II.</a:t>
              </a:r>
            </a:p>
          </p:txBody>
        </p:sp>
        <p:sp>
          <p:nvSpPr>
            <p:cNvPr id="72" name="TextBox 71">
              <a:extLst>
                <a:ext uri="{FF2B5EF4-FFF2-40B4-BE49-F238E27FC236}">
                  <a16:creationId xmlns:a16="http://schemas.microsoft.com/office/drawing/2014/main" id="{5F516ABC-D1F2-AA65-3A43-5D2D68D63C0B}"/>
                </a:ext>
              </a:extLst>
            </p:cNvPr>
            <p:cNvSpPr txBox="1"/>
            <p:nvPr/>
          </p:nvSpPr>
          <p:spPr>
            <a:xfrm>
              <a:off x="6398217" y="5381273"/>
              <a:ext cx="1056468"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Lorem Ipsum</a:t>
              </a:r>
            </a:p>
          </p:txBody>
        </p:sp>
      </p:grpSp>
      <p:grpSp>
        <p:nvGrpSpPr>
          <p:cNvPr id="73" name="Group 72">
            <a:extLst>
              <a:ext uri="{FF2B5EF4-FFF2-40B4-BE49-F238E27FC236}">
                <a16:creationId xmlns:a16="http://schemas.microsoft.com/office/drawing/2014/main" id="{438791E3-36A4-24EB-F874-866F05F5C7FE}"/>
              </a:ext>
            </a:extLst>
          </p:cNvPr>
          <p:cNvGrpSpPr/>
          <p:nvPr/>
        </p:nvGrpSpPr>
        <p:grpSpPr>
          <a:xfrm>
            <a:off x="6219983" y="5657251"/>
            <a:ext cx="1358686" cy="215444"/>
            <a:chOff x="6095999" y="5381273"/>
            <a:chExt cx="1358686" cy="215444"/>
          </a:xfrm>
        </p:grpSpPr>
        <p:sp>
          <p:nvSpPr>
            <p:cNvPr id="74" name="TextBox 73">
              <a:extLst>
                <a:ext uri="{FF2B5EF4-FFF2-40B4-BE49-F238E27FC236}">
                  <a16:creationId xmlns:a16="http://schemas.microsoft.com/office/drawing/2014/main" id="{ABD449AB-75A8-C0B1-B412-CDA0A01B1D8E}"/>
                </a:ext>
              </a:extLst>
            </p:cNvPr>
            <p:cNvSpPr txBox="1"/>
            <p:nvPr/>
          </p:nvSpPr>
          <p:spPr>
            <a:xfrm>
              <a:off x="6095999" y="5381273"/>
              <a:ext cx="343237"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II.</a:t>
              </a:r>
            </a:p>
          </p:txBody>
        </p:sp>
        <p:sp>
          <p:nvSpPr>
            <p:cNvPr id="75" name="TextBox 74">
              <a:extLst>
                <a:ext uri="{FF2B5EF4-FFF2-40B4-BE49-F238E27FC236}">
                  <a16:creationId xmlns:a16="http://schemas.microsoft.com/office/drawing/2014/main" id="{925588A8-2494-7C98-045C-885963DA3A92}"/>
                </a:ext>
              </a:extLst>
            </p:cNvPr>
            <p:cNvSpPr txBox="1"/>
            <p:nvPr/>
          </p:nvSpPr>
          <p:spPr>
            <a:xfrm>
              <a:off x="6398217" y="5381273"/>
              <a:ext cx="1056468"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Lorem Ipsum</a:t>
              </a:r>
            </a:p>
          </p:txBody>
        </p:sp>
      </p:grpSp>
      <p:grpSp>
        <p:nvGrpSpPr>
          <p:cNvPr id="76" name="Group 75">
            <a:extLst>
              <a:ext uri="{FF2B5EF4-FFF2-40B4-BE49-F238E27FC236}">
                <a16:creationId xmlns:a16="http://schemas.microsoft.com/office/drawing/2014/main" id="{423B6275-CAF5-C0B7-D424-F6BF8D486C81}"/>
              </a:ext>
            </a:extLst>
          </p:cNvPr>
          <p:cNvGrpSpPr/>
          <p:nvPr/>
        </p:nvGrpSpPr>
        <p:grpSpPr>
          <a:xfrm>
            <a:off x="6219983" y="5900057"/>
            <a:ext cx="1358686" cy="215444"/>
            <a:chOff x="6095999" y="5381273"/>
            <a:chExt cx="1358686" cy="215444"/>
          </a:xfrm>
        </p:grpSpPr>
        <p:sp>
          <p:nvSpPr>
            <p:cNvPr id="77" name="TextBox 76">
              <a:extLst>
                <a:ext uri="{FF2B5EF4-FFF2-40B4-BE49-F238E27FC236}">
                  <a16:creationId xmlns:a16="http://schemas.microsoft.com/office/drawing/2014/main" id="{9E020112-1DE7-64A1-4625-112264039F49}"/>
                </a:ext>
              </a:extLst>
            </p:cNvPr>
            <p:cNvSpPr txBox="1"/>
            <p:nvPr/>
          </p:nvSpPr>
          <p:spPr>
            <a:xfrm>
              <a:off x="6095999" y="5381273"/>
              <a:ext cx="343237"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II.</a:t>
              </a:r>
            </a:p>
          </p:txBody>
        </p:sp>
        <p:sp>
          <p:nvSpPr>
            <p:cNvPr id="78" name="TextBox 77">
              <a:extLst>
                <a:ext uri="{FF2B5EF4-FFF2-40B4-BE49-F238E27FC236}">
                  <a16:creationId xmlns:a16="http://schemas.microsoft.com/office/drawing/2014/main" id="{476165CF-7167-669C-D5B6-BB403A3B6D73}"/>
                </a:ext>
              </a:extLst>
            </p:cNvPr>
            <p:cNvSpPr txBox="1"/>
            <p:nvPr/>
          </p:nvSpPr>
          <p:spPr>
            <a:xfrm>
              <a:off x="6398217" y="5381273"/>
              <a:ext cx="1056468"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Lorem Ipsum</a:t>
              </a:r>
            </a:p>
          </p:txBody>
        </p:sp>
      </p:grpSp>
      <p:sp>
        <p:nvSpPr>
          <p:cNvPr id="2" name="TextBox 1">
            <a:extLst>
              <a:ext uri="{FF2B5EF4-FFF2-40B4-BE49-F238E27FC236}">
                <a16:creationId xmlns:a16="http://schemas.microsoft.com/office/drawing/2014/main" id="{516414CF-7FE4-16D7-B749-ED3CBF89865F}"/>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950012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2ABA859-B9F0-0112-C783-3B81AC44F741}"/>
            </a:ext>
          </a:extLst>
        </p:cNvPr>
        <p:cNvGrpSpPr/>
        <p:nvPr/>
      </p:nvGrpSpPr>
      <p:grpSpPr>
        <a:xfrm>
          <a:off x="0" y="0"/>
          <a:ext cx="0" cy="0"/>
          <a:chOff x="0" y="0"/>
          <a:chExt cx="0" cy="0"/>
        </a:xfrm>
      </p:grpSpPr>
      <p:sp>
        <p:nvSpPr>
          <p:cNvPr id="102" name="TextBox 101">
            <a:extLst>
              <a:ext uri="{FF2B5EF4-FFF2-40B4-BE49-F238E27FC236}">
                <a16:creationId xmlns:a16="http://schemas.microsoft.com/office/drawing/2014/main" id="{CB820E5F-4D5C-C79A-5D06-BE53A469D438}"/>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006 // 045</a:t>
            </a:r>
          </a:p>
        </p:txBody>
      </p:sp>
      <p:pic>
        <p:nvPicPr>
          <p:cNvPr id="2" name="Picture 1">
            <a:extLst>
              <a:ext uri="{FF2B5EF4-FFF2-40B4-BE49-F238E27FC236}">
                <a16:creationId xmlns:a16="http://schemas.microsoft.com/office/drawing/2014/main" id="{951BAC6E-B2BE-493E-485F-0D5D5387C07A}"/>
              </a:ext>
            </a:extLst>
          </p:cNvPr>
          <p:cNvPicPr>
            <a:picLocks noChangeAspect="1"/>
          </p:cNvPicPr>
          <p:nvPr/>
        </p:nvPicPr>
        <p:blipFill>
          <a:blip r:embed="rId3"/>
          <a:srcRect l="3415" t="1339" r="-195" b="1879"/>
          <a:stretch>
            <a:fillRect/>
          </a:stretch>
        </p:blipFill>
        <p:spPr>
          <a:xfrm>
            <a:off x="1186017" y="844566"/>
            <a:ext cx="5342859" cy="5039287"/>
          </a:xfrm>
          <a:prstGeom prst="rect">
            <a:avLst/>
          </a:prstGeom>
        </p:spPr>
      </p:pic>
      <p:grpSp>
        <p:nvGrpSpPr>
          <p:cNvPr id="5" name="Group 4">
            <a:extLst>
              <a:ext uri="{FF2B5EF4-FFF2-40B4-BE49-F238E27FC236}">
                <a16:creationId xmlns:a16="http://schemas.microsoft.com/office/drawing/2014/main" id="{D817C4FE-4E14-ED06-BF46-1FF7C6EFAF1F}"/>
              </a:ext>
            </a:extLst>
          </p:cNvPr>
          <p:cNvGrpSpPr/>
          <p:nvPr/>
        </p:nvGrpSpPr>
        <p:grpSpPr>
          <a:xfrm>
            <a:off x="4675501" y="2553943"/>
            <a:ext cx="1124798" cy="787975"/>
            <a:chOff x="5047402" y="2794191"/>
            <a:chExt cx="1124798" cy="787975"/>
          </a:xfrm>
        </p:grpSpPr>
        <p:sp>
          <p:nvSpPr>
            <p:cNvPr id="3" name="TextBox 2">
              <a:extLst>
                <a:ext uri="{FF2B5EF4-FFF2-40B4-BE49-F238E27FC236}">
                  <a16:creationId xmlns:a16="http://schemas.microsoft.com/office/drawing/2014/main" id="{44696C02-1C7E-A890-4D32-61198BD22D3C}"/>
                </a:ext>
              </a:extLst>
            </p:cNvPr>
            <p:cNvSpPr txBox="1"/>
            <p:nvPr/>
          </p:nvSpPr>
          <p:spPr>
            <a:xfrm>
              <a:off x="5047402" y="2794191"/>
              <a:ext cx="1124798" cy="215444"/>
            </a:xfrm>
            <a:prstGeom prst="rect">
              <a:avLst/>
            </a:prstGeom>
            <a:noFill/>
          </p:spPr>
          <p:txBody>
            <a:bodyPr wrap="square" rtlCol="0">
              <a:spAutoFit/>
            </a:bodyPr>
            <a:lstStyle/>
            <a:p>
              <a:pPr algn="ctr"/>
              <a:r>
                <a:rPr lang="en-US" sz="800" dirty="0">
                  <a:solidFill>
                    <a:schemeClr val="bg1"/>
                  </a:solidFill>
                  <a:latin typeface="Avenir Medium" panose="02000503020000020003" pitchFamily="2" charset="0"/>
                </a:rPr>
                <a:t>VISUAL DESIGN</a:t>
              </a:r>
            </a:p>
          </p:txBody>
        </p:sp>
        <p:sp>
          <p:nvSpPr>
            <p:cNvPr id="4" name="TextBox 3">
              <a:extLst>
                <a:ext uri="{FF2B5EF4-FFF2-40B4-BE49-F238E27FC236}">
                  <a16:creationId xmlns:a16="http://schemas.microsoft.com/office/drawing/2014/main" id="{DE88F74C-43E4-14BB-4972-780C64108F68}"/>
                </a:ext>
              </a:extLst>
            </p:cNvPr>
            <p:cNvSpPr txBox="1"/>
            <p:nvPr/>
          </p:nvSpPr>
          <p:spPr>
            <a:xfrm>
              <a:off x="5047402" y="2997391"/>
              <a:ext cx="1124798" cy="584775"/>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Developing </a:t>
              </a:r>
            </a:p>
            <a:p>
              <a:pPr algn="ctr"/>
              <a:r>
                <a:rPr lang="en-US" sz="800" dirty="0">
                  <a:solidFill>
                    <a:schemeClr val="bg1"/>
                  </a:solidFill>
                  <a:latin typeface="Avenir Light" panose="020B0402020203020204" pitchFamily="34" charset="77"/>
                </a:rPr>
                <a:t>a curated expression of material for</a:t>
              </a:r>
            </a:p>
            <a:p>
              <a:pPr algn="ctr"/>
              <a:r>
                <a:rPr lang="en-US" sz="800" dirty="0">
                  <a:solidFill>
                    <a:schemeClr val="bg1"/>
                  </a:solidFill>
                  <a:latin typeface="Avenir Light" panose="020B0402020203020204" pitchFamily="34" charset="77"/>
                </a:rPr>
                <a:t>high engagement.</a:t>
              </a:r>
            </a:p>
          </p:txBody>
        </p:sp>
      </p:grpSp>
      <p:grpSp>
        <p:nvGrpSpPr>
          <p:cNvPr id="6" name="Group 5">
            <a:extLst>
              <a:ext uri="{FF2B5EF4-FFF2-40B4-BE49-F238E27FC236}">
                <a16:creationId xmlns:a16="http://schemas.microsoft.com/office/drawing/2014/main" id="{5BE76C84-D5D3-DFC7-B610-17BFF0326313}"/>
              </a:ext>
            </a:extLst>
          </p:cNvPr>
          <p:cNvGrpSpPr/>
          <p:nvPr/>
        </p:nvGrpSpPr>
        <p:grpSpPr>
          <a:xfrm>
            <a:off x="2033325" y="2553943"/>
            <a:ext cx="1124798" cy="787975"/>
            <a:chOff x="5047402" y="2794191"/>
            <a:chExt cx="1124798" cy="787975"/>
          </a:xfrm>
        </p:grpSpPr>
        <p:sp>
          <p:nvSpPr>
            <p:cNvPr id="7" name="TextBox 6">
              <a:extLst>
                <a:ext uri="{FF2B5EF4-FFF2-40B4-BE49-F238E27FC236}">
                  <a16:creationId xmlns:a16="http://schemas.microsoft.com/office/drawing/2014/main" id="{B17A952C-1689-3A8A-F2E7-B577FA002793}"/>
                </a:ext>
              </a:extLst>
            </p:cNvPr>
            <p:cNvSpPr txBox="1"/>
            <p:nvPr/>
          </p:nvSpPr>
          <p:spPr>
            <a:xfrm>
              <a:off x="5047402" y="2794191"/>
              <a:ext cx="1124798" cy="215444"/>
            </a:xfrm>
            <a:prstGeom prst="rect">
              <a:avLst/>
            </a:prstGeom>
            <a:noFill/>
          </p:spPr>
          <p:txBody>
            <a:bodyPr wrap="square" rtlCol="0">
              <a:spAutoFit/>
            </a:bodyPr>
            <a:lstStyle/>
            <a:p>
              <a:pPr algn="ctr"/>
              <a:r>
                <a:rPr lang="en-US" sz="800" dirty="0">
                  <a:solidFill>
                    <a:schemeClr val="bg1"/>
                  </a:solidFill>
                  <a:latin typeface="Avenir Medium" panose="02000503020000020003" pitchFamily="2" charset="0"/>
                </a:rPr>
                <a:t>ARCHITECTURE</a:t>
              </a:r>
            </a:p>
          </p:txBody>
        </p:sp>
        <p:sp>
          <p:nvSpPr>
            <p:cNvPr id="8" name="TextBox 7">
              <a:extLst>
                <a:ext uri="{FF2B5EF4-FFF2-40B4-BE49-F238E27FC236}">
                  <a16:creationId xmlns:a16="http://schemas.microsoft.com/office/drawing/2014/main" id="{8F5C6CAF-EA65-1D8F-9AF8-1ECFA011900D}"/>
                </a:ext>
              </a:extLst>
            </p:cNvPr>
            <p:cNvSpPr txBox="1"/>
            <p:nvPr/>
          </p:nvSpPr>
          <p:spPr>
            <a:xfrm>
              <a:off x="5047402" y="2997391"/>
              <a:ext cx="1124798" cy="584775"/>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Crafting the appeal of working and living spaces for growth</a:t>
              </a:r>
            </a:p>
            <a:p>
              <a:pPr algn="ctr"/>
              <a:r>
                <a:rPr lang="en-US" sz="800" dirty="0">
                  <a:solidFill>
                    <a:schemeClr val="bg1"/>
                  </a:solidFill>
                  <a:latin typeface="Avenir Light" panose="020B0402020203020204" pitchFamily="34" charset="77"/>
                </a:rPr>
                <a:t>and opportunity.</a:t>
              </a:r>
            </a:p>
          </p:txBody>
        </p:sp>
      </p:grpSp>
      <p:grpSp>
        <p:nvGrpSpPr>
          <p:cNvPr id="9" name="Group 8">
            <a:extLst>
              <a:ext uri="{FF2B5EF4-FFF2-40B4-BE49-F238E27FC236}">
                <a16:creationId xmlns:a16="http://schemas.microsoft.com/office/drawing/2014/main" id="{12E6022B-AD15-5129-CDD2-94626D7664D2}"/>
              </a:ext>
            </a:extLst>
          </p:cNvPr>
          <p:cNvGrpSpPr/>
          <p:nvPr/>
        </p:nvGrpSpPr>
        <p:grpSpPr>
          <a:xfrm>
            <a:off x="3316601" y="1523638"/>
            <a:ext cx="1124798" cy="787975"/>
            <a:chOff x="5047402" y="2794191"/>
            <a:chExt cx="1124798" cy="787975"/>
          </a:xfrm>
        </p:grpSpPr>
        <p:sp>
          <p:nvSpPr>
            <p:cNvPr id="10" name="TextBox 9">
              <a:extLst>
                <a:ext uri="{FF2B5EF4-FFF2-40B4-BE49-F238E27FC236}">
                  <a16:creationId xmlns:a16="http://schemas.microsoft.com/office/drawing/2014/main" id="{1DF913B9-2DCF-C4A4-9622-0E7EFC848B1D}"/>
                </a:ext>
              </a:extLst>
            </p:cNvPr>
            <p:cNvSpPr txBox="1"/>
            <p:nvPr/>
          </p:nvSpPr>
          <p:spPr>
            <a:xfrm>
              <a:off x="5047402" y="2794191"/>
              <a:ext cx="1124798" cy="215444"/>
            </a:xfrm>
            <a:prstGeom prst="rect">
              <a:avLst/>
            </a:prstGeom>
            <a:noFill/>
          </p:spPr>
          <p:txBody>
            <a:bodyPr wrap="square" rtlCol="0">
              <a:spAutoFit/>
            </a:bodyPr>
            <a:lstStyle/>
            <a:p>
              <a:pPr algn="ctr"/>
              <a:r>
                <a:rPr lang="en-US" sz="800" dirty="0">
                  <a:solidFill>
                    <a:schemeClr val="bg1"/>
                  </a:solidFill>
                  <a:latin typeface="Avenir Medium" panose="02000503020000020003" pitchFamily="2" charset="0"/>
                </a:rPr>
                <a:t>DETAIL FORM</a:t>
              </a:r>
            </a:p>
          </p:txBody>
        </p:sp>
        <p:sp>
          <p:nvSpPr>
            <p:cNvPr id="11" name="TextBox 10">
              <a:extLst>
                <a:ext uri="{FF2B5EF4-FFF2-40B4-BE49-F238E27FC236}">
                  <a16:creationId xmlns:a16="http://schemas.microsoft.com/office/drawing/2014/main" id="{70E6938E-E640-1E8A-1EE4-D5F01F775BC7}"/>
                </a:ext>
              </a:extLst>
            </p:cNvPr>
            <p:cNvSpPr txBox="1"/>
            <p:nvPr/>
          </p:nvSpPr>
          <p:spPr>
            <a:xfrm>
              <a:off x="5047402" y="2997391"/>
              <a:ext cx="1124798" cy="584775"/>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Curating unique identifiers of the experience for secondary mapping.</a:t>
              </a:r>
            </a:p>
          </p:txBody>
        </p:sp>
      </p:grpSp>
      <p:grpSp>
        <p:nvGrpSpPr>
          <p:cNvPr id="17" name="Group 16">
            <a:extLst>
              <a:ext uri="{FF2B5EF4-FFF2-40B4-BE49-F238E27FC236}">
                <a16:creationId xmlns:a16="http://schemas.microsoft.com/office/drawing/2014/main" id="{0F762FAD-ECB2-9E62-A566-CE627041904F}"/>
              </a:ext>
            </a:extLst>
          </p:cNvPr>
          <p:cNvGrpSpPr/>
          <p:nvPr/>
        </p:nvGrpSpPr>
        <p:grpSpPr>
          <a:xfrm>
            <a:off x="4157552" y="4059064"/>
            <a:ext cx="1124798" cy="787975"/>
            <a:chOff x="5047402" y="2794191"/>
            <a:chExt cx="1124798" cy="787975"/>
          </a:xfrm>
        </p:grpSpPr>
        <p:sp>
          <p:nvSpPr>
            <p:cNvPr id="18" name="TextBox 17">
              <a:extLst>
                <a:ext uri="{FF2B5EF4-FFF2-40B4-BE49-F238E27FC236}">
                  <a16:creationId xmlns:a16="http://schemas.microsoft.com/office/drawing/2014/main" id="{BA6FA925-8B00-3736-3FAC-4FF53077521D}"/>
                </a:ext>
              </a:extLst>
            </p:cNvPr>
            <p:cNvSpPr txBox="1"/>
            <p:nvPr/>
          </p:nvSpPr>
          <p:spPr>
            <a:xfrm>
              <a:off x="5047402" y="2794191"/>
              <a:ext cx="1124798" cy="215444"/>
            </a:xfrm>
            <a:prstGeom prst="rect">
              <a:avLst/>
            </a:prstGeom>
            <a:noFill/>
          </p:spPr>
          <p:txBody>
            <a:bodyPr wrap="square" rtlCol="0">
              <a:spAutoFit/>
            </a:bodyPr>
            <a:lstStyle/>
            <a:p>
              <a:pPr algn="ctr"/>
              <a:r>
                <a:rPr lang="en-US" sz="800" dirty="0">
                  <a:solidFill>
                    <a:schemeClr val="bg1"/>
                  </a:solidFill>
                  <a:latin typeface="Avenir Medium" panose="02000503020000020003" pitchFamily="2" charset="0"/>
                </a:rPr>
                <a:t>PRODUCT FORM</a:t>
              </a:r>
            </a:p>
          </p:txBody>
        </p:sp>
        <p:sp>
          <p:nvSpPr>
            <p:cNvPr id="20" name="TextBox 19">
              <a:extLst>
                <a:ext uri="{FF2B5EF4-FFF2-40B4-BE49-F238E27FC236}">
                  <a16:creationId xmlns:a16="http://schemas.microsoft.com/office/drawing/2014/main" id="{5D1D540F-5A98-2963-EA13-5D52172471DA}"/>
                </a:ext>
              </a:extLst>
            </p:cNvPr>
            <p:cNvSpPr txBox="1"/>
            <p:nvPr/>
          </p:nvSpPr>
          <p:spPr>
            <a:xfrm>
              <a:off x="5047402" y="2997391"/>
              <a:ext cx="1124798" cy="584775"/>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Bespoke methods that help foster production for consumers.</a:t>
              </a:r>
            </a:p>
          </p:txBody>
        </p:sp>
      </p:grpSp>
      <p:grpSp>
        <p:nvGrpSpPr>
          <p:cNvPr id="21" name="Group 20">
            <a:extLst>
              <a:ext uri="{FF2B5EF4-FFF2-40B4-BE49-F238E27FC236}">
                <a16:creationId xmlns:a16="http://schemas.microsoft.com/office/drawing/2014/main" id="{AA77F75E-D03E-E82F-588A-60DA2C10BA2D}"/>
              </a:ext>
            </a:extLst>
          </p:cNvPr>
          <p:cNvGrpSpPr/>
          <p:nvPr/>
        </p:nvGrpSpPr>
        <p:grpSpPr>
          <a:xfrm>
            <a:off x="2474802" y="4059064"/>
            <a:ext cx="1124798" cy="787975"/>
            <a:chOff x="5047402" y="2794191"/>
            <a:chExt cx="1124798" cy="787975"/>
          </a:xfrm>
        </p:grpSpPr>
        <p:sp>
          <p:nvSpPr>
            <p:cNvPr id="25" name="TextBox 24">
              <a:extLst>
                <a:ext uri="{FF2B5EF4-FFF2-40B4-BE49-F238E27FC236}">
                  <a16:creationId xmlns:a16="http://schemas.microsoft.com/office/drawing/2014/main" id="{D020AA10-31FA-5BDD-3E78-61E7769778BE}"/>
                </a:ext>
              </a:extLst>
            </p:cNvPr>
            <p:cNvSpPr txBox="1"/>
            <p:nvPr/>
          </p:nvSpPr>
          <p:spPr>
            <a:xfrm>
              <a:off x="5047402" y="2794191"/>
              <a:ext cx="1124798" cy="215444"/>
            </a:xfrm>
            <a:prstGeom prst="rect">
              <a:avLst/>
            </a:prstGeom>
            <a:noFill/>
          </p:spPr>
          <p:txBody>
            <a:bodyPr wrap="square" rtlCol="0">
              <a:spAutoFit/>
            </a:bodyPr>
            <a:lstStyle/>
            <a:p>
              <a:pPr algn="ctr"/>
              <a:r>
                <a:rPr lang="en-US" sz="800" dirty="0">
                  <a:solidFill>
                    <a:schemeClr val="bg1"/>
                  </a:solidFill>
                  <a:latin typeface="Avenir Medium" panose="02000503020000020003" pitchFamily="2" charset="0"/>
                </a:rPr>
                <a:t>FUNCTIONALITY</a:t>
              </a:r>
            </a:p>
          </p:txBody>
        </p:sp>
        <p:sp>
          <p:nvSpPr>
            <p:cNvPr id="26" name="TextBox 25">
              <a:extLst>
                <a:ext uri="{FF2B5EF4-FFF2-40B4-BE49-F238E27FC236}">
                  <a16:creationId xmlns:a16="http://schemas.microsoft.com/office/drawing/2014/main" id="{5BE55F60-6CD8-924D-9001-A2E921726F41}"/>
                </a:ext>
              </a:extLst>
            </p:cNvPr>
            <p:cNvSpPr txBox="1"/>
            <p:nvPr/>
          </p:nvSpPr>
          <p:spPr>
            <a:xfrm>
              <a:off x="5047402" y="2997391"/>
              <a:ext cx="1124798" cy="584775"/>
            </a:xfrm>
            <a:prstGeom prst="rect">
              <a:avLst/>
            </a:prstGeom>
            <a:noFill/>
          </p:spPr>
          <p:txBody>
            <a:bodyPr wrap="square" rtlCol="0">
              <a:spAutoFit/>
            </a:bodyPr>
            <a:lstStyle/>
            <a:p>
              <a:pPr algn="ctr"/>
              <a:r>
                <a:rPr lang="en-US" sz="800" dirty="0">
                  <a:solidFill>
                    <a:schemeClr val="bg1"/>
                  </a:solidFill>
                  <a:latin typeface="Avenir Light" panose="020B0402020203020204" pitchFamily="34" charset="77"/>
                </a:rPr>
                <a:t>Defining the utility and overall use case of the product for long-term success.</a:t>
              </a:r>
            </a:p>
          </p:txBody>
        </p:sp>
      </p:grpSp>
      <p:sp>
        <p:nvSpPr>
          <p:cNvPr id="28" name="TextBox 27">
            <a:extLst>
              <a:ext uri="{FF2B5EF4-FFF2-40B4-BE49-F238E27FC236}">
                <a16:creationId xmlns:a16="http://schemas.microsoft.com/office/drawing/2014/main" id="{A833B6DD-524C-D8B7-DFF8-20F89C912D2B}"/>
              </a:ext>
            </a:extLst>
          </p:cNvPr>
          <p:cNvSpPr txBox="1"/>
          <p:nvPr/>
        </p:nvSpPr>
        <p:spPr>
          <a:xfrm>
            <a:off x="3316601" y="3194933"/>
            <a:ext cx="1124798" cy="338554"/>
          </a:xfrm>
          <a:prstGeom prst="rect">
            <a:avLst/>
          </a:prstGeom>
          <a:noFill/>
        </p:spPr>
        <p:txBody>
          <a:bodyPr wrap="square" rtlCol="0">
            <a:spAutoFit/>
          </a:bodyPr>
          <a:lstStyle/>
          <a:p>
            <a:pPr algn="ctr"/>
            <a:r>
              <a:rPr lang="en-US" sz="800" b="1" dirty="0">
                <a:solidFill>
                  <a:schemeClr val="bg1"/>
                </a:solidFill>
                <a:latin typeface="Avenir Black" panose="02000503020000020003" pitchFamily="2" charset="0"/>
              </a:rPr>
              <a:t>KEY</a:t>
            </a:r>
          </a:p>
          <a:p>
            <a:pPr algn="ctr"/>
            <a:r>
              <a:rPr lang="en-US" sz="800" b="1" dirty="0">
                <a:solidFill>
                  <a:schemeClr val="bg1"/>
                </a:solidFill>
                <a:latin typeface="Avenir Black" panose="02000503020000020003" pitchFamily="2" charset="0"/>
              </a:rPr>
              <a:t>INSIGHTS</a:t>
            </a:r>
          </a:p>
        </p:txBody>
      </p:sp>
      <p:grpSp>
        <p:nvGrpSpPr>
          <p:cNvPr id="86" name="Group 85">
            <a:extLst>
              <a:ext uri="{FF2B5EF4-FFF2-40B4-BE49-F238E27FC236}">
                <a16:creationId xmlns:a16="http://schemas.microsoft.com/office/drawing/2014/main" id="{C12BE689-3907-4B5B-6044-106082952317}"/>
              </a:ext>
            </a:extLst>
          </p:cNvPr>
          <p:cNvGrpSpPr/>
          <p:nvPr/>
        </p:nvGrpSpPr>
        <p:grpSpPr>
          <a:xfrm>
            <a:off x="7191517" y="1126846"/>
            <a:ext cx="3908283" cy="539065"/>
            <a:chOff x="6930811" y="1453604"/>
            <a:chExt cx="3908283" cy="539065"/>
          </a:xfrm>
        </p:grpSpPr>
        <p:sp>
          <p:nvSpPr>
            <p:cNvPr id="83" name="TextBox 82">
              <a:extLst>
                <a:ext uri="{FF2B5EF4-FFF2-40B4-BE49-F238E27FC236}">
                  <a16:creationId xmlns:a16="http://schemas.microsoft.com/office/drawing/2014/main" id="{4B14CD5B-DB8C-4551-FA7F-4FD03C56C25C}"/>
                </a:ext>
              </a:extLst>
            </p:cNvPr>
            <p:cNvSpPr txBox="1"/>
            <p:nvPr/>
          </p:nvSpPr>
          <p:spPr>
            <a:xfrm>
              <a:off x="8628676" y="1654115"/>
              <a:ext cx="2210418" cy="33855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Sharpens a design through precise decisions about edges, surfaces, and transitions.</a:t>
              </a:r>
            </a:p>
          </p:txBody>
        </p:sp>
        <p:sp>
          <p:nvSpPr>
            <p:cNvPr id="84" name="TextBox 83">
              <a:extLst>
                <a:ext uri="{FF2B5EF4-FFF2-40B4-BE49-F238E27FC236}">
                  <a16:creationId xmlns:a16="http://schemas.microsoft.com/office/drawing/2014/main" id="{9743C3FB-A010-5AE9-BBB2-6F4EB9E5A097}"/>
                </a:ext>
              </a:extLst>
            </p:cNvPr>
            <p:cNvSpPr txBox="1"/>
            <p:nvPr/>
          </p:nvSpPr>
          <p:spPr>
            <a:xfrm>
              <a:off x="6930811" y="1453604"/>
              <a:ext cx="2061620"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SECTOR: Detail Form</a:t>
              </a:r>
            </a:p>
          </p:txBody>
        </p:sp>
        <p:sp>
          <p:nvSpPr>
            <p:cNvPr id="85" name="TextBox 84">
              <a:extLst>
                <a:ext uri="{FF2B5EF4-FFF2-40B4-BE49-F238E27FC236}">
                  <a16:creationId xmlns:a16="http://schemas.microsoft.com/office/drawing/2014/main" id="{9C655016-E4AE-417A-9F27-253223B40E72}"/>
                </a:ext>
              </a:extLst>
            </p:cNvPr>
            <p:cNvSpPr txBox="1"/>
            <p:nvPr/>
          </p:nvSpPr>
          <p:spPr>
            <a:xfrm>
              <a:off x="6930811" y="1669504"/>
              <a:ext cx="419525" cy="307777"/>
            </a:xfrm>
            <a:prstGeom prst="rect">
              <a:avLst/>
            </a:prstGeom>
            <a:noFill/>
          </p:spPr>
          <p:txBody>
            <a:bodyPr wrap="square" rtlCol="0">
              <a:spAutoFit/>
            </a:bodyPr>
            <a:lstStyle/>
            <a:p>
              <a:r>
                <a:rPr lang="en-US" sz="1400" dirty="0">
                  <a:solidFill>
                    <a:schemeClr val="bg1"/>
                  </a:solidFill>
                  <a:latin typeface="Avenir Light" panose="020B0402020203020204" pitchFamily="34" charset="77"/>
                </a:rPr>
                <a:t>3.7</a:t>
              </a:r>
            </a:p>
          </p:txBody>
        </p:sp>
      </p:grpSp>
      <p:grpSp>
        <p:nvGrpSpPr>
          <p:cNvPr id="117" name="Group 116">
            <a:extLst>
              <a:ext uri="{FF2B5EF4-FFF2-40B4-BE49-F238E27FC236}">
                <a16:creationId xmlns:a16="http://schemas.microsoft.com/office/drawing/2014/main" id="{D59527CB-D0E6-02B6-5A19-59FEFE0DCBDC}"/>
              </a:ext>
            </a:extLst>
          </p:cNvPr>
          <p:cNvGrpSpPr/>
          <p:nvPr/>
        </p:nvGrpSpPr>
        <p:grpSpPr>
          <a:xfrm>
            <a:off x="7191517" y="1738721"/>
            <a:ext cx="3908283" cy="539065"/>
            <a:chOff x="6930811" y="1453604"/>
            <a:chExt cx="3908283" cy="539065"/>
          </a:xfrm>
        </p:grpSpPr>
        <p:sp>
          <p:nvSpPr>
            <p:cNvPr id="123" name="TextBox 122">
              <a:extLst>
                <a:ext uri="{FF2B5EF4-FFF2-40B4-BE49-F238E27FC236}">
                  <a16:creationId xmlns:a16="http://schemas.microsoft.com/office/drawing/2014/main" id="{19A07D0E-5FDC-1DEE-BCB7-D48ABD883E00}"/>
                </a:ext>
              </a:extLst>
            </p:cNvPr>
            <p:cNvSpPr txBox="1"/>
            <p:nvPr/>
          </p:nvSpPr>
          <p:spPr>
            <a:xfrm>
              <a:off x="8628676" y="1654115"/>
              <a:ext cx="2210418" cy="33855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Shapes how information is communicated through color, typography, and composition.</a:t>
              </a:r>
            </a:p>
          </p:txBody>
        </p:sp>
        <p:sp>
          <p:nvSpPr>
            <p:cNvPr id="124" name="TextBox 123">
              <a:extLst>
                <a:ext uri="{FF2B5EF4-FFF2-40B4-BE49-F238E27FC236}">
                  <a16:creationId xmlns:a16="http://schemas.microsoft.com/office/drawing/2014/main" id="{BA0791B8-DAD3-B227-0A9D-C72AE0E51081}"/>
                </a:ext>
              </a:extLst>
            </p:cNvPr>
            <p:cNvSpPr txBox="1"/>
            <p:nvPr/>
          </p:nvSpPr>
          <p:spPr>
            <a:xfrm>
              <a:off x="6930811" y="1453604"/>
              <a:ext cx="2061620"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SECTOR: Visual Design</a:t>
              </a:r>
            </a:p>
          </p:txBody>
        </p:sp>
        <p:sp>
          <p:nvSpPr>
            <p:cNvPr id="125" name="TextBox 124">
              <a:extLst>
                <a:ext uri="{FF2B5EF4-FFF2-40B4-BE49-F238E27FC236}">
                  <a16:creationId xmlns:a16="http://schemas.microsoft.com/office/drawing/2014/main" id="{990EADB6-FFDD-DB19-8DF3-1E9D15D454BA}"/>
                </a:ext>
              </a:extLst>
            </p:cNvPr>
            <p:cNvSpPr txBox="1"/>
            <p:nvPr/>
          </p:nvSpPr>
          <p:spPr>
            <a:xfrm>
              <a:off x="6930811" y="1669504"/>
              <a:ext cx="419525" cy="307777"/>
            </a:xfrm>
            <a:prstGeom prst="rect">
              <a:avLst/>
            </a:prstGeom>
            <a:noFill/>
          </p:spPr>
          <p:txBody>
            <a:bodyPr wrap="square" rtlCol="0">
              <a:spAutoFit/>
            </a:bodyPr>
            <a:lstStyle/>
            <a:p>
              <a:r>
                <a:rPr lang="en-US" sz="1400" dirty="0">
                  <a:solidFill>
                    <a:schemeClr val="bg1"/>
                  </a:solidFill>
                  <a:latin typeface="Avenir Light" panose="020B0402020203020204" pitchFamily="34" charset="77"/>
                </a:rPr>
                <a:t>2.1</a:t>
              </a:r>
            </a:p>
          </p:txBody>
        </p:sp>
      </p:grpSp>
      <p:grpSp>
        <p:nvGrpSpPr>
          <p:cNvPr id="127" name="Group 126">
            <a:extLst>
              <a:ext uri="{FF2B5EF4-FFF2-40B4-BE49-F238E27FC236}">
                <a16:creationId xmlns:a16="http://schemas.microsoft.com/office/drawing/2014/main" id="{8CC93477-4FD7-E8E9-70B7-C6B37C8909B7}"/>
              </a:ext>
            </a:extLst>
          </p:cNvPr>
          <p:cNvGrpSpPr/>
          <p:nvPr/>
        </p:nvGrpSpPr>
        <p:grpSpPr>
          <a:xfrm>
            <a:off x="7191517" y="2350596"/>
            <a:ext cx="3759485" cy="539065"/>
            <a:chOff x="6930811" y="1453604"/>
            <a:chExt cx="3759485" cy="539065"/>
          </a:xfrm>
        </p:grpSpPr>
        <p:sp>
          <p:nvSpPr>
            <p:cNvPr id="133" name="TextBox 132">
              <a:extLst>
                <a:ext uri="{FF2B5EF4-FFF2-40B4-BE49-F238E27FC236}">
                  <a16:creationId xmlns:a16="http://schemas.microsoft.com/office/drawing/2014/main" id="{A59C6DDF-AB4A-F578-5E24-9BD88035C2EA}"/>
                </a:ext>
              </a:extLst>
            </p:cNvPr>
            <p:cNvSpPr txBox="1"/>
            <p:nvPr/>
          </p:nvSpPr>
          <p:spPr>
            <a:xfrm>
              <a:off x="8628676" y="1654115"/>
              <a:ext cx="2061620" cy="33855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Defines the physical shape, silhouette, and proportions of an object.</a:t>
              </a:r>
            </a:p>
          </p:txBody>
        </p:sp>
        <p:sp>
          <p:nvSpPr>
            <p:cNvPr id="134" name="TextBox 133">
              <a:extLst>
                <a:ext uri="{FF2B5EF4-FFF2-40B4-BE49-F238E27FC236}">
                  <a16:creationId xmlns:a16="http://schemas.microsoft.com/office/drawing/2014/main" id="{C7C2F966-6BB0-D4B4-9F30-119B34FAF51B}"/>
                </a:ext>
              </a:extLst>
            </p:cNvPr>
            <p:cNvSpPr txBox="1"/>
            <p:nvPr/>
          </p:nvSpPr>
          <p:spPr>
            <a:xfrm>
              <a:off x="6930811" y="1453604"/>
              <a:ext cx="2061620"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SECTOR: Product Form</a:t>
              </a:r>
            </a:p>
          </p:txBody>
        </p:sp>
        <p:sp>
          <p:nvSpPr>
            <p:cNvPr id="135" name="TextBox 134">
              <a:extLst>
                <a:ext uri="{FF2B5EF4-FFF2-40B4-BE49-F238E27FC236}">
                  <a16:creationId xmlns:a16="http://schemas.microsoft.com/office/drawing/2014/main" id="{96094BA7-43E4-4200-96C1-4277BBA039E0}"/>
                </a:ext>
              </a:extLst>
            </p:cNvPr>
            <p:cNvSpPr txBox="1"/>
            <p:nvPr/>
          </p:nvSpPr>
          <p:spPr>
            <a:xfrm>
              <a:off x="6930811" y="1669504"/>
              <a:ext cx="419525" cy="307777"/>
            </a:xfrm>
            <a:prstGeom prst="rect">
              <a:avLst/>
            </a:prstGeom>
            <a:noFill/>
          </p:spPr>
          <p:txBody>
            <a:bodyPr wrap="square" rtlCol="0">
              <a:spAutoFit/>
            </a:bodyPr>
            <a:lstStyle/>
            <a:p>
              <a:r>
                <a:rPr lang="en-US" sz="1400" dirty="0">
                  <a:solidFill>
                    <a:schemeClr val="bg1"/>
                  </a:solidFill>
                  <a:latin typeface="Avenir Light" panose="020B0402020203020204" pitchFamily="34" charset="77"/>
                </a:rPr>
                <a:t>4.6</a:t>
              </a:r>
            </a:p>
          </p:txBody>
        </p:sp>
      </p:grpSp>
      <p:grpSp>
        <p:nvGrpSpPr>
          <p:cNvPr id="137" name="Group 136">
            <a:extLst>
              <a:ext uri="{FF2B5EF4-FFF2-40B4-BE49-F238E27FC236}">
                <a16:creationId xmlns:a16="http://schemas.microsoft.com/office/drawing/2014/main" id="{20279357-2825-5DAB-4E38-EAA6B42083A4}"/>
              </a:ext>
            </a:extLst>
          </p:cNvPr>
          <p:cNvGrpSpPr/>
          <p:nvPr/>
        </p:nvGrpSpPr>
        <p:grpSpPr>
          <a:xfrm>
            <a:off x="7191517" y="2962471"/>
            <a:ext cx="3759485" cy="539065"/>
            <a:chOff x="6930811" y="1453604"/>
            <a:chExt cx="3759485" cy="539065"/>
          </a:xfrm>
        </p:grpSpPr>
        <p:sp>
          <p:nvSpPr>
            <p:cNvPr id="143" name="TextBox 142">
              <a:extLst>
                <a:ext uri="{FF2B5EF4-FFF2-40B4-BE49-F238E27FC236}">
                  <a16:creationId xmlns:a16="http://schemas.microsoft.com/office/drawing/2014/main" id="{09A0B491-7E1A-BE78-1137-80777FB549CA}"/>
                </a:ext>
              </a:extLst>
            </p:cNvPr>
            <p:cNvSpPr txBox="1"/>
            <p:nvPr/>
          </p:nvSpPr>
          <p:spPr>
            <a:xfrm>
              <a:off x="8628676" y="1654115"/>
              <a:ext cx="2061620" cy="33855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Establishes the underlying structure </a:t>
              </a:r>
            </a:p>
            <a:p>
              <a:r>
                <a:rPr lang="en-US" sz="800" dirty="0">
                  <a:solidFill>
                    <a:schemeClr val="bg1"/>
                  </a:solidFill>
                  <a:latin typeface="Avenir Light" panose="020B0402020203020204" pitchFamily="34" charset="77"/>
                </a:rPr>
                <a:t>and spatial organization.</a:t>
              </a:r>
            </a:p>
          </p:txBody>
        </p:sp>
        <p:sp>
          <p:nvSpPr>
            <p:cNvPr id="144" name="TextBox 143">
              <a:extLst>
                <a:ext uri="{FF2B5EF4-FFF2-40B4-BE49-F238E27FC236}">
                  <a16:creationId xmlns:a16="http://schemas.microsoft.com/office/drawing/2014/main" id="{59A8D4B2-6490-62C3-FF97-D44161128E16}"/>
                </a:ext>
              </a:extLst>
            </p:cNvPr>
            <p:cNvSpPr txBox="1"/>
            <p:nvPr/>
          </p:nvSpPr>
          <p:spPr>
            <a:xfrm>
              <a:off x="6930811" y="1453604"/>
              <a:ext cx="2061620"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SECTOR: Architecture</a:t>
              </a:r>
            </a:p>
          </p:txBody>
        </p:sp>
        <p:sp>
          <p:nvSpPr>
            <p:cNvPr id="145" name="TextBox 144">
              <a:extLst>
                <a:ext uri="{FF2B5EF4-FFF2-40B4-BE49-F238E27FC236}">
                  <a16:creationId xmlns:a16="http://schemas.microsoft.com/office/drawing/2014/main" id="{13F184E4-5F10-F77A-3DDA-D5607005B92F}"/>
                </a:ext>
              </a:extLst>
            </p:cNvPr>
            <p:cNvSpPr txBox="1"/>
            <p:nvPr/>
          </p:nvSpPr>
          <p:spPr>
            <a:xfrm>
              <a:off x="6930811" y="1669504"/>
              <a:ext cx="419525" cy="307777"/>
            </a:xfrm>
            <a:prstGeom prst="rect">
              <a:avLst/>
            </a:prstGeom>
            <a:noFill/>
          </p:spPr>
          <p:txBody>
            <a:bodyPr wrap="square" rtlCol="0">
              <a:spAutoFit/>
            </a:bodyPr>
            <a:lstStyle/>
            <a:p>
              <a:r>
                <a:rPr lang="en-US" sz="1400" dirty="0">
                  <a:solidFill>
                    <a:schemeClr val="bg1"/>
                  </a:solidFill>
                  <a:latin typeface="Avenir Light" panose="020B0402020203020204" pitchFamily="34" charset="77"/>
                </a:rPr>
                <a:t>3.2</a:t>
              </a:r>
            </a:p>
          </p:txBody>
        </p:sp>
      </p:grpSp>
      <p:grpSp>
        <p:nvGrpSpPr>
          <p:cNvPr id="147" name="Group 146">
            <a:extLst>
              <a:ext uri="{FF2B5EF4-FFF2-40B4-BE49-F238E27FC236}">
                <a16:creationId xmlns:a16="http://schemas.microsoft.com/office/drawing/2014/main" id="{18A92144-1236-3D98-B8A6-DD42B58A2E02}"/>
              </a:ext>
            </a:extLst>
          </p:cNvPr>
          <p:cNvGrpSpPr/>
          <p:nvPr/>
        </p:nvGrpSpPr>
        <p:grpSpPr>
          <a:xfrm>
            <a:off x="7191517" y="3574345"/>
            <a:ext cx="3759485" cy="539065"/>
            <a:chOff x="6930811" y="1453604"/>
            <a:chExt cx="3759485" cy="539065"/>
          </a:xfrm>
        </p:grpSpPr>
        <p:sp>
          <p:nvSpPr>
            <p:cNvPr id="153" name="TextBox 152">
              <a:extLst>
                <a:ext uri="{FF2B5EF4-FFF2-40B4-BE49-F238E27FC236}">
                  <a16:creationId xmlns:a16="http://schemas.microsoft.com/office/drawing/2014/main" id="{5D410939-4D33-873B-3D58-3B54F84A503F}"/>
                </a:ext>
              </a:extLst>
            </p:cNvPr>
            <p:cNvSpPr txBox="1"/>
            <p:nvPr/>
          </p:nvSpPr>
          <p:spPr>
            <a:xfrm>
              <a:off x="8628676" y="1654115"/>
              <a:ext cx="2061620" cy="33855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Ensures that a design performs its intended purpose effectively.</a:t>
              </a:r>
            </a:p>
          </p:txBody>
        </p:sp>
        <p:sp>
          <p:nvSpPr>
            <p:cNvPr id="154" name="TextBox 153">
              <a:extLst>
                <a:ext uri="{FF2B5EF4-FFF2-40B4-BE49-F238E27FC236}">
                  <a16:creationId xmlns:a16="http://schemas.microsoft.com/office/drawing/2014/main" id="{D9ADDB24-EEC0-1919-A0D8-0E8322434DDE}"/>
                </a:ext>
              </a:extLst>
            </p:cNvPr>
            <p:cNvSpPr txBox="1"/>
            <p:nvPr/>
          </p:nvSpPr>
          <p:spPr>
            <a:xfrm>
              <a:off x="6930811" y="1453604"/>
              <a:ext cx="2061620"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SECTOR: Functionality</a:t>
              </a:r>
            </a:p>
          </p:txBody>
        </p:sp>
        <p:sp>
          <p:nvSpPr>
            <p:cNvPr id="155" name="TextBox 154">
              <a:extLst>
                <a:ext uri="{FF2B5EF4-FFF2-40B4-BE49-F238E27FC236}">
                  <a16:creationId xmlns:a16="http://schemas.microsoft.com/office/drawing/2014/main" id="{1160BDBA-9409-C2C5-6588-74F16811AFC5}"/>
                </a:ext>
              </a:extLst>
            </p:cNvPr>
            <p:cNvSpPr txBox="1"/>
            <p:nvPr/>
          </p:nvSpPr>
          <p:spPr>
            <a:xfrm>
              <a:off x="6930811" y="1669504"/>
              <a:ext cx="419525" cy="307777"/>
            </a:xfrm>
            <a:prstGeom prst="rect">
              <a:avLst/>
            </a:prstGeom>
            <a:noFill/>
          </p:spPr>
          <p:txBody>
            <a:bodyPr wrap="square" rtlCol="0">
              <a:spAutoFit/>
            </a:bodyPr>
            <a:lstStyle/>
            <a:p>
              <a:r>
                <a:rPr lang="en-US" sz="1400" dirty="0">
                  <a:solidFill>
                    <a:schemeClr val="bg1"/>
                  </a:solidFill>
                  <a:latin typeface="Avenir Light" panose="020B0402020203020204" pitchFamily="34" charset="77"/>
                </a:rPr>
                <a:t>4.9</a:t>
              </a:r>
            </a:p>
          </p:txBody>
        </p:sp>
      </p:grpSp>
      <p:cxnSp>
        <p:nvCxnSpPr>
          <p:cNvPr id="160" name="Straight Connector 159">
            <a:extLst>
              <a:ext uri="{FF2B5EF4-FFF2-40B4-BE49-F238E27FC236}">
                <a16:creationId xmlns:a16="http://schemas.microsoft.com/office/drawing/2014/main" id="{38524212-E231-EC79-9D1A-016E9DB64287}"/>
              </a:ext>
            </a:extLst>
          </p:cNvPr>
          <p:cNvCxnSpPr>
            <a:cxnSpLocks/>
          </p:cNvCxnSpPr>
          <p:nvPr/>
        </p:nvCxnSpPr>
        <p:spPr>
          <a:xfrm>
            <a:off x="7286922" y="4494551"/>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61" name="TextBox 160">
            <a:extLst>
              <a:ext uri="{FF2B5EF4-FFF2-40B4-BE49-F238E27FC236}">
                <a16:creationId xmlns:a16="http://schemas.microsoft.com/office/drawing/2014/main" id="{5D740B47-A292-38C0-FB0C-BF2531CEC44D}"/>
              </a:ext>
            </a:extLst>
          </p:cNvPr>
          <p:cNvSpPr txBox="1"/>
          <p:nvPr/>
        </p:nvSpPr>
        <p:spPr>
          <a:xfrm>
            <a:off x="7191517" y="4557292"/>
            <a:ext cx="3127492" cy="765787"/>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Design is an intentional process of shaping form, function, and meaning. While each discipline applies its own lenses, most design systems are foundational components. Through the lenses of each discipline, we can sculpt, shape, guide behavior and layer meaning.</a:t>
            </a:r>
          </a:p>
        </p:txBody>
      </p:sp>
      <p:cxnSp>
        <p:nvCxnSpPr>
          <p:cNvPr id="163" name="Straight Connector 162">
            <a:extLst>
              <a:ext uri="{FF2B5EF4-FFF2-40B4-BE49-F238E27FC236}">
                <a16:creationId xmlns:a16="http://schemas.microsoft.com/office/drawing/2014/main" id="{BBD179DE-141C-AADE-7CA7-9501D5134BA8}"/>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Rounded Rectangle 11">
            <a:extLst>
              <a:ext uri="{FF2B5EF4-FFF2-40B4-BE49-F238E27FC236}">
                <a16:creationId xmlns:a16="http://schemas.microsoft.com/office/drawing/2014/main" id="{5A97AFF8-01DB-4CDD-4A69-F08AB3A1531A}"/>
              </a:ext>
            </a:extLst>
          </p:cNvPr>
          <p:cNvSpPr/>
          <p:nvPr/>
        </p:nvSpPr>
        <p:spPr>
          <a:xfrm>
            <a:off x="7611041" y="3252684"/>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661D81CA-3B62-E53D-3409-A2BB90066945}"/>
              </a:ext>
            </a:extLst>
          </p:cNvPr>
          <p:cNvSpPr/>
          <p:nvPr/>
        </p:nvSpPr>
        <p:spPr>
          <a:xfrm>
            <a:off x="7869857" y="3257207"/>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393EA47A-2881-D0A9-6FBB-3C5F88A0C2BD}"/>
              </a:ext>
            </a:extLst>
          </p:cNvPr>
          <p:cNvSpPr/>
          <p:nvPr/>
        </p:nvSpPr>
        <p:spPr>
          <a:xfrm>
            <a:off x="8128673" y="3250629"/>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ADE2E3A9-7F38-3816-CC63-8BF2BA7578E6}"/>
              </a:ext>
            </a:extLst>
          </p:cNvPr>
          <p:cNvSpPr/>
          <p:nvPr/>
        </p:nvSpPr>
        <p:spPr>
          <a:xfrm>
            <a:off x="8387489" y="3250628"/>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5EEDDA43-64DF-16B5-8703-EFC65A59529F}"/>
              </a:ext>
            </a:extLst>
          </p:cNvPr>
          <p:cNvSpPr/>
          <p:nvPr/>
        </p:nvSpPr>
        <p:spPr>
          <a:xfrm>
            <a:off x="8646306" y="3248631"/>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4F3CCDC2-48BC-35A4-34E6-3A6312B8341C}"/>
              </a:ext>
            </a:extLst>
          </p:cNvPr>
          <p:cNvSpPr/>
          <p:nvPr/>
        </p:nvSpPr>
        <p:spPr>
          <a:xfrm>
            <a:off x="7611041" y="3881782"/>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EE076B9E-B534-CCFE-E041-66B7D2A850B4}"/>
              </a:ext>
            </a:extLst>
          </p:cNvPr>
          <p:cNvSpPr/>
          <p:nvPr/>
        </p:nvSpPr>
        <p:spPr>
          <a:xfrm>
            <a:off x="7869857" y="3886305"/>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94BBD881-06A9-736A-7C5C-896C68D41BF7}"/>
              </a:ext>
            </a:extLst>
          </p:cNvPr>
          <p:cNvSpPr/>
          <p:nvPr/>
        </p:nvSpPr>
        <p:spPr>
          <a:xfrm>
            <a:off x="8128673" y="3879727"/>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13AFB075-3A0F-045F-A678-34047E20A381}"/>
              </a:ext>
            </a:extLst>
          </p:cNvPr>
          <p:cNvSpPr/>
          <p:nvPr/>
        </p:nvSpPr>
        <p:spPr>
          <a:xfrm>
            <a:off x="8387489" y="3879726"/>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a:extLst>
              <a:ext uri="{FF2B5EF4-FFF2-40B4-BE49-F238E27FC236}">
                <a16:creationId xmlns:a16="http://schemas.microsoft.com/office/drawing/2014/main" id="{93BA3F28-8A10-B5A4-78D2-B8CC14905F49}"/>
              </a:ext>
            </a:extLst>
          </p:cNvPr>
          <p:cNvSpPr/>
          <p:nvPr/>
        </p:nvSpPr>
        <p:spPr>
          <a:xfrm>
            <a:off x="8646306" y="3877729"/>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a:extLst>
              <a:ext uri="{FF2B5EF4-FFF2-40B4-BE49-F238E27FC236}">
                <a16:creationId xmlns:a16="http://schemas.microsoft.com/office/drawing/2014/main" id="{9FCF958A-9EB0-4670-9C0D-8749473F4CFA}"/>
              </a:ext>
            </a:extLst>
          </p:cNvPr>
          <p:cNvSpPr/>
          <p:nvPr/>
        </p:nvSpPr>
        <p:spPr>
          <a:xfrm>
            <a:off x="7599359" y="2639598"/>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a:extLst>
              <a:ext uri="{FF2B5EF4-FFF2-40B4-BE49-F238E27FC236}">
                <a16:creationId xmlns:a16="http://schemas.microsoft.com/office/drawing/2014/main" id="{8B207FCD-1623-B3C8-904D-8E67A1A51D48}"/>
              </a:ext>
            </a:extLst>
          </p:cNvPr>
          <p:cNvSpPr/>
          <p:nvPr/>
        </p:nvSpPr>
        <p:spPr>
          <a:xfrm>
            <a:off x="7858175" y="2644121"/>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61EB7509-DCA5-DB9A-401A-6BF2E18F0F60}"/>
              </a:ext>
            </a:extLst>
          </p:cNvPr>
          <p:cNvSpPr/>
          <p:nvPr/>
        </p:nvSpPr>
        <p:spPr>
          <a:xfrm>
            <a:off x="8116991" y="2637543"/>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F3A4A0DD-88C7-E57B-8D16-79EB91661AD0}"/>
              </a:ext>
            </a:extLst>
          </p:cNvPr>
          <p:cNvSpPr/>
          <p:nvPr/>
        </p:nvSpPr>
        <p:spPr>
          <a:xfrm>
            <a:off x="8375807" y="2637542"/>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a:extLst>
              <a:ext uri="{FF2B5EF4-FFF2-40B4-BE49-F238E27FC236}">
                <a16:creationId xmlns:a16="http://schemas.microsoft.com/office/drawing/2014/main" id="{678870D7-A8BC-E779-08ED-AE8764424902}"/>
              </a:ext>
            </a:extLst>
          </p:cNvPr>
          <p:cNvSpPr/>
          <p:nvPr/>
        </p:nvSpPr>
        <p:spPr>
          <a:xfrm>
            <a:off x="8634624" y="2635545"/>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295F7CC1-FE62-5F66-977F-9981D4ED07F2}"/>
              </a:ext>
            </a:extLst>
          </p:cNvPr>
          <p:cNvSpPr/>
          <p:nvPr/>
        </p:nvSpPr>
        <p:spPr>
          <a:xfrm>
            <a:off x="7599358" y="2027723"/>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a:extLst>
              <a:ext uri="{FF2B5EF4-FFF2-40B4-BE49-F238E27FC236}">
                <a16:creationId xmlns:a16="http://schemas.microsoft.com/office/drawing/2014/main" id="{8E65EAD6-3C95-D27A-C60A-2F441200684B}"/>
              </a:ext>
            </a:extLst>
          </p:cNvPr>
          <p:cNvSpPr/>
          <p:nvPr/>
        </p:nvSpPr>
        <p:spPr>
          <a:xfrm>
            <a:off x="7858174" y="2032246"/>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F125F9A0-EF19-4207-2F8C-25BE23CB82E2}"/>
              </a:ext>
            </a:extLst>
          </p:cNvPr>
          <p:cNvSpPr/>
          <p:nvPr/>
        </p:nvSpPr>
        <p:spPr>
          <a:xfrm>
            <a:off x="8116990" y="2025668"/>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F7076331-903D-3A00-2044-50817D66076C}"/>
              </a:ext>
            </a:extLst>
          </p:cNvPr>
          <p:cNvSpPr/>
          <p:nvPr/>
        </p:nvSpPr>
        <p:spPr>
          <a:xfrm>
            <a:off x="8375806" y="2025667"/>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E4EE441A-C4BA-63D3-19EE-F201D49A3E9F}"/>
              </a:ext>
            </a:extLst>
          </p:cNvPr>
          <p:cNvSpPr/>
          <p:nvPr/>
        </p:nvSpPr>
        <p:spPr>
          <a:xfrm>
            <a:off x="8634623" y="2023670"/>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a:extLst>
              <a:ext uri="{FF2B5EF4-FFF2-40B4-BE49-F238E27FC236}">
                <a16:creationId xmlns:a16="http://schemas.microsoft.com/office/drawing/2014/main" id="{FB473BB3-3A77-8C4D-4FA6-C5E3622406FC}"/>
              </a:ext>
            </a:extLst>
          </p:cNvPr>
          <p:cNvSpPr/>
          <p:nvPr/>
        </p:nvSpPr>
        <p:spPr>
          <a:xfrm>
            <a:off x="7599358" y="1427203"/>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297FD2F6-64BD-3970-62EC-6EA68EC97BBA}"/>
              </a:ext>
            </a:extLst>
          </p:cNvPr>
          <p:cNvSpPr/>
          <p:nvPr/>
        </p:nvSpPr>
        <p:spPr>
          <a:xfrm>
            <a:off x="7858174" y="1431726"/>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5A8EFCF1-5807-C4FE-C656-A0CFA54954B5}"/>
              </a:ext>
            </a:extLst>
          </p:cNvPr>
          <p:cNvSpPr/>
          <p:nvPr/>
        </p:nvSpPr>
        <p:spPr>
          <a:xfrm>
            <a:off x="8116990" y="1425148"/>
            <a:ext cx="200677" cy="150891"/>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ounded Rectangle 47">
            <a:extLst>
              <a:ext uri="{FF2B5EF4-FFF2-40B4-BE49-F238E27FC236}">
                <a16:creationId xmlns:a16="http://schemas.microsoft.com/office/drawing/2014/main" id="{5CC9EE8B-CBE1-439E-3F99-FD90A52C8C19}"/>
              </a:ext>
            </a:extLst>
          </p:cNvPr>
          <p:cNvSpPr/>
          <p:nvPr/>
        </p:nvSpPr>
        <p:spPr>
          <a:xfrm>
            <a:off x="8375806" y="1425147"/>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a:extLst>
              <a:ext uri="{FF2B5EF4-FFF2-40B4-BE49-F238E27FC236}">
                <a16:creationId xmlns:a16="http://schemas.microsoft.com/office/drawing/2014/main" id="{CFE5959D-8E6E-0043-0A9B-40907043F88A}"/>
              </a:ext>
            </a:extLst>
          </p:cNvPr>
          <p:cNvSpPr/>
          <p:nvPr/>
        </p:nvSpPr>
        <p:spPr>
          <a:xfrm>
            <a:off x="8634623" y="1423150"/>
            <a:ext cx="200677" cy="150891"/>
          </a:xfrm>
          <a:prstGeom prst="roundRect">
            <a:avLst>
              <a:gd name="adj" fmla="val 50000"/>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658320A-B46A-DDEC-5FB1-D8773A4CF1FC}"/>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784577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9258E5-AFC4-2B97-981F-618EA9C570DE}"/>
            </a:ext>
          </a:extLst>
        </p:cNvPr>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0D37C4C0-9276-EBF8-4B7D-DB0ED3A8B9EA}"/>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2C53EB42-2218-7C3F-7B01-60CE10DADAA3}"/>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006 // 045</a:t>
            </a:r>
          </a:p>
        </p:txBody>
      </p:sp>
      <p:sp>
        <p:nvSpPr>
          <p:cNvPr id="3" name="TextBox 2">
            <a:extLst>
              <a:ext uri="{FF2B5EF4-FFF2-40B4-BE49-F238E27FC236}">
                <a16:creationId xmlns:a16="http://schemas.microsoft.com/office/drawing/2014/main" id="{E80FF2F1-D190-5AAA-E1AD-C9C04A85D116}"/>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CHARTS</a:t>
            </a:r>
          </a:p>
        </p:txBody>
      </p:sp>
      <p:cxnSp>
        <p:nvCxnSpPr>
          <p:cNvPr id="4" name="Straight Connector 3">
            <a:extLst>
              <a:ext uri="{FF2B5EF4-FFF2-40B4-BE49-F238E27FC236}">
                <a16:creationId xmlns:a16="http://schemas.microsoft.com/office/drawing/2014/main" id="{0F2744D5-5D5A-762E-2DDB-594E7D55A547}"/>
              </a:ext>
            </a:extLst>
          </p:cNvPr>
          <p:cNvCxnSpPr>
            <a:cxnSpLocks/>
          </p:cNvCxnSpPr>
          <p:nvPr/>
        </p:nvCxnSpPr>
        <p:spPr>
          <a:xfrm>
            <a:off x="1267097" y="580615"/>
            <a:ext cx="1062468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CBFBF303-C13D-7F60-9AEA-B740E6E659E0}"/>
              </a:ext>
            </a:extLst>
          </p:cNvPr>
          <p:cNvGrpSpPr/>
          <p:nvPr/>
        </p:nvGrpSpPr>
        <p:grpSpPr>
          <a:xfrm>
            <a:off x="638516" y="1436910"/>
            <a:ext cx="3405538" cy="2057400"/>
            <a:chOff x="2292178" y="1334737"/>
            <a:chExt cx="3405538" cy="2057400"/>
          </a:xfrm>
        </p:grpSpPr>
        <p:grpSp>
          <p:nvGrpSpPr>
            <p:cNvPr id="37" name="Group 36">
              <a:extLst>
                <a:ext uri="{FF2B5EF4-FFF2-40B4-BE49-F238E27FC236}">
                  <a16:creationId xmlns:a16="http://schemas.microsoft.com/office/drawing/2014/main" id="{C3A32F8F-B04F-2054-BDD1-D8ED38B9C1B9}"/>
                </a:ext>
              </a:extLst>
            </p:cNvPr>
            <p:cNvGrpSpPr/>
            <p:nvPr/>
          </p:nvGrpSpPr>
          <p:grpSpPr>
            <a:xfrm>
              <a:off x="2700515" y="1334737"/>
              <a:ext cx="2997201" cy="2057400"/>
              <a:chOff x="629920" y="4047942"/>
              <a:chExt cx="2997201" cy="2057400"/>
            </a:xfrm>
          </p:grpSpPr>
          <p:grpSp>
            <p:nvGrpSpPr>
              <p:cNvPr id="38" name="Group 37">
                <a:extLst>
                  <a:ext uri="{FF2B5EF4-FFF2-40B4-BE49-F238E27FC236}">
                    <a16:creationId xmlns:a16="http://schemas.microsoft.com/office/drawing/2014/main" id="{F4FCB814-DB30-1D31-913E-A971DA0A73C1}"/>
                  </a:ext>
                </a:extLst>
              </p:cNvPr>
              <p:cNvGrpSpPr/>
              <p:nvPr/>
            </p:nvGrpSpPr>
            <p:grpSpPr>
              <a:xfrm>
                <a:off x="629920" y="4131407"/>
                <a:ext cx="2997201" cy="267798"/>
                <a:chOff x="629920" y="4251969"/>
                <a:chExt cx="2997201" cy="267798"/>
              </a:xfrm>
            </p:grpSpPr>
            <p:sp>
              <p:nvSpPr>
                <p:cNvPr id="59" name="TextBox 58">
                  <a:extLst>
                    <a:ext uri="{FF2B5EF4-FFF2-40B4-BE49-F238E27FC236}">
                      <a16:creationId xmlns:a16="http://schemas.microsoft.com/office/drawing/2014/main" id="{CFCBDE82-5607-739B-4DD4-D94C3D47E4C7}"/>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Interiors</a:t>
                  </a:r>
                </a:p>
              </p:txBody>
            </p:sp>
            <p:sp>
              <p:nvSpPr>
                <p:cNvPr id="60" name="TextBox 59">
                  <a:extLst>
                    <a:ext uri="{FF2B5EF4-FFF2-40B4-BE49-F238E27FC236}">
                      <a16:creationId xmlns:a16="http://schemas.microsoft.com/office/drawing/2014/main" id="{1CD434E8-196B-E19E-4636-56852360151D}"/>
                    </a:ext>
                  </a:extLst>
                </p:cNvPr>
                <p:cNvSpPr txBox="1"/>
                <p:nvPr/>
              </p:nvSpPr>
              <p:spPr>
                <a:xfrm>
                  <a:off x="1897147" y="4251969"/>
                  <a:ext cx="163483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Translating spatial systems</a:t>
                  </a:r>
                </a:p>
              </p:txBody>
            </p:sp>
            <p:cxnSp>
              <p:nvCxnSpPr>
                <p:cNvPr id="61" name="Straight Connector 60">
                  <a:extLst>
                    <a:ext uri="{FF2B5EF4-FFF2-40B4-BE49-F238E27FC236}">
                      <a16:creationId xmlns:a16="http://schemas.microsoft.com/office/drawing/2014/main" id="{3A97C70D-C8A9-7639-0D2F-E71260F08C0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F406822C-4438-4112-6D2D-5274DB195DFF}"/>
                  </a:ext>
                </a:extLst>
              </p:cNvPr>
              <p:cNvGrpSpPr/>
              <p:nvPr/>
            </p:nvGrpSpPr>
            <p:grpSpPr>
              <a:xfrm>
                <a:off x="629920" y="4454792"/>
                <a:ext cx="2997201" cy="267798"/>
                <a:chOff x="629920" y="4251969"/>
                <a:chExt cx="2997201" cy="267798"/>
              </a:xfrm>
            </p:grpSpPr>
            <p:sp>
              <p:nvSpPr>
                <p:cNvPr id="56" name="TextBox 55">
                  <a:extLst>
                    <a:ext uri="{FF2B5EF4-FFF2-40B4-BE49-F238E27FC236}">
                      <a16:creationId xmlns:a16="http://schemas.microsoft.com/office/drawing/2014/main" id="{A24F9F7E-FCEC-9778-6ACD-2FAE915D12B9}"/>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Product</a:t>
                  </a:r>
                </a:p>
              </p:txBody>
            </p:sp>
            <p:sp>
              <p:nvSpPr>
                <p:cNvPr id="57" name="TextBox 56">
                  <a:extLst>
                    <a:ext uri="{FF2B5EF4-FFF2-40B4-BE49-F238E27FC236}">
                      <a16:creationId xmlns:a16="http://schemas.microsoft.com/office/drawing/2014/main" id="{F8D1BB7C-B929-6EAC-D0D6-94409FEED19C}"/>
                    </a:ext>
                  </a:extLst>
                </p:cNvPr>
                <p:cNvSpPr txBox="1"/>
                <p:nvPr/>
              </p:nvSpPr>
              <p:spPr>
                <a:xfrm>
                  <a:off x="1897147" y="4251969"/>
                  <a:ext cx="1634839"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Harmonizing usability</a:t>
                  </a:r>
                </a:p>
              </p:txBody>
            </p:sp>
            <p:cxnSp>
              <p:nvCxnSpPr>
                <p:cNvPr id="58" name="Straight Connector 57">
                  <a:extLst>
                    <a:ext uri="{FF2B5EF4-FFF2-40B4-BE49-F238E27FC236}">
                      <a16:creationId xmlns:a16="http://schemas.microsoft.com/office/drawing/2014/main" id="{2CA69752-94B4-4151-695E-EA1506EDBC3D}"/>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4756AC32-120E-FF4F-D4C2-1EC773B276C3}"/>
                  </a:ext>
                </a:extLst>
              </p:cNvPr>
              <p:cNvGrpSpPr/>
              <p:nvPr/>
            </p:nvGrpSpPr>
            <p:grpSpPr>
              <a:xfrm>
                <a:off x="629920" y="4800480"/>
                <a:ext cx="2997201" cy="267798"/>
                <a:chOff x="629920" y="4251969"/>
                <a:chExt cx="2997201" cy="267798"/>
              </a:xfrm>
            </p:grpSpPr>
            <p:sp>
              <p:nvSpPr>
                <p:cNvPr id="53" name="TextBox 52">
                  <a:extLst>
                    <a:ext uri="{FF2B5EF4-FFF2-40B4-BE49-F238E27FC236}">
                      <a16:creationId xmlns:a16="http://schemas.microsoft.com/office/drawing/2014/main" id="{EECB5310-E292-09E2-E318-55DE6607DA71}"/>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UI/UX</a:t>
                  </a:r>
                </a:p>
              </p:txBody>
            </p:sp>
            <p:sp>
              <p:nvSpPr>
                <p:cNvPr id="54" name="TextBox 53">
                  <a:extLst>
                    <a:ext uri="{FF2B5EF4-FFF2-40B4-BE49-F238E27FC236}">
                      <a16:creationId xmlns:a16="http://schemas.microsoft.com/office/drawing/2014/main" id="{B90C9497-F14B-1A8F-56CD-691BF45611BD}"/>
                    </a:ext>
                  </a:extLst>
                </p:cNvPr>
                <p:cNvSpPr txBox="1"/>
                <p:nvPr/>
              </p:nvSpPr>
              <p:spPr>
                <a:xfrm>
                  <a:off x="1897147" y="4251969"/>
                  <a:ext cx="1534019"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Intuitive interaction systems</a:t>
                  </a:r>
                </a:p>
              </p:txBody>
            </p:sp>
            <p:cxnSp>
              <p:nvCxnSpPr>
                <p:cNvPr id="55" name="Straight Connector 54">
                  <a:extLst>
                    <a:ext uri="{FF2B5EF4-FFF2-40B4-BE49-F238E27FC236}">
                      <a16:creationId xmlns:a16="http://schemas.microsoft.com/office/drawing/2014/main" id="{B458605B-071D-D84D-46FD-DC4D6482BBD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DBF91E9-12BC-8542-D97C-9C2000766FCF}"/>
                  </a:ext>
                </a:extLst>
              </p:cNvPr>
              <p:cNvGrpSpPr/>
              <p:nvPr/>
            </p:nvGrpSpPr>
            <p:grpSpPr>
              <a:xfrm>
                <a:off x="629920" y="5146168"/>
                <a:ext cx="2997201" cy="267798"/>
                <a:chOff x="629920" y="4251969"/>
                <a:chExt cx="2997201" cy="267798"/>
              </a:xfrm>
            </p:grpSpPr>
            <p:sp>
              <p:nvSpPr>
                <p:cNvPr id="50" name="TextBox 49">
                  <a:extLst>
                    <a:ext uri="{FF2B5EF4-FFF2-40B4-BE49-F238E27FC236}">
                      <a16:creationId xmlns:a16="http://schemas.microsoft.com/office/drawing/2014/main" id="{8A2493FF-7A90-0CF4-31AF-C2FB2473B2CC}"/>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Detail</a:t>
                  </a:r>
                </a:p>
              </p:txBody>
            </p:sp>
            <p:sp>
              <p:nvSpPr>
                <p:cNvPr id="51" name="TextBox 50">
                  <a:extLst>
                    <a:ext uri="{FF2B5EF4-FFF2-40B4-BE49-F238E27FC236}">
                      <a16:creationId xmlns:a16="http://schemas.microsoft.com/office/drawing/2014/main" id="{144E0684-7F60-2BB0-7151-D2EF2F796A49}"/>
                    </a:ext>
                  </a:extLst>
                </p:cNvPr>
                <p:cNvSpPr txBox="1"/>
                <p:nvPr/>
              </p:nvSpPr>
              <p:spPr>
                <a:xfrm>
                  <a:off x="1897147" y="4251969"/>
                  <a:ext cx="1438763"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Refine edges and craft</a:t>
                  </a:r>
                </a:p>
              </p:txBody>
            </p:sp>
            <p:cxnSp>
              <p:nvCxnSpPr>
                <p:cNvPr id="52" name="Straight Connector 51">
                  <a:extLst>
                    <a:ext uri="{FF2B5EF4-FFF2-40B4-BE49-F238E27FC236}">
                      <a16:creationId xmlns:a16="http://schemas.microsoft.com/office/drawing/2014/main" id="{0C6CD7AE-55F3-7367-A652-92BF8C1ED136}"/>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C243A71C-B002-66D3-FE47-D83D123134C8}"/>
                  </a:ext>
                </a:extLst>
              </p:cNvPr>
              <p:cNvGrpSpPr/>
              <p:nvPr/>
            </p:nvGrpSpPr>
            <p:grpSpPr>
              <a:xfrm>
                <a:off x="629920" y="5491856"/>
                <a:ext cx="2997201" cy="267798"/>
                <a:chOff x="629920" y="4251969"/>
                <a:chExt cx="2997201" cy="267798"/>
              </a:xfrm>
            </p:grpSpPr>
            <p:sp>
              <p:nvSpPr>
                <p:cNvPr id="47" name="TextBox 46">
                  <a:extLst>
                    <a:ext uri="{FF2B5EF4-FFF2-40B4-BE49-F238E27FC236}">
                      <a16:creationId xmlns:a16="http://schemas.microsoft.com/office/drawing/2014/main" id="{B263CA10-3B23-DE2D-A83E-EBDC7B3B3560}"/>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Product Form</a:t>
                  </a:r>
                </a:p>
              </p:txBody>
            </p:sp>
            <p:sp>
              <p:nvSpPr>
                <p:cNvPr id="48" name="TextBox 47">
                  <a:extLst>
                    <a:ext uri="{FF2B5EF4-FFF2-40B4-BE49-F238E27FC236}">
                      <a16:creationId xmlns:a16="http://schemas.microsoft.com/office/drawing/2014/main" id="{B75E44AF-7CE9-5CE1-9731-ABA0E11BDF6A}"/>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Shape and volume</a:t>
                  </a:r>
                </a:p>
              </p:txBody>
            </p:sp>
            <p:cxnSp>
              <p:nvCxnSpPr>
                <p:cNvPr id="49" name="Straight Connector 48">
                  <a:extLst>
                    <a:ext uri="{FF2B5EF4-FFF2-40B4-BE49-F238E27FC236}">
                      <a16:creationId xmlns:a16="http://schemas.microsoft.com/office/drawing/2014/main" id="{25240F3B-B5BB-D19D-96D8-17C6C8E16E5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E5A60A0B-5214-A1B7-68E9-5EB3C9D127D6}"/>
                  </a:ext>
                </a:extLst>
              </p:cNvPr>
              <p:cNvGrpSpPr/>
              <p:nvPr/>
            </p:nvGrpSpPr>
            <p:grpSpPr>
              <a:xfrm>
                <a:off x="629920" y="4047942"/>
                <a:ext cx="2997201" cy="2057400"/>
                <a:chOff x="629920" y="2462367"/>
                <a:chExt cx="2997201" cy="2057400"/>
              </a:xfrm>
            </p:grpSpPr>
            <p:sp>
              <p:nvSpPr>
                <p:cNvPr id="44" name="TextBox 43">
                  <a:extLst>
                    <a:ext uri="{FF2B5EF4-FFF2-40B4-BE49-F238E27FC236}">
                      <a16:creationId xmlns:a16="http://schemas.microsoft.com/office/drawing/2014/main" id="{EAEC3443-767B-D465-05D5-84F9C14D3D41}"/>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Functionality</a:t>
                  </a:r>
                </a:p>
              </p:txBody>
            </p:sp>
            <p:sp>
              <p:nvSpPr>
                <p:cNvPr id="45" name="TextBox 44">
                  <a:extLst>
                    <a:ext uri="{FF2B5EF4-FFF2-40B4-BE49-F238E27FC236}">
                      <a16:creationId xmlns:a16="http://schemas.microsoft.com/office/drawing/2014/main" id="{8C60804C-A9AC-7C5C-5869-D7C00B092995}"/>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System assurances</a:t>
                  </a:r>
                </a:p>
              </p:txBody>
            </p:sp>
            <p:cxnSp>
              <p:nvCxnSpPr>
                <p:cNvPr id="46" name="Straight Connector 45">
                  <a:extLst>
                    <a:ext uri="{FF2B5EF4-FFF2-40B4-BE49-F238E27FC236}">
                      <a16:creationId xmlns:a16="http://schemas.microsoft.com/office/drawing/2014/main" id="{B0825F9E-26FD-28F7-C858-5CC941B1C2C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55BC2EF-7191-49B6-68B3-D675C543D139}"/>
                    </a:ext>
                  </a:extLst>
                </p:cNvPr>
                <p:cNvCxnSpPr>
                  <a:cxnSpLocks/>
                </p:cNvCxnSpPr>
                <p:nvPr/>
              </p:nvCxnSpPr>
              <p:spPr>
                <a:xfrm>
                  <a:off x="629920" y="24623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cxnSp>
          <p:nvCxnSpPr>
            <p:cNvPr id="14" name="Straight Connector 13">
              <a:extLst>
                <a:ext uri="{FF2B5EF4-FFF2-40B4-BE49-F238E27FC236}">
                  <a16:creationId xmlns:a16="http://schemas.microsoft.com/office/drawing/2014/main" id="{3A04C6AC-E995-B764-C300-17543F03E32E}"/>
                </a:ext>
              </a:extLst>
            </p:cNvPr>
            <p:cNvCxnSpPr>
              <a:cxnSpLocks/>
            </p:cNvCxnSpPr>
            <p:nvPr/>
          </p:nvCxnSpPr>
          <p:spPr>
            <a:xfrm flipV="1">
              <a:off x="3872609"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7C3967DA-0CFC-6AAA-F130-83DE2D1ED15D}"/>
                </a:ext>
              </a:extLst>
            </p:cNvPr>
            <p:cNvSpPr/>
            <p:nvPr/>
          </p:nvSpPr>
          <p:spPr>
            <a:xfrm>
              <a:off x="2292178" y="1334738"/>
              <a:ext cx="402866" cy="205681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F5D1D90-937C-20F8-B597-4CB8EAC10546}"/>
                </a:ext>
              </a:extLst>
            </p:cNvPr>
            <p:cNvSpPr txBox="1"/>
            <p:nvPr/>
          </p:nvSpPr>
          <p:spPr>
            <a:xfrm rot="16200000">
              <a:off x="1571643" y="2224642"/>
              <a:ext cx="1843938" cy="27699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Conception</a:t>
              </a:r>
            </a:p>
          </p:txBody>
        </p:sp>
      </p:grpSp>
      <p:cxnSp>
        <p:nvCxnSpPr>
          <p:cNvPr id="62" name="Straight Connector 61">
            <a:extLst>
              <a:ext uri="{FF2B5EF4-FFF2-40B4-BE49-F238E27FC236}">
                <a16:creationId xmlns:a16="http://schemas.microsoft.com/office/drawing/2014/main" id="{9C5D7112-2DAA-D8C3-C370-2FC1EAFB1BE8}"/>
              </a:ext>
            </a:extLst>
          </p:cNvPr>
          <p:cNvCxnSpPr/>
          <p:nvPr/>
        </p:nvCxnSpPr>
        <p:spPr>
          <a:xfrm>
            <a:off x="4044054" y="1436910"/>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25" name="Group 224">
            <a:extLst>
              <a:ext uri="{FF2B5EF4-FFF2-40B4-BE49-F238E27FC236}">
                <a16:creationId xmlns:a16="http://schemas.microsoft.com/office/drawing/2014/main" id="{8ECBB74E-A031-146C-5A86-D555430627B2}"/>
              </a:ext>
            </a:extLst>
          </p:cNvPr>
          <p:cNvGrpSpPr/>
          <p:nvPr/>
        </p:nvGrpSpPr>
        <p:grpSpPr>
          <a:xfrm>
            <a:off x="1046853" y="3670123"/>
            <a:ext cx="2997201" cy="267798"/>
            <a:chOff x="629920" y="4251969"/>
            <a:chExt cx="2997201" cy="267798"/>
          </a:xfrm>
        </p:grpSpPr>
        <p:sp>
          <p:nvSpPr>
            <p:cNvPr id="247" name="TextBox 246">
              <a:extLst>
                <a:ext uri="{FF2B5EF4-FFF2-40B4-BE49-F238E27FC236}">
                  <a16:creationId xmlns:a16="http://schemas.microsoft.com/office/drawing/2014/main" id="{B86EA017-3780-6307-8598-6CC57D0CC813}"/>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Digital</a:t>
              </a:r>
            </a:p>
          </p:txBody>
        </p:sp>
        <p:sp>
          <p:nvSpPr>
            <p:cNvPr id="248" name="TextBox 247">
              <a:extLst>
                <a:ext uri="{FF2B5EF4-FFF2-40B4-BE49-F238E27FC236}">
                  <a16:creationId xmlns:a16="http://schemas.microsoft.com/office/drawing/2014/main" id="{587751CB-DB4E-8CA5-D90D-7D545D82E356}"/>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Translate prototypes</a:t>
              </a:r>
            </a:p>
          </p:txBody>
        </p:sp>
        <p:cxnSp>
          <p:nvCxnSpPr>
            <p:cNvPr id="249" name="Straight Connector 248">
              <a:extLst>
                <a:ext uri="{FF2B5EF4-FFF2-40B4-BE49-F238E27FC236}">
                  <a16:creationId xmlns:a16="http://schemas.microsoft.com/office/drawing/2014/main" id="{7B8399A7-829F-EC23-93AA-4C71ABB68906}"/>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26" name="Group 225">
            <a:extLst>
              <a:ext uri="{FF2B5EF4-FFF2-40B4-BE49-F238E27FC236}">
                <a16:creationId xmlns:a16="http://schemas.microsoft.com/office/drawing/2014/main" id="{862401D4-7999-7E0B-1C3D-3DD4178C0B52}"/>
              </a:ext>
            </a:extLst>
          </p:cNvPr>
          <p:cNvGrpSpPr/>
          <p:nvPr/>
        </p:nvGrpSpPr>
        <p:grpSpPr>
          <a:xfrm>
            <a:off x="1046853" y="3993508"/>
            <a:ext cx="2997201" cy="267798"/>
            <a:chOff x="629920" y="4251969"/>
            <a:chExt cx="2997201" cy="267798"/>
          </a:xfrm>
        </p:grpSpPr>
        <p:sp>
          <p:nvSpPr>
            <p:cNvPr id="244" name="TextBox 243">
              <a:extLst>
                <a:ext uri="{FF2B5EF4-FFF2-40B4-BE49-F238E27FC236}">
                  <a16:creationId xmlns:a16="http://schemas.microsoft.com/office/drawing/2014/main" id="{824780C4-002A-2592-087C-50C9CFE5363F}"/>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Packaging</a:t>
              </a:r>
            </a:p>
          </p:txBody>
        </p:sp>
        <p:sp>
          <p:nvSpPr>
            <p:cNvPr id="245" name="TextBox 244">
              <a:extLst>
                <a:ext uri="{FF2B5EF4-FFF2-40B4-BE49-F238E27FC236}">
                  <a16:creationId xmlns:a16="http://schemas.microsoft.com/office/drawing/2014/main" id="{3C5C4470-1163-37D9-8300-450BED3C6233}"/>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Engineering </a:t>
              </a:r>
              <a:r>
                <a:rPr lang="en-US" sz="800" dirty="0" err="1">
                  <a:solidFill>
                    <a:schemeClr val="bg1"/>
                  </a:solidFill>
                  <a:latin typeface="Avenir Book" panose="02000503020000020003" pitchFamily="2" charset="0"/>
                </a:rPr>
                <a:t>dielines</a:t>
              </a:r>
              <a:endParaRPr lang="en-US" sz="800" dirty="0">
                <a:solidFill>
                  <a:schemeClr val="bg1"/>
                </a:solidFill>
                <a:latin typeface="Avenir Book" panose="02000503020000020003" pitchFamily="2" charset="0"/>
              </a:endParaRPr>
            </a:p>
          </p:txBody>
        </p:sp>
        <p:cxnSp>
          <p:nvCxnSpPr>
            <p:cNvPr id="246" name="Straight Connector 245">
              <a:extLst>
                <a:ext uri="{FF2B5EF4-FFF2-40B4-BE49-F238E27FC236}">
                  <a16:creationId xmlns:a16="http://schemas.microsoft.com/office/drawing/2014/main" id="{F43E4327-A6AD-3C89-5446-7C89D6A9A57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27" name="Group 226">
            <a:extLst>
              <a:ext uri="{FF2B5EF4-FFF2-40B4-BE49-F238E27FC236}">
                <a16:creationId xmlns:a16="http://schemas.microsoft.com/office/drawing/2014/main" id="{E89477E7-FAAC-D5C7-0CDA-A1A2FFC47D45}"/>
              </a:ext>
            </a:extLst>
          </p:cNvPr>
          <p:cNvGrpSpPr/>
          <p:nvPr/>
        </p:nvGrpSpPr>
        <p:grpSpPr>
          <a:xfrm>
            <a:off x="1046853" y="4339196"/>
            <a:ext cx="2997201" cy="267798"/>
            <a:chOff x="629920" y="4251969"/>
            <a:chExt cx="2997201" cy="267798"/>
          </a:xfrm>
        </p:grpSpPr>
        <p:sp>
          <p:nvSpPr>
            <p:cNvPr id="241" name="TextBox 240">
              <a:extLst>
                <a:ext uri="{FF2B5EF4-FFF2-40B4-BE49-F238E27FC236}">
                  <a16:creationId xmlns:a16="http://schemas.microsoft.com/office/drawing/2014/main" id="{D04C168B-C704-A663-25EA-E9BA16D8009A}"/>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Service</a:t>
              </a:r>
            </a:p>
          </p:txBody>
        </p:sp>
        <p:sp>
          <p:nvSpPr>
            <p:cNvPr id="242" name="TextBox 241">
              <a:extLst>
                <a:ext uri="{FF2B5EF4-FFF2-40B4-BE49-F238E27FC236}">
                  <a16:creationId xmlns:a16="http://schemas.microsoft.com/office/drawing/2014/main" id="{E1B464FA-17D6-A5CD-D9DF-DFD8FDAB6566}"/>
                </a:ext>
              </a:extLst>
            </p:cNvPr>
            <p:cNvSpPr txBox="1"/>
            <p:nvPr/>
          </p:nvSpPr>
          <p:spPr>
            <a:xfrm>
              <a:off x="1897147" y="4251969"/>
              <a:ext cx="1585961"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Operational workflow</a:t>
              </a:r>
            </a:p>
          </p:txBody>
        </p:sp>
        <p:cxnSp>
          <p:nvCxnSpPr>
            <p:cNvPr id="243" name="Straight Connector 242">
              <a:extLst>
                <a:ext uri="{FF2B5EF4-FFF2-40B4-BE49-F238E27FC236}">
                  <a16:creationId xmlns:a16="http://schemas.microsoft.com/office/drawing/2014/main" id="{370A1F40-A9A1-87E3-C376-48096C462F8D}"/>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28" name="Group 227">
            <a:extLst>
              <a:ext uri="{FF2B5EF4-FFF2-40B4-BE49-F238E27FC236}">
                <a16:creationId xmlns:a16="http://schemas.microsoft.com/office/drawing/2014/main" id="{83336096-BEA7-3362-A730-A3A5646D6AF3}"/>
              </a:ext>
            </a:extLst>
          </p:cNvPr>
          <p:cNvGrpSpPr/>
          <p:nvPr/>
        </p:nvGrpSpPr>
        <p:grpSpPr>
          <a:xfrm>
            <a:off x="1046853" y="4684884"/>
            <a:ext cx="2997201" cy="267798"/>
            <a:chOff x="629920" y="4251969"/>
            <a:chExt cx="2997201" cy="267798"/>
          </a:xfrm>
        </p:grpSpPr>
        <p:sp>
          <p:nvSpPr>
            <p:cNvPr id="238" name="TextBox 237">
              <a:extLst>
                <a:ext uri="{FF2B5EF4-FFF2-40B4-BE49-F238E27FC236}">
                  <a16:creationId xmlns:a16="http://schemas.microsoft.com/office/drawing/2014/main" id="{CAC78DFF-DE4D-A238-DFFC-4BFA91BD10B3}"/>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Strategy</a:t>
              </a:r>
            </a:p>
          </p:txBody>
        </p:sp>
        <p:sp>
          <p:nvSpPr>
            <p:cNvPr id="239" name="TextBox 238">
              <a:extLst>
                <a:ext uri="{FF2B5EF4-FFF2-40B4-BE49-F238E27FC236}">
                  <a16:creationId xmlns:a16="http://schemas.microsoft.com/office/drawing/2014/main" id="{57DB3742-2266-B7C8-4499-E6F8E3B999AD}"/>
                </a:ext>
              </a:extLst>
            </p:cNvPr>
            <p:cNvSpPr txBox="1"/>
            <p:nvPr/>
          </p:nvSpPr>
          <p:spPr>
            <a:xfrm>
              <a:off x="1897147" y="4251969"/>
              <a:ext cx="153401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Convert insights </a:t>
              </a:r>
            </a:p>
          </p:txBody>
        </p:sp>
        <p:cxnSp>
          <p:nvCxnSpPr>
            <p:cNvPr id="240" name="Straight Connector 239">
              <a:extLst>
                <a:ext uri="{FF2B5EF4-FFF2-40B4-BE49-F238E27FC236}">
                  <a16:creationId xmlns:a16="http://schemas.microsoft.com/office/drawing/2014/main" id="{5FB6058D-1ECE-2038-6C75-84A918F7896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29" name="Group 228">
            <a:extLst>
              <a:ext uri="{FF2B5EF4-FFF2-40B4-BE49-F238E27FC236}">
                <a16:creationId xmlns:a16="http://schemas.microsoft.com/office/drawing/2014/main" id="{0EB7769C-8D33-B96B-6260-3CB11F740203}"/>
              </a:ext>
            </a:extLst>
          </p:cNvPr>
          <p:cNvGrpSpPr/>
          <p:nvPr/>
        </p:nvGrpSpPr>
        <p:grpSpPr>
          <a:xfrm>
            <a:off x="1046853" y="5030572"/>
            <a:ext cx="2997201" cy="267798"/>
            <a:chOff x="629920" y="4251969"/>
            <a:chExt cx="2997201" cy="267798"/>
          </a:xfrm>
        </p:grpSpPr>
        <p:sp>
          <p:nvSpPr>
            <p:cNvPr id="235" name="TextBox 234">
              <a:extLst>
                <a:ext uri="{FF2B5EF4-FFF2-40B4-BE49-F238E27FC236}">
                  <a16:creationId xmlns:a16="http://schemas.microsoft.com/office/drawing/2014/main" id="{9DE49A62-7583-2CDB-F73C-6FDF0DCC2ABC}"/>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Brand</a:t>
              </a:r>
            </a:p>
          </p:txBody>
        </p:sp>
        <p:sp>
          <p:nvSpPr>
            <p:cNvPr id="236" name="TextBox 235">
              <a:extLst>
                <a:ext uri="{FF2B5EF4-FFF2-40B4-BE49-F238E27FC236}">
                  <a16:creationId xmlns:a16="http://schemas.microsoft.com/office/drawing/2014/main" id="{A8CF6041-DF26-21DD-9041-F5B6A6D16E2A}"/>
                </a:ext>
              </a:extLst>
            </p:cNvPr>
            <p:cNvSpPr txBox="1"/>
            <p:nvPr/>
          </p:nvSpPr>
          <p:spPr>
            <a:xfrm>
              <a:off x="1897147" y="4251969"/>
              <a:ext cx="1629299"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Cohesive assets</a:t>
              </a:r>
            </a:p>
          </p:txBody>
        </p:sp>
        <p:cxnSp>
          <p:nvCxnSpPr>
            <p:cNvPr id="237" name="Straight Connector 236">
              <a:extLst>
                <a:ext uri="{FF2B5EF4-FFF2-40B4-BE49-F238E27FC236}">
                  <a16:creationId xmlns:a16="http://schemas.microsoft.com/office/drawing/2014/main" id="{B35D69A4-A398-DB46-EB11-AA91F43CF4E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30" name="Group 229">
            <a:extLst>
              <a:ext uri="{FF2B5EF4-FFF2-40B4-BE49-F238E27FC236}">
                <a16:creationId xmlns:a16="http://schemas.microsoft.com/office/drawing/2014/main" id="{86418073-97E3-068E-5CBA-4E0CC2687FB4}"/>
              </a:ext>
            </a:extLst>
          </p:cNvPr>
          <p:cNvGrpSpPr/>
          <p:nvPr/>
        </p:nvGrpSpPr>
        <p:grpSpPr>
          <a:xfrm>
            <a:off x="1046853" y="3586658"/>
            <a:ext cx="2997201" cy="2057400"/>
            <a:chOff x="629920" y="2462367"/>
            <a:chExt cx="2997201" cy="2057400"/>
          </a:xfrm>
        </p:grpSpPr>
        <p:sp>
          <p:nvSpPr>
            <p:cNvPr id="231" name="TextBox 230">
              <a:extLst>
                <a:ext uri="{FF2B5EF4-FFF2-40B4-BE49-F238E27FC236}">
                  <a16:creationId xmlns:a16="http://schemas.microsoft.com/office/drawing/2014/main" id="{B1C862C2-9ED1-F6EF-F058-812F66E725B1}"/>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Environmental</a:t>
              </a:r>
            </a:p>
          </p:txBody>
        </p:sp>
        <p:sp>
          <p:nvSpPr>
            <p:cNvPr id="232" name="TextBox 231">
              <a:extLst>
                <a:ext uri="{FF2B5EF4-FFF2-40B4-BE49-F238E27FC236}">
                  <a16:creationId xmlns:a16="http://schemas.microsoft.com/office/drawing/2014/main" id="{FE7DC9CD-1284-800E-2D53-42DD55A3A2C9}"/>
                </a:ext>
              </a:extLst>
            </p:cNvPr>
            <p:cNvSpPr txBox="1"/>
            <p:nvPr/>
          </p:nvSpPr>
          <p:spPr>
            <a:xfrm>
              <a:off x="1897147" y="4251969"/>
              <a:ext cx="1629301"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Specify circulation</a:t>
              </a:r>
            </a:p>
          </p:txBody>
        </p:sp>
        <p:cxnSp>
          <p:nvCxnSpPr>
            <p:cNvPr id="233" name="Straight Connector 232">
              <a:extLst>
                <a:ext uri="{FF2B5EF4-FFF2-40B4-BE49-F238E27FC236}">
                  <a16:creationId xmlns:a16="http://schemas.microsoft.com/office/drawing/2014/main" id="{64EBC1ED-B5A0-B3DB-8334-D67516075DA2}"/>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4" name="Straight Connector 233">
              <a:extLst>
                <a:ext uri="{FF2B5EF4-FFF2-40B4-BE49-F238E27FC236}">
                  <a16:creationId xmlns:a16="http://schemas.microsoft.com/office/drawing/2014/main" id="{968551A8-5487-C723-AB90-9BA29450ECD9}"/>
                </a:ext>
              </a:extLst>
            </p:cNvPr>
            <p:cNvCxnSpPr>
              <a:cxnSpLocks/>
            </p:cNvCxnSpPr>
            <p:nvPr/>
          </p:nvCxnSpPr>
          <p:spPr>
            <a:xfrm>
              <a:off x="629920" y="24623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cxnSp>
        <p:nvCxnSpPr>
          <p:cNvPr id="222" name="Straight Connector 221">
            <a:extLst>
              <a:ext uri="{FF2B5EF4-FFF2-40B4-BE49-F238E27FC236}">
                <a16:creationId xmlns:a16="http://schemas.microsoft.com/office/drawing/2014/main" id="{2B0562C4-905C-8D2D-79EE-E2D24F194904}"/>
              </a:ext>
            </a:extLst>
          </p:cNvPr>
          <p:cNvCxnSpPr>
            <a:cxnSpLocks/>
          </p:cNvCxnSpPr>
          <p:nvPr/>
        </p:nvCxnSpPr>
        <p:spPr>
          <a:xfrm flipV="1">
            <a:off x="2218947" y="3586658"/>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223" name="Rectangle 222">
            <a:extLst>
              <a:ext uri="{FF2B5EF4-FFF2-40B4-BE49-F238E27FC236}">
                <a16:creationId xmlns:a16="http://schemas.microsoft.com/office/drawing/2014/main" id="{8A27868E-28AC-7704-DF68-6203BE9EAEDF}"/>
              </a:ext>
            </a:extLst>
          </p:cNvPr>
          <p:cNvSpPr/>
          <p:nvPr/>
        </p:nvSpPr>
        <p:spPr>
          <a:xfrm>
            <a:off x="638516" y="3586659"/>
            <a:ext cx="402866" cy="205681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TextBox 223">
            <a:extLst>
              <a:ext uri="{FF2B5EF4-FFF2-40B4-BE49-F238E27FC236}">
                <a16:creationId xmlns:a16="http://schemas.microsoft.com/office/drawing/2014/main" id="{826E3A4A-1307-AB91-1CD6-12E06E7690AE}"/>
              </a:ext>
            </a:extLst>
          </p:cNvPr>
          <p:cNvSpPr txBox="1"/>
          <p:nvPr/>
        </p:nvSpPr>
        <p:spPr>
          <a:xfrm rot="16200000">
            <a:off x="-82019" y="4476563"/>
            <a:ext cx="1843938" cy="27699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Development</a:t>
            </a:r>
          </a:p>
        </p:txBody>
      </p:sp>
      <p:cxnSp>
        <p:nvCxnSpPr>
          <p:cNvPr id="220" name="Straight Connector 219">
            <a:extLst>
              <a:ext uri="{FF2B5EF4-FFF2-40B4-BE49-F238E27FC236}">
                <a16:creationId xmlns:a16="http://schemas.microsoft.com/office/drawing/2014/main" id="{EB7DBDC0-9087-DCF9-686B-4C2C7766F72E}"/>
              </a:ext>
            </a:extLst>
          </p:cNvPr>
          <p:cNvCxnSpPr/>
          <p:nvPr/>
        </p:nvCxnSpPr>
        <p:spPr>
          <a:xfrm>
            <a:off x="4044054" y="3586658"/>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51" name="Group 250">
            <a:extLst>
              <a:ext uri="{FF2B5EF4-FFF2-40B4-BE49-F238E27FC236}">
                <a16:creationId xmlns:a16="http://schemas.microsoft.com/office/drawing/2014/main" id="{D55CD278-33FD-50A6-7650-6045CDF1B531}"/>
              </a:ext>
            </a:extLst>
          </p:cNvPr>
          <p:cNvGrpSpPr/>
          <p:nvPr/>
        </p:nvGrpSpPr>
        <p:grpSpPr>
          <a:xfrm>
            <a:off x="4139187" y="1436910"/>
            <a:ext cx="3405538" cy="2057400"/>
            <a:chOff x="2292178" y="1334737"/>
            <a:chExt cx="3405538" cy="2057400"/>
          </a:xfrm>
        </p:grpSpPr>
        <p:grpSp>
          <p:nvGrpSpPr>
            <p:cNvPr id="253" name="Group 252">
              <a:extLst>
                <a:ext uri="{FF2B5EF4-FFF2-40B4-BE49-F238E27FC236}">
                  <a16:creationId xmlns:a16="http://schemas.microsoft.com/office/drawing/2014/main" id="{88B37B23-960E-20F6-3451-BD7C4B10640F}"/>
                </a:ext>
              </a:extLst>
            </p:cNvPr>
            <p:cNvGrpSpPr/>
            <p:nvPr/>
          </p:nvGrpSpPr>
          <p:grpSpPr>
            <a:xfrm>
              <a:off x="2700515" y="1334737"/>
              <a:ext cx="2997201" cy="2057400"/>
              <a:chOff x="629920" y="4047942"/>
              <a:chExt cx="2997201" cy="2057400"/>
            </a:xfrm>
          </p:grpSpPr>
          <p:grpSp>
            <p:nvGrpSpPr>
              <p:cNvPr id="257" name="Group 256">
                <a:extLst>
                  <a:ext uri="{FF2B5EF4-FFF2-40B4-BE49-F238E27FC236}">
                    <a16:creationId xmlns:a16="http://schemas.microsoft.com/office/drawing/2014/main" id="{65FE6601-D29C-C47E-3736-A94411A5F9D3}"/>
                  </a:ext>
                </a:extLst>
              </p:cNvPr>
              <p:cNvGrpSpPr/>
              <p:nvPr/>
            </p:nvGrpSpPr>
            <p:grpSpPr>
              <a:xfrm>
                <a:off x="629920" y="4131407"/>
                <a:ext cx="2997201" cy="267798"/>
                <a:chOff x="629920" y="4251969"/>
                <a:chExt cx="2997201" cy="267798"/>
              </a:xfrm>
            </p:grpSpPr>
            <p:sp>
              <p:nvSpPr>
                <p:cNvPr id="279" name="TextBox 278">
                  <a:extLst>
                    <a:ext uri="{FF2B5EF4-FFF2-40B4-BE49-F238E27FC236}">
                      <a16:creationId xmlns:a16="http://schemas.microsoft.com/office/drawing/2014/main" id="{170B2906-7563-F73C-5724-DE88A7599BAD}"/>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Usability</a:t>
                  </a:r>
                </a:p>
              </p:txBody>
            </p:sp>
            <p:sp>
              <p:nvSpPr>
                <p:cNvPr id="280" name="TextBox 279">
                  <a:extLst>
                    <a:ext uri="{FF2B5EF4-FFF2-40B4-BE49-F238E27FC236}">
                      <a16:creationId xmlns:a16="http://schemas.microsoft.com/office/drawing/2014/main" id="{1095798E-4D9A-6980-3B33-AE21768336A5}"/>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Testing patterns</a:t>
                  </a:r>
                </a:p>
              </p:txBody>
            </p:sp>
            <p:cxnSp>
              <p:nvCxnSpPr>
                <p:cNvPr id="281" name="Straight Connector 280">
                  <a:extLst>
                    <a:ext uri="{FF2B5EF4-FFF2-40B4-BE49-F238E27FC236}">
                      <a16:creationId xmlns:a16="http://schemas.microsoft.com/office/drawing/2014/main" id="{E2B50534-0226-418F-1543-C2D304DBB40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58" name="Group 257">
                <a:extLst>
                  <a:ext uri="{FF2B5EF4-FFF2-40B4-BE49-F238E27FC236}">
                    <a16:creationId xmlns:a16="http://schemas.microsoft.com/office/drawing/2014/main" id="{B00C8591-2597-4755-AC84-397144C27DEF}"/>
                  </a:ext>
                </a:extLst>
              </p:cNvPr>
              <p:cNvGrpSpPr/>
              <p:nvPr/>
            </p:nvGrpSpPr>
            <p:grpSpPr>
              <a:xfrm>
                <a:off x="629920" y="4454792"/>
                <a:ext cx="2997201" cy="267798"/>
                <a:chOff x="629920" y="4251969"/>
                <a:chExt cx="2997201" cy="267798"/>
              </a:xfrm>
            </p:grpSpPr>
            <p:sp>
              <p:nvSpPr>
                <p:cNvPr id="276" name="TextBox 275">
                  <a:extLst>
                    <a:ext uri="{FF2B5EF4-FFF2-40B4-BE49-F238E27FC236}">
                      <a16:creationId xmlns:a16="http://schemas.microsoft.com/office/drawing/2014/main" id="{365F4D97-7001-E2D9-25D6-313898EE6DBD}"/>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Harmony</a:t>
                  </a:r>
                </a:p>
              </p:txBody>
            </p:sp>
            <p:sp>
              <p:nvSpPr>
                <p:cNvPr id="277" name="TextBox 276">
                  <a:extLst>
                    <a:ext uri="{FF2B5EF4-FFF2-40B4-BE49-F238E27FC236}">
                      <a16:creationId xmlns:a16="http://schemas.microsoft.com/office/drawing/2014/main" id="{5B7B0B23-9391-8E22-04E6-396F4C744BDB}"/>
                    </a:ext>
                  </a:extLst>
                </p:cNvPr>
                <p:cNvSpPr txBox="1"/>
                <p:nvPr/>
              </p:nvSpPr>
              <p:spPr>
                <a:xfrm>
                  <a:off x="1897147" y="4251969"/>
                  <a:ext cx="158041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Fine tune colors</a:t>
                  </a:r>
                </a:p>
              </p:txBody>
            </p:sp>
            <p:cxnSp>
              <p:nvCxnSpPr>
                <p:cNvPr id="278" name="Straight Connector 277">
                  <a:extLst>
                    <a:ext uri="{FF2B5EF4-FFF2-40B4-BE49-F238E27FC236}">
                      <a16:creationId xmlns:a16="http://schemas.microsoft.com/office/drawing/2014/main" id="{CC31733C-1E39-CFA7-B94E-FFFBA9F02EEB}"/>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59" name="Group 258">
                <a:extLst>
                  <a:ext uri="{FF2B5EF4-FFF2-40B4-BE49-F238E27FC236}">
                    <a16:creationId xmlns:a16="http://schemas.microsoft.com/office/drawing/2014/main" id="{CAC44A42-034D-9619-F11E-6A6A48EF69B4}"/>
                  </a:ext>
                </a:extLst>
              </p:cNvPr>
              <p:cNvGrpSpPr/>
              <p:nvPr/>
            </p:nvGrpSpPr>
            <p:grpSpPr>
              <a:xfrm>
                <a:off x="629920" y="4800480"/>
                <a:ext cx="2997201" cy="267798"/>
                <a:chOff x="629920" y="4251969"/>
                <a:chExt cx="2997201" cy="267798"/>
              </a:xfrm>
            </p:grpSpPr>
            <p:sp>
              <p:nvSpPr>
                <p:cNvPr id="273" name="TextBox 272">
                  <a:extLst>
                    <a:ext uri="{FF2B5EF4-FFF2-40B4-BE49-F238E27FC236}">
                      <a16:creationId xmlns:a16="http://schemas.microsoft.com/office/drawing/2014/main" id="{CD723712-C884-EFF6-4B9C-91666B56CDC0}"/>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Performance</a:t>
                  </a:r>
                </a:p>
              </p:txBody>
            </p:sp>
            <p:sp>
              <p:nvSpPr>
                <p:cNvPr id="274" name="TextBox 273">
                  <a:extLst>
                    <a:ext uri="{FF2B5EF4-FFF2-40B4-BE49-F238E27FC236}">
                      <a16:creationId xmlns:a16="http://schemas.microsoft.com/office/drawing/2014/main" id="{8DDB357F-4EB8-C2E7-E5A0-A788AAEA0A4A}"/>
                    </a:ext>
                  </a:extLst>
                </p:cNvPr>
                <p:cNvSpPr txBox="1"/>
                <p:nvPr/>
              </p:nvSpPr>
              <p:spPr>
                <a:xfrm>
                  <a:off x="1897147" y="4251969"/>
                  <a:ext cx="158041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Optimize systems</a:t>
                  </a:r>
                </a:p>
              </p:txBody>
            </p:sp>
            <p:cxnSp>
              <p:nvCxnSpPr>
                <p:cNvPr id="275" name="Straight Connector 274">
                  <a:extLst>
                    <a:ext uri="{FF2B5EF4-FFF2-40B4-BE49-F238E27FC236}">
                      <a16:creationId xmlns:a16="http://schemas.microsoft.com/office/drawing/2014/main" id="{A07767B6-4A52-16A4-16AE-202271184EEA}"/>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60" name="Group 259">
                <a:extLst>
                  <a:ext uri="{FF2B5EF4-FFF2-40B4-BE49-F238E27FC236}">
                    <a16:creationId xmlns:a16="http://schemas.microsoft.com/office/drawing/2014/main" id="{5A2FA9E6-4553-22F3-5D8B-186FECCD489E}"/>
                  </a:ext>
                </a:extLst>
              </p:cNvPr>
              <p:cNvGrpSpPr/>
              <p:nvPr/>
            </p:nvGrpSpPr>
            <p:grpSpPr>
              <a:xfrm>
                <a:off x="629920" y="5146168"/>
                <a:ext cx="2997201" cy="267798"/>
                <a:chOff x="629920" y="4251969"/>
                <a:chExt cx="2997201" cy="267798"/>
              </a:xfrm>
            </p:grpSpPr>
            <p:sp>
              <p:nvSpPr>
                <p:cNvPr id="270" name="TextBox 269">
                  <a:extLst>
                    <a:ext uri="{FF2B5EF4-FFF2-40B4-BE49-F238E27FC236}">
                      <a16:creationId xmlns:a16="http://schemas.microsoft.com/office/drawing/2014/main" id="{54A45442-8462-9E68-D1DC-3B47F6EB8C02}"/>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Ergonomics</a:t>
                  </a:r>
                </a:p>
              </p:txBody>
            </p:sp>
            <p:sp>
              <p:nvSpPr>
                <p:cNvPr id="271" name="TextBox 270">
                  <a:extLst>
                    <a:ext uri="{FF2B5EF4-FFF2-40B4-BE49-F238E27FC236}">
                      <a16:creationId xmlns:a16="http://schemas.microsoft.com/office/drawing/2014/main" id="{9C57935D-E70C-699E-354A-DFB8ECD5E1DD}"/>
                    </a:ext>
                  </a:extLst>
                </p:cNvPr>
                <p:cNvSpPr txBox="1"/>
                <p:nvPr/>
              </p:nvSpPr>
              <p:spPr>
                <a:xfrm>
                  <a:off x="1897147" y="4251969"/>
                  <a:ext cx="162744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Adjust dimensions</a:t>
                  </a:r>
                </a:p>
              </p:txBody>
            </p:sp>
            <p:cxnSp>
              <p:nvCxnSpPr>
                <p:cNvPr id="272" name="Straight Connector 271">
                  <a:extLst>
                    <a:ext uri="{FF2B5EF4-FFF2-40B4-BE49-F238E27FC236}">
                      <a16:creationId xmlns:a16="http://schemas.microsoft.com/office/drawing/2014/main" id="{9EB0C6BC-CBD6-368E-C237-81EDB66372FB}"/>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61" name="Group 260">
                <a:extLst>
                  <a:ext uri="{FF2B5EF4-FFF2-40B4-BE49-F238E27FC236}">
                    <a16:creationId xmlns:a16="http://schemas.microsoft.com/office/drawing/2014/main" id="{4CD2C615-37F6-AC43-EBE1-26ADDB01E935}"/>
                  </a:ext>
                </a:extLst>
              </p:cNvPr>
              <p:cNvGrpSpPr/>
              <p:nvPr/>
            </p:nvGrpSpPr>
            <p:grpSpPr>
              <a:xfrm>
                <a:off x="629920" y="5491856"/>
                <a:ext cx="2997201" cy="267798"/>
                <a:chOff x="629920" y="4251969"/>
                <a:chExt cx="2997201" cy="267798"/>
              </a:xfrm>
            </p:grpSpPr>
            <p:sp>
              <p:nvSpPr>
                <p:cNvPr id="267" name="TextBox 266">
                  <a:extLst>
                    <a:ext uri="{FF2B5EF4-FFF2-40B4-BE49-F238E27FC236}">
                      <a16:creationId xmlns:a16="http://schemas.microsoft.com/office/drawing/2014/main" id="{595E1B23-1DED-B4DD-EB3B-9BC84CF8C5CD}"/>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Buildability</a:t>
                  </a:r>
                </a:p>
              </p:txBody>
            </p:sp>
            <p:sp>
              <p:nvSpPr>
                <p:cNvPr id="268" name="TextBox 267">
                  <a:extLst>
                    <a:ext uri="{FF2B5EF4-FFF2-40B4-BE49-F238E27FC236}">
                      <a16:creationId xmlns:a16="http://schemas.microsoft.com/office/drawing/2014/main" id="{CD9F6C91-8E7B-BB60-8347-45F2331D9DAF}"/>
                    </a:ext>
                  </a:extLst>
                </p:cNvPr>
                <p:cNvSpPr txBox="1"/>
                <p:nvPr/>
              </p:nvSpPr>
              <p:spPr>
                <a:xfrm>
                  <a:off x="1897147" y="4251969"/>
                  <a:ext cx="162744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Validate tolerance</a:t>
                  </a:r>
                </a:p>
              </p:txBody>
            </p:sp>
            <p:cxnSp>
              <p:nvCxnSpPr>
                <p:cNvPr id="269" name="Straight Connector 268">
                  <a:extLst>
                    <a:ext uri="{FF2B5EF4-FFF2-40B4-BE49-F238E27FC236}">
                      <a16:creationId xmlns:a16="http://schemas.microsoft.com/office/drawing/2014/main" id="{927F036C-EAA2-8601-4080-85F2AD12B8B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62" name="Group 261">
                <a:extLst>
                  <a:ext uri="{FF2B5EF4-FFF2-40B4-BE49-F238E27FC236}">
                    <a16:creationId xmlns:a16="http://schemas.microsoft.com/office/drawing/2014/main" id="{1044DF21-A245-930C-CB57-9952A1C272DA}"/>
                  </a:ext>
                </a:extLst>
              </p:cNvPr>
              <p:cNvGrpSpPr/>
              <p:nvPr/>
            </p:nvGrpSpPr>
            <p:grpSpPr>
              <a:xfrm>
                <a:off x="629920" y="4047942"/>
                <a:ext cx="2997201" cy="2057400"/>
                <a:chOff x="629920" y="2462367"/>
                <a:chExt cx="2997201" cy="2057400"/>
              </a:xfrm>
            </p:grpSpPr>
            <p:sp>
              <p:nvSpPr>
                <p:cNvPr id="263" name="TextBox 262">
                  <a:extLst>
                    <a:ext uri="{FF2B5EF4-FFF2-40B4-BE49-F238E27FC236}">
                      <a16:creationId xmlns:a16="http://schemas.microsoft.com/office/drawing/2014/main" id="{8E54893B-740E-8AF2-07F5-1AA210275814}"/>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Durability</a:t>
                  </a:r>
                </a:p>
              </p:txBody>
            </p:sp>
            <p:sp>
              <p:nvSpPr>
                <p:cNvPr id="264" name="TextBox 263">
                  <a:extLst>
                    <a:ext uri="{FF2B5EF4-FFF2-40B4-BE49-F238E27FC236}">
                      <a16:creationId xmlns:a16="http://schemas.microsoft.com/office/drawing/2014/main" id="{EC854E8D-EEC1-3BA7-9D75-5F6E21E0A533}"/>
                    </a:ext>
                  </a:extLst>
                </p:cNvPr>
                <p:cNvSpPr txBox="1"/>
                <p:nvPr/>
              </p:nvSpPr>
              <p:spPr>
                <a:xfrm>
                  <a:off x="1897147" y="4251969"/>
                  <a:ext cx="1627443"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Stress point resilience</a:t>
                  </a:r>
                </a:p>
              </p:txBody>
            </p:sp>
            <p:cxnSp>
              <p:nvCxnSpPr>
                <p:cNvPr id="265" name="Straight Connector 264">
                  <a:extLst>
                    <a:ext uri="{FF2B5EF4-FFF2-40B4-BE49-F238E27FC236}">
                      <a16:creationId xmlns:a16="http://schemas.microsoft.com/office/drawing/2014/main" id="{2662C023-4AF9-6D2E-6708-4B739ABF9DB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66" name="Straight Connector 265">
                  <a:extLst>
                    <a:ext uri="{FF2B5EF4-FFF2-40B4-BE49-F238E27FC236}">
                      <a16:creationId xmlns:a16="http://schemas.microsoft.com/office/drawing/2014/main" id="{19A5B464-186E-13C7-C2E4-6B0305B1581F}"/>
                    </a:ext>
                  </a:extLst>
                </p:cNvPr>
                <p:cNvCxnSpPr>
                  <a:cxnSpLocks/>
                </p:cNvCxnSpPr>
                <p:nvPr/>
              </p:nvCxnSpPr>
              <p:spPr>
                <a:xfrm>
                  <a:off x="629920" y="24623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cxnSp>
          <p:nvCxnSpPr>
            <p:cNvPr id="254" name="Straight Connector 253">
              <a:extLst>
                <a:ext uri="{FF2B5EF4-FFF2-40B4-BE49-F238E27FC236}">
                  <a16:creationId xmlns:a16="http://schemas.microsoft.com/office/drawing/2014/main" id="{37AF6CD1-D74F-E4F6-22A5-8D218F498141}"/>
                </a:ext>
              </a:extLst>
            </p:cNvPr>
            <p:cNvCxnSpPr>
              <a:cxnSpLocks/>
            </p:cNvCxnSpPr>
            <p:nvPr/>
          </p:nvCxnSpPr>
          <p:spPr>
            <a:xfrm flipV="1">
              <a:off x="3872609"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255" name="Rectangle 254">
              <a:extLst>
                <a:ext uri="{FF2B5EF4-FFF2-40B4-BE49-F238E27FC236}">
                  <a16:creationId xmlns:a16="http://schemas.microsoft.com/office/drawing/2014/main" id="{A3FDE6FA-D5B6-A28A-C802-35E5B270F3DE}"/>
                </a:ext>
              </a:extLst>
            </p:cNvPr>
            <p:cNvSpPr/>
            <p:nvPr/>
          </p:nvSpPr>
          <p:spPr>
            <a:xfrm>
              <a:off x="2292178" y="1334738"/>
              <a:ext cx="402866" cy="205681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TextBox 255">
              <a:extLst>
                <a:ext uri="{FF2B5EF4-FFF2-40B4-BE49-F238E27FC236}">
                  <a16:creationId xmlns:a16="http://schemas.microsoft.com/office/drawing/2014/main" id="{A94F8C65-F7FC-57B4-44CB-38700A00E5D5}"/>
                </a:ext>
              </a:extLst>
            </p:cNvPr>
            <p:cNvSpPr txBox="1"/>
            <p:nvPr/>
          </p:nvSpPr>
          <p:spPr>
            <a:xfrm rot="16200000">
              <a:off x="1571643" y="2224642"/>
              <a:ext cx="1843938" cy="27699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Refinement</a:t>
              </a:r>
            </a:p>
          </p:txBody>
        </p:sp>
      </p:grpSp>
      <p:cxnSp>
        <p:nvCxnSpPr>
          <p:cNvPr id="252" name="Straight Connector 251">
            <a:extLst>
              <a:ext uri="{FF2B5EF4-FFF2-40B4-BE49-F238E27FC236}">
                <a16:creationId xmlns:a16="http://schemas.microsoft.com/office/drawing/2014/main" id="{705E06BB-BC50-F992-AF58-9F151924FDDD}"/>
              </a:ext>
            </a:extLst>
          </p:cNvPr>
          <p:cNvCxnSpPr/>
          <p:nvPr/>
        </p:nvCxnSpPr>
        <p:spPr>
          <a:xfrm>
            <a:off x="7544725" y="1436910"/>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83" name="Group 282">
            <a:extLst>
              <a:ext uri="{FF2B5EF4-FFF2-40B4-BE49-F238E27FC236}">
                <a16:creationId xmlns:a16="http://schemas.microsoft.com/office/drawing/2014/main" id="{C6AC9791-2E2C-CB36-C07C-A6CAA7FA8387}"/>
              </a:ext>
            </a:extLst>
          </p:cNvPr>
          <p:cNvGrpSpPr/>
          <p:nvPr/>
        </p:nvGrpSpPr>
        <p:grpSpPr>
          <a:xfrm>
            <a:off x="4144725" y="3586658"/>
            <a:ext cx="3405538" cy="2057400"/>
            <a:chOff x="2292178" y="1334737"/>
            <a:chExt cx="3405538" cy="2057400"/>
          </a:xfrm>
        </p:grpSpPr>
        <p:grpSp>
          <p:nvGrpSpPr>
            <p:cNvPr id="285" name="Group 284">
              <a:extLst>
                <a:ext uri="{FF2B5EF4-FFF2-40B4-BE49-F238E27FC236}">
                  <a16:creationId xmlns:a16="http://schemas.microsoft.com/office/drawing/2014/main" id="{95E45E8D-802A-4A9C-017E-945F16AACA1D}"/>
                </a:ext>
              </a:extLst>
            </p:cNvPr>
            <p:cNvGrpSpPr/>
            <p:nvPr/>
          </p:nvGrpSpPr>
          <p:grpSpPr>
            <a:xfrm>
              <a:off x="2700515" y="1334737"/>
              <a:ext cx="2997201" cy="2057400"/>
              <a:chOff x="629920" y="4047942"/>
              <a:chExt cx="2997201" cy="2057400"/>
            </a:xfrm>
          </p:grpSpPr>
          <p:grpSp>
            <p:nvGrpSpPr>
              <p:cNvPr id="289" name="Group 288">
                <a:extLst>
                  <a:ext uri="{FF2B5EF4-FFF2-40B4-BE49-F238E27FC236}">
                    <a16:creationId xmlns:a16="http://schemas.microsoft.com/office/drawing/2014/main" id="{EF61961A-7A9B-C87D-53C0-51D1AE0EB1FB}"/>
                  </a:ext>
                </a:extLst>
              </p:cNvPr>
              <p:cNvGrpSpPr/>
              <p:nvPr/>
            </p:nvGrpSpPr>
            <p:grpSpPr>
              <a:xfrm>
                <a:off x="629920" y="4131407"/>
                <a:ext cx="2997201" cy="267798"/>
                <a:chOff x="629920" y="4251969"/>
                <a:chExt cx="2997201" cy="267798"/>
              </a:xfrm>
            </p:grpSpPr>
            <p:sp>
              <p:nvSpPr>
                <p:cNvPr id="311" name="TextBox 310">
                  <a:extLst>
                    <a:ext uri="{FF2B5EF4-FFF2-40B4-BE49-F238E27FC236}">
                      <a16:creationId xmlns:a16="http://schemas.microsoft.com/office/drawing/2014/main" id="{46FA81FC-5D88-7614-34F1-34BCF563F80A}"/>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Spatial</a:t>
                  </a:r>
                </a:p>
              </p:txBody>
            </p:sp>
            <p:sp>
              <p:nvSpPr>
                <p:cNvPr id="312" name="TextBox 311">
                  <a:extLst>
                    <a:ext uri="{FF2B5EF4-FFF2-40B4-BE49-F238E27FC236}">
                      <a16:creationId xmlns:a16="http://schemas.microsoft.com/office/drawing/2014/main" id="{0BE88DBB-5B7C-938E-E076-D2A2FBED2D31}"/>
                    </a:ext>
                  </a:extLst>
                </p:cNvPr>
                <p:cNvSpPr txBox="1"/>
                <p:nvPr/>
              </p:nvSpPr>
              <p:spPr>
                <a:xfrm>
                  <a:off x="1897147" y="4251969"/>
                  <a:ext cx="1634609"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Optimize layouts</a:t>
                  </a:r>
                </a:p>
              </p:txBody>
            </p:sp>
            <p:cxnSp>
              <p:nvCxnSpPr>
                <p:cNvPr id="313" name="Straight Connector 312">
                  <a:extLst>
                    <a:ext uri="{FF2B5EF4-FFF2-40B4-BE49-F238E27FC236}">
                      <a16:creationId xmlns:a16="http://schemas.microsoft.com/office/drawing/2014/main" id="{5273143F-EE7D-ED26-F71C-71D2E4E6323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90" name="Group 289">
                <a:extLst>
                  <a:ext uri="{FF2B5EF4-FFF2-40B4-BE49-F238E27FC236}">
                    <a16:creationId xmlns:a16="http://schemas.microsoft.com/office/drawing/2014/main" id="{CDC90EF1-99F0-459C-4747-7DD432273039}"/>
                  </a:ext>
                </a:extLst>
              </p:cNvPr>
              <p:cNvGrpSpPr/>
              <p:nvPr/>
            </p:nvGrpSpPr>
            <p:grpSpPr>
              <a:xfrm>
                <a:off x="629920" y="4454792"/>
                <a:ext cx="2997201" cy="267798"/>
                <a:chOff x="629920" y="4251969"/>
                <a:chExt cx="2997201" cy="267798"/>
              </a:xfrm>
            </p:grpSpPr>
            <p:sp>
              <p:nvSpPr>
                <p:cNvPr id="308" name="TextBox 307">
                  <a:extLst>
                    <a:ext uri="{FF2B5EF4-FFF2-40B4-BE49-F238E27FC236}">
                      <a16:creationId xmlns:a16="http://schemas.microsoft.com/office/drawing/2014/main" id="{027E6F28-B1BD-1247-73E8-922BDF42B700}"/>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Collaboration</a:t>
                  </a:r>
                </a:p>
              </p:txBody>
            </p:sp>
            <p:sp>
              <p:nvSpPr>
                <p:cNvPr id="309" name="TextBox 308">
                  <a:extLst>
                    <a:ext uri="{FF2B5EF4-FFF2-40B4-BE49-F238E27FC236}">
                      <a16:creationId xmlns:a16="http://schemas.microsoft.com/office/drawing/2014/main" id="{128BE686-7777-3E44-305A-1249C90D4252}"/>
                    </a:ext>
                  </a:extLst>
                </p:cNvPr>
                <p:cNvSpPr txBox="1"/>
                <p:nvPr/>
              </p:nvSpPr>
              <p:spPr>
                <a:xfrm>
                  <a:off x="1897147" y="4251969"/>
                  <a:ext cx="163460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Shared environments</a:t>
                  </a:r>
                </a:p>
              </p:txBody>
            </p:sp>
            <p:cxnSp>
              <p:nvCxnSpPr>
                <p:cNvPr id="310" name="Straight Connector 309">
                  <a:extLst>
                    <a:ext uri="{FF2B5EF4-FFF2-40B4-BE49-F238E27FC236}">
                      <a16:creationId xmlns:a16="http://schemas.microsoft.com/office/drawing/2014/main" id="{5FDAF113-6AF1-D037-BF11-CFC01D6D8DDA}"/>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91" name="Group 290">
                <a:extLst>
                  <a:ext uri="{FF2B5EF4-FFF2-40B4-BE49-F238E27FC236}">
                    <a16:creationId xmlns:a16="http://schemas.microsoft.com/office/drawing/2014/main" id="{A4D15467-92B0-FC0E-6729-D807D6D48AD7}"/>
                  </a:ext>
                </a:extLst>
              </p:cNvPr>
              <p:cNvGrpSpPr/>
              <p:nvPr/>
            </p:nvGrpSpPr>
            <p:grpSpPr>
              <a:xfrm>
                <a:off x="629920" y="4800480"/>
                <a:ext cx="2997201" cy="267798"/>
                <a:chOff x="629920" y="4251969"/>
                <a:chExt cx="2997201" cy="267798"/>
              </a:xfrm>
            </p:grpSpPr>
            <p:sp>
              <p:nvSpPr>
                <p:cNvPr id="305" name="TextBox 304">
                  <a:extLst>
                    <a:ext uri="{FF2B5EF4-FFF2-40B4-BE49-F238E27FC236}">
                      <a16:creationId xmlns:a16="http://schemas.microsoft.com/office/drawing/2014/main" id="{8FC17BC5-7AA4-8F9A-CF3B-1345609FF117}"/>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Well-Being</a:t>
                  </a:r>
                </a:p>
              </p:txBody>
            </p:sp>
            <p:sp>
              <p:nvSpPr>
                <p:cNvPr id="306" name="TextBox 305">
                  <a:extLst>
                    <a:ext uri="{FF2B5EF4-FFF2-40B4-BE49-F238E27FC236}">
                      <a16:creationId xmlns:a16="http://schemas.microsoft.com/office/drawing/2014/main" id="{1A5C0211-4C22-AF6B-215A-9FE26BA472F2}"/>
                    </a:ext>
                  </a:extLst>
                </p:cNvPr>
                <p:cNvSpPr txBox="1"/>
                <p:nvPr/>
              </p:nvSpPr>
              <p:spPr>
                <a:xfrm>
                  <a:off x="1897147" y="4251969"/>
                  <a:ext cx="1634609"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Enhance lighting</a:t>
                  </a:r>
                </a:p>
              </p:txBody>
            </p:sp>
            <p:cxnSp>
              <p:nvCxnSpPr>
                <p:cNvPr id="307" name="Straight Connector 306">
                  <a:extLst>
                    <a:ext uri="{FF2B5EF4-FFF2-40B4-BE49-F238E27FC236}">
                      <a16:creationId xmlns:a16="http://schemas.microsoft.com/office/drawing/2014/main" id="{6C57D6AC-FEF9-DC75-9C7C-E7EA21E15234}"/>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92" name="Group 291">
                <a:extLst>
                  <a:ext uri="{FF2B5EF4-FFF2-40B4-BE49-F238E27FC236}">
                    <a16:creationId xmlns:a16="http://schemas.microsoft.com/office/drawing/2014/main" id="{5412526A-EC71-7D58-AD3F-70A066C09700}"/>
                  </a:ext>
                </a:extLst>
              </p:cNvPr>
              <p:cNvGrpSpPr/>
              <p:nvPr/>
            </p:nvGrpSpPr>
            <p:grpSpPr>
              <a:xfrm>
                <a:off x="629920" y="5146168"/>
                <a:ext cx="2997201" cy="267798"/>
                <a:chOff x="629920" y="4251969"/>
                <a:chExt cx="2997201" cy="267798"/>
              </a:xfrm>
            </p:grpSpPr>
            <p:sp>
              <p:nvSpPr>
                <p:cNvPr id="302" name="TextBox 301">
                  <a:extLst>
                    <a:ext uri="{FF2B5EF4-FFF2-40B4-BE49-F238E27FC236}">
                      <a16:creationId xmlns:a16="http://schemas.microsoft.com/office/drawing/2014/main" id="{73D31923-0A5A-1980-8915-CD412A2F14AE}"/>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Equity</a:t>
                  </a:r>
                </a:p>
              </p:txBody>
            </p:sp>
            <p:sp>
              <p:nvSpPr>
                <p:cNvPr id="303" name="TextBox 302">
                  <a:extLst>
                    <a:ext uri="{FF2B5EF4-FFF2-40B4-BE49-F238E27FC236}">
                      <a16:creationId xmlns:a16="http://schemas.microsoft.com/office/drawing/2014/main" id="{1606F4D8-B321-B8BA-7EDF-B064100D9955}"/>
                    </a:ext>
                  </a:extLst>
                </p:cNvPr>
                <p:cNvSpPr txBox="1"/>
                <p:nvPr/>
              </p:nvSpPr>
              <p:spPr>
                <a:xfrm>
                  <a:off x="1897147" y="4251969"/>
                  <a:ext cx="1585959"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Optimal seating</a:t>
                  </a:r>
                </a:p>
              </p:txBody>
            </p:sp>
            <p:cxnSp>
              <p:nvCxnSpPr>
                <p:cNvPr id="304" name="Straight Connector 303">
                  <a:extLst>
                    <a:ext uri="{FF2B5EF4-FFF2-40B4-BE49-F238E27FC236}">
                      <a16:creationId xmlns:a16="http://schemas.microsoft.com/office/drawing/2014/main" id="{B72580CD-A6C7-167B-7463-A5D6B7005A79}"/>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93" name="Group 292">
                <a:extLst>
                  <a:ext uri="{FF2B5EF4-FFF2-40B4-BE49-F238E27FC236}">
                    <a16:creationId xmlns:a16="http://schemas.microsoft.com/office/drawing/2014/main" id="{30AB130E-7801-4DB3-E994-4F454E5CEEA2}"/>
                  </a:ext>
                </a:extLst>
              </p:cNvPr>
              <p:cNvGrpSpPr/>
              <p:nvPr/>
            </p:nvGrpSpPr>
            <p:grpSpPr>
              <a:xfrm>
                <a:off x="629920" y="5491856"/>
                <a:ext cx="2997201" cy="267798"/>
                <a:chOff x="629920" y="4251969"/>
                <a:chExt cx="2997201" cy="267798"/>
              </a:xfrm>
            </p:grpSpPr>
            <p:sp>
              <p:nvSpPr>
                <p:cNvPr id="299" name="TextBox 298">
                  <a:extLst>
                    <a:ext uri="{FF2B5EF4-FFF2-40B4-BE49-F238E27FC236}">
                      <a16:creationId xmlns:a16="http://schemas.microsoft.com/office/drawing/2014/main" id="{DACA67DE-8141-BC23-48F8-81F04DBC5E88}"/>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Flexibility</a:t>
                  </a:r>
                </a:p>
              </p:txBody>
            </p:sp>
            <p:sp>
              <p:nvSpPr>
                <p:cNvPr id="300" name="TextBox 299">
                  <a:extLst>
                    <a:ext uri="{FF2B5EF4-FFF2-40B4-BE49-F238E27FC236}">
                      <a16:creationId xmlns:a16="http://schemas.microsoft.com/office/drawing/2014/main" id="{EEA8E710-95C3-7431-1117-48CCA20CA7FC}"/>
                    </a:ext>
                  </a:extLst>
                </p:cNvPr>
                <p:cNvSpPr txBox="1"/>
                <p:nvPr/>
              </p:nvSpPr>
              <p:spPr>
                <a:xfrm>
                  <a:off x="1897147" y="4251969"/>
                  <a:ext cx="163460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Refine zoning</a:t>
                  </a:r>
                </a:p>
              </p:txBody>
            </p:sp>
            <p:cxnSp>
              <p:nvCxnSpPr>
                <p:cNvPr id="301" name="Straight Connector 300">
                  <a:extLst>
                    <a:ext uri="{FF2B5EF4-FFF2-40B4-BE49-F238E27FC236}">
                      <a16:creationId xmlns:a16="http://schemas.microsoft.com/office/drawing/2014/main" id="{B737A108-5649-E908-E172-3DD967C9CCF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294" name="Group 293">
                <a:extLst>
                  <a:ext uri="{FF2B5EF4-FFF2-40B4-BE49-F238E27FC236}">
                    <a16:creationId xmlns:a16="http://schemas.microsoft.com/office/drawing/2014/main" id="{0E5F3185-AF97-78F5-222B-92FBB65FD78B}"/>
                  </a:ext>
                </a:extLst>
              </p:cNvPr>
              <p:cNvGrpSpPr/>
              <p:nvPr/>
            </p:nvGrpSpPr>
            <p:grpSpPr>
              <a:xfrm>
                <a:off x="629920" y="4047942"/>
                <a:ext cx="2997201" cy="2057400"/>
                <a:chOff x="629920" y="2462367"/>
                <a:chExt cx="2997201" cy="2057400"/>
              </a:xfrm>
            </p:grpSpPr>
            <p:sp>
              <p:nvSpPr>
                <p:cNvPr id="295" name="TextBox 294">
                  <a:extLst>
                    <a:ext uri="{FF2B5EF4-FFF2-40B4-BE49-F238E27FC236}">
                      <a16:creationId xmlns:a16="http://schemas.microsoft.com/office/drawing/2014/main" id="{9047804A-D4B1-3B36-70B1-3069FEB65B26}"/>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Alignment</a:t>
                  </a:r>
                </a:p>
              </p:txBody>
            </p:sp>
            <p:sp>
              <p:nvSpPr>
                <p:cNvPr id="296" name="TextBox 295">
                  <a:extLst>
                    <a:ext uri="{FF2B5EF4-FFF2-40B4-BE49-F238E27FC236}">
                      <a16:creationId xmlns:a16="http://schemas.microsoft.com/office/drawing/2014/main" id="{26B1F2E2-FD9A-2ECF-277D-A6FC7440C28B}"/>
                    </a:ext>
                  </a:extLst>
                </p:cNvPr>
                <p:cNvSpPr txBox="1"/>
                <p:nvPr/>
              </p:nvSpPr>
              <p:spPr>
                <a:xfrm>
                  <a:off x="1897147" y="4251969"/>
                  <a:ext cx="1634603"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Reinforce intention</a:t>
                  </a:r>
                </a:p>
              </p:txBody>
            </p:sp>
            <p:cxnSp>
              <p:nvCxnSpPr>
                <p:cNvPr id="297" name="Straight Connector 296">
                  <a:extLst>
                    <a:ext uri="{FF2B5EF4-FFF2-40B4-BE49-F238E27FC236}">
                      <a16:creationId xmlns:a16="http://schemas.microsoft.com/office/drawing/2014/main" id="{211E9C0A-665C-0F3B-2AA7-DE767DA5FA78}"/>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98" name="Straight Connector 297">
                  <a:extLst>
                    <a:ext uri="{FF2B5EF4-FFF2-40B4-BE49-F238E27FC236}">
                      <a16:creationId xmlns:a16="http://schemas.microsoft.com/office/drawing/2014/main" id="{3240158D-61BD-FEE1-20A8-0B15F95FB380}"/>
                    </a:ext>
                  </a:extLst>
                </p:cNvPr>
                <p:cNvCxnSpPr>
                  <a:cxnSpLocks/>
                </p:cNvCxnSpPr>
                <p:nvPr/>
              </p:nvCxnSpPr>
              <p:spPr>
                <a:xfrm>
                  <a:off x="629920" y="24623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cxnSp>
          <p:nvCxnSpPr>
            <p:cNvPr id="286" name="Straight Connector 285">
              <a:extLst>
                <a:ext uri="{FF2B5EF4-FFF2-40B4-BE49-F238E27FC236}">
                  <a16:creationId xmlns:a16="http://schemas.microsoft.com/office/drawing/2014/main" id="{5597EFEF-175A-1770-CA4B-2388E0F92921}"/>
                </a:ext>
              </a:extLst>
            </p:cNvPr>
            <p:cNvCxnSpPr>
              <a:cxnSpLocks/>
            </p:cNvCxnSpPr>
            <p:nvPr/>
          </p:nvCxnSpPr>
          <p:spPr>
            <a:xfrm flipV="1">
              <a:off x="3872609"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287" name="Rectangle 286">
              <a:extLst>
                <a:ext uri="{FF2B5EF4-FFF2-40B4-BE49-F238E27FC236}">
                  <a16:creationId xmlns:a16="http://schemas.microsoft.com/office/drawing/2014/main" id="{939685B2-DCFE-FCEB-171B-36739DF3FCA7}"/>
                </a:ext>
              </a:extLst>
            </p:cNvPr>
            <p:cNvSpPr/>
            <p:nvPr/>
          </p:nvSpPr>
          <p:spPr>
            <a:xfrm>
              <a:off x="2292178" y="1334738"/>
              <a:ext cx="402866" cy="205681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TextBox 287">
              <a:extLst>
                <a:ext uri="{FF2B5EF4-FFF2-40B4-BE49-F238E27FC236}">
                  <a16:creationId xmlns:a16="http://schemas.microsoft.com/office/drawing/2014/main" id="{C575D8EE-0288-25B8-F887-FBE1980A00F1}"/>
                </a:ext>
              </a:extLst>
            </p:cNvPr>
            <p:cNvSpPr txBox="1"/>
            <p:nvPr/>
          </p:nvSpPr>
          <p:spPr>
            <a:xfrm rot="16200000">
              <a:off x="1571643" y="2224642"/>
              <a:ext cx="1843938" cy="27699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Workplace</a:t>
              </a:r>
            </a:p>
          </p:txBody>
        </p:sp>
      </p:grpSp>
      <p:cxnSp>
        <p:nvCxnSpPr>
          <p:cNvPr id="284" name="Straight Connector 283">
            <a:extLst>
              <a:ext uri="{FF2B5EF4-FFF2-40B4-BE49-F238E27FC236}">
                <a16:creationId xmlns:a16="http://schemas.microsoft.com/office/drawing/2014/main" id="{40F3EB30-6A58-4D0F-5855-F1CF8A7145C6}"/>
              </a:ext>
            </a:extLst>
          </p:cNvPr>
          <p:cNvCxnSpPr/>
          <p:nvPr/>
        </p:nvCxnSpPr>
        <p:spPr>
          <a:xfrm>
            <a:off x="7550263" y="3586658"/>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15" name="Straight Connector 314">
            <a:extLst>
              <a:ext uri="{FF2B5EF4-FFF2-40B4-BE49-F238E27FC236}">
                <a16:creationId xmlns:a16="http://schemas.microsoft.com/office/drawing/2014/main" id="{B6444567-EF48-4046-C6FC-FC54750BA395}"/>
              </a:ext>
            </a:extLst>
          </p:cNvPr>
          <p:cNvCxnSpPr>
            <a:cxnSpLocks/>
          </p:cNvCxnSpPr>
          <p:nvPr/>
        </p:nvCxnSpPr>
        <p:spPr>
          <a:xfrm>
            <a:off x="8273215" y="4211699"/>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316" name="TextBox 315">
            <a:extLst>
              <a:ext uri="{FF2B5EF4-FFF2-40B4-BE49-F238E27FC236}">
                <a16:creationId xmlns:a16="http://schemas.microsoft.com/office/drawing/2014/main" id="{4AE92402-9D71-CB7F-9D5D-9FCC6527946C}"/>
              </a:ext>
            </a:extLst>
          </p:cNvPr>
          <p:cNvSpPr txBox="1"/>
          <p:nvPr/>
        </p:nvSpPr>
        <p:spPr>
          <a:xfrm>
            <a:off x="8177810" y="4274440"/>
            <a:ext cx="3127492" cy="954107"/>
          </a:xfrm>
          <a:prstGeom prst="rect">
            <a:avLst/>
          </a:prstGeom>
          <a:noFill/>
        </p:spPr>
        <p:txBody>
          <a:bodyPr wrap="square" rtlCol="0">
            <a:spAutoFit/>
          </a:bodyPr>
          <a:lstStyle/>
          <a:p>
            <a:pPr>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r>
              <a:rPr lang="en-US" sz="800" dirty="0" err="1">
                <a:solidFill>
                  <a:schemeClr val="bg1"/>
                </a:solidFill>
                <a:latin typeface="Avenir Light" panose="020B0402020203020204" pitchFamily="34" charset="77"/>
              </a:rPr>
              <a:t>enim</a:t>
            </a:r>
            <a:r>
              <a:rPr lang="en-US" sz="800" dirty="0">
                <a:solidFill>
                  <a:schemeClr val="bg1"/>
                </a:solidFill>
                <a:latin typeface="Avenir Light" panose="020B0402020203020204" pitchFamily="34" charset="77"/>
              </a:rPr>
              <a:t> ad minim </a:t>
            </a:r>
            <a:r>
              <a:rPr lang="en-US" sz="800" dirty="0" err="1">
                <a:solidFill>
                  <a:schemeClr val="bg1"/>
                </a:solidFill>
                <a:latin typeface="Avenir Light" panose="020B0402020203020204" pitchFamily="34" charset="77"/>
              </a:rPr>
              <a:t>veniam</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quis</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nostrud</a:t>
            </a:r>
            <a:r>
              <a:rPr lang="en-US" sz="800" dirty="0">
                <a:solidFill>
                  <a:schemeClr val="bg1"/>
                </a:solidFill>
                <a:latin typeface="Avenir Light" panose="020B0402020203020204" pitchFamily="34" charset="77"/>
              </a:rPr>
              <a:t> exercitation </a:t>
            </a:r>
            <a:r>
              <a:rPr lang="en-US" sz="800" dirty="0" err="1">
                <a:solidFill>
                  <a:schemeClr val="bg1"/>
                </a:solidFill>
                <a:latin typeface="Avenir Light" panose="020B0402020203020204" pitchFamily="34" charset="77"/>
              </a:rPr>
              <a:t>ullamco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laboris</a:t>
            </a:r>
            <a:r>
              <a:rPr lang="en-US" sz="800" dirty="0">
                <a:solidFill>
                  <a:schemeClr val="bg1"/>
                </a:solidFill>
                <a:latin typeface="Avenir Light" panose="020B0402020203020204" pitchFamily="34" charset="77"/>
              </a:rPr>
              <a:t> nisi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ali</a:t>
            </a:r>
            <a:r>
              <a:rPr lang="en-US" sz="800" dirty="0">
                <a:solidFill>
                  <a:schemeClr val="bg1"/>
                </a:solidFill>
                <a:latin typeface="Avenir Light" panose="020B0402020203020204" pitchFamily="34" charset="77"/>
              </a:rPr>
              <a:t>   quip ex </a:t>
            </a:r>
            <a:r>
              <a:rPr lang="en-US" sz="800" dirty="0" err="1">
                <a:solidFill>
                  <a:schemeClr val="bg1"/>
                </a:solidFill>
                <a:latin typeface="Avenir Light" panose="020B0402020203020204" pitchFamily="34" charset="77"/>
              </a:rPr>
              <a:t>ea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commodo</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consequat</a:t>
            </a:r>
            <a:r>
              <a:rPr lang="en-US" sz="800" dirty="0">
                <a:solidFill>
                  <a:schemeClr val="bg1"/>
                </a:solidFill>
                <a:latin typeface="Avenir Light" panose="020B0402020203020204" pitchFamily="34" charset="77"/>
              </a:rPr>
              <a:t>. Duis </a:t>
            </a:r>
            <a:r>
              <a:rPr lang="en-US" sz="800" dirty="0" err="1">
                <a:solidFill>
                  <a:schemeClr val="bg1"/>
                </a:solidFill>
                <a:latin typeface="Avenir Light" panose="020B0402020203020204" pitchFamily="34" charset="77"/>
              </a:rPr>
              <a:t>aute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irure</a:t>
            </a:r>
            <a:r>
              <a:rPr lang="en-US" sz="800" dirty="0">
                <a:solidFill>
                  <a:schemeClr val="bg1"/>
                </a:solidFill>
                <a:latin typeface="Avenir Light" panose="020B0402020203020204" pitchFamily="34" charset="77"/>
              </a:rPr>
              <a:t> dolor in </a:t>
            </a:r>
            <a:r>
              <a:rPr lang="en-US" sz="800" dirty="0" err="1">
                <a:solidFill>
                  <a:schemeClr val="bg1"/>
                </a:solidFill>
                <a:latin typeface="Avenir Light" panose="020B0402020203020204" pitchFamily="34" charset="77"/>
              </a:rPr>
              <a:t>reprehenderit</a:t>
            </a:r>
            <a:r>
              <a:rPr lang="en-US" sz="800" dirty="0">
                <a:solidFill>
                  <a:schemeClr val="bg1"/>
                </a:solidFill>
                <a:latin typeface="Avenir Light" panose="020B0402020203020204" pitchFamily="34" charset="77"/>
              </a:rPr>
              <a:t> in </a:t>
            </a:r>
            <a:r>
              <a:rPr lang="en-US" sz="800" dirty="0" err="1">
                <a:solidFill>
                  <a:schemeClr val="bg1"/>
                </a:solidFill>
                <a:latin typeface="Avenir Light" panose="020B0402020203020204" pitchFamily="34" charset="77"/>
              </a:rPr>
              <a:t>voluptate</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velit</a:t>
            </a:r>
            <a:r>
              <a:rPr lang="en-US" sz="800" dirty="0">
                <a:solidFill>
                  <a:schemeClr val="bg1"/>
                </a:solidFill>
                <a:latin typeface="Avenir Light" panose="020B0402020203020204" pitchFamily="34" charset="77"/>
              </a:rPr>
              <a:t> esse </a:t>
            </a:r>
            <a:r>
              <a:rPr lang="en-US" sz="800" dirty="0" err="1">
                <a:solidFill>
                  <a:schemeClr val="bg1"/>
                </a:solidFill>
                <a:latin typeface="Avenir Light" panose="020B0402020203020204" pitchFamily="34" charset="77"/>
              </a:rPr>
              <a:t>cillum</a:t>
            </a:r>
            <a:r>
              <a:rPr lang="en-US" sz="800" dirty="0">
                <a:solidFill>
                  <a:schemeClr val="bg1"/>
                </a:solidFill>
                <a:latin typeface="Avenir Light" panose="020B0402020203020204" pitchFamily="34" charset="77"/>
              </a:rPr>
              <a:t> dolore </a:t>
            </a:r>
            <a:r>
              <a:rPr lang="en-US" sz="800" dirty="0" err="1">
                <a:solidFill>
                  <a:schemeClr val="bg1"/>
                </a:solidFill>
                <a:latin typeface="Avenir Light" panose="020B0402020203020204" pitchFamily="34" charset="77"/>
              </a:rPr>
              <a:t>eu</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fugiat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nulla</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pariatur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Excepteur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sint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occaecat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cupidatat</a:t>
            </a:r>
            <a:r>
              <a:rPr lang="en-US" sz="800" dirty="0">
                <a:solidFill>
                  <a:schemeClr val="bg1"/>
                </a:solidFill>
                <a:latin typeface="Avenir Light" panose="020B0402020203020204" pitchFamily="34" charset="77"/>
              </a:rPr>
              <a:t> non </a:t>
            </a:r>
            <a:r>
              <a:rPr lang="en-US" sz="800" dirty="0" err="1">
                <a:solidFill>
                  <a:schemeClr val="bg1"/>
                </a:solidFill>
                <a:latin typeface="Avenir Light" panose="020B0402020203020204" pitchFamily="34" charset="77"/>
              </a:rPr>
              <a:t>proident</a:t>
            </a:r>
            <a:r>
              <a:rPr lang="en-US" sz="800" dirty="0">
                <a:solidFill>
                  <a:schemeClr val="bg1"/>
                </a:solidFill>
                <a:latin typeface="Avenir Light" panose="020B0402020203020204" pitchFamily="34" charset="77"/>
              </a:rPr>
              <a:t>, sunt in culpa qui.</a:t>
            </a:r>
          </a:p>
        </p:txBody>
      </p:sp>
      <p:sp>
        <p:nvSpPr>
          <p:cNvPr id="317" name="TextBox 316">
            <a:extLst>
              <a:ext uri="{FF2B5EF4-FFF2-40B4-BE49-F238E27FC236}">
                <a16:creationId xmlns:a16="http://schemas.microsoft.com/office/drawing/2014/main" id="{FD9E6CE3-304B-F6AD-FD1F-BB014C46C978}"/>
              </a:ext>
            </a:extLst>
          </p:cNvPr>
          <p:cNvSpPr txBox="1"/>
          <p:nvPr/>
        </p:nvSpPr>
        <p:spPr>
          <a:xfrm>
            <a:off x="547621" y="5931841"/>
            <a:ext cx="6957918"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 Hospitality, education, retail and mixed-use are also applicable.</a:t>
            </a:r>
          </a:p>
        </p:txBody>
      </p:sp>
      <p:sp>
        <p:nvSpPr>
          <p:cNvPr id="318" name="TextBox 317">
            <a:extLst>
              <a:ext uri="{FF2B5EF4-FFF2-40B4-BE49-F238E27FC236}">
                <a16:creationId xmlns:a16="http://schemas.microsoft.com/office/drawing/2014/main" id="{A03E81FF-4660-45DF-1C6F-B88E91C28718}"/>
              </a:ext>
            </a:extLst>
          </p:cNvPr>
          <p:cNvSpPr txBox="1"/>
          <p:nvPr/>
        </p:nvSpPr>
        <p:spPr>
          <a:xfrm>
            <a:off x="2727188" y="897568"/>
            <a:ext cx="2732564" cy="338554"/>
          </a:xfrm>
          <a:prstGeom prst="rect">
            <a:avLst/>
          </a:prstGeom>
          <a:noFill/>
        </p:spPr>
        <p:txBody>
          <a:bodyPr wrap="square" rtlCol="0">
            <a:spAutoFit/>
          </a:bodyPr>
          <a:lstStyle/>
          <a:p>
            <a:pPr algn="ctr"/>
            <a:r>
              <a:rPr lang="en-US" sz="1600" dirty="0">
                <a:solidFill>
                  <a:schemeClr val="bg1"/>
                </a:solidFill>
                <a:latin typeface="Avenir Medium" panose="02000503020000020003" pitchFamily="2" charset="0"/>
              </a:rPr>
              <a:t>DESIGN METRICS</a:t>
            </a:r>
          </a:p>
        </p:txBody>
      </p:sp>
      <p:pic>
        <p:nvPicPr>
          <p:cNvPr id="17412" name="Picture 4" descr="a black and white photo of a large building">
            <a:extLst>
              <a:ext uri="{FF2B5EF4-FFF2-40B4-BE49-F238E27FC236}">
                <a16:creationId xmlns:a16="http://schemas.microsoft.com/office/drawing/2014/main" id="{E0A9A942-3162-64F7-FDC3-D234806F58A9}"/>
              </a:ext>
            </a:extLst>
          </p:cNvPr>
          <p:cNvPicPr>
            <a:picLocks noChangeAspect="1" noChangeArrowheads="1"/>
          </p:cNvPicPr>
          <p:nvPr/>
        </p:nvPicPr>
        <p:blipFill>
          <a:blip r:embed="rId3" cstate="hqprint">
            <a:extLst>
              <a:ext uri="{28A0092B-C50C-407E-A947-70E740481C1C}">
                <a14:useLocalDpi xmlns:a14="http://schemas.microsoft.com/office/drawing/2010/main"/>
              </a:ext>
            </a:extLst>
          </a:blip>
          <a:srcRect/>
          <a:stretch>
            <a:fillRect/>
          </a:stretch>
        </p:blipFill>
        <p:spPr bwMode="auto">
          <a:xfrm>
            <a:off x="8270897" y="1439721"/>
            <a:ext cx="3404311" cy="226954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2EFE6B1-5B85-E5B6-B1F7-0F99EABAB9BF}"/>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168820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C932B2-32D1-3D08-61CF-7063318576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67BBFE-E877-124C-3430-AA7DEBF81A1C}"/>
              </a:ext>
            </a:extLst>
          </p:cNvPr>
          <p:cNvSpPr/>
          <p:nvPr/>
        </p:nvSpPr>
        <p:spPr>
          <a:xfrm>
            <a:off x="748307" y="4280194"/>
            <a:ext cx="971531" cy="12878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73384B-55C0-8641-02F3-D28BD00DE3CE}"/>
              </a:ext>
            </a:extLst>
          </p:cNvPr>
          <p:cNvSpPr/>
          <p:nvPr/>
        </p:nvSpPr>
        <p:spPr>
          <a:xfrm>
            <a:off x="2043705" y="3970513"/>
            <a:ext cx="971531" cy="1597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9C17EC1-DC26-FBFD-5048-FAE8DC481C62}"/>
              </a:ext>
            </a:extLst>
          </p:cNvPr>
          <p:cNvSpPr/>
          <p:nvPr/>
        </p:nvSpPr>
        <p:spPr>
          <a:xfrm>
            <a:off x="3364121" y="3219833"/>
            <a:ext cx="971531" cy="23481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A124367-18EE-D112-3CF9-00DD8828F673}"/>
              </a:ext>
            </a:extLst>
          </p:cNvPr>
          <p:cNvSpPr/>
          <p:nvPr/>
        </p:nvSpPr>
        <p:spPr>
          <a:xfrm>
            <a:off x="4675250" y="2822380"/>
            <a:ext cx="971531" cy="27456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3F4ABA4-9506-9801-1B01-7707B60D2183}"/>
              </a:ext>
            </a:extLst>
          </p:cNvPr>
          <p:cNvSpPr/>
          <p:nvPr/>
        </p:nvSpPr>
        <p:spPr>
          <a:xfrm>
            <a:off x="5989700" y="1363823"/>
            <a:ext cx="971531" cy="42041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FA53C266-6AA7-D329-6851-9EC1EFD1BDB5}"/>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006 // 045</a:t>
            </a:r>
          </a:p>
        </p:txBody>
      </p:sp>
      <p:sp>
        <p:nvSpPr>
          <p:cNvPr id="22" name="TextBox 21">
            <a:extLst>
              <a:ext uri="{FF2B5EF4-FFF2-40B4-BE49-F238E27FC236}">
                <a16:creationId xmlns:a16="http://schemas.microsoft.com/office/drawing/2014/main" id="{9B43C81F-F5DB-40B0-E5F1-4E8A6853C111}"/>
              </a:ext>
            </a:extLst>
          </p:cNvPr>
          <p:cNvSpPr txBox="1"/>
          <p:nvPr/>
        </p:nvSpPr>
        <p:spPr>
          <a:xfrm>
            <a:off x="960609" y="5670023"/>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2015</a:t>
            </a:r>
          </a:p>
        </p:txBody>
      </p:sp>
      <p:sp>
        <p:nvSpPr>
          <p:cNvPr id="23" name="TextBox 22">
            <a:extLst>
              <a:ext uri="{FF2B5EF4-FFF2-40B4-BE49-F238E27FC236}">
                <a16:creationId xmlns:a16="http://schemas.microsoft.com/office/drawing/2014/main" id="{D8B18A35-00FF-43DF-76AC-75C07C1D837C}"/>
              </a:ext>
            </a:extLst>
          </p:cNvPr>
          <p:cNvSpPr txBox="1"/>
          <p:nvPr/>
        </p:nvSpPr>
        <p:spPr>
          <a:xfrm>
            <a:off x="2256009" y="5670023"/>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2016</a:t>
            </a:r>
          </a:p>
        </p:txBody>
      </p:sp>
      <p:sp>
        <p:nvSpPr>
          <p:cNvPr id="24" name="TextBox 23">
            <a:extLst>
              <a:ext uri="{FF2B5EF4-FFF2-40B4-BE49-F238E27FC236}">
                <a16:creationId xmlns:a16="http://schemas.microsoft.com/office/drawing/2014/main" id="{A418D351-23F3-02FA-85A5-9F38C3D73EBF}"/>
              </a:ext>
            </a:extLst>
          </p:cNvPr>
          <p:cNvSpPr txBox="1"/>
          <p:nvPr/>
        </p:nvSpPr>
        <p:spPr>
          <a:xfrm>
            <a:off x="3570459" y="5670023"/>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2017</a:t>
            </a:r>
          </a:p>
        </p:txBody>
      </p:sp>
      <p:sp>
        <p:nvSpPr>
          <p:cNvPr id="27" name="TextBox 26">
            <a:extLst>
              <a:ext uri="{FF2B5EF4-FFF2-40B4-BE49-F238E27FC236}">
                <a16:creationId xmlns:a16="http://schemas.microsoft.com/office/drawing/2014/main" id="{F3CB4CB7-1B10-BDCB-A923-FDEFE1F41156}"/>
              </a:ext>
            </a:extLst>
          </p:cNvPr>
          <p:cNvSpPr txBox="1"/>
          <p:nvPr/>
        </p:nvSpPr>
        <p:spPr>
          <a:xfrm>
            <a:off x="4887554" y="5670023"/>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2018</a:t>
            </a:r>
          </a:p>
        </p:txBody>
      </p:sp>
      <p:sp>
        <p:nvSpPr>
          <p:cNvPr id="31" name="TextBox 30">
            <a:extLst>
              <a:ext uri="{FF2B5EF4-FFF2-40B4-BE49-F238E27FC236}">
                <a16:creationId xmlns:a16="http://schemas.microsoft.com/office/drawing/2014/main" id="{03C1D961-CD09-FC4E-8A55-B54078BA0609}"/>
              </a:ext>
            </a:extLst>
          </p:cNvPr>
          <p:cNvSpPr txBox="1"/>
          <p:nvPr/>
        </p:nvSpPr>
        <p:spPr>
          <a:xfrm>
            <a:off x="6202004" y="5670023"/>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2019</a:t>
            </a:r>
          </a:p>
        </p:txBody>
      </p:sp>
      <p:sp>
        <p:nvSpPr>
          <p:cNvPr id="32" name="TextBox 31">
            <a:extLst>
              <a:ext uri="{FF2B5EF4-FFF2-40B4-BE49-F238E27FC236}">
                <a16:creationId xmlns:a16="http://schemas.microsoft.com/office/drawing/2014/main" id="{485BFAA2-2F2F-778F-4449-3D3A806636F7}"/>
              </a:ext>
            </a:extLst>
          </p:cNvPr>
          <p:cNvSpPr txBox="1"/>
          <p:nvPr/>
        </p:nvSpPr>
        <p:spPr>
          <a:xfrm>
            <a:off x="960609" y="4008246"/>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$1.2B</a:t>
            </a:r>
          </a:p>
        </p:txBody>
      </p:sp>
      <p:sp>
        <p:nvSpPr>
          <p:cNvPr id="33" name="TextBox 32">
            <a:extLst>
              <a:ext uri="{FF2B5EF4-FFF2-40B4-BE49-F238E27FC236}">
                <a16:creationId xmlns:a16="http://schemas.microsoft.com/office/drawing/2014/main" id="{2FCFB4DE-AEEF-8A52-6442-D73168AE9F6F}"/>
              </a:ext>
            </a:extLst>
          </p:cNvPr>
          <p:cNvSpPr txBox="1"/>
          <p:nvPr/>
        </p:nvSpPr>
        <p:spPr>
          <a:xfrm>
            <a:off x="2262359" y="3695235"/>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$1.3B</a:t>
            </a:r>
          </a:p>
        </p:txBody>
      </p:sp>
      <p:sp>
        <p:nvSpPr>
          <p:cNvPr id="34" name="TextBox 33">
            <a:extLst>
              <a:ext uri="{FF2B5EF4-FFF2-40B4-BE49-F238E27FC236}">
                <a16:creationId xmlns:a16="http://schemas.microsoft.com/office/drawing/2014/main" id="{EF1B56A3-8642-9C74-8DF3-67624A8C77B8}"/>
              </a:ext>
            </a:extLst>
          </p:cNvPr>
          <p:cNvSpPr txBox="1"/>
          <p:nvPr/>
        </p:nvSpPr>
        <p:spPr>
          <a:xfrm>
            <a:off x="3576809" y="2920487"/>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$2.1B</a:t>
            </a:r>
          </a:p>
        </p:txBody>
      </p:sp>
      <p:sp>
        <p:nvSpPr>
          <p:cNvPr id="36" name="TextBox 35">
            <a:extLst>
              <a:ext uri="{FF2B5EF4-FFF2-40B4-BE49-F238E27FC236}">
                <a16:creationId xmlns:a16="http://schemas.microsoft.com/office/drawing/2014/main" id="{81B69888-387F-F21E-09C4-7A0F78BB7B5F}"/>
              </a:ext>
            </a:extLst>
          </p:cNvPr>
          <p:cNvSpPr txBox="1"/>
          <p:nvPr/>
        </p:nvSpPr>
        <p:spPr>
          <a:xfrm>
            <a:off x="4887554" y="2537918"/>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$2.3B</a:t>
            </a:r>
          </a:p>
        </p:txBody>
      </p:sp>
      <p:sp>
        <p:nvSpPr>
          <p:cNvPr id="37" name="TextBox 36">
            <a:extLst>
              <a:ext uri="{FF2B5EF4-FFF2-40B4-BE49-F238E27FC236}">
                <a16:creationId xmlns:a16="http://schemas.microsoft.com/office/drawing/2014/main" id="{D4E049A2-4FAC-0F4F-7E09-B0F82E13620C}"/>
              </a:ext>
            </a:extLst>
          </p:cNvPr>
          <p:cNvSpPr txBox="1"/>
          <p:nvPr/>
        </p:nvSpPr>
        <p:spPr>
          <a:xfrm>
            <a:off x="6195654" y="1065193"/>
            <a:ext cx="546925" cy="246221"/>
          </a:xfrm>
          <a:prstGeom prst="rect">
            <a:avLst/>
          </a:prstGeom>
          <a:noFill/>
        </p:spPr>
        <p:txBody>
          <a:bodyPr wrap="square" rtlCol="0">
            <a:spAutoFit/>
          </a:bodyPr>
          <a:lstStyle/>
          <a:p>
            <a:pPr algn="ctr"/>
            <a:r>
              <a:rPr lang="en-US" sz="1000" dirty="0">
                <a:solidFill>
                  <a:schemeClr val="bg1"/>
                </a:solidFill>
                <a:latin typeface="Avenir Medium" panose="02000503020000020003" pitchFamily="2" charset="0"/>
              </a:rPr>
              <a:t>$3.7B</a:t>
            </a:r>
          </a:p>
        </p:txBody>
      </p:sp>
      <p:cxnSp>
        <p:nvCxnSpPr>
          <p:cNvPr id="165" name="Straight Connector 164">
            <a:extLst>
              <a:ext uri="{FF2B5EF4-FFF2-40B4-BE49-F238E27FC236}">
                <a16:creationId xmlns:a16="http://schemas.microsoft.com/office/drawing/2014/main" id="{B1D0E649-5045-8B59-FF16-002DB6EB82D8}"/>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14" name="Group 113">
            <a:extLst>
              <a:ext uri="{FF2B5EF4-FFF2-40B4-BE49-F238E27FC236}">
                <a16:creationId xmlns:a16="http://schemas.microsoft.com/office/drawing/2014/main" id="{4B5F14E8-2CE0-8D61-C1ED-1A2BBDBFFD77}"/>
              </a:ext>
            </a:extLst>
          </p:cNvPr>
          <p:cNvGrpSpPr/>
          <p:nvPr/>
        </p:nvGrpSpPr>
        <p:grpSpPr>
          <a:xfrm>
            <a:off x="7926955" y="1183417"/>
            <a:ext cx="3405538" cy="2057400"/>
            <a:chOff x="2292178" y="1334737"/>
            <a:chExt cx="3405538" cy="2057400"/>
          </a:xfrm>
        </p:grpSpPr>
        <p:grpSp>
          <p:nvGrpSpPr>
            <p:cNvPr id="115" name="Group 114">
              <a:extLst>
                <a:ext uri="{FF2B5EF4-FFF2-40B4-BE49-F238E27FC236}">
                  <a16:creationId xmlns:a16="http://schemas.microsoft.com/office/drawing/2014/main" id="{D62BB7BA-6EED-4064-65D7-FA34B9B6108C}"/>
                </a:ext>
              </a:extLst>
            </p:cNvPr>
            <p:cNvGrpSpPr/>
            <p:nvPr/>
          </p:nvGrpSpPr>
          <p:grpSpPr>
            <a:xfrm>
              <a:off x="2292178" y="1334737"/>
              <a:ext cx="3405538" cy="2057400"/>
              <a:chOff x="2292178" y="1334737"/>
              <a:chExt cx="3405538" cy="2057400"/>
            </a:xfrm>
          </p:grpSpPr>
          <p:grpSp>
            <p:nvGrpSpPr>
              <p:cNvPr id="117" name="Group 116">
                <a:extLst>
                  <a:ext uri="{FF2B5EF4-FFF2-40B4-BE49-F238E27FC236}">
                    <a16:creationId xmlns:a16="http://schemas.microsoft.com/office/drawing/2014/main" id="{45AF33DB-D1C2-A355-06A4-2E9FC90E32E3}"/>
                  </a:ext>
                </a:extLst>
              </p:cNvPr>
              <p:cNvGrpSpPr/>
              <p:nvPr/>
            </p:nvGrpSpPr>
            <p:grpSpPr>
              <a:xfrm>
                <a:off x="2700515" y="1334737"/>
                <a:ext cx="2997201" cy="2057400"/>
                <a:chOff x="629920" y="4047942"/>
                <a:chExt cx="2997201" cy="2057400"/>
              </a:xfrm>
            </p:grpSpPr>
            <p:grpSp>
              <p:nvGrpSpPr>
                <p:cNvPr id="121" name="Group 120">
                  <a:extLst>
                    <a:ext uri="{FF2B5EF4-FFF2-40B4-BE49-F238E27FC236}">
                      <a16:creationId xmlns:a16="http://schemas.microsoft.com/office/drawing/2014/main" id="{9C86507A-B41C-377B-C18F-BE73E31C1B44}"/>
                    </a:ext>
                  </a:extLst>
                </p:cNvPr>
                <p:cNvGrpSpPr/>
                <p:nvPr/>
              </p:nvGrpSpPr>
              <p:grpSpPr>
                <a:xfrm>
                  <a:off x="629920" y="4131407"/>
                  <a:ext cx="2997201" cy="267798"/>
                  <a:chOff x="629920" y="4251969"/>
                  <a:chExt cx="2997201" cy="267798"/>
                </a:xfrm>
              </p:grpSpPr>
              <p:sp>
                <p:nvSpPr>
                  <p:cNvPr id="143" name="TextBox 142">
                    <a:extLst>
                      <a:ext uri="{FF2B5EF4-FFF2-40B4-BE49-F238E27FC236}">
                        <a16:creationId xmlns:a16="http://schemas.microsoft.com/office/drawing/2014/main" id="{9965E2F2-F361-00AB-744C-A19C230EA17C}"/>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Usability</a:t>
                    </a:r>
                  </a:p>
                </p:txBody>
              </p:sp>
              <p:sp>
                <p:nvSpPr>
                  <p:cNvPr id="144" name="TextBox 143">
                    <a:extLst>
                      <a:ext uri="{FF2B5EF4-FFF2-40B4-BE49-F238E27FC236}">
                        <a16:creationId xmlns:a16="http://schemas.microsoft.com/office/drawing/2014/main" id="{C86FFA5E-2DAD-3240-98C8-4CCE7D3190B1}"/>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Testing patterns</a:t>
                    </a:r>
                  </a:p>
                </p:txBody>
              </p:sp>
              <p:cxnSp>
                <p:nvCxnSpPr>
                  <p:cNvPr id="145" name="Straight Connector 144">
                    <a:extLst>
                      <a:ext uri="{FF2B5EF4-FFF2-40B4-BE49-F238E27FC236}">
                        <a16:creationId xmlns:a16="http://schemas.microsoft.com/office/drawing/2014/main" id="{B68D8BF3-B4EE-5EFC-024D-125DF7E65FE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2" name="Group 121">
                  <a:extLst>
                    <a:ext uri="{FF2B5EF4-FFF2-40B4-BE49-F238E27FC236}">
                      <a16:creationId xmlns:a16="http://schemas.microsoft.com/office/drawing/2014/main" id="{296C521E-5203-CBE5-D340-4CA51289D8B1}"/>
                    </a:ext>
                  </a:extLst>
                </p:cNvPr>
                <p:cNvGrpSpPr/>
                <p:nvPr/>
              </p:nvGrpSpPr>
              <p:grpSpPr>
                <a:xfrm>
                  <a:off x="629920" y="4454792"/>
                  <a:ext cx="2997201" cy="267798"/>
                  <a:chOff x="629920" y="4251969"/>
                  <a:chExt cx="2997201" cy="267798"/>
                </a:xfrm>
              </p:grpSpPr>
              <p:sp>
                <p:nvSpPr>
                  <p:cNvPr id="140" name="TextBox 139">
                    <a:extLst>
                      <a:ext uri="{FF2B5EF4-FFF2-40B4-BE49-F238E27FC236}">
                        <a16:creationId xmlns:a16="http://schemas.microsoft.com/office/drawing/2014/main" id="{FE53C3D6-AE53-02AF-733D-BFDA67E30CDA}"/>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Harmony</a:t>
                    </a:r>
                  </a:p>
                </p:txBody>
              </p:sp>
              <p:sp>
                <p:nvSpPr>
                  <p:cNvPr id="141" name="TextBox 140">
                    <a:extLst>
                      <a:ext uri="{FF2B5EF4-FFF2-40B4-BE49-F238E27FC236}">
                        <a16:creationId xmlns:a16="http://schemas.microsoft.com/office/drawing/2014/main" id="{DFD97E46-942A-2CB8-522A-821904AE4A5A}"/>
                      </a:ext>
                    </a:extLst>
                  </p:cNvPr>
                  <p:cNvSpPr txBox="1"/>
                  <p:nvPr/>
                </p:nvSpPr>
                <p:spPr>
                  <a:xfrm>
                    <a:off x="1897147" y="4251969"/>
                    <a:ext cx="158041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Fine tune colors</a:t>
                    </a:r>
                  </a:p>
                </p:txBody>
              </p:sp>
              <p:cxnSp>
                <p:nvCxnSpPr>
                  <p:cNvPr id="142" name="Straight Connector 141">
                    <a:extLst>
                      <a:ext uri="{FF2B5EF4-FFF2-40B4-BE49-F238E27FC236}">
                        <a16:creationId xmlns:a16="http://schemas.microsoft.com/office/drawing/2014/main" id="{B82F4A18-87B8-6B87-2E5C-8DA57340ABA7}"/>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3" name="Group 122">
                  <a:extLst>
                    <a:ext uri="{FF2B5EF4-FFF2-40B4-BE49-F238E27FC236}">
                      <a16:creationId xmlns:a16="http://schemas.microsoft.com/office/drawing/2014/main" id="{2DE4A09A-DB06-0D8E-D50E-0DB3D16C7382}"/>
                    </a:ext>
                  </a:extLst>
                </p:cNvPr>
                <p:cNvGrpSpPr/>
                <p:nvPr/>
              </p:nvGrpSpPr>
              <p:grpSpPr>
                <a:xfrm>
                  <a:off x="629920" y="4800480"/>
                  <a:ext cx="2997201" cy="267798"/>
                  <a:chOff x="629920" y="4251969"/>
                  <a:chExt cx="2997201" cy="267798"/>
                </a:xfrm>
              </p:grpSpPr>
              <p:sp>
                <p:nvSpPr>
                  <p:cNvPr id="137" name="TextBox 136">
                    <a:extLst>
                      <a:ext uri="{FF2B5EF4-FFF2-40B4-BE49-F238E27FC236}">
                        <a16:creationId xmlns:a16="http://schemas.microsoft.com/office/drawing/2014/main" id="{43D2C8CF-0A14-74F3-1882-F991442C72B7}"/>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Performance</a:t>
                    </a:r>
                  </a:p>
                </p:txBody>
              </p:sp>
              <p:sp>
                <p:nvSpPr>
                  <p:cNvPr id="138" name="TextBox 137">
                    <a:extLst>
                      <a:ext uri="{FF2B5EF4-FFF2-40B4-BE49-F238E27FC236}">
                        <a16:creationId xmlns:a16="http://schemas.microsoft.com/office/drawing/2014/main" id="{34097F78-D63E-1194-162C-1A6BF27D2F22}"/>
                      </a:ext>
                    </a:extLst>
                  </p:cNvPr>
                  <p:cNvSpPr txBox="1"/>
                  <p:nvPr/>
                </p:nvSpPr>
                <p:spPr>
                  <a:xfrm>
                    <a:off x="1897147" y="4251969"/>
                    <a:ext cx="158041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Optimize systems</a:t>
                    </a:r>
                  </a:p>
                </p:txBody>
              </p:sp>
              <p:cxnSp>
                <p:nvCxnSpPr>
                  <p:cNvPr id="139" name="Straight Connector 138">
                    <a:extLst>
                      <a:ext uri="{FF2B5EF4-FFF2-40B4-BE49-F238E27FC236}">
                        <a16:creationId xmlns:a16="http://schemas.microsoft.com/office/drawing/2014/main" id="{43BB6C55-E0CF-FD8A-E528-3AC51D8645DE}"/>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4" name="Group 123">
                  <a:extLst>
                    <a:ext uri="{FF2B5EF4-FFF2-40B4-BE49-F238E27FC236}">
                      <a16:creationId xmlns:a16="http://schemas.microsoft.com/office/drawing/2014/main" id="{74A454E9-B393-6EA6-CE62-813B8A7FEA92}"/>
                    </a:ext>
                  </a:extLst>
                </p:cNvPr>
                <p:cNvGrpSpPr/>
                <p:nvPr/>
              </p:nvGrpSpPr>
              <p:grpSpPr>
                <a:xfrm>
                  <a:off x="629920" y="5146168"/>
                  <a:ext cx="2997201" cy="267798"/>
                  <a:chOff x="629920" y="4251969"/>
                  <a:chExt cx="2997201" cy="267798"/>
                </a:xfrm>
              </p:grpSpPr>
              <p:sp>
                <p:nvSpPr>
                  <p:cNvPr id="134" name="TextBox 133">
                    <a:extLst>
                      <a:ext uri="{FF2B5EF4-FFF2-40B4-BE49-F238E27FC236}">
                        <a16:creationId xmlns:a16="http://schemas.microsoft.com/office/drawing/2014/main" id="{B2792528-DDC4-CA73-1C95-6D0108AC4CD5}"/>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Ergonomics</a:t>
                    </a:r>
                  </a:p>
                </p:txBody>
              </p:sp>
              <p:sp>
                <p:nvSpPr>
                  <p:cNvPr id="135" name="TextBox 134">
                    <a:extLst>
                      <a:ext uri="{FF2B5EF4-FFF2-40B4-BE49-F238E27FC236}">
                        <a16:creationId xmlns:a16="http://schemas.microsoft.com/office/drawing/2014/main" id="{1BBAE11E-55DF-347D-6FBB-F90BD12C5C66}"/>
                      </a:ext>
                    </a:extLst>
                  </p:cNvPr>
                  <p:cNvSpPr txBox="1"/>
                  <p:nvPr/>
                </p:nvSpPr>
                <p:spPr>
                  <a:xfrm>
                    <a:off x="1897147" y="4251969"/>
                    <a:ext cx="162744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Adjust dimensions</a:t>
                    </a:r>
                  </a:p>
                </p:txBody>
              </p:sp>
              <p:cxnSp>
                <p:nvCxnSpPr>
                  <p:cNvPr id="136" name="Straight Connector 135">
                    <a:extLst>
                      <a:ext uri="{FF2B5EF4-FFF2-40B4-BE49-F238E27FC236}">
                        <a16:creationId xmlns:a16="http://schemas.microsoft.com/office/drawing/2014/main" id="{EB8D29D9-A548-8C41-DAA3-1903295E6DEB}"/>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5" name="Group 124">
                  <a:extLst>
                    <a:ext uri="{FF2B5EF4-FFF2-40B4-BE49-F238E27FC236}">
                      <a16:creationId xmlns:a16="http://schemas.microsoft.com/office/drawing/2014/main" id="{0DE75F1F-70D7-82B3-1371-645E303F3783}"/>
                    </a:ext>
                  </a:extLst>
                </p:cNvPr>
                <p:cNvGrpSpPr/>
                <p:nvPr/>
              </p:nvGrpSpPr>
              <p:grpSpPr>
                <a:xfrm>
                  <a:off x="629920" y="5491856"/>
                  <a:ext cx="2997201" cy="267798"/>
                  <a:chOff x="629920" y="4251969"/>
                  <a:chExt cx="2997201" cy="267798"/>
                </a:xfrm>
              </p:grpSpPr>
              <p:sp>
                <p:nvSpPr>
                  <p:cNvPr id="131" name="TextBox 130">
                    <a:extLst>
                      <a:ext uri="{FF2B5EF4-FFF2-40B4-BE49-F238E27FC236}">
                        <a16:creationId xmlns:a16="http://schemas.microsoft.com/office/drawing/2014/main" id="{74C8E3D8-29C6-EE22-79AA-C0E94D95830B}"/>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Buildability</a:t>
                    </a:r>
                  </a:p>
                </p:txBody>
              </p:sp>
              <p:sp>
                <p:nvSpPr>
                  <p:cNvPr id="132" name="TextBox 131">
                    <a:extLst>
                      <a:ext uri="{FF2B5EF4-FFF2-40B4-BE49-F238E27FC236}">
                        <a16:creationId xmlns:a16="http://schemas.microsoft.com/office/drawing/2014/main" id="{C36AA2BA-A96E-9EF4-E4E0-940A0024A417}"/>
                      </a:ext>
                    </a:extLst>
                  </p:cNvPr>
                  <p:cNvSpPr txBox="1"/>
                  <p:nvPr/>
                </p:nvSpPr>
                <p:spPr>
                  <a:xfrm>
                    <a:off x="1897147" y="4251969"/>
                    <a:ext cx="162744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Validate tolerance</a:t>
                    </a:r>
                  </a:p>
                </p:txBody>
              </p:sp>
              <p:cxnSp>
                <p:nvCxnSpPr>
                  <p:cNvPr id="133" name="Straight Connector 132">
                    <a:extLst>
                      <a:ext uri="{FF2B5EF4-FFF2-40B4-BE49-F238E27FC236}">
                        <a16:creationId xmlns:a16="http://schemas.microsoft.com/office/drawing/2014/main" id="{1825F586-AEE0-8AA2-7F82-55DC6DEFEE38}"/>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6" name="Group 125">
                  <a:extLst>
                    <a:ext uri="{FF2B5EF4-FFF2-40B4-BE49-F238E27FC236}">
                      <a16:creationId xmlns:a16="http://schemas.microsoft.com/office/drawing/2014/main" id="{C14A9DFA-DD12-8CA0-9E7D-F4C949B0B262}"/>
                    </a:ext>
                  </a:extLst>
                </p:cNvPr>
                <p:cNvGrpSpPr/>
                <p:nvPr/>
              </p:nvGrpSpPr>
              <p:grpSpPr>
                <a:xfrm>
                  <a:off x="629920" y="4047942"/>
                  <a:ext cx="2997201" cy="2057400"/>
                  <a:chOff x="629920" y="2462367"/>
                  <a:chExt cx="2997201" cy="2057400"/>
                </a:xfrm>
              </p:grpSpPr>
              <p:sp>
                <p:nvSpPr>
                  <p:cNvPr id="127" name="TextBox 126">
                    <a:extLst>
                      <a:ext uri="{FF2B5EF4-FFF2-40B4-BE49-F238E27FC236}">
                        <a16:creationId xmlns:a16="http://schemas.microsoft.com/office/drawing/2014/main" id="{EF59A623-6B74-CD86-6ABD-8BE326CBE01A}"/>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Durability</a:t>
                    </a:r>
                  </a:p>
                </p:txBody>
              </p:sp>
              <p:sp>
                <p:nvSpPr>
                  <p:cNvPr id="128" name="TextBox 127">
                    <a:extLst>
                      <a:ext uri="{FF2B5EF4-FFF2-40B4-BE49-F238E27FC236}">
                        <a16:creationId xmlns:a16="http://schemas.microsoft.com/office/drawing/2014/main" id="{98C3350C-FD65-8422-FB3E-FAD8091B5972}"/>
                      </a:ext>
                    </a:extLst>
                  </p:cNvPr>
                  <p:cNvSpPr txBox="1"/>
                  <p:nvPr/>
                </p:nvSpPr>
                <p:spPr>
                  <a:xfrm>
                    <a:off x="1897147" y="4251969"/>
                    <a:ext cx="1627443"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Stress point resilience</a:t>
                    </a:r>
                  </a:p>
                </p:txBody>
              </p:sp>
              <p:cxnSp>
                <p:nvCxnSpPr>
                  <p:cNvPr id="129" name="Straight Connector 128">
                    <a:extLst>
                      <a:ext uri="{FF2B5EF4-FFF2-40B4-BE49-F238E27FC236}">
                        <a16:creationId xmlns:a16="http://schemas.microsoft.com/office/drawing/2014/main" id="{63FE2D61-D76E-BD4C-0E54-A58EB2552E08}"/>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D96CB7CB-9876-6F46-3655-B4C088336E17}"/>
                      </a:ext>
                    </a:extLst>
                  </p:cNvPr>
                  <p:cNvCxnSpPr>
                    <a:cxnSpLocks/>
                  </p:cNvCxnSpPr>
                  <p:nvPr/>
                </p:nvCxnSpPr>
                <p:spPr>
                  <a:xfrm>
                    <a:off x="629920" y="24623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cxnSp>
            <p:nvCxnSpPr>
              <p:cNvPr id="118" name="Straight Connector 117">
                <a:extLst>
                  <a:ext uri="{FF2B5EF4-FFF2-40B4-BE49-F238E27FC236}">
                    <a16:creationId xmlns:a16="http://schemas.microsoft.com/office/drawing/2014/main" id="{A5033285-6729-FAEA-0006-0B5C54634820}"/>
                  </a:ext>
                </a:extLst>
              </p:cNvPr>
              <p:cNvCxnSpPr>
                <a:cxnSpLocks/>
              </p:cNvCxnSpPr>
              <p:nvPr/>
            </p:nvCxnSpPr>
            <p:spPr>
              <a:xfrm flipV="1">
                <a:off x="3872609"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19" name="Rectangle 118">
                <a:extLst>
                  <a:ext uri="{FF2B5EF4-FFF2-40B4-BE49-F238E27FC236}">
                    <a16:creationId xmlns:a16="http://schemas.microsoft.com/office/drawing/2014/main" id="{AEE13BF2-ADE3-6C40-0C51-9FF2B53B5BE2}"/>
                  </a:ext>
                </a:extLst>
              </p:cNvPr>
              <p:cNvSpPr/>
              <p:nvPr/>
            </p:nvSpPr>
            <p:spPr>
              <a:xfrm>
                <a:off x="2292178" y="1334738"/>
                <a:ext cx="402866" cy="205681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TextBox 119">
                <a:extLst>
                  <a:ext uri="{FF2B5EF4-FFF2-40B4-BE49-F238E27FC236}">
                    <a16:creationId xmlns:a16="http://schemas.microsoft.com/office/drawing/2014/main" id="{06657A83-FD71-E9B2-FF0C-E0C2F646290F}"/>
                  </a:ext>
                </a:extLst>
              </p:cNvPr>
              <p:cNvSpPr txBox="1"/>
              <p:nvPr/>
            </p:nvSpPr>
            <p:spPr>
              <a:xfrm rot="16200000">
                <a:off x="1571643" y="2224642"/>
                <a:ext cx="1843938" cy="27699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Refinement</a:t>
                </a:r>
              </a:p>
            </p:txBody>
          </p:sp>
        </p:grpSp>
        <p:cxnSp>
          <p:nvCxnSpPr>
            <p:cNvPr id="116" name="Straight Connector 115">
              <a:extLst>
                <a:ext uri="{FF2B5EF4-FFF2-40B4-BE49-F238E27FC236}">
                  <a16:creationId xmlns:a16="http://schemas.microsoft.com/office/drawing/2014/main" id="{84E2F636-3228-FC35-1206-839D308F2896}"/>
                </a:ext>
              </a:extLst>
            </p:cNvPr>
            <p:cNvCxnSpPr/>
            <p:nvPr/>
          </p:nvCxnSpPr>
          <p:spPr>
            <a:xfrm>
              <a:off x="5697716"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83" name="Group 182">
            <a:extLst>
              <a:ext uri="{FF2B5EF4-FFF2-40B4-BE49-F238E27FC236}">
                <a16:creationId xmlns:a16="http://schemas.microsoft.com/office/drawing/2014/main" id="{A1A24110-975C-0A80-4D2D-C20923E29702}"/>
              </a:ext>
            </a:extLst>
          </p:cNvPr>
          <p:cNvGrpSpPr/>
          <p:nvPr/>
        </p:nvGrpSpPr>
        <p:grpSpPr>
          <a:xfrm>
            <a:off x="7926955" y="3511211"/>
            <a:ext cx="3405538" cy="2057400"/>
            <a:chOff x="2292178" y="1334737"/>
            <a:chExt cx="3405538" cy="2057400"/>
          </a:xfrm>
        </p:grpSpPr>
        <p:grpSp>
          <p:nvGrpSpPr>
            <p:cNvPr id="184" name="Group 183">
              <a:extLst>
                <a:ext uri="{FF2B5EF4-FFF2-40B4-BE49-F238E27FC236}">
                  <a16:creationId xmlns:a16="http://schemas.microsoft.com/office/drawing/2014/main" id="{C1A52583-EF90-5EEF-852C-27D9EAB3CCBF}"/>
                </a:ext>
              </a:extLst>
            </p:cNvPr>
            <p:cNvGrpSpPr/>
            <p:nvPr/>
          </p:nvGrpSpPr>
          <p:grpSpPr>
            <a:xfrm>
              <a:off x="2292178" y="1334737"/>
              <a:ext cx="3405538" cy="2057400"/>
              <a:chOff x="2292178" y="1334737"/>
              <a:chExt cx="3405538" cy="2057400"/>
            </a:xfrm>
          </p:grpSpPr>
          <p:grpSp>
            <p:nvGrpSpPr>
              <p:cNvPr id="186" name="Group 185">
                <a:extLst>
                  <a:ext uri="{FF2B5EF4-FFF2-40B4-BE49-F238E27FC236}">
                    <a16:creationId xmlns:a16="http://schemas.microsoft.com/office/drawing/2014/main" id="{DB007AC4-28D6-86D4-7D76-14D32BB6D062}"/>
                  </a:ext>
                </a:extLst>
              </p:cNvPr>
              <p:cNvGrpSpPr/>
              <p:nvPr/>
            </p:nvGrpSpPr>
            <p:grpSpPr>
              <a:xfrm>
                <a:off x="2700515" y="1334737"/>
                <a:ext cx="2997201" cy="2057400"/>
                <a:chOff x="629920" y="4047942"/>
                <a:chExt cx="2997201" cy="2057400"/>
              </a:xfrm>
            </p:grpSpPr>
            <p:grpSp>
              <p:nvGrpSpPr>
                <p:cNvPr id="190" name="Group 189">
                  <a:extLst>
                    <a:ext uri="{FF2B5EF4-FFF2-40B4-BE49-F238E27FC236}">
                      <a16:creationId xmlns:a16="http://schemas.microsoft.com/office/drawing/2014/main" id="{D424FFF1-C387-4C71-22EC-B165C5FADC3E}"/>
                    </a:ext>
                  </a:extLst>
                </p:cNvPr>
                <p:cNvGrpSpPr/>
                <p:nvPr/>
              </p:nvGrpSpPr>
              <p:grpSpPr>
                <a:xfrm>
                  <a:off x="629920" y="4131407"/>
                  <a:ext cx="2997201" cy="267798"/>
                  <a:chOff x="629920" y="4251969"/>
                  <a:chExt cx="2997201" cy="267798"/>
                </a:xfrm>
              </p:grpSpPr>
              <p:sp>
                <p:nvSpPr>
                  <p:cNvPr id="212" name="TextBox 211">
                    <a:extLst>
                      <a:ext uri="{FF2B5EF4-FFF2-40B4-BE49-F238E27FC236}">
                        <a16:creationId xmlns:a16="http://schemas.microsoft.com/office/drawing/2014/main" id="{FE01B4C9-3B85-23C1-F824-DAE0D4E9C8D4}"/>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Digital</a:t>
                    </a:r>
                  </a:p>
                </p:txBody>
              </p:sp>
              <p:sp>
                <p:nvSpPr>
                  <p:cNvPr id="213" name="TextBox 212">
                    <a:extLst>
                      <a:ext uri="{FF2B5EF4-FFF2-40B4-BE49-F238E27FC236}">
                        <a16:creationId xmlns:a16="http://schemas.microsoft.com/office/drawing/2014/main" id="{07091C35-6B11-9916-F8FD-D6CEABD4F62D}"/>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Translate prototypes</a:t>
                    </a:r>
                  </a:p>
                </p:txBody>
              </p:sp>
              <p:cxnSp>
                <p:nvCxnSpPr>
                  <p:cNvPr id="214" name="Straight Connector 213">
                    <a:extLst>
                      <a:ext uri="{FF2B5EF4-FFF2-40B4-BE49-F238E27FC236}">
                        <a16:creationId xmlns:a16="http://schemas.microsoft.com/office/drawing/2014/main" id="{29C42EDB-FF68-8F96-3051-CEAF6FA620FB}"/>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91" name="Group 190">
                  <a:extLst>
                    <a:ext uri="{FF2B5EF4-FFF2-40B4-BE49-F238E27FC236}">
                      <a16:creationId xmlns:a16="http://schemas.microsoft.com/office/drawing/2014/main" id="{AB7D692F-79D6-24E2-22E4-8B0EBDAF6F11}"/>
                    </a:ext>
                  </a:extLst>
                </p:cNvPr>
                <p:cNvGrpSpPr/>
                <p:nvPr/>
              </p:nvGrpSpPr>
              <p:grpSpPr>
                <a:xfrm>
                  <a:off x="629920" y="4454792"/>
                  <a:ext cx="2997201" cy="267798"/>
                  <a:chOff x="629920" y="4251969"/>
                  <a:chExt cx="2997201" cy="267798"/>
                </a:xfrm>
              </p:grpSpPr>
              <p:sp>
                <p:nvSpPr>
                  <p:cNvPr id="209" name="TextBox 208">
                    <a:extLst>
                      <a:ext uri="{FF2B5EF4-FFF2-40B4-BE49-F238E27FC236}">
                        <a16:creationId xmlns:a16="http://schemas.microsoft.com/office/drawing/2014/main" id="{74B0708C-26B1-8148-63AB-253349DD483A}"/>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Packaging</a:t>
                    </a:r>
                  </a:p>
                </p:txBody>
              </p:sp>
              <p:sp>
                <p:nvSpPr>
                  <p:cNvPr id="210" name="TextBox 209">
                    <a:extLst>
                      <a:ext uri="{FF2B5EF4-FFF2-40B4-BE49-F238E27FC236}">
                        <a16:creationId xmlns:a16="http://schemas.microsoft.com/office/drawing/2014/main" id="{934AD38D-C2DD-36B7-9235-739BED40E6B3}"/>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Engineering </a:t>
                    </a:r>
                    <a:r>
                      <a:rPr lang="en-US" sz="800" dirty="0" err="1">
                        <a:solidFill>
                          <a:schemeClr val="bg1"/>
                        </a:solidFill>
                        <a:latin typeface="Avenir Book" panose="02000503020000020003" pitchFamily="2" charset="0"/>
                      </a:rPr>
                      <a:t>dielines</a:t>
                    </a:r>
                    <a:endParaRPr lang="en-US" sz="800" dirty="0">
                      <a:solidFill>
                        <a:schemeClr val="bg1"/>
                      </a:solidFill>
                      <a:latin typeface="Avenir Book" panose="02000503020000020003" pitchFamily="2" charset="0"/>
                    </a:endParaRPr>
                  </a:p>
                </p:txBody>
              </p:sp>
              <p:cxnSp>
                <p:nvCxnSpPr>
                  <p:cNvPr id="211" name="Straight Connector 210">
                    <a:extLst>
                      <a:ext uri="{FF2B5EF4-FFF2-40B4-BE49-F238E27FC236}">
                        <a16:creationId xmlns:a16="http://schemas.microsoft.com/office/drawing/2014/main" id="{2D589301-E98C-6A9C-F8E7-F80B6631E026}"/>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92" name="Group 191">
                  <a:extLst>
                    <a:ext uri="{FF2B5EF4-FFF2-40B4-BE49-F238E27FC236}">
                      <a16:creationId xmlns:a16="http://schemas.microsoft.com/office/drawing/2014/main" id="{33631D16-B302-F218-E654-2210227EBF3A}"/>
                    </a:ext>
                  </a:extLst>
                </p:cNvPr>
                <p:cNvGrpSpPr/>
                <p:nvPr/>
              </p:nvGrpSpPr>
              <p:grpSpPr>
                <a:xfrm>
                  <a:off x="629920" y="4800480"/>
                  <a:ext cx="2997201" cy="267798"/>
                  <a:chOff x="629920" y="4251969"/>
                  <a:chExt cx="2997201" cy="267798"/>
                </a:xfrm>
              </p:grpSpPr>
              <p:sp>
                <p:nvSpPr>
                  <p:cNvPr id="206" name="TextBox 205">
                    <a:extLst>
                      <a:ext uri="{FF2B5EF4-FFF2-40B4-BE49-F238E27FC236}">
                        <a16:creationId xmlns:a16="http://schemas.microsoft.com/office/drawing/2014/main" id="{939AC64E-F24E-6234-8A09-FFCA4B2D42A0}"/>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Service</a:t>
                    </a:r>
                  </a:p>
                </p:txBody>
              </p:sp>
              <p:sp>
                <p:nvSpPr>
                  <p:cNvPr id="207" name="TextBox 206">
                    <a:extLst>
                      <a:ext uri="{FF2B5EF4-FFF2-40B4-BE49-F238E27FC236}">
                        <a16:creationId xmlns:a16="http://schemas.microsoft.com/office/drawing/2014/main" id="{AD5428FB-489E-A627-75C6-194C7E467687}"/>
                      </a:ext>
                    </a:extLst>
                  </p:cNvPr>
                  <p:cNvSpPr txBox="1"/>
                  <p:nvPr/>
                </p:nvSpPr>
                <p:spPr>
                  <a:xfrm>
                    <a:off x="1897147" y="4251969"/>
                    <a:ext cx="1585961"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Operational workflow</a:t>
                    </a:r>
                  </a:p>
                </p:txBody>
              </p:sp>
              <p:cxnSp>
                <p:nvCxnSpPr>
                  <p:cNvPr id="208" name="Straight Connector 207">
                    <a:extLst>
                      <a:ext uri="{FF2B5EF4-FFF2-40B4-BE49-F238E27FC236}">
                        <a16:creationId xmlns:a16="http://schemas.microsoft.com/office/drawing/2014/main" id="{93F82CB5-656F-A86F-EC93-34D4B7C58149}"/>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93" name="Group 192">
                  <a:extLst>
                    <a:ext uri="{FF2B5EF4-FFF2-40B4-BE49-F238E27FC236}">
                      <a16:creationId xmlns:a16="http://schemas.microsoft.com/office/drawing/2014/main" id="{97C87A8D-ECF9-DA3E-F8BA-970953520108}"/>
                    </a:ext>
                  </a:extLst>
                </p:cNvPr>
                <p:cNvGrpSpPr/>
                <p:nvPr/>
              </p:nvGrpSpPr>
              <p:grpSpPr>
                <a:xfrm>
                  <a:off x="629920" y="5146168"/>
                  <a:ext cx="2997201" cy="267798"/>
                  <a:chOff x="629920" y="4251969"/>
                  <a:chExt cx="2997201" cy="267798"/>
                </a:xfrm>
              </p:grpSpPr>
              <p:sp>
                <p:nvSpPr>
                  <p:cNvPr id="203" name="TextBox 202">
                    <a:extLst>
                      <a:ext uri="{FF2B5EF4-FFF2-40B4-BE49-F238E27FC236}">
                        <a16:creationId xmlns:a16="http://schemas.microsoft.com/office/drawing/2014/main" id="{DD219ABD-BE83-F46E-516E-5478FBA57F0F}"/>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Strategy</a:t>
                    </a:r>
                  </a:p>
                </p:txBody>
              </p:sp>
              <p:sp>
                <p:nvSpPr>
                  <p:cNvPr id="204" name="TextBox 203">
                    <a:extLst>
                      <a:ext uri="{FF2B5EF4-FFF2-40B4-BE49-F238E27FC236}">
                        <a16:creationId xmlns:a16="http://schemas.microsoft.com/office/drawing/2014/main" id="{87154FF2-50CC-604C-C08A-D063F8B1D5A6}"/>
                      </a:ext>
                    </a:extLst>
                  </p:cNvPr>
                  <p:cNvSpPr txBox="1"/>
                  <p:nvPr/>
                </p:nvSpPr>
                <p:spPr>
                  <a:xfrm>
                    <a:off x="1897147" y="4251969"/>
                    <a:ext cx="153401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Convert insights </a:t>
                    </a:r>
                  </a:p>
                </p:txBody>
              </p:sp>
              <p:cxnSp>
                <p:nvCxnSpPr>
                  <p:cNvPr id="205" name="Straight Connector 204">
                    <a:extLst>
                      <a:ext uri="{FF2B5EF4-FFF2-40B4-BE49-F238E27FC236}">
                        <a16:creationId xmlns:a16="http://schemas.microsoft.com/office/drawing/2014/main" id="{D1526735-65B3-57B7-C951-538C7FD5D3A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94" name="Group 193">
                  <a:extLst>
                    <a:ext uri="{FF2B5EF4-FFF2-40B4-BE49-F238E27FC236}">
                      <a16:creationId xmlns:a16="http://schemas.microsoft.com/office/drawing/2014/main" id="{3B34EDBF-95F5-AB3B-0282-2A301B67E55F}"/>
                    </a:ext>
                  </a:extLst>
                </p:cNvPr>
                <p:cNvGrpSpPr/>
                <p:nvPr/>
              </p:nvGrpSpPr>
              <p:grpSpPr>
                <a:xfrm>
                  <a:off x="629920" y="5491856"/>
                  <a:ext cx="2997201" cy="267798"/>
                  <a:chOff x="629920" y="4251969"/>
                  <a:chExt cx="2997201" cy="267798"/>
                </a:xfrm>
              </p:grpSpPr>
              <p:sp>
                <p:nvSpPr>
                  <p:cNvPr id="200" name="TextBox 199">
                    <a:extLst>
                      <a:ext uri="{FF2B5EF4-FFF2-40B4-BE49-F238E27FC236}">
                        <a16:creationId xmlns:a16="http://schemas.microsoft.com/office/drawing/2014/main" id="{EB595658-D9A3-FE17-27F9-2E0FC45100FB}"/>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Brand</a:t>
                    </a:r>
                  </a:p>
                </p:txBody>
              </p:sp>
              <p:sp>
                <p:nvSpPr>
                  <p:cNvPr id="201" name="TextBox 200">
                    <a:extLst>
                      <a:ext uri="{FF2B5EF4-FFF2-40B4-BE49-F238E27FC236}">
                        <a16:creationId xmlns:a16="http://schemas.microsoft.com/office/drawing/2014/main" id="{BFAA04C9-261E-61E5-1A3A-C21A3AFB5F63}"/>
                      </a:ext>
                    </a:extLst>
                  </p:cNvPr>
                  <p:cNvSpPr txBox="1"/>
                  <p:nvPr/>
                </p:nvSpPr>
                <p:spPr>
                  <a:xfrm>
                    <a:off x="1897147" y="4251969"/>
                    <a:ext cx="1629299"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Cohesive assets</a:t>
                    </a:r>
                  </a:p>
                </p:txBody>
              </p:sp>
              <p:cxnSp>
                <p:nvCxnSpPr>
                  <p:cNvPr id="202" name="Straight Connector 201">
                    <a:extLst>
                      <a:ext uri="{FF2B5EF4-FFF2-40B4-BE49-F238E27FC236}">
                        <a16:creationId xmlns:a16="http://schemas.microsoft.com/office/drawing/2014/main" id="{230FA5E4-F94B-B80F-7977-63C0B1E39B9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95" name="Group 194">
                  <a:extLst>
                    <a:ext uri="{FF2B5EF4-FFF2-40B4-BE49-F238E27FC236}">
                      <a16:creationId xmlns:a16="http://schemas.microsoft.com/office/drawing/2014/main" id="{975B3CC9-C76A-5CFB-9754-04B2B74BDAC2}"/>
                    </a:ext>
                  </a:extLst>
                </p:cNvPr>
                <p:cNvGrpSpPr/>
                <p:nvPr/>
              </p:nvGrpSpPr>
              <p:grpSpPr>
                <a:xfrm>
                  <a:off x="629920" y="4047942"/>
                  <a:ext cx="2997201" cy="2057400"/>
                  <a:chOff x="629920" y="2462367"/>
                  <a:chExt cx="2997201" cy="2057400"/>
                </a:xfrm>
              </p:grpSpPr>
              <p:sp>
                <p:nvSpPr>
                  <p:cNvPr id="196" name="TextBox 195">
                    <a:extLst>
                      <a:ext uri="{FF2B5EF4-FFF2-40B4-BE49-F238E27FC236}">
                        <a16:creationId xmlns:a16="http://schemas.microsoft.com/office/drawing/2014/main" id="{A2E2B7F3-46EC-34DC-2284-8D863089663D}"/>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Environmental</a:t>
                    </a:r>
                  </a:p>
                </p:txBody>
              </p:sp>
              <p:sp>
                <p:nvSpPr>
                  <p:cNvPr id="197" name="TextBox 196">
                    <a:extLst>
                      <a:ext uri="{FF2B5EF4-FFF2-40B4-BE49-F238E27FC236}">
                        <a16:creationId xmlns:a16="http://schemas.microsoft.com/office/drawing/2014/main" id="{DD293A2A-4B24-5F61-C5AC-EEA7AEB2974A}"/>
                      </a:ext>
                    </a:extLst>
                  </p:cNvPr>
                  <p:cNvSpPr txBox="1"/>
                  <p:nvPr/>
                </p:nvSpPr>
                <p:spPr>
                  <a:xfrm>
                    <a:off x="1897147" y="4251969"/>
                    <a:ext cx="1629301"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Specify circulation</a:t>
                    </a:r>
                  </a:p>
                </p:txBody>
              </p:sp>
              <p:cxnSp>
                <p:nvCxnSpPr>
                  <p:cNvPr id="198" name="Straight Connector 197">
                    <a:extLst>
                      <a:ext uri="{FF2B5EF4-FFF2-40B4-BE49-F238E27FC236}">
                        <a16:creationId xmlns:a16="http://schemas.microsoft.com/office/drawing/2014/main" id="{0DD34BCA-D014-5F05-F4C3-29EFF4DCDA2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F505C755-C491-9EAA-35A1-87A767476701}"/>
                      </a:ext>
                    </a:extLst>
                  </p:cNvPr>
                  <p:cNvCxnSpPr>
                    <a:cxnSpLocks/>
                  </p:cNvCxnSpPr>
                  <p:nvPr/>
                </p:nvCxnSpPr>
                <p:spPr>
                  <a:xfrm>
                    <a:off x="629920" y="24623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cxnSp>
            <p:nvCxnSpPr>
              <p:cNvPr id="187" name="Straight Connector 186">
                <a:extLst>
                  <a:ext uri="{FF2B5EF4-FFF2-40B4-BE49-F238E27FC236}">
                    <a16:creationId xmlns:a16="http://schemas.microsoft.com/office/drawing/2014/main" id="{47F21434-5158-369A-0089-C34F4227D3CC}"/>
                  </a:ext>
                </a:extLst>
              </p:cNvPr>
              <p:cNvCxnSpPr>
                <a:cxnSpLocks/>
              </p:cNvCxnSpPr>
              <p:nvPr/>
            </p:nvCxnSpPr>
            <p:spPr>
              <a:xfrm flipV="1">
                <a:off x="3872609"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88" name="Rectangle 187">
                <a:extLst>
                  <a:ext uri="{FF2B5EF4-FFF2-40B4-BE49-F238E27FC236}">
                    <a16:creationId xmlns:a16="http://schemas.microsoft.com/office/drawing/2014/main" id="{E7E4DE48-E0A6-5BE1-91F7-87E0FA66BE9B}"/>
                  </a:ext>
                </a:extLst>
              </p:cNvPr>
              <p:cNvSpPr/>
              <p:nvPr/>
            </p:nvSpPr>
            <p:spPr>
              <a:xfrm>
                <a:off x="2292178" y="1334738"/>
                <a:ext cx="402866" cy="205681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a:extLst>
                  <a:ext uri="{FF2B5EF4-FFF2-40B4-BE49-F238E27FC236}">
                    <a16:creationId xmlns:a16="http://schemas.microsoft.com/office/drawing/2014/main" id="{F7A19EDF-EB23-F41F-2390-D97BB051A9D0}"/>
                  </a:ext>
                </a:extLst>
              </p:cNvPr>
              <p:cNvSpPr txBox="1"/>
              <p:nvPr/>
            </p:nvSpPr>
            <p:spPr>
              <a:xfrm rot="16200000">
                <a:off x="1571643" y="2224642"/>
                <a:ext cx="1843938" cy="27699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Development</a:t>
                </a:r>
              </a:p>
            </p:txBody>
          </p:sp>
        </p:grpSp>
        <p:cxnSp>
          <p:nvCxnSpPr>
            <p:cNvPr id="185" name="Straight Connector 184">
              <a:extLst>
                <a:ext uri="{FF2B5EF4-FFF2-40B4-BE49-F238E27FC236}">
                  <a16:creationId xmlns:a16="http://schemas.microsoft.com/office/drawing/2014/main" id="{2278B5FD-BA60-E98D-A060-9F4D30019E72}"/>
                </a:ext>
              </a:extLst>
            </p:cNvPr>
            <p:cNvCxnSpPr/>
            <p:nvPr/>
          </p:nvCxnSpPr>
          <p:spPr>
            <a:xfrm>
              <a:off x="5697716"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7" name="TextBox 6">
            <a:extLst>
              <a:ext uri="{FF2B5EF4-FFF2-40B4-BE49-F238E27FC236}">
                <a16:creationId xmlns:a16="http://schemas.microsoft.com/office/drawing/2014/main" id="{CA60D425-D4C2-6450-774B-9249660A4096}"/>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658450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519ABC5-F48D-9F06-06F5-262160DF95A2}"/>
            </a:ext>
          </a:extLst>
        </p:cNvPr>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E5A6E1F3-12B5-1CED-DA90-D1C5064E8BBD}"/>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C09F506B-3372-84C2-1404-7A4D3ABC24BF}"/>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007 // 045</a:t>
            </a:r>
          </a:p>
        </p:txBody>
      </p:sp>
      <p:cxnSp>
        <p:nvCxnSpPr>
          <p:cNvPr id="33" name="Straight Connector 32">
            <a:extLst>
              <a:ext uri="{FF2B5EF4-FFF2-40B4-BE49-F238E27FC236}">
                <a16:creationId xmlns:a16="http://schemas.microsoft.com/office/drawing/2014/main" id="{A5B12BE0-466B-F0D9-5562-171B6A683561}"/>
              </a:ext>
            </a:extLst>
          </p:cNvPr>
          <p:cNvCxnSpPr>
            <a:cxnSpLocks/>
          </p:cNvCxnSpPr>
          <p:nvPr/>
        </p:nvCxnSpPr>
        <p:spPr>
          <a:xfrm>
            <a:off x="8064619" y="4206164"/>
            <a:ext cx="1308519"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09607D31-AA1E-72E1-C3F6-126C345598A6}"/>
              </a:ext>
            </a:extLst>
          </p:cNvPr>
          <p:cNvSpPr txBox="1"/>
          <p:nvPr/>
        </p:nvSpPr>
        <p:spPr>
          <a:xfrm>
            <a:off x="7957930" y="4268905"/>
            <a:ext cx="3497399" cy="999697"/>
          </a:xfrm>
          <a:prstGeom prst="rect">
            <a:avLst/>
          </a:prstGeom>
          <a:noFill/>
        </p:spPr>
        <p:txBody>
          <a:bodyPr wrap="square" rtlCol="0">
            <a:spAutoFit/>
          </a:bodyPr>
          <a:lstStyle/>
          <a:p>
            <a:pPr>
              <a:lnSpc>
                <a:spcPct val="150000"/>
              </a:lnSpc>
            </a:pPr>
            <a:r>
              <a:rPr lang="en-US" sz="800" dirty="0">
                <a:solidFill>
                  <a:schemeClr val="bg1"/>
                </a:solidFill>
                <a:latin typeface="Avenir Light" panose="020B0402020203020204" pitchFamily="34" charset="77"/>
              </a:rPr>
              <a:t>This process reframes scattered information into focused insights, often shifting the initial problem into a more accurate and actionable question. By clarifying what matters most, interpretation aligns teams around </a:t>
            </a:r>
          </a:p>
          <a:p>
            <a:pPr>
              <a:lnSpc>
                <a:spcPct val="150000"/>
              </a:lnSpc>
            </a:pPr>
            <a:r>
              <a:rPr lang="en-US" sz="800" dirty="0">
                <a:solidFill>
                  <a:schemeClr val="bg1"/>
                </a:solidFill>
                <a:latin typeface="Avenir Light" panose="020B0402020203020204" pitchFamily="34" charset="77"/>
              </a:rPr>
              <a:t>a shared understanding and creates a strategic foundation that directs </a:t>
            </a:r>
          </a:p>
          <a:p>
            <a:pPr>
              <a:lnSpc>
                <a:spcPct val="150000"/>
              </a:lnSpc>
            </a:pPr>
            <a:r>
              <a:rPr lang="en-US" sz="800" dirty="0">
                <a:solidFill>
                  <a:schemeClr val="bg1"/>
                </a:solidFill>
                <a:latin typeface="Avenir Light" panose="020B0402020203020204" pitchFamily="34" charset="77"/>
              </a:rPr>
              <a:t>all subsequent design decisions.</a:t>
            </a:r>
          </a:p>
        </p:txBody>
      </p:sp>
      <p:sp>
        <p:nvSpPr>
          <p:cNvPr id="62" name="TextBox 61">
            <a:extLst>
              <a:ext uri="{FF2B5EF4-FFF2-40B4-BE49-F238E27FC236}">
                <a16:creationId xmlns:a16="http://schemas.microsoft.com/office/drawing/2014/main" id="{372EA6E9-CA07-14C2-AE48-DF94379FF1A4}"/>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METHODOLOGY</a:t>
            </a:r>
          </a:p>
        </p:txBody>
      </p:sp>
      <p:cxnSp>
        <p:nvCxnSpPr>
          <p:cNvPr id="63" name="Straight Connector 62">
            <a:extLst>
              <a:ext uri="{FF2B5EF4-FFF2-40B4-BE49-F238E27FC236}">
                <a16:creationId xmlns:a16="http://schemas.microsoft.com/office/drawing/2014/main" id="{3129B541-0D38-0573-3D46-61CB0D4E1766}"/>
              </a:ext>
            </a:extLst>
          </p:cNvPr>
          <p:cNvCxnSpPr>
            <a:cxnSpLocks/>
          </p:cNvCxnSpPr>
          <p:nvPr/>
        </p:nvCxnSpPr>
        <p:spPr>
          <a:xfrm>
            <a:off x="1776549" y="580615"/>
            <a:ext cx="10115235"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2D4FD6-CF67-3B72-4509-F1A2CEB56A9C}"/>
              </a:ext>
            </a:extLst>
          </p:cNvPr>
          <p:cNvCxnSpPr>
            <a:cxnSpLocks/>
          </p:cNvCxnSpPr>
          <p:nvPr/>
        </p:nvCxnSpPr>
        <p:spPr>
          <a:xfrm>
            <a:off x="736669" y="3069073"/>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96A494E-F409-5B7E-53A4-44486911ED51}"/>
              </a:ext>
            </a:extLst>
          </p:cNvPr>
          <p:cNvSpPr txBox="1"/>
          <p:nvPr/>
        </p:nvSpPr>
        <p:spPr>
          <a:xfrm>
            <a:off x="736669" y="3131814"/>
            <a:ext cx="5478213" cy="815031"/>
          </a:xfrm>
          <a:prstGeom prst="rect">
            <a:avLst/>
          </a:prstGeom>
          <a:noFill/>
        </p:spPr>
        <p:txBody>
          <a:bodyPr wrap="square" lIns="0" rIns="0" rtlCol="0">
            <a:spAutoFit/>
          </a:bodyPr>
          <a:lstStyle/>
          <a:p>
            <a:pPr>
              <a:lnSpc>
                <a:spcPct val="150000"/>
              </a:lnSpc>
            </a:pPr>
            <a:r>
              <a:rPr lang="en-US" sz="800" dirty="0">
                <a:solidFill>
                  <a:schemeClr val="bg1"/>
                </a:solidFill>
                <a:latin typeface="Avenir Light" panose="020B0402020203020204" pitchFamily="34" charset="77"/>
              </a:rPr>
              <a:t>Interpretation organizes what was learned into clear insights that define the real problem.</a:t>
            </a:r>
          </a:p>
          <a:p>
            <a:pPr>
              <a:lnSpc>
                <a:spcPct val="150000"/>
              </a:lnSpc>
            </a:pPr>
            <a:r>
              <a:rPr lang="en-US" sz="800" dirty="0">
                <a:solidFill>
                  <a:schemeClr val="bg1"/>
                </a:solidFill>
                <a:latin typeface="Avenir Light" panose="020B0402020203020204" pitchFamily="34" charset="77"/>
              </a:rPr>
              <a:t>In this phase, designers turn raw research into meaning — filtering observations, data, and stories </a:t>
            </a:r>
          </a:p>
          <a:p>
            <a:pPr>
              <a:lnSpc>
                <a:spcPct val="150000"/>
              </a:lnSpc>
            </a:pPr>
            <a:r>
              <a:rPr lang="en-US" sz="800" dirty="0">
                <a:solidFill>
                  <a:schemeClr val="bg1"/>
                </a:solidFill>
                <a:latin typeface="Avenir Light" panose="020B0402020203020204" pitchFamily="34" charset="77"/>
              </a:rPr>
              <a:t>to uncover patterns and relationships. Rather than accepting the surface-level problem, interpretation </a:t>
            </a:r>
          </a:p>
          <a:p>
            <a:pPr>
              <a:lnSpc>
                <a:spcPct val="150000"/>
              </a:lnSpc>
            </a:pPr>
            <a:r>
              <a:rPr lang="en-US" sz="800" dirty="0">
                <a:solidFill>
                  <a:schemeClr val="bg1"/>
                </a:solidFill>
                <a:latin typeface="Avenir Light" panose="020B0402020203020204" pitchFamily="34" charset="77"/>
              </a:rPr>
              <a:t>digs deeper to understand underlying motivations, unmet needs, and points of friction.</a:t>
            </a:r>
          </a:p>
        </p:txBody>
      </p:sp>
      <p:cxnSp>
        <p:nvCxnSpPr>
          <p:cNvPr id="8" name="Straight Connector 7">
            <a:extLst>
              <a:ext uri="{FF2B5EF4-FFF2-40B4-BE49-F238E27FC236}">
                <a16:creationId xmlns:a16="http://schemas.microsoft.com/office/drawing/2014/main" id="{4EE0CA86-877D-3AF2-0FBA-99D68BFF6980}"/>
              </a:ext>
            </a:extLst>
          </p:cNvPr>
          <p:cNvCxnSpPr>
            <a:cxnSpLocks/>
          </p:cNvCxnSpPr>
          <p:nvPr/>
        </p:nvCxnSpPr>
        <p:spPr>
          <a:xfrm>
            <a:off x="736669" y="1549720"/>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BEB504A-4D85-624A-FCB1-B36740C92611}"/>
              </a:ext>
            </a:extLst>
          </p:cNvPr>
          <p:cNvSpPr txBox="1"/>
          <p:nvPr/>
        </p:nvSpPr>
        <p:spPr>
          <a:xfrm>
            <a:off x="736669" y="1612461"/>
            <a:ext cx="4884444" cy="815031"/>
          </a:xfrm>
          <a:prstGeom prst="rect">
            <a:avLst/>
          </a:prstGeom>
          <a:noFill/>
        </p:spPr>
        <p:txBody>
          <a:bodyPr wrap="square" lIns="0" rIns="0" rtlCol="0">
            <a:spAutoFit/>
          </a:bodyPr>
          <a:lstStyle/>
          <a:p>
            <a:pPr>
              <a:lnSpc>
                <a:spcPct val="150000"/>
              </a:lnSpc>
            </a:pPr>
            <a:r>
              <a:rPr lang="en-US" sz="800" dirty="0">
                <a:solidFill>
                  <a:schemeClr val="bg1"/>
                </a:solidFill>
                <a:latin typeface="Avenir Light" panose="020B0402020203020204" pitchFamily="34" charset="77"/>
              </a:rPr>
              <a:t>Discovery seeks to understand people, context and constraints before solutions are formed. </a:t>
            </a:r>
          </a:p>
          <a:p>
            <a:pPr>
              <a:lnSpc>
                <a:spcPct val="150000"/>
              </a:lnSpc>
            </a:pPr>
            <a:r>
              <a:rPr lang="en-US" sz="800" dirty="0">
                <a:solidFill>
                  <a:schemeClr val="bg1"/>
                </a:solidFill>
                <a:latin typeface="Avenir Light" panose="020B0402020203020204" pitchFamily="34" charset="77"/>
              </a:rPr>
              <a:t>This phase is rooted in curiosity: it invites designers to pause before making decisions, immersing themselves in the lived experiences, needs, and motivations of the individuals they’re designing for. </a:t>
            </a:r>
          </a:p>
          <a:p>
            <a:pPr>
              <a:lnSpc>
                <a:spcPct val="150000"/>
              </a:lnSpc>
            </a:pPr>
            <a:r>
              <a:rPr lang="en-US" sz="800" dirty="0">
                <a:solidFill>
                  <a:schemeClr val="bg1"/>
                </a:solidFill>
                <a:latin typeface="Avenir Light" panose="020B0402020203020204" pitchFamily="34" charset="77"/>
              </a:rPr>
              <a:t>It examines the environment in which a problem exists.</a:t>
            </a:r>
          </a:p>
        </p:txBody>
      </p:sp>
      <p:cxnSp>
        <p:nvCxnSpPr>
          <p:cNvPr id="11" name="Straight Connector 10">
            <a:extLst>
              <a:ext uri="{FF2B5EF4-FFF2-40B4-BE49-F238E27FC236}">
                <a16:creationId xmlns:a16="http://schemas.microsoft.com/office/drawing/2014/main" id="{CB811C0D-E96D-E283-E456-CDC6FCE3EAFC}"/>
              </a:ext>
            </a:extLst>
          </p:cNvPr>
          <p:cNvCxnSpPr>
            <a:cxnSpLocks/>
          </p:cNvCxnSpPr>
          <p:nvPr/>
        </p:nvCxnSpPr>
        <p:spPr>
          <a:xfrm>
            <a:off x="736669" y="4626022"/>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FFC6F9C-0A02-9D41-FD7E-86E2E8F7BE63}"/>
              </a:ext>
            </a:extLst>
          </p:cNvPr>
          <p:cNvSpPr txBox="1"/>
          <p:nvPr/>
        </p:nvSpPr>
        <p:spPr>
          <a:xfrm>
            <a:off x="736669" y="4688763"/>
            <a:ext cx="4884444" cy="815031"/>
          </a:xfrm>
          <a:prstGeom prst="rect">
            <a:avLst/>
          </a:prstGeom>
          <a:noFill/>
        </p:spPr>
        <p:txBody>
          <a:bodyPr wrap="square" lIns="0" rIns="0" rtlCol="0">
            <a:spAutoFit/>
          </a:bodyPr>
          <a:lstStyle/>
          <a:p>
            <a:pPr>
              <a:lnSpc>
                <a:spcPct val="150000"/>
              </a:lnSpc>
            </a:pPr>
            <a:r>
              <a:rPr lang="en-US" sz="800" dirty="0">
                <a:solidFill>
                  <a:schemeClr val="bg1"/>
                </a:solidFill>
                <a:latin typeface="Avenir Light" panose="020B0402020203020204" pitchFamily="34" charset="77"/>
              </a:rPr>
              <a:t>Experimentation brings ideas to life through prototypes that can be tested and evaluated.</a:t>
            </a:r>
          </a:p>
          <a:p>
            <a:pPr>
              <a:lnSpc>
                <a:spcPct val="150000"/>
              </a:lnSpc>
            </a:pPr>
            <a:r>
              <a:rPr lang="en-US" sz="800" dirty="0">
                <a:solidFill>
                  <a:schemeClr val="bg1"/>
                </a:solidFill>
                <a:latin typeface="Avenir Light" panose="020B0402020203020204" pitchFamily="34" charset="77"/>
              </a:rPr>
              <a:t>In this phase, concepts move beyond theory and into tangible form, allowing designers to explore </a:t>
            </a:r>
          </a:p>
          <a:p>
            <a:pPr>
              <a:lnSpc>
                <a:spcPct val="150000"/>
              </a:lnSpc>
            </a:pPr>
            <a:r>
              <a:rPr lang="en-US" sz="800" dirty="0">
                <a:solidFill>
                  <a:schemeClr val="bg1"/>
                </a:solidFill>
                <a:latin typeface="Avenir Light" panose="020B0402020203020204" pitchFamily="34" charset="77"/>
              </a:rPr>
              <a:t>how an idea behaves in practice. Prototypes — whether sketches, mock-ups, digital flows, or functional models — act as low-risk simulations that reveal strengths, weaknesses, and unexpected user reactions.</a:t>
            </a:r>
          </a:p>
        </p:txBody>
      </p:sp>
      <p:sp>
        <p:nvSpPr>
          <p:cNvPr id="104" name="TextBox 103">
            <a:extLst>
              <a:ext uri="{FF2B5EF4-FFF2-40B4-BE49-F238E27FC236}">
                <a16:creationId xmlns:a16="http://schemas.microsoft.com/office/drawing/2014/main" id="{FCBD8F96-25CC-9179-9C90-06C7F6225ECC}"/>
              </a:ext>
            </a:extLst>
          </p:cNvPr>
          <p:cNvSpPr txBox="1"/>
          <p:nvPr/>
        </p:nvSpPr>
        <p:spPr>
          <a:xfrm>
            <a:off x="7925276" y="1265326"/>
            <a:ext cx="3497400" cy="400110"/>
          </a:xfrm>
          <a:prstGeom prst="rect">
            <a:avLst/>
          </a:prstGeom>
          <a:noFill/>
        </p:spPr>
        <p:txBody>
          <a:bodyPr wrap="square" rtlCol="0">
            <a:spAutoFit/>
          </a:bodyPr>
          <a:lstStyle/>
          <a:p>
            <a:pPr algn="ctr"/>
            <a:r>
              <a:rPr lang="en-US" sz="2000" dirty="0">
                <a:solidFill>
                  <a:schemeClr val="bg1"/>
                </a:solidFill>
                <a:latin typeface="Avenir Medium" panose="02000503020000020003" pitchFamily="2" charset="0"/>
              </a:rPr>
              <a:t>Area of Focus</a:t>
            </a:r>
          </a:p>
        </p:txBody>
      </p:sp>
      <p:grpSp>
        <p:nvGrpSpPr>
          <p:cNvPr id="59" name="Group 58">
            <a:extLst>
              <a:ext uri="{FF2B5EF4-FFF2-40B4-BE49-F238E27FC236}">
                <a16:creationId xmlns:a16="http://schemas.microsoft.com/office/drawing/2014/main" id="{391419BA-24A1-6A4C-C5C2-5C2174D5FEA3}"/>
              </a:ext>
            </a:extLst>
          </p:cNvPr>
          <p:cNvGrpSpPr/>
          <p:nvPr/>
        </p:nvGrpSpPr>
        <p:grpSpPr>
          <a:xfrm>
            <a:off x="8049792" y="1857695"/>
            <a:ext cx="3405538" cy="2057400"/>
            <a:chOff x="2292178" y="1334737"/>
            <a:chExt cx="3405538" cy="2057400"/>
          </a:xfrm>
        </p:grpSpPr>
        <p:grpSp>
          <p:nvGrpSpPr>
            <p:cNvPr id="60" name="Group 59">
              <a:extLst>
                <a:ext uri="{FF2B5EF4-FFF2-40B4-BE49-F238E27FC236}">
                  <a16:creationId xmlns:a16="http://schemas.microsoft.com/office/drawing/2014/main" id="{EEA7B9BB-FE18-8A15-2918-517F667EE2EC}"/>
                </a:ext>
              </a:extLst>
            </p:cNvPr>
            <p:cNvGrpSpPr/>
            <p:nvPr/>
          </p:nvGrpSpPr>
          <p:grpSpPr>
            <a:xfrm>
              <a:off x="2292178" y="1334737"/>
              <a:ext cx="3405538" cy="2057400"/>
              <a:chOff x="2292178" y="1334737"/>
              <a:chExt cx="3405538" cy="2057400"/>
            </a:xfrm>
          </p:grpSpPr>
          <p:grpSp>
            <p:nvGrpSpPr>
              <p:cNvPr id="65" name="Group 64">
                <a:extLst>
                  <a:ext uri="{FF2B5EF4-FFF2-40B4-BE49-F238E27FC236}">
                    <a16:creationId xmlns:a16="http://schemas.microsoft.com/office/drawing/2014/main" id="{48AB3974-311F-2710-A828-B3D82A950D39}"/>
                  </a:ext>
                </a:extLst>
              </p:cNvPr>
              <p:cNvGrpSpPr/>
              <p:nvPr/>
            </p:nvGrpSpPr>
            <p:grpSpPr>
              <a:xfrm>
                <a:off x="2700515" y="1334737"/>
                <a:ext cx="2997201" cy="2057400"/>
                <a:chOff x="629920" y="4047942"/>
                <a:chExt cx="2997201" cy="2057400"/>
              </a:xfrm>
            </p:grpSpPr>
            <p:grpSp>
              <p:nvGrpSpPr>
                <p:cNvPr id="70" name="Group 69">
                  <a:extLst>
                    <a:ext uri="{FF2B5EF4-FFF2-40B4-BE49-F238E27FC236}">
                      <a16:creationId xmlns:a16="http://schemas.microsoft.com/office/drawing/2014/main" id="{63BFA9CC-637C-E5CD-07D2-E289C0DDF819}"/>
                    </a:ext>
                  </a:extLst>
                </p:cNvPr>
                <p:cNvGrpSpPr/>
                <p:nvPr/>
              </p:nvGrpSpPr>
              <p:grpSpPr>
                <a:xfrm>
                  <a:off x="629920" y="4131407"/>
                  <a:ext cx="2997201" cy="267798"/>
                  <a:chOff x="629920" y="4251969"/>
                  <a:chExt cx="2997201" cy="267798"/>
                </a:xfrm>
              </p:grpSpPr>
              <p:sp>
                <p:nvSpPr>
                  <p:cNvPr id="118" name="TextBox 117">
                    <a:extLst>
                      <a:ext uri="{FF2B5EF4-FFF2-40B4-BE49-F238E27FC236}">
                        <a16:creationId xmlns:a16="http://schemas.microsoft.com/office/drawing/2014/main" id="{4D43C0A1-6FBE-3FD9-C6F6-5895D7E04ABC}"/>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Usability</a:t>
                    </a:r>
                  </a:p>
                </p:txBody>
              </p:sp>
              <p:sp>
                <p:nvSpPr>
                  <p:cNvPr id="119" name="TextBox 118">
                    <a:extLst>
                      <a:ext uri="{FF2B5EF4-FFF2-40B4-BE49-F238E27FC236}">
                        <a16:creationId xmlns:a16="http://schemas.microsoft.com/office/drawing/2014/main" id="{49629003-8F72-C8CC-92E8-E8C293C320E7}"/>
                      </a:ext>
                    </a:extLst>
                  </p:cNvPr>
                  <p:cNvSpPr txBox="1"/>
                  <p:nvPr/>
                </p:nvSpPr>
                <p:spPr>
                  <a:xfrm>
                    <a:off x="1897148"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Testing patterns</a:t>
                    </a:r>
                  </a:p>
                </p:txBody>
              </p:sp>
              <p:cxnSp>
                <p:nvCxnSpPr>
                  <p:cNvPr id="120" name="Straight Connector 119">
                    <a:extLst>
                      <a:ext uri="{FF2B5EF4-FFF2-40B4-BE49-F238E27FC236}">
                        <a16:creationId xmlns:a16="http://schemas.microsoft.com/office/drawing/2014/main" id="{382E9D98-8554-0B74-A3E2-C09BC3FE43D2}"/>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1" name="Group 70">
                  <a:extLst>
                    <a:ext uri="{FF2B5EF4-FFF2-40B4-BE49-F238E27FC236}">
                      <a16:creationId xmlns:a16="http://schemas.microsoft.com/office/drawing/2014/main" id="{57DD7DE7-C193-D518-C7EE-63BE0B2D30E7}"/>
                    </a:ext>
                  </a:extLst>
                </p:cNvPr>
                <p:cNvGrpSpPr/>
                <p:nvPr/>
              </p:nvGrpSpPr>
              <p:grpSpPr>
                <a:xfrm>
                  <a:off x="629920" y="4454792"/>
                  <a:ext cx="2997201" cy="267798"/>
                  <a:chOff x="629920" y="4251969"/>
                  <a:chExt cx="2997201" cy="267798"/>
                </a:xfrm>
              </p:grpSpPr>
              <p:sp>
                <p:nvSpPr>
                  <p:cNvPr id="115" name="TextBox 114">
                    <a:extLst>
                      <a:ext uri="{FF2B5EF4-FFF2-40B4-BE49-F238E27FC236}">
                        <a16:creationId xmlns:a16="http://schemas.microsoft.com/office/drawing/2014/main" id="{8F6147C1-5A24-A4FB-40FB-B55A28402F4B}"/>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Harmony</a:t>
                    </a:r>
                  </a:p>
                </p:txBody>
              </p:sp>
              <p:sp>
                <p:nvSpPr>
                  <p:cNvPr id="116" name="TextBox 115">
                    <a:extLst>
                      <a:ext uri="{FF2B5EF4-FFF2-40B4-BE49-F238E27FC236}">
                        <a16:creationId xmlns:a16="http://schemas.microsoft.com/office/drawing/2014/main" id="{B1AA0F7D-C1C2-8465-17E3-C76C445B473B}"/>
                      </a:ext>
                    </a:extLst>
                  </p:cNvPr>
                  <p:cNvSpPr txBox="1"/>
                  <p:nvPr/>
                </p:nvSpPr>
                <p:spPr>
                  <a:xfrm>
                    <a:off x="1897147" y="4251969"/>
                    <a:ext cx="158041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Fine tune colors</a:t>
                    </a:r>
                  </a:p>
                </p:txBody>
              </p:sp>
              <p:cxnSp>
                <p:nvCxnSpPr>
                  <p:cNvPr id="117" name="Straight Connector 116">
                    <a:extLst>
                      <a:ext uri="{FF2B5EF4-FFF2-40B4-BE49-F238E27FC236}">
                        <a16:creationId xmlns:a16="http://schemas.microsoft.com/office/drawing/2014/main" id="{415C1791-6768-767C-53ED-6FFF90BF3E4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2" name="Group 71">
                  <a:extLst>
                    <a:ext uri="{FF2B5EF4-FFF2-40B4-BE49-F238E27FC236}">
                      <a16:creationId xmlns:a16="http://schemas.microsoft.com/office/drawing/2014/main" id="{7BECB11D-8B65-3FE5-ADE9-7D1AAD96DDB0}"/>
                    </a:ext>
                  </a:extLst>
                </p:cNvPr>
                <p:cNvGrpSpPr/>
                <p:nvPr/>
              </p:nvGrpSpPr>
              <p:grpSpPr>
                <a:xfrm>
                  <a:off x="629920" y="4800480"/>
                  <a:ext cx="2997201" cy="267798"/>
                  <a:chOff x="629920" y="4251969"/>
                  <a:chExt cx="2997201" cy="267798"/>
                </a:xfrm>
              </p:grpSpPr>
              <p:sp>
                <p:nvSpPr>
                  <p:cNvPr id="112" name="TextBox 111">
                    <a:extLst>
                      <a:ext uri="{FF2B5EF4-FFF2-40B4-BE49-F238E27FC236}">
                        <a16:creationId xmlns:a16="http://schemas.microsoft.com/office/drawing/2014/main" id="{3F856589-ECDE-6A5F-E7CF-5C7990B264C1}"/>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Performance</a:t>
                    </a:r>
                  </a:p>
                </p:txBody>
              </p:sp>
              <p:sp>
                <p:nvSpPr>
                  <p:cNvPr id="113" name="TextBox 112">
                    <a:extLst>
                      <a:ext uri="{FF2B5EF4-FFF2-40B4-BE49-F238E27FC236}">
                        <a16:creationId xmlns:a16="http://schemas.microsoft.com/office/drawing/2014/main" id="{AC8A6301-E02D-5E5C-736B-CADAF5FC2F7A}"/>
                      </a:ext>
                    </a:extLst>
                  </p:cNvPr>
                  <p:cNvSpPr txBox="1"/>
                  <p:nvPr/>
                </p:nvSpPr>
                <p:spPr>
                  <a:xfrm>
                    <a:off x="1897147" y="4251969"/>
                    <a:ext cx="158041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Optimize systems</a:t>
                    </a:r>
                  </a:p>
                </p:txBody>
              </p:sp>
              <p:cxnSp>
                <p:nvCxnSpPr>
                  <p:cNvPr id="114" name="Straight Connector 113">
                    <a:extLst>
                      <a:ext uri="{FF2B5EF4-FFF2-40B4-BE49-F238E27FC236}">
                        <a16:creationId xmlns:a16="http://schemas.microsoft.com/office/drawing/2014/main" id="{F60AA67B-BCB8-6C5B-BE65-31C2E2A3755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3" name="Group 72">
                  <a:extLst>
                    <a:ext uri="{FF2B5EF4-FFF2-40B4-BE49-F238E27FC236}">
                      <a16:creationId xmlns:a16="http://schemas.microsoft.com/office/drawing/2014/main" id="{0C0282ED-E73D-7A9C-3642-C38790F646F9}"/>
                    </a:ext>
                  </a:extLst>
                </p:cNvPr>
                <p:cNvGrpSpPr/>
                <p:nvPr/>
              </p:nvGrpSpPr>
              <p:grpSpPr>
                <a:xfrm>
                  <a:off x="629920" y="5146168"/>
                  <a:ext cx="2997201" cy="267798"/>
                  <a:chOff x="629920" y="4251969"/>
                  <a:chExt cx="2997201" cy="267798"/>
                </a:xfrm>
              </p:grpSpPr>
              <p:sp>
                <p:nvSpPr>
                  <p:cNvPr id="109" name="TextBox 108">
                    <a:extLst>
                      <a:ext uri="{FF2B5EF4-FFF2-40B4-BE49-F238E27FC236}">
                        <a16:creationId xmlns:a16="http://schemas.microsoft.com/office/drawing/2014/main" id="{DED2EC7E-F614-8298-D0D0-C85373DC322C}"/>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Ergonomics</a:t>
                    </a:r>
                  </a:p>
                </p:txBody>
              </p:sp>
              <p:sp>
                <p:nvSpPr>
                  <p:cNvPr id="110" name="TextBox 109">
                    <a:extLst>
                      <a:ext uri="{FF2B5EF4-FFF2-40B4-BE49-F238E27FC236}">
                        <a16:creationId xmlns:a16="http://schemas.microsoft.com/office/drawing/2014/main" id="{C6EB0AA2-0925-F541-2AB7-F31E919567B9}"/>
                      </a:ext>
                    </a:extLst>
                  </p:cNvPr>
                  <p:cNvSpPr txBox="1"/>
                  <p:nvPr/>
                </p:nvSpPr>
                <p:spPr>
                  <a:xfrm>
                    <a:off x="1897147" y="4251969"/>
                    <a:ext cx="162744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Adjust dimensions</a:t>
                    </a:r>
                  </a:p>
                </p:txBody>
              </p:sp>
              <p:cxnSp>
                <p:nvCxnSpPr>
                  <p:cNvPr id="111" name="Straight Connector 110">
                    <a:extLst>
                      <a:ext uri="{FF2B5EF4-FFF2-40B4-BE49-F238E27FC236}">
                        <a16:creationId xmlns:a16="http://schemas.microsoft.com/office/drawing/2014/main" id="{BE770B63-BB83-E636-500D-99C510553FAF}"/>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4" name="Group 73">
                  <a:extLst>
                    <a:ext uri="{FF2B5EF4-FFF2-40B4-BE49-F238E27FC236}">
                      <a16:creationId xmlns:a16="http://schemas.microsoft.com/office/drawing/2014/main" id="{EC7CE7ED-2DD0-C29B-70D4-864C7DDBE4BE}"/>
                    </a:ext>
                  </a:extLst>
                </p:cNvPr>
                <p:cNvGrpSpPr/>
                <p:nvPr/>
              </p:nvGrpSpPr>
              <p:grpSpPr>
                <a:xfrm>
                  <a:off x="629920" y="5491856"/>
                  <a:ext cx="2997201" cy="267798"/>
                  <a:chOff x="629920" y="4251969"/>
                  <a:chExt cx="2997201" cy="267798"/>
                </a:xfrm>
              </p:grpSpPr>
              <p:sp>
                <p:nvSpPr>
                  <p:cNvPr id="106" name="TextBox 105">
                    <a:extLst>
                      <a:ext uri="{FF2B5EF4-FFF2-40B4-BE49-F238E27FC236}">
                        <a16:creationId xmlns:a16="http://schemas.microsoft.com/office/drawing/2014/main" id="{D7CAE5F7-9362-5E28-B1C6-BB0F14072176}"/>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Buildability</a:t>
                    </a:r>
                  </a:p>
                </p:txBody>
              </p:sp>
              <p:sp>
                <p:nvSpPr>
                  <p:cNvPr id="107" name="TextBox 106">
                    <a:extLst>
                      <a:ext uri="{FF2B5EF4-FFF2-40B4-BE49-F238E27FC236}">
                        <a16:creationId xmlns:a16="http://schemas.microsoft.com/office/drawing/2014/main" id="{83E55F7C-747E-8895-45D2-F7AD1FDCD7FF}"/>
                      </a:ext>
                    </a:extLst>
                  </p:cNvPr>
                  <p:cNvSpPr txBox="1"/>
                  <p:nvPr/>
                </p:nvSpPr>
                <p:spPr>
                  <a:xfrm>
                    <a:off x="1897147" y="4251969"/>
                    <a:ext cx="1627447"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Validate tolerance</a:t>
                    </a:r>
                  </a:p>
                </p:txBody>
              </p:sp>
              <p:cxnSp>
                <p:nvCxnSpPr>
                  <p:cNvPr id="108" name="Straight Connector 107">
                    <a:extLst>
                      <a:ext uri="{FF2B5EF4-FFF2-40B4-BE49-F238E27FC236}">
                        <a16:creationId xmlns:a16="http://schemas.microsoft.com/office/drawing/2014/main" id="{2DD462D4-F018-1C9B-5BC4-B26DEEAED60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75" name="Group 74">
                  <a:extLst>
                    <a:ext uri="{FF2B5EF4-FFF2-40B4-BE49-F238E27FC236}">
                      <a16:creationId xmlns:a16="http://schemas.microsoft.com/office/drawing/2014/main" id="{7D30BA42-E1D8-0D50-3A22-D468FF351D0A}"/>
                    </a:ext>
                  </a:extLst>
                </p:cNvPr>
                <p:cNvGrpSpPr/>
                <p:nvPr/>
              </p:nvGrpSpPr>
              <p:grpSpPr>
                <a:xfrm>
                  <a:off x="629920" y="4047942"/>
                  <a:ext cx="2997201" cy="2057400"/>
                  <a:chOff x="629920" y="2462367"/>
                  <a:chExt cx="2997201" cy="2057400"/>
                </a:xfrm>
              </p:grpSpPr>
              <p:sp>
                <p:nvSpPr>
                  <p:cNvPr id="76" name="TextBox 75">
                    <a:extLst>
                      <a:ext uri="{FF2B5EF4-FFF2-40B4-BE49-F238E27FC236}">
                        <a16:creationId xmlns:a16="http://schemas.microsoft.com/office/drawing/2014/main" id="{B054F097-BBB8-608F-727E-BE04316B8AC2}"/>
                      </a:ext>
                    </a:extLst>
                  </p:cNvPr>
                  <p:cNvSpPr txBox="1"/>
                  <p:nvPr/>
                </p:nvSpPr>
                <p:spPr>
                  <a:xfrm>
                    <a:off x="679136" y="4251969"/>
                    <a:ext cx="1093055"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Durability</a:t>
                    </a:r>
                  </a:p>
                </p:txBody>
              </p:sp>
              <p:sp>
                <p:nvSpPr>
                  <p:cNvPr id="77" name="TextBox 76">
                    <a:extLst>
                      <a:ext uri="{FF2B5EF4-FFF2-40B4-BE49-F238E27FC236}">
                        <a16:creationId xmlns:a16="http://schemas.microsoft.com/office/drawing/2014/main" id="{96593324-CE43-55BB-3A09-92680A7E57AC}"/>
                      </a:ext>
                    </a:extLst>
                  </p:cNvPr>
                  <p:cNvSpPr txBox="1"/>
                  <p:nvPr/>
                </p:nvSpPr>
                <p:spPr>
                  <a:xfrm>
                    <a:off x="1897147" y="4251969"/>
                    <a:ext cx="1627443"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Stress point resilience</a:t>
                    </a:r>
                  </a:p>
                </p:txBody>
              </p:sp>
              <p:cxnSp>
                <p:nvCxnSpPr>
                  <p:cNvPr id="78" name="Straight Connector 77">
                    <a:extLst>
                      <a:ext uri="{FF2B5EF4-FFF2-40B4-BE49-F238E27FC236}">
                        <a16:creationId xmlns:a16="http://schemas.microsoft.com/office/drawing/2014/main" id="{18A0BFA7-A40D-21CE-0BFB-42975732FE22}"/>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5C5B2251-E180-9C88-2E7D-CF8FEA493D74}"/>
                      </a:ext>
                    </a:extLst>
                  </p:cNvPr>
                  <p:cNvCxnSpPr>
                    <a:cxnSpLocks/>
                  </p:cNvCxnSpPr>
                  <p:nvPr/>
                </p:nvCxnSpPr>
                <p:spPr>
                  <a:xfrm>
                    <a:off x="629920" y="24623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cxnSp>
            <p:nvCxnSpPr>
              <p:cNvPr id="67" name="Straight Connector 66">
                <a:extLst>
                  <a:ext uri="{FF2B5EF4-FFF2-40B4-BE49-F238E27FC236}">
                    <a16:creationId xmlns:a16="http://schemas.microsoft.com/office/drawing/2014/main" id="{6F783BE3-DD0D-E00B-A10A-FD8755F55FF4}"/>
                  </a:ext>
                </a:extLst>
              </p:cNvPr>
              <p:cNvCxnSpPr>
                <a:cxnSpLocks/>
              </p:cNvCxnSpPr>
              <p:nvPr/>
            </p:nvCxnSpPr>
            <p:spPr>
              <a:xfrm flipV="1">
                <a:off x="3872609"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9307113E-0CC7-0266-5976-9E536000BC00}"/>
                  </a:ext>
                </a:extLst>
              </p:cNvPr>
              <p:cNvSpPr/>
              <p:nvPr/>
            </p:nvSpPr>
            <p:spPr>
              <a:xfrm>
                <a:off x="2292178" y="1334738"/>
                <a:ext cx="402866" cy="205681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15C307E8-C8C7-27F6-EA37-D5C75857A399}"/>
                  </a:ext>
                </a:extLst>
              </p:cNvPr>
              <p:cNvSpPr txBox="1"/>
              <p:nvPr/>
            </p:nvSpPr>
            <p:spPr>
              <a:xfrm rot="16200000">
                <a:off x="1571643" y="2224642"/>
                <a:ext cx="1843938" cy="276999"/>
              </a:xfrm>
              <a:prstGeom prst="rect">
                <a:avLst/>
              </a:prstGeom>
              <a:noFill/>
            </p:spPr>
            <p:txBody>
              <a:bodyPr wrap="square" rtlCol="0">
                <a:spAutoFit/>
              </a:bodyPr>
              <a:lstStyle/>
              <a:p>
                <a:pPr algn="ctr"/>
                <a:r>
                  <a:rPr lang="en-US" sz="1200" dirty="0">
                    <a:solidFill>
                      <a:schemeClr val="bg1"/>
                    </a:solidFill>
                    <a:latin typeface="Avenir Book" panose="02000503020000020003" pitchFamily="2" charset="0"/>
                  </a:rPr>
                  <a:t>Refinement</a:t>
                </a:r>
              </a:p>
            </p:txBody>
          </p:sp>
        </p:grpSp>
        <p:cxnSp>
          <p:nvCxnSpPr>
            <p:cNvPr id="61" name="Straight Connector 60">
              <a:extLst>
                <a:ext uri="{FF2B5EF4-FFF2-40B4-BE49-F238E27FC236}">
                  <a16:creationId xmlns:a16="http://schemas.microsoft.com/office/drawing/2014/main" id="{56C270AC-E956-06C1-919D-E82EA2A9D6B4}"/>
                </a:ext>
              </a:extLst>
            </p:cNvPr>
            <p:cNvCxnSpPr/>
            <p:nvPr/>
          </p:nvCxnSpPr>
          <p:spPr>
            <a:xfrm>
              <a:off x="5697716" y="1334737"/>
              <a:ext cx="0" cy="2056811"/>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3E0445AC-B8D4-C91A-744C-D4D3E708E422}"/>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566689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DBC67AE-EDBF-CEA0-9834-DEC2D5CE7362}"/>
            </a:ext>
          </a:extLst>
        </p:cNvPr>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C0578B4A-1362-3887-5DF8-DC76107A0F3E}"/>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36FF7CA7-77A2-370C-51AF-12BF797BC6B1}"/>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008 // 045</a:t>
            </a:r>
          </a:p>
        </p:txBody>
      </p:sp>
      <p:sp>
        <p:nvSpPr>
          <p:cNvPr id="62" name="TextBox 61">
            <a:extLst>
              <a:ext uri="{FF2B5EF4-FFF2-40B4-BE49-F238E27FC236}">
                <a16:creationId xmlns:a16="http://schemas.microsoft.com/office/drawing/2014/main" id="{853A6421-DC01-4DEA-4FA1-8260EEC7B728}"/>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METHODOLOGY</a:t>
            </a:r>
          </a:p>
        </p:txBody>
      </p:sp>
      <p:cxnSp>
        <p:nvCxnSpPr>
          <p:cNvPr id="63" name="Straight Connector 62">
            <a:extLst>
              <a:ext uri="{FF2B5EF4-FFF2-40B4-BE49-F238E27FC236}">
                <a16:creationId xmlns:a16="http://schemas.microsoft.com/office/drawing/2014/main" id="{512B738F-31D1-C7F6-B896-0D39DA6BCDED}"/>
              </a:ext>
            </a:extLst>
          </p:cNvPr>
          <p:cNvCxnSpPr>
            <a:cxnSpLocks/>
          </p:cNvCxnSpPr>
          <p:nvPr/>
        </p:nvCxnSpPr>
        <p:spPr>
          <a:xfrm>
            <a:off x="1776549" y="580615"/>
            <a:ext cx="10115235"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E021B02-740E-6F46-D117-08135DB1FE47}"/>
              </a:ext>
            </a:extLst>
          </p:cNvPr>
          <p:cNvCxnSpPr>
            <a:cxnSpLocks/>
          </p:cNvCxnSpPr>
          <p:nvPr/>
        </p:nvCxnSpPr>
        <p:spPr>
          <a:xfrm>
            <a:off x="639705" y="1998104"/>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308D4E1-7F5D-C563-6F5E-882DF5613BFD}"/>
              </a:ext>
            </a:extLst>
          </p:cNvPr>
          <p:cNvSpPr txBox="1"/>
          <p:nvPr/>
        </p:nvSpPr>
        <p:spPr>
          <a:xfrm>
            <a:off x="544300" y="2060845"/>
            <a:ext cx="3127492" cy="1036630"/>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Understand the landscape and immerse yourself in the problem space to tackle needs, context, and constraints before proposing solutions to problems. Some key actions you may want to take include compiling research on users, evaluating their environment, gathering data, identifying opportunities, and giving challenges a chance to ground themselves in the matters of why they appear altogether.</a:t>
            </a:r>
          </a:p>
        </p:txBody>
      </p:sp>
      <p:sp>
        <p:nvSpPr>
          <p:cNvPr id="15" name="TextBox 14">
            <a:extLst>
              <a:ext uri="{FF2B5EF4-FFF2-40B4-BE49-F238E27FC236}">
                <a16:creationId xmlns:a16="http://schemas.microsoft.com/office/drawing/2014/main" id="{365A78F3-3C8C-F171-E4D8-06FA81A10D9F}"/>
              </a:ext>
            </a:extLst>
          </p:cNvPr>
          <p:cNvSpPr txBox="1"/>
          <p:nvPr/>
        </p:nvSpPr>
        <p:spPr>
          <a:xfrm>
            <a:off x="544300" y="855640"/>
            <a:ext cx="3497400" cy="707886"/>
          </a:xfrm>
          <a:prstGeom prst="rect">
            <a:avLst/>
          </a:prstGeom>
          <a:noFill/>
        </p:spPr>
        <p:txBody>
          <a:bodyPr wrap="square" rtlCol="0">
            <a:spAutoFit/>
          </a:bodyPr>
          <a:lstStyle/>
          <a:p>
            <a:r>
              <a:rPr lang="en-US" sz="4000" dirty="0">
                <a:solidFill>
                  <a:schemeClr val="bg1"/>
                </a:solidFill>
                <a:latin typeface="Avenir Medium" panose="02000503020000020003" pitchFamily="2" charset="0"/>
              </a:rPr>
              <a:t>01</a:t>
            </a:r>
          </a:p>
        </p:txBody>
      </p:sp>
      <p:sp>
        <p:nvSpPr>
          <p:cNvPr id="16" name="TextBox 15">
            <a:extLst>
              <a:ext uri="{FF2B5EF4-FFF2-40B4-BE49-F238E27FC236}">
                <a16:creationId xmlns:a16="http://schemas.microsoft.com/office/drawing/2014/main" id="{923AE1ED-C213-97B9-3CEE-025A016A19C4}"/>
              </a:ext>
            </a:extLst>
          </p:cNvPr>
          <p:cNvSpPr txBox="1"/>
          <p:nvPr/>
        </p:nvSpPr>
        <p:spPr>
          <a:xfrm>
            <a:off x="544300" y="1521824"/>
            <a:ext cx="3497400"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DISCOVERY</a:t>
            </a:r>
          </a:p>
        </p:txBody>
      </p:sp>
      <p:cxnSp>
        <p:nvCxnSpPr>
          <p:cNvPr id="37" name="Straight Connector 36">
            <a:extLst>
              <a:ext uri="{FF2B5EF4-FFF2-40B4-BE49-F238E27FC236}">
                <a16:creationId xmlns:a16="http://schemas.microsoft.com/office/drawing/2014/main" id="{0CF375A4-44E6-BD47-8AF1-FEB9D64160FE}"/>
              </a:ext>
            </a:extLst>
          </p:cNvPr>
          <p:cNvCxnSpPr>
            <a:cxnSpLocks/>
          </p:cNvCxnSpPr>
          <p:nvPr/>
        </p:nvCxnSpPr>
        <p:spPr>
          <a:xfrm>
            <a:off x="4499779" y="1998104"/>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A6B39D7-A6F1-3607-1614-4443EBD24E97}"/>
              </a:ext>
            </a:extLst>
          </p:cNvPr>
          <p:cNvSpPr txBox="1"/>
          <p:nvPr/>
        </p:nvSpPr>
        <p:spPr>
          <a:xfrm>
            <a:off x="4404374" y="2060845"/>
            <a:ext cx="3127492" cy="1036630"/>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Begin to make meaning from what was learned in discovery and define the problem accurately. The things you may want to do include synthesizing patterns, blending themes, identifying motivations, outlining pain points, and reframing design objectives. The goal of this step is to find clarity and gain a defined insight-driven direction. Take your learnings and make them ownable to suit your voice and needs.</a:t>
            </a:r>
          </a:p>
        </p:txBody>
      </p:sp>
      <p:sp>
        <p:nvSpPr>
          <p:cNvPr id="27" name="TextBox 26">
            <a:extLst>
              <a:ext uri="{FF2B5EF4-FFF2-40B4-BE49-F238E27FC236}">
                <a16:creationId xmlns:a16="http://schemas.microsoft.com/office/drawing/2014/main" id="{9A3405C4-5A88-BD66-2618-77A5FE0E29B2}"/>
              </a:ext>
            </a:extLst>
          </p:cNvPr>
          <p:cNvSpPr txBox="1"/>
          <p:nvPr/>
        </p:nvSpPr>
        <p:spPr>
          <a:xfrm>
            <a:off x="4404374" y="855640"/>
            <a:ext cx="3497400" cy="707886"/>
          </a:xfrm>
          <a:prstGeom prst="rect">
            <a:avLst/>
          </a:prstGeom>
          <a:noFill/>
        </p:spPr>
        <p:txBody>
          <a:bodyPr wrap="square" rtlCol="0">
            <a:spAutoFit/>
          </a:bodyPr>
          <a:lstStyle/>
          <a:p>
            <a:r>
              <a:rPr lang="en-US" sz="4000" dirty="0">
                <a:solidFill>
                  <a:schemeClr val="bg1"/>
                </a:solidFill>
                <a:latin typeface="Avenir Medium" panose="02000503020000020003" pitchFamily="2" charset="0"/>
              </a:rPr>
              <a:t>02</a:t>
            </a:r>
          </a:p>
        </p:txBody>
      </p:sp>
      <p:sp>
        <p:nvSpPr>
          <p:cNvPr id="36" name="TextBox 35">
            <a:extLst>
              <a:ext uri="{FF2B5EF4-FFF2-40B4-BE49-F238E27FC236}">
                <a16:creationId xmlns:a16="http://schemas.microsoft.com/office/drawing/2014/main" id="{052B5EF6-BAD5-4EB6-81F3-C63192399C0C}"/>
              </a:ext>
            </a:extLst>
          </p:cNvPr>
          <p:cNvSpPr txBox="1"/>
          <p:nvPr/>
        </p:nvSpPr>
        <p:spPr>
          <a:xfrm>
            <a:off x="4404374" y="1521824"/>
            <a:ext cx="3497400"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INTERPRETATION</a:t>
            </a:r>
          </a:p>
        </p:txBody>
      </p:sp>
      <p:cxnSp>
        <p:nvCxnSpPr>
          <p:cNvPr id="43" name="Straight Connector 42">
            <a:extLst>
              <a:ext uri="{FF2B5EF4-FFF2-40B4-BE49-F238E27FC236}">
                <a16:creationId xmlns:a16="http://schemas.microsoft.com/office/drawing/2014/main" id="{0E77A8AD-80DC-E724-899E-0F931EC1C391}"/>
              </a:ext>
            </a:extLst>
          </p:cNvPr>
          <p:cNvCxnSpPr>
            <a:cxnSpLocks/>
          </p:cNvCxnSpPr>
          <p:nvPr/>
        </p:nvCxnSpPr>
        <p:spPr>
          <a:xfrm>
            <a:off x="8359853" y="1998104"/>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F55D6A0C-B079-26FB-1004-E13420D2149D}"/>
              </a:ext>
            </a:extLst>
          </p:cNvPr>
          <p:cNvSpPr txBox="1"/>
          <p:nvPr/>
        </p:nvSpPr>
        <p:spPr>
          <a:xfrm>
            <a:off x="8264448" y="2060845"/>
            <a:ext cx="3127492" cy="1036630"/>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In this phase is where we learn to explore a wide range of potential solutions without premature judgment. Some things you can do include brainstorming, sketching, building conceptual frameworks and translating insights into action items. This is where you will find a huge spectrum of possible approaches to what may appear to be underdeveloped thoughts. Do your best to see what you can make from them.</a:t>
            </a:r>
          </a:p>
        </p:txBody>
      </p:sp>
      <p:sp>
        <p:nvSpPr>
          <p:cNvPr id="41" name="TextBox 40">
            <a:extLst>
              <a:ext uri="{FF2B5EF4-FFF2-40B4-BE49-F238E27FC236}">
                <a16:creationId xmlns:a16="http://schemas.microsoft.com/office/drawing/2014/main" id="{A749D061-A635-9739-02E7-B853EA54AFF6}"/>
              </a:ext>
            </a:extLst>
          </p:cNvPr>
          <p:cNvSpPr txBox="1"/>
          <p:nvPr/>
        </p:nvSpPr>
        <p:spPr>
          <a:xfrm>
            <a:off x="8264448" y="855640"/>
            <a:ext cx="3497400" cy="707886"/>
          </a:xfrm>
          <a:prstGeom prst="rect">
            <a:avLst/>
          </a:prstGeom>
          <a:noFill/>
        </p:spPr>
        <p:txBody>
          <a:bodyPr wrap="square" rtlCol="0">
            <a:spAutoFit/>
          </a:bodyPr>
          <a:lstStyle/>
          <a:p>
            <a:r>
              <a:rPr lang="en-US" sz="4000" dirty="0">
                <a:solidFill>
                  <a:schemeClr val="bg1"/>
                </a:solidFill>
                <a:latin typeface="Avenir Medium" panose="02000503020000020003" pitchFamily="2" charset="0"/>
              </a:rPr>
              <a:t>03</a:t>
            </a:r>
          </a:p>
        </p:txBody>
      </p:sp>
      <p:sp>
        <p:nvSpPr>
          <p:cNvPr id="42" name="TextBox 41">
            <a:extLst>
              <a:ext uri="{FF2B5EF4-FFF2-40B4-BE49-F238E27FC236}">
                <a16:creationId xmlns:a16="http://schemas.microsoft.com/office/drawing/2014/main" id="{1AD04523-53C5-FFD5-680A-187862E3E4F5}"/>
              </a:ext>
            </a:extLst>
          </p:cNvPr>
          <p:cNvSpPr txBox="1"/>
          <p:nvPr/>
        </p:nvSpPr>
        <p:spPr>
          <a:xfrm>
            <a:off x="8264448" y="1521824"/>
            <a:ext cx="3497400"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IDEATION</a:t>
            </a:r>
          </a:p>
        </p:txBody>
      </p:sp>
      <p:cxnSp>
        <p:nvCxnSpPr>
          <p:cNvPr id="49" name="Straight Connector 48">
            <a:extLst>
              <a:ext uri="{FF2B5EF4-FFF2-40B4-BE49-F238E27FC236}">
                <a16:creationId xmlns:a16="http://schemas.microsoft.com/office/drawing/2014/main" id="{3BE3EAD4-8F08-03A4-8909-64F2C87C5AB4}"/>
              </a:ext>
            </a:extLst>
          </p:cNvPr>
          <p:cNvCxnSpPr>
            <a:cxnSpLocks/>
          </p:cNvCxnSpPr>
          <p:nvPr/>
        </p:nvCxnSpPr>
        <p:spPr>
          <a:xfrm>
            <a:off x="639705" y="4767430"/>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69E12140-728F-2509-4828-8218496A2420}"/>
              </a:ext>
            </a:extLst>
          </p:cNvPr>
          <p:cNvSpPr txBox="1"/>
          <p:nvPr/>
        </p:nvSpPr>
        <p:spPr>
          <a:xfrm>
            <a:off x="544300" y="4830171"/>
            <a:ext cx="3127492" cy="1036630"/>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Technology is advancing at lightning speed. It has become entrenched in nearly every industry, with an almost endless array of applications. While technological innovation creates promising opportunities for investors and consumers alike, experimentation can help with allowing others to find and facilitate growth in spite of the challenges we face. Use this time to develop the little things that cross your mind without the need to polish them.</a:t>
            </a:r>
          </a:p>
        </p:txBody>
      </p:sp>
      <p:sp>
        <p:nvSpPr>
          <p:cNvPr id="47" name="TextBox 46">
            <a:extLst>
              <a:ext uri="{FF2B5EF4-FFF2-40B4-BE49-F238E27FC236}">
                <a16:creationId xmlns:a16="http://schemas.microsoft.com/office/drawing/2014/main" id="{7CAA631E-4D8D-E654-1E9D-3C95FBCEFBAB}"/>
              </a:ext>
            </a:extLst>
          </p:cNvPr>
          <p:cNvSpPr txBox="1"/>
          <p:nvPr/>
        </p:nvSpPr>
        <p:spPr>
          <a:xfrm>
            <a:off x="544300" y="3624966"/>
            <a:ext cx="3497400" cy="707886"/>
          </a:xfrm>
          <a:prstGeom prst="rect">
            <a:avLst/>
          </a:prstGeom>
          <a:noFill/>
        </p:spPr>
        <p:txBody>
          <a:bodyPr wrap="square" rtlCol="0">
            <a:spAutoFit/>
          </a:bodyPr>
          <a:lstStyle/>
          <a:p>
            <a:r>
              <a:rPr lang="en-US" sz="4000" dirty="0">
                <a:solidFill>
                  <a:schemeClr val="bg1"/>
                </a:solidFill>
                <a:latin typeface="Avenir Medium" panose="02000503020000020003" pitchFamily="2" charset="0"/>
              </a:rPr>
              <a:t>04</a:t>
            </a:r>
          </a:p>
        </p:txBody>
      </p:sp>
      <p:sp>
        <p:nvSpPr>
          <p:cNvPr id="48" name="TextBox 47">
            <a:extLst>
              <a:ext uri="{FF2B5EF4-FFF2-40B4-BE49-F238E27FC236}">
                <a16:creationId xmlns:a16="http://schemas.microsoft.com/office/drawing/2014/main" id="{05ACAFDC-A4A3-D09E-C50B-BABC99754D7E}"/>
              </a:ext>
            </a:extLst>
          </p:cNvPr>
          <p:cNvSpPr txBox="1"/>
          <p:nvPr/>
        </p:nvSpPr>
        <p:spPr>
          <a:xfrm>
            <a:off x="544300" y="4291150"/>
            <a:ext cx="3497400"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EXPERIMENTATION</a:t>
            </a:r>
          </a:p>
        </p:txBody>
      </p:sp>
      <p:cxnSp>
        <p:nvCxnSpPr>
          <p:cNvPr id="55" name="Straight Connector 54">
            <a:extLst>
              <a:ext uri="{FF2B5EF4-FFF2-40B4-BE49-F238E27FC236}">
                <a16:creationId xmlns:a16="http://schemas.microsoft.com/office/drawing/2014/main" id="{FAA3B5D5-93E4-FBE3-2FCB-6E5917593845}"/>
              </a:ext>
            </a:extLst>
          </p:cNvPr>
          <p:cNvCxnSpPr>
            <a:cxnSpLocks/>
          </p:cNvCxnSpPr>
          <p:nvPr/>
        </p:nvCxnSpPr>
        <p:spPr>
          <a:xfrm>
            <a:off x="4499779" y="4767430"/>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6ADC61A6-467B-58B1-80D6-B0850118032C}"/>
              </a:ext>
            </a:extLst>
          </p:cNvPr>
          <p:cNvSpPr txBox="1"/>
          <p:nvPr/>
        </p:nvSpPr>
        <p:spPr>
          <a:xfrm>
            <a:off x="4404374" y="4830171"/>
            <a:ext cx="3127492" cy="1036630"/>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As things progress and grow, the triangulation of new opportunities continue to help us all lead with purpose. Within the phase of evolution, connectivity allows for a precise and intentional measure of growth, security and forward thinking. Use this phase to develop foresight into the future. Think of creative ways of where to take things and be open to the idea of it all being malleable for others to develop it as well.</a:t>
            </a:r>
          </a:p>
        </p:txBody>
      </p:sp>
      <p:sp>
        <p:nvSpPr>
          <p:cNvPr id="53" name="TextBox 52">
            <a:extLst>
              <a:ext uri="{FF2B5EF4-FFF2-40B4-BE49-F238E27FC236}">
                <a16:creationId xmlns:a16="http://schemas.microsoft.com/office/drawing/2014/main" id="{0E2B8DB1-2419-B383-67F1-9CB5977F0D40}"/>
              </a:ext>
            </a:extLst>
          </p:cNvPr>
          <p:cNvSpPr txBox="1"/>
          <p:nvPr/>
        </p:nvSpPr>
        <p:spPr>
          <a:xfrm>
            <a:off x="4404374" y="3624966"/>
            <a:ext cx="3497400" cy="707886"/>
          </a:xfrm>
          <a:prstGeom prst="rect">
            <a:avLst/>
          </a:prstGeom>
          <a:noFill/>
        </p:spPr>
        <p:txBody>
          <a:bodyPr wrap="square" rtlCol="0">
            <a:spAutoFit/>
          </a:bodyPr>
          <a:lstStyle/>
          <a:p>
            <a:r>
              <a:rPr lang="en-US" sz="4000" dirty="0">
                <a:solidFill>
                  <a:schemeClr val="bg1"/>
                </a:solidFill>
                <a:latin typeface="Avenir Medium" panose="02000503020000020003" pitchFamily="2" charset="0"/>
              </a:rPr>
              <a:t>05</a:t>
            </a:r>
          </a:p>
        </p:txBody>
      </p:sp>
      <p:sp>
        <p:nvSpPr>
          <p:cNvPr id="54" name="TextBox 53">
            <a:extLst>
              <a:ext uri="{FF2B5EF4-FFF2-40B4-BE49-F238E27FC236}">
                <a16:creationId xmlns:a16="http://schemas.microsoft.com/office/drawing/2014/main" id="{2FF0B517-8971-E8EE-7F83-B42839DB8715}"/>
              </a:ext>
            </a:extLst>
          </p:cNvPr>
          <p:cNvSpPr txBox="1"/>
          <p:nvPr/>
        </p:nvSpPr>
        <p:spPr>
          <a:xfrm>
            <a:off x="4404374" y="4291150"/>
            <a:ext cx="3497400"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EVOLUTION</a:t>
            </a:r>
          </a:p>
        </p:txBody>
      </p:sp>
      <p:cxnSp>
        <p:nvCxnSpPr>
          <p:cNvPr id="61" name="Straight Connector 60">
            <a:extLst>
              <a:ext uri="{FF2B5EF4-FFF2-40B4-BE49-F238E27FC236}">
                <a16:creationId xmlns:a16="http://schemas.microsoft.com/office/drawing/2014/main" id="{C70475F0-53B0-8CE9-DF56-B630AD2C57B1}"/>
              </a:ext>
            </a:extLst>
          </p:cNvPr>
          <p:cNvCxnSpPr>
            <a:cxnSpLocks/>
          </p:cNvCxnSpPr>
          <p:nvPr/>
        </p:nvCxnSpPr>
        <p:spPr>
          <a:xfrm>
            <a:off x="8359853" y="4767430"/>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C39F96E9-4648-AAF2-AA67-429992BC8695}"/>
              </a:ext>
            </a:extLst>
          </p:cNvPr>
          <p:cNvSpPr txBox="1"/>
          <p:nvPr/>
        </p:nvSpPr>
        <p:spPr>
          <a:xfrm>
            <a:off x="8264448" y="4830171"/>
            <a:ext cx="3127492" cy="1036630"/>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To reflect on the process, it is imperative to capture the knowledge of the new founding and insight. Documenting outcomes so future work builds on accumulated understanding. Some of the key actions to take include retrospectives, documentation and knowledge sharing. Transferable insight that strengthens future discovery and design practice can have huge long-term benefits for longevity and growth.</a:t>
            </a:r>
          </a:p>
        </p:txBody>
      </p:sp>
      <p:sp>
        <p:nvSpPr>
          <p:cNvPr id="59" name="TextBox 58">
            <a:extLst>
              <a:ext uri="{FF2B5EF4-FFF2-40B4-BE49-F238E27FC236}">
                <a16:creationId xmlns:a16="http://schemas.microsoft.com/office/drawing/2014/main" id="{6696944F-A7F6-CBD7-B14B-63AFA56B3126}"/>
              </a:ext>
            </a:extLst>
          </p:cNvPr>
          <p:cNvSpPr txBox="1"/>
          <p:nvPr/>
        </p:nvSpPr>
        <p:spPr>
          <a:xfrm>
            <a:off x="8264448" y="3624966"/>
            <a:ext cx="3497400" cy="707886"/>
          </a:xfrm>
          <a:prstGeom prst="rect">
            <a:avLst/>
          </a:prstGeom>
          <a:noFill/>
        </p:spPr>
        <p:txBody>
          <a:bodyPr wrap="square" rtlCol="0">
            <a:spAutoFit/>
          </a:bodyPr>
          <a:lstStyle/>
          <a:p>
            <a:r>
              <a:rPr lang="en-US" sz="4000" dirty="0">
                <a:solidFill>
                  <a:schemeClr val="bg1"/>
                </a:solidFill>
                <a:latin typeface="Avenir Medium" panose="02000503020000020003" pitchFamily="2" charset="0"/>
              </a:rPr>
              <a:t>06</a:t>
            </a:r>
          </a:p>
        </p:txBody>
      </p:sp>
      <p:sp>
        <p:nvSpPr>
          <p:cNvPr id="60" name="TextBox 59">
            <a:extLst>
              <a:ext uri="{FF2B5EF4-FFF2-40B4-BE49-F238E27FC236}">
                <a16:creationId xmlns:a16="http://schemas.microsoft.com/office/drawing/2014/main" id="{28853366-59C6-66AB-927B-FD0BF854573E}"/>
              </a:ext>
            </a:extLst>
          </p:cNvPr>
          <p:cNvSpPr txBox="1"/>
          <p:nvPr/>
        </p:nvSpPr>
        <p:spPr>
          <a:xfrm>
            <a:off x="8264448" y="4291150"/>
            <a:ext cx="3497400" cy="276999"/>
          </a:xfrm>
          <a:prstGeom prst="rect">
            <a:avLst/>
          </a:prstGeom>
          <a:noFill/>
        </p:spPr>
        <p:txBody>
          <a:bodyPr wrap="square" rtlCol="0">
            <a:spAutoFit/>
          </a:bodyPr>
          <a:lstStyle/>
          <a:p>
            <a:r>
              <a:rPr lang="en-US" sz="1200" dirty="0">
                <a:solidFill>
                  <a:schemeClr val="bg1"/>
                </a:solidFill>
                <a:latin typeface="Avenir Medium" panose="02000503020000020003" pitchFamily="2" charset="0"/>
              </a:rPr>
              <a:t>LEARNINGS</a:t>
            </a:r>
          </a:p>
        </p:txBody>
      </p:sp>
      <p:sp>
        <p:nvSpPr>
          <p:cNvPr id="2" name="TextBox 1">
            <a:extLst>
              <a:ext uri="{FF2B5EF4-FFF2-40B4-BE49-F238E27FC236}">
                <a16:creationId xmlns:a16="http://schemas.microsoft.com/office/drawing/2014/main" id="{9DB954A6-E745-6BB1-4A3C-3A6F211F7423}"/>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4286960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9BFA164-9DF7-1D9F-B610-5E92D9606407}"/>
            </a:ext>
          </a:extLst>
        </p:cNvPr>
        <p:cNvGrpSpPr/>
        <p:nvPr/>
      </p:nvGrpSpPr>
      <p:grpSpPr>
        <a:xfrm>
          <a:off x="0" y="0"/>
          <a:ext cx="0" cy="0"/>
          <a:chOff x="0" y="0"/>
          <a:chExt cx="0" cy="0"/>
        </a:xfrm>
      </p:grpSpPr>
      <p:pic>
        <p:nvPicPr>
          <p:cNvPr id="13314" name="Picture 2" descr="A skyscraper and its reflection after the rain.">
            <a:extLst>
              <a:ext uri="{FF2B5EF4-FFF2-40B4-BE49-F238E27FC236}">
                <a16:creationId xmlns:a16="http://schemas.microsoft.com/office/drawing/2014/main" id="{D58631D0-D3D2-FFCA-9252-4E921B5C95EC}"/>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b="4663"/>
          <a:stretch>
            <a:fillRect/>
          </a:stretch>
        </p:blipFill>
        <p:spPr bwMode="auto">
          <a:xfrm>
            <a:off x="1588" y="2011622"/>
            <a:ext cx="12188825" cy="4846378"/>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CFF2576A-A54C-3BA6-43D5-0760D6D10246}"/>
              </a:ext>
            </a:extLst>
          </p:cNvPr>
          <p:cNvCxnSpPr>
            <a:cxnSpLocks/>
          </p:cNvCxnSpPr>
          <p:nvPr/>
        </p:nvCxnSpPr>
        <p:spPr>
          <a:xfrm>
            <a:off x="6818760" y="596785"/>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E11EB88-EE73-7E61-001A-82C03D2461E0}"/>
              </a:ext>
            </a:extLst>
          </p:cNvPr>
          <p:cNvSpPr txBox="1"/>
          <p:nvPr/>
        </p:nvSpPr>
        <p:spPr>
          <a:xfrm>
            <a:off x="6723355" y="659526"/>
            <a:ext cx="4884444" cy="630365"/>
          </a:xfrm>
          <a:prstGeom prst="rect">
            <a:avLst/>
          </a:prstGeom>
          <a:noFill/>
        </p:spPr>
        <p:txBody>
          <a:bodyPr wrap="square" rtlCol="0">
            <a:spAutoFit/>
          </a:bodyPr>
          <a:lstStyle/>
          <a:p>
            <a:pPr>
              <a:lnSpc>
                <a:spcPct val="110000"/>
              </a:lnSpc>
              <a:spcAft>
                <a:spcPts val="1200"/>
              </a:spcAft>
            </a:pPr>
            <a:r>
              <a:rPr lang="en-US" sz="800" dirty="0">
                <a:solidFill>
                  <a:schemeClr val="bg1"/>
                </a:solidFill>
                <a:latin typeface="Avenir Light" panose="020B0402020203020204" pitchFamily="34" charset="77"/>
              </a:rPr>
              <a:t>Effective design begins with deep understanding and not assumptions. It is imperative to ensure solutions are rooted in real needs. Ideas gain value only when tested and experimentation converts imagination into evidence. Iteration is essential, as refinement transforms good concepts into mature and meaningful outcomes. Every project should conclude captured learnings for future innovation.</a:t>
            </a:r>
          </a:p>
        </p:txBody>
      </p:sp>
      <p:sp>
        <p:nvSpPr>
          <p:cNvPr id="5" name="TextBox 4">
            <a:extLst>
              <a:ext uri="{FF2B5EF4-FFF2-40B4-BE49-F238E27FC236}">
                <a16:creationId xmlns:a16="http://schemas.microsoft.com/office/drawing/2014/main" id="{505090D8-5059-DF8D-60F9-FC7DA8B87DCD}"/>
              </a:ext>
            </a:extLst>
          </p:cNvPr>
          <p:cNvSpPr txBox="1"/>
          <p:nvPr/>
        </p:nvSpPr>
        <p:spPr>
          <a:xfrm>
            <a:off x="584201" y="774653"/>
            <a:ext cx="4021666"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KEY TAKEAWAYS</a:t>
            </a:r>
          </a:p>
        </p:txBody>
      </p:sp>
    </p:spTree>
    <p:extLst>
      <p:ext uri="{BB962C8B-B14F-4D97-AF65-F5344CB8AC3E}">
        <p14:creationId xmlns:p14="http://schemas.microsoft.com/office/powerpoint/2010/main" val="3751715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EE17BD4-465C-368B-E5B5-991B7C147E59}"/>
            </a:ext>
          </a:extLst>
        </p:cNvPr>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1AE2A5C9-86F9-0EAF-6C71-4D6FA8D58244}"/>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E4CDC25C-9782-3849-3E05-A8F8841CB652}"/>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010 // 045</a:t>
            </a:r>
          </a:p>
        </p:txBody>
      </p:sp>
      <p:grpSp>
        <p:nvGrpSpPr>
          <p:cNvPr id="2" name="Group 1">
            <a:extLst>
              <a:ext uri="{FF2B5EF4-FFF2-40B4-BE49-F238E27FC236}">
                <a16:creationId xmlns:a16="http://schemas.microsoft.com/office/drawing/2014/main" id="{B2C6DCE7-9AA9-2399-21F8-841AC4CF02A9}"/>
              </a:ext>
            </a:extLst>
          </p:cNvPr>
          <p:cNvGrpSpPr/>
          <p:nvPr/>
        </p:nvGrpSpPr>
        <p:grpSpPr>
          <a:xfrm>
            <a:off x="540026" y="1018092"/>
            <a:ext cx="3193032" cy="2374045"/>
            <a:chOff x="8310166" y="2018342"/>
            <a:chExt cx="3193032" cy="2374045"/>
          </a:xfrm>
        </p:grpSpPr>
        <p:grpSp>
          <p:nvGrpSpPr>
            <p:cNvPr id="37" name="Group 36">
              <a:extLst>
                <a:ext uri="{FF2B5EF4-FFF2-40B4-BE49-F238E27FC236}">
                  <a16:creationId xmlns:a16="http://schemas.microsoft.com/office/drawing/2014/main" id="{14C29FAC-EF24-5ECD-8730-87DD62714ED8}"/>
                </a:ext>
              </a:extLst>
            </p:cNvPr>
            <p:cNvGrpSpPr/>
            <p:nvPr/>
          </p:nvGrpSpPr>
          <p:grpSpPr>
            <a:xfrm>
              <a:off x="8310166" y="2418452"/>
              <a:ext cx="3193032" cy="1973935"/>
              <a:chOff x="540027" y="4131407"/>
              <a:chExt cx="3193032" cy="1973935"/>
            </a:xfrm>
          </p:grpSpPr>
          <p:grpSp>
            <p:nvGrpSpPr>
              <p:cNvPr id="38" name="Group 37">
                <a:extLst>
                  <a:ext uri="{FF2B5EF4-FFF2-40B4-BE49-F238E27FC236}">
                    <a16:creationId xmlns:a16="http://schemas.microsoft.com/office/drawing/2014/main" id="{554AA8DF-84E9-A77B-A8EB-722F7F50F740}"/>
                  </a:ext>
                </a:extLst>
              </p:cNvPr>
              <p:cNvGrpSpPr/>
              <p:nvPr/>
            </p:nvGrpSpPr>
            <p:grpSpPr>
              <a:xfrm>
                <a:off x="540027" y="4131407"/>
                <a:ext cx="3193032" cy="267798"/>
                <a:chOff x="540027" y="4251969"/>
                <a:chExt cx="3193032" cy="267798"/>
              </a:xfrm>
            </p:grpSpPr>
            <p:sp>
              <p:nvSpPr>
                <p:cNvPr id="59" name="TextBox 58">
                  <a:extLst>
                    <a:ext uri="{FF2B5EF4-FFF2-40B4-BE49-F238E27FC236}">
                      <a16:creationId xmlns:a16="http://schemas.microsoft.com/office/drawing/2014/main" id="{A7FE0136-595B-8B8F-DB9C-DB20653307E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60" name="TextBox 59">
                  <a:extLst>
                    <a:ext uri="{FF2B5EF4-FFF2-40B4-BE49-F238E27FC236}">
                      <a16:creationId xmlns:a16="http://schemas.microsoft.com/office/drawing/2014/main" id="{804864BD-C909-FFCC-DB21-1A323410A481}"/>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61" name="Straight Connector 60">
                  <a:extLst>
                    <a:ext uri="{FF2B5EF4-FFF2-40B4-BE49-F238E27FC236}">
                      <a16:creationId xmlns:a16="http://schemas.microsoft.com/office/drawing/2014/main" id="{156E7846-F5FD-8620-F242-75F6B91FF25E}"/>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659702CC-BEB8-A080-8924-195304ED993C}"/>
                  </a:ext>
                </a:extLst>
              </p:cNvPr>
              <p:cNvGrpSpPr/>
              <p:nvPr/>
            </p:nvGrpSpPr>
            <p:grpSpPr>
              <a:xfrm>
                <a:off x="540027" y="4454792"/>
                <a:ext cx="3193032" cy="267798"/>
                <a:chOff x="540027" y="4251969"/>
                <a:chExt cx="3193032" cy="267798"/>
              </a:xfrm>
            </p:grpSpPr>
            <p:sp>
              <p:nvSpPr>
                <p:cNvPr id="56" name="TextBox 55">
                  <a:extLst>
                    <a:ext uri="{FF2B5EF4-FFF2-40B4-BE49-F238E27FC236}">
                      <a16:creationId xmlns:a16="http://schemas.microsoft.com/office/drawing/2014/main" id="{A8EA211E-2FF3-B26D-BF2E-6883417CC9E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57" name="TextBox 56">
                  <a:extLst>
                    <a:ext uri="{FF2B5EF4-FFF2-40B4-BE49-F238E27FC236}">
                      <a16:creationId xmlns:a16="http://schemas.microsoft.com/office/drawing/2014/main" id="{08FF3120-2724-5BD5-0F75-A0287E2DC6D2}"/>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58" name="Straight Connector 57">
                  <a:extLst>
                    <a:ext uri="{FF2B5EF4-FFF2-40B4-BE49-F238E27FC236}">
                      <a16:creationId xmlns:a16="http://schemas.microsoft.com/office/drawing/2014/main" id="{CC6528FA-896D-1914-C6EA-792E3D094E4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B38DC0FB-82FB-1566-94FE-A2BB94F212B2}"/>
                  </a:ext>
                </a:extLst>
              </p:cNvPr>
              <p:cNvGrpSpPr/>
              <p:nvPr/>
            </p:nvGrpSpPr>
            <p:grpSpPr>
              <a:xfrm>
                <a:off x="540027" y="4800480"/>
                <a:ext cx="3193032" cy="267798"/>
                <a:chOff x="540027" y="4251969"/>
                <a:chExt cx="3193032" cy="267798"/>
              </a:xfrm>
            </p:grpSpPr>
            <p:sp>
              <p:nvSpPr>
                <p:cNvPr id="53" name="TextBox 52">
                  <a:extLst>
                    <a:ext uri="{FF2B5EF4-FFF2-40B4-BE49-F238E27FC236}">
                      <a16:creationId xmlns:a16="http://schemas.microsoft.com/office/drawing/2014/main" id="{92687110-2DDE-D636-2E93-39F0F293D9B4}"/>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54" name="TextBox 53">
                  <a:extLst>
                    <a:ext uri="{FF2B5EF4-FFF2-40B4-BE49-F238E27FC236}">
                      <a16:creationId xmlns:a16="http://schemas.microsoft.com/office/drawing/2014/main" id="{B1D10508-25A1-81E6-F14B-08DC1832FEA0}"/>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55" name="Straight Connector 54">
                  <a:extLst>
                    <a:ext uri="{FF2B5EF4-FFF2-40B4-BE49-F238E27FC236}">
                      <a16:creationId xmlns:a16="http://schemas.microsoft.com/office/drawing/2014/main" id="{887826C3-4FF7-30E1-27B5-16A50A5A85D4}"/>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0974CA67-9F25-B4C0-E31E-900FE5103334}"/>
                  </a:ext>
                </a:extLst>
              </p:cNvPr>
              <p:cNvGrpSpPr/>
              <p:nvPr/>
            </p:nvGrpSpPr>
            <p:grpSpPr>
              <a:xfrm>
                <a:off x="540027" y="5146168"/>
                <a:ext cx="3193032" cy="267798"/>
                <a:chOff x="540027" y="4251969"/>
                <a:chExt cx="3193032" cy="267798"/>
              </a:xfrm>
            </p:grpSpPr>
            <p:sp>
              <p:nvSpPr>
                <p:cNvPr id="50" name="TextBox 49">
                  <a:extLst>
                    <a:ext uri="{FF2B5EF4-FFF2-40B4-BE49-F238E27FC236}">
                      <a16:creationId xmlns:a16="http://schemas.microsoft.com/office/drawing/2014/main" id="{7AF517C9-3DC0-FD28-65A1-7B5D6390344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51" name="TextBox 50">
                  <a:extLst>
                    <a:ext uri="{FF2B5EF4-FFF2-40B4-BE49-F238E27FC236}">
                      <a16:creationId xmlns:a16="http://schemas.microsoft.com/office/drawing/2014/main" id="{B9DF06C1-85E2-7DF7-747D-95BBAE9BC636}"/>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52" name="Straight Connector 51">
                  <a:extLst>
                    <a:ext uri="{FF2B5EF4-FFF2-40B4-BE49-F238E27FC236}">
                      <a16:creationId xmlns:a16="http://schemas.microsoft.com/office/drawing/2014/main" id="{11F21FAB-D91D-4695-A0C0-EF171DDC9EF8}"/>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01F0B5CF-B6AD-AD28-7FEB-47DA74A5E4DC}"/>
                  </a:ext>
                </a:extLst>
              </p:cNvPr>
              <p:cNvGrpSpPr/>
              <p:nvPr/>
            </p:nvGrpSpPr>
            <p:grpSpPr>
              <a:xfrm>
                <a:off x="540027" y="5491856"/>
                <a:ext cx="3193032" cy="267798"/>
                <a:chOff x="540027" y="4251969"/>
                <a:chExt cx="3193032" cy="267798"/>
              </a:xfrm>
            </p:grpSpPr>
            <p:sp>
              <p:nvSpPr>
                <p:cNvPr id="47" name="TextBox 46">
                  <a:extLst>
                    <a:ext uri="{FF2B5EF4-FFF2-40B4-BE49-F238E27FC236}">
                      <a16:creationId xmlns:a16="http://schemas.microsoft.com/office/drawing/2014/main" id="{227DEA98-18F7-5544-78B1-F4ED0CAF49D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48" name="TextBox 47">
                  <a:extLst>
                    <a:ext uri="{FF2B5EF4-FFF2-40B4-BE49-F238E27FC236}">
                      <a16:creationId xmlns:a16="http://schemas.microsoft.com/office/drawing/2014/main" id="{1271A30B-9626-6881-3978-F5D967B7AC2F}"/>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49" name="Straight Connector 48">
                  <a:extLst>
                    <a:ext uri="{FF2B5EF4-FFF2-40B4-BE49-F238E27FC236}">
                      <a16:creationId xmlns:a16="http://schemas.microsoft.com/office/drawing/2014/main" id="{3301DB09-7489-2F50-BFD2-47B7DF1BF1B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272D53B4-E935-AF82-F06E-E546FBE5623E}"/>
                  </a:ext>
                </a:extLst>
              </p:cNvPr>
              <p:cNvGrpSpPr/>
              <p:nvPr/>
            </p:nvGrpSpPr>
            <p:grpSpPr>
              <a:xfrm>
                <a:off x="540027" y="5837544"/>
                <a:ext cx="3193032" cy="267798"/>
                <a:chOff x="540027" y="4251969"/>
                <a:chExt cx="3193032" cy="267798"/>
              </a:xfrm>
            </p:grpSpPr>
            <p:sp>
              <p:nvSpPr>
                <p:cNvPr id="44" name="TextBox 43">
                  <a:extLst>
                    <a:ext uri="{FF2B5EF4-FFF2-40B4-BE49-F238E27FC236}">
                      <a16:creationId xmlns:a16="http://schemas.microsoft.com/office/drawing/2014/main" id="{158FC49F-F4AA-FB89-081E-C275FB55F880}"/>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45" name="TextBox 44">
                  <a:extLst>
                    <a:ext uri="{FF2B5EF4-FFF2-40B4-BE49-F238E27FC236}">
                      <a16:creationId xmlns:a16="http://schemas.microsoft.com/office/drawing/2014/main" id="{CF83F9D7-29EA-A3A2-ADCC-1735E518ADFB}"/>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46" name="Straight Connector 45">
                  <a:extLst>
                    <a:ext uri="{FF2B5EF4-FFF2-40B4-BE49-F238E27FC236}">
                      <a16:creationId xmlns:a16="http://schemas.microsoft.com/office/drawing/2014/main" id="{2BF3E9C4-D770-A399-2D52-813B472BB89E}"/>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sp>
          <p:nvSpPr>
            <p:cNvPr id="65" name="TextBox 64">
              <a:extLst>
                <a:ext uri="{FF2B5EF4-FFF2-40B4-BE49-F238E27FC236}">
                  <a16:creationId xmlns:a16="http://schemas.microsoft.com/office/drawing/2014/main" id="{B239D5FF-99BB-E649-2CF9-C6982C4812D8}"/>
                </a:ext>
              </a:extLst>
            </p:cNvPr>
            <p:cNvSpPr txBox="1"/>
            <p:nvPr/>
          </p:nvSpPr>
          <p:spPr>
            <a:xfrm>
              <a:off x="8310166" y="2018342"/>
              <a:ext cx="3087094" cy="400110"/>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2020</a:t>
              </a:r>
            </a:p>
          </p:txBody>
        </p:sp>
      </p:grpSp>
      <p:sp>
        <p:nvSpPr>
          <p:cNvPr id="3" name="TextBox 2">
            <a:extLst>
              <a:ext uri="{FF2B5EF4-FFF2-40B4-BE49-F238E27FC236}">
                <a16:creationId xmlns:a16="http://schemas.microsoft.com/office/drawing/2014/main" id="{755DC014-339B-D1BD-5CA9-D22AE28FEFB6}"/>
              </a:ext>
            </a:extLst>
          </p:cNvPr>
          <p:cNvSpPr txBox="1"/>
          <p:nvPr/>
        </p:nvSpPr>
        <p:spPr>
          <a:xfrm>
            <a:off x="540026" y="464074"/>
            <a:ext cx="2732564" cy="246221"/>
          </a:xfrm>
          <a:prstGeom prst="rect">
            <a:avLst/>
          </a:prstGeom>
          <a:noFill/>
        </p:spPr>
        <p:txBody>
          <a:bodyPr wrap="square" rtlCol="0">
            <a:spAutoFit/>
          </a:bodyPr>
          <a:lstStyle/>
          <a:p>
            <a:r>
              <a:rPr lang="en-US" sz="1000" dirty="0">
                <a:solidFill>
                  <a:schemeClr val="bg1"/>
                </a:solidFill>
                <a:latin typeface="Avenir Book" panose="02000503020000020003" pitchFamily="2" charset="0"/>
              </a:rPr>
              <a:t>CHARTS</a:t>
            </a:r>
          </a:p>
        </p:txBody>
      </p:sp>
      <p:cxnSp>
        <p:nvCxnSpPr>
          <p:cNvPr id="4" name="Straight Connector 3">
            <a:extLst>
              <a:ext uri="{FF2B5EF4-FFF2-40B4-BE49-F238E27FC236}">
                <a16:creationId xmlns:a16="http://schemas.microsoft.com/office/drawing/2014/main" id="{A4FFCC6A-05C5-8095-3723-82653E469C24}"/>
              </a:ext>
            </a:extLst>
          </p:cNvPr>
          <p:cNvCxnSpPr>
            <a:cxnSpLocks/>
          </p:cNvCxnSpPr>
          <p:nvPr/>
        </p:nvCxnSpPr>
        <p:spPr>
          <a:xfrm>
            <a:off x="1267097" y="580615"/>
            <a:ext cx="1062468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FEE3D39C-927C-CFED-B842-9147A87A1024}"/>
              </a:ext>
            </a:extLst>
          </p:cNvPr>
          <p:cNvGrpSpPr/>
          <p:nvPr/>
        </p:nvGrpSpPr>
        <p:grpSpPr>
          <a:xfrm>
            <a:off x="4393569" y="1018092"/>
            <a:ext cx="3193032" cy="2374045"/>
            <a:chOff x="8310166" y="2018342"/>
            <a:chExt cx="3193032" cy="2374045"/>
          </a:xfrm>
        </p:grpSpPr>
        <p:grpSp>
          <p:nvGrpSpPr>
            <p:cNvPr id="6" name="Group 5">
              <a:extLst>
                <a:ext uri="{FF2B5EF4-FFF2-40B4-BE49-F238E27FC236}">
                  <a16:creationId xmlns:a16="http://schemas.microsoft.com/office/drawing/2014/main" id="{060E07E0-26E0-C7B6-6EE0-CEE3D188F3FF}"/>
                </a:ext>
              </a:extLst>
            </p:cNvPr>
            <p:cNvGrpSpPr/>
            <p:nvPr/>
          </p:nvGrpSpPr>
          <p:grpSpPr>
            <a:xfrm>
              <a:off x="8310166" y="2418452"/>
              <a:ext cx="3193032" cy="1973935"/>
              <a:chOff x="540027" y="4131407"/>
              <a:chExt cx="3193032" cy="1973935"/>
            </a:xfrm>
          </p:grpSpPr>
          <p:grpSp>
            <p:nvGrpSpPr>
              <p:cNvPr id="8" name="Group 7">
                <a:extLst>
                  <a:ext uri="{FF2B5EF4-FFF2-40B4-BE49-F238E27FC236}">
                    <a16:creationId xmlns:a16="http://schemas.microsoft.com/office/drawing/2014/main" id="{CC7B29FF-8D4F-E3FC-777A-989978A5E64C}"/>
                  </a:ext>
                </a:extLst>
              </p:cNvPr>
              <p:cNvGrpSpPr/>
              <p:nvPr/>
            </p:nvGrpSpPr>
            <p:grpSpPr>
              <a:xfrm>
                <a:off x="540027" y="4131407"/>
                <a:ext cx="3193032" cy="267798"/>
                <a:chOff x="540027" y="4251969"/>
                <a:chExt cx="3193032" cy="267798"/>
              </a:xfrm>
            </p:grpSpPr>
            <p:sp>
              <p:nvSpPr>
                <p:cNvPr id="85" name="TextBox 84">
                  <a:extLst>
                    <a:ext uri="{FF2B5EF4-FFF2-40B4-BE49-F238E27FC236}">
                      <a16:creationId xmlns:a16="http://schemas.microsoft.com/office/drawing/2014/main" id="{BD260C06-FD27-4300-81AE-AF5356C93F90}"/>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86" name="TextBox 85">
                  <a:extLst>
                    <a:ext uri="{FF2B5EF4-FFF2-40B4-BE49-F238E27FC236}">
                      <a16:creationId xmlns:a16="http://schemas.microsoft.com/office/drawing/2014/main" id="{6B02066E-2612-19BC-2CA0-CCAADB9152A0}"/>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87" name="Straight Connector 86">
                  <a:extLst>
                    <a:ext uri="{FF2B5EF4-FFF2-40B4-BE49-F238E27FC236}">
                      <a16:creationId xmlns:a16="http://schemas.microsoft.com/office/drawing/2014/main" id="{92B4C2E2-9A05-52CD-10D0-2D08828836F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A68897D3-0783-FB69-EC6E-80AE8F88C229}"/>
                  </a:ext>
                </a:extLst>
              </p:cNvPr>
              <p:cNvGrpSpPr/>
              <p:nvPr/>
            </p:nvGrpSpPr>
            <p:grpSpPr>
              <a:xfrm>
                <a:off x="540027" y="4454792"/>
                <a:ext cx="3193032" cy="267798"/>
                <a:chOff x="540027" y="4251969"/>
                <a:chExt cx="3193032" cy="267798"/>
              </a:xfrm>
            </p:grpSpPr>
            <p:sp>
              <p:nvSpPr>
                <p:cNvPr id="82" name="TextBox 81">
                  <a:extLst>
                    <a:ext uri="{FF2B5EF4-FFF2-40B4-BE49-F238E27FC236}">
                      <a16:creationId xmlns:a16="http://schemas.microsoft.com/office/drawing/2014/main" id="{B9C77778-27C4-6FE4-3DE8-B0DB57116340}"/>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83" name="TextBox 82">
                  <a:extLst>
                    <a:ext uri="{FF2B5EF4-FFF2-40B4-BE49-F238E27FC236}">
                      <a16:creationId xmlns:a16="http://schemas.microsoft.com/office/drawing/2014/main" id="{8D05C393-7D95-B063-2BF4-3C70BA227D8C}"/>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84" name="Straight Connector 83">
                  <a:extLst>
                    <a:ext uri="{FF2B5EF4-FFF2-40B4-BE49-F238E27FC236}">
                      <a16:creationId xmlns:a16="http://schemas.microsoft.com/office/drawing/2014/main" id="{1B52DC5D-2C89-54D2-1FBA-623D0FD553A4}"/>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64F7F473-297F-BB22-F8AA-2FAEEACD5AB5}"/>
                  </a:ext>
                </a:extLst>
              </p:cNvPr>
              <p:cNvGrpSpPr/>
              <p:nvPr/>
            </p:nvGrpSpPr>
            <p:grpSpPr>
              <a:xfrm>
                <a:off x="540027" y="4800480"/>
                <a:ext cx="3193032" cy="267798"/>
                <a:chOff x="540027" y="4251969"/>
                <a:chExt cx="3193032" cy="267798"/>
              </a:xfrm>
            </p:grpSpPr>
            <p:sp>
              <p:nvSpPr>
                <p:cNvPr id="79" name="TextBox 78">
                  <a:extLst>
                    <a:ext uri="{FF2B5EF4-FFF2-40B4-BE49-F238E27FC236}">
                      <a16:creationId xmlns:a16="http://schemas.microsoft.com/office/drawing/2014/main" id="{2E203892-854E-0553-4EAC-F673BA5F1C61}"/>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80" name="TextBox 79">
                  <a:extLst>
                    <a:ext uri="{FF2B5EF4-FFF2-40B4-BE49-F238E27FC236}">
                      <a16:creationId xmlns:a16="http://schemas.microsoft.com/office/drawing/2014/main" id="{91CF2087-621C-D6D8-E90F-64C2517E48D3}"/>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81" name="Straight Connector 80">
                  <a:extLst>
                    <a:ext uri="{FF2B5EF4-FFF2-40B4-BE49-F238E27FC236}">
                      <a16:creationId xmlns:a16="http://schemas.microsoft.com/office/drawing/2014/main" id="{56B3D40D-16E7-163C-B0F6-FE72B22C0AB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8F47389D-A613-1987-F714-AFEDDD434417}"/>
                  </a:ext>
                </a:extLst>
              </p:cNvPr>
              <p:cNvGrpSpPr/>
              <p:nvPr/>
            </p:nvGrpSpPr>
            <p:grpSpPr>
              <a:xfrm>
                <a:off x="540027" y="5146168"/>
                <a:ext cx="3193032" cy="267798"/>
                <a:chOff x="540027" y="4251969"/>
                <a:chExt cx="3193032" cy="267798"/>
              </a:xfrm>
            </p:grpSpPr>
            <p:sp>
              <p:nvSpPr>
                <p:cNvPr id="29" name="TextBox 28">
                  <a:extLst>
                    <a:ext uri="{FF2B5EF4-FFF2-40B4-BE49-F238E27FC236}">
                      <a16:creationId xmlns:a16="http://schemas.microsoft.com/office/drawing/2014/main" id="{5ABAD06C-B6F4-0A2A-4551-0801E9FA3443}"/>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30" name="TextBox 29">
                  <a:extLst>
                    <a:ext uri="{FF2B5EF4-FFF2-40B4-BE49-F238E27FC236}">
                      <a16:creationId xmlns:a16="http://schemas.microsoft.com/office/drawing/2014/main" id="{BF38686D-1D77-A199-6A7D-F286948C066C}"/>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66" name="Straight Connector 65">
                  <a:extLst>
                    <a:ext uri="{FF2B5EF4-FFF2-40B4-BE49-F238E27FC236}">
                      <a16:creationId xmlns:a16="http://schemas.microsoft.com/office/drawing/2014/main" id="{512651D7-FDB9-8271-9715-331B96D5FCCB}"/>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8241C0FD-563F-3533-5948-2DA1760E6D79}"/>
                  </a:ext>
                </a:extLst>
              </p:cNvPr>
              <p:cNvGrpSpPr/>
              <p:nvPr/>
            </p:nvGrpSpPr>
            <p:grpSpPr>
              <a:xfrm>
                <a:off x="540027" y="5491856"/>
                <a:ext cx="3193032" cy="267798"/>
                <a:chOff x="540027" y="4251969"/>
                <a:chExt cx="3193032" cy="267798"/>
              </a:xfrm>
            </p:grpSpPr>
            <p:sp>
              <p:nvSpPr>
                <p:cNvPr id="25" name="TextBox 24">
                  <a:extLst>
                    <a:ext uri="{FF2B5EF4-FFF2-40B4-BE49-F238E27FC236}">
                      <a16:creationId xmlns:a16="http://schemas.microsoft.com/office/drawing/2014/main" id="{E05078A2-931C-6896-8BF3-8DDDF356160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26" name="TextBox 25">
                  <a:extLst>
                    <a:ext uri="{FF2B5EF4-FFF2-40B4-BE49-F238E27FC236}">
                      <a16:creationId xmlns:a16="http://schemas.microsoft.com/office/drawing/2014/main" id="{B05E5163-27E7-4600-5598-EC71489C0B20}"/>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28" name="Straight Connector 27">
                  <a:extLst>
                    <a:ext uri="{FF2B5EF4-FFF2-40B4-BE49-F238E27FC236}">
                      <a16:creationId xmlns:a16="http://schemas.microsoft.com/office/drawing/2014/main" id="{1DBDEC6E-37CD-847E-AD70-6F8BEB75062E}"/>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138E5C43-D30A-E66C-93BE-1CFDC9E3CDD3}"/>
                  </a:ext>
                </a:extLst>
              </p:cNvPr>
              <p:cNvGrpSpPr/>
              <p:nvPr/>
            </p:nvGrpSpPr>
            <p:grpSpPr>
              <a:xfrm>
                <a:off x="540027" y="5837544"/>
                <a:ext cx="3193032" cy="267798"/>
                <a:chOff x="540027" y="4251969"/>
                <a:chExt cx="3193032" cy="267798"/>
              </a:xfrm>
            </p:grpSpPr>
            <p:sp>
              <p:nvSpPr>
                <p:cNvPr id="18" name="TextBox 17">
                  <a:extLst>
                    <a:ext uri="{FF2B5EF4-FFF2-40B4-BE49-F238E27FC236}">
                      <a16:creationId xmlns:a16="http://schemas.microsoft.com/office/drawing/2014/main" id="{2DCD7D0E-1095-40D9-FB89-C02AA7131982}"/>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20" name="TextBox 19">
                  <a:extLst>
                    <a:ext uri="{FF2B5EF4-FFF2-40B4-BE49-F238E27FC236}">
                      <a16:creationId xmlns:a16="http://schemas.microsoft.com/office/drawing/2014/main" id="{3AAC88B2-0FA2-DFD5-BE22-E2EFD1EDFEBF}"/>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21" name="Straight Connector 20">
                  <a:extLst>
                    <a:ext uri="{FF2B5EF4-FFF2-40B4-BE49-F238E27FC236}">
                      <a16:creationId xmlns:a16="http://schemas.microsoft.com/office/drawing/2014/main" id="{45A0F3AC-C774-54BC-FCB1-37455434925B}"/>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sp>
          <p:nvSpPr>
            <p:cNvPr id="7" name="TextBox 6">
              <a:extLst>
                <a:ext uri="{FF2B5EF4-FFF2-40B4-BE49-F238E27FC236}">
                  <a16:creationId xmlns:a16="http://schemas.microsoft.com/office/drawing/2014/main" id="{84715A9B-8D98-5751-D380-E9200E86059F}"/>
                </a:ext>
              </a:extLst>
            </p:cNvPr>
            <p:cNvSpPr txBox="1"/>
            <p:nvPr/>
          </p:nvSpPr>
          <p:spPr>
            <a:xfrm>
              <a:off x="8310166" y="2018342"/>
              <a:ext cx="3087094" cy="400110"/>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2021</a:t>
              </a:r>
            </a:p>
          </p:txBody>
        </p:sp>
      </p:grpSp>
      <p:grpSp>
        <p:nvGrpSpPr>
          <p:cNvPr id="88" name="Group 87">
            <a:extLst>
              <a:ext uri="{FF2B5EF4-FFF2-40B4-BE49-F238E27FC236}">
                <a16:creationId xmlns:a16="http://schemas.microsoft.com/office/drawing/2014/main" id="{B4C68542-7F3F-13FB-ABCA-B47B16D0F937}"/>
              </a:ext>
            </a:extLst>
          </p:cNvPr>
          <p:cNvGrpSpPr/>
          <p:nvPr/>
        </p:nvGrpSpPr>
        <p:grpSpPr>
          <a:xfrm>
            <a:off x="8312427" y="1018092"/>
            <a:ext cx="3193032" cy="2374045"/>
            <a:chOff x="8310166" y="2018342"/>
            <a:chExt cx="3193032" cy="2374045"/>
          </a:xfrm>
        </p:grpSpPr>
        <p:grpSp>
          <p:nvGrpSpPr>
            <p:cNvPr id="89" name="Group 88">
              <a:extLst>
                <a:ext uri="{FF2B5EF4-FFF2-40B4-BE49-F238E27FC236}">
                  <a16:creationId xmlns:a16="http://schemas.microsoft.com/office/drawing/2014/main" id="{3BA63E6E-97BD-E92B-83DE-D1317E02D399}"/>
                </a:ext>
              </a:extLst>
            </p:cNvPr>
            <p:cNvGrpSpPr/>
            <p:nvPr/>
          </p:nvGrpSpPr>
          <p:grpSpPr>
            <a:xfrm>
              <a:off x="8310166" y="2418452"/>
              <a:ext cx="3193032" cy="1973935"/>
              <a:chOff x="540027" y="4131407"/>
              <a:chExt cx="3193032" cy="1973935"/>
            </a:xfrm>
          </p:grpSpPr>
          <p:grpSp>
            <p:nvGrpSpPr>
              <p:cNvPr id="91" name="Group 90">
                <a:extLst>
                  <a:ext uri="{FF2B5EF4-FFF2-40B4-BE49-F238E27FC236}">
                    <a16:creationId xmlns:a16="http://schemas.microsoft.com/office/drawing/2014/main" id="{B09B8BB4-B95C-AC51-0351-A00BDB629596}"/>
                  </a:ext>
                </a:extLst>
              </p:cNvPr>
              <p:cNvGrpSpPr/>
              <p:nvPr/>
            </p:nvGrpSpPr>
            <p:grpSpPr>
              <a:xfrm>
                <a:off x="540027" y="4131407"/>
                <a:ext cx="3193032" cy="267798"/>
                <a:chOff x="540027" y="4251969"/>
                <a:chExt cx="3193032" cy="267798"/>
              </a:xfrm>
            </p:grpSpPr>
            <p:sp>
              <p:nvSpPr>
                <p:cNvPr id="114" name="TextBox 113">
                  <a:extLst>
                    <a:ext uri="{FF2B5EF4-FFF2-40B4-BE49-F238E27FC236}">
                      <a16:creationId xmlns:a16="http://schemas.microsoft.com/office/drawing/2014/main" id="{7ADEA606-0049-2C30-437F-2F0083EB3E2E}"/>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115" name="TextBox 114">
                  <a:extLst>
                    <a:ext uri="{FF2B5EF4-FFF2-40B4-BE49-F238E27FC236}">
                      <a16:creationId xmlns:a16="http://schemas.microsoft.com/office/drawing/2014/main" id="{5A1BD03C-A990-E277-528E-9979EA1AE770}"/>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16" name="Straight Connector 115">
                  <a:extLst>
                    <a:ext uri="{FF2B5EF4-FFF2-40B4-BE49-F238E27FC236}">
                      <a16:creationId xmlns:a16="http://schemas.microsoft.com/office/drawing/2014/main" id="{203DF3E6-B12B-5C3A-F612-13F314B9781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92" name="Group 91">
                <a:extLst>
                  <a:ext uri="{FF2B5EF4-FFF2-40B4-BE49-F238E27FC236}">
                    <a16:creationId xmlns:a16="http://schemas.microsoft.com/office/drawing/2014/main" id="{B0DC92C1-A267-5B84-43DB-26B1D871C316}"/>
                  </a:ext>
                </a:extLst>
              </p:cNvPr>
              <p:cNvGrpSpPr/>
              <p:nvPr/>
            </p:nvGrpSpPr>
            <p:grpSpPr>
              <a:xfrm>
                <a:off x="540027" y="4454792"/>
                <a:ext cx="3193032" cy="267798"/>
                <a:chOff x="540027" y="4251969"/>
                <a:chExt cx="3193032" cy="267798"/>
              </a:xfrm>
            </p:grpSpPr>
            <p:sp>
              <p:nvSpPr>
                <p:cNvPr id="111" name="TextBox 110">
                  <a:extLst>
                    <a:ext uri="{FF2B5EF4-FFF2-40B4-BE49-F238E27FC236}">
                      <a16:creationId xmlns:a16="http://schemas.microsoft.com/office/drawing/2014/main" id="{8BF8E4FA-748C-BBD6-FADB-AAB8C72613C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12" name="TextBox 111">
                  <a:extLst>
                    <a:ext uri="{FF2B5EF4-FFF2-40B4-BE49-F238E27FC236}">
                      <a16:creationId xmlns:a16="http://schemas.microsoft.com/office/drawing/2014/main" id="{EE512ACD-2DE8-F7A2-E94F-D511EAA7DD83}"/>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13" name="Straight Connector 112">
                  <a:extLst>
                    <a:ext uri="{FF2B5EF4-FFF2-40B4-BE49-F238E27FC236}">
                      <a16:creationId xmlns:a16="http://schemas.microsoft.com/office/drawing/2014/main" id="{B4BD8086-8EEF-539B-364C-BDD7A38566B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93" name="Group 92">
                <a:extLst>
                  <a:ext uri="{FF2B5EF4-FFF2-40B4-BE49-F238E27FC236}">
                    <a16:creationId xmlns:a16="http://schemas.microsoft.com/office/drawing/2014/main" id="{9339A731-26D5-4D99-AEBC-B1BF335DA149}"/>
                  </a:ext>
                </a:extLst>
              </p:cNvPr>
              <p:cNvGrpSpPr/>
              <p:nvPr/>
            </p:nvGrpSpPr>
            <p:grpSpPr>
              <a:xfrm>
                <a:off x="540027" y="4800480"/>
                <a:ext cx="3193032" cy="267798"/>
                <a:chOff x="540027" y="4251969"/>
                <a:chExt cx="3193032" cy="267798"/>
              </a:xfrm>
            </p:grpSpPr>
            <p:sp>
              <p:nvSpPr>
                <p:cNvPr id="108" name="TextBox 107">
                  <a:extLst>
                    <a:ext uri="{FF2B5EF4-FFF2-40B4-BE49-F238E27FC236}">
                      <a16:creationId xmlns:a16="http://schemas.microsoft.com/office/drawing/2014/main" id="{E1EBCA75-91E3-3EE0-FB85-83CB608D66D0}"/>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09" name="TextBox 108">
                  <a:extLst>
                    <a:ext uri="{FF2B5EF4-FFF2-40B4-BE49-F238E27FC236}">
                      <a16:creationId xmlns:a16="http://schemas.microsoft.com/office/drawing/2014/main" id="{8F539824-4902-48BB-78AA-5BEF88BFD95D}"/>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10" name="Straight Connector 109">
                  <a:extLst>
                    <a:ext uri="{FF2B5EF4-FFF2-40B4-BE49-F238E27FC236}">
                      <a16:creationId xmlns:a16="http://schemas.microsoft.com/office/drawing/2014/main" id="{443C745E-56D9-27F1-A169-BD42D59B3ED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94" name="Group 93">
                <a:extLst>
                  <a:ext uri="{FF2B5EF4-FFF2-40B4-BE49-F238E27FC236}">
                    <a16:creationId xmlns:a16="http://schemas.microsoft.com/office/drawing/2014/main" id="{4F885E5B-74BD-1426-542E-900F8C57F877}"/>
                  </a:ext>
                </a:extLst>
              </p:cNvPr>
              <p:cNvGrpSpPr/>
              <p:nvPr/>
            </p:nvGrpSpPr>
            <p:grpSpPr>
              <a:xfrm>
                <a:off x="540027" y="5146168"/>
                <a:ext cx="3193032" cy="267798"/>
                <a:chOff x="540027" y="4251969"/>
                <a:chExt cx="3193032" cy="267798"/>
              </a:xfrm>
            </p:grpSpPr>
            <p:sp>
              <p:nvSpPr>
                <p:cNvPr id="105" name="TextBox 104">
                  <a:extLst>
                    <a:ext uri="{FF2B5EF4-FFF2-40B4-BE49-F238E27FC236}">
                      <a16:creationId xmlns:a16="http://schemas.microsoft.com/office/drawing/2014/main" id="{60CA8F2C-9C48-FF2B-8EC7-38650804A581}"/>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06" name="TextBox 105">
                  <a:extLst>
                    <a:ext uri="{FF2B5EF4-FFF2-40B4-BE49-F238E27FC236}">
                      <a16:creationId xmlns:a16="http://schemas.microsoft.com/office/drawing/2014/main" id="{F6546803-1EE4-F6C8-A19F-30B11ABBC471}"/>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07" name="Straight Connector 106">
                  <a:extLst>
                    <a:ext uri="{FF2B5EF4-FFF2-40B4-BE49-F238E27FC236}">
                      <a16:creationId xmlns:a16="http://schemas.microsoft.com/office/drawing/2014/main" id="{ED5C8C63-5829-586E-16FF-24157D6C359A}"/>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95" name="Group 94">
                <a:extLst>
                  <a:ext uri="{FF2B5EF4-FFF2-40B4-BE49-F238E27FC236}">
                    <a16:creationId xmlns:a16="http://schemas.microsoft.com/office/drawing/2014/main" id="{65AE483E-3843-84F2-90F5-0102D0AAD4CD}"/>
                  </a:ext>
                </a:extLst>
              </p:cNvPr>
              <p:cNvGrpSpPr/>
              <p:nvPr/>
            </p:nvGrpSpPr>
            <p:grpSpPr>
              <a:xfrm>
                <a:off x="540027" y="5491856"/>
                <a:ext cx="3193032" cy="267798"/>
                <a:chOff x="540027" y="4251969"/>
                <a:chExt cx="3193032" cy="267798"/>
              </a:xfrm>
            </p:grpSpPr>
            <p:sp>
              <p:nvSpPr>
                <p:cNvPr id="100" name="TextBox 99">
                  <a:extLst>
                    <a:ext uri="{FF2B5EF4-FFF2-40B4-BE49-F238E27FC236}">
                      <a16:creationId xmlns:a16="http://schemas.microsoft.com/office/drawing/2014/main" id="{E89BAC84-0C82-72B0-9419-BE9410D12226}"/>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03" name="TextBox 102">
                  <a:extLst>
                    <a:ext uri="{FF2B5EF4-FFF2-40B4-BE49-F238E27FC236}">
                      <a16:creationId xmlns:a16="http://schemas.microsoft.com/office/drawing/2014/main" id="{9E1F6DD6-6FAE-2B60-CC46-672DEFA50C9C}"/>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04" name="Straight Connector 103">
                  <a:extLst>
                    <a:ext uri="{FF2B5EF4-FFF2-40B4-BE49-F238E27FC236}">
                      <a16:creationId xmlns:a16="http://schemas.microsoft.com/office/drawing/2014/main" id="{2BD209CD-8CD7-B673-D0DF-5080D4AEA2E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96" name="Group 95">
                <a:extLst>
                  <a:ext uri="{FF2B5EF4-FFF2-40B4-BE49-F238E27FC236}">
                    <a16:creationId xmlns:a16="http://schemas.microsoft.com/office/drawing/2014/main" id="{55473753-1820-A31E-B3F2-B892E650BE62}"/>
                  </a:ext>
                </a:extLst>
              </p:cNvPr>
              <p:cNvGrpSpPr/>
              <p:nvPr/>
            </p:nvGrpSpPr>
            <p:grpSpPr>
              <a:xfrm>
                <a:off x="540027" y="5837544"/>
                <a:ext cx="3193032" cy="267798"/>
                <a:chOff x="540027" y="4251969"/>
                <a:chExt cx="3193032" cy="267798"/>
              </a:xfrm>
            </p:grpSpPr>
            <p:sp>
              <p:nvSpPr>
                <p:cNvPr id="97" name="TextBox 96">
                  <a:extLst>
                    <a:ext uri="{FF2B5EF4-FFF2-40B4-BE49-F238E27FC236}">
                      <a16:creationId xmlns:a16="http://schemas.microsoft.com/office/drawing/2014/main" id="{48061A70-59DE-BAFD-AD4B-61C6B518F6D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98" name="TextBox 97">
                  <a:extLst>
                    <a:ext uri="{FF2B5EF4-FFF2-40B4-BE49-F238E27FC236}">
                      <a16:creationId xmlns:a16="http://schemas.microsoft.com/office/drawing/2014/main" id="{C9004456-A498-C6EC-DB67-E9AFDDE3225C}"/>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99" name="Straight Connector 98">
                  <a:extLst>
                    <a:ext uri="{FF2B5EF4-FFF2-40B4-BE49-F238E27FC236}">
                      <a16:creationId xmlns:a16="http://schemas.microsoft.com/office/drawing/2014/main" id="{4A4654FA-8BF0-9AEF-90EF-E2B545C1CFF9}"/>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sp>
          <p:nvSpPr>
            <p:cNvPr id="90" name="TextBox 89">
              <a:extLst>
                <a:ext uri="{FF2B5EF4-FFF2-40B4-BE49-F238E27FC236}">
                  <a16:creationId xmlns:a16="http://schemas.microsoft.com/office/drawing/2014/main" id="{BD54F39D-BA21-B923-5EF3-E29FDF401AB8}"/>
                </a:ext>
              </a:extLst>
            </p:cNvPr>
            <p:cNvSpPr txBox="1"/>
            <p:nvPr/>
          </p:nvSpPr>
          <p:spPr>
            <a:xfrm>
              <a:off x="8310166" y="2018342"/>
              <a:ext cx="3087094" cy="400110"/>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2022</a:t>
              </a:r>
            </a:p>
          </p:txBody>
        </p:sp>
      </p:grpSp>
      <p:grpSp>
        <p:nvGrpSpPr>
          <p:cNvPr id="117" name="Group 116">
            <a:extLst>
              <a:ext uri="{FF2B5EF4-FFF2-40B4-BE49-F238E27FC236}">
                <a16:creationId xmlns:a16="http://schemas.microsoft.com/office/drawing/2014/main" id="{1C212995-A04F-5878-B7C6-6C49552A8BD4}"/>
              </a:ext>
            </a:extLst>
          </p:cNvPr>
          <p:cNvGrpSpPr/>
          <p:nvPr/>
        </p:nvGrpSpPr>
        <p:grpSpPr>
          <a:xfrm>
            <a:off x="540026" y="3689446"/>
            <a:ext cx="3193032" cy="2374045"/>
            <a:chOff x="8310166" y="2018342"/>
            <a:chExt cx="3193032" cy="2374045"/>
          </a:xfrm>
        </p:grpSpPr>
        <p:grpSp>
          <p:nvGrpSpPr>
            <p:cNvPr id="118" name="Group 117">
              <a:extLst>
                <a:ext uri="{FF2B5EF4-FFF2-40B4-BE49-F238E27FC236}">
                  <a16:creationId xmlns:a16="http://schemas.microsoft.com/office/drawing/2014/main" id="{890FF52F-69D9-6BF6-967A-377945C341F7}"/>
                </a:ext>
              </a:extLst>
            </p:cNvPr>
            <p:cNvGrpSpPr/>
            <p:nvPr/>
          </p:nvGrpSpPr>
          <p:grpSpPr>
            <a:xfrm>
              <a:off x="8310166" y="2418452"/>
              <a:ext cx="3193032" cy="1973935"/>
              <a:chOff x="540027" y="4131407"/>
              <a:chExt cx="3193032" cy="1973935"/>
            </a:xfrm>
          </p:grpSpPr>
          <p:grpSp>
            <p:nvGrpSpPr>
              <p:cNvPr id="120" name="Group 119">
                <a:extLst>
                  <a:ext uri="{FF2B5EF4-FFF2-40B4-BE49-F238E27FC236}">
                    <a16:creationId xmlns:a16="http://schemas.microsoft.com/office/drawing/2014/main" id="{B0A77C5D-DADC-BFC1-058B-83DFC40735CE}"/>
                  </a:ext>
                </a:extLst>
              </p:cNvPr>
              <p:cNvGrpSpPr/>
              <p:nvPr/>
            </p:nvGrpSpPr>
            <p:grpSpPr>
              <a:xfrm>
                <a:off x="540027" y="4131407"/>
                <a:ext cx="3193032" cy="267798"/>
                <a:chOff x="540027" y="4251969"/>
                <a:chExt cx="3193032" cy="267798"/>
              </a:xfrm>
            </p:grpSpPr>
            <p:sp>
              <p:nvSpPr>
                <p:cNvPr id="141" name="TextBox 140">
                  <a:extLst>
                    <a:ext uri="{FF2B5EF4-FFF2-40B4-BE49-F238E27FC236}">
                      <a16:creationId xmlns:a16="http://schemas.microsoft.com/office/drawing/2014/main" id="{942647EC-C182-0FE9-6D12-FAC9DC546815}"/>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142" name="TextBox 141">
                  <a:extLst>
                    <a:ext uri="{FF2B5EF4-FFF2-40B4-BE49-F238E27FC236}">
                      <a16:creationId xmlns:a16="http://schemas.microsoft.com/office/drawing/2014/main" id="{71539366-0162-A03F-7860-8F942B5AE7FE}"/>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43" name="Straight Connector 142">
                  <a:extLst>
                    <a:ext uri="{FF2B5EF4-FFF2-40B4-BE49-F238E27FC236}">
                      <a16:creationId xmlns:a16="http://schemas.microsoft.com/office/drawing/2014/main" id="{79E94719-FF3B-EC0E-F572-5F8ADF1124BA}"/>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1" name="Group 120">
                <a:extLst>
                  <a:ext uri="{FF2B5EF4-FFF2-40B4-BE49-F238E27FC236}">
                    <a16:creationId xmlns:a16="http://schemas.microsoft.com/office/drawing/2014/main" id="{7F961871-7B1A-75C4-690F-1AB4E8BE2AD2}"/>
                  </a:ext>
                </a:extLst>
              </p:cNvPr>
              <p:cNvGrpSpPr/>
              <p:nvPr/>
            </p:nvGrpSpPr>
            <p:grpSpPr>
              <a:xfrm>
                <a:off x="540027" y="4454792"/>
                <a:ext cx="3193032" cy="267798"/>
                <a:chOff x="540027" y="4251969"/>
                <a:chExt cx="3193032" cy="267798"/>
              </a:xfrm>
            </p:grpSpPr>
            <p:sp>
              <p:nvSpPr>
                <p:cNvPr id="138" name="TextBox 137">
                  <a:extLst>
                    <a:ext uri="{FF2B5EF4-FFF2-40B4-BE49-F238E27FC236}">
                      <a16:creationId xmlns:a16="http://schemas.microsoft.com/office/drawing/2014/main" id="{E889298D-C6DF-033F-C394-F8E9A6BDA5F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39" name="TextBox 138">
                  <a:extLst>
                    <a:ext uri="{FF2B5EF4-FFF2-40B4-BE49-F238E27FC236}">
                      <a16:creationId xmlns:a16="http://schemas.microsoft.com/office/drawing/2014/main" id="{DB9ACE88-FA6E-1ABF-6C21-B396399F1229}"/>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40" name="Straight Connector 139">
                  <a:extLst>
                    <a:ext uri="{FF2B5EF4-FFF2-40B4-BE49-F238E27FC236}">
                      <a16:creationId xmlns:a16="http://schemas.microsoft.com/office/drawing/2014/main" id="{440B8063-91D3-BFA6-A17A-7B6444C4899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2" name="Group 121">
                <a:extLst>
                  <a:ext uri="{FF2B5EF4-FFF2-40B4-BE49-F238E27FC236}">
                    <a16:creationId xmlns:a16="http://schemas.microsoft.com/office/drawing/2014/main" id="{0586EB63-A3E6-3747-F0A7-1AE74AB55068}"/>
                  </a:ext>
                </a:extLst>
              </p:cNvPr>
              <p:cNvGrpSpPr/>
              <p:nvPr/>
            </p:nvGrpSpPr>
            <p:grpSpPr>
              <a:xfrm>
                <a:off x="540027" y="4800480"/>
                <a:ext cx="3193032" cy="267798"/>
                <a:chOff x="540027" y="4251969"/>
                <a:chExt cx="3193032" cy="267798"/>
              </a:xfrm>
            </p:grpSpPr>
            <p:sp>
              <p:nvSpPr>
                <p:cNvPr id="135" name="TextBox 134">
                  <a:extLst>
                    <a:ext uri="{FF2B5EF4-FFF2-40B4-BE49-F238E27FC236}">
                      <a16:creationId xmlns:a16="http://schemas.microsoft.com/office/drawing/2014/main" id="{87A234CF-8DC7-EFAF-06C5-3283BF37953C}"/>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36" name="TextBox 135">
                  <a:extLst>
                    <a:ext uri="{FF2B5EF4-FFF2-40B4-BE49-F238E27FC236}">
                      <a16:creationId xmlns:a16="http://schemas.microsoft.com/office/drawing/2014/main" id="{4D4D8C65-202B-7150-A808-F376EB5811FC}"/>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37" name="Straight Connector 136">
                  <a:extLst>
                    <a:ext uri="{FF2B5EF4-FFF2-40B4-BE49-F238E27FC236}">
                      <a16:creationId xmlns:a16="http://schemas.microsoft.com/office/drawing/2014/main" id="{FB0B03BE-E763-CAC9-5A4A-C0F53D332F0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3" name="Group 122">
                <a:extLst>
                  <a:ext uri="{FF2B5EF4-FFF2-40B4-BE49-F238E27FC236}">
                    <a16:creationId xmlns:a16="http://schemas.microsoft.com/office/drawing/2014/main" id="{18010B62-66CE-4EB7-C3F0-0F0BAAD67C35}"/>
                  </a:ext>
                </a:extLst>
              </p:cNvPr>
              <p:cNvGrpSpPr/>
              <p:nvPr/>
            </p:nvGrpSpPr>
            <p:grpSpPr>
              <a:xfrm>
                <a:off x="540027" y="5146168"/>
                <a:ext cx="3193032" cy="267798"/>
                <a:chOff x="540027" y="4251969"/>
                <a:chExt cx="3193032" cy="267798"/>
              </a:xfrm>
            </p:grpSpPr>
            <p:sp>
              <p:nvSpPr>
                <p:cNvPr id="132" name="TextBox 131">
                  <a:extLst>
                    <a:ext uri="{FF2B5EF4-FFF2-40B4-BE49-F238E27FC236}">
                      <a16:creationId xmlns:a16="http://schemas.microsoft.com/office/drawing/2014/main" id="{11C0600A-F584-C1FE-510E-7DF3E4ACD64D}"/>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33" name="TextBox 132">
                  <a:extLst>
                    <a:ext uri="{FF2B5EF4-FFF2-40B4-BE49-F238E27FC236}">
                      <a16:creationId xmlns:a16="http://schemas.microsoft.com/office/drawing/2014/main" id="{A39572CC-A522-B133-B274-464F52FFF97D}"/>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34" name="Straight Connector 133">
                  <a:extLst>
                    <a:ext uri="{FF2B5EF4-FFF2-40B4-BE49-F238E27FC236}">
                      <a16:creationId xmlns:a16="http://schemas.microsoft.com/office/drawing/2014/main" id="{3612BB9E-B4AE-AE72-7517-A5FF75C1459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4" name="Group 123">
                <a:extLst>
                  <a:ext uri="{FF2B5EF4-FFF2-40B4-BE49-F238E27FC236}">
                    <a16:creationId xmlns:a16="http://schemas.microsoft.com/office/drawing/2014/main" id="{37595935-6ADC-7B68-89E3-3B41BA150EBC}"/>
                  </a:ext>
                </a:extLst>
              </p:cNvPr>
              <p:cNvGrpSpPr/>
              <p:nvPr/>
            </p:nvGrpSpPr>
            <p:grpSpPr>
              <a:xfrm>
                <a:off x="540027" y="5491856"/>
                <a:ext cx="3193032" cy="267798"/>
                <a:chOff x="540027" y="4251969"/>
                <a:chExt cx="3193032" cy="267798"/>
              </a:xfrm>
            </p:grpSpPr>
            <p:sp>
              <p:nvSpPr>
                <p:cNvPr id="129" name="TextBox 128">
                  <a:extLst>
                    <a:ext uri="{FF2B5EF4-FFF2-40B4-BE49-F238E27FC236}">
                      <a16:creationId xmlns:a16="http://schemas.microsoft.com/office/drawing/2014/main" id="{5EF768B8-AD72-BEB9-BD9F-92AEEC43F017}"/>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30" name="TextBox 129">
                  <a:extLst>
                    <a:ext uri="{FF2B5EF4-FFF2-40B4-BE49-F238E27FC236}">
                      <a16:creationId xmlns:a16="http://schemas.microsoft.com/office/drawing/2014/main" id="{E3DA06EE-AF65-011B-802B-8FC63D8EB389}"/>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31" name="Straight Connector 130">
                  <a:extLst>
                    <a:ext uri="{FF2B5EF4-FFF2-40B4-BE49-F238E27FC236}">
                      <a16:creationId xmlns:a16="http://schemas.microsoft.com/office/drawing/2014/main" id="{F5C84585-F96F-2B50-947D-87CCAF245224}"/>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25" name="Group 124">
                <a:extLst>
                  <a:ext uri="{FF2B5EF4-FFF2-40B4-BE49-F238E27FC236}">
                    <a16:creationId xmlns:a16="http://schemas.microsoft.com/office/drawing/2014/main" id="{9172BEDD-AA7A-B4D6-3E8B-430E0314BE47}"/>
                  </a:ext>
                </a:extLst>
              </p:cNvPr>
              <p:cNvGrpSpPr/>
              <p:nvPr/>
            </p:nvGrpSpPr>
            <p:grpSpPr>
              <a:xfrm>
                <a:off x="540027" y="5837544"/>
                <a:ext cx="3193032" cy="267798"/>
                <a:chOff x="540027" y="4251969"/>
                <a:chExt cx="3193032" cy="267798"/>
              </a:xfrm>
            </p:grpSpPr>
            <p:sp>
              <p:nvSpPr>
                <p:cNvPr id="126" name="TextBox 125">
                  <a:extLst>
                    <a:ext uri="{FF2B5EF4-FFF2-40B4-BE49-F238E27FC236}">
                      <a16:creationId xmlns:a16="http://schemas.microsoft.com/office/drawing/2014/main" id="{5F08282D-2051-25EA-FB86-C6AF4EB5D390}"/>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27" name="TextBox 126">
                  <a:extLst>
                    <a:ext uri="{FF2B5EF4-FFF2-40B4-BE49-F238E27FC236}">
                      <a16:creationId xmlns:a16="http://schemas.microsoft.com/office/drawing/2014/main" id="{A027D5C4-6F19-2177-D6CA-3B2BA53084AA}"/>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28" name="Straight Connector 127">
                  <a:extLst>
                    <a:ext uri="{FF2B5EF4-FFF2-40B4-BE49-F238E27FC236}">
                      <a16:creationId xmlns:a16="http://schemas.microsoft.com/office/drawing/2014/main" id="{93312822-672B-D94B-2E46-1E61A6D68711}"/>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sp>
          <p:nvSpPr>
            <p:cNvPr id="119" name="TextBox 118">
              <a:extLst>
                <a:ext uri="{FF2B5EF4-FFF2-40B4-BE49-F238E27FC236}">
                  <a16:creationId xmlns:a16="http://schemas.microsoft.com/office/drawing/2014/main" id="{7B5507EA-ABF1-2A14-BC7D-6B9766E45CFE}"/>
                </a:ext>
              </a:extLst>
            </p:cNvPr>
            <p:cNvSpPr txBox="1"/>
            <p:nvPr/>
          </p:nvSpPr>
          <p:spPr>
            <a:xfrm>
              <a:off x="8310166" y="2018342"/>
              <a:ext cx="3087094" cy="400110"/>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2023</a:t>
              </a:r>
            </a:p>
          </p:txBody>
        </p:sp>
      </p:grpSp>
      <p:grpSp>
        <p:nvGrpSpPr>
          <p:cNvPr id="144" name="Group 143">
            <a:extLst>
              <a:ext uri="{FF2B5EF4-FFF2-40B4-BE49-F238E27FC236}">
                <a16:creationId xmlns:a16="http://schemas.microsoft.com/office/drawing/2014/main" id="{BB04D3AC-CA98-BD6C-9572-3545D11529E3}"/>
              </a:ext>
            </a:extLst>
          </p:cNvPr>
          <p:cNvGrpSpPr/>
          <p:nvPr/>
        </p:nvGrpSpPr>
        <p:grpSpPr>
          <a:xfrm>
            <a:off x="4393569" y="3689446"/>
            <a:ext cx="3193032" cy="2374045"/>
            <a:chOff x="8310166" y="2018342"/>
            <a:chExt cx="3193032" cy="2374045"/>
          </a:xfrm>
        </p:grpSpPr>
        <p:grpSp>
          <p:nvGrpSpPr>
            <p:cNvPr id="145" name="Group 144">
              <a:extLst>
                <a:ext uri="{FF2B5EF4-FFF2-40B4-BE49-F238E27FC236}">
                  <a16:creationId xmlns:a16="http://schemas.microsoft.com/office/drawing/2014/main" id="{C2F9144C-07CB-A24C-837C-1E02B576CA79}"/>
                </a:ext>
              </a:extLst>
            </p:cNvPr>
            <p:cNvGrpSpPr/>
            <p:nvPr/>
          </p:nvGrpSpPr>
          <p:grpSpPr>
            <a:xfrm>
              <a:off x="8310166" y="2418452"/>
              <a:ext cx="3193032" cy="1973935"/>
              <a:chOff x="540027" y="4131407"/>
              <a:chExt cx="3193032" cy="1973935"/>
            </a:xfrm>
          </p:grpSpPr>
          <p:grpSp>
            <p:nvGrpSpPr>
              <p:cNvPr id="147" name="Group 146">
                <a:extLst>
                  <a:ext uri="{FF2B5EF4-FFF2-40B4-BE49-F238E27FC236}">
                    <a16:creationId xmlns:a16="http://schemas.microsoft.com/office/drawing/2014/main" id="{5CAA5F76-6AE8-2DCF-B89A-95B1CE543425}"/>
                  </a:ext>
                </a:extLst>
              </p:cNvPr>
              <p:cNvGrpSpPr/>
              <p:nvPr/>
            </p:nvGrpSpPr>
            <p:grpSpPr>
              <a:xfrm>
                <a:off x="540027" y="4131407"/>
                <a:ext cx="3193032" cy="267798"/>
                <a:chOff x="540027" y="4251969"/>
                <a:chExt cx="3193032" cy="267798"/>
              </a:xfrm>
            </p:grpSpPr>
            <p:sp>
              <p:nvSpPr>
                <p:cNvPr id="168" name="TextBox 167">
                  <a:extLst>
                    <a:ext uri="{FF2B5EF4-FFF2-40B4-BE49-F238E27FC236}">
                      <a16:creationId xmlns:a16="http://schemas.microsoft.com/office/drawing/2014/main" id="{BE400D0F-3D0F-4D54-D7B1-ACC1F76EA816}"/>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169" name="TextBox 168">
                  <a:extLst>
                    <a:ext uri="{FF2B5EF4-FFF2-40B4-BE49-F238E27FC236}">
                      <a16:creationId xmlns:a16="http://schemas.microsoft.com/office/drawing/2014/main" id="{A6B7D3E6-95DA-DDD7-B851-67E1E155A3E0}"/>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70" name="Straight Connector 169">
                  <a:extLst>
                    <a:ext uri="{FF2B5EF4-FFF2-40B4-BE49-F238E27FC236}">
                      <a16:creationId xmlns:a16="http://schemas.microsoft.com/office/drawing/2014/main" id="{1B695738-D599-B8C7-CDE4-F58E9239589D}"/>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48" name="Group 147">
                <a:extLst>
                  <a:ext uri="{FF2B5EF4-FFF2-40B4-BE49-F238E27FC236}">
                    <a16:creationId xmlns:a16="http://schemas.microsoft.com/office/drawing/2014/main" id="{73FA4F2E-BA40-058F-F7D6-1CD1C6ADEED9}"/>
                  </a:ext>
                </a:extLst>
              </p:cNvPr>
              <p:cNvGrpSpPr/>
              <p:nvPr/>
            </p:nvGrpSpPr>
            <p:grpSpPr>
              <a:xfrm>
                <a:off x="540027" y="4454792"/>
                <a:ext cx="3193032" cy="267798"/>
                <a:chOff x="540027" y="4251969"/>
                <a:chExt cx="3193032" cy="267798"/>
              </a:xfrm>
            </p:grpSpPr>
            <p:sp>
              <p:nvSpPr>
                <p:cNvPr id="165" name="TextBox 164">
                  <a:extLst>
                    <a:ext uri="{FF2B5EF4-FFF2-40B4-BE49-F238E27FC236}">
                      <a16:creationId xmlns:a16="http://schemas.microsoft.com/office/drawing/2014/main" id="{09BFB20D-CF95-BAF2-C280-B7123C3F363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66" name="TextBox 165">
                  <a:extLst>
                    <a:ext uri="{FF2B5EF4-FFF2-40B4-BE49-F238E27FC236}">
                      <a16:creationId xmlns:a16="http://schemas.microsoft.com/office/drawing/2014/main" id="{69C74478-4B43-FCEC-7949-B5D8BE5D1239}"/>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67" name="Straight Connector 166">
                  <a:extLst>
                    <a:ext uri="{FF2B5EF4-FFF2-40B4-BE49-F238E27FC236}">
                      <a16:creationId xmlns:a16="http://schemas.microsoft.com/office/drawing/2014/main" id="{D1065938-C406-FC21-4336-CFC69F27C19D}"/>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49" name="Group 148">
                <a:extLst>
                  <a:ext uri="{FF2B5EF4-FFF2-40B4-BE49-F238E27FC236}">
                    <a16:creationId xmlns:a16="http://schemas.microsoft.com/office/drawing/2014/main" id="{A839BC2B-B6B6-ECFA-1F57-DFAED295E699}"/>
                  </a:ext>
                </a:extLst>
              </p:cNvPr>
              <p:cNvGrpSpPr/>
              <p:nvPr/>
            </p:nvGrpSpPr>
            <p:grpSpPr>
              <a:xfrm>
                <a:off x="540027" y="4800480"/>
                <a:ext cx="3193032" cy="267798"/>
                <a:chOff x="540027" y="4251969"/>
                <a:chExt cx="3193032" cy="267798"/>
              </a:xfrm>
            </p:grpSpPr>
            <p:sp>
              <p:nvSpPr>
                <p:cNvPr id="162" name="TextBox 161">
                  <a:extLst>
                    <a:ext uri="{FF2B5EF4-FFF2-40B4-BE49-F238E27FC236}">
                      <a16:creationId xmlns:a16="http://schemas.microsoft.com/office/drawing/2014/main" id="{C708E68E-00B2-5824-D74A-41202C67125D}"/>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63" name="TextBox 162">
                  <a:extLst>
                    <a:ext uri="{FF2B5EF4-FFF2-40B4-BE49-F238E27FC236}">
                      <a16:creationId xmlns:a16="http://schemas.microsoft.com/office/drawing/2014/main" id="{2FFAE1F7-56AB-4DA9-AE54-5A26FADE1735}"/>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64" name="Straight Connector 163">
                  <a:extLst>
                    <a:ext uri="{FF2B5EF4-FFF2-40B4-BE49-F238E27FC236}">
                      <a16:creationId xmlns:a16="http://schemas.microsoft.com/office/drawing/2014/main" id="{3A54D623-451F-856E-D9C9-D8E3F3EA7A86}"/>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50" name="Group 149">
                <a:extLst>
                  <a:ext uri="{FF2B5EF4-FFF2-40B4-BE49-F238E27FC236}">
                    <a16:creationId xmlns:a16="http://schemas.microsoft.com/office/drawing/2014/main" id="{268E8B81-503F-11E6-22BD-F241DDD9C460}"/>
                  </a:ext>
                </a:extLst>
              </p:cNvPr>
              <p:cNvGrpSpPr/>
              <p:nvPr/>
            </p:nvGrpSpPr>
            <p:grpSpPr>
              <a:xfrm>
                <a:off x="540027" y="5146168"/>
                <a:ext cx="3193032" cy="267798"/>
                <a:chOff x="540027" y="4251969"/>
                <a:chExt cx="3193032" cy="267798"/>
              </a:xfrm>
            </p:grpSpPr>
            <p:sp>
              <p:nvSpPr>
                <p:cNvPr id="159" name="TextBox 158">
                  <a:extLst>
                    <a:ext uri="{FF2B5EF4-FFF2-40B4-BE49-F238E27FC236}">
                      <a16:creationId xmlns:a16="http://schemas.microsoft.com/office/drawing/2014/main" id="{08AD5A6E-BBEA-3E0C-0D20-3D093D6B9A79}"/>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60" name="TextBox 159">
                  <a:extLst>
                    <a:ext uri="{FF2B5EF4-FFF2-40B4-BE49-F238E27FC236}">
                      <a16:creationId xmlns:a16="http://schemas.microsoft.com/office/drawing/2014/main" id="{9386826F-DB48-A098-C238-94A1777F6434}"/>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61" name="Straight Connector 160">
                  <a:extLst>
                    <a:ext uri="{FF2B5EF4-FFF2-40B4-BE49-F238E27FC236}">
                      <a16:creationId xmlns:a16="http://schemas.microsoft.com/office/drawing/2014/main" id="{9F711434-E3BF-1E62-AC6D-B10257F6CB4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51" name="Group 150">
                <a:extLst>
                  <a:ext uri="{FF2B5EF4-FFF2-40B4-BE49-F238E27FC236}">
                    <a16:creationId xmlns:a16="http://schemas.microsoft.com/office/drawing/2014/main" id="{7044463A-B372-18CE-CA82-99E2F6FEF772}"/>
                  </a:ext>
                </a:extLst>
              </p:cNvPr>
              <p:cNvGrpSpPr/>
              <p:nvPr/>
            </p:nvGrpSpPr>
            <p:grpSpPr>
              <a:xfrm>
                <a:off x="540027" y="5491856"/>
                <a:ext cx="3193032" cy="267798"/>
                <a:chOff x="540027" y="4251969"/>
                <a:chExt cx="3193032" cy="267798"/>
              </a:xfrm>
            </p:grpSpPr>
            <p:sp>
              <p:nvSpPr>
                <p:cNvPr id="156" name="TextBox 155">
                  <a:extLst>
                    <a:ext uri="{FF2B5EF4-FFF2-40B4-BE49-F238E27FC236}">
                      <a16:creationId xmlns:a16="http://schemas.microsoft.com/office/drawing/2014/main" id="{08261D55-FF1E-E765-1F78-084165683915}"/>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57" name="TextBox 156">
                  <a:extLst>
                    <a:ext uri="{FF2B5EF4-FFF2-40B4-BE49-F238E27FC236}">
                      <a16:creationId xmlns:a16="http://schemas.microsoft.com/office/drawing/2014/main" id="{18CBA7EF-E244-A2BF-E3FC-52F37C2896CA}"/>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58" name="Straight Connector 157">
                  <a:extLst>
                    <a:ext uri="{FF2B5EF4-FFF2-40B4-BE49-F238E27FC236}">
                      <a16:creationId xmlns:a16="http://schemas.microsoft.com/office/drawing/2014/main" id="{D10C9B20-41C2-4F99-4625-36F473B37F15}"/>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52" name="Group 151">
                <a:extLst>
                  <a:ext uri="{FF2B5EF4-FFF2-40B4-BE49-F238E27FC236}">
                    <a16:creationId xmlns:a16="http://schemas.microsoft.com/office/drawing/2014/main" id="{98DC35CC-6800-14C3-2295-5C4DD8E2366C}"/>
                  </a:ext>
                </a:extLst>
              </p:cNvPr>
              <p:cNvGrpSpPr/>
              <p:nvPr/>
            </p:nvGrpSpPr>
            <p:grpSpPr>
              <a:xfrm>
                <a:off x="540027" y="5837544"/>
                <a:ext cx="3193032" cy="267798"/>
                <a:chOff x="540027" y="4251969"/>
                <a:chExt cx="3193032" cy="267798"/>
              </a:xfrm>
            </p:grpSpPr>
            <p:sp>
              <p:nvSpPr>
                <p:cNvPr id="153" name="TextBox 152">
                  <a:extLst>
                    <a:ext uri="{FF2B5EF4-FFF2-40B4-BE49-F238E27FC236}">
                      <a16:creationId xmlns:a16="http://schemas.microsoft.com/office/drawing/2014/main" id="{841EFD97-4B60-5CD0-9D03-C4D55BD087A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54" name="TextBox 153">
                  <a:extLst>
                    <a:ext uri="{FF2B5EF4-FFF2-40B4-BE49-F238E27FC236}">
                      <a16:creationId xmlns:a16="http://schemas.microsoft.com/office/drawing/2014/main" id="{F4A491D5-12F2-B17A-589E-2E60EA546921}"/>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55" name="Straight Connector 154">
                  <a:extLst>
                    <a:ext uri="{FF2B5EF4-FFF2-40B4-BE49-F238E27FC236}">
                      <a16:creationId xmlns:a16="http://schemas.microsoft.com/office/drawing/2014/main" id="{A4458A20-65A9-D295-4795-E2E2D1A6B11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sp>
          <p:nvSpPr>
            <p:cNvPr id="146" name="TextBox 145">
              <a:extLst>
                <a:ext uri="{FF2B5EF4-FFF2-40B4-BE49-F238E27FC236}">
                  <a16:creationId xmlns:a16="http://schemas.microsoft.com/office/drawing/2014/main" id="{B0A79EBD-39F2-4771-8A2F-9052B06B3A45}"/>
                </a:ext>
              </a:extLst>
            </p:cNvPr>
            <p:cNvSpPr txBox="1"/>
            <p:nvPr/>
          </p:nvSpPr>
          <p:spPr>
            <a:xfrm>
              <a:off x="8310166" y="2018342"/>
              <a:ext cx="3087094" cy="400110"/>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2024</a:t>
              </a:r>
            </a:p>
          </p:txBody>
        </p:sp>
      </p:grpSp>
      <p:grpSp>
        <p:nvGrpSpPr>
          <p:cNvPr id="171" name="Group 170">
            <a:extLst>
              <a:ext uri="{FF2B5EF4-FFF2-40B4-BE49-F238E27FC236}">
                <a16:creationId xmlns:a16="http://schemas.microsoft.com/office/drawing/2014/main" id="{932ED523-E51A-4863-C169-9ADACBA49E6B}"/>
              </a:ext>
            </a:extLst>
          </p:cNvPr>
          <p:cNvGrpSpPr/>
          <p:nvPr/>
        </p:nvGrpSpPr>
        <p:grpSpPr>
          <a:xfrm>
            <a:off x="8312427" y="3689446"/>
            <a:ext cx="3193032" cy="2374045"/>
            <a:chOff x="8310166" y="2018342"/>
            <a:chExt cx="3193032" cy="2374045"/>
          </a:xfrm>
        </p:grpSpPr>
        <p:grpSp>
          <p:nvGrpSpPr>
            <p:cNvPr id="172" name="Group 171">
              <a:extLst>
                <a:ext uri="{FF2B5EF4-FFF2-40B4-BE49-F238E27FC236}">
                  <a16:creationId xmlns:a16="http://schemas.microsoft.com/office/drawing/2014/main" id="{68A03D3E-8CD8-F164-E78D-453177198759}"/>
                </a:ext>
              </a:extLst>
            </p:cNvPr>
            <p:cNvGrpSpPr/>
            <p:nvPr/>
          </p:nvGrpSpPr>
          <p:grpSpPr>
            <a:xfrm>
              <a:off x="8310166" y="2418452"/>
              <a:ext cx="3193032" cy="1973935"/>
              <a:chOff x="540027" y="4131407"/>
              <a:chExt cx="3193032" cy="1973935"/>
            </a:xfrm>
          </p:grpSpPr>
          <p:grpSp>
            <p:nvGrpSpPr>
              <p:cNvPr id="174" name="Group 173">
                <a:extLst>
                  <a:ext uri="{FF2B5EF4-FFF2-40B4-BE49-F238E27FC236}">
                    <a16:creationId xmlns:a16="http://schemas.microsoft.com/office/drawing/2014/main" id="{6CA3781E-1F62-DD3B-040B-1DA1A72E5314}"/>
                  </a:ext>
                </a:extLst>
              </p:cNvPr>
              <p:cNvGrpSpPr/>
              <p:nvPr/>
            </p:nvGrpSpPr>
            <p:grpSpPr>
              <a:xfrm>
                <a:off x="540027" y="4131407"/>
                <a:ext cx="3193032" cy="267798"/>
                <a:chOff x="540027" y="4251969"/>
                <a:chExt cx="3193032" cy="267798"/>
              </a:xfrm>
            </p:grpSpPr>
            <p:sp>
              <p:nvSpPr>
                <p:cNvPr id="195" name="TextBox 194">
                  <a:extLst>
                    <a:ext uri="{FF2B5EF4-FFF2-40B4-BE49-F238E27FC236}">
                      <a16:creationId xmlns:a16="http://schemas.microsoft.com/office/drawing/2014/main" id="{65A55E07-E76A-2616-D26A-66C9E3AED13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Medium" panose="02000503020000020003" pitchFamily="2" charset="0"/>
                    </a:rPr>
                    <a:t>Two-Column Table</a:t>
                  </a:r>
                </a:p>
              </p:txBody>
            </p:sp>
            <p:sp>
              <p:nvSpPr>
                <p:cNvPr id="196" name="TextBox 195">
                  <a:extLst>
                    <a:ext uri="{FF2B5EF4-FFF2-40B4-BE49-F238E27FC236}">
                      <a16:creationId xmlns:a16="http://schemas.microsoft.com/office/drawing/2014/main" id="{0FE6046D-36D5-E234-CEA1-B76D99719799}"/>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97" name="Straight Connector 196">
                  <a:extLst>
                    <a:ext uri="{FF2B5EF4-FFF2-40B4-BE49-F238E27FC236}">
                      <a16:creationId xmlns:a16="http://schemas.microsoft.com/office/drawing/2014/main" id="{7BA1091E-931D-4977-D169-C8763EEEAE09}"/>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75" name="Group 174">
                <a:extLst>
                  <a:ext uri="{FF2B5EF4-FFF2-40B4-BE49-F238E27FC236}">
                    <a16:creationId xmlns:a16="http://schemas.microsoft.com/office/drawing/2014/main" id="{9D04E4B5-3876-CE3A-EF6B-E1E40CB6466D}"/>
                  </a:ext>
                </a:extLst>
              </p:cNvPr>
              <p:cNvGrpSpPr/>
              <p:nvPr/>
            </p:nvGrpSpPr>
            <p:grpSpPr>
              <a:xfrm>
                <a:off x="540027" y="4454792"/>
                <a:ext cx="3193032" cy="267798"/>
                <a:chOff x="540027" y="4251969"/>
                <a:chExt cx="3193032" cy="267798"/>
              </a:xfrm>
            </p:grpSpPr>
            <p:sp>
              <p:nvSpPr>
                <p:cNvPr id="192" name="TextBox 191">
                  <a:extLst>
                    <a:ext uri="{FF2B5EF4-FFF2-40B4-BE49-F238E27FC236}">
                      <a16:creationId xmlns:a16="http://schemas.microsoft.com/office/drawing/2014/main" id="{E58B72B3-4FBC-D86D-1720-BE34E4B8872C}"/>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93" name="TextBox 192">
                  <a:extLst>
                    <a:ext uri="{FF2B5EF4-FFF2-40B4-BE49-F238E27FC236}">
                      <a16:creationId xmlns:a16="http://schemas.microsoft.com/office/drawing/2014/main" id="{8803239C-C78A-C495-DE2D-970DA034A39C}"/>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94" name="Straight Connector 193">
                  <a:extLst>
                    <a:ext uri="{FF2B5EF4-FFF2-40B4-BE49-F238E27FC236}">
                      <a16:creationId xmlns:a16="http://schemas.microsoft.com/office/drawing/2014/main" id="{DD82A5DA-D0D0-1A9C-6CAC-11C7D7042423}"/>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76" name="Group 175">
                <a:extLst>
                  <a:ext uri="{FF2B5EF4-FFF2-40B4-BE49-F238E27FC236}">
                    <a16:creationId xmlns:a16="http://schemas.microsoft.com/office/drawing/2014/main" id="{971933AF-B8B2-51EC-2DDC-27484F3BC802}"/>
                  </a:ext>
                </a:extLst>
              </p:cNvPr>
              <p:cNvGrpSpPr/>
              <p:nvPr/>
            </p:nvGrpSpPr>
            <p:grpSpPr>
              <a:xfrm>
                <a:off x="540027" y="4800480"/>
                <a:ext cx="3193032" cy="267798"/>
                <a:chOff x="540027" y="4251969"/>
                <a:chExt cx="3193032" cy="267798"/>
              </a:xfrm>
            </p:grpSpPr>
            <p:sp>
              <p:nvSpPr>
                <p:cNvPr id="189" name="TextBox 188">
                  <a:extLst>
                    <a:ext uri="{FF2B5EF4-FFF2-40B4-BE49-F238E27FC236}">
                      <a16:creationId xmlns:a16="http://schemas.microsoft.com/office/drawing/2014/main" id="{6E315592-2553-DEEC-84EA-2045D85072BF}"/>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90" name="TextBox 189">
                  <a:extLst>
                    <a:ext uri="{FF2B5EF4-FFF2-40B4-BE49-F238E27FC236}">
                      <a16:creationId xmlns:a16="http://schemas.microsoft.com/office/drawing/2014/main" id="{F7E22207-BDEC-FF94-4A5C-60D902CC360F}"/>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91" name="Straight Connector 190">
                  <a:extLst>
                    <a:ext uri="{FF2B5EF4-FFF2-40B4-BE49-F238E27FC236}">
                      <a16:creationId xmlns:a16="http://schemas.microsoft.com/office/drawing/2014/main" id="{D3CDF10F-FEE7-55F2-F4C0-75EE7DF1ACE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77" name="Group 176">
                <a:extLst>
                  <a:ext uri="{FF2B5EF4-FFF2-40B4-BE49-F238E27FC236}">
                    <a16:creationId xmlns:a16="http://schemas.microsoft.com/office/drawing/2014/main" id="{B161AD21-2E04-82FB-1B1D-8F89570AE6F8}"/>
                  </a:ext>
                </a:extLst>
              </p:cNvPr>
              <p:cNvGrpSpPr/>
              <p:nvPr/>
            </p:nvGrpSpPr>
            <p:grpSpPr>
              <a:xfrm>
                <a:off x="540027" y="5146168"/>
                <a:ext cx="3193032" cy="267798"/>
                <a:chOff x="540027" y="4251969"/>
                <a:chExt cx="3193032" cy="267798"/>
              </a:xfrm>
            </p:grpSpPr>
            <p:sp>
              <p:nvSpPr>
                <p:cNvPr id="186" name="TextBox 185">
                  <a:extLst>
                    <a:ext uri="{FF2B5EF4-FFF2-40B4-BE49-F238E27FC236}">
                      <a16:creationId xmlns:a16="http://schemas.microsoft.com/office/drawing/2014/main" id="{6EA913FC-CEBE-5434-E611-F84D41FEB0C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87" name="TextBox 186">
                  <a:extLst>
                    <a:ext uri="{FF2B5EF4-FFF2-40B4-BE49-F238E27FC236}">
                      <a16:creationId xmlns:a16="http://schemas.microsoft.com/office/drawing/2014/main" id="{9B7377AD-FE8C-ED17-09F3-569E061A1E9A}"/>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88" name="Straight Connector 187">
                  <a:extLst>
                    <a:ext uri="{FF2B5EF4-FFF2-40B4-BE49-F238E27FC236}">
                      <a16:creationId xmlns:a16="http://schemas.microsoft.com/office/drawing/2014/main" id="{B915F385-6FCD-6113-3003-3A036929EC3C}"/>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78" name="Group 177">
                <a:extLst>
                  <a:ext uri="{FF2B5EF4-FFF2-40B4-BE49-F238E27FC236}">
                    <a16:creationId xmlns:a16="http://schemas.microsoft.com/office/drawing/2014/main" id="{DE385C75-E7A5-917E-CC45-9E97EE995225}"/>
                  </a:ext>
                </a:extLst>
              </p:cNvPr>
              <p:cNvGrpSpPr/>
              <p:nvPr/>
            </p:nvGrpSpPr>
            <p:grpSpPr>
              <a:xfrm>
                <a:off x="540027" y="5491856"/>
                <a:ext cx="3193032" cy="267798"/>
                <a:chOff x="540027" y="4251969"/>
                <a:chExt cx="3193032" cy="267798"/>
              </a:xfrm>
            </p:grpSpPr>
            <p:sp>
              <p:nvSpPr>
                <p:cNvPr id="183" name="TextBox 182">
                  <a:extLst>
                    <a:ext uri="{FF2B5EF4-FFF2-40B4-BE49-F238E27FC236}">
                      <a16:creationId xmlns:a16="http://schemas.microsoft.com/office/drawing/2014/main" id="{422343E4-4521-212B-3B09-A0DAEC46B778}"/>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84" name="TextBox 183">
                  <a:extLst>
                    <a:ext uri="{FF2B5EF4-FFF2-40B4-BE49-F238E27FC236}">
                      <a16:creationId xmlns:a16="http://schemas.microsoft.com/office/drawing/2014/main" id="{39257FFD-A482-D9E8-08A4-671CF34D882A}"/>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85" name="Straight Connector 184">
                  <a:extLst>
                    <a:ext uri="{FF2B5EF4-FFF2-40B4-BE49-F238E27FC236}">
                      <a16:creationId xmlns:a16="http://schemas.microsoft.com/office/drawing/2014/main" id="{B9B462D9-8BA8-6829-C8AE-7E318BBE80D0}"/>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nvGrpSpPr>
              <p:cNvPr id="179" name="Group 178">
                <a:extLst>
                  <a:ext uri="{FF2B5EF4-FFF2-40B4-BE49-F238E27FC236}">
                    <a16:creationId xmlns:a16="http://schemas.microsoft.com/office/drawing/2014/main" id="{5B4A3578-539C-0A4C-ABCE-FAAF9224A478}"/>
                  </a:ext>
                </a:extLst>
              </p:cNvPr>
              <p:cNvGrpSpPr/>
              <p:nvPr/>
            </p:nvGrpSpPr>
            <p:grpSpPr>
              <a:xfrm>
                <a:off x="540027" y="5837544"/>
                <a:ext cx="3193032" cy="267798"/>
                <a:chOff x="540027" y="4251969"/>
                <a:chExt cx="3193032" cy="267798"/>
              </a:xfrm>
            </p:grpSpPr>
            <p:sp>
              <p:nvSpPr>
                <p:cNvPr id="180" name="TextBox 179">
                  <a:extLst>
                    <a:ext uri="{FF2B5EF4-FFF2-40B4-BE49-F238E27FC236}">
                      <a16:creationId xmlns:a16="http://schemas.microsoft.com/office/drawing/2014/main" id="{35EDE432-0E23-0B0A-F31A-B60BFEE5F676}"/>
                    </a:ext>
                  </a:extLst>
                </p:cNvPr>
                <p:cNvSpPr txBox="1"/>
                <p:nvPr/>
              </p:nvSpPr>
              <p:spPr>
                <a:xfrm>
                  <a:off x="540027" y="4251969"/>
                  <a:ext cx="1166854" cy="215444"/>
                </a:xfrm>
                <a:prstGeom prst="rect">
                  <a:avLst/>
                </a:prstGeom>
                <a:noFill/>
              </p:spPr>
              <p:txBody>
                <a:bodyPr wrap="square" rtlCol="0">
                  <a:spAutoFit/>
                </a:bodyPr>
                <a:lstStyle/>
                <a:p>
                  <a:r>
                    <a:rPr lang="en-US" sz="800" dirty="0">
                      <a:solidFill>
                        <a:schemeClr val="bg1"/>
                      </a:solidFill>
                      <a:latin typeface="Avenir Book" panose="02000503020000020003" pitchFamily="2" charset="0"/>
                    </a:rPr>
                    <a:t>Title</a:t>
                  </a:r>
                </a:p>
              </p:txBody>
            </p:sp>
            <p:sp>
              <p:nvSpPr>
                <p:cNvPr id="181" name="TextBox 180">
                  <a:extLst>
                    <a:ext uri="{FF2B5EF4-FFF2-40B4-BE49-F238E27FC236}">
                      <a16:creationId xmlns:a16="http://schemas.microsoft.com/office/drawing/2014/main" id="{FB169424-CEFD-DD62-59DD-34811BD28BA2}"/>
                    </a:ext>
                  </a:extLst>
                </p:cNvPr>
                <p:cNvSpPr txBox="1"/>
                <p:nvPr/>
              </p:nvSpPr>
              <p:spPr>
                <a:xfrm>
                  <a:off x="2566205" y="4251969"/>
                  <a:ext cx="1166854" cy="215444"/>
                </a:xfrm>
                <a:prstGeom prst="rect">
                  <a:avLst/>
                </a:prstGeom>
                <a:noFill/>
              </p:spPr>
              <p:txBody>
                <a:bodyPr wrap="square" rtlCol="0">
                  <a:spAutoFit/>
                </a:bodyPr>
                <a:lstStyle/>
                <a:p>
                  <a:pPr algn="r"/>
                  <a:r>
                    <a:rPr lang="en-US" sz="800" dirty="0">
                      <a:solidFill>
                        <a:schemeClr val="bg1"/>
                      </a:solidFill>
                      <a:latin typeface="Avenir Book" panose="02000503020000020003" pitchFamily="2" charset="0"/>
                    </a:rPr>
                    <a:t>001 // Lorem ipsum</a:t>
                  </a:r>
                </a:p>
              </p:txBody>
            </p:sp>
            <p:cxnSp>
              <p:nvCxnSpPr>
                <p:cNvPr id="182" name="Straight Connector 181">
                  <a:extLst>
                    <a:ext uri="{FF2B5EF4-FFF2-40B4-BE49-F238E27FC236}">
                      <a16:creationId xmlns:a16="http://schemas.microsoft.com/office/drawing/2014/main" id="{FD26C235-594F-4B69-70CF-EF9660E9252D}"/>
                    </a:ext>
                  </a:extLst>
                </p:cNvPr>
                <p:cNvCxnSpPr>
                  <a:cxnSpLocks/>
                </p:cNvCxnSpPr>
                <p:nvPr/>
              </p:nvCxnSpPr>
              <p:spPr>
                <a:xfrm>
                  <a:off x="629920" y="4519767"/>
                  <a:ext cx="2997201"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grpSp>
        </p:grpSp>
        <p:sp>
          <p:nvSpPr>
            <p:cNvPr id="173" name="TextBox 172">
              <a:extLst>
                <a:ext uri="{FF2B5EF4-FFF2-40B4-BE49-F238E27FC236}">
                  <a16:creationId xmlns:a16="http://schemas.microsoft.com/office/drawing/2014/main" id="{E5906B70-A1D7-ADEE-BFE6-49575D7546C3}"/>
                </a:ext>
              </a:extLst>
            </p:cNvPr>
            <p:cNvSpPr txBox="1"/>
            <p:nvPr/>
          </p:nvSpPr>
          <p:spPr>
            <a:xfrm>
              <a:off x="8310166" y="2018342"/>
              <a:ext cx="3087094" cy="400110"/>
            </a:xfrm>
            <a:prstGeom prst="rect">
              <a:avLst/>
            </a:prstGeom>
            <a:noFill/>
          </p:spPr>
          <p:txBody>
            <a:bodyPr wrap="square" rtlCol="0">
              <a:spAutoFit/>
            </a:bodyPr>
            <a:lstStyle/>
            <a:p>
              <a:r>
                <a:rPr lang="en-US" sz="2000" dirty="0">
                  <a:solidFill>
                    <a:schemeClr val="bg1"/>
                  </a:solidFill>
                  <a:latin typeface="Avenir Medium" panose="02000503020000020003" pitchFamily="2" charset="0"/>
                </a:rPr>
                <a:t>2025</a:t>
              </a:r>
            </a:p>
          </p:txBody>
        </p:sp>
      </p:grpSp>
      <p:sp>
        <p:nvSpPr>
          <p:cNvPr id="12" name="TextBox 11">
            <a:extLst>
              <a:ext uri="{FF2B5EF4-FFF2-40B4-BE49-F238E27FC236}">
                <a16:creationId xmlns:a16="http://schemas.microsoft.com/office/drawing/2014/main" id="{A1A747FB-4774-5C33-9CA1-D14F508BE49A}"/>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1915232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CA9A53D-0D8B-923A-BB5E-B3B6B551467A}"/>
            </a:ext>
          </a:extLst>
        </p:cNvPr>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5BB96498-7B84-2BB0-6592-F016936D7D17}"/>
              </a:ext>
            </a:extLst>
          </p:cNvPr>
          <p:cNvCxnSpPr>
            <a:cxnSpLocks/>
          </p:cNvCxnSpPr>
          <p:nvPr/>
        </p:nvCxnSpPr>
        <p:spPr>
          <a:xfrm>
            <a:off x="300217" y="6500967"/>
            <a:ext cx="11591567" cy="0"/>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01F25F8B-DF3A-70CB-47EC-346A7BF3C5DA}"/>
              </a:ext>
            </a:extLst>
          </p:cNvPr>
          <p:cNvSpPr txBox="1"/>
          <p:nvPr/>
        </p:nvSpPr>
        <p:spPr>
          <a:xfrm>
            <a:off x="300217" y="6554093"/>
            <a:ext cx="3127492" cy="215444"/>
          </a:xfrm>
          <a:prstGeom prst="rect">
            <a:avLst/>
          </a:prstGeom>
          <a:noFill/>
        </p:spPr>
        <p:txBody>
          <a:bodyPr wrap="square" rtlCol="0">
            <a:spAutoFit/>
          </a:bodyPr>
          <a:lstStyle/>
          <a:p>
            <a:r>
              <a:rPr lang="en-US" sz="800" dirty="0">
                <a:solidFill>
                  <a:schemeClr val="bg1"/>
                </a:solidFill>
                <a:latin typeface="Avenir Light" panose="020B0402020203020204" pitchFamily="34" charset="77"/>
              </a:rPr>
              <a:t>011 // 045</a:t>
            </a:r>
          </a:p>
        </p:txBody>
      </p:sp>
      <p:sp>
        <p:nvSpPr>
          <p:cNvPr id="27" name="TextBox 26">
            <a:extLst>
              <a:ext uri="{FF2B5EF4-FFF2-40B4-BE49-F238E27FC236}">
                <a16:creationId xmlns:a16="http://schemas.microsoft.com/office/drawing/2014/main" id="{BDBCDD2D-1E4E-E521-0E99-7ACCD5A11DBA}"/>
              </a:ext>
            </a:extLst>
          </p:cNvPr>
          <p:cNvSpPr txBox="1"/>
          <p:nvPr/>
        </p:nvSpPr>
        <p:spPr>
          <a:xfrm>
            <a:off x="540026" y="3136612"/>
            <a:ext cx="2732564" cy="584775"/>
          </a:xfrm>
          <a:prstGeom prst="rect">
            <a:avLst/>
          </a:prstGeom>
          <a:noFill/>
        </p:spPr>
        <p:txBody>
          <a:bodyPr wrap="square" rtlCol="0">
            <a:spAutoFit/>
          </a:bodyPr>
          <a:lstStyle/>
          <a:p>
            <a:r>
              <a:rPr lang="en-US" sz="3200" dirty="0">
                <a:solidFill>
                  <a:schemeClr val="bg1"/>
                </a:solidFill>
                <a:latin typeface="Avenir Medium" panose="02000503020000020003" pitchFamily="2" charset="0"/>
              </a:rPr>
              <a:t>APPENDIX</a:t>
            </a:r>
          </a:p>
        </p:txBody>
      </p:sp>
      <p:cxnSp>
        <p:nvCxnSpPr>
          <p:cNvPr id="29" name="Straight Connector 28">
            <a:extLst>
              <a:ext uri="{FF2B5EF4-FFF2-40B4-BE49-F238E27FC236}">
                <a16:creationId xmlns:a16="http://schemas.microsoft.com/office/drawing/2014/main" id="{F12FADA4-CF30-5521-5B94-47CDA1AA147B}"/>
              </a:ext>
            </a:extLst>
          </p:cNvPr>
          <p:cNvCxnSpPr>
            <a:cxnSpLocks/>
          </p:cNvCxnSpPr>
          <p:nvPr/>
        </p:nvCxnSpPr>
        <p:spPr>
          <a:xfrm>
            <a:off x="7351960" y="921013"/>
            <a:ext cx="1170122" cy="0"/>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D39C8BE0-E3A0-5CE2-2E3E-380ECC9ED5CA}"/>
              </a:ext>
            </a:extLst>
          </p:cNvPr>
          <p:cNvSpPr txBox="1"/>
          <p:nvPr/>
        </p:nvSpPr>
        <p:spPr>
          <a:xfrm>
            <a:off x="7256555" y="983754"/>
            <a:ext cx="3127492" cy="381066"/>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p>
        </p:txBody>
      </p:sp>
      <p:sp>
        <p:nvSpPr>
          <p:cNvPr id="36" name="TextBox 35">
            <a:extLst>
              <a:ext uri="{FF2B5EF4-FFF2-40B4-BE49-F238E27FC236}">
                <a16:creationId xmlns:a16="http://schemas.microsoft.com/office/drawing/2014/main" id="{282D62DB-51CA-B7F2-0EB1-8A726251A5EA}"/>
              </a:ext>
            </a:extLst>
          </p:cNvPr>
          <p:cNvSpPr txBox="1"/>
          <p:nvPr/>
        </p:nvSpPr>
        <p:spPr>
          <a:xfrm>
            <a:off x="7256555" y="2632391"/>
            <a:ext cx="1730691" cy="676532"/>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p>
        </p:txBody>
      </p:sp>
      <p:sp>
        <p:nvSpPr>
          <p:cNvPr id="37" name="TextBox 36">
            <a:extLst>
              <a:ext uri="{FF2B5EF4-FFF2-40B4-BE49-F238E27FC236}">
                <a16:creationId xmlns:a16="http://schemas.microsoft.com/office/drawing/2014/main" id="{1A72F988-F76F-8EC2-7F64-06E54A5468D2}"/>
              </a:ext>
            </a:extLst>
          </p:cNvPr>
          <p:cNvSpPr txBox="1"/>
          <p:nvPr/>
        </p:nvSpPr>
        <p:spPr>
          <a:xfrm>
            <a:off x="7256555" y="3801517"/>
            <a:ext cx="1730691" cy="676532"/>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p>
        </p:txBody>
      </p:sp>
      <p:sp>
        <p:nvSpPr>
          <p:cNvPr id="39" name="TextBox 38">
            <a:extLst>
              <a:ext uri="{FF2B5EF4-FFF2-40B4-BE49-F238E27FC236}">
                <a16:creationId xmlns:a16="http://schemas.microsoft.com/office/drawing/2014/main" id="{087B56ED-23F1-EE06-E900-51E53D67FCB2}"/>
              </a:ext>
            </a:extLst>
          </p:cNvPr>
          <p:cNvSpPr txBox="1"/>
          <p:nvPr/>
        </p:nvSpPr>
        <p:spPr>
          <a:xfrm>
            <a:off x="7256555" y="4970643"/>
            <a:ext cx="1730691" cy="676532"/>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p>
        </p:txBody>
      </p:sp>
      <p:sp>
        <p:nvSpPr>
          <p:cNvPr id="40" name="TextBox 39">
            <a:extLst>
              <a:ext uri="{FF2B5EF4-FFF2-40B4-BE49-F238E27FC236}">
                <a16:creationId xmlns:a16="http://schemas.microsoft.com/office/drawing/2014/main" id="{07059965-CA8D-A159-8ACB-966535736A84}"/>
              </a:ext>
            </a:extLst>
          </p:cNvPr>
          <p:cNvSpPr txBox="1"/>
          <p:nvPr/>
        </p:nvSpPr>
        <p:spPr>
          <a:xfrm>
            <a:off x="9457646" y="2632391"/>
            <a:ext cx="1730691" cy="676532"/>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p>
        </p:txBody>
      </p:sp>
      <p:sp>
        <p:nvSpPr>
          <p:cNvPr id="41" name="TextBox 40">
            <a:extLst>
              <a:ext uri="{FF2B5EF4-FFF2-40B4-BE49-F238E27FC236}">
                <a16:creationId xmlns:a16="http://schemas.microsoft.com/office/drawing/2014/main" id="{DC839AEB-604C-6BE1-6C50-389002E0E617}"/>
              </a:ext>
            </a:extLst>
          </p:cNvPr>
          <p:cNvSpPr txBox="1"/>
          <p:nvPr/>
        </p:nvSpPr>
        <p:spPr>
          <a:xfrm>
            <a:off x="9457646" y="3801517"/>
            <a:ext cx="1730691" cy="676532"/>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p>
        </p:txBody>
      </p:sp>
      <p:sp>
        <p:nvSpPr>
          <p:cNvPr id="42" name="TextBox 41">
            <a:extLst>
              <a:ext uri="{FF2B5EF4-FFF2-40B4-BE49-F238E27FC236}">
                <a16:creationId xmlns:a16="http://schemas.microsoft.com/office/drawing/2014/main" id="{38767209-49EE-F133-FAD9-8C4F68D6127F}"/>
              </a:ext>
            </a:extLst>
          </p:cNvPr>
          <p:cNvSpPr txBox="1"/>
          <p:nvPr/>
        </p:nvSpPr>
        <p:spPr>
          <a:xfrm>
            <a:off x="9457646" y="4970643"/>
            <a:ext cx="1730691" cy="676532"/>
          </a:xfrm>
          <a:prstGeom prst="rect">
            <a:avLst/>
          </a:prstGeom>
          <a:noFill/>
        </p:spPr>
        <p:txBody>
          <a:bodyPr wrap="square" rtlCol="0">
            <a:spAutoFit/>
          </a:bodyPr>
          <a:lstStyle/>
          <a:p>
            <a:pPr>
              <a:lnSpc>
                <a:spcPct val="120000"/>
              </a:lnSpc>
              <a:spcAft>
                <a:spcPts val="1200"/>
              </a:spcAft>
            </a:pPr>
            <a:r>
              <a:rPr lang="en-US" sz="800" dirty="0">
                <a:solidFill>
                  <a:schemeClr val="bg1"/>
                </a:solidFill>
                <a:latin typeface="Avenir Light" panose="020B0402020203020204" pitchFamily="34" charset="77"/>
              </a:rPr>
              <a:t>Lorem ipsum dolor sit </a:t>
            </a:r>
            <a:r>
              <a:rPr lang="en-US" sz="800" dirty="0" err="1">
                <a:solidFill>
                  <a:schemeClr val="bg1"/>
                </a:solidFill>
                <a:latin typeface="Avenir Light" panose="020B0402020203020204" pitchFamily="34" charset="77"/>
              </a:rPr>
              <a:t>amet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consectetur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adipiscing</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elit</a:t>
            </a:r>
            <a:r>
              <a:rPr lang="en-US" sz="800" dirty="0">
                <a:solidFill>
                  <a:schemeClr val="bg1"/>
                </a:solidFill>
                <a:latin typeface="Avenir Light" panose="020B0402020203020204" pitchFamily="34" charset="77"/>
              </a:rPr>
              <a:t>, sed do </a:t>
            </a:r>
            <a:r>
              <a:rPr lang="en-US" sz="800" dirty="0" err="1">
                <a:solidFill>
                  <a:schemeClr val="bg1"/>
                </a:solidFill>
                <a:latin typeface="Avenir Light" panose="020B0402020203020204" pitchFamily="34" charset="77"/>
              </a:rPr>
              <a:t>eiusmod</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tempor</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incididunt</a:t>
            </a:r>
            <a:r>
              <a:rPr lang="en-US" sz="800" dirty="0">
                <a:solidFill>
                  <a:schemeClr val="bg1"/>
                </a:solidFill>
                <a:latin typeface="Avenir Light" panose="020B0402020203020204" pitchFamily="34" charset="77"/>
              </a:rPr>
              <a:t> </a:t>
            </a:r>
            <a:r>
              <a:rPr lang="en-US" sz="800" dirty="0" err="1">
                <a:solidFill>
                  <a:schemeClr val="bg1"/>
                </a:solidFill>
                <a:latin typeface="Avenir Light" panose="020B0402020203020204" pitchFamily="34" charset="77"/>
              </a:rPr>
              <a:t>ut</a:t>
            </a:r>
            <a:r>
              <a:rPr lang="en-US" sz="800" dirty="0">
                <a:solidFill>
                  <a:schemeClr val="bg1"/>
                </a:solidFill>
                <a:latin typeface="Avenir Light" panose="020B0402020203020204" pitchFamily="34" charset="77"/>
              </a:rPr>
              <a:t> labore et dolore magna </a:t>
            </a:r>
            <a:r>
              <a:rPr lang="en-US" sz="800" dirty="0" err="1">
                <a:solidFill>
                  <a:schemeClr val="bg1"/>
                </a:solidFill>
                <a:latin typeface="Avenir Light" panose="020B0402020203020204" pitchFamily="34" charset="77"/>
              </a:rPr>
              <a:t>aliqua</a:t>
            </a:r>
            <a:r>
              <a:rPr lang="en-US" sz="800" dirty="0">
                <a:solidFill>
                  <a:schemeClr val="bg1"/>
                </a:solidFill>
                <a:latin typeface="Avenir Light" panose="020B0402020203020204" pitchFamily="34" charset="77"/>
              </a:rPr>
              <a:t>. Ut </a:t>
            </a:r>
          </a:p>
        </p:txBody>
      </p:sp>
      <p:sp>
        <p:nvSpPr>
          <p:cNvPr id="2" name="TextBox 1">
            <a:extLst>
              <a:ext uri="{FF2B5EF4-FFF2-40B4-BE49-F238E27FC236}">
                <a16:creationId xmlns:a16="http://schemas.microsoft.com/office/drawing/2014/main" id="{74DC5DBF-04A4-A62D-DCA0-14EF50A3A145}"/>
              </a:ext>
            </a:extLst>
          </p:cNvPr>
          <p:cNvSpPr txBox="1"/>
          <p:nvPr/>
        </p:nvSpPr>
        <p:spPr>
          <a:xfrm>
            <a:off x="10458346" y="6610639"/>
            <a:ext cx="1433438" cy="76944"/>
          </a:xfrm>
          <a:prstGeom prst="rect">
            <a:avLst/>
          </a:prstGeom>
          <a:noFill/>
        </p:spPr>
        <p:txBody>
          <a:bodyPr wrap="square" lIns="0" tIns="0" rIns="0" bIns="0" rtlCol="0" anchor="ctr">
            <a:spAutoFit/>
          </a:bodyPr>
          <a:lstStyle/>
          <a:p>
            <a:pPr algn="r"/>
            <a:r>
              <a:rPr lang="en-US" sz="500" dirty="0">
                <a:solidFill>
                  <a:schemeClr val="bg1"/>
                </a:solidFill>
                <a:latin typeface="Avenir Light" panose="020B0402020203020204" pitchFamily="34" charset="77"/>
              </a:rPr>
              <a:t>CONFIDENTIAL &amp; PROPRIETARY </a:t>
            </a:r>
          </a:p>
        </p:txBody>
      </p:sp>
    </p:spTree>
    <p:extLst>
      <p:ext uri="{BB962C8B-B14F-4D97-AF65-F5344CB8AC3E}">
        <p14:creationId xmlns:p14="http://schemas.microsoft.com/office/powerpoint/2010/main" val="2157995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1400</TotalTime>
  <Words>2912</Words>
  <Application>Microsoft Macintosh PowerPoint</Application>
  <PresentationFormat>Widescreen</PresentationFormat>
  <Paragraphs>436</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Aptos Display</vt:lpstr>
      <vt:lpstr>Arial</vt:lpstr>
      <vt:lpstr>Avenir Black</vt:lpstr>
      <vt:lpstr>Avenir Book</vt:lpstr>
      <vt:lpstr>Avenir Light</vt:lpstr>
      <vt:lpstr>Avenir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Shedrick Turner Jr.</dc:creator>
  <cp:lastModifiedBy>Oona Gleeson</cp:lastModifiedBy>
  <cp:revision>20</cp:revision>
  <dcterms:created xsi:type="dcterms:W3CDTF">2025-10-28T14:25:55Z</dcterms:created>
  <dcterms:modified xsi:type="dcterms:W3CDTF">2026-02-02T00:18:34Z</dcterms:modified>
</cp:coreProperties>
</file>