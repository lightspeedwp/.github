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0" r:id="rId3"/>
    <p:sldId id="258" r:id="rId4"/>
    <p:sldId id="261" r:id="rId5"/>
    <p:sldId id="265" r:id="rId6"/>
    <p:sldId id="262" r:id="rId7"/>
    <p:sldId id="263" r:id="rId8"/>
    <p:sldId id="264" r:id="rId9"/>
    <p:sldId id="268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12" userDrawn="1">
          <p15:clr>
            <a:srgbClr val="A4A3A4"/>
          </p15:clr>
        </p15:guide>
        <p15:guide id="2" orient="horz" pos="337" userDrawn="1">
          <p15:clr>
            <a:srgbClr val="A4A3A4"/>
          </p15:clr>
        </p15:guide>
        <p15:guide id="4" pos="7344" userDrawn="1">
          <p15:clr>
            <a:srgbClr val="A4A3A4"/>
          </p15:clr>
        </p15:guide>
        <p15:guide id="5" orient="horz" pos="40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33E"/>
    <a:srgbClr val="971EFF"/>
    <a:srgbClr val="0C0334"/>
    <a:srgbClr val="06002B"/>
    <a:srgbClr val="080037"/>
    <a:srgbClr val="130042"/>
    <a:srgbClr val="1309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B0AD18-B050-9E42-AC05-74674B6AE183}" v="11" dt="2025-11-05T16:33:17.8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90"/>
    <p:restoredTop sz="94737"/>
  </p:normalViewPr>
  <p:slideViewPr>
    <p:cSldViewPr snapToGrid="0">
      <p:cViewPr varScale="1">
        <p:scale>
          <a:sx n="138" d="100"/>
          <a:sy n="138" d="100"/>
        </p:scale>
        <p:origin x="696" y="176"/>
      </p:cViewPr>
      <p:guideLst>
        <p:guide pos="312"/>
        <p:guide orient="horz" pos="337"/>
        <p:guide pos="7344"/>
        <p:guide orient="horz" pos="4026"/>
      </p:guideLst>
    </p:cSldViewPr>
  </p:slideViewPr>
  <p:notesTextViewPr>
    <p:cViewPr>
      <p:scale>
        <a:sx n="135" d="100"/>
        <a:sy n="13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bg1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Genome composition</a:t>
            </a:r>
          </a:p>
        </c:rich>
      </c:tx>
      <c:layout>
        <c:manualLayout>
          <c:xMode val="edge"/>
          <c:yMode val="edge"/>
          <c:x val="0.2606014974625912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414554957702438"/>
          <c:y val="0.30778503036663918"/>
          <c:w val="0.7317089008459513"/>
          <c:h val="0.6899976079046732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Genome compositio</c:v>
                </c:pt>
              </c:strCache>
            </c:strRef>
          </c:tx>
          <c:dPt>
            <c:idx val="0"/>
            <c:bubble3D val="0"/>
            <c:spPr>
              <a:solidFill>
                <a:schemeClr val="accent5">
                  <a:shade val="5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A2C-E744-9F06-9EDAE6A66C64}"/>
              </c:ext>
            </c:extLst>
          </c:dPt>
          <c:dPt>
            <c:idx val="1"/>
            <c:bubble3D val="0"/>
            <c:spPr>
              <a:solidFill>
                <a:schemeClr val="accent5">
                  <a:shade val="86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A2C-E744-9F06-9EDAE6A66C64}"/>
              </c:ext>
            </c:extLst>
          </c:dPt>
          <c:dPt>
            <c:idx val="2"/>
            <c:bubble3D val="0"/>
            <c:spPr>
              <a:solidFill>
                <a:schemeClr val="accent5">
                  <a:tint val="86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A2C-E744-9F06-9EDAE6A66C64}"/>
              </c:ext>
            </c:extLst>
          </c:dPt>
          <c:dPt>
            <c:idx val="3"/>
            <c:bubble3D val="0"/>
            <c:spPr>
              <a:solidFill>
                <a:schemeClr val="accent5">
                  <a:tint val="5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48D-334B-9995-85276D67C9C9}"/>
              </c:ext>
            </c:extLst>
          </c:dPt>
          <c:dLbls>
            <c:dLbl>
              <c:idx val="0"/>
              <c:layout>
                <c:manualLayout>
                  <c:x val="7.7072008114204803E-3"/>
                  <c:y val="-0.15504745466941205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7020626775462939E-2"/>
                      <c:h val="6.021422796935523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A2C-E744-9F06-9EDAE6A66C64}"/>
                </c:ext>
              </c:extLst>
            </c:dLbl>
            <c:dLbl>
              <c:idx val="1"/>
              <c:layout>
                <c:manualLayout>
                  <c:x val="0.23378509127975744"/>
                  <c:y val="-9.4482042689173054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134969067018056"/>
                      <c:h val="6.021422796935523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BA2C-E744-9F06-9EDAE6A66C64}"/>
                </c:ext>
              </c:extLst>
            </c:dLbl>
            <c:dLbl>
              <c:idx val="2"/>
              <c:layout>
                <c:manualLayout>
                  <c:x val="0.2080944219083555"/>
                  <c:y val="-8.8828244752887252E-17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134969067018056"/>
                      <c:h val="6.021422796935523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BA2C-E744-9F06-9EDAE6A66C64}"/>
                </c:ext>
              </c:extLst>
            </c:dLbl>
            <c:dLbl>
              <c:idx val="3"/>
              <c:layout>
                <c:manualLayout>
                  <c:x val="-0.18240365139258599"/>
                  <c:y val="9.5378601454855348E-8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134969067018054"/>
                      <c:h val="6.990469388619348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48D-334B-9995-85276D67C9C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Avenir Heavy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Exons</c:v>
                </c:pt>
                <c:pt idx="1">
                  <c:v>Introns</c:v>
                </c:pt>
                <c:pt idx="2">
                  <c:v>Regulatory</c:v>
                </c:pt>
                <c:pt idx="3">
                  <c:v>Repetitive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 formatCode="0.00%">
                  <c:v>1.4999999999999999E-2</c:v>
                </c:pt>
                <c:pt idx="1">
                  <c:v>0.24</c:v>
                </c:pt>
                <c:pt idx="2">
                  <c:v>0.15</c:v>
                </c:pt>
                <c:pt idx="3" formatCode="0.00%">
                  <c:v>0.59499999999999997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8D-334B-9995-85276D67C9C9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5278321990666802"/>
          <c:y val="9.5287610357810928E-2"/>
          <c:w val="0.73040049730662671"/>
          <c:h val="5.25738297140969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D9739A-07CE-2044-B3F3-35B502B992E1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96FBCE-EDA9-E247-A8B1-8A9E97FC4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43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6FBCE-EDA9-E247-A8B1-8A9E97FC49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753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BCFF7-EAAE-8F73-3366-0125EFCD9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4DCC1D-454E-68A7-9FF3-8E4779292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686BD-A2E7-9888-A133-4561B484C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00D69-3F54-789F-74C5-F76106CBB7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6FBCE-EDA9-E247-A8B1-8A9E97FC490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47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6FBCE-EDA9-E247-A8B1-8A9E97FC490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531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9E066-2512-7883-E5C7-B49C2624C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AFA6BA-0B21-6106-5106-11C283FA4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D64975-5B6D-1408-845B-6515E8067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8FF57-6257-9D97-B0C3-A9102B211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6FBCE-EDA9-E247-A8B1-8A9E97FC490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448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2FF57-2B4A-DF46-0C8E-DE609B3CD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62ACE-F874-D186-FAA9-DB0817B6A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9870F-AA18-18C8-4842-F5384473E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2A661-F804-D808-8D7A-F237AE971C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6FBCE-EDA9-E247-A8B1-8A9E97FC490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313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8BC69-037E-5DC0-E720-DB3F62650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657506-3A8A-A5AA-93A1-1F9DF4706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E59280-7E04-32C3-0700-32A2BF8F9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BF332-8B4D-2934-78CF-7D79548D4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6FBCE-EDA9-E247-A8B1-8A9E97FC490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35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8AE6B-10BD-337E-CC20-75B8DB8C9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E107E6-36F5-0EC5-E2D7-46B163026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F121EF-E55B-BFEA-8C81-EB8457940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15BB0-EA12-E004-85E3-A88525C1B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6FBCE-EDA9-E247-A8B1-8A9E97FC490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967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11256-7671-14F3-9A43-F02289719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2173B-665A-FD7E-9E30-A42D34D8C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43A67B-B8E2-54E6-C9CE-33FB8A6D4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44F12-CB40-A1FB-678C-4204508D7D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6FBCE-EDA9-E247-A8B1-8A9E97FC490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89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3ECA8-B479-039C-8B3E-8761A7349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35CC9-3911-33B9-BC0E-6EECFCC33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28287E-581C-8E1C-39D5-2E6F63CB4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1C559-410E-5488-567F-D355E9477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6FBCE-EDA9-E247-A8B1-8A9E97FC490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55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09EF0-9B3C-AA34-E818-D495AD27D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AA0BC-3E59-2A88-2CC5-CA97F85DA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6E6A3-F9DF-F2DA-B799-3E95B3CDE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B156C-E0DB-81EE-6999-01E5A15D0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6FBCE-EDA9-E247-A8B1-8A9E97FC490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88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97D0B-417A-6C26-68EE-3E0917EFF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C796FF-ACB7-7BD0-1B29-E894A34307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28978-2243-F1AD-D259-8120E3B17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E8FE-03F7-214E-86A9-0C733CA1759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931EF-996A-0E92-CC27-10B1EB3DF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D314C-C85B-6724-ACB4-40FF5E3CA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C8BB-0AA0-F043-98D0-B940ED08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734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78B6F-D99B-71F7-ED2C-4DA16B715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695B6-CEC6-A46E-66D1-900C39C58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EB50F-E6E6-C938-E720-B54C538A9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E8FE-03F7-214E-86A9-0C733CA1759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ECE1E-5B21-BEAC-D699-A3E013839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3450C-1CD1-732B-E84B-B36ED3EC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C8BB-0AA0-F043-98D0-B940ED08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84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C7A1A-AC77-FCCB-C444-837C43AD3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00FB7-2DB2-C6EA-179D-9615C97FE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08883-826A-90B3-51FE-665629043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E8FE-03F7-214E-86A9-0C733CA1759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F974F-83BF-0DCC-6FDB-3D4B17BD3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A2B6A-D0B5-726A-A752-02EFBA6EF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C8BB-0AA0-F043-98D0-B940ED08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258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9C190-E153-9883-4192-E9178A917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B1434-5064-F7FE-F7E1-3DA79F48CD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73016-DDF5-4257-9CE4-3B06DF157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F44B3-01F4-8A83-B065-1B3D68AB1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E8FE-03F7-214E-86A9-0C733CA1759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17765-607B-291D-D0B8-BE5F45121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C7867-018C-08A6-50D5-08661668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C8BB-0AA0-F043-98D0-B940ED08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0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661B7-531C-F58E-6022-10CD07119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23C4F-4DA2-D8F4-14F9-DFB792C8D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AD7F1-EFE1-F410-16EC-C8736C745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04B497-2A15-D624-481F-9645144EC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3F1B0E-DA2F-9D8F-24DC-B037CEE1FD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0200A9-6E74-1ECE-AE70-0F03C97E8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E8FE-03F7-214E-86A9-0C733CA1759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920893-CDD0-167F-C87E-F60BBB978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3F4AB4-A90F-F417-4EC7-BF2882F5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C8BB-0AA0-F043-98D0-B940ED08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475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90D4B-A714-70A0-5245-CC51B3D18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E8DC85-6017-22F9-85E6-007EB2F50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E8FE-03F7-214E-86A9-0C733CA1759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39312-7636-CC30-F2C2-C3E20D4DC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09FF3E-F11F-CA6C-4BA7-D41824DA8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C8BB-0AA0-F043-98D0-B940ED08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0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533D8E-93A1-A1AB-57C5-59BA8B87F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E8FE-03F7-214E-86A9-0C733CA1759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589772-8260-3141-1057-B97F46987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85858-6A47-6403-6A66-077655A5E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C8BB-0AA0-F043-98D0-B940ED08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668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54CA0-E34A-E1C3-15F0-A1D4A11E6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CDDFD-8736-A9F1-81DC-81643C1AC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CC558-C71A-F9F1-8BCE-DEB35D7B0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BB1CE-ABC2-9D4E-6F0A-967C297D0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E8FE-03F7-214E-86A9-0C733CA1759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0F6B1-478C-F3CF-1F0A-8731817F7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4A4C2-18FD-32F5-13EC-208B0CB6C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C8BB-0AA0-F043-98D0-B940ED08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78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C2F46-0C1A-A01E-D14E-8F5203EFE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5DC221-C44C-229A-8A5C-45B1F86BAC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FCA7F-C424-250D-C9C4-A7347260D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8C588-B012-4809-0BC5-0007614D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E8FE-03F7-214E-86A9-0C733CA1759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C458E-41B8-CD8E-76DD-F646BC060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2F0FF-B05B-8869-3FB3-B878E154D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C8BB-0AA0-F043-98D0-B940ED08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65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05A9A-F807-666B-2056-30E9F06BC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3DB06-B08B-5C48-3EBB-E65424926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3F5E3-0B79-6F36-1515-9C8F50821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E8FE-03F7-214E-86A9-0C733CA1759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35BC3-B08B-8E82-3011-DDCD15020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DE9AA-A39B-3677-1580-FD32296D7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C8BB-0AA0-F043-98D0-B940ED08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3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3DC0CE-693E-EF54-5F4F-1E543C0C8E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79600C-2B40-2B07-23F8-E3B854C5D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CF221-6279-81A4-90C7-B787AAA99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E8FE-03F7-214E-86A9-0C733CA1759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3819A-6813-004E-DD27-49664C688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A6F1B-5F97-71F0-8E93-5617CED58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C8BB-0AA0-F043-98D0-B940ED08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6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81D6B3-C70B-8A8D-A8B6-D03ECC006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7EB87-FF55-A5B8-6A34-7E3130D23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0E07B-419B-B898-F297-B0382AD267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3E8FE-03F7-214E-86A9-0C733CA1759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7D079-D5D2-C211-AEE7-B3D75A10CD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2EA48-EA13-0A7D-1FD9-7C7258C3D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2C8BB-0AA0-F043-98D0-B940ED08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71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04C5B9C-69A7-C756-67F1-4493D66EF5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1"/>
          <a:stretch>
            <a:fillRect/>
          </a:stretch>
        </p:blipFill>
        <p:spPr>
          <a:xfrm>
            <a:off x="4544946" y="3008"/>
            <a:ext cx="7647053" cy="68519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44105B-C569-C945-1CF7-18E727147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905359"/>
            <a:ext cx="7006224" cy="3149012"/>
          </a:xfrm>
        </p:spPr>
        <p:txBody>
          <a:bodyPr>
            <a:noAutofit/>
          </a:bodyPr>
          <a:lstStyle/>
          <a:p>
            <a:pPr algn="l"/>
            <a:r>
              <a:rPr lang="en-GB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Decoding Life</a:t>
            </a:r>
            <a:br>
              <a:rPr lang="en-GB" sz="32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7200" dirty="0">
                <a:solidFill>
                  <a:schemeClr val="bg1">
                    <a:lumMod val="95000"/>
                  </a:schemeClr>
                </a:solidFill>
                <a:latin typeface="DM Serif Display" pitchFamily="2" charset="0"/>
              </a:rPr>
              <a:t>Structure and Function of DNA</a:t>
            </a:r>
            <a:endParaRPr lang="en-US" dirty="0">
              <a:solidFill>
                <a:schemeClr val="bg1">
                  <a:lumMod val="95000"/>
                </a:schemeClr>
              </a:solidFill>
              <a:latin typeface="DM Serif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9BDD60-F082-DA58-B38B-5C4255996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336" y="4672208"/>
            <a:ext cx="9144000" cy="406291"/>
          </a:xfrm>
        </p:spPr>
        <p:txBody>
          <a:bodyPr>
            <a:no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95000"/>
                  </a:schemeClr>
                </a:solidFill>
                <a:latin typeface="Avenir Book" panose="02000503020000020003" pitchFamily="2" charset="0"/>
              </a:rPr>
              <a:t>An overview of molecular genetics and its applications</a:t>
            </a:r>
            <a:endParaRPr lang="en-US" sz="2800" dirty="0">
              <a:solidFill>
                <a:schemeClr val="bg1">
                  <a:lumMod val="95000"/>
                </a:schemeClr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762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33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BF20D9-42C3-3009-8ADE-B6FDB859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B7389BF-7CD6-8E0B-37AD-D8C87CB655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18950" y="9395"/>
            <a:ext cx="6845323" cy="6858000"/>
          </a:xfrm>
          <a:prstGeom prst="rect">
            <a:avLst/>
          </a:prstGeom>
          <a:effectLst>
            <a:softEdge rad="0"/>
          </a:effec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22F23D-ACAA-2710-A0F3-716ABB7E2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4325" y="3472066"/>
            <a:ext cx="2909669" cy="6420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Two antiparallel strands coiled into a helix.</a:t>
            </a:r>
            <a:endParaRPr lang="en-US" sz="18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EF6F20E8-E5E7-2BD1-2E9D-A4C05D4CB754}"/>
              </a:ext>
            </a:extLst>
          </p:cNvPr>
          <p:cNvCxnSpPr>
            <a:cxnSpLocks/>
          </p:cNvCxnSpPr>
          <p:nvPr/>
        </p:nvCxnSpPr>
        <p:spPr>
          <a:xfrm flipV="1">
            <a:off x="4916311" y="2689255"/>
            <a:ext cx="1624189" cy="1076473"/>
          </a:xfrm>
          <a:prstGeom prst="bentConnector3">
            <a:avLst>
              <a:gd name="adj1" fmla="val 52345"/>
            </a:avLst>
          </a:prstGeom>
          <a:ln w="19050" cap="rnd">
            <a:solidFill>
              <a:schemeClr val="accent5">
                <a:lumMod val="60000"/>
                <a:lumOff val="40000"/>
              </a:schemeClr>
            </a:solidFill>
            <a:bevel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9971D09-CB9D-86EC-BB98-E63C1F5DFC53}"/>
              </a:ext>
            </a:extLst>
          </p:cNvPr>
          <p:cNvSpPr txBox="1">
            <a:spLocks/>
          </p:cNvSpPr>
          <p:nvPr/>
        </p:nvSpPr>
        <p:spPr>
          <a:xfrm>
            <a:off x="8350683" y="1113011"/>
            <a:ext cx="3068877" cy="642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Adenine &lt;&gt;Thymine (A–T), Guanine &lt;&gt; Cytosine (G–C)</a:t>
            </a:r>
            <a:endParaRPr lang="en-US" sz="18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EE90451A-3FF2-30E6-D69F-596EE352F4B1}"/>
              </a:ext>
            </a:extLst>
          </p:cNvPr>
          <p:cNvCxnSpPr>
            <a:cxnSpLocks/>
          </p:cNvCxnSpPr>
          <p:nvPr/>
        </p:nvCxnSpPr>
        <p:spPr>
          <a:xfrm rot="10800000">
            <a:off x="7318008" y="1406673"/>
            <a:ext cx="939815" cy="1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accent5">
                <a:lumMod val="60000"/>
                <a:lumOff val="40000"/>
              </a:schemeClr>
            </a:solidFill>
            <a:bevel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B939CC9-2AF6-1CAA-4AE5-40A5487CAECE}"/>
              </a:ext>
            </a:extLst>
          </p:cNvPr>
          <p:cNvSpPr txBox="1">
            <a:spLocks/>
          </p:cNvSpPr>
          <p:nvPr/>
        </p:nvSpPr>
        <p:spPr>
          <a:xfrm>
            <a:off x="9254643" y="3640311"/>
            <a:ext cx="2545917" cy="642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Hydrogen bonds stabilize the helix.</a:t>
            </a:r>
            <a:endParaRPr lang="en-US" sz="18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473ACAC9-64FC-372D-D64A-C62C84DEEE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7318008" y="3933972"/>
            <a:ext cx="1843774" cy="1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accent5">
                <a:lumMod val="60000"/>
                <a:lumOff val="40000"/>
              </a:schemeClr>
            </a:solidFill>
            <a:bevel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08BAF176-A296-7568-2BC7-82619C04CA0B}"/>
              </a:ext>
            </a:extLst>
          </p:cNvPr>
          <p:cNvSpPr txBox="1">
            <a:spLocks/>
          </p:cNvSpPr>
          <p:nvPr/>
        </p:nvSpPr>
        <p:spPr>
          <a:xfrm>
            <a:off x="1964325" y="5304011"/>
            <a:ext cx="2785476" cy="6366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10 base pairs per turn, 3.4 nm per helical turn.</a:t>
            </a:r>
            <a:endParaRPr lang="en-US" sz="18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D801BEC3-20A4-6329-2C8D-B8A61D2B63FA}"/>
              </a:ext>
            </a:extLst>
          </p:cNvPr>
          <p:cNvCxnSpPr>
            <a:cxnSpLocks/>
          </p:cNvCxnSpPr>
          <p:nvPr/>
        </p:nvCxnSpPr>
        <p:spPr>
          <a:xfrm flipV="1">
            <a:off x="4916311" y="4521200"/>
            <a:ext cx="1624189" cy="1200327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accent5">
                <a:lumMod val="60000"/>
                <a:lumOff val="40000"/>
              </a:schemeClr>
            </a:solidFill>
            <a:bevel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DNA outline">
            <a:extLst>
              <a:ext uri="{FF2B5EF4-FFF2-40B4-BE49-F238E27FC236}">
                <a16:creationId xmlns:a16="http://schemas.microsoft.com/office/drawing/2014/main" id="{DD9A5D95-2A75-01A3-1103-C342891960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02863" y="6124490"/>
            <a:ext cx="403532" cy="403532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089A0F-F538-1431-D092-1DBAB8B95D95}"/>
              </a:ext>
            </a:extLst>
          </p:cNvPr>
          <p:cNvCxnSpPr>
            <a:cxnSpLocks/>
          </p:cNvCxnSpPr>
          <p:nvPr/>
        </p:nvCxnSpPr>
        <p:spPr>
          <a:xfrm>
            <a:off x="888535" y="6404044"/>
            <a:ext cx="10785305" cy="0"/>
          </a:xfrm>
          <a:prstGeom prst="line">
            <a:avLst/>
          </a:prstGeom>
          <a:ln w="9525">
            <a:solidFill>
              <a:schemeClr val="accent5">
                <a:lumMod val="40000"/>
                <a:lumOff val="60000"/>
                <a:alpha val="44328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E3D2A27-5DFB-74E2-8B38-CAF3ECBE64F9}"/>
              </a:ext>
            </a:extLst>
          </p:cNvPr>
          <p:cNvSpPr txBox="1">
            <a:spLocks/>
          </p:cNvSpPr>
          <p:nvPr/>
        </p:nvSpPr>
        <p:spPr>
          <a:xfrm>
            <a:off x="11321402" y="6124489"/>
            <a:ext cx="331520" cy="26129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1</a:t>
            </a:r>
            <a:endParaRPr lang="en-US" sz="18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37DB046-183D-2B7A-0FC8-EE90BD87D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20624"/>
            <a:ext cx="5825647" cy="1588935"/>
          </a:xfrm>
        </p:spPr>
        <p:txBody>
          <a:bodyPr anchor="t">
            <a:noAutofit/>
          </a:bodyPr>
          <a:lstStyle/>
          <a:p>
            <a:r>
              <a:rPr lang="en-GB" sz="5400" dirty="0">
                <a:solidFill>
                  <a:schemeClr val="bg1"/>
                </a:solidFill>
                <a:latin typeface="DM Serif Display" pitchFamily="2" charset="0"/>
              </a:rPr>
              <a:t>Structure of</a:t>
            </a:r>
            <a:br>
              <a:rPr lang="en-GB" sz="5400" dirty="0">
                <a:solidFill>
                  <a:schemeClr val="bg1"/>
                </a:solidFill>
                <a:latin typeface="DM Serif Display" pitchFamily="2" charset="0"/>
              </a:rPr>
            </a:br>
            <a:r>
              <a:rPr lang="en-GB" sz="5400" dirty="0">
                <a:solidFill>
                  <a:schemeClr val="bg1"/>
                </a:solidFill>
                <a:latin typeface="DM Serif Display" pitchFamily="2" charset="0"/>
              </a:rPr>
              <a:t>the double helix</a:t>
            </a:r>
            <a:endParaRPr lang="en-US" sz="5400" dirty="0">
              <a:solidFill>
                <a:schemeClr val="bg1"/>
              </a:solidFill>
              <a:latin typeface="DM Serif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366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15FC5A0-D23D-0EAF-B027-DE6046C04A9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/>
        </p:blipFill>
        <p:spPr>
          <a:xfrm rot="16200000" flipH="1">
            <a:off x="5115940" y="208721"/>
            <a:ext cx="6858000" cy="6440556"/>
          </a:xfrm>
          <a:prstGeom prst="rect">
            <a:avLst/>
          </a:prstGeom>
          <a:effectLst>
            <a:softEdge rad="0"/>
          </a:effectLst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22AA8EC5-05FD-653F-4C8D-4F382FF7042B}"/>
              </a:ext>
            </a:extLst>
          </p:cNvPr>
          <p:cNvSpPr txBox="1">
            <a:spLocks/>
          </p:cNvSpPr>
          <p:nvPr/>
        </p:nvSpPr>
        <p:spPr>
          <a:xfrm>
            <a:off x="416464" y="2565149"/>
            <a:ext cx="5600288" cy="3136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lang="en-GB" sz="2000" dirty="0">
                <a:solidFill>
                  <a:schemeClr val="bg1"/>
                </a:solidFill>
                <a:latin typeface="Avenir Book" panose="02000503020000020003" pitchFamily="2" charset="0"/>
              </a:rPr>
              <a:t>DNA = Deoxyribonucleic Acid, the molecule carrying genetic instructions.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lang="en-GB" sz="2000" dirty="0">
                <a:solidFill>
                  <a:schemeClr val="bg1"/>
                </a:solidFill>
                <a:latin typeface="Avenir Book" panose="02000503020000020003" pitchFamily="2" charset="0"/>
              </a:rPr>
              <a:t>Found in nucleus (eukaryotes) and cytoplasm (prokaryotes).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lang="en-GB" sz="2000" dirty="0">
                <a:solidFill>
                  <a:schemeClr val="bg1"/>
                </a:solidFill>
                <a:latin typeface="Avenir Book" panose="02000503020000020003" pitchFamily="2" charset="0"/>
              </a:rPr>
              <a:t>Composed of nucleotides (sugar, phosphate, base).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lang="en-GB" sz="2000" dirty="0">
                <a:solidFill>
                  <a:schemeClr val="bg1"/>
                </a:solidFill>
                <a:latin typeface="Avenir Book" panose="02000503020000020003" pitchFamily="2" charset="0"/>
              </a:rPr>
              <a:t>Discovered by Friedrich Miescher (1869); structure identified by Watson &amp; Crick (1953).</a:t>
            </a:r>
            <a:endParaRPr lang="en-US" sz="2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BDEE87B-29B6-8E78-52AD-179B07005113}"/>
              </a:ext>
            </a:extLst>
          </p:cNvPr>
          <p:cNvGrpSpPr/>
          <p:nvPr/>
        </p:nvGrpSpPr>
        <p:grpSpPr>
          <a:xfrm>
            <a:off x="7841382" y="1664211"/>
            <a:ext cx="1405156" cy="3860088"/>
            <a:chOff x="7371568" y="1664211"/>
            <a:chExt cx="1405156" cy="386008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26227B8-47AA-07BA-2042-8B1F61C179D1}"/>
                </a:ext>
              </a:extLst>
            </p:cNvPr>
            <p:cNvSpPr/>
            <p:nvPr/>
          </p:nvSpPr>
          <p:spPr>
            <a:xfrm>
              <a:off x="7599235" y="1664211"/>
              <a:ext cx="949823" cy="949823"/>
            </a:xfrm>
            <a:prstGeom prst="ellipse">
              <a:avLst/>
            </a:prstGeom>
            <a:solidFill>
              <a:srgbClr val="971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gular Pentagon 31">
              <a:extLst>
                <a:ext uri="{FF2B5EF4-FFF2-40B4-BE49-F238E27FC236}">
                  <a16:creationId xmlns:a16="http://schemas.microsoft.com/office/drawing/2014/main" id="{0D605A52-530F-7FA5-294D-4D495262DE93}"/>
                </a:ext>
              </a:extLst>
            </p:cNvPr>
            <p:cNvSpPr/>
            <p:nvPr/>
          </p:nvSpPr>
          <p:spPr>
            <a:xfrm>
              <a:off x="7599235" y="3070729"/>
              <a:ext cx="949823" cy="949823"/>
            </a:xfrm>
            <a:prstGeom prst="pentag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F1022CE-3680-4BD8-18D2-8897E738BA65}"/>
                </a:ext>
              </a:extLst>
            </p:cNvPr>
            <p:cNvSpPr/>
            <p:nvPr/>
          </p:nvSpPr>
          <p:spPr>
            <a:xfrm>
              <a:off x="7371568" y="4574476"/>
              <a:ext cx="1405156" cy="94982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5351750-C953-7D9C-CDCC-C51B866F4E3D}"/>
                </a:ext>
              </a:extLst>
            </p:cNvPr>
            <p:cNvCxnSpPr>
              <a:stCxn id="31" idx="4"/>
              <a:endCxn id="32" idx="0"/>
            </p:cNvCxnSpPr>
            <p:nvPr/>
          </p:nvCxnSpPr>
          <p:spPr>
            <a:xfrm>
              <a:off x="8074147" y="2614034"/>
              <a:ext cx="0" cy="4566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68FD89C-8766-6FFB-FAA7-ACBDEF793626}"/>
                </a:ext>
              </a:extLst>
            </p:cNvPr>
            <p:cNvCxnSpPr>
              <a:cxnSpLocks/>
              <a:stCxn id="32" idx="3"/>
              <a:endCxn id="33" idx="0"/>
            </p:cNvCxnSpPr>
            <p:nvPr/>
          </p:nvCxnSpPr>
          <p:spPr>
            <a:xfrm flipH="1">
              <a:off x="8074146" y="4020552"/>
              <a:ext cx="1" cy="55392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60BC8EC0-827E-F345-F8D5-38BD0B8ED6E4}"/>
              </a:ext>
            </a:extLst>
          </p:cNvPr>
          <p:cNvSpPr txBox="1">
            <a:spLocks/>
          </p:cNvSpPr>
          <p:nvPr/>
        </p:nvSpPr>
        <p:spPr>
          <a:xfrm>
            <a:off x="9493783" y="1818121"/>
            <a:ext cx="1983460" cy="4988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dirty="0">
                <a:solidFill>
                  <a:srgbClr val="971EFF"/>
                </a:solidFill>
                <a:latin typeface="Avenir Book" panose="02000503020000020003" pitchFamily="2" charset="0"/>
              </a:rPr>
              <a:t>Phosphate</a:t>
            </a:r>
            <a:endParaRPr lang="en-US" dirty="0">
              <a:solidFill>
                <a:srgbClr val="971EFF"/>
              </a:solidFill>
              <a:latin typeface="Avenir Book" panose="02000503020000020003" pitchFamily="2" charset="0"/>
            </a:endParaRP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D24DF25A-E598-DACA-3705-BB0B23CD6411}"/>
              </a:ext>
            </a:extLst>
          </p:cNvPr>
          <p:cNvSpPr txBox="1">
            <a:spLocks/>
          </p:cNvSpPr>
          <p:nvPr/>
        </p:nvSpPr>
        <p:spPr>
          <a:xfrm>
            <a:off x="9493783" y="3304642"/>
            <a:ext cx="1160565" cy="4819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dirty="0">
                <a:solidFill>
                  <a:schemeClr val="accent4"/>
                </a:solidFill>
                <a:latin typeface="Avenir Book" panose="02000503020000020003" pitchFamily="2" charset="0"/>
              </a:rPr>
              <a:t>Sugar</a:t>
            </a:r>
            <a:endParaRPr lang="en-US" dirty="0">
              <a:solidFill>
                <a:schemeClr val="accent4"/>
              </a:solidFill>
              <a:latin typeface="Avenir Book" panose="02000503020000020003" pitchFamily="2" charset="0"/>
            </a:endParaRP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6AD1A041-43D7-310B-48AF-3F6470B013D1}"/>
              </a:ext>
            </a:extLst>
          </p:cNvPr>
          <p:cNvSpPr txBox="1">
            <a:spLocks/>
          </p:cNvSpPr>
          <p:nvPr/>
        </p:nvSpPr>
        <p:spPr>
          <a:xfrm>
            <a:off x="9493783" y="4774340"/>
            <a:ext cx="1926294" cy="7499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Base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dirty="0">
                <a:solidFill>
                  <a:srgbClr val="130042"/>
                </a:solidFill>
                <a:latin typeface="Avenir Book" panose="02000503020000020003" pitchFamily="2" charset="0"/>
              </a:rPr>
              <a:t>A T G C</a:t>
            </a:r>
            <a:endParaRPr lang="en-US" dirty="0">
              <a:solidFill>
                <a:srgbClr val="130042"/>
              </a:solidFill>
              <a:latin typeface="Avenir Book" panose="02000503020000020003" pitchFamily="2" charset="0"/>
            </a:endParaRPr>
          </a:p>
        </p:txBody>
      </p:sp>
      <p:pic>
        <p:nvPicPr>
          <p:cNvPr id="45" name="Graphic 44" descr="DNA outline">
            <a:extLst>
              <a:ext uri="{FF2B5EF4-FFF2-40B4-BE49-F238E27FC236}">
                <a16:creationId xmlns:a16="http://schemas.microsoft.com/office/drawing/2014/main" id="{AA98A244-B97D-87CB-EE29-31211CCFC5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02863" y="6124490"/>
            <a:ext cx="403532" cy="403532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BACCCA3-A9ED-B9EF-B130-7AE50778C9B2}"/>
              </a:ext>
            </a:extLst>
          </p:cNvPr>
          <p:cNvCxnSpPr>
            <a:cxnSpLocks/>
          </p:cNvCxnSpPr>
          <p:nvPr/>
        </p:nvCxnSpPr>
        <p:spPr>
          <a:xfrm>
            <a:off x="888535" y="6404044"/>
            <a:ext cx="10785305" cy="0"/>
          </a:xfrm>
          <a:prstGeom prst="line">
            <a:avLst/>
          </a:prstGeom>
          <a:ln w="9525">
            <a:solidFill>
              <a:schemeClr val="accent5">
                <a:lumMod val="60000"/>
                <a:lumOff val="40000"/>
                <a:alpha val="44328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28E8A0F3-49D2-8ECF-9DC4-2CE03DC5F761}"/>
              </a:ext>
            </a:extLst>
          </p:cNvPr>
          <p:cNvSpPr txBox="1">
            <a:spLocks/>
          </p:cNvSpPr>
          <p:nvPr/>
        </p:nvSpPr>
        <p:spPr>
          <a:xfrm>
            <a:off x="11321402" y="6124489"/>
            <a:ext cx="331520" cy="26129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2</a:t>
            </a:r>
            <a:endParaRPr lang="en-US" sz="18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7FC5AAAC-8990-10B2-7750-3C7055E7AEC2}"/>
              </a:ext>
            </a:extLst>
          </p:cNvPr>
          <p:cNvSpPr txBox="1">
            <a:spLocks/>
          </p:cNvSpPr>
          <p:nvPr/>
        </p:nvSpPr>
        <p:spPr>
          <a:xfrm>
            <a:off x="416464" y="420624"/>
            <a:ext cx="5825647" cy="9514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dirty="0">
                <a:solidFill>
                  <a:schemeClr val="bg1"/>
                </a:solidFill>
                <a:latin typeface="DM Serif Display" pitchFamily="2" charset="0"/>
              </a:rPr>
              <a:t>What is DNA?</a:t>
            </a:r>
            <a:endParaRPr lang="en-US" sz="5400" dirty="0">
              <a:solidFill>
                <a:schemeClr val="bg1"/>
              </a:solidFill>
              <a:latin typeface="DM Serif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526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0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6FE016-43A5-E629-AE12-71A8676D0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2DE723D-E685-3FBE-B96C-5C37A9FF1A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F41A4A8-6516-E309-DB52-E0810C8A2F99}"/>
              </a:ext>
            </a:extLst>
          </p:cNvPr>
          <p:cNvSpPr/>
          <p:nvPr/>
        </p:nvSpPr>
        <p:spPr>
          <a:xfrm>
            <a:off x="0" y="3429000"/>
            <a:ext cx="12192000" cy="2426110"/>
          </a:xfrm>
          <a:prstGeom prst="rect">
            <a:avLst/>
          </a:prstGeom>
          <a:solidFill>
            <a:srgbClr val="1309C4">
              <a:alpha val="79265"/>
            </a:srgb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2DB0A8-ECA8-AE7E-EEC0-283F8CACC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789" y="420624"/>
            <a:ext cx="7824312" cy="1588935"/>
          </a:xfrm>
        </p:spPr>
        <p:txBody>
          <a:bodyPr anchor="t">
            <a:noAutofit/>
          </a:bodyPr>
          <a:lstStyle/>
          <a:p>
            <a:r>
              <a:rPr lang="en-GB" sz="5400" dirty="0">
                <a:solidFill>
                  <a:schemeClr val="bg1"/>
                </a:solidFill>
                <a:latin typeface="DM Serif Display" pitchFamily="2" charset="0"/>
              </a:rPr>
              <a:t>DNA replication</a:t>
            </a:r>
            <a:br>
              <a:rPr lang="en-GB" sz="5400" dirty="0">
                <a:solidFill>
                  <a:schemeClr val="bg1"/>
                </a:solidFill>
                <a:latin typeface="DM Serif Display" pitchFamily="2" charset="0"/>
              </a:rPr>
            </a:br>
            <a:r>
              <a:rPr lang="en-GB" sz="5400" dirty="0">
                <a:solidFill>
                  <a:schemeClr val="bg1"/>
                </a:solidFill>
                <a:latin typeface="DM Serif Display" pitchFamily="2" charset="0"/>
              </a:rPr>
              <a:t>(mechanism &amp; enzymes)</a:t>
            </a:r>
            <a:endParaRPr lang="en-US" sz="5400" dirty="0">
              <a:solidFill>
                <a:schemeClr val="bg1"/>
              </a:solidFill>
              <a:latin typeface="DM Serif Display" pitchFamily="2" charset="0"/>
            </a:endParaRP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C4EBBBF0-28BF-7FC1-4455-4B3C3435288E}"/>
              </a:ext>
            </a:extLst>
          </p:cNvPr>
          <p:cNvSpPr txBox="1">
            <a:spLocks/>
          </p:cNvSpPr>
          <p:nvPr/>
        </p:nvSpPr>
        <p:spPr>
          <a:xfrm>
            <a:off x="502863" y="3880869"/>
            <a:ext cx="3200400" cy="1588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Semi-conservative process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800" dirty="0">
                <a:solidFill>
                  <a:schemeClr val="bg1">
                    <a:lumMod val="95000"/>
                  </a:schemeClr>
                </a:solidFill>
                <a:latin typeface="Avenir Book" panose="02000503020000020003" pitchFamily="2" charset="0"/>
              </a:rPr>
              <a:t>each new DNA has one original strand</a:t>
            </a:r>
            <a:endParaRPr lang="en-US" sz="1800" dirty="0">
              <a:solidFill>
                <a:schemeClr val="bg1">
                  <a:lumMod val="95000"/>
                </a:schemeClr>
              </a:solidFill>
              <a:latin typeface="Avenir Book" panose="02000503020000020003" pitchFamily="2" charset="0"/>
            </a:endParaRPr>
          </a:p>
        </p:txBody>
      </p:sp>
      <p:pic>
        <p:nvPicPr>
          <p:cNvPr id="45" name="Graphic 44" descr="DNA outline">
            <a:extLst>
              <a:ext uri="{FF2B5EF4-FFF2-40B4-BE49-F238E27FC236}">
                <a16:creationId xmlns:a16="http://schemas.microsoft.com/office/drawing/2014/main" id="{BE5226D2-9E1E-304E-FB71-935825F91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02863" y="6124490"/>
            <a:ext cx="403532" cy="403532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BF61B87-3164-081D-5BBC-5243CDB0C786}"/>
              </a:ext>
            </a:extLst>
          </p:cNvPr>
          <p:cNvCxnSpPr>
            <a:cxnSpLocks/>
          </p:cNvCxnSpPr>
          <p:nvPr/>
        </p:nvCxnSpPr>
        <p:spPr>
          <a:xfrm>
            <a:off x="888535" y="6404044"/>
            <a:ext cx="10785305" cy="0"/>
          </a:xfrm>
          <a:prstGeom prst="line">
            <a:avLst/>
          </a:prstGeom>
          <a:ln w="9525">
            <a:solidFill>
              <a:schemeClr val="accent5">
                <a:lumMod val="40000"/>
                <a:lumOff val="60000"/>
                <a:alpha val="44328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B049FB87-CB93-F083-3C42-27DC002887F6}"/>
              </a:ext>
            </a:extLst>
          </p:cNvPr>
          <p:cNvSpPr txBox="1">
            <a:spLocks/>
          </p:cNvSpPr>
          <p:nvPr/>
        </p:nvSpPr>
        <p:spPr>
          <a:xfrm>
            <a:off x="11321402" y="6124489"/>
            <a:ext cx="331520" cy="26129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3</a:t>
            </a:r>
            <a:endParaRPr lang="en-US" sz="18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81F501-9DDD-4290-C021-BC1C61DF4685}"/>
              </a:ext>
            </a:extLst>
          </p:cNvPr>
          <p:cNvSpPr txBox="1">
            <a:spLocks/>
          </p:cNvSpPr>
          <p:nvPr/>
        </p:nvSpPr>
        <p:spPr>
          <a:xfrm>
            <a:off x="4481743" y="3880868"/>
            <a:ext cx="3200400" cy="18123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Main enzymes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800" dirty="0">
                <a:solidFill>
                  <a:schemeClr val="bg1">
                    <a:lumMod val="95000"/>
                  </a:schemeClr>
                </a:solidFill>
                <a:latin typeface="Avenir Book" panose="02000503020000020003" pitchFamily="2" charset="0"/>
              </a:rPr>
              <a:t>Helicase - unwinds </a:t>
            </a:r>
            <a:br>
              <a:rPr lang="en-GB" sz="1800" dirty="0">
                <a:solidFill>
                  <a:schemeClr val="bg1">
                    <a:lumMod val="95000"/>
                  </a:schemeClr>
                </a:solidFill>
                <a:latin typeface="Avenir Book" panose="02000503020000020003" pitchFamily="2" charset="0"/>
              </a:rPr>
            </a:br>
            <a:r>
              <a:rPr lang="en-GB" sz="1800" dirty="0">
                <a:solidFill>
                  <a:schemeClr val="bg1">
                    <a:lumMod val="95000"/>
                  </a:schemeClr>
                </a:solidFill>
                <a:latin typeface="Avenir Book" panose="02000503020000020003" pitchFamily="2" charset="0"/>
              </a:rPr>
              <a:t>DNA Polymerase - adds bases Ligase - joins fragments</a:t>
            </a:r>
            <a:endParaRPr lang="en-US" sz="1800" dirty="0">
              <a:solidFill>
                <a:schemeClr val="bg1">
                  <a:lumMod val="95000"/>
                </a:schemeClr>
              </a:solidFill>
              <a:latin typeface="Avenir Book" panose="02000503020000020003" pitchFamily="2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103482B-B0EA-F1EB-0E96-03EA5FC80772}"/>
              </a:ext>
            </a:extLst>
          </p:cNvPr>
          <p:cNvSpPr txBox="1">
            <a:spLocks/>
          </p:cNvSpPr>
          <p:nvPr/>
        </p:nvSpPr>
        <p:spPr>
          <a:xfrm>
            <a:off x="8460622" y="3880869"/>
            <a:ext cx="3200400" cy="1588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Final stage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800" dirty="0">
                <a:solidFill>
                  <a:schemeClr val="bg1">
                    <a:lumMod val="95000"/>
                  </a:schemeClr>
                </a:solidFill>
                <a:latin typeface="Avenir Book" panose="02000503020000020003" pitchFamily="2" charset="0"/>
              </a:rPr>
              <a:t>Occurs during S phase </a:t>
            </a:r>
            <a:br>
              <a:rPr lang="en-GB" sz="1800" dirty="0">
                <a:solidFill>
                  <a:schemeClr val="bg1">
                    <a:lumMod val="95000"/>
                  </a:schemeClr>
                </a:solidFill>
                <a:latin typeface="Avenir Book" panose="02000503020000020003" pitchFamily="2" charset="0"/>
              </a:rPr>
            </a:br>
            <a:r>
              <a:rPr lang="en-GB" sz="1800" dirty="0">
                <a:solidFill>
                  <a:schemeClr val="bg1">
                    <a:lumMod val="95000"/>
                  </a:schemeClr>
                </a:solidFill>
                <a:latin typeface="Avenir Book" panose="02000503020000020003" pitchFamily="2" charset="0"/>
              </a:rPr>
              <a:t>of the cell cycle</a:t>
            </a:r>
            <a:endParaRPr lang="en-US" sz="1800" dirty="0">
              <a:solidFill>
                <a:schemeClr val="bg1">
                  <a:lumMod val="95000"/>
                </a:schemeClr>
              </a:solidFill>
              <a:latin typeface="Avenir Book" panose="02000503020000020003" pitchFamily="2" charset="0"/>
            </a:endParaRPr>
          </a:p>
        </p:txBody>
      </p:sp>
      <p:sp>
        <p:nvSpPr>
          <p:cNvPr id="6" name="Shape">
            <a:extLst>
              <a:ext uri="{FF2B5EF4-FFF2-40B4-BE49-F238E27FC236}">
                <a16:creationId xmlns:a16="http://schemas.microsoft.com/office/drawing/2014/main" id="{81255605-BC99-88A7-4C28-229D17446CE9}"/>
              </a:ext>
            </a:extLst>
          </p:cNvPr>
          <p:cNvSpPr/>
          <p:nvPr/>
        </p:nvSpPr>
        <p:spPr>
          <a:xfrm>
            <a:off x="4010261" y="3973286"/>
            <a:ext cx="164484" cy="2924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41" h="21339" extrusionOk="0">
                <a:moveTo>
                  <a:pt x="688" y="391"/>
                </a:moveTo>
                <a:cubicBezTo>
                  <a:pt x="1604" y="-130"/>
                  <a:pt x="3094" y="-130"/>
                  <a:pt x="4010" y="391"/>
                </a:cubicBezTo>
                <a:lnTo>
                  <a:pt x="20452" y="9727"/>
                </a:lnTo>
                <a:cubicBezTo>
                  <a:pt x="21370" y="10247"/>
                  <a:pt x="21370" y="11093"/>
                  <a:pt x="20452" y="11613"/>
                </a:cubicBezTo>
                <a:lnTo>
                  <a:pt x="4010" y="20949"/>
                </a:lnTo>
                <a:cubicBezTo>
                  <a:pt x="3094" y="21470"/>
                  <a:pt x="1604" y="21470"/>
                  <a:pt x="688" y="20949"/>
                </a:cubicBezTo>
                <a:cubicBezTo>
                  <a:pt x="-230" y="20428"/>
                  <a:pt x="-230" y="19583"/>
                  <a:pt x="688" y="19063"/>
                </a:cubicBezTo>
                <a:lnTo>
                  <a:pt x="15470" y="10670"/>
                </a:lnTo>
                <a:lnTo>
                  <a:pt x="688" y="2277"/>
                </a:lnTo>
                <a:cubicBezTo>
                  <a:pt x="-230" y="1757"/>
                  <a:pt x="-230" y="912"/>
                  <a:pt x="688" y="391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 spc="0">
                <a:solidFill>
                  <a:schemeClr val="accent6">
                    <a:hueOff val="-2950819"/>
                    <a:satOff val="-100000"/>
                    <a:lumOff val="11960"/>
                  </a:schemeClr>
                </a:solidFill>
              </a:defRPr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22" name="Shape">
            <a:extLst>
              <a:ext uri="{FF2B5EF4-FFF2-40B4-BE49-F238E27FC236}">
                <a16:creationId xmlns:a16="http://schemas.microsoft.com/office/drawing/2014/main" id="{EA4A329F-9B99-2358-2563-61BF80109C90}"/>
              </a:ext>
            </a:extLst>
          </p:cNvPr>
          <p:cNvSpPr/>
          <p:nvPr/>
        </p:nvSpPr>
        <p:spPr>
          <a:xfrm>
            <a:off x="7989141" y="3973286"/>
            <a:ext cx="164484" cy="2924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41" h="21339" extrusionOk="0">
                <a:moveTo>
                  <a:pt x="688" y="391"/>
                </a:moveTo>
                <a:cubicBezTo>
                  <a:pt x="1604" y="-130"/>
                  <a:pt x="3094" y="-130"/>
                  <a:pt x="4010" y="391"/>
                </a:cubicBezTo>
                <a:lnTo>
                  <a:pt x="20452" y="9727"/>
                </a:lnTo>
                <a:cubicBezTo>
                  <a:pt x="21370" y="10247"/>
                  <a:pt x="21370" y="11093"/>
                  <a:pt x="20452" y="11613"/>
                </a:cubicBezTo>
                <a:lnTo>
                  <a:pt x="4010" y="20949"/>
                </a:lnTo>
                <a:cubicBezTo>
                  <a:pt x="3094" y="21470"/>
                  <a:pt x="1604" y="21470"/>
                  <a:pt x="688" y="20949"/>
                </a:cubicBezTo>
                <a:cubicBezTo>
                  <a:pt x="-230" y="20428"/>
                  <a:pt x="-230" y="19583"/>
                  <a:pt x="688" y="19063"/>
                </a:cubicBezTo>
                <a:lnTo>
                  <a:pt x="15470" y="10670"/>
                </a:lnTo>
                <a:lnTo>
                  <a:pt x="688" y="2277"/>
                </a:lnTo>
                <a:cubicBezTo>
                  <a:pt x="-230" y="1757"/>
                  <a:pt x="-230" y="912"/>
                  <a:pt x="688" y="391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 spc="0">
                <a:solidFill>
                  <a:schemeClr val="accent6">
                    <a:hueOff val="-2950819"/>
                    <a:satOff val="-100000"/>
                    <a:lumOff val="11960"/>
                  </a:schemeClr>
                </a:solidFill>
              </a:defRPr>
            </a:pP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307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0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40C24-47CD-5DA2-F420-7A1EA4E51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45DD20EC-0431-8AA8-512C-FF76F04ABA0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12" b="12"/>
          <a:stretch/>
        </p:blipFill>
        <p:spPr>
          <a:xfrm>
            <a:off x="5334000" y="420688"/>
            <a:ext cx="6858000" cy="6437309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A17951-03E1-1020-4134-9EED64F35E9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2336" y="420688"/>
            <a:ext cx="4897848" cy="977900"/>
          </a:xfrm>
        </p:spPr>
        <p:txBody>
          <a:bodyPr anchor="t">
            <a:noAutofit/>
          </a:bodyPr>
          <a:lstStyle/>
          <a:p>
            <a:r>
              <a:rPr lang="en-GB" sz="5400" dirty="0">
                <a:solidFill>
                  <a:schemeClr val="bg1"/>
                </a:solidFill>
                <a:latin typeface="DM Serif Display" pitchFamily="2" charset="0"/>
              </a:rPr>
              <a:t>Genes &amp; coding</a:t>
            </a:r>
            <a:endParaRPr lang="en-US" sz="5400" dirty="0">
              <a:solidFill>
                <a:schemeClr val="bg1"/>
              </a:solidFill>
              <a:latin typeface="DM Serif Display" pitchFamily="2" charset="0"/>
            </a:endParaRPr>
          </a:p>
        </p:txBody>
      </p:sp>
      <p:sp>
        <p:nvSpPr>
          <p:cNvPr id="38" name="Subtitle 2">
            <a:extLst>
              <a:ext uri="{FF2B5EF4-FFF2-40B4-BE49-F238E27FC236}">
                <a16:creationId xmlns:a16="http://schemas.microsoft.com/office/drawing/2014/main" id="{99E2C06E-3230-4A77-51FC-86304DD266C7}"/>
              </a:ext>
            </a:extLst>
          </p:cNvPr>
          <p:cNvSpPr txBox="1">
            <a:spLocks/>
          </p:cNvSpPr>
          <p:nvPr/>
        </p:nvSpPr>
        <p:spPr>
          <a:xfrm>
            <a:off x="502863" y="1938951"/>
            <a:ext cx="3421437" cy="40111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Gene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spcAft>
                <a:spcPts val="2000"/>
              </a:spcAft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functional segment of DNA coding for a protein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Human genome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spcAft>
                <a:spcPts val="2000"/>
              </a:spcAft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≈ 3 billion base pairs → ~20,000 protein-coding genes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Only 1.5%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spcAft>
                <a:spcPts val="2000"/>
              </a:spcAft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of genome is coding (exons); rest = regulatory or noncoding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92E07B69-40F3-D23D-0EAA-E8DFC864A6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7278390"/>
              </p:ext>
            </p:extLst>
          </p:nvPr>
        </p:nvGraphicFramePr>
        <p:xfrm>
          <a:off x="6375383" y="765953"/>
          <a:ext cx="4943429" cy="52422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1" name="Graphic 30" descr="DNA outline">
            <a:extLst>
              <a:ext uri="{FF2B5EF4-FFF2-40B4-BE49-F238E27FC236}">
                <a16:creationId xmlns:a16="http://schemas.microsoft.com/office/drawing/2014/main" id="{A93FA08A-757A-6251-2FA7-2E107C4DE0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02863" y="6124490"/>
            <a:ext cx="403532" cy="40353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55B77FC-A03E-9878-449C-DE01BD85A831}"/>
              </a:ext>
            </a:extLst>
          </p:cNvPr>
          <p:cNvCxnSpPr>
            <a:cxnSpLocks/>
          </p:cNvCxnSpPr>
          <p:nvPr/>
        </p:nvCxnSpPr>
        <p:spPr>
          <a:xfrm>
            <a:off x="888535" y="6404044"/>
            <a:ext cx="10785305" cy="0"/>
          </a:xfrm>
          <a:prstGeom prst="line">
            <a:avLst/>
          </a:prstGeom>
          <a:ln w="9525">
            <a:solidFill>
              <a:schemeClr val="accent5">
                <a:lumMod val="40000"/>
                <a:lumOff val="60000"/>
                <a:alpha val="44328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7F4EBD07-4F0C-9571-56EE-C4B0032FD0C7}"/>
              </a:ext>
            </a:extLst>
          </p:cNvPr>
          <p:cNvSpPr txBox="1">
            <a:spLocks/>
          </p:cNvSpPr>
          <p:nvPr/>
        </p:nvSpPr>
        <p:spPr>
          <a:xfrm>
            <a:off x="11321402" y="6124489"/>
            <a:ext cx="331520" cy="26129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4</a:t>
            </a:r>
            <a:endParaRPr lang="en-US" sz="18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317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00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B74ED7-1E7C-67D2-8DC7-47BAAD5C7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848A3EE2-6E0D-F0CE-A7CB-7029ED1BA5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16200000" flipV="1">
            <a:off x="5115940" y="208721"/>
            <a:ext cx="6858000" cy="6440556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EEF2E6-AE4A-883A-9A12-E0A7FC401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789" y="420624"/>
            <a:ext cx="11258811" cy="1349727"/>
          </a:xfrm>
        </p:spPr>
        <p:txBody>
          <a:bodyPr anchor="t">
            <a:noAutofit/>
          </a:bodyPr>
          <a:lstStyle/>
          <a:p>
            <a:r>
              <a:rPr lang="en-GB" sz="5400" dirty="0">
                <a:solidFill>
                  <a:schemeClr val="bg1"/>
                </a:solidFill>
                <a:latin typeface="DM Serif Display" pitchFamily="2" charset="0"/>
              </a:rPr>
              <a:t>Human genome project</a:t>
            </a:r>
            <a:endParaRPr lang="en-US" sz="5400" dirty="0">
              <a:solidFill>
                <a:schemeClr val="bg1"/>
              </a:solidFill>
              <a:latin typeface="DM Serif Display" pitchFamily="2" charset="0"/>
            </a:endParaRPr>
          </a:p>
        </p:txBody>
      </p:sp>
      <p:pic>
        <p:nvPicPr>
          <p:cNvPr id="45" name="Graphic 44" descr="DNA outline">
            <a:extLst>
              <a:ext uri="{FF2B5EF4-FFF2-40B4-BE49-F238E27FC236}">
                <a16:creationId xmlns:a16="http://schemas.microsoft.com/office/drawing/2014/main" id="{57CC72D4-3F43-B9A0-C59A-2112291CFE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02863" y="6124490"/>
            <a:ext cx="403532" cy="403532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283D044-C52D-0248-0145-50E68A0BD1DA}"/>
              </a:ext>
            </a:extLst>
          </p:cNvPr>
          <p:cNvCxnSpPr>
            <a:cxnSpLocks/>
          </p:cNvCxnSpPr>
          <p:nvPr/>
        </p:nvCxnSpPr>
        <p:spPr>
          <a:xfrm>
            <a:off x="888535" y="6404044"/>
            <a:ext cx="10785305" cy="0"/>
          </a:xfrm>
          <a:prstGeom prst="line">
            <a:avLst/>
          </a:prstGeom>
          <a:ln w="9525">
            <a:solidFill>
              <a:schemeClr val="accent5">
                <a:lumMod val="40000"/>
                <a:lumOff val="60000"/>
                <a:alpha val="44328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BC9409AD-E9B6-F74C-B956-5423657C921C}"/>
              </a:ext>
            </a:extLst>
          </p:cNvPr>
          <p:cNvSpPr txBox="1">
            <a:spLocks/>
          </p:cNvSpPr>
          <p:nvPr/>
        </p:nvSpPr>
        <p:spPr>
          <a:xfrm>
            <a:off x="11321402" y="6124489"/>
            <a:ext cx="331520" cy="26129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5</a:t>
            </a:r>
            <a:endParaRPr lang="en-US" sz="18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500303-90D9-0673-EBE2-770209636632}"/>
              </a:ext>
            </a:extLst>
          </p:cNvPr>
          <p:cNvSpPr/>
          <p:nvPr/>
        </p:nvSpPr>
        <p:spPr>
          <a:xfrm>
            <a:off x="502863" y="2628900"/>
            <a:ext cx="3965547" cy="3226210"/>
          </a:xfrm>
          <a:prstGeom prst="rect">
            <a:avLst/>
          </a:prstGeom>
          <a:solidFill>
            <a:srgbClr val="1309C4">
              <a:alpha val="79265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Subtitle 2">
            <a:extLst>
              <a:ext uri="{FF2B5EF4-FFF2-40B4-BE49-F238E27FC236}">
                <a16:creationId xmlns:a16="http://schemas.microsoft.com/office/drawing/2014/main" id="{89E3C3E6-CD20-A51D-736E-12FA953D483A}"/>
              </a:ext>
            </a:extLst>
          </p:cNvPr>
          <p:cNvSpPr txBox="1">
            <a:spLocks/>
          </p:cNvSpPr>
          <p:nvPr/>
        </p:nvSpPr>
        <p:spPr>
          <a:xfrm>
            <a:off x="399788" y="1446059"/>
            <a:ext cx="9372285" cy="6038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1990-2003: sequence the entire human genome</a:t>
            </a:r>
            <a:endParaRPr lang="en-US" dirty="0">
              <a:solidFill>
                <a:schemeClr val="bg1">
                  <a:lumMod val="95000"/>
                </a:schemeClr>
              </a:solidFill>
              <a:latin typeface="Avenir Book" panose="02000503020000020003" pitchFamily="2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A19A495-0C18-1F2C-0AF5-0FB98219F0F1}"/>
              </a:ext>
            </a:extLst>
          </p:cNvPr>
          <p:cNvSpPr/>
          <p:nvPr/>
        </p:nvSpPr>
        <p:spPr>
          <a:xfrm>
            <a:off x="4706563" y="2628900"/>
            <a:ext cx="3965547" cy="3226210"/>
          </a:xfrm>
          <a:prstGeom prst="rect">
            <a:avLst/>
          </a:prstGeom>
          <a:solidFill>
            <a:srgbClr val="1309C4">
              <a:alpha val="79265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4041308-5A4A-D5D6-7693-BD833C4921A8}"/>
              </a:ext>
            </a:extLst>
          </p:cNvPr>
          <p:cNvSpPr txBox="1">
            <a:spLocks/>
          </p:cNvSpPr>
          <p:nvPr/>
        </p:nvSpPr>
        <p:spPr>
          <a:xfrm>
            <a:off x="651781" y="2993003"/>
            <a:ext cx="3691619" cy="13497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dirty="0">
                <a:solidFill>
                  <a:schemeClr val="bg1"/>
                </a:solidFill>
                <a:latin typeface="DM Serif Display" pitchFamily="2" charset="0"/>
              </a:rPr>
              <a:t>$2.7B cost</a:t>
            </a:r>
            <a:endParaRPr lang="en-US" sz="5400" dirty="0">
              <a:solidFill>
                <a:schemeClr val="bg1"/>
              </a:solidFill>
              <a:latin typeface="DM Serif Display" pitchFamily="2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7EA66B5-E9AD-E3F2-9345-17520437130E}"/>
              </a:ext>
            </a:extLst>
          </p:cNvPr>
          <p:cNvSpPr txBox="1">
            <a:spLocks/>
          </p:cNvSpPr>
          <p:nvPr/>
        </p:nvSpPr>
        <p:spPr>
          <a:xfrm>
            <a:off x="651782" y="3960457"/>
            <a:ext cx="3165476" cy="6618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800" b="1" dirty="0">
                <a:solidFill>
                  <a:schemeClr val="bg1"/>
                </a:solidFill>
                <a:latin typeface="Avenir Book" panose="02000503020000020003" pitchFamily="2" charset="0"/>
              </a:rPr>
              <a:t>&lt;$1,000 per genome (99.99% accuracy).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075814B-CBAF-3150-D298-8F8DF3E724A5}"/>
              </a:ext>
            </a:extLst>
          </p:cNvPr>
          <p:cNvSpPr txBox="1">
            <a:spLocks/>
          </p:cNvSpPr>
          <p:nvPr/>
        </p:nvSpPr>
        <p:spPr>
          <a:xfrm>
            <a:off x="4843526" y="2993003"/>
            <a:ext cx="3691619" cy="13497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dirty="0">
                <a:solidFill>
                  <a:schemeClr val="bg1"/>
                </a:solidFill>
                <a:latin typeface="DM Serif Display" pitchFamily="2" charset="0"/>
              </a:rPr>
              <a:t>only ~1.5%</a:t>
            </a:r>
            <a:endParaRPr lang="en-US" sz="5400" dirty="0">
              <a:solidFill>
                <a:schemeClr val="bg1"/>
              </a:solidFill>
              <a:latin typeface="DM Serif Display" pitchFamily="2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FEF8B70-E69C-49AF-EC15-AD9C4F824DF8}"/>
              </a:ext>
            </a:extLst>
          </p:cNvPr>
          <p:cNvSpPr txBox="1">
            <a:spLocks/>
          </p:cNvSpPr>
          <p:nvPr/>
        </p:nvSpPr>
        <p:spPr>
          <a:xfrm>
            <a:off x="4843527" y="3960457"/>
            <a:ext cx="3165476" cy="6618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800" b="1" dirty="0">
                <a:solidFill>
                  <a:schemeClr val="bg1"/>
                </a:solidFill>
                <a:latin typeface="Avenir Book" panose="02000503020000020003" pitchFamily="2" charset="0"/>
              </a:rPr>
              <a:t>codes for proteins; humans share 99.9% DNA similarity.</a:t>
            </a:r>
          </a:p>
        </p:txBody>
      </p:sp>
    </p:spTree>
    <p:extLst>
      <p:ext uri="{BB962C8B-B14F-4D97-AF65-F5344CB8AC3E}">
        <p14:creationId xmlns:p14="http://schemas.microsoft.com/office/powerpoint/2010/main" val="3109649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3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7B0B51-7A14-B539-99CF-D890EF92B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E0CB1957-CD56-BA81-FE40-80BCB3C174C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34" r="34"/>
          <a:stretch/>
        </p:blipFill>
        <p:spPr>
          <a:xfrm>
            <a:off x="0" y="0"/>
            <a:ext cx="6231467" cy="6857999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A8D7A8-E172-DF88-53B1-A9AC3190B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9555" y="420624"/>
            <a:ext cx="5794285" cy="1349727"/>
          </a:xfrm>
        </p:spPr>
        <p:txBody>
          <a:bodyPr anchor="t">
            <a:noAutofit/>
          </a:bodyPr>
          <a:lstStyle/>
          <a:p>
            <a:r>
              <a:rPr lang="en-GB" sz="5400" dirty="0">
                <a:solidFill>
                  <a:schemeClr val="bg1"/>
                </a:solidFill>
                <a:latin typeface="DM Serif Display" pitchFamily="2" charset="0"/>
              </a:rPr>
              <a:t>Mutations &amp; </a:t>
            </a:r>
            <a:br>
              <a:rPr lang="en-GB" sz="5400" dirty="0">
                <a:solidFill>
                  <a:schemeClr val="bg1"/>
                </a:solidFill>
                <a:latin typeface="DM Serif Display" pitchFamily="2" charset="0"/>
              </a:rPr>
            </a:br>
            <a:r>
              <a:rPr lang="en-GB" sz="5400" dirty="0">
                <a:solidFill>
                  <a:schemeClr val="bg1"/>
                </a:solidFill>
                <a:latin typeface="DM Serif Display" pitchFamily="2" charset="0"/>
              </a:rPr>
              <a:t>genetic variation</a:t>
            </a:r>
            <a:endParaRPr lang="en-US" sz="5400" dirty="0">
              <a:solidFill>
                <a:schemeClr val="bg1"/>
              </a:solidFill>
              <a:latin typeface="DM Serif Display" pitchFamily="2" charset="0"/>
            </a:endParaRPr>
          </a:p>
        </p:txBody>
      </p:sp>
      <p:pic>
        <p:nvPicPr>
          <p:cNvPr id="45" name="Graphic 44" descr="DNA outline">
            <a:extLst>
              <a:ext uri="{FF2B5EF4-FFF2-40B4-BE49-F238E27FC236}">
                <a16:creationId xmlns:a16="http://schemas.microsoft.com/office/drawing/2014/main" id="{36BAD8C7-92C8-7205-5407-C5E96FBE59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02863" y="6124490"/>
            <a:ext cx="403532" cy="403532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79D89BB-A1F0-2299-2C25-3BA933E722E8}"/>
              </a:ext>
            </a:extLst>
          </p:cNvPr>
          <p:cNvCxnSpPr>
            <a:cxnSpLocks/>
          </p:cNvCxnSpPr>
          <p:nvPr/>
        </p:nvCxnSpPr>
        <p:spPr>
          <a:xfrm>
            <a:off x="888535" y="6404044"/>
            <a:ext cx="10785305" cy="0"/>
          </a:xfrm>
          <a:prstGeom prst="line">
            <a:avLst/>
          </a:prstGeom>
          <a:ln w="9525">
            <a:solidFill>
              <a:schemeClr val="accent5">
                <a:lumMod val="60000"/>
                <a:lumOff val="40000"/>
                <a:alpha val="44328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BF644AF9-AB1A-284E-EE81-46BFA00D5795}"/>
              </a:ext>
            </a:extLst>
          </p:cNvPr>
          <p:cNvSpPr txBox="1">
            <a:spLocks/>
          </p:cNvSpPr>
          <p:nvPr/>
        </p:nvSpPr>
        <p:spPr>
          <a:xfrm>
            <a:off x="11321402" y="6124489"/>
            <a:ext cx="331520" cy="26129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6</a:t>
            </a:r>
            <a:endParaRPr lang="en-US" sz="18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0C18EF94-9BA2-24BC-78F6-E0E7F1AA16F5}"/>
              </a:ext>
            </a:extLst>
          </p:cNvPr>
          <p:cNvSpPr txBox="1">
            <a:spLocks/>
          </p:cNvSpPr>
          <p:nvPr/>
        </p:nvSpPr>
        <p:spPr>
          <a:xfrm>
            <a:off x="5879555" y="2516888"/>
            <a:ext cx="4757343" cy="35375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Mutation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spcAft>
                <a:spcPts val="2000"/>
              </a:spcAft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change in base sequence → </a:t>
            </a:r>
            <a:b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</a:b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can alter protein structure or function.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Type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spcAft>
                <a:spcPts val="2000"/>
              </a:spcAft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substitution, insertion, deletion, duplication.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Mutation rate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spcAft>
                <a:spcPts val="2000"/>
              </a:spcAft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≈ 1 in 10⁸ bases per generation.</a:t>
            </a:r>
          </a:p>
        </p:txBody>
      </p:sp>
    </p:spTree>
    <p:extLst>
      <p:ext uri="{BB962C8B-B14F-4D97-AF65-F5344CB8AC3E}">
        <p14:creationId xmlns:p14="http://schemas.microsoft.com/office/powerpoint/2010/main" val="3077627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0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17766C-6ADB-FADE-594B-2045866AF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1208D738-C0FE-4343-F4D3-EAEC1D20E4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98450" y="1490772"/>
            <a:ext cx="5965474" cy="3964317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DF2F08-7A55-255B-526C-051BECCE4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788" y="420624"/>
            <a:ext cx="11379848" cy="925323"/>
          </a:xfrm>
        </p:spPr>
        <p:txBody>
          <a:bodyPr anchor="t">
            <a:noAutofit/>
          </a:bodyPr>
          <a:lstStyle/>
          <a:p>
            <a:pPr algn="ctr"/>
            <a:r>
              <a:rPr lang="en-GB" sz="5400" dirty="0">
                <a:solidFill>
                  <a:schemeClr val="bg1"/>
                </a:solidFill>
                <a:latin typeface="DM Serif Display" pitchFamily="2" charset="0"/>
              </a:rPr>
              <a:t>Chromosomes &amp; DNA packaging</a:t>
            </a:r>
            <a:endParaRPr lang="en-US" sz="5400" dirty="0">
              <a:solidFill>
                <a:schemeClr val="bg1"/>
              </a:solidFill>
              <a:latin typeface="DM Serif Display" pitchFamily="2" charset="0"/>
            </a:endParaRP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6B1B7DB4-45F1-B9FB-471E-C574469770B3}"/>
              </a:ext>
            </a:extLst>
          </p:cNvPr>
          <p:cNvSpPr txBox="1">
            <a:spLocks/>
          </p:cNvSpPr>
          <p:nvPr/>
        </p:nvSpPr>
        <p:spPr>
          <a:xfrm>
            <a:off x="502863" y="3079395"/>
            <a:ext cx="2425213" cy="941223"/>
          </a:xfrm>
          <a:prstGeom prst="rect">
            <a:avLst/>
          </a:prstGeom>
        </p:spPr>
        <p:txBody>
          <a:bodyPr vert="horz" lIns="182880" tIns="182880" rIns="182880" bIns="18288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800" dirty="0">
                <a:solidFill>
                  <a:schemeClr val="bg1">
                    <a:lumMod val="95000"/>
                  </a:schemeClr>
                </a:solidFill>
                <a:latin typeface="Avenir Book" panose="02000503020000020003" pitchFamily="2" charset="0"/>
              </a:rPr>
              <a:t>DNA wraps around histone proteins → nucleosome → chromatin → chromosome.</a:t>
            </a:r>
            <a:endParaRPr lang="en-US" sz="1800" dirty="0">
              <a:solidFill>
                <a:schemeClr val="bg1">
                  <a:lumMod val="95000"/>
                </a:schemeClr>
              </a:solidFill>
              <a:latin typeface="Avenir Book" panose="02000503020000020003" pitchFamily="2" charset="0"/>
            </a:endParaRPr>
          </a:p>
        </p:txBody>
      </p:sp>
      <p:pic>
        <p:nvPicPr>
          <p:cNvPr id="45" name="Graphic 44" descr="DNA outline">
            <a:extLst>
              <a:ext uri="{FF2B5EF4-FFF2-40B4-BE49-F238E27FC236}">
                <a16:creationId xmlns:a16="http://schemas.microsoft.com/office/drawing/2014/main" id="{17E5F392-2A7D-48E2-06A8-536A9D841A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02863" y="6124490"/>
            <a:ext cx="403532" cy="403532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2AE0A66-9A19-3406-796E-7A74C81EAE0B}"/>
              </a:ext>
            </a:extLst>
          </p:cNvPr>
          <p:cNvCxnSpPr>
            <a:cxnSpLocks/>
          </p:cNvCxnSpPr>
          <p:nvPr/>
        </p:nvCxnSpPr>
        <p:spPr>
          <a:xfrm>
            <a:off x="888535" y="6404044"/>
            <a:ext cx="10785305" cy="0"/>
          </a:xfrm>
          <a:prstGeom prst="line">
            <a:avLst/>
          </a:prstGeom>
          <a:ln w="9525">
            <a:solidFill>
              <a:schemeClr val="accent5">
                <a:lumMod val="40000"/>
                <a:lumOff val="60000"/>
                <a:alpha val="44328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C5588512-378F-5AA0-C1F6-877C48F29B70}"/>
              </a:ext>
            </a:extLst>
          </p:cNvPr>
          <p:cNvSpPr txBox="1">
            <a:spLocks/>
          </p:cNvSpPr>
          <p:nvPr/>
        </p:nvSpPr>
        <p:spPr>
          <a:xfrm>
            <a:off x="11321402" y="6124489"/>
            <a:ext cx="331520" cy="26129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7</a:t>
            </a:r>
            <a:endParaRPr lang="en-US" sz="18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11B2DC4-424C-33CA-4BA1-9B3F9F373E56}"/>
              </a:ext>
            </a:extLst>
          </p:cNvPr>
          <p:cNvSpPr txBox="1">
            <a:spLocks/>
          </p:cNvSpPr>
          <p:nvPr/>
        </p:nvSpPr>
        <p:spPr>
          <a:xfrm>
            <a:off x="9397796" y="3429000"/>
            <a:ext cx="2545387" cy="1413585"/>
          </a:xfrm>
          <a:prstGeom prst="rect">
            <a:avLst/>
          </a:prstGeom>
        </p:spPr>
        <p:txBody>
          <a:bodyPr vert="horz" lIns="182880" tIns="182880" rIns="182880" bIns="18288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800" dirty="0">
                <a:solidFill>
                  <a:schemeClr val="bg1">
                    <a:lumMod val="95000"/>
                  </a:schemeClr>
                </a:solidFill>
                <a:latin typeface="Avenir Book" panose="02000503020000020003" pitchFamily="2" charset="0"/>
              </a:rPr>
              <a:t>A single cell contains ≈ 2 meters of DNA compacted into nucleus (~6 µm).</a:t>
            </a:r>
            <a:endParaRPr lang="en-US" sz="1800" dirty="0">
              <a:solidFill>
                <a:schemeClr val="bg1">
                  <a:lumMod val="95000"/>
                </a:schemeClr>
              </a:solidFill>
              <a:latin typeface="Avenir Book" panose="02000503020000020003" pitchFamily="2" charset="0"/>
            </a:endParaRP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1CDE6E6C-64B4-B87D-2505-47F4379968B3}"/>
              </a:ext>
            </a:extLst>
          </p:cNvPr>
          <p:cNvSpPr txBox="1">
            <a:spLocks/>
          </p:cNvSpPr>
          <p:nvPr/>
        </p:nvSpPr>
        <p:spPr>
          <a:xfrm>
            <a:off x="5019874" y="5410375"/>
            <a:ext cx="3291924" cy="993669"/>
          </a:xfrm>
          <a:prstGeom prst="rect">
            <a:avLst/>
          </a:prstGeom>
        </p:spPr>
        <p:txBody>
          <a:bodyPr vert="horz" lIns="182880" tIns="182880" rIns="182880" bIns="18288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800" dirty="0">
                <a:solidFill>
                  <a:schemeClr val="bg1">
                    <a:lumMod val="95000"/>
                  </a:schemeClr>
                </a:solidFill>
                <a:latin typeface="Avenir Book" panose="02000503020000020003" pitchFamily="2" charset="0"/>
              </a:rPr>
              <a:t>Humans: </a:t>
            </a:r>
            <a:br>
              <a:rPr lang="en-GB" sz="1800" dirty="0">
                <a:solidFill>
                  <a:schemeClr val="bg1">
                    <a:lumMod val="95000"/>
                  </a:schemeClr>
                </a:solidFill>
                <a:latin typeface="Avenir Book" panose="02000503020000020003" pitchFamily="2" charset="0"/>
              </a:rPr>
            </a:br>
            <a:r>
              <a:rPr lang="en-GB" sz="1800" dirty="0">
                <a:solidFill>
                  <a:schemeClr val="bg1">
                    <a:lumMod val="95000"/>
                  </a:schemeClr>
                </a:solidFill>
                <a:latin typeface="Avenir Book" panose="02000503020000020003" pitchFamily="2" charset="0"/>
              </a:rPr>
              <a:t>46 chromosomes (23 pairs).</a:t>
            </a:r>
            <a:endParaRPr lang="en-US" sz="1800" dirty="0">
              <a:solidFill>
                <a:schemeClr val="bg1">
                  <a:lumMod val="95000"/>
                </a:schemeClr>
              </a:solidFill>
              <a:latin typeface="Avenir Book" panose="02000503020000020003" pitchFamily="2" charset="0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8999A8F2-39EB-4731-D134-3B6C7D899051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V="1">
            <a:off x="9716866" y="2475375"/>
            <a:ext cx="349605" cy="1557645"/>
          </a:xfrm>
          <a:prstGeom prst="bentConnector2">
            <a:avLst/>
          </a:prstGeom>
          <a:ln w="19050" cap="rnd">
            <a:solidFill>
              <a:schemeClr val="accent5">
                <a:lumMod val="60000"/>
                <a:lumOff val="40000"/>
              </a:schemeClr>
            </a:solidFill>
            <a:bevel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1ECE29F2-C1B3-EA1D-3B8B-7BD1885DD684}"/>
              </a:ext>
            </a:extLst>
          </p:cNvPr>
          <p:cNvCxnSpPr>
            <a:cxnSpLocks/>
            <a:stCxn id="30" idx="0"/>
          </p:cNvCxnSpPr>
          <p:nvPr/>
        </p:nvCxnSpPr>
        <p:spPr>
          <a:xfrm rot="5400000" flipH="1" flipV="1">
            <a:off x="2117221" y="1706968"/>
            <a:ext cx="970676" cy="1774178"/>
          </a:xfrm>
          <a:prstGeom prst="bentConnector2">
            <a:avLst/>
          </a:prstGeom>
          <a:ln w="19050" cap="rnd">
            <a:solidFill>
              <a:schemeClr val="accent5">
                <a:lumMod val="60000"/>
                <a:lumOff val="40000"/>
              </a:schemeClr>
            </a:solidFill>
            <a:bevel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4C0FEE1B-24A2-1FBD-0EB9-2A725020906F}"/>
              </a:ext>
            </a:extLst>
          </p:cNvPr>
          <p:cNvCxnSpPr>
            <a:cxnSpLocks/>
            <a:stCxn id="22" idx="0"/>
          </p:cNvCxnSpPr>
          <p:nvPr/>
        </p:nvCxnSpPr>
        <p:spPr>
          <a:xfrm rot="5400000" flipH="1" flipV="1">
            <a:off x="6381941" y="5126480"/>
            <a:ext cx="567790" cy="1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accent5">
                <a:lumMod val="60000"/>
                <a:lumOff val="40000"/>
              </a:schemeClr>
            </a:solidFill>
            <a:bevel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261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0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836331-B059-9013-034A-8BAC42F0F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57F857B-04A0-E03E-4C9A-71ED317242F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4000"/>
          </a:blip>
          <a:srcRect l="903"/>
          <a:stretch>
            <a:fillRect/>
          </a:stretch>
        </p:blipFill>
        <p:spPr>
          <a:xfrm>
            <a:off x="4572000" y="3008"/>
            <a:ext cx="7620000" cy="68519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523269-87A9-8120-F48D-69DA8FB11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789" y="420624"/>
            <a:ext cx="8891993" cy="1588935"/>
          </a:xfrm>
        </p:spPr>
        <p:txBody>
          <a:bodyPr anchor="t">
            <a:noAutofit/>
          </a:bodyPr>
          <a:lstStyle/>
          <a:p>
            <a:r>
              <a:rPr lang="en-GB" sz="5400" dirty="0">
                <a:solidFill>
                  <a:schemeClr val="bg1"/>
                </a:solidFill>
                <a:latin typeface="DM Serif Display" pitchFamily="2" charset="0"/>
              </a:rPr>
              <a:t>DNA and genetic disorders</a:t>
            </a:r>
            <a:endParaRPr lang="en-US" sz="5400" dirty="0">
              <a:solidFill>
                <a:schemeClr val="bg1"/>
              </a:solidFill>
              <a:latin typeface="DM Serif Display" pitchFamily="2" charset="0"/>
            </a:endParaRPr>
          </a:p>
        </p:txBody>
      </p:sp>
      <p:pic>
        <p:nvPicPr>
          <p:cNvPr id="45" name="Graphic 44" descr="DNA outline">
            <a:extLst>
              <a:ext uri="{FF2B5EF4-FFF2-40B4-BE49-F238E27FC236}">
                <a16:creationId xmlns:a16="http://schemas.microsoft.com/office/drawing/2014/main" id="{DC439111-41E5-6006-4765-69CCBCB9B1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02863" y="6124490"/>
            <a:ext cx="403532" cy="403532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4A0B443-6BB0-7381-677C-32D8BA0BF991}"/>
              </a:ext>
            </a:extLst>
          </p:cNvPr>
          <p:cNvCxnSpPr>
            <a:cxnSpLocks/>
          </p:cNvCxnSpPr>
          <p:nvPr/>
        </p:nvCxnSpPr>
        <p:spPr>
          <a:xfrm>
            <a:off x="888535" y="6404044"/>
            <a:ext cx="10785305" cy="0"/>
          </a:xfrm>
          <a:prstGeom prst="line">
            <a:avLst/>
          </a:prstGeom>
          <a:ln w="9525">
            <a:solidFill>
              <a:schemeClr val="accent5">
                <a:lumMod val="40000"/>
                <a:lumOff val="60000"/>
                <a:alpha val="44328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5519AB58-962E-4062-37E5-74695F8A1DAB}"/>
              </a:ext>
            </a:extLst>
          </p:cNvPr>
          <p:cNvSpPr txBox="1">
            <a:spLocks/>
          </p:cNvSpPr>
          <p:nvPr/>
        </p:nvSpPr>
        <p:spPr>
          <a:xfrm>
            <a:off x="11321402" y="6124489"/>
            <a:ext cx="331520" cy="26129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8</a:t>
            </a:r>
            <a:endParaRPr lang="en-US" sz="18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3F09B58-F8BC-3783-B15B-EF12381347B6}"/>
              </a:ext>
            </a:extLst>
          </p:cNvPr>
          <p:cNvSpPr txBox="1">
            <a:spLocks/>
          </p:cNvSpPr>
          <p:nvPr/>
        </p:nvSpPr>
        <p:spPr>
          <a:xfrm>
            <a:off x="502863" y="3160831"/>
            <a:ext cx="3200400" cy="1588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Genetic </a:t>
            </a:r>
            <a:b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</a:b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mutations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800" dirty="0">
                <a:solidFill>
                  <a:schemeClr val="bg1">
                    <a:lumMod val="95000"/>
                  </a:schemeClr>
                </a:solidFill>
                <a:latin typeface="Avenir Book" panose="02000503020000020003" pitchFamily="2" charset="0"/>
              </a:rPr>
              <a:t>can disrupt normal gene function → leading to inherited diseases.</a:t>
            </a:r>
          </a:p>
          <a:p>
            <a:pPr marL="0" indent="0">
              <a:lnSpc>
                <a:spcPct val="100000"/>
              </a:lnSpc>
              <a:buNone/>
            </a:pPr>
            <a:endParaRPr lang="en-GB" sz="1800" dirty="0">
              <a:solidFill>
                <a:schemeClr val="bg1">
                  <a:lumMod val="95000"/>
                </a:schemeClr>
              </a:solidFill>
              <a:latin typeface="Avenir Book" panose="02000503020000020003" pitchFamily="2" charset="0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4D4D93A5-6FBE-6FB6-B74A-CAEC1D3B629C}"/>
              </a:ext>
            </a:extLst>
          </p:cNvPr>
          <p:cNvSpPr txBox="1">
            <a:spLocks/>
          </p:cNvSpPr>
          <p:nvPr/>
        </p:nvSpPr>
        <p:spPr>
          <a:xfrm>
            <a:off x="4481743" y="3160830"/>
            <a:ext cx="3200400" cy="18123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Chromosomal disorders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800" dirty="0">
                <a:solidFill>
                  <a:schemeClr val="bg1">
                    <a:lumMod val="95000"/>
                  </a:schemeClr>
                </a:solidFill>
                <a:latin typeface="Avenir Book" panose="02000503020000020003" pitchFamily="2" charset="0"/>
              </a:rPr>
              <a:t>Down Syndrome </a:t>
            </a:r>
            <a:br>
              <a:rPr lang="en-GB" sz="1800" dirty="0">
                <a:solidFill>
                  <a:schemeClr val="bg1">
                    <a:lumMod val="95000"/>
                  </a:schemeClr>
                </a:solidFill>
                <a:latin typeface="Avenir Book" panose="02000503020000020003" pitchFamily="2" charset="0"/>
              </a:rPr>
            </a:br>
            <a:r>
              <a:rPr lang="en-GB" sz="1800" dirty="0">
                <a:solidFill>
                  <a:schemeClr val="bg1">
                    <a:lumMod val="95000"/>
                  </a:schemeClr>
                </a:solidFill>
                <a:latin typeface="Avenir Book" panose="02000503020000020003" pitchFamily="2" charset="0"/>
              </a:rPr>
              <a:t>(extra copy of chromosome 21)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C05E42CA-0C52-5B70-60AB-561C313AEBDA}"/>
              </a:ext>
            </a:extLst>
          </p:cNvPr>
          <p:cNvSpPr txBox="1">
            <a:spLocks/>
          </p:cNvSpPr>
          <p:nvPr/>
        </p:nvSpPr>
        <p:spPr>
          <a:xfrm>
            <a:off x="8460622" y="3160831"/>
            <a:ext cx="3200400" cy="1588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Multifactorial disorders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800" dirty="0">
                <a:solidFill>
                  <a:schemeClr val="bg1">
                    <a:lumMod val="95000"/>
                  </a:schemeClr>
                </a:solidFill>
                <a:latin typeface="Avenir Book" panose="02000503020000020003" pitchFamily="2" charset="0"/>
              </a:rPr>
              <a:t>involve both genes and environment (e.g. Diabetes, Heart disease).</a:t>
            </a:r>
          </a:p>
        </p:txBody>
      </p:sp>
    </p:spTree>
    <p:extLst>
      <p:ext uri="{BB962C8B-B14F-4D97-AF65-F5344CB8AC3E}">
        <p14:creationId xmlns:p14="http://schemas.microsoft.com/office/powerpoint/2010/main" val="1243997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3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CE2944-104A-646E-5A74-F6CECF7E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E11C8FD-0BD7-7D3F-2C83-ACEC015AB6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16200000" flipV="1">
            <a:off x="5115940" y="208721"/>
            <a:ext cx="6858000" cy="6440556"/>
          </a:xfrm>
          <a:prstGeom prst="rect">
            <a:avLst/>
          </a:prstGeom>
          <a:effectLst>
            <a:softEdge rad="0"/>
          </a:effectLst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4F2C35DB-A854-D573-DAEC-E39719926301}"/>
              </a:ext>
            </a:extLst>
          </p:cNvPr>
          <p:cNvSpPr txBox="1">
            <a:spLocks/>
          </p:cNvSpPr>
          <p:nvPr/>
        </p:nvSpPr>
        <p:spPr>
          <a:xfrm>
            <a:off x="505217" y="2263263"/>
            <a:ext cx="5963315" cy="38527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</a:rPr>
              <a:t>Personalized Medicine</a:t>
            </a:r>
            <a:r>
              <a:rPr lang="en-GB" sz="2000" b="1" dirty="0">
                <a:solidFill>
                  <a:schemeClr val="bg1"/>
                </a:solidFill>
                <a:latin typeface="Avenir Heavy" panose="02000503020000020003" pitchFamily="2" charset="0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Avenir Book" panose="02000503020000020003" pitchFamily="2" charset="0"/>
              </a:rPr>
              <a:t>Tailoring treatments based on an individual’s genetic profile.</a:t>
            </a:r>
          </a:p>
          <a:p>
            <a:pPr>
              <a:lnSpc>
                <a:spcPct val="100000"/>
              </a:lnSpc>
            </a:pPr>
            <a:endParaRPr lang="en-GB" sz="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>
              <a:lnSpc>
                <a:spcPct val="100000"/>
              </a:lnSpc>
            </a:pPr>
            <a:r>
              <a:rPr lang="en-GB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</a:rPr>
              <a:t>Gene Therapy: </a:t>
            </a:r>
            <a:r>
              <a:rPr lang="en-GB" sz="2000" dirty="0">
                <a:solidFill>
                  <a:schemeClr val="bg1"/>
                </a:solidFill>
                <a:latin typeface="Avenir Book" panose="02000503020000020003" pitchFamily="2" charset="0"/>
              </a:rPr>
              <a:t>Inserting or correcting faulty genes to treat diseases.</a:t>
            </a:r>
          </a:p>
          <a:p>
            <a:pPr>
              <a:lnSpc>
                <a:spcPct val="100000"/>
              </a:lnSpc>
            </a:pPr>
            <a:endParaRPr lang="en-GB" sz="5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>
              <a:lnSpc>
                <a:spcPct val="100000"/>
              </a:lnSpc>
            </a:pPr>
            <a:r>
              <a:rPr lang="en-GB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</a:rPr>
              <a:t>Synthetic Biology: </a:t>
            </a:r>
            <a:r>
              <a:rPr lang="en-GB" sz="2000" dirty="0">
                <a:solidFill>
                  <a:schemeClr val="bg1"/>
                </a:solidFill>
                <a:latin typeface="Avenir Book" panose="02000503020000020003" pitchFamily="2" charset="0"/>
              </a:rPr>
              <a:t>Designing custom DNA to create new biological systems.</a:t>
            </a:r>
          </a:p>
          <a:p>
            <a:pPr>
              <a:lnSpc>
                <a:spcPct val="100000"/>
              </a:lnSpc>
            </a:pPr>
            <a:endParaRPr lang="en-GB" sz="5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>
              <a:lnSpc>
                <a:spcPct val="100000"/>
              </a:lnSpc>
            </a:pPr>
            <a:r>
              <a:rPr lang="en-GB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</a:rPr>
              <a:t>AI in Genomics: </a:t>
            </a:r>
            <a:r>
              <a:rPr lang="en-GB" sz="2000" dirty="0">
                <a:solidFill>
                  <a:schemeClr val="bg1"/>
                </a:solidFill>
                <a:latin typeface="Avenir Book" panose="02000503020000020003" pitchFamily="2" charset="0"/>
              </a:rPr>
              <a:t>Accelerating DNA analysis and mutation prediction using machine learning.</a:t>
            </a:r>
            <a:endParaRPr lang="en-US" sz="2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pic>
        <p:nvPicPr>
          <p:cNvPr id="45" name="Graphic 44" descr="DNA outline">
            <a:extLst>
              <a:ext uri="{FF2B5EF4-FFF2-40B4-BE49-F238E27FC236}">
                <a16:creationId xmlns:a16="http://schemas.microsoft.com/office/drawing/2014/main" id="{3FA9FC10-1261-362B-1333-5AE3C978F1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02863" y="6124490"/>
            <a:ext cx="403532" cy="403532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436C073-3989-34FA-9E08-BF757958C854}"/>
              </a:ext>
            </a:extLst>
          </p:cNvPr>
          <p:cNvCxnSpPr>
            <a:cxnSpLocks/>
          </p:cNvCxnSpPr>
          <p:nvPr/>
        </p:nvCxnSpPr>
        <p:spPr>
          <a:xfrm>
            <a:off x="888535" y="6404044"/>
            <a:ext cx="10785305" cy="0"/>
          </a:xfrm>
          <a:prstGeom prst="line">
            <a:avLst/>
          </a:prstGeom>
          <a:ln w="9525">
            <a:solidFill>
              <a:schemeClr val="accent5">
                <a:lumMod val="60000"/>
                <a:lumOff val="40000"/>
                <a:alpha val="44328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9E94C8A0-AB3E-8DDE-6784-4D7DFCCD5A26}"/>
              </a:ext>
            </a:extLst>
          </p:cNvPr>
          <p:cNvSpPr txBox="1">
            <a:spLocks/>
          </p:cNvSpPr>
          <p:nvPr/>
        </p:nvSpPr>
        <p:spPr>
          <a:xfrm>
            <a:off x="11321402" y="6124489"/>
            <a:ext cx="331520" cy="26129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9</a:t>
            </a:r>
            <a:endParaRPr lang="en-US" sz="18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CA59411C-C236-2820-7ED8-3F43430306B1}"/>
              </a:ext>
            </a:extLst>
          </p:cNvPr>
          <p:cNvSpPr txBox="1">
            <a:spLocks/>
          </p:cNvSpPr>
          <p:nvPr/>
        </p:nvSpPr>
        <p:spPr>
          <a:xfrm>
            <a:off x="407996" y="420624"/>
            <a:ext cx="9908587" cy="20837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dirty="0">
                <a:solidFill>
                  <a:schemeClr val="bg1"/>
                </a:solidFill>
                <a:latin typeface="DM Serif Display" pitchFamily="2" charset="0"/>
              </a:rPr>
              <a:t>Future of genomic research</a:t>
            </a:r>
            <a:endParaRPr lang="en-US" sz="5400" dirty="0">
              <a:solidFill>
                <a:schemeClr val="bg1"/>
              </a:solidFill>
              <a:latin typeface="DM Serif Display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409B95-404A-47D7-E881-AB88D1E09C30}"/>
              </a:ext>
            </a:extLst>
          </p:cNvPr>
          <p:cNvSpPr/>
          <p:nvPr/>
        </p:nvSpPr>
        <p:spPr>
          <a:xfrm>
            <a:off x="6788726" y="1967346"/>
            <a:ext cx="4864195" cy="3982744"/>
          </a:xfrm>
          <a:prstGeom prst="rect">
            <a:avLst/>
          </a:prstGeom>
          <a:solidFill>
            <a:srgbClr val="1309C4">
              <a:alpha val="79265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0A61188-7C84-F96C-4DD9-CB39FD4B0F82}"/>
              </a:ext>
            </a:extLst>
          </p:cNvPr>
          <p:cNvSpPr txBox="1">
            <a:spLocks/>
          </p:cNvSpPr>
          <p:nvPr/>
        </p:nvSpPr>
        <p:spPr>
          <a:xfrm>
            <a:off x="7068086" y="2263263"/>
            <a:ext cx="4317111" cy="7530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2000" b="1" dirty="0">
                <a:solidFill>
                  <a:schemeClr val="bg1"/>
                </a:solidFill>
                <a:latin typeface="Avenir Book" panose="02000503020000020003" pitchFamily="2" charset="0"/>
              </a:rPr>
              <a:t>Found in nucleus (eukaryotes) and cytoplasm (prokaryotes)</a:t>
            </a:r>
            <a:endParaRPr lang="en-US" sz="2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D2F2DB0C-171F-B16B-94D8-6914682C9F51}"/>
              </a:ext>
            </a:extLst>
          </p:cNvPr>
          <p:cNvSpPr txBox="1">
            <a:spLocks/>
          </p:cNvSpPr>
          <p:nvPr/>
        </p:nvSpPr>
        <p:spPr>
          <a:xfrm>
            <a:off x="7068086" y="3612203"/>
            <a:ext cx="4317112" cy="7530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2000" b="1" dirty="0">
                <a:solidFill>
                  <a:schemeClr val="bg1"/>
                </a:solidFill>
                <a:latin typeface="Avenir Book" panose="02000503020000020003" pitchFamily="2" charset="0"/>
              </a:rPr>
              <a:t>Genetic mutations can disrupt normal gene function</a:t>
            </a:r>
            <a:endParaRPr lang="en-US" sz="2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AE8C1A1A-044C-03D7-F322-FAD64289988D}"/>
              </a:ext>
            </a:extLst>
          </p:cNvPr>
          <p:cNvSpPr txBox="1">
            <a:spLocks/>
          </p:cNvSpPr>
          <p:nvPr/>
        </p:nvSpPr>
        <p:spPr>
          <a:xfrm>
            <a:off x="7068086" y="4961143"/>
            <a:ext cx="4317113" cy="6868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2000" b="1" dirty="0">
                <a:solidFill>
                  <a:schemeClr val="bg1"/>
                </a:solidFill>
                <a:latin typeface="Avenir Book" panose="02000503020000020003" pitchFamily="2" charset="0"/>
              </a:rPr>
              <a:t>Global genomics market expected to reach $95B+ by 2030</a:t>
            </a:r>
            <a:endParaRPr lang="en-US" sz="2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75E38CD-B1BE-F650-54F5-1090B3522167}"/>
              </a:ext>
            </a:extLst>
          </p:cNvPr>
          <p:cNvCxnSpPr>
            <a:cxnSpLocks/>
          </p:cNvCxnSpPr>
          <p:nvPr/>
        </p:nvCxnSpPr>
        <p:spPr>
          <a:xfrm>
            <a:off x="7068086" y="3314244"/>
            <a:ext cx="4317113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3E856A0-CFBB-9735-3F9F-843CB83F012A}"/>
              </a:ext>
            </a:extLst>
          </p:cNvPr>
          <p:cNvCxnSpPr>
            <a:cxnSpLocks/>
          </p:cNvCxnSpPr>
          <p:nvPr/>
        </p:nvCxnSpPr>
        <p:spPr>
          <a:xfrm>
            <a:off x="7068086" y="4663184"/>
            <a:ext cx="4317113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40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476</Words>
  <Application>Microsoft Macintosh PowerPoint</Application>
  <PresentationFormat>Widescreen</PresentationFormat>
  <Paragraphs>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Avenir Book</vt:lpstr>
      <vt:lpstr>Avenir Heavy</vt:lpstr>
      <vt:lpstr>DM Serif Display</vt:lpstr>
      <vt:lpstr>Office Theme</vt:lpstr>
      <vt:lpstr>Decoding Life Structure and Function of DNA</vt:lpstr>
      <vt:lpstr>Structure of the double helix</vt:lpstr>
      <vt:lpstr>PowerPoint Presentation</vt:lpstr>
      <vt:lpstr>DNA replication (mechanism &amp; enzymes)</vt:lpstr>
      <vt:lpstr>Genes &amp; coding</vt:lpstr>
      <vt:lpstr>Human genome project</vt:lpstr>
      <vt:lpstr>Mutations &amp;  genetic variation</vt:lpstr>
      <vt:lpstr>Chromosomes &amp; DNA packaging</vt:lpstr>
      <vt:lpstr>DNA and genetic disorders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Farin Sadiq</dc:creator>
  <cp:lastModifiedBy>Oona Gleeson</cp:lastModifiedBy>
  <cp:revision>17</cp:revision>
  <dcterms:created xsi:type="dcterms:W3CDTF">2025-11-05T15:55:09Z</dcterms:created>
  <dcterms:modified xsi:type="dcterms:W3CDTF">2026-01-29T20:24:26Z</dcterms:modified>
</cp:coreProperties>
</file>