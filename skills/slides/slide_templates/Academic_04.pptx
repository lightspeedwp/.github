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87" r:id="rId2"/>
    <p:sldId id="257" r:id="rId3"/>
    <p:sldId id="258" r:id="rId4"/>
    <p:sldId id="291" r:id="rId5"/>
    <p:sldId id="260" r:id="rId6"/>
    <p:sldId id="271" r:id="rId7"/>
    <p:sldId id="289" r:id="rId8"/>
    <p:sldId id="290"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 userDrawn="1">
          <p15:clr>
            <a:srgbClr val="A4A3A4"/>
          </p15:clr>
        </p15:guide>
        <p15:guide id="2" pos="408" userDrawn="1">
          <p15:clr>
            <a:srgbClr val="A4A3A4"/>
          </p15:clr>
        </p15:guide>
        <p15:guide id="3" pos="7296" userDrawn="1">
          <p15:clr>
            <a:srgbClr val="A4A3A4"/>
          </p15:clr>
        </p15:guide>
        <p15:guide id="4" orient="horz" pos="391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4749"/>
    <a:srgbClr val="406F2F"/>
    <a:srgbClr val="F5EEC9"/>
    <a:srgbClr val="F8DE87"/>
    <a:srgbClr val="6D4422"/>
    <a:srgbClr val="53868B"/>
    <a:srgbClr val="B0CDD0"/>
    <a:srgbClr val="A7C957"/>
    <a:srgbClr val="6A994E"/>
    <a:srgbClr val="7CAD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2EB863-B4ED-4B4B-B67E-12F4A0C3D649}" v="13" dt="2025-10-29T23:44:47.1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63" autoAdjust="0"/>
    <p:restoredTop sz="89825" autoAdjust="0"/>
  </p:normalViewPr>
  <p:slideViewPr>
    <p:cSldViewPr snapToGrid="0" showGuides="1">
      <p:cViewPr>
        <p:scale>
          <a:sx n="102" d="100"/>
          <a:sy n="102" d="100"/>
        </p:scale>
        <p:origin x="880" y="784"/>
      </p:cViewPr>
      <p:guideLst>
        <p:guide orient="horz" pos="408"/>
        <p:guide pos="408"/>
        <p:guide pos="7296"/>
        <p:guide orient="horz" pos="391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6BB763-BE20-4815-82CA-68D634382FF9}" type="datetimeFigureOut">
              <a:rPr lang="en-US" smtClean="0"/>
              <a:t>1/29/26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44FC90-7443-47EC-AB45-DD059F6E134A}" type="slidenum">
              <a:rPr lang="en-US" smtClean="0"/>
              <a:t>‹#›</a:t>
            </a:fld>
            <a:endParaRPr lang="en-US"/>
          </a:p>
        </p:txBody>
      </p:sp>
    </p:spTree>
    <p:extLst>
      <p:ext uri="{BB962C8B-B14F-4D97-AF65-F5344CB8AC3E}">
        <p14:creationId xmlns:p14="http://schemas.microsoft.com/office/powerpoint/2010/main" val="3465144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5D959-5415-61E6-9BC9-2CBE01D80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67395-F427-6F3F-D41F-05C1BDB68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F1096C-7CD3-C55B-1C84-29B2D2D759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1AD4BA-4586-6F5B-785D-6686F0BAA37D}"/>
              </a:ext>
            </a:extLst>
          </p:cNvPr>
          <p:cNvSpPr>
            <a:spLocks noGrp="1"/>
          </p:cNvSpPr>
          <p:nvPr>
            <p:ph type="sldNum" sz="quarter" idx="5"/>
          </p:nvPr>
        </p:nvSpPr>
        <p:spPr/>
        <p:txBody>
          <a:bodyPr/>
          <a:lstStyle/>
          <a:p>
            <a:fld id="{D144FC90-7443-47EC-AB45-DD059F6E134A}" type="slidenum">
              <a:rPr lang="en-US" smtClean="0"/>
              <a:t>4</a:t>
            </a:fld>
            <a:endParaRPr lang="en-US"/>
          </a:p>
        </p:txBody>
      </p:sp>
    </p:spTree>
    <p:extLst>
      <p:ext uri="{BB962C8B-B14F-4D97-AF65-F5344CB8AC3E}">
        <p14:creationId xmlns:p14="http://schemas.microsoft.com/office/powerpoint/2010/main" val="2749571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CD8DE-6C14-A138-416A-89F78C35E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0E5A2-B2B6-9B82-476C-14EAC26CF3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563979-2F56-B879-7A17-2EE4919474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56E2BA-A4AF-4B8B-19C1-93BE2927B5BF}"/>
              </a:ext>
            </a:extLst>
          </p:cNvPr>
          <p:cNvSpPr>
            <a:spLocks noGrp="1"/>
          </p:cNvSpPr>
          <p:nvPr>
            <p:ph type="sldNum" sz="quarter" idx="5"/>
          </p:nvPr>
        </p:nvSpPr>
        <p:spPr/>
        <p:txBody>
          <a:bodyPr/>
          <a:lstStyle/>
          <a:p>
            <a:fld id="{D144FC90-7443-47EC-AB45-DD059F6E134A}" type="slidenum">
              <a:rPr lang="en-US" smtClean="0"/>
              <a:t>6</a:t>
            </a:fld>
            <a:endParaRPr lang="en-US"/>
          </a:p>
        </p:txBody>
      </p:sp>
    </p:spTree>
    <p:extLst>
      <p:ext uri="{BB962C8B-B14F-4D97-AF65-F5344CB8AC3E}">
        <p14:creationId xmlns:p14="http://schemas.microsoft.com/office/powerpoint/2010/main" val="282528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7834A-154A-2AB1-BFF8-0FAEF06BFF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70A96A-04E6-F9CF-BDC5-1A3EE24A16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83593C-D0D9-A331-FBF2-A6A47FCCD27E}"/>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A2BF8D68-9B5B-C1F8-E051-C3FDF1F088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09B13F-1766-957C-4FB9-F703E8C05E14}"/>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866075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2F57E-448E-4428-501C-BE73AF2E8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34EB32-365D-674B-2C67-46BB920642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581BF1-28FD-13AC-67DE-8DE61BE455C5}"/>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C2F0072E-3ED8-866C-9C6B-D84AF362FD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4A62F-37B0-ABC3-C43C-1635FBF26033}"/>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3820953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35403-1BE4-A36E-BDB7-0BD6C33897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76C16F-2939-D22B-7154-DCB05AC53F8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6A6733-84B8-43A3-4E37-2F481EE58D83}"/>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2B0C895B-3E40-69E9-3E52-AAAD263B3A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8D8BC8-2AB6-20E7-0FFE-6A5E2E305AE0}"/>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225713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7555B-4E9F-0EB6-9D14-7D9E21295C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BC226E-5546-E3FC-AC78-C87FDFF244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D63804-FE30-F3F4-6A53-E7A95E0648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9FBE5A-0E25-F4CF-4026-E6B93E84A505}"/>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6" name="Footer Placeholder 5">
            <a:extLst>
              <a:ext uri="{FF2B5EF4-FFF2-40B4-BE49-F238E27FC236}">
                <a16:creationId xmlns:a16="http://schemas.microsoft.com/office/drawing/2014/main" id="{2A86B451-1FE7-664C-F356-E1EC0B0696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9FA165-C051-9E3E-C61A-ECF2B37CBAD7}"/>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3246928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EB67-05F1-7F1E-949B-6785DAC0CF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55A88B-7A22-A057-44E2-599D5B7BF3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426321-D941-ADCA-BD23-7F9F764EC4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607420-A387-3FF5-9CA7-5AB63F29D4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999877-9BDB-1FFA-BAF7-4E7036B187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259E21-2E61-5366-777D-15A1BDDE61A1}"/>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8" name="Footer Placeholder 7">
            <a:extLst>
              <a:ext uri="{FF2B5EF4-FFF2-40B4-BE49-F238E27FC236}">
                <a16:creationId xmlns:a16="http://schemas.microsoft.com/office/drawing/2014/main" id="{0B7BF14C-B1D3-F33A-6E1B-38C74E23E2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51EF93-EE79-F59E-66E6-60ED9F0FFCFA}"/>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1899595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467F-D8B9-F829-BF17-79BE27BDD5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34B9A9-362C-C786-52F8-0BA409DC60FD}"/>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4" name="Footer Placeholder 3">
            <a:extLst>
              <a:ext uri="{FF2B5EF4-FFF2-40B4-BE49-F238E27FC236}">
                <a16:creationId xmlns:a16="http://schemas.microsoft.com/office/drawing/2014/main" id="{2677DD1F-042B-52B0-E3BF-60CB171FD4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0F6B8D-40C9-20D3-4FB0-D0980656C4D4}"/>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2770894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35A0BA-007F-0A64-7C0C-2A26EB55075D}"/>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3" name="Footer Placeholder 2">
            <a:extLst>
              <a:ext uri="{FF2B5EF4-FFF2-40B4-BE49-F238E27FC236}">
                <a16:creationId xmlns:a16="http://schemas.microsoft.com/office/drawing/2014/main" id="{5C6DB47D-AA07-B2A7-70EA-6EB9340546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9E4076-2D98-C282-D2BF-0417316CB3FF}"/>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2711536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7AF3C-BB3A-C1BF-FD35-9E378E536A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7E41BA-75C7-B093-95E5-DD1B31E465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C53259-1744-4A23-B9C4-392FAFBF80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C4C2DF-8AF4-166D-1643-40B16C8AAE16}"/>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6" name="Footer Placeholder 5">
            <a:extLst>
              <a:ext uri="{FF2B5EF4-FFF2-40B4-BE49-F238E27FC236}">
                <a16:creationId xmlns:a16="http://schemas.microsoft.com/office/drawing/2014/main" id="{9E68E867-9819-149E-6B56-88AC7A7B34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1C1965-FCF9-9E8B-8C7A-95C0829A39C4}"/>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3253809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FF437-232F-5C83-5ECF-9A74F80B4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51E352-A2FB-72F7-8CEB-254F14708B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10983C-7F87-554F-2FCC-34478AA50E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72DD98-938F-7AB4-2D8D-5CB41C7CDD2E}"/>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6" name="Footer Placeholder 5">
            <a:extLst>
              <a:ext uri="{FF2B5EF4-FFF2-40B4-BE49-F238E27FC236}">
                <a16:creationId xmlns:a16="http://schemas.microsoft.com/office/drawing/2014/main" id="{F68F3397-BE28-257B-E433-2EB95A4356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C70617-1D80-A346-3367-62D5BBE1FB89}"/>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293583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E8439-46A8-FF9F-DC5A-A936CD66BE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5D09F4-1D3E-BC8C-0676-2468B19C41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C51834-5EFD-3CE2-DF88-9A5FD7D0CB38}"/>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78661CDE-5FA5-BFE9-B24C-8574F86E2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C009AA-4177-CE6E-7DEB-9EEE863677E7}"/>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1742071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29A15D-4225-6D07-AE36-2236727C46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8D1B42-7340-E18B-3A8A-57B214D595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17176D-05F7-A263-1492-C4934B5B19B7}"/>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9116FBAE-9BC2-E64B-567A-A2FB5D1A9C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23A03-36AD-9D79-5FDD-7D4F99D03069}"/>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3005673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747252-379E-1B6A-48E6-81008E6326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0E8083-C0AE-D3E1-3BCF-6966563ED9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01067-C539-8E84-012F-8E9CD61EC5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D0FBD4CE-6B74-B993-C093-C0173A50CC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94C84CA-A592-D44D-6A1F-76CD59E23C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CBEBC8-8D23-4C63-8EAA-E8E0ABEE77BF}" type="slidenum">
              <a:rPr lang="en-US" smtClean="0"/>
              <a:t>‹#›</a:t>
            </a:fld>
            <a:endParaRPr lang="en-US"/>
          </a:p>
        </p:txBody>
      </p:sp>
    </p:spTree>
    <p:extLst>
      <p:ext uri="{BB962C8B-B14F-4D97-AF65-F5344CB8AC3E}">
        <p14:creationId xmlns:p14="http://schemas.microsoft.com/office/powerpoint/2010/main" val="2654875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a:extLst>
            <a:ext uri="{FF2B5EF4-FFF2-40B4-BE49-F238E27FC236}">
              <a16:creationId xmlns:a16="http://schemas.microsoft.com/office/drawing/2014/main" id="{EA782F2E-1F9C-0828-5C14-AFAFA2156B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EA59769-9C1A-013C-D176-C460406C06CC}"/>
              </a:ext>
            </a:extLst>
          </p:cNvPr>
          <p:cNvSpPr/>
          <p:nvPr/>
        </p:nvSpPr>
        <p:spPr>
          <a:xfrm>
            <a:off x="0" y="0"/>
            <a:ext cx="12192000" cy="6858000"/>
          </a:xfrm>
          <a:prstGeom prst="rect">
            <a:avLst/>
          </a:prstGeom>
          <a:solidFill>
            <a:schemeClr val="accent3">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0DDCD338-6EFB-9EC1-BBEC-2CC884E198C3}"/>
              </a:ext>
            </a:extLst>
          </p:cNvPr>
          <p:cNvSpPr txBox="1">
            <a:spLocks/>
          </p:cNvSpPr>
          <p:nvPr/>
        </p:nvSpPr>
        <p:spPr>
          <a:xfrm>
            <a:off x="647700" y="-380370"/>
            <a:ext cx="8844776"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9600" dirty="0">
                <a:solidFill>
                  <a:srgbClr val="F5EEC9"/>
                </a:solidFill>
                <a:latin typeface="Elephant" panose="02020904090505020303" pitchFamily="18" charset="0"/>
              </a:rPr>
              <a:t>Project Title</a:t>
            </a:r>
          </a:p>
        </p:txBody>
      </p:sp>
      <p:sp>
        <p:nvSpPr>
          <p:cNvPr id="10" name="Title 1">
            <a:extLst>
              <a:ext uri="{FF2B5EF4-FFF2-40B4-BE49-F238E27FC236}">
                <a16:creationId xmlns:a16="http://schemas.microsoft.com/office/drawing/2014/main" id="{E3F19DB3-E55B-7EA9-F47E-7FECF52A79F6}"/>
              </a:ext>
            </a:extLst>
          </p:cNvPr>
          <p:cNvSpPr txBox="1">
            <a:spLocks/>
          </p:cNvSpPr>
          <p:nvPr/>
        </p:nvSpPr>
        <p:spPr>
          <a:xfrm>
            <a:off x="647700" y="2210134"/>
            <a:ext cx="7790622" cy="67440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dirty="0">
                <a:solidFill>
                  <a:srgbClr val="F5EEC9"/>
                </a:solidFill>
                <a:latin typeface="+mn-lt"/>
              </a:rPr>
              <a:t>Author goes here</a:t>
            </a:r>
          </a:p>
        </p:txBody>
      </p:sp>
      <p:sp>
        <p:nvSpPr>
          <p:cNvPr id="3" name="Title 1">
            <a:extLst>
              <a:ext uri="{FF2B5EF4-FFF2-40B4-BE49-F238E27FC236}">
                <a16:creationId xmlns:a16="http://schemas.microsoft.com/office/drawing/2014/main" id="{C80E7518-BEA7-3EE8-7819-B19469C87FD4}"/>
              </a:ext>
            </a:extLst>
          </p:cNvPr>
          <p:cNvSpPr txBox="1">
            <a:spLocks/>
          </p:cNvSpPr>
          <p:nvPr/>
        </p:nvSpPr>
        <p:spPr>
          <a:xfrm>
            <a:off x="647700" y="2982359"/>
            <a:ext cx="7790622" cy="67440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dirty="0">
                <a:solidFill>
                  <a:srgbClr val="F5EEC9"/>
                </a:solidFill>
                <a:latin typeface="+mn-lt"/>
              </a:rPr>
              <a:t>Date goes here</a:t>
            </a:r>
          </a:p>
        </p:txBody>
      </p:sp>
    </p:spTree>
    <p:extLst>
      <p:ext uri="{BB962C8B-B14F-4D97-AF65-F5344CB8AC3E}">
        <p14:creationId xmlns:p14="http://schemas.microsoft.com/office/powerpoint/2010/main" val="892965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39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FF80-6BE2-0038-E570-1FC6943C0DC2}"/>
              </a:ext>
            </a:extLst>
          </p:cNvPr>
          <p:cNvSpPr>
            <a:spLocks noGrp="1"/>
          </p:cNvSpPr>
          <p:nvPr>
            <p:ph type="title"/>
          </p:nvPr>
        </p:nvSpPr>
        <p:spPr>
          <a:xfrm>
            <a:off x="949960" y="365125"/>
            <a:ext cx="10515600" cy="1325563"/>
          </a:xfrm>
        </p:spPr>
        <p:txBody>
          <a:bodyPr/>
          <a:lstStyle/>
          <a:p>
            <a:r>
              <a:rPr lang="en-US" dirty="0">
                <a:latin typeface="Elephant" panose="02020904090505020303" pitchFamily="18" charset="0"/>
              </a:rPr>
              <a:t>The Problem</a:t>
            </a:r>
          </a:p>
        </p:txBody>
      </p:sp>
      <p:sp>
        <p:nvSpPr>
          <p:cNvPr id="3" name="Content Placeholder 2">
            <a:extLst>
              <a:ext uri="{FF2B5EF4-FFF2-40B4-BE49-F238E27FC236}">
                <a16:creationId xmlns:a16="http://schemas.microsoft.com/office/drawing/2014/main" id="{5129EC67-FEA8-9DF9-C230-EC0A912D1F4B}"/>
              </a:ext>
            </a:extLst>
          </p:cNvPr>
          <p:cNvSpPr>
            <a:spLocks noGrp="1"/>
          </p:cNvSpPr>
          <p:nvPr>
            <p:ph idx="1"/>
          </p:nvPr>
        </p:nvSpPr>
        <p:spPr/>
        <p:txBody>
          <a:bodyPr/>
          <a:lstStyle/>
          <a:p>
            <a:pPr marL="0" indent="0">
              <a:buNone/>
            </a:pPr>
            <a:r>
              <a:rPr lang="en-US" dirty="0"/>
              <a:t>A fairly brief description of what the study is about in a standard inverted period format. For example: here is a broad ecological phenomenon we all learned about in undergrad. Here is how that ecological phenomenon applies to this specific study system. However, we still don’t understand how our </a:t>
            </a:r>
            <a:r>
              <a:rPr lang="en-US" b="1" dirty="0"/>
              <a:t>independent variable </a:t>
            </a:r>
            <a:r>
              <a:rPr lang="en-US" dirty="0"/>
              <a:t>affects the </a:t>
            </a:r>
            <a:r>
              <a:rPr lang="en-US" b="1" dirty="0"/>
              <a:t>dependent variables </a:t>
            </a:r>
            <a:r>
              <a:rPr lang="en-US" dirty="0"/>
              <a:t>more broadly.   </a:t>
            </a:r>
          </a:p>
        </p:txBody>
      </p:sp>
      <p:sp>
        <p:nvSpPr>
          <p:cNvPr id="14" name="Rectangle 13">
            <a:extLst>
              <a:ext uri="{FF2B5EF4-FFF2-40B4-BE49-F238E27FC236}">
                <a16:creationId xmlns:a16="http://schemas.microsoft.com/office/drawing/2014/main" id="{621749B6-69B1-C2DE-5A9A-C7F321543156}"/>
              </a:ext>
            </a:extLst>
          </p:cNvPr>
          <p:cNvSpPr/>
          <p:nvPr/>
        </p:nvSpPr>
        <p:spPr>
          <a:xfrm rot="5400000">
            <a:off x="8484459" y="-2606343"/>
            <a:ext cx="165027" cy="725005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C3CE260-A949-CE49-D9BB-96E0431804D6}"/>
              </a:ext>
            </a:extLst>
          </p:cNvPr>
          <p:cNvSpPr/>
          <p:nvPr/>
        </p:nvSpPr>
        <p:spPr>
          <a:xfrm rot="5400000">
            <a:off x="336586" y="599584"/>
            <a:ext cx="165028" cy="8382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4906489-1E94-B170-E332-ED35ED4CA19D}"/>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rot="1705762">
            <a:off x="9497608" y="3577706"/>
            <a:ext cx="2360991" cy="3000375"/>
          </a:xfrm>
          <a:prstGeom prst="rect">
            <a:avLst/>
          </a:prstGeom>
        </p:spPr>
      </p:pic>
      <p:pic>
        <p:nvPicPr>
          <p:cNvPr id="8" name="Picture 7">
            <a:extLst>
              <a:ext uri="{FF2B5EF4-FFF2-40B4-BE49-F238E27FC236}">
                <a16:creationId xmlns:a16="http://schemas.microsoft.com/office/drawing/2014/main" id="{1B57B265-3516-717B-F3C4-6051AE25DCA0}"/>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rot="19894238" flipH="1">
            <a:off x="7255636" y="4454135"/>
            <a:ext cx="2258398" cy="2563555"/>
          </a:xfrm>
          <a:prstGeom prst="rect">
            <a:avLst/>
          </a:prstGeom>
        </p:spPr>
      </p:pic>
    </p:spTree>
    <p:extLst>
      <p:ext uri="{BB962C8B-B14F-4D97-AF65-F5344CB8AC3E}">
        <p14:creationId xmlns:p14="http://schemas.microsoft.com/office/powerpoint/2010/main" val="202779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39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B015048-152C-1B47-7745-733627F28FD8}"/>
              </a:ext>
            </a:extLst>
          </p:cNvPr>
          <p:cNvSpPr/>
          <p:nvPr/>
        </p:nvSpPr>
        <p:spPr>
          <a:xfrm>
            <a:off x="838200" y="1825625"/>
            <a:ext cx="3279937" cy="4351338"/>
          </a:xfrm>
          <a:prstGeom prst="rect">
            <a:avLst/>
          </a:prstGeom>
          <a:solidFill>
            <a:schemeClr val="accent1">
              <a:lumMod val="20000"/>
              <a:lumOff val="8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0C567A9-0679-298C-B7B1-461CF61A7ACA}"/>
              </a:ext>
            </a:extLst>
          </p:cNvPr>
          <p:cNvSpPr>
            <a:spLocks noGrp="1"/>
          </p:cNvSpPr>
          <p:nvPr>
            <p:ph idx="1"/>
          </p:nvPr>
        </p:nvSpPr>
        <p:spPr>
          <a:xfrm>
            <a:off x="838200" y="1825625"/>
            <a:ext cx="3279937" cy="4351338"/>
          </a:xfrm>
        </p:spPr>
        <p:txBody>
          <a:bodyPr/>
          <a:lstStyle/>
          <a:p>
            <a:pPr marL="0" indent="0" algn="ctr">
              <a:buNone/>
            </a:pPr>
            <a:endParaRPr lang="en-US" dirty="0"/>
          </a:p>
        </p:txBody>
      </p:sp>
      <p:pic>
        <p:nvPicPr>
          <p:cNvPr id="16" name="Picture 15">
            <a:extLst>
              <a:ext uri="{FF2B5EF4-FFF2-40B4-BE49-F238E27FC236}">
                <a16:creationId xmlns:a16="http://schemas.microsoft.com/office/drawing/2014/main" id="{F2BCF800-205C-F306-3F32-8DE4063FA990}"/>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951856" y="1905813"/>
            <a:ext cx="3035760" cy="4120233"/>
          </a:xfrm>
          <a:prstGeom prst="rect">
            <a:avLst/>
          </a:prstGeom>
        </p:spPr>
      </p:pic>
      <p:sp>
        <p:nvSpPr>
          <p:cNvPr id="5" name="Rectangle 4">
            <a:extLst>
              <a:ext uri="{FF2B5EF4-FFF2-40B4-BE49-F238E27FC236}">
                <a16:creationId xmlns:a16="http://schemas.microsoft.com/office/drawing/2014/main" id="{6DE95FDE-D631-FA60-2C40-2E67664B765E}"/>
              </a:ext>
            </a:extLst>
          </p:cNvPr>
          <p:cNvSpPr/>
          <p:nvPr/>
        </p:nvSpPr>
        <p:spPr>
          <a:xfrm>
            <a:off x="4456031" y="1815573"/>
            <a:ext cx="3279937" cy="4351338"/>
          </a:xfrm>
          <a:prstGeom prst="rect">
            <a:avLst/>
          </a:prstGeom>
          <a:solidFill>
            <a:schemeClr val="accent1">
              <a:lumMod val="20000"/>
              <a:lumOff val="8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F9A4759D-3D10-2B1E-F753-B95DDEA64BD1}"/>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4573044" y="1905813"/>
            <a:ext cx="3044378" cy="4120234"/>
          </a:xfrm>
          <a:prstGeom prst="rect">
            <a:avLst/>
          </a:prstGeom>
        </p:spPr>
      </p:pic>
      <p:sp>
        <p:nvSpPr>
          <p:cNvPr id="8" name="Content Placeholder 2">
            <a:extLst>
              <a:ext uri="{FF2B5EF4-FFF2-40B4-BE49-F238E27FC236}">
                <a16:creationId xmlns:a16="http://schemas.microsoft.com/office/drawing/2014/main" id="{8571CF64-6ED8-2397-73CB-4CF1810EAE61}"/>
              </a:ext>
            </a:extLst>
          </p:cNvPr>
          <p:cNvSpPr txBox="1">
            <a:spLocks/>
          </p:cNvSpPr>
          <p:nvPr/>
        </p:nvSpPr>
        <p:spPr>
          <a:xfrm>
            <a:off x="8073862" y="1825625"/>
            <a:ext cx="3279937" cy="4351338"/>
          </a:xfrm>
          <a:prstGeom prst="rect">
            <a:avLst/>
          </a:prstGeom>
          <a:solidFill>
            <a:schemeClr val="accent1">
              <a:lumMod val="20000"/>
              <a:lumOff val="80000"/>
            </a:schemeClr>
          </a:solidFill>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pic>
        <p:nvPicPr>
          <p:cNvPr id="12" name="Picture 11">
            <a:extLst>
              <a:ext uri="{FF2B5EF4-FFF2-40B4-BE49-F238E27FC236}">
                <a16:creationId xmlns:a16="http://schemas.microsoft.com/office/drawing/2014/main" id="{48464227-1E24-118A-BA5A-A7998F9157C0}"/>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8187748" y="1905813"/>
            <a:ext cx="3044378" cy="4120234"/>
          </a:xfrm>
          <a:prstGeom prst="rect">
            <a:avLst/>
          </a:prstGeom>
        </p:spPr>
      </p:pic>
      <p:sp>
        <p:nvSpPr>
          <p:cNvPr id="2" name="Title 1">
            <a:extLst>
              <a:ext uri="{FF2B5EF4-FFF2-40B4-BE49-F238E27FC236}">
                <a16:creationId xmlns:a16="http://schemas.microsoft.com/office/drawing/2014/main" id="{E71899DC-0045-3A83-B938-75ECFF28405D}"/>
              </a:ext>
            </a:extLst>
          </p:cNvPr>
          <p:cNvSpPr>
            <a:spLocks noGrp="1"/>
          </p:cNvSpPr>
          <p:nvPr>
            <p:ph type="title"/>
          </p:nvPr>
        </p:nvSpPr>
        <p:spPr/>
        <p:txBody>
          <a:bodyPr/>
          <a:lstStyle/>
          <a:p>
            <a:pPr algn="ctr"/>
            <a:r>
              <a:rPr lang="en-US" dirty="0">
                <a:latin typeface="Elephant" panose="02020904090505020303" pitchFamily="18" charset="0"/>
              </a:rPr>
              <a:t>Previous Research</a:t>
            </a:r>
          </a:p>
        </p:txBody>
      </p:sp>
      <p:sp>
        <p:nvSpPr>
          <p:cNvPr id="6" name="Rectangle 5">
            <a:extLst>
              <a:ext uri="{FF2B5EF4-FFF2-40B4-BE49-F238E27FC236}">
                <a16:creationId xmlns:a16="http://schemas.microsoft.com/office/drawing/2014/main" id="{061F59E2-F3DD-8DDB-EB51-84E82538DA64}"/>
              </a:ext>
            </a:extLst>
          </p:cNvPr>
          <p:cNvSpPr/>
          <p:nvPr/>
        </p:nvSpPr>
        <p:spPr>
          <a:xfrm>
            <a:off x="8069969" y="1825625"/>
            <a:ext cx="3279937" cy="4351338"/>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097F1F26-052A-B459-194B-576ED109B346}"/>
              </a:ext>
            </a:extLst>
          </p:cNvPr>
          <p:cNvSpPr txBox="1">
            <a:spLocks/>
          </p:cNvSpPr>
          <p:nvPr/>
        </p:nvSpPr>
        <p:spPr>
          <a:xfrm>
            <a:off x="4456031" y="1825625"/>
            <a:ext cx="327993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dirty="0"/>
          </a:p>
        </p:txBody>
      </p:sp>
    </p:spTree>
    <p:extLst>
      <p:ext uri="{BB962C8B-B14F-4D97-AF65-F5344CB8AC3E}">
        <p14:creationId xmlns:p14="http://schemas.microsoft.com/office/powerpoint/2010/main" val="4108341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cstate="hqprint">
            <a:alphaModFix amt="3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78186600-73B7-7819-C0AC-B9FF889F630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ADA6484-E57B-E937-E7CA-5A70A96EA035}"/>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0" y="-1"/>
            <a:ext cx="2209800" cy="6858001"/>
          </a:xfrm>
          <a:prstGeom prst="rect">
            <a:avLst/>
          </a:prstGeom>
        </p:spPr>
      </p:pic>
      <p:sp>
        <p:nvSpPr>
          <p:cNvPr id="2" name="Title 1">
            <a:extLst>
              <a:ext uri="{FF2B5EF4-FFF2-40B4-BE49-F238E27FC236}">
                <a16:creationId xmlns:a16="http://schemas.microsoft.com/office/drawing/2014/main" id="{EFADE040-E6AC-AA50-B705-2E52BF0B3320}"/>
              </a:ext>
            </a:extLst>
          </p:cNvPr>
          <p:cNvSpPr>
            <a:spLocks noGrp="1"/>
          </p:cNvSpPr>
          <p:nvPr>
            <p:ph type="title"/>
          </p:nvPr>
        </p:nvSpPr>
        <p:spPr>
          <a:xfrm>
            <a:off x="1913961" y="2052235"/>
            <a:ext cx="10515600" cy="1325563"/>
          </a:xfrm>
        </p:spPr>
        <p:txBody>
          <a:bodyPr/>
          <a:lstStyle/>
          <a:p>
            <a:r>
              <a:rPr lang="en-US" dirty="0">
                <a:latin typeface="Elephant" panose="02020904090505020303" pitchFamily="18" charset="0"/>
              </a:rPr>
              <a:t>Hypothesis</a:t>
            </a:r>
          </a:p>
        </p:txBody>
      </p:sp>
      <p:sp>
        <p:nvSpPr>
          <p:cNvPr id="3" name="Content Placeholder 2">
            <a:extLst>
              <a:ext uri="{FF2B5EF4-FFF2-40B4-BE49-F238E27FC236}">
                <a16:creationId xmlns:a16="http://schemas.microsoft.com/office/drawing/2014/main" id="{6ECB5DD2-1420-E5E8-706F-720FA99D0E8D}"/>
              </a:ext>
            </a:extLst>
          </p:cNvPr>
          <p:cNvSpPr>
            <a:spLocks noGrp="1"/>
          </p:cNvSpPr>
          <p:nvPr>
            <p:ph idx="1"/>
          </p:nvPr>
        </p:nvSpPr>
        <p:spPr>
          <a:xfrm>
            <a:off x="1913961" y="3198487"/>
            <a:ext cx="9109639" cy="945580"/>
          </a:xfrm>
        </p:spPr>
        <p:txBody>
          <a:bodyPr/>
          <a:lstStyle/>
          <a:p>
            <a:pPr marL="0" indent="0">
              <a:buNone/>
            </a:pPr>
            <a:r>
              <a:rPr lang="en-US" dirty="0"/>
              <a:t>The independent variable affects the dependent variable, because a mechanism connects them.  </a:t>
            </a:r>
          </a:p>
        </p:txBody>
      </p:sp>
    </p:spTree>
    <p:extLst>
      <p:ext uri="{BB962C8B-B14F-4D97-AF65-F5344CB8AC3E}">
        <p14:creationId xmlns:p14="http://schemas.microsoft.com/office/powerpoint/2010/main" val="2813203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39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4" name="Rounded Rectangle 23">
            <a:extLst>
              <a:ext uri="{FF2B5EF4-FFF2-40B4-BE49-F238E27FC236}">
                <a16:creationId xmlns:a16="http://schemas.microsoft.com/office/drawing/2014/main" id="{933FD87B-6EAE-F490-6BCF-03522D7B6C15}"/>
              </a:ext>
            </a:extLst>
          </p:cNvPr>
          <p:cNvSpPr/>
          <p:nvPr/>
        </p:nvSpPr>
        <p:spPr>
          <a:xfrm>
            <a:off x="665361" y="1228088"/>
            <a:ext cx="4632739" cy="2719224"/>
          </a:xfrm>
          <a:prstGeom prst="roundRect">
            <a:avLst>
              <a:gd name="adj" fmla="val 3818"/>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182880" rtlCol="0" anchor="t"/>
          <a:lstStyle/>
          <a:p>
            <a:r>
              <a:rPr lang="en-US" sz="4000" dirty="0">
                <a:solidFill>
                  <a:schemeClr val="accent1">
                    <a:lumMod val="75000"/>
                  </a:schemeClr>
                </a:solidFill>
                <a:latin typeface="Elephant" panose="02020904090505020303" pitchFamily="18" charset="0"/>
              </a:rPr>
              <a:t>1</a:t>
            </a:r>
            <a:endParaRPr lang="en-US" sz="3200" dirty="0">
              <a:solidFill>
                <a:schemeClr val="accent1">
                  <a:lumMod val="75000"/>
                </a:schemeClr>
              </a:solidFill>
              <a:latin typeface="Elephant" panose="02020904090505020303" pitchFamily="18" charset="0"/>
            </a:endParaRPr>
          </a:p>
          <a:p>
            <a:endParaRPr lang="en-US" sz="3200" dirty="0">
              <a:solidFill>
                <a:schemeClr val="accent1">
                  <a:lumMod val="75000"/>
                </a:schemeClr>
              </a:solidFill>
            </a:endParaRPr>
          </a:p>
        </p:txBody>
      </p:sp>
      <p:sp>
        <p:nvSpPr>
          <p:cNvPr id="2" name="Title 1">
            <a:extLst>
              <a:ext uri="{FF2B5EF4-FFF2-40B4-BE49-F238E27FC236}">
                <a16:creationId xmlns:a16="http://schemas.microsoft.com/office/drawing/2014/main" id="{28BFB2C7-BC94-E97A-829E-17B1E077F9A6}"/>
              </a:ext>
            </a:extLst>
          </p:cNvPr>
          <p:cNvSpPr>
            <a:spLocks noGrp="1"/>
          </p:cNvSpPr>
          <p:nvPr>
            <p:ph type="title"/>
          </p:nvPr>
        </p:nvSpPr>
        <p:spPr>
          <a:xfrm>
            <a:off x="838200" y="95102"/>
            <a:ext cx="10515600" cy="1325563"/>
          </a:xfrm>
        </p:spPr>
        <p:txBody>
          <a:bodyPr/>
          <a:lstStyle/>
          <a:p>
            <a:pPr algn="ctr"/>
            <a:r>
              <a:rPr lang="en-US" dirty="0">
                <a:latin typeface="Elephant" panose="02020904090505020303" pitchFamily="18" charset="0"/>
              </a:rPr>
              <a:t>Methods</a:t>
            </a:r>
          </a:p>
        </p:txBody>
      </p:sp>
      <p:sp>
        <p:nvSpPr>
          <p:cNvPr id="4" name="Rectangle 3">
            <a:extLst>
              <a:ext uri="{FF2B5EF4-FFF2-40B4-BE49-F238E27FC236}">
                <a16:creationId xmlns:a16="http://schemas.microsoft.com/office/drawing/2014/main" id="{AE512DFF-EB13-0082-6E83-E9EFF7648ACB}"/>
              </a:ext>
            </a:extLst>
          </p:cNvPr>
          <p:cNvSpPr/>
          <p:nvPr/>
        </p:nvSpPr>
        <p:spPr>
          <a:xfrm rot="5400000">
            <a:off x="2248861" y="-1577788"/>
            <a:ext cx="165026" cy="466274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3493782-6412-3DD7-021A-FEC516EEF7EE}"/>
              </a:ext>
            </a:extLst>
          </p:cNvPr>
          <p:cNvSpPr/>
          <p:nvPr/>
        </p:nvSpPr>
        <p:spPr>
          <a:xfrm rot="5400000">
            <a:off x="9778113" y="-1577787"/>
            <a:ext cx="165027" cy="466274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4120183-8515-58FF-4D8E-443808EF176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flipH="1">
            <a:off x="1314830" y="1656041"/>
            <a:ext cx="1085584" cy="1615752"/>
          </a:xfrm>
          <a:prstGeom prst="rect">
            <a:avLst/>
          </a:prstGeom>
        </p:spPr>
      </p:pic>
      <p:pic>
        <p:nvPicPr>
          <p:cNvPr id="18" name="Picture 17">
            <a:extLst>
              <a:ext uri="{FF2B5EF4-FFF2-40B4-BE49-F238E27FC236}">
                <a16:creationId xmlns:a16="http://schemas.microsoft.com/office/drawing/2014/main" id="{16647597-D678-9A40-29CA-6BAF0CCABE6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flipH="1">
            <a:off x="2509538" y="1649730"/>
            <a:ext cx="1085585" cy="1628371"/>
          </a:xfrm>
          <a:prstGeom prst="rect">
            <a:avLst/>
          </a:prstGeom>
        </p:spPr>
      </p:pic>
      <p:pic>
        <p:nvPicPr>
          <p:cNvPr id="22" name="Picture 21">
            <a:extLst>
              <a:ext uri="{FF2B5EF4-FFF2-40B4-BE49-F238E27FC236}">
                <a16:creationId xmlns:a16="http://schemas.microsoft.com/office/drawing/2014/main" id="{A4F7DE45-5A28-FCF5-4802-2D51F5B11EC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flipH="1">
            <a:off x="3726611" y="1656037"/>
            <a:ext cx="1085585" cy="1615754"/>
          </a:xfrm>
          <a:prstGeom prst="rect">
            <a:avLst/>
          </a:prstGeom>
        </p:spPr>
      </p:pic>
      <p:sp>
        <p:nvSpPr>
          <p:cNvPr id="3" name="Rounded Rectangle 2">
            <a:extLst>
              <a:ext uri="{FF2B5EF4-FFF2-40B4-BE49-F238E27FC236}">
                <a16:creationId xmlns:a16="http://schemas.microsoft.com/office/drawing/2014/main" id="{A10B1D6E-F968-58FD-2049-F373AD7BD159}"/>
              </a:ext>
            </a:extLst>
          </p:cNvPr>
          <p:cNvSpPr/>
          <p:nvPr/>
        </p:nvSpPr>
        <p:spPr>
          <a:xfrm>
            <a:off x="1253465" y="3361205"/>
            <a:ext cx="1081584" cy="357038"/>
          </a:xfrm>
          <a:prstGeom prst="roundRect">
            <a:avLst>
              <a:gd name="adj" fmla="val 50000"/>
            </a:avLst>
          </a:prstGeom>
          <a:noFill/>
          <a:ln>
            <a:solidFill>
              <a:srgbClr val="314749"/>
            </a:solid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US" sz="1200" dirty="0">
                <a:solidFill>
                  <a:srgbClr val="314749"/>
                </a:solidFill>
              </a:rPr>
              <a:t>Control</a:t>
            </a:r>
          </a:p>
        </p:txBody>
      </p:sp>
      <p:sp>
        <p:nvSpPr>
          <p:cNvPr id="6" name="Rounded Rectangle 5">
            <a:extLst>
              <a:ext uri="{FF2B5EF4-FFF2-40B4-BE49-F238E27FC236}">
                <a16:creationId xmlns:a16="http://schemas.microsoft.com/office/drawing/2014/main" id="{BF345E3F-903D-75C6-ACB2-1FCAD2887869}"/>
              </a:ext>
            </a:extLst>
          </p:cNvPr>
          <p:cNvSpPr/>
          <p:nvPr/>
        </p:nvSpPr>
        <p:spPr>
          <a:xfrm>
            <a:off x="2493801" y="3361209"/>
            <a:ext cx="1081584" cy="357038"/>
          </a:xfrm>
          <a:prstGeom prst="roundRect">
            <a:avLst>
              <a:gd name="adj" fmla="val 50000"/>
            </a:avLst>
          </a:prstGeom>
          <a:noFill/>
          <a:ln>
            <a:solidFill>
              <a:srgbClr val="314749"/>
            </a:solid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US" sz="1200" dirty="0">
                <a:solidFill>
                  <a:srgbClr val="314749"/>
                </a:solidFill>
              </a:rPr>
              <a:t>Treatment 1</a:t>
            </a:r>
          </a:p>
        </p:txBody>
      </p:sp>
      <p:sp>
        <p:nvSpPr>
          <p:cNvPr id="8" name="Rounded Rectangle 7">
            <a:extLst>
              <a:ext uri="{FF2B5EF4-FFF2-40B4-BE49-F238E27FC236}">
                <a16:creationId xmlns:a16="http://schemas.microsoft.com/office/drawing/2014/main" id="{59F74F58-8CB1-01FC-77BA-892858C0CC34}"/>
              </a:ext>
            </a:extLst>
          </p:cNvPr>
          <p:cNvSpPr/>
          <p:nvPr/>
        </p:nvSpPr>
        <p:spPr>
          <a:xfrm>
            <a:off x="3734137" y="3361207"/>
            <a:ext cx="1081584" cy="357038"/>
          </a:xfrm>
          <a:prstGeom prst="roundRect">
            <a:avLst>
              <a:gd name="adj" fmla="val 50000"/>
            </a:avLst>
          </a:prstGeom>
          <a:noFill/>
          <a:ln>
            <a:solidFill>
              <a:srgbClr val="314749"/>
            </a:solid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US" sz="1200" dirty="0">
                <a:solidFill>
                  <a:srgbClr val="314749"/>
                </a:solidFill>
              </a:rPr>
              <a:t>Treatment 2</a:t>
            </a:r>
          </a:p>
        </p:txBody>
      </p:sp>
      <p:sp>
        <p:nvSpPr>
          <p:cNvPr id="27" name="Rounded Rectangle 26">
            <a:extLst>
              <a:ext uri="{FF2B5EF4-FFF2-40B4-BE49-F238E27FC236}">
                <a16:creationId xmlns:a16="http://schemas.microsoft.com/office/drawing/2014/main" id="{0C6C7943-E8B0-4F23-2124-915070B78351}"/>
              </a:ext>
            </a:extLst>
          </p:cNvPr>
          <p:cNvSpPr/>
          <p:nvPr/>
        </p:nvSpPr>
        <p:spPr>
          <a:xfrm>
            <a:off x="3621565" y="4339300"/>
            <a:ext cx="4948870" cy="1847627"/>
          </a:xfrm>
          <a:prstGeom prst="roundRect">
            <a:avLst>
              <a:gd name="adj" fmla="val 3818"/>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182880" rtlCol="0" anchor="t"/>
          <a:lstStyle/>
          <a:p>
            <a:r>
              <a:rPr lang="en-US" sz="4000" dirty="0">
                <a:solidFill>
                  <a:schemeClr val="accent1">
                    <a:lumMod val="75000"/>
                  </a:schemeClr>
                </a:solidFill>
                <a:latin typeface="Elephant" panose="02020904090505020303" pitchFamily="18" charset="0"/>
              </a:rPr>
              <a:t>2</a:t>
            </a:r>
            <a:endParaRPr lang="en-US" sz="3200" dirty="0">
              <a:solidFill>
                <a:schemeClr val="accent1">
                  <a:lumMod val="75000"/>
                </a:schemeClr>
              </a:solidFill>
              <a:latin typeface="Elephant" panose="02020904090505020303" pitchFamily="18" charset="0"/>
            </a:endParaRPr>
          </a:p>
          <a:p>
            <a:endParaRPr lang="en-US" sz="3200" dirty="0">
              <a:solidFill>
                <a:schemeClr val="accent1">
                  <a:lumMod val="75000"/>
                </a:schemeClr>
              </a:solidFill>
            </a:endParaRPr>
          </a:p>
        </p:txBody>
      </p:sp>
      <p:pic>
        <p:nvPicPr>
          <p:cNvPr id="13" name="Picture 12">
            <a:extLst>
              <a:ext uri="{FF2B5EF4-FFF2-40B4-BE49-F238E27FC236}">
                <a16:creationId xmlns:a16="http://schemas.microsoft.com/office/drawing/2014/main" id="{5DB4FD39-1394-1AA8-AFBE-FB32C3704C99}"/>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5875377" y="4693430"/>
            <a:ext cx="787194" cy="508054"/>
          </a:xfrm>
          <a:prstGeom prst="rect">
            <a:avLst/>
          </a:prstGeom>
        </p:spPr>
      </p:pic>
      <p:pic>
        <p:nvPicPr>
          <p:cNvPr id="14" name="Picture 13">
            <a:extLst>
              <a:ext uri="{FF2B5EF4-FFF2-40B4-BE49-F238E27FC236}">
                <a16:creationId xmlns:a16="http://schemas.microsoft.com/office/drawing/2014/main" id="{65C8C853-82DE-439C-4FE4-214844EC7C60}"/>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5875377" y="5404760"/>
            <a:ext cx="787194" cy="508054"/>
          </a:xfrm>
          <a:prstGeom prst="rect">
            <a:avLst/>
          </a:prstGeom>
        </p:spPr>
      </p:pic>
      <p:pic>
        <p:nvPicPr>
          <p:cNvPr id="15" name="Picture 14">
            <a:extLst>
              <a:ext uri="{FF2B5EF4-FFF2-40B4-BE49-F238E27FC236}">
                <a16:creationId xmlns:a16="http://schemas.microsoft.com/office/drawing/2014/main" id="{136908FE-1E77-9037-FA8C-4927408240D0}"/>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6953145" y="5404760"/>
            <a:ext cx="787194" cy="508054"/>
          </a:xfrm>
          <a:prstGeom prst="rect">
            <a:avLst/>
          </a:prstGeom>
        </p:spPr>
      </p:pic>
      <p:pic>
        <p:nvPicPr>
          <p:cNvPr id="19" name="Picture 18">
            <a:extLst>
              <a:ext uri="{FF2B5EF4-FFF2-40B4-BE49-F238E27FC236}">
                <a16:creationId xmlns:a16="http://schemas.microsoft.com/office/drawing/2014/main" id="{802F6BED-ACD0-1268-EE5A-552F68B2F943}"/>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4861154" y="4693430"/>
            <a:ext cx="787194" cy="508054"/>
          </a:xfrm>
          <a:prstGeom prst="rect">
            <a:avLst/>
          </a:prstGeom>
        </p:spPr>
      </p:pic>
      <p:pic>
        <p:nvPicPr>
          <p:cNvPr id="20" name="Picture 19">
            <a:extLst>
              <a:ext uri="{FF2B5EF4-FFF2-40B4-BE49-F238E27FC236}">
                <a16:creationId xmlns:a16="http://schemas.microsoft.com/office/drawing/2014/main" id="{ACAC57E1-A067-BD3F-6D9A-FE9B1E90EFAA}"/>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4852911" y="5404761"/>
            <a:ext cx="787194" cy="508054"/>
          </a:xfrm>
          <a:prstGeom prst="rect">
            <a:avLst/>
          </a:prstGeom>
        </p:spPr>
      </p:pic>
      <p:pic>
        <p:nvPicPr>
          <p:cNvPr id="21" name="Picture 20">
            <a:extLst>
              <a:ext uri="{FF2B5EF4-FFF2-40B4-BE49-F238E27FC236}">
                <a16:creationId xmlns:a16="http://schemas.microsoft.com/office/drawing/2014/main" id="{EBFB18F8-0522-093A-8FBF-2BE7C0D55A50}"/>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6953145" y="4693429"/>
            <a:ext cx="787194" cy="508054"/>
          </a:xfrm>
          <a:prstGeom prst="rect">
            <a:avLst/>
          </a:prstGeom>
        </p:spPr>
      </p:pic>
      <p:sp>
        <p:nvSpPr>
          <p:cNvPr id="32" name="Arrow: Bent 6">
            <a:extLst>
              <a:ext uri="{FF2B5EF4-FFF2-40B4-BE49-F238E27FC236}">
                <a16:creationId xmlns:a16="http://schemas.microsoft.com/office/drawing/2014/main" id="{23383720-61C7-7B28-D41A-A1E47267A6DA}"/>
              </a:ext>
            </a:extLst>
          </p:cNvPr>
          <p:cNvSpPr/>
          <p:nvPr/>
        </p:nvSpPr>
        <p:spPr>
          <a:xfrm rot="16200000" flipV="1">
            <a:off x="8585673" y="4283309"/>
            <a:ext cx="1532292" cy="1223155"/>
          </a:xfrm>
          <a:prstGeom prst="bentArrow">
            <a:avLst>
              <a:gd name="adj1" fmla="val 13002"/>
              <a:gd name="adj2" fmla="val 19175"/>
              <a:gd name="adj3" fmla="val 21117"/>
              <a:gd name="adj4" fmla="val 29058"/>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Rounded Rectangle 32">
            <a:extLst>
              <a:ext uri="{FF2B5EF4-FFF2-40B4-BE49-F238E27FC236}">
                <a16:creationId xmlns:a16="http://schemas.microsoft.com/office/drawing/2014/main" id="{5269F15A-12D5-C9C9-DF87-4BF2CB1F358E}"/>
              </a:ext>
            </a:extLst>
          </p:cNvPr>
          <p:cNvSpPr/>
          <p:nvPr/>
        </p:nvSpPr>
        <p:spPr>
          <a:xfrm>
            <a:off x="6962250" y="1228088"/>
            <a:ext cx="4632739" cy="2719224"/>
          </a:xfrm>
          <a:prstGeom prst="roundRect">
            <a:avLst>
              <a:gd name="adj" fmla="val 3818"/>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182880" rtlCol="0" anchor="t"/>
          <a:lstStyle/>
          <a:p>
            <a:r>
              <a:rPr lang="en-US" sz="4000" dirty="0">
                <a:solidFill>
                  <a:schemeClr val="accent1">
                    <a:lumMod val="75000"/>
                  </a:schemeClr>
                </a:solidFill>
                <a:latin typeface="Elephant" panose="02020904090505020303" pitchFamily="18" charset="0"/>
              </a:rPr>
              <a:t>3</a:t>
            </a:r>
            <a:endParaRPr lang="en-US" sz="3200" dirty="0">
              <a:solidFill>
                <a:schemeClr val="accent1">
                  <a:lumMod val="75000"/>
                </a:schemeClr>
              </a:solidFill>
              <a:latin typeface="Elephant" panose="02020904090505020303" pitchFamily="18" charset="0"/>
            </a:endParaRPr>
          </a:p>
          <a:p>
            <a:endParaRPr lang="en-US" sz="3200" dirty="0">
              <a:solidFill>
                <a:schemeClr val="accent1">
                  <a:lumMod val="75000"/>
                </a:schemeClr>
              </a:solidFill>
            </a:endParaRPr>
          </a:p>
        </p:txBody>
      </p:sp>
      <p:pic>
        <p:nvPicPr>
          <p:cNvPr id="17" name="Picture 16">
            <a:extLst>
              <a:ext uri="{FF2B5EF4-FFF2-40B4-BE49-F238E27FC236}">
                <a16:creationId xmlns:a16="http://schemas.microsoft.com/office/drawing/2014/main" id="{65686A9A-F744-28E2-6B54-AFE86B321566}"/>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8359350" y="1452935"/>
            <a:ext cx="2269529" cy="2269529"/>
          </a:xfrm>
          <a:prstGeom prst="rect">
            <a:avLst/>
          </a:prstGeom>
        </p:spPr>
      </p:pic>
      <p:sp>
        <p:nvSpPr>
          <p:cNvPr id="35" name="Arrow: Bent 6">
            <a:extLst>
              <a:ext uri="{FF2B5EF4-FFF2-40B4-BE49-F238E27FC236}">
                <a16:creationId xmlns:a16="http://schemas.microsoft.com/office/drawing/2014/main" id="{4BCC49FA-F667-8054-D652-CC8A06846699}"/>
              </a:ext>
            </a:extLst>
          </p:cNvPr>
          <p:cNvSpPr/>
          <p:nvPr/>
        </p:nvSpPr>
        <p:spPr>
          <a:xfrm flipV="1">
            <a:off x="1706897" y="4607063"/>
            <a:ext cx="1532292" cy="1223155"/>
          </a:xfrm>
          <a:prstGeom prst="bentArrow">
            <a:avLst>
              <a:gd name="adj1" fmla="val 13002"/>
              <a:gd name="adj2" fmla="val 19175"/>
              <a:gd name="adj3" fmla="val 21117"/>
              <a:gd name="adj4" fmla="val 29058"/>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75601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cstate="hqprint">
            <a:alphaModFix amt="3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1B38900-EFED-5B62-D4A1-1830C0AD7AE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7B69EBC-BA7C-5809-E7EA-181C9B5E8E55}"/>
              </a:ext>
            </a:extLst>
          </p:cNvPr>
          <p:cNvSpPr/>
          <p:nvPr/>
        </p:nvSpPr>
        <p:spPr>
          <a:xfrm rot="5400000">
            <a:off x="2056903" y="-1320825"/>
            <a:ext cx="165028" cy="427883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61788A-3132-B911-5EE5-4290DF58FCEB}"/>
              </a:ext>
            </a:extLst>
          </p:cNvPr>
          <p:cNvSpPr>
            <a:spLocks noGrp="1"/>
          </p:cNvSpPr>
          <p:nvPr>
            <p:ph type="title"/>
          </p:nvPr>
        </p:nvSpPr>
        <p:spPr>
          <a:xfrm>
            <a:off x="838200" y="166286"/>
            <a:ext cx="10515600" cy="1325563"/>
          </a:xfrm>
        </p:spPr>
        <p:txBody>
          <a:bodyPr/>
          <a:lstStyle/>
          <a:p>
            <a:pPr algn="ctr"/>
            <a:r>
              <a:rPr lang="en-US" dirty="0">
                <a:latin typeface="Elephant" panose="02020904090505020303" pitchFamily="18" charset="0"/>
              </a:rPr>
              <a:t>Predictions</a:t>
            </a:r>
          </a:p>
        </p:txBody>
      </p:sp>
      <p:sp>
        <p:nvSpPr>
          <p:cNvPr id="6" name="Rectangle 5">
            <a:extLst>
              <a:ext uri="{FF2B5EF4-FFF2-40B4-BE49-F238E27FC236}">
                <a16:creationId xmlns:a16="http://schemas.microsoft.com/office/drawing/2014/main" id="{86540A76-7F38-BF06-71C8-724D48252258}"/>
              </a:ext>
            </a:extLst>
          </p:cNvPr>
          <p:cNvSpPr/>
          <p:nvPr/>
        </p:nvSpPr>
        <p:spPr>
          <a:xfrm>
            <a:off x="660565" y="1581285"/>
            <a:ext cx="4869340" cy="4540635"/>
          </a:xfrm>
          <a:prstGeom prst="rect">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77C4C0D4-62B5-465D-6178-C90364C2974F}"/>
              </a:ext>
            </a:extLst>
          </p:cNvPr>
          <p:cNvGrpSpPr/>
          <p:nvPr/>
        </p:nvGrpSpPr>
        <p:grpSpPr>
          <a:xfrm>
            <a:off x="912213" y="2061642"/>
            <a:ext cx="4107627" cy="3890796"/>
            <a:chOff x="833271" y="2053438"/>
            <a:chExt cx="4107627" cy="3890796"/>
          </a:xfrm>
        </p:grpSpPr>
        <p:sp>
          <p:nvSpPr>
            <p:cNvPr id="12" name="Rectangle 11">
              <a:extLst>
                <a:ext uri="{FF2B5EF4-FFF2-40B4-BE49-F238E27FC236}">
                  <a16:creationId xmlns:a16="http://schemas.microsoft.com/office/drawing/2014/main" id="{EA419629-3853-4FAD-4A2A-24C196465CCC}"/>
                </a:ext>
              </a:extLst>
            </p:cNvPr>
            <p:cNvSpPr/>
            <p:nvPr/>
          </p:nvSpPr>
          <p:spPr>
            <a:xfrm>
              <a:off x="1757979" y="3899616"/>
              <a:ext cx="633578" cy="1007018"/>
            </a:xfrm>
            <a:prstGeom prst="rect">
              <a:avLst/>
            </a:prstGeom>
            <a:solidFill>
              <a:srgbClr val="7CAD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EFA5D32-F37D-448B-381E-B8399F6655FE}"/>
                </a:ext>
              </a:extLst>
            </p:cNvPr>
            <p:cNvSpPr txBox="1"/>
            <p:nvPr/>
          </p:nvSpPr>
          <p:spPr>
            <a:xfrm>
              <a:off x="1498500" y="3534732"/>
              <a:ext cx="1136598" cy="338554"/>
            </a:xfrm>
            <a:prstGeom prst="rect">
              <a:avLst/>
            </a:prstGeom>
            <a:noFill/>
          </p:spPr>
          <p:txBody>
            <a:bodyPr wrap="square" lIns="0" tIns="0" rIns="0" bIns="0" rtlCol="0">
              <a:noAutofit/>
            </a:bodyPr>
            <a:lstStyle/>
            <a:p>
              <a:pPr algn="ctr"/>
              <a:r>
                <a:rPr lang="en-US" sz="1600" dirty="0"/>
                <a:t>Control</a:t>
              </a:r>
            </a:p>
          </p:txBody>
        </p:sp>
        <p:sp>
          <p:nvSpPr>
            <p:cNvPr id="18" name="TextBox 17">
              <a:extLst>
                <a:ext uri="{FF2B5EF4-FFF2-40B4-BE49-F238E27FC236}">
                  <a16:creationId xmlns:a16="http://schemas.microsoft.com/office/drawing/2014/main" id="{C813B1FF-9415-0CED-50AB-E7A3282D3C0D}"/>
                </a:ext>
              </a:extLst>
            </p:cNvPr>
            <p:cNvSpPr txBox="1"/>
            <p:nvPr/>
          </p:nvSpPr>
          <p:spPr>
            <a:xfrm>
              <a:off x="2505360" y="2802896"/>
              <a:ext cx="1257089" cy="338554"/>
            </a:xfrm>
            <a:prstGeom prst="rect">
              <a:avLst/>
            </a:prstGeom>
            <a:noFill/>
          </p:spPr>
          <p:txBody>
            <a:bodyPr wrap="square" lIns="0" tIns="0" rIns="0" bIns="0" rtlCol="0">
              <a:noAutofit/>
            </a:bodyPr>
            <a:lstStyle/>
            <a:p>
              <a:pPr algn="ctr"/>
              <a:r>
                <a:rPr lang="en-US" sz="1600" dirty="0"/>
                <a:t>Treatment 1</a:t>
              </a:r>
            </a:p>
          </p:txBody>
        </p:sp>
        <p:sp>
          <p:nvSpPr>
            <p:cNvPr id="20" name="TextBox 19">
              <a:extLst>
                <a:ext uri="{FF2B5EF4-FFF2-40B4-BE49-F238E27FC236}">
                  <a16:creationId xmlns:a16="http://schemas.microsoft.com/office/drawing/2014/main" id="{AED76C11-44F1-24A4-AC54-908DAE36B205}"/>
                </a:ext>
              </a:extLst>
            </p:cNvPr>
            <p:cNvSpPr txBox="1"/>
            <p:nvPr/>
          </p:nvSpPr>
          <p:spPr>
            <a:xfrm>
              <a:off x="3591336" y="2172026"/>
              <a:ext cx="1328499" cy="338554"/>
            </a:xfrm>
            <a:prstGeom prst="rect">
              <a:avLst/>
            </a:prstGeom>
            <a:noFill/>
          </p:spPr>
          <p:txBody>
            <a:bodyPr wrap="square" lIns="0" tIns="0" rIns="0" bIns="0" rtlCol="0">
              <a:noAutofit/>
            </a:bodyPr>
            <a:lstStyle/>
            <a:p>
              <a:r>
                <a:rPr lang="en-US" sz="1600" dirty="0"/>
                <a:t>Treatment 2</a:t>
              </a:r>
            </a:p>
          </p:txBody>
        </p:sp>
        <p:cxnSp>
          <p:nvCxnSpPr>
            <p:cNvPr id="26" name="Straight Connector 25">
              <a:extLst>
                <a:ext uri="{FF2B5EF4-FFF2-40B4-BE49-F238E27FC236}">
                  <a16:creationId xmlns:a16="http://schemas.microsoft.com/office/drawing/2014/main" id="{B2BD64F6-0E87-76B1-586B-668C8BF96EE5}"/>
                </a:ext>
              </a:extLst>
            </p:cNvPr>
            <p:cNvCxnSpPr>
              <a:cxnSpLocks/>
            </p:cNvCxnSpPr>
            <p:nvPr/>
          </p:nvCxnSpPr>
          <p:spPr>
            <a:xfrm>
              <a:off x="1310208" y="2053438"/>
              <a:ext cx="0" cy="3407790"/>
            </a:xfrm>
            <a:prstGeom prst="line">
              <a:avLst/>
            </a:prstGeom>
            <a:ln w="12700"/>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3E468238-A8C3-54A3-9DB3-2239B8C34F6F}"/>
                </a:ext>
              </a:extLst>
            </p:cNvPr>
            <p:cNvCxnSpPr>
              <a:cxnSpLocks/>
            </p:cNvCxnSpPr>
            <p:nvPr/>
          </p:nvCxnSpPr>
          <p:spPr>
            <a:xfrm flipH="1">
              <a:off x="1310208" y="5461228"/>
              <a:ext cx="3630690" cy="0"/>
            </a:xfrm>
            <a:prstGeom prst="line">
              <a:avLst/>
            </a:prstGeom>
            <a:ln w="12700"/>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A087F63A-152B-0401-DDF7-53A28F7C00DF}"/>
                </a:ext>
              </a:extLst>
            </p:cNvPr>
            <p:cNvSpPr txBox="1"/>
            <p:nvPr/>
          </p:nvSpPr>
          <p:spPr>
            <a:xfrm rot="16200000">
              <a:off x="-467258" y="3595583"/>
              <a:ext cx="2996511" cy="395453"/>
            </a:xfrm>
            <a:prstGeom prst="rect">
              <a:avLst/>
            </a:prstGeom>
            <a:noFill/>
            <a:ln>
              <a:noFill/>
            </a:ln>
          </p:spPr>
          <p:txBody>
            <a:bodyPr wrap="square" lIns="0" tIns="0" rIns="0" bIns="0" rtlCol="0" anchor="ctr">
              <a:noAutofit/>
            </a:bodyPr>
            <a:lstStyle/>
            <a:p>
              <a:pPr algn="ctr"/>
              <a:r>
                <a:rPr lang="en-US" sz="1600" dirty="0"/>
                <a:t>Dependent Variable 1</a:t>
              </a:r>
            </a:p>
          </p:txBody>
        </p:sp>
        <p:sp>
          <p:nvSpPr>
            <p:cNvPr id="37" name="TextBox 36">
              <a:extLst>
                <a:ext uri="{FF2B5EF4-FFF2-40B4-BE49-F238E27FC236}">
                  <a16:creationId xmlns:a16="http://schemas.microsoft.com/office/drawing/2014/main" id="{D42FA6A9-E770-1323-D562-3C14CA839EA1}"/>
                </a:ext>
              </a:extLst>
            </p:cNvPr>
            <p:cNvSpPr txBox="1"/>
            <p:nvPr/>
          </p:nvSpPr>
          <p:spPr>
            <a:xfrm>
              <a:off x="1750631" y="5526654"/>
              <a:ext cx="2775719" cy="417580"/>
            </a:xfrm>
            <a:prstGeom prst="rect">
              <a:avLst/>
            </a:prstGeom>
            <a:noFill/>
            <a:ln>
              <a:noFill/>
            </a:ln>
          </p:spPr>
          <p:txBody>
            <a:bodyPr wrap="square" lIns="0" tIns="0" rIns="0" bIns="0" rtlCol="0" anchor="ctr">
              <a:noAutofit/>
            </a:bodyPr>
            <a:lstStyle/>
            <a:p>
              <a:pPr algn="ctr"/>
              <a:r>
                <a:rPr lang="en-US" sz="1600" dirty="0"/>
                <a:t>Treatment Group</a:t>
              </a:r>
            </a:p>
          </p:txBody>
        </p:sp>
        <p:sp>
          <p:nvSpPr>
            <p:cNvPr id="3" name="Rectangle 2">
              <a:extLst>
                <a:ext uri="{FF2B5EF4-FFF2-40B4-BE49-F238E27FC236}">
                  <a16:creationId xmlns:a16="http://schemas.microsoft.com/office/drawing/2014/main" id="{B80639F0-0B49-8CE6-5C75-254BE2A800DA}"/>
                </a:ext>
              </a:extLst>
            </p:cNvPr>
            <p:cNvSpPr/>
            <p:nvPr/>
          </p:nvSpPr>
          <p:spPr>
            <a:xfrm>
              <a:off x="2824431" y="3159746"/>
              <a:ext cx="633578" cy="1007018"/>
            </a:xfrm>
            <a:prstGeom prst="rect">
              <a:avLst/>
            </a:prstGeom>
            <a:solidFill>
              <a:srgbClr val="6A99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21D2557-8895-F843-8F67-9A6EAB331828}"/>
                </a:ext>
              </a:extLst>
            </p:cNvPr>
            <p:cNvSpPr/>
            <p:nvPr/>
          </p:nvSpPr>
          <p:spPr>
            <a:xfrm>
              <a:off x="3938798" y="2527715"/>
              <a:ext cx="633578" cy="1007018"/>
            </a:xfrm>
            <a:prstGeom prst="rect">
              <a:avLst/>
            </a:prstGeom>
            <a:solidFill>
              <a:srgbClr val="A7C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7">
            <a:extLst>
              <a:ext uri="{FF2B5EF4-FFF2-40B4-BE49-F238E27FC236}">
                <a16:creationId xmlns:a16="http://schemas.microsoft.com/office/drawing/2014/main" id="{B6F820EB-541F-F615-A2E4-40BB5459B0D8}"/>
              </a:ext>
            </a:extLst>
          </p:cNvPr>
          <p:cNvSpPr/>
          <p:nvPr/>
        </p:nvSpPr>
        <p:spPr>
          <a:xfrm>
            <a:off x="6713059" y="1581283"/>
            <a:ext cx="4869340" cy="4540635"/>
          </a:xfrm>
          <a:prstGeom prst="rect">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950398BF-BDA6-AC8B-61C9-0BE8D1B6C73E}"/>
              </a:ext>
            </a:extLst>
          </p:cNvPr>
          <p:cNvGrpSpPr/>
          <p:nvPr/>
        </p:nvGrpSpPr>
        <p:grpSpPr>
          <a:xfrm>
            <a:off x="7068880" y="2051501"/>
            <a:ext cx="3899280" cy="3911075"/>
            <a:chOff x="7106545" y="1959385"/>
            <a:chExt cx="3899280" cy="3911075"/>
          </a:xfrm>
        </p:grpSpPr>
        <p:cxnSp>
          <p:nvCxnSpPr>
            <p:cNvPr id="10" name="Straight Connector 9">
              <a:extLst>
                <a:ext uri="{FF2B5EF4-FFF2-40B4-BE49-F238E27FC236}">
                  <a16:creationId xmlns:a16="http://schemas.microsoft.com/office/drawing/2014/main" id="{90ED339A-9102-ABD0-F9C6-1CB94819F0F7}"/>
                </a:ext>
              </a:extLst>
            </p:cNvPr>
            <p:cNvCxnSpPr>
              <a:cxnSpLocks/>
            </p:cNvCxnSpPr>
            <p:nvPr/>
          </p:nvCxnSpPr>
          <p:spPr>
            <a:xfrm>
              <a:off x="7569106" y="1959385"/>
              <a:ext cx="0" cy="3407790"/>
            </a:xfrm>
            <a:prstGeom prst="line">
              <a:avLst/>
            </a:prstGeom>
            <a:ln w="12700"/>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FC42447D-EDAD-BB9C-9424-FA8460D226F1}"/>
                </a:ext>
              </a:extLst>
            </p:cNvPr>
            <p:cNvSpPr txBox="1"/>
            <p:nvPr/>
          </p:nvSpPr>
          <p:spPr>
            <a:xfrm rot="16200000">
              <a:off x="5873078" y="3511726"/>
              <a:ext cx="2841996" cy="375061"/>
            </a:xfrm>
            <a:prstGeom prst="rect">
              <a:avLst/>
            </a:prstGeom>
            <a:noFill/>
            <a:ln>
              <a:noFill/>
            </a:ln>
          </p:spPr>
          <p:txBody>
            <a:bodyPr wrap="square" lIns="0" tIns="0" rIns="0" bIns="0" rtlCol="0" anchor="ctr">
              <a:noAutofit/>
            </a:bodyPr>
            <a:lstStyle/>
            <a:p>
              <a:pPr algn="ctr"/>
              <a:r>
                <a:rPr lang="en-US" sz="1600" dirty="0"/>
                <a:t>Dependent Variable 1</a:t>
              </a:r>
            </a:p>
          </p:txBody>
        </p:sp>
        <p:sp>
          <p:nvSpPr>
            <p:cNvPr id="23" name="TextBox 22">
              <a:extLst>
                <a:ext uri="{FF2B5EF4-FFF2-40B4-BE49-F238E27FC236}">
                  <a16:creationId xmlns:a16="http://schemas.microsoft.com/office/drawing/2014/main" id="{B86BB5C2-FFAE-862C-8752-CBF4800D1A16}"/>
                </a:ext>
              </a:extLst>
            </p:cNvPr>
            <p:cNvSpPr txBox="1"/>
            <p:nvPr/>
          </p:nvSpPr>
          <p:spPr>
            <a:xfrm>
              <a:off x="7562352" y="5432601"/>
              <a:ext cx="3443473" cy="437859"/>
            </a:xfrm>
            <a:prstGeom prst="rect">
              <a:avLst/>
            </a:prstGeom>
            <a:noFill/>
            <a:ln>
              <a:noFill/>
            </a:ln>
          </p:spPr>
          <p:txBody>
            <a:bodyPr wrap="square" lIns="0" tIns="0" rIns="0" bIns="0" rtlCol="0" anchor="ctr">
              <a:noAutofit/>
            </a:bodyPr>
            <a:lstStyle/>
            <a:p>
              <a:pPr algn="ctr"/>
              <a:r>
                <a:rPr lang="en-US" sz="1600" dirty="0"/>
                <a:t>Dependent Variable 2</a:t>
              </a:r>
            </a:p>
          </p:txBody>
        </p:sp>
        <p:cxnSp>
          <p:nvCxnSpPr>
            <p:cNvPr id="25" name="Straight Connector 24">
              <a:extLst>
                <a:ext uri="{FF2B5EF4-FFF2-40B4-BE49-F238E27FC236}">
                  <a16:creationId xmlns:a16="http://schemas.microsoft.com/office/drawing/2014/main" id="{D5B9E152-2132-840E-7D80-38884EF9D5C2}"/>
                </a:ext>
              </a:extLst>
            </p:cNvPr>
            <p:cNvCxnSpPr>
              <a:cxnSpLocks/>
            </p:cNvCxnSpPr>
            <p:nvPr/>
          </p:nvCxnSpPr>
          <p:spPr>
            <a:xfrm flipV="1">
              <a:off x="7575861" y="2077846"/>
              <a:ext cx="3252525" cy="3289329"/>
            </a:xfrm>
            <a:prstGeom prst="line">
              <a:avLst/>
            </a:prstGeom>
            <a:ln w="38100">
              <a:solidFill>
                <a:schemeClr val="accent3"/>
              </a:solidFill>
              <a:miter lim="800000"/>
              <a:headEnd w="med" len="sm"/>
              <a:tailEnd type="arrow" w="med" len="sm"/>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498825A6-E7BA-1981-946E-3BC9D22162E2}"/>
                </a:ext>
              </a:extLst>
            </p:cNvPr>
            <p:cNvCxnSpPr>
              <a:cxnSpLocks/>
            </p:cNvCxnSpPr>
            <p:nvPr/>
          </p:nvCxnSpPr>
          <p:spPr>
            <a:xfrm flipH="1">
              <a:off x="7562352" y="5367175"/>
              <a:ext cx="3443473" cy="0"/>
            </a:xfrm>
            <a:prstGeom prst="line">
              <a:avLst/>
            </a:prstGeom>
            <a:ln w="12700"/>
          </p:spPr>
          <p:style>
            <a:lnRef idx="2">
              <a:schemeClr val="dk1"/>
            </a:lnRef>
            <a:fillRef idx="0">
              <a:schemeClr val="dk1"/>
            </a:fillRef>
            <a:effectRef idx="1">
              <a:schemeClr val="dk1"/>
            </a:effectRef>
            <a:fontRef idx="minor">
              <a:schemeClr val="tx1"/>
            </a:fontRef>
          </p:style>
        </p:cxnSp>
      </p:grpSp>
      <p:sp>
        <p:nvSpPr>
          <p:cNvPr id="5" name="Rectangle 4">
            <a:extLst>
              <a:ext uri="{FF2B5EF4-FFF2-40B4-BE49-F238E27FC236}">
                <a16:creationId xmlns:a16="http://schemas.microsoft.com/office/drawing/2014/main" id="{F2EF7AAA-07CC-C777-F8D3-655027A8DA39}"/>
              </a:ext>
            </a:extLst>
          </p:cNvPr>
          <p:cNvSpPr/>
          <p:nvPr/>
        </p:nvSpPr>
        <p:spPr>
          <a:xfrm rot="5400000">
            <a:off x="9970068" y="-1320824"/>
            <a:ext cx="165028" cy="427883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2022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3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3E84FDF5-30FC-FF0B-981B-E02F7BC19989}"/>
            </a:ext>
          </a:extLst>
        </p:cNvPr>
        <p:cNvGrpSpPr/>
        <p:nvPr/>
      </p:nvGrpSpPr>
      <p:grpSpPr>
        <a:xfrm>
          <a:off x="0" y="0"/>
          <a:ext cx="0" cy="0"/>
          <a:chOff x="0" y="0"/>
          <a:chExt cx="0" cy="0"/>
        </a:xfrm>
      </p:grpSpPr>
      <p:sp>
        <p:nvSpPr>
          <p:cNvPr id="11" name="Right Arrow 10">
            <a:extLst>
              <a:ext uri="{FF2B5EF4-FFF2-40B4-BE49-F238E27FC236}">
                <a16:creationId xmlns:a16="http://schemas.microsoft.com/office/drawing/2014/main" id="{7DE8515C-2F5C-1649-C527-2963197C65E9}"/>
              </a:ext>
            </a:extLst>
          </p:cNvPr>
          <p:cNvSpPr/>
          <p:nvPr/>
        </p:nvSpPr>
        <p:spPr>
          <a:xfrm>
            <a:off x="-3" y="2632180"/>
            <a:ext cx="6417698" cy="1200330"/>
          </a:xfrm>
          <a:prstGeom prst="rightArrow">
            <a:avLst>
              <a:gd name="adj1" fmla="val 45204"/>
              <a:gd name="adj2" fmla="val 76976"/>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C992DE-1C01-7FB7-D526-104CC8D1C9B0}"/>
              </a:ext>
            </a:extLst>
          </p:cNvPr>
          <p:cNvSpPr/>
          <p:nvPr/>
        </p:nvSpPr>
        <p:spPr>
          <a:xfrm>
            <a:off x="6896100" y="1310693"/>
            <a:ext cx="4969327" cy="5198963"/>
          </a:xfrm>
          <a:prstGeom prst="rect">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4603DB65-8C03-74DF-B139-FE4E75F45B26}"/>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7374505" y="2212558"/>
            <a:ext cx="4012517" cy="3909362"/>
          </a:xfrm>
          <a:prstGeom prst="rect">
            <a:avLst/>
          </a:prstGeom>
        </p:spPr>
      </p:pic>
      <p:sp>
        <p:nvSpPr>
          <p:cNvPr id="23" name="TextBox 22">
            <a:extLst>
              <a:ext uri="{FF2B5EF4-FFF2-40B4-BE49-F238E27FC236}">
                <a16:creationId xmlns:a16="http://schemas.microsoft.com/office/drawing/2014/main" id="{72B9B6EB-F8AE-FF45-57C2-1860414C7415}"/>
              </a:ext>
            </a:extLst>
          </p:cNvPr>
          <p:cNvSpPr txBox="1"/>
          <p:nvPr/>
        </p:nvSpPr>
        <p:spPr>
          <a:xfrm>
            <a:off x="6896100" y="1614532"/>
            <a:ext cx="4969327" cy="461665"/>
          </a:xfrm>
          <a:prstGeom prst="rect">
            <a:avLst/>
          </a:prstGeom>
          <a:noFill/>
        </p:spPr>
        <p:txBody>
          <a:bodyPr wrap="square" rtlCol="0">
            <a:spAutoFit/>
          </a:bodyPr>
          <a:lstStyle/>
          <a:p>
            <a:pPr algn="ctr"/>
            <a:r>
              <a:rPr lang="en-US" sz="2400" b="1" dirty="0">
                <a:solidFill>
                  <a:srgbClr val="314749"/>
                </a:solidFill>
              </a:rPr>
              <a:t>Dependent variable 1</a:t>
            </a:r>
          </a:p>
        </p:txBody>
      </p:sp>
      <p:sp>
        <p:nvSpPr>
          <p:cNvPr id="2" name="Rectangle 1">
            <a:extLst>
              <a:ext uri="{FF2B5EF4-FFF2-40B4-BE49-F238E27FC236}">
                <a16:creationId xmlns:a16="http://schemas.microsoft.com/office/drawing/2014/main" id="{23ED9B64-3321-9F75-B9F8-B0642101AA68}"/>
              </a:ext>
            </a:extLst>
          </p:cNvPr>
          <p:cNvSpPr/>
          <p:nvPr/>
        </p:nvSpPr>
        <p:spPr>
          <a:xfrm rot="5400000">
            <a:off x="2374895" y="-1638818"/>
            <a:ext cx="165106" cy="491490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05E90E46-A05A-073A-1E6E-B60D9A838CBE}"/>
              </a:ext>
            </a:extLst>
          </p:cNvPr>
          <p:cNvSpPr>
            <a:spLocks noGrp="1"/>
          </p:cNvSpPr>
          <p:nvPr>
            <p:ph type="title" idx="4294967295"/>
          </p:nvPr>
        </p:nvSpPr>
        <p:spPr>
          <a:xfrm>
            <a:off x="838200" y="166688"/>
            <a:ext cx="10515600" cy="1325562"/>
          </a:xfrm>
        </p:spPr>
        <p:txBody>
          <a:bodyPr/>
          <a:lstStyle/>
          <a:p>
            <a:pPr algn="ctr"/>
            <a:r>
              <a:rPr lang="en-US" dirty="0">
                <a:latin typeface="Elephant" panose="02020904090505020303" pitchFamily="18" charset="0"/>
              </a:rPr>
              <a:t>Results</a:t>
            </a:r>
          </a:p>
        </p:txBody>
      </p:sp>
      <p:sp>
        <p:nvSpPr>
          <p:cNvPr id="5" name="Rectangle 4">
            <a:extLst>
              <a:ext uri="{FF2B5EF4-FFF2-40B4-BE49-F238E27FC236}">
                <a16:creationId xmlns:a16="http://schemas.microsoft.com/office/drawing/2014/main" id="{DF4558FB-2F06-1C63-BFBB-E7C5F368677D}"/>
              </a:ext>
            </a:extLst>
          </p:cNvPr>
          <p:cNvSpPr/>
          <p:nvPr/>
        </p:nvSpPr>
        <p:spPr>
          <a:xfrm rot="5400000">
            <a:off x="9651997" y="-1638818"/>
            <a:ext cx="165104" cy="491490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28739F0-E788-9E38-6225-9EDCF15E6E7B}"/>
              </a:ext>
            </a:extLst>
          </p:cNvPr>
          <p:cNvSpPr/>
          <p:nvPr/>
        </p:nvSpPr>
        <p:spPr>
          <a:xfrm>
            <a:off x="859380" y="1512891"/>
            <a:ext cx="3196136" cy="3143192"/>
          </a:xfrm>
          <a:prstGeom prst="rect">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diagram of treatment groups&#10;&#10;AI-generated content may be incorrect.">
            <a:extLst>
              <a:ext uri="{FF2B5EF4-FFF2-40B4-BE49-F238E27FC236}">
                <a16:creationId xmlns:a16="http://schemas.microsoft.com/office/drawing/2014/main" id="{86EFA64C-E05C-2A4C-3679-D0071A7FE572}"/>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199013" y="2165528"/>
            <a:ext cx="2431807" cy="2349720"/>
          </a:xfrm>
          <a:prstGeom prst="rect">
            <a:avLst/>
          </a:prstGeom>
        </p:spPr>
      </p:pic>
      <p:sp>
        <p:nvSpPr>
          <p:cNvPr id="13" name="Rounded Rectangle 12">
            <a:extLst>
              <a:ext uri="{FF2B5EF4-FFF2-40B4-BE49-F238E27FC236}">
                <a16:creationId xmlns:a16="http://schemas.microsoft.com/office/drawing/2014/main" id="{9238560D-7B17-DBD0-27B1-E264743FC089}"/>
              </a:ext>
            </a:extLst>
          </p:cNvPr>
          <p:cNvSpPr/>
          <p:nvPr/>
        </p:nvSpPr>
        <p:spPr>
          <a:xfrm>
            <a:off x="859380" y="4972440"/>
            <a:ext cx="3196136" cy="469661"/>
          </a:xfrm>
          <a:prstGeom prst="roundRect">
            <a:avLst>
              <a:gd name="adj" fmla="val 5000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US" dirty="0">
                <a:solidFill>
                  <a:srgbClr val="314749"/>
                </a:solidFill>
              </a:rPr>
              <a:t>Significant effect (p = 0.008)</a:t>
            </a:r>
          </a:p>
        </p:txBody>
      </p:sp>
      <p:sp>
        <p:nvSpPr>
          <p:cNvPr id="20" name="TextBox 19">
            <a:extLst>
              <a:ext uri="{FF2B5EF4-FFF2-40B4-BE49-F238E27FC236}">
                <a16:creationId xmlns:a16="http://schemas.microsoft.com/office/drawing/2014/main" id="{E5899BBC-A309-2DAD-EDB6-6F33FA217769}"/>
              </a:ext>
            </a:extLst>
          </p:cNvPr>
          <p:cNvSpPr txBox="1"/>
          <p:nvPr/>
        </p:nvSpPr>
        <p:spPr>
          <a:xfrm>
            <a:off x="859380" y="1658617"/>
            <a:ext cx="3196136" cy="417580"/>
          </a:xfrm>
          <a:prstGeom prst="rect">
            <a:avLst/>
          </a:prstGeom>
          <a:noFill/>
          <a:ln>
            <a:noFill/>
          </a:ln>
        </p:spPr>
        <p:txBody>
          <a:bodyPr wrap="square" lIns="0" tIns="0" rIns="0" bIns="0" rtlCol="0" anchor="ctr">
            <a:noAutofit/>
          </a:bodyPr>
          <a:lstStyle/>
          <a:p>
            <a:pPr algn="ctr"/>
            <a:r>
              <a:rPr lang="en-US" sz="2400" b="1" dirty="0">
                <a:solidFill>
                  <a:srgbClr val="314749"/>
                </a:solidFill>
              </a:rPr>
              <a:t>Prediction</a:t>
            </a:r>
          </a:p>
        </p:txBody>
      </p:sp>
    </p:spTree>
    <p:extLst>
      <p:ext uri="{BB962C8B-B14F-4D97-AF65-F5344CB8AC3E}">
        <p14:creationId xmlns:p14="http://schemas.microsoft.com/office/powerpoint/2010/main" val="780299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3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E0C9BED7-7AC1-37B8-B466-E6C9F7DAB04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2C79801-73D8-03B2-71AB-3AE6D621DD5B}"/>
              </a:ext>
            </a:extLst>
          </p:cNvPr>
          <p:cNvSpPr/>
          <p:nvPr/>
        </p:nvSpPr>
        <p:spPr>
          <a:xfrm rot="5400000">
            <a:off x="2374895" y="-1638819"/>
            <a:ext cx="165104" cy="491490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E7847963-6D71-24AC-7006-536538BB17DA}"/>
              </a:ext>
            </a:extLst>
          </p:cNvPr>
          <p:cNvSpPr>
            <a:spLocks noGrp="1"/>
          </p:cNvSpPr>
          <p:nvPr>
            <p:ph type="title"/>
          </p:nvPr>
        </p:nvSpPr>
        <p:spPr>
          <a:xfrm>
            <a:off x="838200" y="162808"/>
            <a:ext cx="10515600" cy="1325563"/>
          </a:xfrm>
        </p:spPr>
        <p:txBody>
          <a:bodyPr/>
          <a:lstStyle/>
          <a:p>
            <a:pPr algn="ctr"/>
            <a:r>
              <a:rPr lang="en-US" dirty="0">
                <a:latin typeface="Elephant" panose="02020904090505020303" pitchFamily="18" charset="0"/>
              </a:rPr>
              <a:t>Results</a:t>
            </a:r>
          </a:p>
        </p:txBody>
      </p:sp>
      <p:sp>
        <p:nvSpPr>
          <p:cNvPr id="5" name="Rectangle 4">
            <a:extLst>
              <a:ext uri="{FF2B5EF4-FFF2-40B4-BE49-F238E27FC236}">
                <a16:creationId xmlns:a16="http://schemas.microsoft.com/office/drawing/2014/main" id="{A62F3CF4-FD93-8225-8F74-77120EA28275}"/>
              </a:ext>
            </a:extLst>
          </p:cNvPr>
          <p:cNvSpPr/>
          <p:nvPr/>
        </p:nvSpPr>
        <p:spPr>
          <a:xfrm rot="5400000">
            <a:off x="9651997" y="-1638818"/>
            <a:ext cx="165104" cy="491490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B08C1E3C-F75F-9A7B-27B5-B6C5B0C8DD98}"/>
              </a:ext>
            </a:extLst>
          </p:cNvPr>
          <p:cNvSpPr/>
          <p:nvPr/>
        </p:nvSpPr>
        <p:spPr>
          <a:xfrm>
            <a:off x="-3" y="2632180"/>
            <a:ext cx="6417698" cy="1200330"/>
          </a:xfrm>
          <a:prstGeom prst="rightArrow">
            <a:avLst>
              <a:gd name="adj1" fmla="val 45204"/>
              <a:gd name="adj2" fmla="val 76976"/>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DD0E5D9-D909-F8D1-C469-93C7B7AD6631}"/>
              </a:ext>
            </a:extLst>
          </p:cNvPr>
          <p:cNvSpPr/>
          <p:nvPr/>
        </p:nvSpPr>
        <p:spPr>
          <a:xfrm>
            <a:off x="859380" y="1512891"/>
            <a:ext cx="3196136" cy="3143192"/>
          </a:xfrm>
          <a:prstGeom prst="rect">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08CA4DB-6DC4-F5FF-87E4-AC22C3D07298}"/>
              </a:ext>
            </a:extLst>
          </p:cNvPr>
          <p:cNvSpPr txBox="1"/>
          <p:nvPr/>
        </p:nvSpPr>
        <p:spPr>
          <a:xfrm>
            <a:off x="859380" y="1658617"/>
            <a:ext cx="3196136" cy="417580"/>
          </a:xfrm>
          <a:prstGeom prst="rect">
            <a:avLst/>
          </a:prstGeom>
          <a:noFill/>
          <a:ln>
            <a:noFill/>
          </a:ln>
        </p:spPr>
        <p:txBody>
          <a:bodyPr wrap="square" lIns="0" tIns="0" rIns="0" bIns="0" rtlCol="0" anchor="ctr">
            <a:noAutofit/>
          </a:bodyPr>
          <a:lstStyle/>
          <a:p>
            <a:pPr algn="ctr"/>
            <a:r>
              <a:rPr lang="en-US" sz="2400" b="1" dirty="0">
                <a:solidFill>
                  <a:srgbClr val="314749"/>
                </a:solidFill>
              </a:rPr>
              <a:t>Prediction</a:t>
            </a:r>
          </a:p>
        </p:txBody>
      </p:sp>
      <p:pic>
        <p:nvPicPr>
          <p:cNvPr id="6" name="Picture 5">
            <a:extLst>
              <a:ext uri="{FF2B5EF4-FFF2-40B4-BE49-F238E27FC236}">
                <a16:creationId xmlns:a16="http://schemas.microsoft.com/office/drawing/2014/main" id="{07C881B0-5343-169F-15D6-7AC1E4865F32}"/>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15029" y="2100717"/>
            <a:ext cx="2429682" cy="2397341"/>
          </a:xfrm>
          <a:prstGeom prst="rect">
            <a:avLst/>
          </a:prstGeom>
        </p:spPr>
      </p:pic>
      <p:sp>
        <p:nvSpPr>
          <p:cNvPr id="13" name="Rounded Rectangle 12">
            <a:extLst>
              <a:ext uri="{FF2B5EF4-FFF2-40B4-BE49-F238E27FC236}">
                <a16:creationId xmlns:a16="http://schemas.microsoft.com/office/drawing/2014/main" id="{F8E0DAAF-70EF-593A-04ED-8C6C7784E14D}"/>
              </a:ext>
            </a:extLst>
          </p:cNvPr>
          <p:cNvSpPr/>
          <p:nvPr/>
        </p:nvSpPr>
        <p:spPr>
          <a:xfrm>
            <a:off x="859380" y="4972440"/>
            <a:ext cx="3196136" cy="469661"/>
          </a:xfrm>
          <a:prstGeom prst="roundRect">
            <a:avLst>
              <a:gd name="adj" fmla="val 50000"/>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rIns="45720" rtlCol="0" anchor="ctr"/>
          <a:lstStyle/>
          <a:p>
            <a:pPr algn="ctr"/>
            <a:r>
              <a:rPr lang="en-US" dirty="0">
                <a:solidFill>
                  <a:srgbClr val="314749"/>
                </a:solidFill>
              </a:rPr>
              <a:t>No significant correlation</a:t>
            </a:r>
          </a:p>
        </p:txBody>
      </p:sp>
      <p:sp>
        <p:nvSpPr>
          <p:cNvPr id="14" name="Rectangle 13">
            <a:extLst>
              <a:ext uri="{FF2B5EF4-FFF2-40B4-BE49-F238E27FC236}">
                <a16:creationId xmlns:a16="http://schemas.microsoft.com/office/drawing/2014/main" id="{4DB172CB-B5CE-C4F8-14C6-575DADD96BFE}"/>
              </a:ext>
            </a:extLst>
          </p:cNvPr>
          <p:cNvSpPr/>
          <p:nvPr/>
        </p:nvSpPr>
        <p:spPr>
          <a:xfrm>
            <a:off x="6896100" y="1310693"/>
            <a:ext cx="4969327" cy="5198963"/>
          </a:xfrm>
          <a:prstGeom prst="rect">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138A098-012C-175E-9396-446D5586D8AF}"/>
              </a:ext>
            </a:extLst>
          </p:cNvPr>
          <p:cNvSpPr txBox="1"/>
          <p:nvPr/>
        </p:nvSpPr>
        <p:spPr>
          <a:xfrm>
            <a:off x="6896100" y="1614532"/>
            <a:ext cx="4969327" cy="461665"/>
          </a:xfrm>
          <a:prstGeom prst="rect">
            <a:avLst/>
          </a:prstGeom>
          <a:noFill/>
        </p:spPr>
        <p:txBody>
          <a:bodyPr wrap="square" rtlCol="0">
            <a:spAutoFit/>
          </a:bodyPr>
          <a:lstStyle/>
          <a:p>
            <a:pPr algn="ctr"/>
            <a:r>
              <a:rPr lang="en-US" sz="2400" b="1" dirty="0">
                <a:solidFill>
                  <a:srgbClr val="314749"/>
                </a:solidFill>
              </a:rPr>
              <a:t>Dependent variable 1 x 2</a:t>
            </a:r>
          </a:p>
        </p:txBody>
      </p:sp>
      <p:pic>
        <p:nvPicPr>
          <p:cNvPr id="7" name="Picture 6">
            <a:extLst>
              <a:ext uri="{FF2B5EF4-FFF2-40B4-BE49-F238E27FC236}">
                <a16:creationId xmlns:a16="http://schemas.microsoft.com/office/drawing/2014/main" id="{D993C27B-3659-9C17-5A34-EB18FF269390}"/>
              </a:ext>
            </a:extLst>
          </p:cNvPr>
          <p:cNvPicPr>
            <a:picLocks noChangeAspect="1"/>
          </p:cNvPicPr>
          <p:nvPr/>
        </p:nvPicPr>
        <p:blipFill>
          <a:blip r:embed="rId4" cstate="hqprint">
            <a:extLst>
              <a:ext uri="{28A0092B-C50C-407E-A947-70E740481C1C}">
                <a14:useLocalDpi xmlns:a14="http://schemas.microsoft.com/office/drawing/2010/main"/>
              </a:ext>
            </a:extLst>
          </a:blip>
          <a:srcRect l="4273" r="11379" b="5920"/>
          <a:stretch>
            <a:fillRect/>
          </a:stretch>
        </p:blipFill>
        <p:spPr>
          <a:xfrm>
            <a:off x="7348539" y="2333145"/>
            <a:ext cx="4064448" cy="3788775"/>
          </a:xfrm>
          <a:prstGeom prst="rect">
            <a:avLst/>
          </a:prstGeom>
        </p:spPr>
      </p:pic>
    </p:spTree>
    <p:extLst>
      <p:ext uri="{BB962C8B-B14F-4D97-AF65-F5344CB8AC3E}">
        <p14:creationId xmlns:p14="http://schemas.microsoft.com/office/powerpoint/2010/main" val="2866033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39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5BDC7-4A54-193C-4319-B32204BAD19A}"/>
              </a:ext>
            </a:extLst>
          </p:cNvPr>
          <p:cNvSpPr>
            <a:spLocks noGrp="1"/>
          </p:cNvSpPr>
          <p:nvPr>
            <p:ph type="title"/>
          </p:nvPr>
        </p:nvSpPr>
        <p:spPr>
          <a:xfrm>
            <a:off x="838200" y="368016"/>
            <a:ext cx="10515600" cy="920750"/>
          </a:xfrm>
        </p:spPr>
        <p:txBody>
          <a:bodyPr/>
          <a:lstStyle/>
          <a:p>
            <a:pPr algn="ctr"/>
            <a:r>
              <a:rPr lang="en-US" dirty="0">
                <a:latin typeface="Elephant" panose="02020904090505020303" pitchFamily="18" charset="0"/>
              </a:rPr>
              <a:t>Conclusion</a:t>
            </a:r>
          </a:p>
        </p:txBody>
      </p:sp>
      <p:sp>
        <p:nvSpPr>
          <p:cNvPr id="3" name="Content Placeholder 2">
            <a:extLst>
              <a:ext uri="{FF2B5EF4-FFF2-40B4-BE49-F238E27FC236}">
                <a16:creationId xmlns:a16="http://schemas.microsoft.com/office/drawing/2014/main" id="{E3DDB50B-8544-245D-772E-27AF93657436}"/>
              </a:ext>
            </a:extLst>
          </p:cNvPr>
          <p:cNvSpPr>
            <a:spLocks noGrp="1"/>
          </p:cNvSpPr>
          <p:nvPr>
            <p:ph idx="1"/>
          </p:nvPr>
        </p:nvSpPr>
        <p:spPr/>
        <p:txBody>
          <a:bodyPr/>
          <a:lstStyle/>
          <a:p>
            <a:pPr marL="0" indent="0">
              <a:buNone/>
            </a:pPr>
            <a:r>
              <a:rPr lang="en-US" dirty="0"/>
              <a:t>Results from the experiment were </a:t>
            </a:r>
            <a:r>
              <a:rPr lang="en-US" b="1" dirty="0"/>
              <a:t>consistent </a:t>
            </a:r>
            <a:r>
              <a:rPr lang="en-US" dirty="0"/>
              <a:t>with our first prediction, and </a:t>
            </a:r>
            <a:r>
              <a:rPr lang="en-US" b="1" dirty="0"/>
              <a:t>inconsistent </a:t>
            </a:r>
            <a:r>
              <a:rPr lang="en-US" dirty="0"/>
              <a:t>with our second prediction. </a:t>
            </a:r>
          </a:p>
          <a:p>
            <a:pPr marL="0" indent="0">
              <a:buNone/>
            </a:pPr>
            <a:endParaRPr lang="en-US" dirty="0"/>
          </a:p>
          <a:p>
            <a:pPr marL="0" indent="0">
              <a:buNone/>
            </a:pPr>
            <a:r>
              <a:rPr lang="en-US" dirty="0"/>
              <a:t>What does this mean? Here we discuss this. What does it mean about this experiment? What does it mean about the field more broadly? What are the next steps we plan to take?</a:t>
            </a:r>
          </a:p>
          <a:p>
            <a:pPr marL="0" indent="0">
              <a:buNone/>
            </a:pPr>
            <a:endParaRPr lang="en-US" dirty="0"/>
          </a:p>
          <a:p>
            <a:pPr marL="0" indent="0">
              <a:buNone/>
            </a:pPr>
            <a:endParaRPr lang="en-US" dirty="0"/>
          </a:p>
        </p:txBody>
      </p:sp>
      <p:sp>
        <p:nvSpPr>
          <p:cNvPr id="4" name="Rectangle 3">
            <a:extLst>
              <a:ext uri="{FF2B5EF4-FFF2-40B4-BE49-F238E27FC236}">
                <a16:creationId xmlns:a16="http://schemas.microsoft.com/office/drawing/2014/main" id="{514B4BEA-DF99-E49D-810B-1E399E6B6C8E}"/>
              </a:ext>
            </a:extLst>
          </p:cNvPr>
          <p:cNvSpPr/>
          <p:nvPr/>
        </p:nvSpPr>
        <p:spPr>
          <a:xfrm rot="5400000">
            <a:off x="2106393" y="-1370234"/>
            <a:ext cx="168717" cy="438150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4A4EE61-BED4-751D-08C2-34BE74CC20EF}"/>
              </a:ext>
            </a:extLst>
          </p:cNvPr>
          <p:cNvSpPr/>
          <p:nvPr/>
        </p:nvSpPr>
        <p:spPr>
          <a:xfrm rot="5400000">
            <a:off x="9916888" y="-1370232"/>
            <a:ext cx="168719" cy="438150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9256732-886C-DD0B-0603-D395887576FC}"/>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rot="1705762">
            <a:off x="9496540" y="3962593"/>
            <a:ext cx="2342297" cy="3000375"/>
          </a:xfrm>
          <a:prstGeom prst="rect">
            <a:avLst/>
          </a:prstGeom>
        </p:spPr>
      </p:pic>
      <p:pic>
        <p:nvPicPr>
          <p:cNvPr id="10" name="Picture 9">
            <a:extLst>
              <a:ext uri="{FF2B5EF4-FFF2-40B4-BE49-F238E27FC236}">
                <a16:creationId xmlns:a16="http://schemas.microsoft.com/office/drawing/2014/main" id="{6DE16124-77A2-43F0-808A-B39A574FD5E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rot="8889828">
            <a:off x="343500" y="-737372"/>
            <a:ext cx="2333862" cy="2576558"/>
          </a:xfrm>
          <a:prstGeom prst="rect">
            <a:avLst/>
          </a:prstGeom>
        </p:spPr>
      </p:pic>
    </p:spTree>
    <p:extLst>
      <p:ext uri="{BB962C8B-B14F-4D97-AF65-F5344CB8AC3E}">
        <p14:creationId xmlns:p14="http://schemas.microsoft.com/office/powerpoint/2010/main" val="2285482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80560B2-1B37-9274-97CF-913041CDF5CE}"/>
              </a:ext>
            </a:extLst>
          </p:cNvPr>
          <p:cNvSpPr/>
          <p:nvPr/>
        </p:nvSpPr>
        <p:spPr>
          <a:xfrm>
            <a:off x="0" y="0"/>
            <a:ext cx="12192000" cy="6858000"/>
          </a:xfrm>
          <a:prstGeom prst="rect">
            <a:avLst/>
          </a:prstGeom>
          <a:solidFill>
            <a:schemeClr val="accent3">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1BFA678-AEC2-5D08-578F-87150351B03F}"/>
              </a:ext>
            </a:extLst>
          </p:cNvPr>
          <p:cNvSpPr/>
          <p:nvPr/>
        </p:nvSpPr>
        <p:spPr>
          <a:xfrm>
            <a:off x="5946937" y="3468485"/>
            <a:ext cx="3409949" cy="1047750"/>
          </a:xfrm>
          <a:prstGeom prst="ellipse">
            <a:avLst/>
          </a:prstGeom>
          <a:solidFill>
            <a:srgbClr val="406F2F">
              <a:alpha val="32000"/>
            </a:srgbClr>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F7B5F90-5AAB-0F5A-C376-49ECD7A1614C}"/>
              </a:ext>
            </a:extLst>
          </p:cNvPr>
          <p:cNvSpPr/>
          <p:nvPr/>
        </p:nvSpPr>
        <p:spPr>
          <a:xfrm>
            <a:off x="3318767" y="3450627"/>
            <a:ext cx="3409949" cy="1047750"/>
          </a:xfrm>
          <a:prstGeom prst="ellipse">
            <a:avLst/>
          </a:prstGeom>
          <a:solidFill>
            <a:srgbClr val="406F2F">
              <a:alpha val="32000"/>
            </a:srgbClr>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59180D0-47C8-C970-5DE4-95D651797D40}"/>
              </a:ext>
            </a:extLst>
          </p:cNvPr>
          <p:cNvSpPr/>
          <p:nvPr/>
        </p:nvSpPr>
        <p:spPr>
          <a:xfrm>
            <a:off x="4262437" y="2472137"/>
            <a:ext cx="3409949" cy="1047750"/>
          </a:xfrm>
          <a:prstGeom prst="ellipse">
            <a:avLst/>
          </a:prstGeom>
          <a:solidFill>
            <a:srgbClr val="406F2F">
              <a:alpha val="32000"/>
            </a:srgbClr>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90C4242-1BD4-D66F-B56D-79543656FA84}"/>
              </a:ext>
            </a:extLst>
          </p:cNvPr>
          <p:cNvSpPr/>
          <p:nvPr/>
        </p:nvSpPr>
        <p:spPr>
          <a:xfrm>
            <a:off x="2536988" y="2439988"/>
            <a:ext cx="3409949" cy="1047750"/>
          </a:xfrm>
          <a:prstGeom prst="ellipse">
            <a:avLst/>
          </a:prstGeom>
          <a:solidFill>
            <a:srgbClr val="406F2F">
              <a:alpha val="32000"/>
            </a:srgbClr>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F074080-9B38-2366-2D48-C4FB8D7CF2B3}"/>
              </a:ext>
            </a:extLst>
          </p:cNvPr>
          <p:cNvSpPr/>
          <p:nvPr/>
        </p:nvSpPr>
        <p:spPr>
          <a:xfrm>
            <a:off x="1975013" y="1409586"/>
            <a:ext cx="2927025" cy="1047750"/>
          </a:xfrm>
          <a:prstGeom prst="ellipse">
            <a:avLst/>
          </a:prstGeom>
          <a:solidFill>
            <a:srgbClr val="406F2F">
              <a:alpha val="32000"/>
            </a:srgbClr>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367DC5-9639-3DB6-8324-A6A1E2AEA4BA}"/>
              </a:ext>
            </a:extLst>
          </p:cNvPr>
          <p:cNvSpPr>
            <a:spLocks noGrp="1"/>
          </p:cNvSpPr>
          <p:nvPr>
            <p:ph type="title"/>
          </p:nvPr>
        </p:nvSpPr>
        <p:spPr>
          <a:xfrm>
            <a:off x="2997525" y="259558"/>
            <a:ext cx="8612058" cy="1325563"/>
          </a:xfrm>
        </p:spPr>
        <p:txBody>
          <a:bodyPr>
            <a:normAutofit/>
          </a:bodyPr>
          <a:lstStyle/>
          <a:p>
            <a:r>
              <a:rPr lang="en-US" sz="6000" dirty="0">
                <a:solidFill>
                  <a:srgbClr val="F5EEC9"/>
                </a:solidFill>
                <a:latin typeface="Elephant" panose="02020904090505020303" pitchFamily="18" charset="0"/>
              </a:rPr>
              <a:t>Acknowledgements</a:t>
            </a:r>
          </a:p>
        </p:txBody>
      </p:sp>
      <p:sp>
        <p:nvSpPr>
          <p:cNvPr id="3" name="Content Placeholder 2">
            <a:extLst>
              <a:ext uri="{FF2B5EF4-FFF2-40B4-BE49-F238E27FC236}">
                <a16:creationId xmlns:a16="http://schemas.microsoft.com/office/drawing/2014/main" id="{E9104C50-9B0F-1EEC-9A96-1F3AC3E692E7}"/>
              </a:ext>
            </a:extLst>
          </p:cNvPr>
          <p:cNvSpPr>
            <a:spLocks noGrp="1"/>
          </p:cNvSpPr>
          <p:nvPr>
            <p:ph idx="1"/>
          </p:nvPr>
        </p:nvSpPr>
        <p:spPr>
          <a:xfrm>
            <a:off x="2997525" y="1690689"/>
            <a:ext cx="5926618" cy="649224"/>
          </a:xfrm>
        </p:spPr>
        <p:txBody>
          <a:bodyPr>
            <a:normAutofit/>
          </a:bodyPr>
          <a:lstStyle/>
          <a:p>
            <a:pPr marL="0" indent="0">
              <a:buNone/>
            </a:pPr>
            <a:r>
              <a:rPr lang="en-US" sz="3200" dirty="0">
                <a:solidFill>
                  <a:srgbClr val="F5EEC9"/>
                </a:solidFill>
              </a:rPr>
              <a:t>Lab group</a:t>
            </a:r>
          </a:p>
        </p:txBody>
      </p:sp>
      <p:sp>
        <p:nvSpPr>
          <p:cNvPr id="5" name="Content Placeholder 2">
            <a:extLst>
              <a:ext uri="{FF2B5EF4-FFF2-40B4-BE49-F238E27FC236}">
                <a16:creationId xmlns:a16="http://schemas.microsoft.com/office/drawing/2014/main" id="{743404FF-3EEE-0B74-D884-16B4E85478BE}"/>
              </a:ext>
            </a:extLst>
          </p:cNvPr>
          <p:cNvSpPr txBox="1">
            <a:spLocks/>
          </p:cNvSpPr>
          <p:nvPr/>
        </p:nvSpPr>
        <p:spPr>
          <a:xfrm>
            <a:off x="3821437" y="2683273"/>
            <a:ext cx="5926618" cy="6492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dirty="0">
                <a:solidFill>
                  <a:srgbClr val="F5EEC9"/>
                </a:solidFill>
              </a:rPr>
              <a:t>Person who helped</a:t>
            </a:r>
          </a:p>
        </p:txBody>
      </p:sp>
      <p:sp>
        <p:nvSpPr>
          <p:cNvPr id="6" name="Content Placeholder 2">
            <a:extLst>
              <a:ext uri="{FF2B5EF4-FFF2-40B4-BE49-F238E27FC236}">
                <a16:creationId xmlns:a16="http://schemas.microsoft.com/office/drawing/2014/main" id="{420EEAAE-893C-2F3F-2669-F9C14317A076}"/>
              </a:ext>
            </a:extLst>
          </p:cNvPr>
          <p:cNvSpPr txBox="1">
            <a:spLocks/>
          </p:cNvSpPr>
          <p:nvPr/>
        </p:nvSpPr>
        <p:spPr>
          <a:xfrm>
            <a:off x="4645348" y="3675857"/>
            <a:ext cx="6277347" cy="6492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dirty="0">
                <a:solidFill>
                  <a:srgbClr val="F5EEC9"/>
                </a:solidFill>
              </a:rPr>
              <a:t>Additional person who helped</a:t>
            </a:r>
          </a:p>
        </p:txBody>
      </p:sp>
      <p:sp>
        <p:nvSpPr>
          <p:cNvPr id="7" name="Content Placeholder 2">
            <a:extLst>
              <a:ext uri="{FF2B5EF4-FFF2-40B4-BE49-F238E27FC236}">
                <a16:creationId xmlns:a16="http://schemas.microsoft.com/office/drawing/2014/main" id="{5F54AA28-83B2-51D6-76B5-127AC03F4D39}"/>
              </a:ext>
            </a:extLst>
          </p:cNvPr>
          <p:cNvSpPr txBox="1">
            <a:spLocks/>
          </p:cNvSpPr>
          <p:nvPr/>
        </p:nvSpPr>
        <p:spPr>
          <a:xfrm>
            <a:off x="5469261" y="4668441"/>
            <a:ext cx="5926618" cy="6492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dirty="0">
                <a:solidFill>
                  <a:srgbClr val="F5EEC9"/>
                </a:solidFill>
              </a:rPr>
              <a:t>Funding agency</a:t>
            </a:r>
          </a:p>
        </p:txBody>
      </p:sp>
      <p:sp>
        <p:nvSpPr>
          <p:cNvPr id="8" name="Content Placeholder 2">
            <a:extLst>
              <a:ext uri="{FF2B5EF4-FFF2-40B4-BE49-F238E27FC236}">
                <a16:creationId xmlns:a16="http://schemas.microsoft.com/office/drawing/2014/main" id="{3F4487DA-3E55-610D-7A64-B228236FEF11}"/>
              </a:ext>
            </a:extLst>
          </p:cNvPr>
          <p:cNvSpPr txBox="1">
            <a:spLocks/>
          </p:cNvSpPr>
          <p:nvPr/>
        </p:nvSpPr>
        <p:spPr>
          <a:xfrm>
            <a:off x="6293174" y="5661023"/>
            <a:ext cx="5926618" cy="6492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dirty="0">
                <a:solidFill>
                  <a:srgbClr val="F5EEC9"/>
                </a:solidFill>
              </a:rPr>
              <a:t>Grant</a:t>
            </a:r>
          </a:p>
        </p:txBody>
      </p:sp>
    </p:spTree>
    <p:extLst>
      <p:ext uri="{BB962C8B-B14F-4D97-AF65-F5344CB8AC3E}">
        <p14:creationId xmlns:p14="http://schemas.microsoft.com/office/powerpoint/2010/main" val="589515382"/>
      </p:ext>
    </p:extLst>
  </p:cSld>
  <p:clrMapOvr>
    <a:masterClrMapping/>
  </p:clrMapOvr>
</p:sld>
</file>

<file path=ppt/theme/theme1.xml><?xml version="1.0" encoding="utf-8"?>
<a:theme xmlns:a="http://schemas.openxmlformats.org/drawingml/2006/main" name="Office Theme">
  <a:themeElements>
    <a:clrScheme name="Academic Template 1">
      <a:dk1>
        <a:sysClr val="windowText" lastClr="000000"/>
      </a:dk1>
      <a:lt1>
        <a:sysClr val="window" lastClr="FFFFFF"/>
      </a:lt1>
      <a:dk2>
        <a:srgbClr val="3F3F3F"/>
      </a:dk2>
      <a:lt2>
        <a:srgbClr val="FBF8EF"/>
      </a:lt2>
      <a:accent1>
        <a:srgbClr val="7CADB2"/>
      </a:accent1>
      <a:accent2>
        <a:srgbClr val="386641"/>
      </a:accent2>
      <a:accent3>
        <a:srgbClr val="6A994E"/>
      </a:accent3>
      <a:accent4>
        <a:srgbClr val="A7C957"/>
      </a:accent4>
      <a:accent5>
        <a:srgbClr val="F2E8CF"/>
      </a:accent5>
      <a:accent6>
        <a:srgbClr val="BC4749"/>
      </a:accent6>
      <a:hlink>
        <a:srgbClr val="467886"/>
      </a:hlink>
      <a:folHlink>
        <a:srgbClr val="96607D"/>
      </a:folHlink>
    </a:clrScheme>
    <a:fontScheme name="Academic Template 1">
      <a:majorFont>
        <a:latin typeface="Arial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5190</TotalTime>
  <Words>210</Words>
  <Application>Microsoft Macintosh PowerPoint</Application>
  <PresentationFormat>Widescreen</PresentationFormat>
  <Paragraphs>43</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Arial Black</vt:lpstr>
      <vt:lpstr>Elephant</vt:lpstr>
      <vt:lpstr>Office Theme</vt:lpstr>
      <vt:lpstr>PowerPoint Presentation</vt:lpstr>
      <vt:lpstr>The Problem</vt:lpstr>
      <vt:lpstr>Previous Research</vt:lpstr>
      <vt:lpstr>Hypothesis</vt:lpstr>
      <vt:lpstr>Methods</vt:lpstr>
      <vt:lpstr>Predictions</vt:lpstr>
      <vt:lpstr>Results</vt:lpstr>
      <vt:lpstr>Results</vt:lpstr>
      <vt:lpstr>Conclusion</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Clara Howell</dc:creator>
  <cp:lastModifiedBy>Oona Gleeson</cp:lastModifiedBy>
  <cp:revision>19</cp:revision>
  <dcterms:created xsi:type="dcterms:W3CDTF">2025-10-22T03:10:51Z</dcterms:created>
  <dcterms:modified xsi:type="dcterms:W3CDTF">2026-01-29T20:05:16Z</dcterms:modified>
</cp:coreProperties>
</file>