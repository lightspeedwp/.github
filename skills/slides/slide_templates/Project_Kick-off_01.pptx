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7" r:id="rId2"/>
    <p:sldId id="261" r:id="rId3"/>
    <p:sldId id="256" r:id="rId4"/>
    <p:sldId id="267" r:id="rId5"/>
    <p:sldId id="266" r:id="rId6"/>
    <p:sldId id="263" r:id="rId7"/>
    <p:sldId id="260" r:id="rId8"/>
    <p:sldId id="264" r:id="rId9"/>
    <p:sldId id="265" r:id="rId10"/>
    <p:sldId id="268" r:id="rId11"/>
    <p:sldId id="270"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384" userDrawn="1">
          <p15:clr>
            <a:srgbClr val="A4A3A4"/>
          </p15:clr>
        </p15:guide>
        <p15:guide id="3" pos="792" userDrawn="1">
          <p15:clr>
            <a:srgbClr val="A4A3A4"/>
          </p15:clr>
        </p15:guide>
        <p15:guide id="4" pos="984" userDrawn="1">
          <p15:clr>
            <a:srgbClr val="A4A3A4"/>
          </p15:clr>
        </p15:guide>
        <p15:guide id="5" pos="1368" userDrawn="1">
          <p15:clr>
            <a:srgbClr val="A4A3A4"/>
          </p15:clr>
        </p15:guide>
        <p15:guide id="6" pos="1576" userDrawn="1">
          <p15:clr>
            <a:srgbClr val="A4A3A4"/>
          </p15:clr>
        </p15:guide>
        <p15:guide id="7" pos="1968" userDrawn="1">
          <p15:clr>
            <a:srgbClr val="A4A3A4"/>
          </p15:clr>
        </p15:guide>
        <p15:guide id="8" pos="2184" userDrawn="1">
          <p15:clr>
            <a:srgbClr val="A4A3A4"/>
          </p15:clr>
        </p15:guide>
        <p15:guide id="9" pos="2554" userDrawn="1">
          <p15:clr>
            <a:srgbClr val="A4A3A4"/>
          </p15:clr>
        </p15:guide>
        <p15:guide id="10" pos="2760" userDrawn="1">
          <p15:clr>
            <a:srgbClr val="A4A3A4"/>
          </p15:clr>
        </p15:guide>
        <p15:guide id="11" pos="3168" userDrawn="1">
          <p15:clr>
            <a:srgbClr val="A4A3A4"/>
          </p15:clr>
        </p15:guide>
        <p15:guide id="12" pos="3354" userDrawn="1">
          <p15:clr>
            <a:srgbClr val="A4A3A4"/>
          </p15:clr>
        </p15:guide>
        <p15:guide id="13" pos="3744" userDrawn="1">
          <p15:clr>
            <a:srgbClr val="A4A3A4"/>
          </p15:clr>
        </p15:guide>
        <p15:guide id="14" pos="6888" userDrawn="1">
          <p15:clr>
            <a:srgbClr val="A4A3A4"/>
          </p15:clr>
        </p15:guide>
        <p15:guide id="15" pos="4333" userDrawn="1">
          <p15:clr>
            <a:srgbClr val="A4A3A4"/>
          </p15:clr>
        </p15:guide>
        <p15:guide id="16" pos="4536" userDrawn="1">
          <p15:clr>
            <a:srgbClr val="A4A3A4"/>
          </p15:clr>
        </p15:guide>
        <p15:guide id="17" pos="4917" userDrawn="1">
          <p15:clr>
            <a:srgbClr val="A4A3A4"/>
          </p15:clr>
        </p15:guide>
        <p15:guide id="18" pos="5116" userDrawn="1">
          <p15:clr>
            <a:srgbClr val="A4A3A4"/>
          </p15:clr>
        </p15:guide>
        <p15:guide id="19" pos="6099" userDrawn="1">
          <p15:clr>
            <a:srgbClr val="A4A3A4"/>
          </p15:clr>
        </p15:guide>
        <p15:guide id="20" pos="5496" userDrawn="1">
          <p15:clr>
            <a:srgbClr val="A4A3A4"/>
          </p15:clr>
        </p15:guide>
        <p15:guide id="21" pos="6288" userDrawn="1">
          <p15:clr>
            <a:srgbClr val="A4A3A4"/>
          </p15:clr>
        </p15:guide>
        <p15:guide id="22" pos="5688" userDrawn="1">
          <p15:clr>
            <a:srgbClr val="A4A3A4"/>
          </p15:clr>
        </p15:guide>
        <p15:guide id="23" pos="7280" userDrawn="1">
          <p15:clr>
            <a:srgbClr val="A4A3A4"/>
          </p15:clr>
        </p15:guide>
        <p15:guide id="24" pos="6696" userDrawn="1">
          <p15:clr>
            <a:srgbClr val="A4A3A4"/>
          </p15:clr>
        </p15:guide>
        <p15:guide id="25" pos="3940" userDrawn="1">
          <p15:clr>
            <a:srgbClr val="A4A3A4"/>
          </p15:clr>
        </p15:guide>
        <p15:guide id="26" orient="horz" pos="407" userDrawn="1">
          <p15:clr>
            <a:srgbClr val="A4A3A4"/>
          </p15:clr>
        </p15:guide>
        <p15:guide id="27" orient="horz" pos="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FE8"/>
    <a:srgbClr val="191D52"/>
    <a:srgbClr val="D6B4FB"/>
    <a:srgbClr val="283287"/>
    <a:srgbClr val="F0EEEA"/>
    <a:srgbClr val="171A4D"/>
    <a:srgbClr val="FFF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1"/>
    <p:restoredTop sz="94561"/>
  </p:normalViewPr>
  <p:slideViewPr>
    <p:cSldViewPr snapToGrid="0" showGuides="1">
      <p:cViewPr varScale="1">
        <p:scale>
          <a:sx n="137" d="100"/>
          <a:sy n="137" d="100"/>
        </p:scale>
        <p:origin x="752" y="200"/>
      </p:cViewPr>
      <p:guideLst>
        <p:guide orient="horz" pos="3888"/>
        <p:guide pos="384"/>
        <p:guide pos="792"/>
        <p:guide pos="984"/>
        <p:guide pos="1368"/>
        <p:guide pos="1576"/>
        <p:guide pos="1968"/>
        <p:guide pos="2184"/>
        <p:guide pos="2554"/>
        <p:guide pos="2760"/>
        <p:guide pos="3168"/>
        <p:guide pos="3354"/>
        <p:guide pos="3744"/>
        <p:guide pos="6888"/>
        <p:guide pos="4333"/>
        <p:guide pos="4536"/>
        <p:guide pos="4917"/>
        <p:guide pos="5116"/>
        <p:guide pos="6099"/>
        <p:guide pos="5496"/>
        <p:guide pos="6288"/>
        <p:guide pos="5688"/>
        <p:guide pos="7280"/>
        <p:guide pos="6696"/>
        <p:guide pos="3940"/>
        <p:guide orient="horz" pos="407"/>
        <p:guide orient="horz" pos="9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500" b="0" i="0" u="none" strike="noStrike" kern="1200" spc="0" baseline="0">
                <a:solidFill>
                  <a:schemeClr val="tx1">
                    <a:lumMod val="65000"/>
                    <a:lumOff val="35000"/>
                  </a:schemeClr>
                </a:solidFill>
                <a:latin typeface="+mn-lt"/>
                <a:ea typeface="+mn-ea"/>
                <a:cs typeface="+mn-cs"/>
              </a:defRPr>
            </a:pPr>
            <a:r>
              <a:rPr lang="en-US" sz="2500" b="1" i="0" u="none" strike="noStrike" baseline="0" dirty="0">
                <a:solidFill>
                  <a:srgbClr val="283287"/>
                </a:solidFill>
                <a:effectLst/>
                <a:latin typeface="Reddit Sans ExtraBold" pitchFamily="2" charset="77"/>
                <a:ea typeface="Reddit Sans ExtraBold" pitchFamily="2" charset="77"/>
              </a:rPr>
              <a:t>The Pillars of Our Success</a:t>
            </a:r>
            <a:endParaRPr lang="en-US" sz="2500" b="1" i="0" dirty="0">
              <a:solidFill>
                <a:srgbClr val="283287"/>
              </a:solidFill>
              <a:latin typeface="Reddit Sans ExtraBold" pitchFamily="2" charset="77"/>
              <a:ea typeface="Reddit Sans ExtraBold" pitchFamily="2" charset="77"/>
            </a:endParaRPr>
          </a:p>
        </c:rich>
      </c:tx>
      <c:overlay val="0"/>
      <c:spPr>
        <a:noFill/>
        <a:ln>
          <a:noFill/>
        </a:ln>
        <a:effectLst/>
      </c:spPr>
      <c:txPr>
        <a:bodyPr rot="0" spcFirstLastPara="1" vertOverflow="ellipsis" vert="horz" wrap="square" anchor="ctr" anchorCtr="1"/>
        <a:lstStyle/>
        <a:p>
          <a:pPr>
            <a:defRPr sz="2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rgbClr val="D6B4FB"/>
              </a:solidFill>
              <a:ln w="19050">
                <a:noFill/>
              </a:ln>
              <a:effectLst/>
            </c:spPr>
            <c:extLst>
              <c:ext xmlns:c16="http://schemas.microsoft.com/office/drawing/2014/chart" uri="{C3380CC4-5D6E-409C-BE32-E72D297353CC}">
                <c16:uniqueId val="{00000002-E2B9-0D4C-8FE3-41C761ED8126}"/>
              </c:ext>
            </c:extLst>
          </c:dPt>
          <c:dPt>
            <c:idx val="1"/>
            <c:bubble3D val="0"/>
            <c:spPr>
              <a:solidFill>
                <a:srgbClr val="FFFFAF"/>
              </a:solidFill>
              <a:ln w="19050">
                <a:noFill/>
              </a:ln>
              <a:effectLst/>
            </c:spPr>
            <c:extLst>
              <c:ext xmlns:c16="http://schemas.microsoft.com/office/drawing/2014/chart" uri="{C3380CC4-5D6E-409C-BE32-E72D297353CC}">
                <c16:uniqueId val="{00000003-E2B9-0D4C-8FE3-41C761ED8126}"/>
              </c:ext>
            </c:extLst>
          </c:dPt>
          <c:dPt>
            <c:idx val="2"/>
            <c:bubble3D val="0"/>
            <c:spPr>
              <a:solidFill>
                <a:srgbClr val="171A4D"/>
              </a:solidFill>
              <a:ln w="19050">
                <a:noFill/>
              </a:ln>
              <a:effectLst/>
            </c:spPr>
            <c:extLst>
              <c:ext xmlns:c16="http://schemas.microsoft.com/office/drawing/2014/chart" uri="{C3380CC4-5D6E-409C-BE32-E72D297353CC}">
                <c16:uniqueId val="{00000001-E2B9-0D4C-8FE3-41C761ED812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BF0-D445-B044-BB597D44705B}"/>
              </c:ext>
            </c:extLst>
          </c:dPt>
          <c:dLbls>
            <c:dLbl>
              <c:idx val="0"/>
              <c:delete val="1"/>
              <c:extLst>
                <c:ext xmlns:c15="http://schemas.microsoft.com/office/drawing/2012/chart" uri="{CE6537A1-D6FC-4f65-9D91-7224C49458BB}"/>
                <c:ext xmlns:c16="http://schemas.microsoft.com/office/drawing/2014/chart" uri="{C3380CC4-5D6E-409C-BE32-E72D297353CC}">
                  <c16:uniqueId val="{00000002-E2B9-0D4C-8FE3-41C761ED8126}"/>
                </c:ext>
              </c:extLst>
            </c:dLbl>
            <c:dLbl>
              <c:idx val="1"/>
              <c:delete val="1"/>
              <c:extLst>
                <c:ext xmlns:c15="http://schemas.microsoft.com/office/drawing/2012/chart" uri="{CE6537A1-D6FC-4f65-9D91-7224C49458BB}"/>
                <c:ext xmlns:c16="http://schemas.microsoft.com/office/drawing/2014/chart" uri="{C3380CC4-5D6E-409C-BE32-E72D297353CC}">
                  <c16:uniqueId val="{00000003-E2B9-0D4C-8FE3-41C761ED8126}"/>
                </c:ext>
              </c:extLst>
            </c:dLbl>
            <c:dLbl>
              <c:idx val="2"/>
              <c:delete val="1"/>
              <c:extLst>
                <c:ext xmlns:c15="http://schemas.microsoft.com/office/drawing/2012/chart" uri="{CE6537A1-D6FC-4f65-9D91-7224C49458BB}"/>
                <c:ext xmlns:c16="http://schemas.microsoft.com/office/drawing/2014/chart" uri="{C3380CC4-5D6E-409C-BE32-E72D297353CC}">
                  <c16:uniqueId val="{00000001-E2B9-0D4C-8FE3-41C761ED812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3"/>
                <c:pt idx="0">
                  <c:v>Market Growth</c:v>
                </c:pt>
                <c:pt idx="1">
                  <c:v>Brand Impact</c:v>
                </c:pt>
                <c:pt idx="2">
                  <c:v>Product Success</c:v>
                </c:pt>
              </c:strCache>
            </c:strRef>
          </c:cat>
          <c:val>
            <c:numRef>
              <c:f>Sheet1!$B$2:$B$5</c:f>
              <c:numCache>
                <c:formatCode>0%</c:formatCode>
                <c:ptCount val="4"/>
                <c:pt idx="0">
                  <c:v>0.35</c:v>
                </c:pt>
                <c:pt idx="1">
                  <c:v>0.25</c:v>
                </c:pt>
                <c:pt idx="2">
                  <c:v>0.4</c:v>
                </c:pt>
              </c:numCache>
            </c:numRef>
          </c:val>
          <c:extLst>
            <c:ext xmlns:c16="http://schemas.microsoft.com/office/drawing/2014/chart" uri="{C3380CC4-5D6E-409C-BE32-E72D297353CC}">
              <c16:uniqueId val="{00000000-E2B9-0D4C-8FE3-41C761ED8126}"/>
            </c:ext>
          </c:extLst>
        </c:ser>
        <c:dLbls>
          <c:showLegendKey val="0"/>
          <c:showVal val="0"/>
          <c:showCatName val="0"/>
          <c:showSerName val="0"/>
          <c:showPercent val="1"/>
          <c:showBubbleSize val="0"/>
          <c:showLeaderLines val="1"/>
        </c:dLbls>
        <c:firstSliceAng val="0"/>
        <c:holeSize val="70"/>
      </c:doughnut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rtl="0">
            <a:defRPr sz="1197" b="0" i="0" u="none" strike="noStrike" kern="1200" baseline="0">
              <a:solidFill>
                <a:srgbClr val="283287"/>
              </a:solidFill>
              <a:latin typeface="Quicksand"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8C567C-2203-004B-9F19-2D0BE11B1028}"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92A97-7C29-E845-80BD-8E2273611F4A}" type="slidenum">
              <a:rPr lang="en-US" smtClean="0"/>
              <a:t>‹#›</a:t>
            </a:fld>
            <a:endParaRPr lang="en-US"/>
          </a:p>
        </p:txBody>
      </p:sp>
    </p:spTree>
    <p:extLst>
      <p:ext uri="{BB962C8B-B14F-4D97-AF65-F5344CB8AC3E}">
        <p14:creationId xmlns:p14="http://schemas.microsoft.com/office/powerpoint/2010/main" val="2754499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F92A97-7C29-E845-80BD-8E2273611F4A}" type="slidenum">
              <a:rPr lang="en-US" smtClean="0"/>
              <a:t>2</a:t>
            </a:fld>
            <a:endParaRPr lang="en-US"/>
          </a:p>
        </p:txBody>
      </p:sp>
    </p:spTree>
    <p:extLst>
      <p:ext uri="{BB962C8B-B14F-4D97-AF65-F5344CB8AC3E}">
        <p14:creationId xmlns:p14="http://schemas.microsoft.com/office/powerpoint/2010/main" val="1184170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5AF1-E7BF-4258-B7F3-6112E1B7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4A570-205C-6C52-E80C-867497C0F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0F4DA-9C92-87F0-2C7C-ECEE9FB09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05807-A8C1-B95E-613D-266871D354EF}"/>
              </a:ext>
            </a:extLst>
          </p:cNvPr>
          <p:cNvSpPr>
            <a:spLocks noGrp="1"/>
          </p:cNvSpPr>
          <p:nvPr>
            <p:ph type="sldNum" sz="quarter" idx="5"/>
          </p:nvPr>
        </p:nvSpPr>
        <p:spPr/>
        <p:txBody>
          <a:bodyPr/>
          <a:lstStyle/>
          <a:p>
            <a:fld id="{C3F92A97-7C29-E845-80BD-8E2273611F4A}" type="slidenum">
              <a:rPr lang="en-US" smtClean="0"/>
              <a:t>4</a:t>
            </a:fld>
            <a:endParaRPr lang="en-US"/>
          </a:p>
        </p:txBody>
      </p:sp>
    </p:spTree>
    <p:extLst>
      <p:ext uri="{BB962C8B-B14F-4D97-AF65-F5344CB8AC3E}">
        <p14:creationId xmlns:p14="http://schemas.microsoft.com/office/powerpoint/2010/main" val="3051651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49872-05DA-5C58-885B-F78BB96B56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3E8E7-E2DA-51CE-3338-D7A14B474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15745-6257-D10C-AC96-29429BB2E5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AF42E-59B2-C59F-7B84-3F53F9CAA63E}"/>
              </a:ext>
            </a:extLst>
          </p:cNvPr>
          <p:cNvSpPr>
            <a:spLocks noGrp="1"/>
          </p:cNvSpPr>
          <p:nvPr>
            <p:ph type="sldNum" sz="quarter" idx="5"/>
          </p:nvPr>
        </p:nvSpPr>
        <p:spPr/>
        <p:txBody>
          <a:bodyPr/>
          <a:lstStyle/>
          <a:p>
            <a:fld id="{C3F92A97-7C29-E845-80BD-8E2273611F4A}" type="slidenum">
              <a:rPr lang="en-US" smtClean="0"/>
              <a:t>5</a:t>
            </a:fld>
            <a:endParaRPr lang="en-US"/>
          </a:p>
        </p:txBody>
      </p:sp>
    </p:spTree>
    <p:extLst>
      <p:ext uri="{BB962C8B-B14F-4D97-AF65-F5344CB8AC3E}">
        <p14:creationId xmlns:p14="http://schemas.microsoft.com/office/powerpoint/2010/main" val="4198737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B6207-DA60-27A5-B266-78B818351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5A595-42B8-487E-A9D3-EB476F981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5181B-F85B-47DE-E354-873368C69A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82B6C-0180-BA59-CC64-5073715BB8F5}"/>
              </a:ext>
            </a:extLst>
          </p:cNvPr>
          <p:cNvSpPr>
            <a:spLocks noGrp="1"/>
          </p:cNvSpPr>
          <p:nvPr>
            <p:ph type="sldNum" sz="quarter" idx="5"/>
          </p:nvPr>
        </p:nvSpPr>
        <p:spPr/>
        <p:txBody>
          <a:bodyPr/>
          <a:lstStyle/>
          <a:p>
            <a:fld id="{C3F92A97-7C29-E845-80BD-8E2273611F4A}" type="slidenum">
              <a:rPr lang="en-US" smtClean="0"/>
              <a:t>6</a:t>
            </a:fld>
            <a:endParaRPr lang="en-US"/>
          </a:p>
        </p:txBody>
      </p:sp>
    </p:spTree>
    <p:extLst>
      <p:ext uri="{BB962C8B-B14F-4D97-AF65-F5344CB8AC3E}">
        <p14:creationId xmlns:p14="http://schemas.microsoft.com/office/powerpoint/2010/main" val="2463170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BDE3F-20DD-3438-AC54-EF61FAC5E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2DD02-B85E-50E1-5258-2943B1AE8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9EA02-0B79-8F3C-D44D-B4F53E048E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AF3877-E6CC-0654-65AE-42BA34E7F602}"/>
              </a:ext>
            </a:extLst>
          </p:cNvPr>
          <p:cNvSpPr>
            <a:spLocks noGrp="1"/>
          </p:cNvSpPr>
          <p:nvPr>
            <p:ph type="sldNum" sz="quarter" idx="5"/>
          </p:nvPr>
        </p:nvSpPr>
        <p:spPr/>
        <p:txBody>
          <a:bodyPr/>
          <a:lstStyle/>
          <a:p>
            <a:fld id="{C3F92A97-7C29-E845-80BD-8E2273611F4A}" type="slidenum">
              <a:rPr lang="en-US" smtClean="0"/>
              <a:t>7</a:t>
            </a:fld>
            <a:endParaRPr lang="en-US"/>
          </a:p>
        </p:txBody>
      </p:sp>
    </p:spTree>
    <p:extLst>
      <p:ext uri="{BB962C8B-B14F-4D97-AF65-F5344CB8AC3E}">
        <p14:creationId xmlns:p14="http://schemas.microsoft.com/office/powerpoint/2010/main" val="999999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511FC-E94F-5BCE-C7EA-2BD24EF8C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0D397-3272-6C4F-4114-E69F14007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66752-22EB-7988-55FA-1C792D9B3D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54EDC-0499-6C6E-8F0E-93AE7EEC2EC0}"/>
              </a:ext>
            </a:extLst>
          </p:cNvPr>
          <p:cNvSpPr>
            <a:spLocks noGrp="1"/>
          </p:cNvSpPr>
          <p:nvPr>
            <p:ph type="sldNum" sz="quarter" idx="5"/>
          </p:nvPr>
        </p:nvSpPr>
        <p:spPr/>
        <p:txBody>
          <a:bodyPr/>
          <a:lstStyle/>
          <a:p>
            <a:fld id="{C3F92A97-7C29-E845-80BD-8E2273611F4A}" type="slidenum">
              <a:rPr lang="en-US" smtClean="0"/>
              <a:t>8</a:t>
            </a:fld>
            <a:endParaRPr lang="en-US"/>
          </a:p>
        </p:txBody>
      </p:sp>
    </p:spTree>
    <p:extLst>
      <p:ext uri="{BB962C8B-B14F-4D97-AF65-F5344CB8AC3E}">
        <p14:creationId xmlns:p14="http://schemas.microsoft.com/office/powerpoint/2010/main" val="3928705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423B0-1A8E-97CB-56C5-8ABC4A055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BF0A3-74B8-F1F2-187B-556C20234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64508-6308-836E-2A88-A26BE81410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356D6F-5715-549D-4A81-23609FCF5225}"/>
              </a:ext>
            </a:extLst>
          </p:cNvPr>
          <p:cNvSpPr>
            <a:spLocks noGrp="1"/>
          </p:cNvSpPr>
          <p:nvPr>
            <p:ph type="sldNum" sz="quarter" idx="5"/>
          </p:nvPr>
        </p:nvSpPr>
        <p:spPr/>
        <p:txBody>
          <a:bodyPr/>
          <a:lstStyle/>
          <a:p>
            <a:fld id="{C3F92A97-7C29-E845-80BD-8E2273611F4A}" type="slidenum">
              <a:rPr lang="en-US" smtClean="0"/>
              <a:t>9</a:t>
            </a:fld>
            <a:endParaRPr lang="en-US"/>
          </a:p>
        </p:txBody>
      </p:sp>
    </p:spTree>
    <p:extLst>
      <p:ext uri="{BB962C8B-B14F-4D97-AF65-F5344CB8AC3E}">
        <p14:creationId xmlns:p14="http://schemas.microsoft.com/office/powerpoint/2010/main" val="1554913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9CDB-59E1-6989-2E9F-F70A3A257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2143F-E5E8-411F-2949-29259CEE6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30B26-41CA-0A86-9913-72408CC90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AE6E0-27E7-DE9E-83BF-51AF55446B70}"/>
              </a:ext>
            </a:extLst>
          </p:cNvPr>
          <p:cNvSpPr>
            <a:spLocks noGrp="1"/>
          </p:cNvSpPr>
          <p:nvPr>
            <p:ph type="sldNum" sz="quarter" idx="5"/>
          </p:nvPr>
        </p:nvSpPr>
        <p:spPr/>
        <p:txBody>
          <a:bodyPr/>
          <a:lstStyle/>
          <a:p>
            <a:fld id="{C3F92A97-7C29-E845-80BD-8E2273611F4A}" type="slidenum">
              <a:rPr lang="en-US" smtClean="0"/>
              <a:t>10</a:t>
            </a:fld>
            <a:endParaRPr lang="en-US"/>
          </a:p>
        </p:txBody>
      </p:sp>
    </p:spTree>
    <p:extLst>
      <p:ext uri="{BB962C8B-B14F-4D97-AF65-F5344CB8AC3E}">
        <p14:creationId xmlns:p14="http://schemas.microsoft.com/office/powerpoint/2010/main" val="3389661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8C7BA-3AAB-37D2-B048-2C029EBE2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5DE38-1C7F-C80E-F9A3-7F220C1AC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540AD-220B-0A9E-50F4-7CE77491B1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EEF47-9479-F128-8DEB-A8671AA12FE6}"/>
              </a:ext>
            </a:extLst>
          </p:cNvPr>
          <p:cNvSpPr>
            <a:spLocks noGrp="1"/>
          </p:cNvSpPr>
          <p:nvPr>
            <p:ph type="sldNum" sz="quarter" idx="5"/>
          </p:nvPr>
        </p:nvSpPr>
        <p:spPr/>
        <p:txBody>
          <a:bodyPr/>
          <a:lstStyle/>
          <a:p>
            <a:fld id="{C3F92A97-7C29-E845-80BD-8E2273611F4A}" type="slidenum">
              <a:rPr lang="en-US" smtClean="0"/>
              <a:t>11</a:t>
            </a:fld>
            <a:endParaRPr lang="en-US"/>
          </a:p>
        </p:txBody>
      </p:sp>
    </p:spTree>
    <p:extLst>
      <p:ext uri="{BB962C8B-B14F-4D97-AF65-F5344CB8AC3E}">
        <p14:creationId xmlns:p14="http://schemas.microsoft.com/office/powerpoint/2010/main" val="1453604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B4D9-2BCD-7FE9-7E45-C60E6B7FFF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B01526-2EC2-1A69-CF66-E6FDBB9101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BB45F5-8ABD-3A9C-B23C-CA887746CF32}"/>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AA3CC876-EB87-5012-5319-FD9537C5B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A4330-0575-D055-0721-EB316E3B0922}"/>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606213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350D-4B7E-5CE7-47E1-28A7EF8F3E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07FEA3-A2CA-B477-EA26-6AFC12C61A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0E1E24-FC40-7A03-29CD-66C1796FC817}"/>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DEF1052A-29DD-30A3-998C-47EDB8F322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EBA57-A21D-A3C5-8A1F-1FB3AAABE5FB}"/>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6434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10C25-A7B0-6341-B560-C6051BF87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1E2D8D-E3F0-CB2A-303D-263F966613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21284A-10AC-FCE0-1777-60184CB7C4D7}"/>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CFEC261E-A4E6-AC4C-BE8E-58347D803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754CB-B062-CBF7-A68F-EAE63484591C}"/>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63725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E6B6C-510A-DD03-397C-820A50629F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92E9C6-C05D-B338-F6F0-987655DD12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BF9DFB-D35D-F287-005B-448B162075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614842-ECD4-9617-EC49-BF99F7051F0C}"/>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6" name="Footer Placeholder 5">
            <a:extLst>
              <a:ext uri="{FF2B5EF4-FFF2-40B4-BE49-F238E27FC236}">
                <a16:creationId xmlns:a16="http://schemas.microsoft.com/office/drawing/2014/main" id="{1C6D2D91-474D-3A9A-4306-03FDAD89FC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10EC6E-9594-7C52-22E1-9A42AF5D95AA}"/>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33768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4625-EF1F-D4A9-1FB3-D9A4934B58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4D43B3-16F0-A2F6-72F7-C4357DA206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3941FC-AA7C-0E61-3212-9D5C30B510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0915D8-2531-1E2A-048B-1715D81D68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05870E-3D71-CBB7-27F3-FC2891DF0C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338695-9109-A125-5841-936B6E363765}"/>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8" name="Footer Placeholder 7">
            <a:extLst>
              <a:ext uri="{FF2B5EF4-FFF2-40B4-BE49-F238E27FC236}">
                <a16:creationId xmlns:a16="http://schemas.microsoft.com/office/drawing/2014/main" id="{B52DEBCC-9359-A812-8531-00CBBF0FE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BD62C0-D436-E6ED-FA1F-F0865EC58F4B}"/>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370865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1A1D-CE73-8339-80FC-D49E3E3838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843705-86C8-A292-BA03-42154C784AB2}"/>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4" name="Footer Placeholder 3">
            <a:extLst>
              <a:ext uri="{FF2B5EF4-FFF2-40B4-BE49-F238E27FC236}">
                <a16:creationId xmlns:a16="http://schemas.microsoft.com/office/drawing/2014/main" id="{606E786E-DC0C-63D3-84A4-6B66384C5A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7A15BE-1E3F-43AE-8C0F-81244AD52B2D}"/>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2270552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BB3ABF-D608-087D-1DBC-D11DE90E80EA}"/>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3" name="Footer Placeholder 2">
            <a:extLst>
              <a:ext uri="{FF2B5EF4-FFF2-40B4-BE49-F238E27FC236}">
                <a16:creationId xmlns:a16="http://schemas.microsoft.com/office/drawing/2014/main" id="{9D13F616-BC85-66C5-12B5-BB4C4464A1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55138B-3EBF-BB88-2CB4-F2245283AA69}"/>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1786750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28C60-55D5-3ECC-4C04-24477BB92B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42B3AE-EBD1-9A71-82CD-B0BE138F51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06DA92-B5A2-B82D-726F-BD6F5BF3A0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40D3A-8142-C58D-8069-48428B8DB605}"/>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6" name="Footer Placeholder 5">
            <a:extLst>
              <a:ext uri="{FF2B5EF4-FFF2-40B4-BE49-F238E27FC236}">
                <a16:creationId xmlns:a16="http://schemas.microsoft.com/office/drawing/2014/main" id="{B0F45923-106A-E6FB-904E-BBEE8EFD8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1A188-B431-F05E-7AB7-92B0783CD0A6}"/>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4887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35384-DC78-7F0F-E5CC-609068B24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6280EC-31DE-01BA-C377-3B61AE5A0C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5BACB9-BDBE-E13B-6E99-73ABFB1D63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3D9EC4-9C9C-976E-924C-DD556B4D91BC}"/>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6" name="Footer Placeholder 5">
            <a:extLst>
              <a:ext uri="{FF2B5EF4-FFF2-40B4-BE49-F238E27FC236}">
                <a16:creationId xmlns:a16="http://schemas.microsoft.com/office/drawing/2014/main" id="{E0013B90-4A02-D6ED-5164-ACBC90E307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6B4E21-4859-B430-1F53-7BD0DA437EE7}"/>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4133081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6CC3-D812-36F0-949D-2F03205CF7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EEF16-74B2-B117-72E3-39CF0D365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F4008-D824-7081-8209-AA342B830CD7}"/>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6B79CA60-58B8-5CE2-F214-D6EE718AC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D5BF7-9524-19C3-DD2C-1F0F65543A57}"/>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20536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9C11DE-701E-6A6A-C445-B0CE863CCF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6C0014-C9FC-B670-0413-58FB1E37C1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497565-F378-F21A-D4CF-BB5752EDD1AB}"/>
              </a:ext>
            </a:extLst>
          </p:cNvPr>
          <p:cNvSpPr>
            <a:spLocks noGrp="1"/>
          </p:cNvSpPr>
          <p:nvPr>
            <p:ph type="dt" sz="half" idx="10"/>
          </p:nvPr>
        </p:nvSpPr>
        <p:spPr/>
        <p:txBody>
          <a:body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F8FAAC06-1D12-3141-7835-C7D6B5B58B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48F6D-B8CA-4389-C0D4-5E707C5E04B8}"/>
              </a:ext>
            </a:extLst>
          </p:cNvPr>
          <p:cNvSpPr>
            <a:spLocks noGrp="1"/>
          </p:cNvSpPr>
          <p:nvPr>
            <p:ph type="sldNum" sz="quarter" idx="12"/>
          </p:nvPr>
        </p:nvSpPr>
        <p:spPr/>
        <p:txBody>
          <a:bodyPr/>
          <a:lstStyle/>
          <a:p>
            <a:fld id="{A3241AC3-338E-2E4D-9429-D1896A4DC6F6}" type="slidenum">
              <a:rPr lang="en-US" smtClean="0"/>
              <a:t>‹#›</a:t>
            </a:fld>
            <a:endParaRPr lang="en-US"/>
          </a:p>
        </p:txBody>
      </p:sp>
    </p:spTree>
    <p:extLst>
      <p:ext uri="{BB962C8B-B14F-4D97-AF65-F5344CB8AC3E}">
        <p14:creationId xmlns:p14="http://schemas.microsoft.com/office/powerpoint/2010/main" val="3521567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3385C3-C22C-50B0-CA28-9DCAB923A3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7E1BDC-F196-46E8-646A-FDD2B165E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631E6E-B8AA-7464-74BE-236DBD3298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5E2F49-B72C-DC47-984E-813B5F88DD72}" type="datetimeFigureOut">
              <a:rPr lang="en-US" smtClean="0"/>
              <a:t>1/29/26</a:t>
            </a:fld>
            <a:endParaRPr lang="en-US"/>
          </a:p>
        </p:txBody>
      </p:sp>
      <p:sp>
        <p:nvSpPr>
          <p:cNvPr id="5" name="Footer Placeholder 4">
            <a:extLst>
              <a:ext uri="{FF2B5EF4-FFF2-40B4-BE49-F238E27FC236}">
                <a16:creationId xmlns:a16="http://schemas.microsoft.com/office/drawing/2014/main" id="{AE76011A-ED75-FDAA-1BB9-C6497598D3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8728CC-7586-B748-D552-34CA28166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241AC3-338E-2E4D-9429-D1896A4DC6F6}" type="slidenum">
              <a:rPr lang="en-US" smtClean="0"/>
              <a:t>‹#›</a:t>
            </a:fld>
            <a:endParaRPr lang="en-US"/>
          </a:p>
        </p:txBody>
      </p:sp>
    </p:spTree>
    <p:extLst>
      <p:ext uri="{BB962C8B-B14F-4D97-AF65-F5344CB8AC3E}">
        <p14:creationId xmlns:p14="http://schemas.microsoft.com/office/powerpoint/2010/main" val="2451930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855451E2-407A-BFC8-172E-32AF8394F1A1}"/>
            </a:ext>
          </a:extLst>
        </p:cNvPr>
        <p:cNvGrpSpPr/>
        <p:nvPr/>
      </p:nvGrpSpPr>
      <p:grpSpPr>
        <a:xfrm>
          <a:off x="0" y="0"/>
          <a:ext cx="0" cy="0"/>
          <a:chOff x="0" y="0"/>
          <a:chExt cx="0" cy="0"/>
        </a:xfrm>
      </p:grpSpPr>
      <p:pic>
        <p:nvPicPr>
          <p:cNvPr id="21512" name="Picture 8" descr="Generated image">
            <a:extLst>
              <a:ext uri="{FF2B5EF4-FFF2-40B4-BE49-F238E27FC236}">
                <a16:creationId xmlns:a16="http://schemas.microsoft.com/office/drawing/2014/main" id="{D87B1BEE-6EBB-01E7-A4F5-E5877B4556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69" t="17938" r="6146" b="6643"/>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3EE1644-A1A3-7F8F-AFFF-021BE8C1EB68}"/>
              </a:ext>
            </a:extLst>
          </p:cNvPr>
          <p:cNvSpPr txBox="1"/>
          <p:nvPr/>
        </p:nvSpPr>
        <p:spPr>
          <a:xfrm>
            <a:off x="1123749" y="5777295"/>
            <a:ext cx="1239351"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ECLAT</a:t>
            </a:r>
          </a:p>
        </p:txBody>
      </p:sp>
      <p:sp>
        <p:nvSpPr>
          <p:cNvPr id="4" name="TextBox 3">
            <a:extLst>
              <a:ext uri="{FF2B5EF4-FFF2-40B4-BE49-F238E27FC236}">
                <a16:creationId xmlns:a16="http://schemas.microsoft.com/office/drawing/2014/main" id="{19687446-D0E7-F8B5-D713-F428B43949A2}"/>
              </a:ext>
            </a:extLst>
          </p:cNvPr>
          <p:cNvSpPr txBox="1"/>
          <p:nvPr/>
        </p:nvSpPr>
        <p:spPr>
          <a:xfrm>
            <a:off x="538508" y="2457287"/>
            <a:ext cx="8116199" cy="3196388"/>
          </a:xfrm>
          <a:prstGeom prst="rect">
            <a:avLst/>
          </a:prstGeom>
          <a:noFill/>
        </p:spPr>
        <p:txBody>
          <a:bodyPr wrap="square" lIns="0" tIns="0" rIns="0" bIns="0" rtlCol="0">
            <a:spAutoFit/>
          </a:bodyPr>
          <a:lstStyle/>
          <a:p>
            <a:pPr>
              <a:lnSpc>
                <a:spcPts val="12040"/>
              </a:lnSpc>
            </a:pPr>
            <a:r>
              <a:rPr lang="en-US" sz="12000" b="1" dirty="0">
                <a:solidFill>
                  <a:srgbClr val="283287"/>
                </a:solidFill>
                <a:latin typeface="Reddit Sans ExtraBold" pitchFamily="2" charset="77"/>
                <a:ea typeface="Reddit Sans ExtraBold" pitchFamily="2" charset="77"/>
              </a:rPr>
              <a:t>Project</a:t>
            </a:r>
          </a:p>
          <a:p>
            <a:pPr>
              <a:lnSpc>
                <a:spcPts val="12040"/>
              </a:lnSpc>
            </a:pPr>
            <a:r>
              <a:rPr lang="en-US" sz="12000" b="1" dirty="0">
                <a:solidFill>
                  <a:srgbClr val="283287"/>
                </a:solidFill>
                <a:latin typeface="Reddit Sans ExtraBold" pitchFamily="2" charset="77"/>
                <a:ea typeface="Reddit Sans ExtraBold" pitchFamily="2" charset="77"/>
              </a:rPr>
              <a:t>Kick off</a:t>
            </a:r>
          </a:p>
        </p:txBody>
      </p:sp>
      <p:pic>
        <p:nvPicPr>
          <p:cNvPr id="10" name="Picture 9" descr="A yellow heart with black background&#10;&#10;AI-generated content may be incorrect.">
            <a:extLst>
              <a:ext uri="{FF2B5EF4-FFF2-40B4-BE49-F238E27FC236}">
                <a16:creationId xmlns:a16="http://schemas.microsoft.com/office/drawing/2014/main" id="{D6B37A39-D2AB-13B3-6EDE-8590D5575698}"/>
              </a:ext>
            </a:extLst>
          </p:cNvPr>
          <p:cNvPicPr>
            <a:picLocks noChangeAspect="1"/>
          </p:cNvPicPr>
          <p:nvPr/>
        </p:nvPicPr>
        <p:blipFill>
          <a:blip r:embed="rId3"/>
          <a:stretch>
            <a:fillRect/>
          </a:stretch>
        </p:blipFill>
        <p:spPr>
          <a:xfrm rot="16200000">
            <a:off x="614299" y="5748312"/>
            <a:ext cx="437671" cy="387273"/>
          </a:xfrm>
          <a:prstGeom prst="rect">
            <a:avLst/>
          </a:prstGeom>
        </p:spPr>
      </p:pic>
      <p:sp>
        <p:nvSpPr>
          <p:cNvPr id="12" name="TextBox 11">
            <a:extLst>
              <a:ext uri="{FF2B5EF4-FFF2-40B4-BE49-F238E27FC236}">
                <a16:creationId xmlns:a16="http://schemas.microsoft.com/office/drawing/2014/main" id="{DA869BD0-5496-5D31-5CBC-3A48317793EF}"/>
              </a:ext>
            </a:extLst>
          </p:cNvPr>
          <p:cNvSpPr txBox="1"/>
          <p:nvPr/>
        </p:nvSpPr>
        <p:spPr>
          <a:xfrm>
            <a:off x="625475" y="604883"/>
            <a:ext cx="904222" cy="184666"/>
          </a:xfrm>
          <a:prstGeom prst="rect">
            <a:avLst/>
          </a:prstGeom>
          <a:noFill/>
        </p:spPr>
        <p:txBody>
          <a:bodyPr wrap="none" lIns="0" tIns="0" rIns="0" bIns="0" rtlCol="0">
            <a:spAutoFit/>
          </a:bodyPr>
          <a:lstStyle/>
          <a:p>
            <a:r>
              <a:rPr lang="en-US" sz="1200" dirty="0">
                <a:solidFill>
                  <a:srgbClr val="283287"/>
                </a:solidFill>
                <a:latin typeface="Quicksand" pitchFamily="2" charset="77"/>
              </a:rPr>
              <a:t>February 2026</a:t>
            </a:r>
          </a:p>
        </p:txBody>
      </p:sp>
    </p:spTree>
    <p:extLst>
      <p:ext uri="{BB962C8B-B14F-4D97-AF65-F5344CB8AC3E}">
        <p14:creationId xmlns:p14="http://schemas.microsoft.com/office/powerpoint/2010/main" val="91927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302F12DC-CBEE-5FBD-8525-90EAA63936B0}"/>
            </a:ext>
          </a:extLst>
        </p:cNvPr>
        <p:cNvGrpSpPr/>
        <p:nvPr/>
      </p:nvGrpSpPr>
      <p:grpSpPr>
        <a:xfrm>
          <a:off x="0" y="0"/>
          <a:ext cx="0" cy="0"/>
          <a:chOff x="0" y="0"/>
          <a:chExt cx="0" cy="0"/>
        </a:xfrm>
      </p:grpSpPr>
      <p:pic>
        <p:nvPicPr>
          <p:cNvPr id="7" name="Picture 6" descr="A blue heart with black background&#10;&#10;AI-generated content may be incorrect.">
            <a:extLst>
              <a:ext uri="{FF2B5EF4-FFF2-40B4-BE49-F238E27FC236}">
                <a16:creationId xmlns:a16="http://schemas.microsoft.com/office/drawing/2014/main" id="{B2C4C7C5-E61A-8121-F89F-B86DF1EFB838}"/>
              </a:ext>
            </a:extLst>
          </p:cNvPr>
          <p:cNvPicPr>
            <a:picLocks noChangeAspect="1"/>
          </p:cNvPicPr>
          <p:nvPr/>
        </p:nvPicPr>
        <p:blipFill>
          <a:blip r:embed="rId3"/>
          <a:stretch>
            <a:fillRect/>
          </a:stretch>
        </p:blipFill>
        <p:spPr>
          <a:xfrm rot="16200000">
            <a:off x="147121" y="6405825"/>
            <a:ext cx="311700" cy="275807"/>
          </a:xfrm>
          <a:prstGeom prst="rect">
            <a:avLst/>
          </a:prstGeom>
        </p:spPr>
      </p:pic>
      <p:sp>
        <p:nvSpPr>
          <p:cNvPr id="4" name="TextBox 3">
            <a:extLst>
              <a:ext uri="{FF2B5EF4-FFF2-40B4-BE49-F238E27FC236}">
                <a16:creationId xmlns:a16="http://schemas.microsoft.com/office/drawing/2014/main" id="{623CF28D-4E3E-3A24-4839-3016182CFBC6}"/>
              </a:ext>
            </a:extLst>
          </p:cNvPr>
          <p:cNvSpPr txBox="1"/>
          <p:nvPr/>
        </p:nvSpPr>
        <p:spPr>
          <a:xfrm>
            <a:off x="625474" y="1937053"/>
            <a:ext cx="3787905" cy="2983894"/>
          </a:xfrm>
          <a:prstGeom prst="rect">
            <a:avLst/>
          </a:prstGeom>
          <a:noFill/>
        </p:spPr>
        <p:txBody>
          <a:bodyPr wrap="square" lIns="0" tIns="0" rIns="0" bIns="0" rtlCol="0">
            <a:spAutoFit/>
          </a:bodyPr>
          <a:lstStyle/>
          <a:p>
            <a:pPr>
              <a:lnSpc>
                <a:spcPts val="7540"/>
              </a:lnSpc>
            </a:pPr>
            <a:r>
              <a:rPr lang="en-US" sz="7200" b="1" dirty="0">
                <a:solidFill>
                  <a:srgbClr val="283287"/>
                </a:solidFill>
                <a:latin typeface="Reddit Sans ExtraBold" pitchFamily="2" charset="77"/>
                <a:ea typeface="Reddit Sans ExtraBold" pitchFamily="2" charset="77"/>
              </a:rPr>
              <a:t>What </a:t>
            </a:r>
          </a:p>
          <a:p>
            <a:pPr>
              <a:lnSpc>
                <a:spcPts val="7540"/>
              </a:lnSpc>
            </a:pPr>
            <a:r>
              <a:rPr lang="en-US" sz="7200" b="1" dirty="0">
                <a:solidFill>
                  <a:srgbClr val="283287"/>
                </a:solidFill>
                <a:latin typeface="Reddit Sans ExtraBold" pitchFamily="2" charset="77"/>
                <a:ea typeface="Reddit Sans ExtraBold" pitchFamily="2" charset="77"/>
              </a:rPr>
              <a:t>we will</a:t>
            </a:r>
          </a:p>
          <a:p>
            <a:pPr>
              <a:lnSpc>
                <a:spcPts val="7540"/>
              </a:lnSpc>
            </a:pPr>
            <a:r>
              <a:rPr lang="en-US" sz="7200" b="1" dirty="0">
                <a:solidFill>
                  <a:srgbClr val="283287"/>
                </a:solidFill>
                <a:latin typeface="Reddit Sans ExtraBold" pitchFamily="2" charset="77"/>
                <a:ea typeface="Reddit Sans ExtraBold" pitchFamily="2" charset="77"/>
              </a:rPr>
              <a:t>cover</a:t>
            </a:r>
          </a:p>
        </p:txBody>
      </p:sp>
      <p:sp>
        <p:nvSpPr>
          <p:cNvPr id="5" name="TextBox 4">
            <a:extLst>
              <a:ext uri="{FF2B5EF4-FFF2-40B4-BE49-F238E27FC236}">
                <a16:creationId xmlns:a16="http://schemas.microsoft.com/office/drawing/2014/main" id="{1B59359F-5E28-04F6-2870-D47AB37DDC6B}"/>
              </a:ext>
            </a:extLst>
          </p:cNvPr>
          <p:cNvSpPr txBox="1"/>
          <p:nvPr/>
        </p:nvSpPr>
        <p:spPr>
          <a:xfrm>
            <a:off x="7030340" y="1530978"/>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Product philosophy</a:t>
            </a:r>
          </a:p>
        </p:txBody>
      </p:sp>
      <p:sp>
        <p:nvSpPr>
          <p:cNvPr id="8" name="TextBox 7">
            <a:extLst>
              <a:ext uri="{FF2B5EF4-FFF2-40B4-BE49-F238E27FC236}">
                <a16:creationId xmlns:a16="http://schemas.microsoft.com/office/drawing/2014/main" id="{5D6485FA-D963-E30E-23FF-FA9661D9E3C2}"/>
              </a:ext>
            </a:extLst>
          </p:cNvPr>
          <p:cNvSpPr txBox="1"/>
          <p:nvPr/>
        </p:nvSpPr>
        <p:spPr>
          <a:xfrm>
            <a:off x="6284913" y="1646246"/>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02 / </a:t>
            </a:r>
            <a:endParaRPr lang="en-US" sz="1200" dirty="0">
              <a:solidFill>
                <a:srgbClr val="283287"/>
              </a:solidFill>
              <a:latin typeface="Quicksand" pitchFamily="2" charset="77"/>
            </a:endParaRPr>
          </a:p>
        </p:txBody>
      </p:sp>
      <p:sp>
        <p:nvSpPr>
          <p:cNvPr id="14" name="TextBox 13">
            <a:extLst>
              <a:ext uri="{FF2B5EF4-FFF2-40B4-BE49-F238E27FC236}">
                <a16:creationId xmlns:a16="http://schemas.microsoft.com/office/drawing/2014/main" id="{19AACECA-4429-972B-4C95-4C236D658740}"/>
              </a:ext>
            </a:extLst>
          </p:cNvPr>
          <p:cNvSpPr txBox="1"/>
          <p:nvPr/>
        </p:nvSpPr>
        <p:spPr>
          <a:xfrm>
            <a:off x="7030340" y="2188536"/>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Project Objectives</a:t>
            </a:r>
          </a:p>
        </p:txBody>
      </p:sp>
      <p:sp>
        <p:nvSpPr>
          <p:cNvPr id="15" name="TextBox 14">
            <a:extLst>
              <a:ext uri="{FF2B5EF4-FFF2-40B4-BE49-F238E27FC236}">
                <a16:creationId xmlns:a16="http://schemas.microsoft.com/office/drawing/2014/main" id="{3DE19FF6-2909-0D1F-F984-007982722789}"/>
              </a:ext>
            </a:extLst>
          </p:cNvPr>
          <p:cNvSpPr txBox="1"/>
          <p:nvPr/>
        </p:nvSpPr>
        <p:spPr>
          <a:xfrm>
            <a:off x="6284913" y="2303804"/>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03 / </a:t>
            </a:r>
            <a:endParaRPr lang="en-US" sz="1200" dirty="0">
              <a:solidFill>
                <a:srgbClr val="283287"/>
              </a:solidFill>
              <a:latin typeface="Quicksand" pitchFamily="2" charset="77"/>
            </a:endParaRPr>
          </a:p>
        </p:txBody>
      </p:sp>
      <p:sp>
        <p:nvSpPr>
          <p:cNvPr id="23" name="TextBox 22">
            <a:extLst>
              <a:ext uri="{FF2B5EF4-FFF2-40B4-BE49-F238E27FC236}">
                <a16:creationId xmlns:a16="http://schemas.microsoft.com/office/drawing/2014/main" id="{2E27260C-1839-8F89-91B4-93A45CF99DA6}"/>
              </a:ext>
            </a:extLst>
          </p:cNvPr>
          <p:cNvSpPr txBox="1"/>
          <p:nvPr/>
        </p:nvSpPr>
        <p:spPr>
          <a:xfrm>
            <a:off x="7030340" y="2846094"/>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Success Metrics</a:t>
            </a:r>
          </a:p>
        </p:txBody>
      </p:sp>
      <p:sp>
        <p:nvSpPr>
          <p:cNvPr id="24" name="TextBox 23">
            <a:extLst>
              <a:ext uri="{FF2B5EF4-FFF2-40B4-BE49-F238E27FC236}">
                <a16:creationId xmlns:a16="http://schemas.microsoft.com/office/drawing/2014/main" id="{3A8A3D5A-05FF-7322-49DB-090CEA97119F}"/>
              </a:ext>
            </a:extLst>
          </p:cNvPr>
          <p:cNvSpPr txBox="1"/>
          <p:nvPr/>
        </p:nvSpPr>
        <p:spPr>
          <a:xfrm>
            <a:off x="6284913" y="2961362"/>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04/ </a:t>
            </a:r>
            <a:endParaRPr lang="en-US" sz="1200" dirty="0">
              <a:solidFill>
                <a:srgbClr val="283287"/>
              </a:solidFill>
              <a:latin typeface="Quicksand" pitchFamily="2" charset="77"/>
            </a:endParaRPr>
          </a:p>
        </p:txBody>
      </p:sp>
      <p:sp>
        <p:nvSpPr>
          <p:cNvPr id="26" name="TextBox 25">
            <a:extLst>
              <a:ext uri="{FF2B5EF4-FFF2-40B4-BE49-F238E27FC236}">
                <a16:creationId xmlns:a16="http://schemas.microsoft.com/office/drawing/2014/main" id="{8AF2311B-9E00-D677-01E0-111C39B68FCB}"/>
              </a:ext>
            </a:extLst>
          </p:cNvPr>
          <p:cNvSpPr txBox="1"/>
          <p:nvPr/>
        </p:nvSpPr>
        <p:spPr>
          <a:xfrm>
            <a:off x="7043040" y="4161210"/>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Roles &amp; Responsibilities</a:t>
            </a:r>
          </a:p>
        </p:txBody>
      </p:sp>
      <p:sp>
        <p:nvSpPr>
          <p:cNvPr id="27" name="TextBox 26">
            <a:extLst>
              <a:ext uri="{FF2B5EF4-FFF2-40B4-BE49-F238E27FC236}">
                <a16:creationId xmlns:a16="http://schemas.microsoft.com/office/drawing/2014/main" id="{C5204C0C-6F25-FE51-EF49-64B8904490C4}"/>
              </a:ext>
            </a:extLst>
          </p:cNvPr>
          <p:cNvSpPr txBox="1"/>
          <p:nvPr/>
        </p:nvSpPr>
        <p:spPr>
          <a:xfrm>
            <a:off x="6297613" y="4276478"/>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06 / </a:t>
            </a:r>
            <a:endParaRPr lang="en-US" sz="1200" dirty="0">
              <a:solidFill>
                <a:srgbClr val="283287"/>
              </a:solidFill>
              <a:latin typeface="Quicksand" pitchFamily="2" charset="77"/>
            </a:endParaRPr>
          </a:p>
        </p:txBody>
      </p:sp>
      <p:sp>
        <p:nvSpPr>
          <p:cNvPr id="29" name="TextBox 28">
            <a:extLst>
              <a:ext uri="{FF2B5EF4-FFF2-40B4-BE49-F238E27FC236}">
                <a16:creationId xmlns:a16="http://schemas.microsoft.com/office/drawing/2014/main" id="{633D67DB-1CFA-84E4-5AB7-B167D70C73E1}"/>
              </a:ext>
            </a:extLst>
          </p:cNvPr>
          <p:cNvSpPr txBox="1"/>
          <p:nvPr/>
        </p:nvSpPr>
        <p:spPr>
          <a:xfrm>
            <a:off x="7043040" y="4818768"/>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Risk &amp; Mitigation</a:t>
            </a:r>
          </a:p>
        </p:txBody>
      </p:sp>
      <p:sp>
        <p:nvSpPr>
          <p:cNvPr id="30" name="TextBox 29">
            <a:extLst>
              <a:ext uri="{FF2B5EF4-FFF2-40B4-BE49-F238E27FC236}">
                <a16:creationId xmlns:a16="http://schemas.microsoft.com/office/drawing/2014/main" id="{9583C9F8-17F7-7EEE-AE1E-4EEAED8CE7C8}"/>
              </a:ext>
            </a:extLst>
          </p:cNvPr>
          <p:cNvSpPr txBox="1"/>
          <p:nvPr/>
        </p:nvSpPr>
        <p:spPr>
          <a:xfrm>
            <a:off x="6297613" y="4934036"/>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07 / </a:t>
            </a:r>
            <a:endParaRPr lang="en-US" sz="1200" dirty="0">
              <a:solidFill>
                <a:srgbClr val="283287"/>
              </a:solidFill>
              <a:latin typeface="Quicksand" pitchFamily="2" charset="77"/>
            </a:endParaRPr>
          </a:p>
        </p:txBody>
      </p:sp>
      <p:sp>
        <p:nvSpPr>
          <p:cNvPr id="32" name="TextBox 31">
            <a:extLst>
              <a:ext uri="{FF2B5EF4-FFF2-40B4-BE49-F238E27FC236}">
                <a16:creationId xmlns:a16="http://schemas.microsoft.com/office/drawing/2014/main" id="{B2780B4E-3C23-5AE6-1B2B-A782B892A322}"/>
              </a:ext>
            </a:extLst>
          </p:cNvPr>
          <p:cNvSpPr txBox="1"/>
          <p:nvPr/>
        </p:nvSpPr>
        <p:spPr>
          <a:xfrm>
            <a:off x="7043040" y="873420"/>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Executive Summary</a:t>
            </a:r>
          </a:p>
        </p:txBody>
      </p:sp>
      <p:sp>
        <p:nvSpPr>
          <p:cNvPr id="33" name="TextBox 32">
            <a:extLst>
              <a:ext uri="{FF2B5EF4-FFF2-40B4-BE49-F238E27FC236}">
                <a16:creationId xmlns:a16="http://schemas.microsoft.com/office/drawing/2014/main" id="{321C0C74-BB55-DAAE-76A1-0B6311496555}"/>
              </a:ext>
            </a:extLst>
          </p:cNvPr>
          <p:cNvSpPr txBox="1"/>
          <p:nvPr/>
        </p:nvSpPr>
        <p:spPr>
          <a:xfrm>
            <a:off x="6297613" y="988688"/>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01 / </a:t>
            </a:r>
            <a:endParaRPr lang="en-US" sz="1200" dirty="0">
              <a:solidFill>
                <a:srgbClr val="283287"/>
              </a:solidFill>
              <a:latin typeface="Quicksand" pitchFamily="2" charset="77"/>
            </a:endParaRPr>
          </a:p>
        </p:txBody>
      </p:sp>
      <p:sp>
        <p:nvSpPr>
          <p:cNvPr id="36" name="TextBox 35">
            <a:extLst>
              <a:ext uri="{FF2B5EF4-FFF2-40B4-BE49-F238E27FC236}">
                <a16:creationId xmlns:a16="http://schemas.microsoft.com/office/drawing/2014/main" id="{67794516-7AD8-6A7E-57AB-ABC53410ECE0}"/>
              </a:ext>
            </a:extLst>
          </p:cNvPr>
          <p:cNvSpPr txBox="1"/>
          <p:nvPr/>
        </p:nvSpPr>
        <p:spPr>
          <a:xfrm>
            <a:off x="7043040" y="3503652"/>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Project Timeline</a:t>
            </a:r>
          </a:p>
        </p:txBody>
      </p:sp>
      <p:sp>
        <p:nvSpPr>
          <p:cNvPr id="37" name="TextBox 36">
            <a:extLst>
              <a:ext uri="{FF2B5EF4-FFF2-40B4-BE49-F238E27FC236}">
                <a16:creationId xmlns:a16="http://schemas.microsoft.com/office/drawing/2014/main" id="{7BBD74C0-BEED-60FB-7627-080C9FCDA51B}"/>
              </a:ext>
            </a:extLst>
          </p:cNvPr>
          <p:cNvSpPr txBox="1"/>
          <p:nvPr/>
        </p:nvSpPr>
        <p:spPr>
          <a:xfrm>
            <a:off x="6297613" y="3618920"/>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05/ </a:t>
            </a:r>
            <a:endParaRPr lang="en-US" sz="1200" dirty="0">
              <a:solidFill>
                <a:srgbClr val="283287"/>
              </a:solidFill>
              <a:latin typeface="Quicksand" pitchFamily="2" charset="77"/>
            </a:endParaRPr>
          </a:p>
        </p:txBody>
      </p:sp>
      <p:sp>
        <p:nvSpPr>
          <p:cNvPr id="39" name="TextBox 38">
            <a:extLst>
              <a:ext uri="{FF2B5EF4-FFF2-40B4-BE49-F238E27FC236}">
                <a16:creationId xmlns:a16="http://schemas.microsoft.com/office/drawing/2014/main" id="{37D48F97-B7E8-463E-A13B-16B9F32F7343}"/>
              </a:ext>
            </a:extLst>
          </p:cNvPr>
          <p:cNvSpPr txBox="1"/>
          <p:nvPr/>
        </p:nvSpPr>
        <p:spPr>
          <a:xfrm>
            <a:off x="7043040" y="5476329"/>
            <a:ext cx="4179888"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Next Steps</a:t>
            </a:r>
          </a:p>
        </p:txBody>
      </p:sp>
      <p:sp>
        <p:nvSpPr>
          <p:cNvPr id="40" name="TextBox 39">
            <a:extLst>
              <a:ext uri="{FF2B5EF4-FFF2-40B4-BE49-F238E27FC236}">
                <a16:creationId xmlns:a16="http://schemas.microsoft.com/office/drawing/2014/main" id="{D83FDB95-08C3-AF52-9A02-1EE3C0C2AF3B}"/>
              </a:ext>
            </a:extLst>
          </p:cNvPr>
          <p:cNvSpPr txBox="1"/>
          <p:nvPr/>
        </p:nvSpPr>
        <p:spPr>
          <a:xfrm>
            <a:off x="6297613" y="5591597"/>
            <a:ext cx="581025" cy="184666"/>
          </a:xfrm>
          <a:prstGeom prst="rect">
            <a:avLst/>
          </a:prstGeom>
          <a:noFill/>
        </p:spPr>
        <p:txBody>
          <a:bodyPr wrap="square" lIns="0" tIns="0" rIns="0" bIns="0">
            <a:spAutoFit/>
          </a:bodyPr>
          <a:lstStyle/>
          <a:p>
            <a:pPr algn="r"/>
            <a:r>
              <a:rPr lang="en-US" sz="1200" dirty="0">
                <a:solidFill>
                  <a:srgbClr val="283287"/>
                </a:solidFill>
                <a:effectLst/>
                <a:latin typeface="Quicksand" pitchFamily="2" charset="77"/>
                <a:ea typeface="Reddit Sans" pitchFamily="2" charset="77"/>
              </a:rPr>
              <a:t>08 / </a:t>
            </a:r>
            <a:endParaRPr lang="en-US" sz="1200" dirty="0">
              <a:solidFill>
                <a:srgbClr val="283287"/>
              </a:solidFill>
              <a:latin typeface="Quicksand" pitchFamily="2" charset="77"/>
            </a:endParaRPr>
          </a:p>
        </p:txBody>
      </p:sp>
    </p:spTree>
    <p:extLst>
      <p:ext uri="{BB962C8B-B14F-4D97-AF65-F5344CB8AC3E}">
        <p14:creationId xmlns:p14="http://schemas.microsoft.com/office/powerpoint/2010/main" val="489962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0C74B5-91E9-47E0-353E-1CA5D3260BE7}"/>
              </a:ext>
            </a:extLst>
          </p:cNvPr>
          <p:cNvSpPr/>
          <p:nvPr/>
        </p:nvSpPr>
        <p:spPr>
          <a:xfrm>
            <a:off x="0" y="4876800"/>
            <a:ext cx="5242560" cy="1981200"/>
          </a:xfrm>
          <a:prstGeom prst="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71A4D"/>
              </a:solidFill>
            </a:endParaRPr>
          </a:p>
        </p:txBody>
      </p:sp>
      <p:sp>
        <p:nvSpPr>
          <p:cNvPr id="6" name="Rectangle 5">
            <a:extLst>
              <a:ext uri="{FF2B5EF4-FFF2-40B4-BE49-F238E27FC236}">
                <a16:creationId xmlns:a16="http://schemas.microsoft.com/office/drawing/2014/main" id="{5F46AB81-2ACD-7D16-D49F-ADA06E6833FC}"/>
              </a:ext>
            </a:extLst>
          </p:cNvPr>
          <p:cNvSpPr/>
          <p:nvPr/>
        </p:nvSpPr>
        <p:spPr>
          <a:xfrm>
            <a:off x="4054475" y="4876800"/>
            <a:ext cx="8137525" cy="1981200"/>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71A4D"/>
              </a:solidFill>
            </a:endParaRPr>
          </a:p>
        </p:txBody>
      </p:sp>
      <p:sp>
        <p:nvSpPr>
          <p:cNvPr id="8" name="TextBox 7">
            <a:extLst>
              <a:ext uri="{FF2B5EF4-FFF2-40B4-BE49-F238E27FC236}">
                <a16:creationId xmlns:a16="http://schemas.microsoft.com/office/drawing/2014/main" id="{8AC65C37-7BF4-1CE7-D782-DA3D80720E44}"/>
              </a:ext>
            </a:extLst>
          </p:cNvPr>
          <p:cNvSpPr txBox="1"/>
          <p:nvPr/>
        </p:nvSpPr>
        <p:spPr>
          <a:xfrm>
            <a:off x="512064" y="109728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01/ Executive Summary</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7F0BCA14-E401-CE60-8EEC-26248476BC73}"/>
              </a:ext>
            </a:extLst>
          </p:cNvPr>
          <p:cNvSpPr txBox="1"/>
          <p:nvPr/>
        </p:nvSpPr>
        <p:spPr>
          <a:xfrm>
            <a:off x="516064" y="1411105"/>
            <a:ext cx="3729365" cy="1555747"/>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Making the Difference in </a:t>
            </a:r>
            <a:r>
              <a:rPr lang="en-US" sz="3600" b="1" dirty="0" err="1">
                <a:solidFill>
                  <a:srgbClr val="283287"/>
                </a:solidFill>
                <a:latin typeface="Reddit Sans ExtraBold" pitchFamily="2" charset="77"/>
                <a:ea typeface="Reddit Sans ExtraBold" pitchFamily="2" charset="77"/>
              </a:rPr>
              <a:t>Femtech</a:t>
            </a:r>
            <a:endParaRPr lang="en-US" sz="3600" b="1" dirty="0">
              <a:solidFill>
                <a:srgbClr val="283287"/>
              </a:solidFill>
              <a:latin typeface="Reddit Sans ExtraBold" pitchFamily="2" charset="77"/>
              <a:ea typeface="Reddit Sans ExtraBold" pitchFamily="2" charset="77"/>
            </a:endParaRPr>
          </a:p>
        </p:txBody>
      </p:sp>
      <p:sp>
        <p:nvSpPr>
          <p:cNvPr id="17" name="Rectangle 16">
            <a:extLst>
              <a:ext uri="{FF2B5EF4-FFF2-40B4-BE49-F238E27FC236}">
                <a16:creationId xmlns:a16="http://schemas.microsoft.com/office/drawing/2014/main" id="{BDCE0F05-7963-E674-3DD2-774B6F76239E}"/>
              </a:ext>
            </a:extLst>
          </p:cNvPr>
          <p:cNvSpPr/>
          <p:nvPr/>
        </p:nvSpPr>
        <p:spPr>
          <a:xfrm>
            <a:off x="6166092" y="3321934"/>
            <a:ext cx="291047" cy="1554866"/>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45E871-745F-AE32-457D-9DFA6974DC1F}"/>
              </a:ext>
            </a:extLst>
          </p:cNvPr>
          <p:cNvSpPr/>
          <p:nvPr/>
        </p:nvSpPr>
        <p:spPr>
          <a:xfrm>
            <a:off x="4861218" y="3657600"/>
            <a:ext cx="291047" cy="1219200"/>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73AB1C9-2823-870C-A753-A9446DE40118}"/>
              </a:ext>
            </a:extLst>
          </p:cNvPr>
          <p:cNvSpPr/>
          <p:nvPr/>
        </p:nvSpPr>
        <p:spPr>
          <a:xfrm>
            <a:off x="7509786" y="2847372"/>
            <a:ext cx="291047" cy="2177648"/>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B124268-4D5A-8817-E907-277E77B57F13}"/>
              </a:ext>
            </a:extLst>
          </p:cNvPr>
          <p:cNvSpPr/>
          <p:nvPr/>
        </p:nvSpPr>
        <p:spPr>
          <a:xfrm>
            <a:off x="8832501" y="2163908"/>
            <a:ext cx="291047" cy="2723909"/>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944C290-6870-98D3-A18F-B6BA56E5D25E}"/>
              </a:ext>
            </a:extLst>
          </p:cNvPr>
          <p:cNvSpPr/>
          <p:nvPr/>
        </p:nvSpPr>
        <p:spPr>
          <a:xfrm>
            <a:off x="10305876" y="1099717"/>
            <a:ext cx="291047" cy="3777083"/>
          </a:xfrm>
          <a:prstGeom prst="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A0DFF61-55A5-FAF6-BA4C-7E715B68474F}"/>
              </a:ext>
            </a:extLst>
          </p:cNvPr>
          <p:cNvSpPr txBox="1"/>
          <p:nvPr/>
        </p:nvSpPr>
        <p:spPr>
          <a:xfrm>
            <a:off x="5095488" y="3664564"/>
            <a:ext cx="99851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30 MM</a:t>
            </a:r>
          </a:p>
        </p:txBody>
      </p:sp>
      <p:sp>
        <p:nvSpPr>
          <p:cNvPr id="25" name="TextBox 24">
            <a:extLst>
              <a:ext uri="{FF2B5EF4-FFF2-40B4-BE49-F238E27FC236}">
                <a16:creationId xmlns:a16="http://schemas.microsoft.com/office/drawing/2014/main" id="{D14F61DB-F411-2816-49B3-B888B96348F2}"/>
              </a:ext>
            </a:extLst>
          </p:cNvPr>
          <p:cNvSpPr txBox="1"/>
          <p:nvPr/>
        </p:nvSpPr>
        <p:spPr>
          <a:xfrm>
            <a:off x="5095488" y="3949138"/>
            <a:ext cx="1065811" cy="348813"/>
          </a:xfrm>
          <a:prstGeom prst="rect">
            <a:avLst/>
          </a:prstGeom>
          <a:noFill/>
        </p:spPr>
        <p:txBody>
          <a:bodyPr wrap="square">
            <a:spAutoFit/>
          </a:bodyPr>
          <a:lstStyle/>
          <a:p>
            <a:pPr>
              <a:lnSpc>
                <a:spcPts val="980"/>
              </a:lnSpc>
            </a:pPr>
            <a:r>
              <a:rPr lang="en-US" sz="900" b="0" i="0" u="none" strike="noStrike" dirty="0">
                <a:solidFill>
                  <a:srgbClr val="283287"/>
                </a:solidFill>
                <a:effectLst/>
                <a:latin typeface="Quicksand" pitchFamily="2" charset="77"/>
              </a:rPr>
              <a:t>Launch &amp;</a:t>
            </a:r>
          </a:p>
          <a:p>
            <a:pPr>
              <a:lnSpc>
                <a:spcPts val="980"/>
              </a:lnSpc>
            </a:pPr>
            <a:r>
              <a:rPr lang="en-US" sz="900" b="0" i="0" u="none" strike="noStrike" dirty="0">
                <a:solidFill>
                  <a:srgbClr val="283287"/>
                </a:solidFill>
                <a:effectLst/>
                <a:latin typeface="Quicksand" pitchFamily="2" charset="77"/>
              </a:rPr>
              <a:t>Market Entry</a:t>
            </a:r>
            <a:endParaRPr lang="en-US" sz="900" dirty="0">
              <a:solidFill>
                <a:srgbClr val="283287"/>
              </a:solidFill>
              <a:latin typeface="Quicksand" pitchFamily="2" charset="77"/>
            </a:endParaRPr>
          </a:p>
        </p:txBody>
      </p:sp>
      <p:sp>
        <p:nvSpPr>
          <p:cNvPr id="11" name="TextBox 10">
            <a:extLst>
              <a:ext uri="{FF2B5EF4-FFF2-40B4-BE49-F238E27FC236}">
                <a16:creationId xmlns:a16="http://schemas.microsoft.com/office/drawing/2014/main" id="{3EC904BC-FAF7-0F0F-4477-353A3DC8DA61}"/>
              </a:ext>
            </a:extLst>
          </p:cNvPr>
          <p:cNvSpPr txBox="1"/>
          <p:nvPr/>
        </p:nvSpPr>
        <p:spPr>
          <a:xfrm>
            <a:off x="4773887" y="5227766"/>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2025</a:t>
            </a:r>
          </a:p>
        </p:txBody>
      </p:sp>
      <p:sp>
        <p:nvSpPr>
          <p:cNvPr id="27" name="TextBox 26">
            <a:extLst>
              <a:ext uri="{FF2B5EF4-FFF2-40B4-BE49-F238E27FC236}">
                <a16:creationId xmlns:a16="http://schemas.microsoft.com/office/drawing/2014/main" id="{44A916C3-3211-D923-4078-C441541A54CF}"/>
              </a:ext>
            </a:extLst>
          </p:cNvPr>
          <p:cNvSpPr txBox="1"/>
          <p:nvPr/>
        </p:nvSpPr>
        <p:spPr>
          <a:xfrm>
            <a:off x="4768983" y="5575756"/>
            <a:ext cx="1397527" cy="477054"/>
          </a:xfrm>
          <a:prstGeom prst="rect">
            <a:avLst/>
          </a:prstGeom>
          <a:noFill/>
        </p:spPr>
        <p:txBody>
          <a:bodyPr wrap="square">
            <a:spAutoFit/>
          </a:bodyPr>
          <a:lstStyle/>
          <a:p>
            <a:pPr>
              <a:lnSpc>
                <a:spcPts val="980"/>
              </a:lnSpc>
            </a:pPr>
            <a:r>
              <a:rPr lang="en-US" sz="900" dirty="0">
                <a:solidFill>
                  <a:srgbClr val="283287"/>
                </a:solidFill>
                <a:latin typeface="Quicksand" pitchFamily="2" charset="77"/>
              </a:rPr>
              <a:t>build awareness, </a:t>
            </a:r>
          </a:p>
          <a:p>
            <a:pPr>
              <a:lnSpc>
                <a:spcPts val="980"/>
              </a:lnSpc>
            </a:pPr>
            <a:r>
              <a:rPr lang="en-US" sz="900" dirty="0">
                <a:solidFill>
                  <a:srgbClr val="283287"/>
                </a:solidFill>
                <a:latin typeface="Quicksand" pitchFamily="2" charset="77"/>
              </a:rPr>
              <a:t>early adopters, premium positioning</a:t>
            </a:r>
          </a:p>
        </p:txBody>
      </p:sp>
      <p:sp>
        <p:nvSpPr>
          <p:cNvPr id="12" name="TextBox 11">
            <a:extLst>
              <a:ext uri="{FF2B5EF4-FFF2-40B4-BE49-F238E27FC236}">
                <a16:creationId xmlns:a16="http://schemas.microsoft.com/office/drawing/2014/main" id="{854FF3BF-FEF7-4B2C-3A1D-DFF1B0945A91}"/>
              </a:ext>
            </a:extLst>
          </p:cNvPr>
          <p:cNvSpPr txBox="1"/>
          <p:nvPr/>
        </p:nvSpPr>
        <p:spPr>
          <a:xfrm>
            <a:off x="6100272" y="5178237"/>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2026</a:t>
            </a:r>
          </a:p>
        </p:txBody>
      </p:sp>
      <p:sp>
        <p:nvSpPr>
          <p:cNvPr id="29" name="TextBox 28">
            <a:extLst>
              <a:ext uri="{FF2B5EF4-FFF2-40B4-BE49-F238E27FC236}">
                <a16:creationId xmlns:a16="http://schemas.microsoft.com/office/drawing/2014/main" id="{7D8AF394-1AB2-1D68-13A3-4DFD76B66004}"/>
              </a:ext>
            </a:extLst>
          </p:cNvPr>
          <p:cNvSpPr txBox="1"/>
          <p:nvPr/>
        </p:nvSpPr>
        <p:spPr>
          <a:xfrm>
            <a:off x="6094007" y="5509809"/>
            <a:ext cx="1397527" cy="507831"/>
          </a:xfrm>
          <a:prstGeom prst="rect">
            <a:avLst/>
          </a:prstGeom>
          <a:noFill/>
        </p:spPr>
        <p:txBody>
          <a:bodyPr wrap="square">
            <a:spAutoFit/>
          </a:bodyPr>
          <a:lstStyle/>
          <a:p>
            <a:r>
              <a:rPr lang="en-US" sz="900" b="0" i="0" u="none" strike="noStrike" dirty="0">
                <a:solidFill>
                  <a:srgbClr val="283287"/>
                </a:solidFill>
                <a:effectLst/>
                <a:latin typeface="Quicksand" pitchFamily="2" charset="77"/>
              </a:rPr>
              <a:t>tech upgrades, customer loyalty, expansion begins.</a:t>
            </a:r>
            <a:endParaRPr lang="en-US" sz="900" dirty="0">
              <a:solidFill>
                <a:srgbClr val="283287"/>
              </a:solidFill>
              <a:latin typeface="Quicksand" pitchFamily="2" charset="77"/>
            </a:endParaRPr>
          </a:p>
        </p:txBody>
      </p:sp>
      <p:sp>
        <p:nvSpPr>
          <p:cNvPr id="13" name="TextBox 12">
            <a:extLst>
              <a:ext uri="{FF2B5EF4-FFF2-40B4-BE49-F238E27FC236}">
                <a16:creationId xmlns:a16="http://schemas.microsoft.com/office/drawing/2014/main" id="{81E2D84A-3D69-21EB-B130-2E8D4F06510E}"/>
              </a:ext>
            </a:extLst>
          </p:cNvPr>
          <p:cNvSpPr txBox="1"/>
          <p:nvPr/>
        </p:nvSpPr>
        <p:spPr>
          <a:xfrm>
            <a:off x="7420544" y="5173845"/>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2027</a:t>
            </a:r>
          </a:p>
        </p:txBody>
      </p:sp>
      <p:sp>
        <p:nvSpPr>
          <p:cNvPr id="30" name="TextBox 29">
            <a:extLst>
              <a:ext uri="{FF2B5EF4-FFF2-40B4-BE49-F238E27FC236}">
                <a16:creationId xmlns:a16="http://schemas.microsoft.com/office/drawing/2014/main" id="{91B37138-77C7-E5E6-FF4C-66A55A26105F}"/>
              </a:ext>
            </a:extLst>
          </p:cNvPr>
          <p:cNvSpPr txBox="1"/>
          <p:nvPr/>
        </p:nvSpPr>
        <p:spPr>
          <a:xfrm>
            <a:off x="7419031" y="5491058"/>
            <a:ext cx="1397527" cy="507831"/>
          </a:xfrm>
          <a:prstGeom prst="rect">
            <a:avLst/>
          </a:prstGeom>
          <a:noFill/>
        </p:spPr>
        <p:txBody>
          <a:bodyPr wrap="square">
            <a:spAutoFit/>
          </a:bodyPr>
          <a:lstStyle/>
          <a:p>
            <a:r>
              <a:rPr lang="en-US" sz="900" dirty="0">
                <a:solidFill>
                  <a:srgbClr val="283287"/>
                </a:solidFill>
                <a:latin typeface="Quicksand" pitchFamily="2" charset="77"/>
              </a:rPr>
              <a:t>strong sales, </a:t>
            </a:r>
          </a:p>
          <a:p>
            <a:r>
              <a:rPr lang="en-US" sz="900" dirty="0">
                <a:solidFill>
                  <a:srgbClr val="283287"/>
                </a:solidFill>
                <a:latin typeface="Quicksand" pitchFamily="2" charset="77"/>
              </a:rPr>
              <a:t>brand recognition, retail presence.</a:t>
            </a:r>
          </a:p>
        </p:txBody>
      </p:sp>
      <p:sp>
        <p:nvSpPr>
          <p:cNvPr id="14" name="TextBox 13">
            <a:extLst>
              <a:ext uri="{FF2B5EF4-FFF2-40B4-BE49-F238E27FC236}">
                <a16:creationId xmlns:a16="http://schemas.microsoft.com/office/drawing/2014/main" id="{541BF64C-A8F3-6F02-3CC0-AB8D1BF5FA8F}"/>
              </a:ext>
            </a:extLst>
          </p:cNvPr>
          <p:cNvSpPr txBox="1"/>
          <p:nvPr/>
        </p:nvSpPr>
        <p:spPr>
          <a:xfrm>
            <a:off x="8755445" y="5173845"/>
            <a:ext cx="911444"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2028</a:t>
            </a:r>
          </a:p>
        </p:txBody>
      </p:sp>
      <p:sp>
        <p:nvSpPr>
          <p:cNvPr id="31" name="TextBox 30">
            <a:extLst>
              <a:ext uri="{FF2B5EF4-FFF2-40B4-BE49-F238E27FC236}">
                <a16:creationId xmlns:a16="http://schemas.microsoft.com/office/drawing/2014/main" id="{F5F69DB9-6791-CD12-6675-7CA9D84E5E7D}"/>
              </a:ext>
            </a:extLst>
          </p:cNvPr>
          <p:cNvSpPr txBox="1"/>
          <p:nvPr/>
        </p:nvSpPr>
        <p:spPr>
          <a:xfrm>
            <a:off x="8744055" y="5491057"/>
            <a:ext cx="1558869" cy="507831"/>
          </a:xfrm>
          <a:prstGeom prst="rect">
            <a:avLst/>
          </a:prstGeom>
          <a:noFill/>
        </p:spPr>
        <p:txBody>
          <a:bodyPr wrap="square">
            <a:spAutoFit/>
          </a:bodyPr>
          <a:lstStyle/>
          <a:p>
            <a:r>
              <a:rPr lang="en-US" sz="900" dirty="0">
                <a:solidFill>
                  <a:srgbClr val="283287"/>
                </a:solidFill>
                <a:latin typeface="Quicksand" pitchFamily="2" charset="77"/>
              </a:rPr>
              <a:t>new editions, </a:t>
            </a:r>
          </a:p>
          <a:p>
            <a:r>
              <a:rPr lang="en-US" sz="900" dirty="0">
                <a:solidFill>
                  <a:srgbClr val="283287"/>
                </a:solidFill>
                <a:latin typeface="Quicksand" pitchFamily="2" charset="77"/>
              </a:rPr>
              <a:t>new partnerships, international expansion</a:t>
            </a:r>
          </a:p>
        </p:txBody>
      </p:sp>
      <p:sp>
        <p:nvSpPr>
          <p:cNvPr id="15" name="TextBox 14">
            <a:extLst>
              <a:ext uri="{FF2B5EF4-FFF2-40B4-BE49-F238E27FC236}">
                <a16:creationId xmlns:a16="http://schemas.microsoft.com/office/drawing/2014/main" id="{A9512DFD-4818-30EE-11A5-02E13E7D827F}"/>
              </a:ext>
            </a:extLst>
          </p:cNvPr>
          <p:cNvSpPr txBox="1"/>
          <p:nvPr/>
        </p:nvSpPr>
        <p:spPr>
          <a:xfrm>
            <a:off x="10233875" y="5173845"/>
            <a:ext cx="911444"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2029</a:t>
            </a:r>
          </a:p>
        </p:txBody>
      </p:sp>
      <p:sp>
        <p:nvSpPr>
          <p:cNvPr id="32" name="TextBox 31">
            <a:extLst>
              <a:ext uri="{FF2B5EF4-FFF2-40B4-BE49-F238E27FC236}">
                <a16:creationId xmlns:a16="http://schemas.microsoft.com/office/drawing/2014/main" id="{8553C21C-9E0B-D25B-6D11-8B688147767D}"/>
              </a:ext>
            </a:extLst>
          </p:cNvPr>
          <p:cNvSpPr txBox="1"/>
          <p:nvPr/>
        </p:nvSpPr>
        <p:spPr>
          <a:xfrm>
            <a:off x="10230421" y="5491057"/>
            <a:ext cx="1558869" cy="507831"/>
          </a:xfrm>
          <a:prstGeom prst="rect">
            <a:avLst/>
          </a:prstGeom>
          <a:noFill/>
        </p:spPr>
        <p:txBody>
          <a:bodyPr wrap="square">
            <a:spAutoFit/>
          </a:bodyPr>
          <a:lstStyle/>
          <a:p>
            <a:r>
              <a:rPr lang="en-US" sz="900" dirty="0">
                <a:solidFill>
                  <a:srgbClr val="283287"/>
                </a:solidFill>
                <a:latin typeface="Quicksand" pitchFamily="2" charset="77"/>
              </a:rPr>
              <a:t>global footprint, </a:t>
            </a:r>
          </a:p>
          <a:p>
            <a:r>
              <a:rPr lang="en-US" sz="900" dirty="0">
                <a:solidFill>
                  <a:srgbClr val="283287"/>
                </a:solidFill>
                <a:latin typeface="Quicksand" pitchFamily="2" charset="77"/>
              </a:rPr>
              <a:t>lifestyle ecosystem, sustained growth.</a:t>
            </a:r>
          </a:p>
        </p:txBody>
      </p:sp>
      <p:sp>
        <p:nvSpPr>
          <p:cNvPr id="41" name="TextBox 40">
            <a:extLst>
              <a:ext uri="{FF2B5EF4-FFF2-40B4-BE49-F238E27FC236}">
                <a16:creationId xmlns:a16="http://schemas.microsoft.com/office/drawing/2014/main" id="{A51AD4C4-796E-FBC6-C5EF-A6496327A4D6}"/>
              </a:ext>
            </a:extLst>
          </p:cNvPr>
          <p:cNvSpPr txBox="1"/>
          <p:nvPr/>
        </p:nvSpPr>
        <p:spPr>
          <a:xfrm>
            <a:off x="6420512" y="3275459"/>
            <a:ext cx="99851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55 MM</a:t>
            </a:r>
          </a:p>
        </p:txBody>
      </p:sp>
      <p:sp>
        <p:nvSpPr>
          <p:cNvPr id="42" name="TextBox 41">
            <a:extLst>
              <a:ext uri="{FF2B5EF4-FFF2-40B4-BE49-F238E27FC236}">
                <a16:creationId xmlns:a16="http://schemas.microsoft.com/office/drawing/2014/main" id="{95833A0F-6327-8BAE-B8C2-62020CFD3F50}"/>
              </a:ext>
            </a:extLst>
          </p:cNvPr>
          <p:cNvSpPr txBox="1"/>
          <p:nvPr/>
        </p:nvSpPr>
        <p:spPr>
          <a:xfrm>
            <a:off x="6420512" y="3560033"/>
            <a:ext cx="1121108" cy="477054"/>
          </a:xfrm>
          <a:prstGeom prst="rect">
            <a:avLst/>
          </a:prstGeom>
          <a:noFill/>
        </p:spPr>
        <p:txBody>
          <a:bodyPr wrap="square">
            <a:spAutoFit/>
          </a:bodyPr>
          <a:lstStyle/>
          <a:p>
            <a:pPr>
              <a:lnSpc>
                <a:spcPts val="980"/>
              </a:lnSpc>
            </a:pPr>
            <a:r>
              <a:rPr lang="en-US" sz="900" dirty="0">
                <a:solidFill>
                  <a:srgbClr val="283287"/>
                </a:solidFill>
                <a:latin typeface="Quicksand" pitchFamily="2" charset="77"/>
              </a:rPr>
              <a:t>Expansion &amp; </a:t>
            </a:r>
          </a:p>
          <a:p>
            <a:pPr>
              <a:lnSpc>
                <a:spcPts val="980"/>
              </a:lnSpc>
            </a:pPr>
            <a:r>
              <a:rPr lang="en-US" sz="900" dirty="0">
                <a:solidFill>
                  <a:srgbClr val="283287"/>
                </a:solidFill>
                <a:latin typeface="Quicksand" pitchFamily="2" charset="77"/>
              </a:rPr>
              <a:t>Product </a:t>
            </a:r>
          </a:p>
          <a:p>
            <a:pPr>
              <a:lnSpc>
                <a:spcPts val="980"/>
              </a:lnSpc>
            </a:pPr>
            <a:r>
              <a:rPr lang="en-US" sz="900" dirty="0">
                <a:solidFill>
                  <a:srgbClr val="283287"/>
                </a:solidFill>
                <a:latin typeface="Quicksand" pitchFamily="2" charset="77"/>
              </a:rPr>
              <a:t>Refinement</a:t>
            </a:r>
            <a:endParaRPr lang="en-US" sz="900" b="0" i="0" u="none" strike="noStrike" dirty="0">
              <a:solidFill>
                <a:srgbClr val="283287"/>
              </a:solidFill>
              <a:effectLst/>
              <a:latin typeface="Quicksand" pitchFamily="2" charset="77"/>
            </a:endParaRPr>
          </a:p>
        </p:txBody>
      </p:sp>
      <p:sp>
        <p:nvSpPr>
          <p:cNvPr id="43" name="TextBox 42">
            <a:extLst>
              <a:ext uri="{FF2B5EF4-FFF2-40B4-BE49-F238E27FC236}">
                <a16:creationId xmlns:a16="http://schemas.microsoft.com/office/drawing/2014/main" id="{EA1593BC-8F4F-C185-5A7A-B8F5BB7DE927}"/>
              </a:ext>
            </a:extLst>
          </p:cNvPr>
          <p:cNvSpPr txBox="1"/>
          <p:nvPr/>
        </p:nvSpPr>
        <p:spPr>
          <a:xfrm>
            <a:off x="7756926" y="2788970"/>
            <a:ext cx="99851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85 MM</a:t>
            </a:r>
          </a:p>
        </p:txBody>
      </p:sp>
      <p:sp>
        <p:nvSpPr>
          <p:cNvPr id="44" name="TextBox 43">
            <a:extLst>
              <a:ext uri="{FF2B5EF4-FFF2-40B4-BE49-F238E27FC236}">
                <a16:creationId xmlns:a16="http://schemas.microsoft.com/office/drawing/2014/main" id="{6CBB44B0-D854-3C4B-9138-CB7783A9C749}"/>
              </a:ext>
            </a:extLst>
          </p:cNvPr>
          <p:cNvSpPr txBox="1"/>
          <p:nvPr/>
        </p:nvSpPr>
        <p:spPr>
          <a:xfrm>
            <a:off x="7756926" y="3073544"/>
            <a:ext cx="1096554" cy="477054"/>
          </a:xfrm>
          <a:prstGeom prst="rect">
            <a:avLst/>
          </a:prstGeom>
          <a:noFill/>
        </p:spPr>
        <p:txBody>
          <a:bodyPr wrap="square">
            <a:spAutoFit/>
          </a:bodyPr>
          <a:lstStyle/>
          <a:p>
            <a:pPr>
              <a:lnSpc>
                <a:spcPts val="980"/>
              </a:lnSpc>
            </a:pPr>
            <a:r>
              <a:rPr lang="en-US" sz="900" dirty="0">
                <a:solidFill>
                  <a:srgbClr val="283287"/>
                </a:solidFill>
                <a:latin typeface="Quicksand" pitchFamily="2" charset="77"/>
              </a:rPr>
              <a:t>Brand </a:t>
            </a:r>
          </a:p>
          <a:p>
            <a:pPr>
              <a:lnSpc>
                <a:spcPts val="980"/>
              </a:lnSpc>
            </a:pPr>
            <a:r>
              <a:rPr lang="en-US" sz="900" dirty="0">
                <a:solidFill>
                  <a:srgbClr val="283287"/>
                </a:solidFill>
                <a:latin typeface="Quicksand" pitchFamily="2" charset="77"/>
              </a:rPr>
              <a:t>Recognition &amp; </a:t>
            </a:r>
          </a:p>
          <a:p>
            <a:pPr>
              <a:lnSpc>
                <a:spcPts val="980"/>
              </a:lnSpc>
            </a:pPr>
            <a:r>
              <a:rPr lang="en-US" sz="900" dirty="0">
                <a:solidFill>
                  <a:srgbClr val="283287"/>
                </a:solidFill>
                <a:latin typeface="Quicksand" pitchFamily="2" charset="77"/>
              </a:rPr>
              <a:t>Market Growth</a:t>
            </a:r>
          </a:p>
        </p:txBody>
      </p:sp>
      <p:sp>
        <p:nvSpPr>
          <p:cNvPr id="45" name="TextBox 44">
            <a:extLst>
              <a:ext uri="{FF2B5EF4-FFF2-40B4-BE49-F238E27FC236}">
                <a16:creationId xmlns:a16="http://schemas.microsoft.com/office/drawing/2014/main" id="{58CB75E4-A9A0-6659-634D-2DC11504EE6B}"/>
              </a:ext>
            </a:extLst>
          </p:cNvPr>
          <p:cNvSpPr txBox="1"/>
          <p:nvPr/>
        </p:nvSpPr>
        <p:spPr>
          <a:xfrm>
            <a:off x="9058637" y="2111168"/>
            <a:ext cx="99851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120 MM</a:t>
            </a:r>
          </a:p>
        </p:txBody>
      </p:sp>
      <p:sp>
        <p:nvSpPr>
          <p:cNvPr id="46" name="TextBox 45">
            <a:extLst>
              <a:ext uri="{FF2B5EF4-FFF2-40B4-BE49-F238E27FC236}">
                <a16:creationId xmlns:a16="http://schemas.microsoft.com/office/drawing/2014/main" id="{984B8243-3B1A-09BC-A993-AE3234649661}"/>
              </a:ext>
            </a:extLst>
          </p:cNvPr>
          <p:cNvSpPr txBox="1"/>
          <p:nvPr/>
        </p:nvSpPr>
        <p:spPr>
          <a:xfrm>
            <a:off x="9058637" y="2395742"/>
            <a:ext cx="1244287" cy="477054"/>
          </a:xfrm>
          <a:prstGeom prst="rect">
            <a:avLst/>
          </a:prstGeom>
          <a:noFill/>
        </p:spPr>
        <p:txBody>
          <a:bodyPr wrap="square">
            <a:spAutoFit/>
          </a:bodyPr>
          <a:lstStyle/>
          <a:p>
            <a:pPr>
              <a:lnSpc>
                <a:spcPts val="980"/>
              </a:lnSpc>
            </a:pPr>
            <a:r>
              <a:rPr lang="en-US" sz="900" dirty="0">
                <a:solidFill>
                  <a:srgbClr val="283287"/>
                </a:solidFill>
                <a:latin typeface="Quicksand" pitchFamily="2" charset="77"/>
              </a:rPr>
              <a:t>Diversification &amp; </a:t>
            </a:r>
          </a:p>
          <a:p>
            <a:pPr>
              <a:lnSpc>
                <a:spcPts val="980"/>
              </a:lnSpc>
            </a:pPr>
            <a:r>
              <a:rPr lang="en-US" sz="900" dirty="0">
                <a:solidFill>
                  <a:srgbClr val="283287"/>
                </a:solidFill>
                <a:latin typeface="Quicksand" pitchFamily="2" charset="77"/>
              </a:rPr>
              <a:t>Strategic </a:t>
            </a:r>
          </a:p>
          <a:p>
            <a:pPr>
              <a:lnSpc>
                <a:spcPts val="980"/>
              </a:lnSpc>
            </a:pPr>
            <a:r>
              <a:rPr lang="en-US" sz="900" dirty="0">
                <a:solidFill>
                  <a:srgbClr val="283287"/>
                </a:solidFill>
                <a:latin typeface="Quicksand" pitchFamily="2" charset="77"/>
              </a:rPr>
              <a:t>Partnerships</a:t>
            </a:r>
          </a:p>
        </p:txBody>
      </p:sp>
      <p:sp>
        <p:nvSpPr>
          <p:cNvPr id="47" name="TextBox 46">
            <a:extLst>
              <a:ext uri="{FF2B5EF4-FFF2-40B4-BE49-F238E27FC236}">
                <a16:creationId xmlns:a16="http://schemas.microsoft.com/office/drawing/2014/main" id="{0BCCE969-21E0-1EC0-9CB4-D5140E566EA6}"/>
              </a:ext>
            </a:extLst>
          </p:cNvPr>
          <p:cNvSpPr txBox="1"/>
          <p:nvPr/>
        </p:nvSpPr>
        <p:spPr>
          <a:xfrm>
            <a:off x="10558286" y="1036104"/>
            <a:ext cx="99851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165 MM</a:t>
            </a:r>
          </a:p>
        </p:txBody>
      </p:sp>
      <p:sp>
        <p:nvSpPr>
          <p:cNvPr id="48" name="TextBox 47">
            <a:extLst>
              <a:ext uri="{FF2B5EF4-FFF2-40B4-BE49-F238E27FC236}">
                <a16:creationId xmlns:a16="http://schemas.microsoft.com/office/drawing/2014/main" id="{B6461F03-271C-CA43-E827-721C37A7F176}"/>
              </a:ext>
            </a:extLst>
          </p:cNvPr>
          <p:cNvSpPr txBox="1"/>
          <p:nvPr/>
        </p:nvSpPr>
        <p:spPr>
          <a:xfrm>
            <a:off x="10558286" y="1320678"/>
            <a:ext cx="998714" cy="605294"/>
          </a:xfrm>
          <a:prstGeom prst="rect">
            <a:avLst/>
          </a:prstGeom>
          <a:noFill/>
        </p:spPr>
        <p:txBody>
          <a:bodyPr wrap="square">
            <a:spAutoFit/>
          </a:bodyPr>
          <a:lstStyle/>
          <a:p>
            <a:pPr>
              <a:lnSpc>
                <a:spcPts val="980"/>
              </a:lnSpc>
            </a:pPr>
            <a:r>
              <a:rPr lang="en-US" sz="900" dirty="0">
                <a:solidFill>
                  <a:srgbClr val="283287"/>
                </a:solidFill>
                <a:latin typeface="Quicksand" pitchFamily="2" charset="77"/>
              </a:rPr>
              <a:t>Global</a:t>
            </a:r>
          </a:p>
          <a:p>
            <a:pPr>
              <a:lnSpc>
                <a:spcPts val="980"/>
              </a:lnSpc>
            </a:pPr>
            <a:r>
              <a:rPr lang="en-US" sz="900" dirty="0">
                <a:solidFill>
                  <a:srgbClr val="283287"/>
                </a:solidFill>
                <a:latin typeface="Quicksand" pitchFamily="2" charset="77"/>
              </a:rPr>
              <a:t>Leadership </a:t>
            </a:r>
          </a:p>
          <a:p>
            <a:pPr>
              <a:lnSpc>
                <a:spcPts val="980"/>
              </a:lnSpc>
            </a:pPr>
            <a:r>
              <a:rPr lang="en-US" sz="900" dirty="0">
                <a:solidFill>
                  <a:srgbClr val="283287"/>
                </a:solidFill>
                <a:latin typeface="Quicksand" pitchFamily="2" charset="77"/>
              </a:rPr>
              <a:t>&amp; Ecosystem </a:t>
            </a:r>
          </a:p>
          <a:p>
            <a:pPr>
              <a:lnSpc>
                <a:spcPts val="980"/>
              </a:lnSpc>
            </a:pPr>
            <a:r>
              <a:rPr lang="en-US" sz="900" dirty="0">
                <a:solidFill>
                  <a:srgbClr val="283287"/>
                </a:solidFill>
                <a:latin typeface="Quicksand" pitchFamily="2" charset="77"/>
              </a:rPr>
              <a:t>Building</a:t>
            </a:r>
          </a:p>
        </p:txBody>
      </p:sp>
      <p:sp>
        <p:nvSpPr>
          <p:cNvPr id="50" name="TextBox 49">
            <a:extLst>
              <a:ext uri="{FF2B5EF4-FFF2-40B4-BE49-F238E27FC236}">
                <a16:creationId xmlns:a16="http://schemas.microsoft.com/office/drawing/2014/main" id="{4F67EA07-46DB-6192-ED98-184FC96FF905}"/>
              </a:ext>
            </a:extLst>
          </p:cNvPr>
          <p:cNvSpPr txBox="1"/>
          <p:nvPr/>
        </p:nvSpPr>
        <p:spPr>
          <a:xfrm>
            <a:off x="552234" y="2995880"/>
            <a:ext cx="3490607" cy="1323439"/>
          </a:xfrm>
          <a:prstGeom prst="rect">
            <a:avLst/>
          </a:prstGeom>
          <a:noFill/>
        </p:spPr>
        <p:txBody>
          <a:bodyPr wrap="square">
            <a:spAutoFit/>
          </a:bodyPr>
          <a:lstStyle/>
          <a:p>
            <a:pPr>
              <a:lnSpc>
                <a:spcPts val="1240"/>
              </a:lnSpc>
            </a:pPr>
            <a:r>
              <a:rPr lang="en-US" sz="1200" b="0" i="0" u="none" strike="noStrike" dirty="0">
                <a:solidFill>
                  <a:srgbClr val="283287"/>
                </a:solidFill>
                <a:effectLst/>
                <a:latin typeface="Quicksand" pitchFamily="2" charset="77"/>
              </a:rPr>
              <a:t>Steady growth driven by innovation, design excellence, and global expansion.</a:t>
            </a:r>
          </a:p>
          <a:p>
            <a:pPr>
              <a:lnSpc>
                <a:spcPts val="1240"/>
              </a:lnSpc>
            </a:pPr>
            <a:br>
              <a:rPr lang="en-US" sz="1200" dirty="0">
                <a:solidFill>
                  <a:srgbClr val="283287"/>
                </a:solidFill>
                <a:latin typeface="Quicksand" pitchFamily="2" charset="77"/>
              </a:rPr>
            </a:br>
            <a:r>
              <a:rPr lang="en-US" sz="1200" b="0" i="0" u="none" strike="noStrike" dirty="0">
                <a:solidFill>
                  <a:srgbClr val="283287"/>
                </a:solidFill>
                <a:effectLst/>
                <a:latin typeface="Quicksand" pitchFamily="2" charset="77"/>
              </a:rPr>
              <a:t>From launch to leadership, the vision evolves into a holistic </a:t>
            </a:r>
            <a:r>
              <a:rPr lang="en-US" sz="1200" b="0" i="0" u="none" strike="noStrike" dirty="0" err="1">
                <a:solidFill>
                  <a:srgbClr val="283287"/>
                </a:solidFill>
                <a:effectLst/>
                <a:latin typeface="Quicksand" pitchFamily="2" charset="77"/>
              </a:rPr>
              <a:t>FemTech</a:t>
            </a:r>
            <a:r>
              <a:rPr lang="en-US" sz="1200" b="0" i="0" u="none" strike="noStrike" dirty="0">
                <a:solidFill>
                  <a:srgbClr val="283287"/>
                </a:solidFill>
                <a:effectLst/>
                <a:latin typeface="Quicksand" pitchFamily="2" charset="77"/>
              </a:rPr>
              <a:t> ecosystem.</a:t>
            </a:r>
          </a:p>
          <a:p>
            <a:pPr>
              <a:lnSpc>
                <a:spcPts val="1240"/>
              </a:lnSpc>
            </a:pPr>
            <a:br>
              <a:rPr lang="en-US" sz="1200" dirty="0">
                <a:solidFill>
                  <a:srgbClr val="283287"/>
                </a:solidFill>
                <a:latin typeface="Quicksand" pitchFamily="2" charset="77"/>
              </a:rPr>
            </a:br>
            <a:r>
              <a:rPr lang="en-US" sz="1200" b="0" i="0" u="none" strike="noStrike" dirty="0">
                <a:solidFill>
                  <a:srgbClr val="283287"/>
                </a:solidFill>
                <a:effectLst/>
                <a:latin typeface="Quicksand" pitchFamily="2" charset="77"/>
              </a:rPr>
              <a:t>By 2029, it stands as a benchmark for elegant, data-driven wellness.</a:t>
            </a:r>
            <a:endParaRPr lang="en-US" sz="1200" dirty="0">
              <a:solidFill>
                <a:srgbClr val="283287"/>
              </a:solidFill>
              <a:latin typeface="Quicksand" pitchFamily="2" charset="77"/>
            </a:endParaRPr>
          </a:p>
        </p:txBody>
      </p:sp>
      <p:sp>
        <p:nvSpPr>
          <p:cNvPr id="51" name="Round Single Corner Rectangle 50">
            <a:extLst>
              <a:ext uri="{FF2B5EF4-FFF2-40B4-BE49-F238E27FC236}">
                <a16:creationId xmlns:a16="http://schemas.microsoft.com/office/drawing/2014/main" id="{4334F967-AE05-3BC1-F527-9CAFEAAC9484}"/>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B31967C-C88B-9430-EE29-05A6F9905751}"/>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ADBFECF-FC63-C9F9-BD1E-126EC9A03A99}"/>
              </a:ext>
            </a:extLst>
          </p:cNvPr>
          <p:cNvPicPr>
            <a:picLocks noChangeAspect="1"/>
          </p:cNvPicPr>
          <p:nvPr/>
        </p:nvPicPr>
        <p:blipFill>
          <a:blip r:embed="rId2"/>
          <a:stretch>
            <a:fillRect/>
          </a:stretch>
        </p:blipFill>
        <p:spPr>
          <a:xfrm rot="16200000" flipH="1">
            <a:off x="147652" y="6405293"/>
            <a:ext cx="310635" cy="275807"/>
          </a:xfrm>
          <a:prstGeom prst="rect">
            <a:avLst/>
          </a:prstGeom>
        </p:spPr>
      </p:pic>
    </p:spTree>
    <p:extLst>
      <p:ext uri="{BB962C8B-B14F-4D97-AF65-F5344CB8AC3E}">
        <p14:creationId xmlns:p14="http://schemas.microsoft.com/office/powerpoint/2010/main" val="2622274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21CE7B80-9F28-70EF-FDE5-10C6E0883AC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9B38EF0-4C9E-65B8-7A46-1F348FF116A6}"/>
              </a:ext>
            </a:extLst>
          </p:cNvPr>
          <p:cNvSpPr txBox="1"/>
          <p:nvPr/>
        </p:nvSpPr>
        <p:spPr>
          <a:xfrm>
            <a:off x="531914" y="109728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02/ Product Philosophy</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4600EC8D-B86F-E993-74AE-4B2A410202C3}"/>
              </a:ext>
            </a:extLst>
          </p:cNvPr>
          <p:cNvSpPr txBox="1"/>
          <p:nvPr/>
        </p:nvSpPr>
        <p:spPr>
          <a:xfrm>
            <a:off x="495744" y="1413895"/>
            <a:ext cx="4289572" cy="1068434"/>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Our Brand</a:t>
            </a:r>
          </a:p>
          <a:p>
            <a:pPr>
              <a:lnSpc>
                <a:spcPts val="3800"/>
              </a:lnSpc>
            </a:pPr>
            <a:r>
              <a:rPr lang="en-US" sz="3600" b="1" dirty="0">
                <a:solidFill>
                  <a:srgbClr val="283287"/>
                </a:solidFill>
                <a:latin typeface="Reddit Sans ExtraBold" pitchFamily="2" charset="77"/>
                <a:ea typeface="Reddit Sans ExtraBold" pitchFamily="2" charset="77"/>
              </a:rPr>
              <a:t>Experience</a:t>
            </a:r>
          </a:p>
        </p:txBody>
      </p:sp>
      <p:pic>
        <p:nvPicPr>
          <p:cNvPr id="53" name="Picture 52">
            <a:extLst>
              <a:ext uri="{FF2B5EF4-FFF2-40B4-BE49-F238E27FC236}">
                <a16:creationId xmlns:a16="http://schemas.microsoft.com/office/drawing/2014/main" id="{DA730EBC-EADC-492F-635E-E340D58B3F48}"/>
              </a:ext>
            </a:extLst>
          </p:cNvPr>
          <p:cNvPicPr>
            <a:picLocks noChangeAspect="1"/>
          </p:cNvPicPr>
          <p:nvPr/>
        </p:nvPicPr>
        <p:blipFill>
          <a:blip r:embed="rId3"/>
          <a:stretch>
            <a:fillRect/>
          </a:stretch>
        </p:blipFill>
        <p:spPr>
          <a:xfrm rot="16200000" flipH="1">
            <a:off x="103214" y="6563406"/>
            <a:ext cx="191252" cy="169809"/>
          </a:xfrm>
          <a:prstGeom prst="rect">
            <a:avLst/>
          </a:prstGeom>
        </p:spPr>
      </p:pic>
      <p:sp>
        <p:nvSpPr>
          <p:cNvPr id="2" name="Oval 1">
            <a:extLst>
              <a:ext uri="{FF2B5EF4-FFF2-40B4-BE49-F238E27FC236}">
                <a16:creationId xmlns:a16="http://schemas.microsoft.com/office/drawing/2014/main" id="{F35B73D1-7515-3832-87A3-3BAABE8A39D6}"/>
              </a:ext>
            </a:extLst>
          </p:cNvPr>
          <p:cNvSpPr/>
          <p:nvPr/>
        </p:nvSpPr>
        <p:spPr>
          <a:xfrm>
            <a:off x="5784750" y="901563"/>
            <a:ext cx="4562060" cy="4562060"/>
          </a:xfrm>
          <a:prstGeom prst="ellipse">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C910416-3E0E-495C-2906-CBF5A6A418B0}"/>
              </a:ext>
            </a:extLst>
          </p:cNvPr>
          <p:cNvSpPr/>
          <p:nvPr/>
        </p:nvSpPr>
        <p:spPr>
          <a:xfrm>
            <a:off x="4490878" y="2868716"/>
            <a:ext cx="2955855" cy="2955855"/>
          </a:xfrm>
          <a:prstGeom prst="ellipse">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054A9B5-61E9-D5C7-D52C-4D191A2441C6}"/>
              </a:ext>
            </a:extLst>
          </p:cNvPr>
          <p:cNvSpPr/>
          <p:nvPr/>
        </p:nvSpPr>
        <p:spPr>
          <a:xfrm>
            <a:off x="6432413" y="4168545"/>
            <a:ext cx="2117691" cy="2117691"/>
          </a:xfrm>
          <a:prstGeom prst="ellipse">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D6B4FB"/>
              </a:solidFill>
            </a:endParaRPr>
          </a:p>
        </p:txBody>
      </p:sp>
      <p:sp>
        <p:nvSpPr>
          <p:cNvPr id="10" name="Rectangle 2">
            <a:extLst>
              <a:ext uri="{FF2B5EF4-FFF2-40B4-BE49-F238E27FC236}">
                <a16:creationId xmlns:a16="http://schemas.microsoft.com/office/drawing/2014/main" id="{D7A53EF0-DF49-9CDA-10BA-0D02E51CC603}"/>
              </a:ext>
            </a:extLst>
          </p:cNvPr>
          <p:cNvSpPr>
            <a:spLocks noChangeArrowheads="1"/>
          </p:cNvSpPr>
          <p:nvPr/>
        </p:nvSpPr>
        <p:spPr bwMode="auto">
          <a:xfrm>
            <a:off x="504347" y="2528740"/>
            <a:ext cx="322315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1200" dirty="0">
                <a:solidFill>
                  <a:srgbClr val="283287"/>
                </a:solidFill>
                <a:latin typeface="Quicksand" pitchFamily="2" charset="77"/>
              </a:rPr>
              <a:t>At their convergence </a:t>
            </a:r>
            <a:r>
              <a:rPr kumimoji="0" lang="en-US" altLang="en-US" sz="1200" b="0" u="none" strike="noStrike" cap="none" normalizeH="0" baseline="0" dirty="0">
                <a:ln>
                  <a:noFill/>
                </a:ln>
                <a:solidFill>
                  <a:srgbClr val="283287"/>
                </a:solidFill>
                <a:effectLst/>
                <a:latin typeface="Quicksand" pitchFamily="2" charset="77"/>
              </a:rPr>
              <a:t>lies the experience we strive to deliver: a perfect balance between </a:t>
            </a:r>
            <a:r>
              <a:rPr kumimoji="0" lang="en-US" altLang="en-US" sz="1200" b="1" u="none" strike="noStrike" cap="none" normalizeH="0" baseline="0" dirty="0">
                <a:ln>
                  <a:noFill/>
                </a:ln>
                <a:solidFill>
                  <a:srgbClr val="283287"/>
                </a:solidFill>
                <a:effectLst/>
                <a:latin typeface="Quicksand" pitchFamily="2" charset="77"/>
              </a:rPr>
              <a:t>science, aesthetics, and empathy</a:t>
            </a:r>
            <a:r>
              <a:rPr kumimoji="0" lang="en-US" altLang="en-US" sz="1200" b="0" u="none" strike="noStrike" cap="none" normalizeH="0" baseline="0" dirty="0">
                <a:ln>
                  <a:noFill/>
                </a:ln>
                <a:solidFill>
                  <a:srgbClr val="283287"/>
                </a:solidFill>
                <a:effectLst/>
                <a:latin typeface="Quicksand" pitchFamily="2" charset="77"/>
              </a:rPr>
              <a:t>— where innovation not only performs but feels personal, intuitive, and empowering.</a:t>
            </a:r>
          </a:p>
        </p:txBody>
      </p:sp>
      <p:sp>
        <p:nvSpPr>
          <p:cNvPr id="12" name="TextBox 11">
            <a:extLst>
              <a:ext uri="{FF2B5EF4-FFF2-40B4-BE49-F238E27FC236}">
                <a16:creationId xmlns:a16="http://schemas.microsoft.com/office/drawing/2014/main" id="{497A7D0E-07AA-912C-F49E-6A8296AC66E2}"/>
              </a:ext>
            </a:extLst>
          </p:cNvPr>
          <p:cNvSpPr txBox="1"/>
          <p:nvPr/>
        </p:nvSpPr>
        <p:spPr>
          <a:xfrm>
            <a:off x="6056514" y="3855044"/>
            <a:ext cx="1355622" cy="477054"/>
          </a:xfrm>
          <a:prstGeom prst="rect">
            <a:avLst/>
          </a:prstGeom>
          <a:noFill/>
        </p:spPr>
        <p:txBody>
          <a:bodyPr wrap="square">
            <a:spAutoFit/>
          </a:bodyPr>
          <a:lstStyle/>
          <a:p>
            <a:r>
              <a:rPr lang="en-US" sz="2500" b="1" dirty="0">
                <a:solidFill>
                  <a:srgbClr val="171A4D"/>
                </a:solidFill>
                <a:latin typeface="Reddit Sans ExtraBold" pitchFamily="2" charset="77"/>
                <a:ea typeface="Reddit Sans ExtraBold" pitchFamily="2" charset="77"/>
              </a:rPr>
              <a:t>Design</a:t>
            </a:r>
          </a:p>
        </p:txBody>
      </p:sp>
      <p:sp>
        <p:nvSpPr>
          <p:cNvPr id="13" name="TextBox 12">
            <a:extLst>
              <a:ext uri="{FF2B5EF4-FFF2-40B4-BE49-F238E27FC236}">
                <a16:creationId xmlns:a16="http://schemas.microsoft.com/office/drawing/2014/main" id="{B2068177-C6E1-041A-364A-E029DFF652C0}"/>
              </a:ext>
            </a:extLst>
          </p:cNvPr>
          <p:cNvSpPr txBox="1"/>
          <p:nvPr/>
        </p:nvSpPr>
        <p:spPr>
          <a:xfrm>
            <a:off x="7412136" y="3634224"/>
            <a:ext cx="2110854" cy="477054"/>
          </a:xfrm>
          <a:prstGeom prst="rect">
            <a:avLst/>
          </a:prstGeom>
          <a:noFill/>
        </p:spPr>
        <p:txBody>
          <a:bodyPr wrap="square">
            <a:spAutoFit/>
          </a:bodyPr>
          <a:lstStyle/>
          <a:p>
            <a:r>
              <a:rPr lang="en-US" sz="2500" b="1" u="none" strike="noStrike" dirty="0">
                <a:solidFill>
                  <a:srgbClr val="D6B4FB"/>
                </a:solidFill>
                <a:effectLst/>
                <a:latin typeface="Reddit Sans ExtraBold" pitchFamily="2" charset="77"/>
                <a:ea typeface="Reddit Sans ExtraBold" pitchFamily="2" charset="77"/>
              </a:rPr>
              <a:t>Technology</a:t>
            </a:r>
            <a:endParaRPr lang="en-US" sz="2500" b="1" dirty="0">
              <a:solidFill>
                <a:srgbClr val="D6B4FB"/>
              </a:solidFill>
              <a:latin typeface="Reddit Sans ExtraBold" pitchFamily="2" charset="77"/>
              <a:ea typeface="Reddit Sans ExtraBold" pitchFamily="2" charset="77"/>
            </a:endParaRPr>
          </a:p>
        </p:txBody>
      </p:sp>
      <p:sp>
        <p:nvSpPr>
          <p:cNvPr id="14" name="TextBox 13">
            <a:extLst>
              <a:ext uri="{FF2B5EF4-FFF2-40B4-BE49-F238E27FC236}">
                <a16:creationId xmlns:a16="http://schemas.microsoft.com/office/drawing/2014/main" id="{47DBBAE9-953D-F86C-B0CA-4F909F09E3D7}"/>
              </a:ext>
            </a:extLst>
          </p:cNvPr>
          <p:cNvSpPr txBox="1"/>
          <p:nvPr/>
        </p:nvSpPr>
        <p:spPr>
          <a:xfrm>
            <a:off x="6734325" y="4664266"/>
            <a:ext cx="1545674" cy="477054"/>
          </a:xfrm>
          <a:prstGeom prst="rect">
            <a:avLst/>
          </a:prstGeom>
          <a:noFill/>
        </p:spPr>
        <p:txBody>
          <a:bodyPr wrap="square">
            <a:spAutoFit/>
          </a:bodyPr>
          <a:lstStyle/>
          <a:p>
            <a:r>
              <a:rPr lang="en-US" sz="2500" b="1" dirty="0">
                <a:solidFill>
                  <a:srgbClr val="171A4D"/>
                </a:solidFill>
                <a:latin typeface="Reddit Sans ExtraBold" pitchFamily="2" charset="77"/>
                <a:ea typeface="Reddit Sans ExtraBold" pitchFamily="2" charset="77"/>
              </a:rPr>
              <a:t>Wellness</a:t>
            </a:r>
          </a:p>
        </p:txBody>
      </p:sp>
      <p:sp>
        <p:nvSpPr>
          <p:cNvPr id="15" name="Rectangle 3">
            <a:extLst>
              <a:ext uri="{FF2B5EF4-FFF2-40B4-BE49-F238E27FC236}">
                <a16:creationId xmlns:a16="http://schemas.microsoft.com/office/drawing/2014/main" id="{29DDCE39-E3B3-47FE-B9AD-407B7D06DF5F}"/>
              </a:ext>
            </a:extLst>
          </p:cNvPr>
          <p:cNvSpPr>
            <a:spLocks noChangeArrowheads="1"/>
          </p:cNvSpPr>
          <p:nvPr/>
        </p:nvSpPr>
        <p:spPr bwMode="auto">
          <a:xfrm>
            <a:off x="8999452" y="763063"/>
            <a:ext cx="246051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solidFill>
                  <a:srgbClr val="283287"/>
                </a:solidFill>
                <a:latin typeface="Quicksand" pitchFamily="2" charset="77"/>
              </a:rPr>
              <a:t>→</a:t>
            </a:r>
            <a:r>
              <a:rPr kumimoji="0" lang="en-US" altLang="en-US" sz="1200" b="0" i="0" u="none" strike="noStrike" cap="none" normalizeH="0" baseline="0" dirty="0">
                <a:ln>
                  <a:noFill/>
                </a:ln>
                <a:solidFill>
                  <a:srgbClr val="283287"/>
                </a:solidFill>
                <a:effectLst/>
                <a:latin typeface="Quicksand" pitchFamily="2" charset="77"/>
              </a:rPr>
              <a:t> Smart innovation, data precision</a:t>
            </a:r>
          </a:p>
        </p:txBody>
      </p:sp>
      <p:sp>
        <p:nvSpPr>
          <p:cNvPr id="16" name="Rectangle 4">
            <a:extLst>
              <a:ext uri="{FF2B5EF4-FFF2-40B4-BE49-F238E27FC236}">
                <a16:creationId xmlns:a16="http://schemas.microsoft.com/office/drawing/2014/main" id="{C74BFA06-15FA-E495-C51D-FE8F467C5FB8}"/>
              </a:ext>
            </a:extLst>
          </p:cNvPr>
          <p:cNvSpPr>
            <a:spLocks noChangeArrowheads="1"/>
          </p:cNvSpPr>
          <p:nvPr/>
        </p:nvSpPr>
        <p:spPr bwMode="auto">
          <a:xfrm>
            <a:off x="8477690" y="5679117"/>
            <a:ext cx="27137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solidFill>
                  <a:srgbClr val="283287"/>
                </a:solidFill>
                <a:latin typeface="Quicksand" pitchFamily="2" charset="77"/>
              </a:rPr>
              <a:t>→</a:t>
            </a:r>
            <a:r>
              <a:rPr kumimoji="0" lang="en-US" altLang="en-US" sz="1200" b="0" i="0" u="none" strike="noStrike" cap="none" normalizeH="0" baseline="0" dirty="0">
                <a:ln>
                  <a:noFill/>
                </a:ln>
                <a:solidFill>
                  <a:srgbClr val="283287"/>
                </a:solidFill>
                <a:effectLst/>
                <a:latin typeface="Quicksand" pitchFamily="2" charset="77"/>
              </a:rPr>
              <a:t> Health, empowerment, comfort</a:t>
            </a:r>
          </a:p>
        </p:txBody>
      </p:sp>
      <p:sp>
        <p:nvSpPr>
          <p:cNvPr id="17" name="Rectangle 4">
            <a:extLst>
              <a:ext uri="{FF2B5EF4-FFF2-40B4-BE49-F238E27FC236}">
                <a16:creationId xmlns:a16="http://schemas.microsoft.com/office/drawing/2014/main" id="{04F2B607-D04C-7250-7D5F-CBA15E1F741E}"/>
              </a:ext>
            </a:extLst>
          </p:cNvPr>
          <p:cNvSpPr>
            <a:spLocks noChangeArrowheads="1"/>
          </p:cNvSpPr>
          <p:nvPr/>
        </p:nvSpPr>
        <p:spPr bwMode="auto">
          <a:xfrm>
            <a:off x="3113088" y="5586783"/>
            <a:ext cx="20875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eaLnBrk="0" fontAlgn="base" hangingPunct="0">
              <a:spcBef>
                <a:spcPct val="0"/>
              </a:spcBef>
              <a:spcAft>
                <a:spcPct val="0"/>
              </a:spcAft>
            </a:pPr>
            <a:r>
              <a:rPr lang="en-US" sz="1200" dirty="0">
                <a:solidFill>
                  <a:srgbClr val="283287"/>
                </a:solidFill>
                <a:latin typeface="Quicksand" pitchFamily="2" charset="77"/>
              </a:rPr>
              <a:t>Aesthetic, user experience </a:t>
            </a:r>
            <a:r>
              <a:rPr lang="en-US" altLang="en-US" sz="1200" b="1" dirty="0">
                <a:solidFill>
                  <a:srgbClr val="283287"/>
                </a:solidFill>
                <a:latin typeface="Quicksand" pitchFamily="2" charset="77"/>
              </a:rPr>
              <a:t>←</a:t>
            </a:r>
            <a:endParaRPr lang="en-US" sz="1200" dirty="0"/>
          </a:p>
          <a:p>
            <a:pPr algn="r" eaLnBrk="0" fontAlgn="base" hangingPunct="0">
              <a:spcBef>
                <a:spcPct val="0"/>
              </a:spcBef>
              <a:spcAft>
                <a:spcPct val="0"/>
              </a:spcAft>
            </a:pPr>
            <a:endParaRPr kumimoji="0" lang="en-US" altLang="en-US" sz="1200" b="1" i="0" u="none" strike="noStrike" cap="none" normalizeH="0" baseline="0" dirty="0">
              <a:solidFill>
                <a:srgbClr val="283287"/>
              </a:solidFill>
              <a:effectLst/>
              <a:latin typeface="Quicksand" pitchFamily="2" charset="77"/>
            </a:endParaRPr>
          </a:p>
        </p:txBody>
      </p:sp>
      <p:pic>
        <p:nvPicPr>
          <p:cNvPr id="4" name="Picture 3" descr="A blue heart with black background&#10;&#10;AI-generated content may be incorrect.">
            <a:extLst>
              <a:ext uri="{FF2B5EF4-FFF2-40B4-BE49-F238E27FC236}">
                <a16:creationId xmlns:a16="http://schemas.microsoft.com/office/drawing/2014/main" id="{DC1A9A34-D51F-53E3-4A6D-8F537378F0EF}"/>
              </a:ext>
            </a:extLst>
          </p:cNvPr>
          <p:cNvPicPr>
            <a:picLocks noChangeAspect="1"/>
          </p:cNvPicPr>
          <p:nvPr/>
        </p:nvPicPr>
        <p:blipFill>
          <a:blip r:embed="rId4"/>
          <a:stretch>
            <a:fillRect/>
          </a:stretch>
        </p:blipFill>
        <p:spPr>
          <a:xfrm rot="16200000">
            <a:off x="147121" y="6405825"/>
            <a:ext cx="311700" cy="275807"/>
          </a:xfrm>
          <a:prstGeom prst="rect">
            <a:avLst/>
          </a:prstGeom>
        </p:spPr>
      </p:pic>
      <p:sp>
        <p:nvSpPr>
          <p:cNvPr id="6" name="Round Single Corner Rectangle 5">
            <a:extLst>
              <a:ext uri="{FF2B5EF4-FFF2-40B4-BE49-F238E27FC236}">
                <a16:creationId xmlns:a16="http://schemas.microsoft.com/office/drawing/2014/main" id="{E0D83D1E-57DA-9AD9-1E62-461E521BDEA1}"/>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437E88-E5D5-F13E-368E-B1147B779AF0}"/>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7149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FAAE01D8-FDFB-D4B9-BC72-7D6D08990F9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7B568CD-E4F8-57E8-3706-A6DE0D67CEAF}"/>
              </a:ext>
            </a:extLst>
          </p:cNvPr>
          <p:cNvSpPr txBox="1"/>
          <p:nvPr/>
        </p:nvSpPr>
        <p:spPr>
          <a:xfrm>
            <a:off x="531914" y="1099717"/>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03/ Project objectives</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3DA23A5E-5DE9-6DD5-1103-7E3EA2D17047}"/>
              </a:ext>
            </a:extLst>
          </p:cNvPr>
          <p:cNvSpPr txBox="1"/>
          <p:nvPr/>
        </p:nvSpPr>
        <p:spPr>
          <a:xfrm>
            <a:off x="495743" y="1413895"/>
            <a:ext cx="4524125" cy="1068434"/>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Understanding </a:t>
            </a:r>
          </a:p>
          <a:p>
            <a:pPr>
              <a:lnSpc>
                <a:spcPts val="3800"/>
              </a:lnSpc>
            </a:pPr>
            <a:r>
              <a:rPr lang="en-US" sz="3600" b="1" dirty="0">
                <a:solidFill>
                  <a:srgbClr val="283287"/>
                </a:solidFill>
                <a:latin typeface="Reddit Sans ExtraBold" pitchFamily="2" charset="77"/>
                <a:ea typeface="Reddit Sans ExtraBold" pitchFamily="2" charset="77"/>
              </a:rPr>
              <a:t>the Project Scope</a:t>
            </a:r>
          </a:p>
        </p:txBody>
      </p:sp>
      <p:pic>
        <p:nvPicPr>
          <p:cNvPr id="53" name="Picture 52">
            <a:extLst>
              <a:ext uri="{FF2B5EF4-FFF2-40B4-BE49-F238E27FC236}">
                <a16:creationId xmlns:a16="http://schemas.microsoft.com/office/drawing/2014/main" id="{09C75914-2104-259C-C7E6-BC3F4B512368}"/>
              </a:ext>
            </a:extLst>
          </p:cNvPr>
          <p:cNvPicPr>
            <a:picLocks noChangeAspect="1"/>
          </p:cNvPicPr>
          <p:nvPr/>
        </p:nvPicPr>
        <p:blipFill>
          <a:blip r:embed="rId3"/>
          <a:stretch>
            <a:fillRect/>
          </a:stretch>
        </p:blipFill>
        <p:spPr>
          <a:xfrm rot="16200000" flipH="1">
            <a:off x="103214" y="6563406"/>
            <a:ext cx="191252" cy="169809"/>
          </a:xfrm>
          <a:prstGeom prst="rect">
            <a:avLst/>
          </a:prstGeom>
        </p:spPr>
      </p:pic>
      <p:sp>
        <p:nvSpPr>
          <p:cNvPr id="7" name="Rectangle 3">
            <a:extLst>
              <a:ext uri="{FF2B5EF4-FFF2-40B4-BE49-F238E27FC236}">
                <a16:creationId xmlns:a16="http://schemas.microsoft.com/office/drawing/2014/main" id="{3570EBB8-2ED8-3299-FE1B-24ADD63BE110}"/>
              </a:ext>
            </a:extLst>
          </p:cNvPr>
          <p:cNvSpPr>
            <a:spLocks noChangeArrowheads="1"/>
          </p:cNvSpPr>
          <p:nvPr/>
        </p:nvSpPr>
        <p:spPr bwMode="auto">
          <a:xfrm>
            <a:off x="495744" y="2613722"/>
            <a:ext cx="38873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1200" dirty="0">
                <a:solidFill>
                  <a:srgbClr val="283287"/>
                </a:solidFill>
                <a:latin typeface="Quicksand" pitchFamily="2" charset="77"/>
              </a:rPr>
              <a:t>Keep these as clear, high-level goals that tie to innovation, user experience, and market potential.</a:t>
            </a:r>
          </a:p>
        </p:txBody>
      </p:sp>
      <p:sp>
        <p:nvSpPr>
          <p:cNvPr id="1028" name="Round Diagonal Corner Rectangle 1027">
            <a:extLst>
              <a:ext uri="{FF2B5EF4-FFF2-40B4-BE49-F238E27FC236}">
                <a16:creationId xmlns:a16="http://schemas.microsoft.com/office/drawing/2014/main" id="{DBBFC321-DB0C-FB44-D507-D51026BDA893}"/>
              </a:ext>
            </a:extLst>
          </p:cNvPr>
          <p:cNvSpPr/>
          <p:nvPr/>
        </p:nvSpPr>
        <p:spPr>
          <a:xfrm>
            <a:off x="6333508" y="4900161"/>
            <a:ext cx="5223492" cy="1338714"/>
          </a:xfrm>
          <a:prstGeom prst="round2DiagRect">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 Diagonal Corner Rectangle 38">
            <a:extLst>
              <a:ext uri="{FF2B5EF4-FFF2-40B4-BE49-F238E27FC236}">
                <a16:creationId xmlns:a16="http://schemas.microsoft.com/office/drawing/2014/main" id="{236946E8-583F-0D56-2036-0B70B5E0D047}"/>
              </a:ext>
            </a:extLst>
          </p:cNvPr>
          <p:cNvSpPr/>
          <p:nvPr/>
        </p:nvSpPr>
        <p:spPr>
          <a:xfrm rot="10800000">
            <a:off x="6333508" y="646112"/>
            <a:ext cx="5223492" cy="1338714"/>
          </a:xfrm>
          <a:prstGeom prst="round2Diag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 Diagonal Corner Rectangle 39">
            <a:extLst>
              <a:ext uri="{FF2B5EF4-FFF2-40B4-BE49-F238E27FC236}">
                <a16:creationId xmlns:a16="http://schemas.microsoft.com/office/drawing/2014/main" id="{61A20B71-7740-1ECB-D573-B364DC0012A0}"/>
              </a:ext>
            </a:extLst>
          </p:cNvPr>
          <p:cNvSpPr/>
          <p:nvPr/>
        </p:nvSpPr>
        <p:spPr>
          <a:xfrm>
            <a:off x="6333508" y="2075577"/>
            <a:ext cx="5223492" cy="1338714"/>
          </a:xfrm>
          <a:prstGeom prst="round2DiagRect">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 Diagonal Corner Rectangle 53">
            <a:extLst>
              <a:ext uri="{FF2B5EF4-FFF2-40B4-BE49-F238E27FC236}">
                <a16:creationId xmlns:a16="http://schemas.microsoft.com/office/drawing/2014/main" id="{B91BC893-6613-EF8A-AD93-6DFE7909C1DA}"/>
              </a:ext>
            </a:extLst>
          </p:cNvPr>
          <p:cNvSpPr/>
          <p:nvPr/>
        </p:nvSpPr>
        <p:spPr>
          <a:xfrm rot="10800000">
            <a:off x="6333508" y="3497947"/>
            <a:ext cx="5223492" cy="1338714"/>
          </a:xfrm>
          <a:prstGeom prst="round2Diag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EB2970A7-0C7F-27C1-F7E1-C4CB205ED5DA}"/>
              </a:ext>
            </a:extLst>
          </p:cNvPr>
          <p:cNvSpPr txBox="1"/>
          <p:nvPr/>
        </p:nvSpPr>
        <p:spPr>
          <a:xfrm>
            <a:off x="7326271" y="1329973"/>
            <a:ext cx="3619542" cy="461665"/>
          </a:xfrm>
          <a:prstGeom prst="rect">
            <a:avLst/>
          </a:prstGeom>
          <a:noFill/>
        </p:spPr>
        <p:txBody>
          <a:bodyPr wrap="square">
            <a:spAutoFit/>
          </a:bodyPr>
          <a:lstStyle/>
          <a:p>
            <a:r>
              <a:rPr lang="en-US" sz="1200" b="0" i="0" u="none" strike="noStrike" dirty="0">
                <a:solidFill>
                  <a:srgbClr val="283287"/>
                </a:solidFill>
                <a:effectLst/>
                <a:latin typeface="Quicksand" pitchFamily="2" charset="77"/>
              </a:rPr>
              <a:t>Strong adoption from early users and influencers validating product-market fit.</a:t>
            </a:r>
            <a:endParaRPr lang="en-US" sz="1200" dirty="0">
              <a:solidFill>
                <a:srgbClr val="283287"/>
              </a:solidFill>
              <a:latin typeface="Quicksand" pitchFamily="2" charset="77"/>
            </a:endParaRPr>
          </a:p>
        </p:txBody>
      </p:sp>
      <p:sp>
        <p:nvSpPr>
          <p:cNvPr id="58" name="TextBox 57">
            <a:extLst>
              <a:ext uri="{FF2B5EF4-FFF2-40B4-BE49-F238E27FC236}">
                <a16:creationId xmlns:a16="http://schemas.microsoft.com/office/drawing/2014/main" id="{F020EE08-0BF1-5766-5EBE-CF32063BB847}"/>
              </a:ext>
            </a:extLst>
          </p:cNvPr>
          <p:cNvSpPr txBox="1"/>
          <p:nvPr/>
        </p:nvSpPr>
        <p:spPr>
          <a:xfrm>
            <a:off x="7326271" y="955050"/>
            <a:ext cx="3350042" cy="275788"/>
          </a:xfrm>
          <a:prstGeom prst="rect">
            <a:avLst/>
          </a:prstGeom>
          <a:noFill/>
        </p:spPr>
        <p:txBody>
          <a:bodyPr wrap="square">
            <a:spAutoFit/>
          </a:bodyPr>
          <a:lstStyle/>
          <a:p>
            <a:r>
              <a:rPr lang="en-US" sz="1600" b="1" dirty="0">
                <a:solidFill>
                  <a:srgbClr val="283287"/>
                </a:solidFill>
                <a:latin typeface="Reddit Sans ExtraBold" pitchFamily="2" charset="77"/>
                <a:ea typeface="Reddit Sans ExtraBold" pitchFamily="2" charset="77"/>
              </a:rPr>
              <a:t>Innovate in </a:t>
            </a:r>
            <a:r>
              <a:rPr lang="en-US" sz="1600" b="1" dirty="0" err="1">
                <a:solidFill>
                  <a:srgbClr val="283287"/>
                </a:solidFill>
                <a:latin typeface="Reddit Sans ExtraBold" pitchFamily="2" charset="77"/>
                <a:ea typeface="Reddit Sans ExtraBold" pitchFamily="2" charset="77"/>
              </a:rPr>
              <a:t>FemTech</a:t>
            </a:r>
            <a:r>
              <a:rPr lang="en-US" sz="1600" b="1" dirty="0">
                <a:solidFill>
                  <a:srgbClr val="283287"/>
                </a:solidFill>
                <a:latin typeface="Reddit Sans ExtraBold" pitchFamily="2" charset="77"/>
                <a:ea typeface="Reddit Sans ExtraBold" pitchFamily="2" charset="77"/>
              </a:rPr>
              <a:t> Design</a:t>
            </a:r>
            <a:endParaRPr lang="en-US" sz="1400" b="1" dirty="0">
              <a:solidFill>
                <a:srgbClr val="283287"/>
              </a:solidFill>
              <a:latin typeface="Reddit Sans ExtraBold" pitchFamily="2" charset="77"/>
              <a:ea typeface="Reddit Sans ExtraBold" pitchFamily="2" charset="77"/>
            </a:endParaRPr>
          </a:p>
        </p:txBody>
      </p:sp>
      <p:sp>
        <p:nvSpPr>
          <p:cNvPr id="59" name="TextBox 58">
            <a:extLst>
              <a:ext uri="{FF2B5EF4-FFF2-40B4-BE49-F238E27FC236}">
                <a16:creationId xmlns:a16="http://schemas.microsoft.com/office/drawing/2014/main" id="{3B60D2C0-9C9A-793D-CAB9-3EE209ACD742}"/>
              </a:ext>
            </a:extLst>
          </p:cNvPr>
          <p:cNvSpPr txBox="1"/>
          <p:nvPr/>
        </p:nvSpPr>
        <p:spPr>
          <a:xfrm>
            <a:off x="7326271" y="2743263"/>
            <a:ext cx="3619542" cy="461665"/>
          </a:xfrm>
          <a:prstGeom prst="rect">
            <a:avLst/>
          </a:prstGeom>
          <a:noFill/>
        </p:spPr>
        <p:txBody>
          <a:bodyPr wrap="square">
            <a:spAutoFit/>
          </a:bodyPr>
          <a:lstStyle/>
          <a:p>
            <a:r>
              <a:rPr lang="en-US" sz="1200" dirty="0">
                <a:solidFill>
                  <a:srgbClr val="283287"/>
                </a:solidFill>
                <a:latin typeface="Quicksand" pitchFamily="2" charset="77"/>
              </a:rPr>
              <a:t>Provide accessible, intelligent tools that support holistic wellbeing through data insights.</a:t>
            </a:r>
          </a:p>
        </p:txBody>
      </p:sp>
      <p:sp>
        <p:nvSpPr>
          <p:cNvPr id="60" name="TextBox 59">
            <a:extLst>
              <a:ext uri="{FF2B5EF4-FFF2-40B4-BE49-F238E27FC236}">
                <a16:creationId xmlns:a16="http://schemas.microsoft.com/office/drawing/2014/main" id="{9CF46D6F-3A07-7B5D-4101-813CD53E33F3}"/>
              </a:ext>
            </a:extLst>
          </p:cNvPr>
          <p:cNvSpPr txBox="1"/>
          <p:nvPr/>
        </p:nvSpPr>
        <p:spPr>
          <a:xfrm>
            <a:off x="7326271" y="2381303"/>
            <a:ext cx="3350042" cy="275788"/>
          </a:xfrm>
          <a:prstGeom prst="rect">
            <a:avLst/>
          </a:prstGeom>
          <a:noFill/>
        </p:spPr>
        <p:txBody>
          <a:bodyPr wrap="square">
            <a:spAutoFit/>
          </a:bodyPr>
          <a:lstStyle/>
          <a:p>
            <a:r>
              <a:rPr lang="en-US" sz="1600" b="1" dirty="0">
                <a:solidFill>
                  <a:srgbClr val="283287"/>
                </a:solidFill>
                <a:latin typeface="Reddit Sans ExtraBold" pitchFamily="2" charset="77"/>
                <a:ea typeface="Reddit Sans ExtraBold" pitchFamily="2" charset="77"/>
              </a:rPr>
              <a:t>Empower Women’s Wellness</a:t>
            </a:r>
          </a:p>
        </p:txBody>
      </p:sp>
      <p:sp>
        <p:nvSpPr>
          <p:cNvPr id="62" name="TextBox 61">
            <a:extLst>
              <a:ext uri="{FF2B5EF4-FFF2-40B4-BE49-F238E27FC236}">
                <a16:creationId xmlns:a16="http://schemas.microsoft.com/office/drawing/2014/main" id="{5521B119-E842-036A-FB66-5E22AD082D1A}"/>
              </a:ext>
            </a:extLst>
          </p:cNvPr>
          <p:cNvSpPr txBox="1"/>
          <p:nvPr/>
        </p:nvSpPr>
        <p:spPr>
          <a:xfrm>
            <a:off x="7326271" y="4197473"/>
            <a:ext cx="3619542" cy="461665"/>
          </a:xfrm>
          <a:prstGeom prst="rect">
            <a:avLst/>
          </a:prstGeom>
          <a:noFill/>
        </p:spPr>
        <p:txBody>
          <a:bodyPr wrap="square">
            <a:spAutoFit/>
          </a:bodyPr>
          <a:lstStyle/>
          <a:p>
            <a:r>
              <a:rPr lang="en-US" sz="1200" dirty="0">
                <a:solidFill>
                  <a:srgbClr val="D4DFE8"/>
                </a:solidFill>
                <a:latin typeface="Quicksand" pitchFamily="2" charset="77"/>
              </a:rPr>
              <a:t>Position </a:t>
            </a:r>
            <a:r>
              <a:rPr lang="en-US" sz="1200" dirty="0" err="1">
                <a:solidFill>
                  <a:srgbClr val="D4DFE8"/>
                </a:solidFill>
                <a:latin typeface="Quicksand" pitchFamily="2" charset="77"/>
              </a:rPr>
              <a:t>FemTech</a:t>
            </a:r>
            <a:r>
              <a:rPr lang="en-US" sz="1200" dirty="0">
                <a:solidFill>
                  <a:srgbClr val="D4DFE8"/>
                </a:solidFill>
                <a:latin typeface="Quicksand" pitchFamily="2" charset="77"/>
              </a:rPr>
              <a:t> not only as functional, but as part of modern luxury living.</a:t>
            </a:r>
          </a:p>
        </p:txBody>
      </p:sp>
      <p:sp>
        <p:nvSpPr>
          <p:cNvPr id="63" name="TextBox 62">
            <a:extLst>
              <a:ext uri="{FF2B5EF4-FFF2-40B4-BE49-F238E27FC236}">
                <a16:creationId xmlns:a16="http://schemas.microsoft.com/office/drawing/2014/main" id="{222AAD1B-4698-663E-A96F-09EF76E22E9E}"/>
              </a:ext>
            </a:extLst>
          </p:cNvPr>
          <p:cNvSpPr txBox="1"/>
          <p:nvPr/>
        </p:nvSpPr>
        <p:spPr>
          <a:xfrm>
            <a:off x="7326271" y="3811043"/>
            <a:ext cx="3350042" cy="275788"/>
          </a:xfrm>
          <a:prstGeom prst="rect">
            <a:avLst/>
          </a:prstGeom>
          <a:noFill/>
        </p:spPr>
        <p:txBody>
          <a:bodyPr wrap="square">
            <a:spAutoFit/>
          </a:bodyPr>
          <a:lstStyle/>
          <a:p>
            <a:r>
              <a:rPr lang="en-US" sz="1600" b="1" dirty="0">
                <a:solidFill>
                  <a:srgbClr val="D4DFE8"/>
                </a:solidFill>
                <a:latin typeface="Reddit Sans ExtraBold" pitchFamily="2" charset="77"/>
                <a:ea typeface="Reddit Sans ExtraBold" pitchFamily="2" charset="77"/>
              </a:rPr>
              <a:t>Bridge Tech &amp; Lifestyle</a:t>
            </a:r>
          </a:p>
        </p:txBody>
      </p:sp>
      <p:sp>
        <p:nvSpPr>
          <p:cNvPr id="1024" name="TextBox 1023">
            <a:extLst>
              <a:ext uri="{FF2B5EF4-FFF2-40B4-BE49-F238E27FC236}">
                <a16:creationId xmlns:a16="http://schemas.microsoft.com/office/drawing/2014/main" id="{E7547686-8825-7670-8473-361CD02AFAD8}"/>
              </a:ext>
            </a:extLst>
          </p:cNvPr>
          <p:cNvSpPr txBox="1"/>
          <p:nvPr/>
        </p:nvSpPr>
        <p:spPr>
          <a:xfrm>
            <a:off x="7326271" y="5607230"/>
            <a:ext cx="3619542" cy="461665"/>
          </a:xfrm>
          <a:prstGeom prst="rect">
            <a:avLst/>
          </a:prstGeom>
          <a:noFill/>
        </p:spPr>
        <p:txBody>
          <a:bodyPr wrap="square">
            <a:spAutoFit/>
          </a:bodyPr>
          <a:lstStyle/>
          <a:p>
            <a:r>
              <a:rPr lang="en-US" sz="1200" dirty="0">
                <a:solidFill>
                  <a:srgbClr val="283287"/>
                </a:solidFill>
                <a:latin typeface="Quicksand" pitchFamily="2" charset="77"/>
              </a:rPr>
              <a:t>Build brand credibility in the premium health and wellness segment.</a:t>
            </a:r>
          </a:p>
        </p:txBody>
      </p:sp>
      <p:sp>
        <p:nvSpPr>
          <p:cNvPr id="1025" name="TextBox 1024">
            <a:extLst>
              <a:ext uri="{FF2B5EF4-FFF2-40B4-BE49-F238E27FC236}">
                <a16:creationId xmlns:a16="http://schemas.microsoft.com/office/drawing/2014/main" id="{F4B8C4C9-B4A5-7D60-624F-1C09D677B3F1}"/>
              </a:ext>
            </a:extLst>
          </p:cNvPr>
          <p:cNvSpPr txBox="1"/>
          <p:nvPr/>
        </p:nvSpPr>
        <p:spPr>
          <a:xfrm>
            <a:off x="7326271" y="5198620"/>
            <a:ext cx="3350042" cy="275788"/>
          </a:xfrm>
          <a:prstGeom prst="rect">
            <a:avLst/>
          </a:prstGeom>
          <a:noFill/>
        </p:spPr>
        <p:txBody>
          <a:bodyPr wrap="square">
            <a:spAutoFit/>
          </a:bodyPr>
          <a:lstStyle/>
          <a:p>
            <a:r>
              <a:rPr lang="en-US" sz="1600" b="1" dirty="0">
                <a:solidFill>
                  <a:srgbClr val="283287"/>
                </a:solidFill>
                <a:latin typeface="Reddit Sans ExtraBold" pitchFamily="2" charset="77"/>
                <a:ea typeface="Reddit Sans ExtraBold" pitchFamily="2" charset="77"/>
              </a:rPr>
              <a:t>Establish Market Presence</a:t>
            </a:r>
          </a:p>
        </p:txBody>
      </p:sp>
      <p:pic>
        <p:nvPicPr>
          <p:cNvPr id="1034" name="Picture 1033" descr="A purple heart on a flower&#10;&#10;AI-generated content may be incorrect.">
            <a:extLst>
              <a:ext uri="{FF2B5EF4-FFF2-40B4-BE49-F238E27FC236}">
                <a16:creationId xmlns:a16="http://schemas.microsoft.com/office/drawing/2014/main" id="{4A6CE782-4859-9B25-883E-975C22269521}"/>
              </a:ext>
            </a:extLst>
          </p:cNvPr>
          <p:cNvPicPr>
            <a:picLocks noChangeAspect="1"/>
          </p:cNvPicPr>
          <p:nvPr/>
        </p:nvPicPr>
        <p:blipFill>
          <a:blip r:embed="rId4"/>
          <a:stretch>
            <a:fillRect/>
          </a:stretch>
        </p:blipFill>
        <p:spPr>
          <a:xfrm>
            <a:off x="6503138" y="955050"/>
            <a:ext cx="750998" cy="750998"/>
          </a:xfrm>
          <a:prstGeom prst="rect">
            <a:avLst/>
          </a:prstGeom>
        </p:spPr>
      </p:pic>
      <p:pic>
        <p:nvPicPr>
          <p:cNvPr id="1040" name="Picture 1039" descr="A purple pin on a black background&#10;&#10;AI-generated content may be incorrect.">
            <a:extLst>
              <a:ext uri="{FF2B5EF4-FFF2-40B4-BE49-F238E27FC236}">
                <a16:creationId xmlns:a16="http://schemas.microsoft.com/office/drawing/2014/main" id="{E7874C39-5FC1-E72B-898F-721D70DB85F6}"/>
              </a:ext>
            </a:extLst>
          </p:cNvPr>
          <p:cNvPicPr>
            <a:picLocks noChangeAspect="1"/>
          </p:cNvPicPr>
          <p:nvPr/>
        </p:nvPicPr>
        <p:blipFill>
          <a:blip r:embed="rId5"/>
          <a:stretch>
            <a:fillRect/>
          </a:stretch>
        </p:blipFill>
        <p:spPr>
          <a:xfrm>
            <a:off x="6488607" y="5201397"/>
            <a:ext cx="849864" cy="849864"/>
          </a:xfrm>
          <a:prstGeom prst="rect">
            <a:avLst/>
          </a:prstGeom>
        </p:spPr>
      </p:pic>
      <p:pic>
        <p:nvPicPr>
          <p:cNvPr id="1042" name="Picture 1041" descr="A purple and yellow graphic of a person&#10;&#10;AI-generated content may be incorrect.">
            <a:extLst>
              <a:ext uri="{FF2B5EF4-FFF2-40B4-BE49-F238E27FC236}">
                <a16:creationId xmlns:a16="http://schemas.microsoft.com/office/drawing/2014/main" id="{7CF50FFD-A4F9-C131-09FD-04FEAC6F21A2}"/>
              </a:ext>
            </a:extLst>
          </p:cNvPr>
          <p:cNvPicPr>
            <a:picLocks noChangeAspect="1"/>
          </p:cNvPicPr>
          <p:nvPr/>
        </p:nvPicPr>
        <p:blipFill>
          <a:blip r:embed="rId6"/>
          <a:stretch>
            <a:fillRect/>
          </a:stretch>
        </p:blipFill>
        <p:spPr>
          <a:xfrm>
            <a:off x="6380521" y="3749936"/>
            <a:ext cx="957950" cy="957950"/>
          </a:xfrm>
          <a:prstGeom prst="rect">
            <a:avLst/>
          </a:prstGeom>
        </p:spPr>
      </p:pic>
      <p:pic>
        <p:nvPicPr>
          <p:cNvPr id="1046" name="Picture 1045" descr="A yellow figure running with a blue lightning bolt&#10;&#10;AI-generated content may be incorrect.">
            <a:extLst>
              <a:ext uri="{FF2B5EF4-FFF2-40B4-BE49-F238E27FC236}">
                <a16:creationId xmlns:a16="http://schemas.microsoft.com/office/drawing/2014/main" id="{63157C1C-EA54-C4E3-7CF6-73C89224EE86}"/>
              </a:ext>
            </a:extLst>
          </p:cNvPr>
          <p:cNvPicPr>
            <a:picLocks noChangeAspect="1"/>
          </p:cNvPicPr>
          <p:nvPr/>
        </p:nvPicPr>
        <p:blipFill>
          <a:blip r:embed="rId7"/>
          <a:stretch>
            <a:fillRect/>
          </a:stretch>
        </p:blipFill>
        <p:spPr>
          <a:xfrm>
            <a:off x="6417577" y="2280202"/>
            <a:ext cx="922121" cy="922122"/>
          </a:xfrm>
          <a:prstGeom prst="rect">
            <a:avLst/>
          </a:prstGeom>
        </p:spPr>
      </p:pic>
      <p:pic>
        <p:nvPicPr>
          <p:cNvPr id="3" name="Picture 2" descr="A blue heart with black background&#10;&#10;AI-generated content may be incorrect.">
            <a:extLst>
              <a:ext uri="{FF2B5EF4-FFF2-40B4-BE49-F238E27FC236}">
                <a16:creationId xmlns:a16="http://schemas.microsoft.com/office/drawing/2014/main" id="{5F91334D-9472-22B5-CADD-44AA76D47B0F}"/>
              </a:ext>
            </a:extLst>
          </p:cNvPr>
          <p:cNvPicPr>
            <a:picLocks noChangeAspect="1"/>
          </p:cNvPicPr>
          <p:nvPr/>
        </p:nvPicPr>
        <p:blipFill>
          <a:blip r:embed="rId8"/>
          <a:stretch>
            <a:fillRect/>
          </a:stretch>
        </p:blipFill>
        <p:spPr>
          <a:xfrm rot="16200000">
            <a:off x="147121" y="6405825"/>
            <a:ext cx="311700" cy="275807"/>
          </a:xfrm>
          <a:prstGeom prst="rect">
            <a:avLst/>
          </a:prstGeom>
        </p:spPr>
      </p:pic>
      <p:sp>
        <p:nvSpPr>
          <p:cNvPr id="4" name="Round Single Corner Rectangle 3">
            <a:extLst>
              <a:ext uri="{FF2B5EF4-FFF2-40B4-BE49-F238E27FC236}">
                <a16:creationId xmlns:a16="http://schemas.microsoft.com/office/drawing/2014/main" id="{7C8FA0DB-3296-B99D-54F0-9B10486B0323}"/>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6F05605-88DB-D0F7-3D45-EDE5F48759C6}"/>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4922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D3A56CB8-0EB6-F2BF-C751-8B42498AA6B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191D26B-B9B2-DAA2-9E34-6563AC802D88}"/>
              </a:ext>
            </a:extLst>
          </p:cNvPr>
          <p:cNvSpPr txBox="1"/>
          <p:nvPr/>
        </p:nvSpPr>
        <p:spPr>
          <a:xfrm>
            <a:off x="531914" y="1099717"/>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04/ Success Metrics</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CF9E152F-969B-92E4-78C7-FD1A3184C1F9}"/>
              </a:ext>
            </a:extLst>
          </p:cNvPr>
          <p:cNvSpPr txBox="1"/>
          <p:nvPr/>
        </p:nvSpPr>
        <p:spPr>
          <a:xfrm>
            <a:off x="495744" y="1413895"/>
            <a:ext cx="4289572" cy="1068434"/>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Measuring Impact</a:t>
            </a:r>
          </a:p>
          <a:p>
            <a:pPr>
              <a:lnSpc>
                <a:spcPts val="3800"/>
              </a:lnSpc>
            </a:pPr>
            <a:r>
              <a:rPr lang="en-US" sz="3600" b="1" dirty="0">
                <a:solidFill>
                  <a:srgbClr val="283287"/>
                </a:solidFill>
                <a:latin typeface="Reddit Sans ExtraBold" pitchFamily="2" charset="77"/>
                <a:ea typeface="Reddit Sans ExtraBold" pitchFamily="2" charset="77"/>
              </a:rPr>
              <a:t>&amp; Growth</a:t>
            </a:r>
          </a:p>
        </p:txBody>
      </p:sp>
      <p:pic>
        <p:nvPicPr>
          <p:cNvPr id="53" name="Picture 52">
            <a:extLst>
              <a:ext uri="{FF2B5EF4-FFF2-40B4-BE49-F238E27FC236}">
                <a16:creationId xmlns:a16="http://schemas.microsoft.com/office/drawing/2014/main" id="{325EC6E6-47F1-2549-6F2B-224AC4575F3D}"/>
              </a:ext>
            </a:extLst>
          </p:cNvPr>
          <p:cNvPicPr>
            <a:picLocks noChangeAspect="1"/>
          </p:cNvPicPr>
          <p:nvPr/>
        </p:nvPicPr>
        <p:blipFill>
          <a:blip r:embed="rId3"/>
          <a:stretch>
            <a:fillRect/>
          </a:stretch>
        </p:blipFill>
        <p:spPr>
          <a:xfrm rot="16200000" flipH="1">
            <a:off x="103214" y="6563406"/>
            <a:ext cx="191252" cy="169809"/>
          </a:xfrm>
          <a:prstGeom prst="rect">
            <a:avLst/>
          </a:prstGeom>
        </p:spPr>
      </p:pic>
      <p:sp>
        <p:nvSpPr>
          <p:cNvPr id="62" name="TextBox 61">
            <a:extLst>
              <a:ext uri="{FF2B5EF4-FFF2-40B4-BE49-F238E27FC236}">
                <a16:creationId xmlns:a16="http://schemas.microsoft.com/office/drawing/2014/main" id="{C516024D-AA97-1ED0-BB98-5A281ECDF4FE}"/>
              </a:ext>
            </a:extLst>
          </p:cNvPr>
          <p:cNvSpPr txBox="1"/>
          <p:nvPr/>
        </p:nvSpPr>
        <p:spPr>
          <a:xfrm>
            <a:off x="2133353" y="3900587"/>
            <a:ext cx="2218754" cy="276999"/>
          </a:xfrm>
          <a:prstGeom prst="rect">
            <a:avLst/>
          </a:prstGeom>
          <a:noFill/>
        </p:spPr>
        <p:txBody>
          <a:bodyPr wrap="square">
            <a:spAutoFit/>
          </a:bodyPr>
          <a:lstStyle/>
          <a:p>
            <a:r>
              <a:rPr lang="en-US" sz="1200" b="1" dirty="0">
                <a:solidFill>
                  <a:srgbClr val="283287"/>
                </a:solidFill>
                <a:latin typeface="Reddit Sans ExtraBold" pitchFamily="2" charset="77"/>
                <a:ea typeface="Reddit Sans ExtraBold" pitchFamily="2" charset="77"/>
              </a:rPr>
              <a:t>Product Success</a:t>
            </a:r>
          </a:p>
        </p:txBody>
      </p:sp>
      <p:sp>
        <p:nvSpPr>
          <p:cNvPr id="63" name="TextBox 62">
            <a:extLst>
              <a:ext uri="{FF2B5EF4-FFF2-40B4-BE49-F238E27FC236}">
                <a16:creationId xmlns:a16="http://schemas.microsoft.com/office/drawing/2014/main" id="{5A795F3F-23D3-69CC-65A7-4769A5333478}"/>
              </a:ext>
            </a:extLst>
          </p:cNvPr>
          <p:cNvSpPr txBox="1"/>
          <p:nvPr/>
        </p:nvSpPr>
        <p:spPr>
          <a:xfrm>
            <a:off x="1202576" y="3919594"/>
            <a:ext cx="930776" cy="477054"/>
          </a:xfrm>
          <a:prstGeom prst="rect">
            <a:avLst/>
          </a:prstGeom>
          <a:noFill/>
        </p:spPr>
        <p:txBody>
          <a:bodyPr wrap="square">
            <a:spAutoFit/>
          </a:bodyPr>
          <a:lstStyle/>
          <a:p>
            <a:r>
              <a:rPr lang="en-US" sz="2500" b="1" dirty="0">
                <a:solidFill>
                  <a:srgbClr val="283287"/>
                </a:solidFill>
                <a:latin typeface="Reddit Sans ExtraBold" pitchFamily="2" charset="77"/>
                <a:ea typeface="Reddit Sans ExtraBold" pitchFamily="2" charset="77"/>
              </a:rPr>
              <a:t>40%</a:t>
            </a:r>
          </a:p>
        </p:txBody>
      </p:sp>
      <p:sp>
        <p:nvSpPr>
          <p:cNvPr id="4" name="TextBox 3">
            <a:extLst>
              <a:ext uri="{FF2B5EF4-FFF2-40B4-BE49-F238E27FC236}">
                <a16:creationId xmlns:a16="http://schemas.microsoft.com/office/drawing/2014/main" id="{185CA6B3-C320-0921-F39C-B6F3B4481C43}"/>
              </a:ext>
            </a:extLst>
          </p:cNvPr>
          <p:cNvSpPr txBox="1"/>
          <p:nvPr/>
        </p:nvSpPr>
        <p:spPr>
          <a:xfrm>
            <a:off x="2133353" y="4089321"/>
            <a:ext cx="2181115" cy="461665"/>
          </a:xfrm>
          <a:prstGeom prst="rect">
            <a:avLst/>
          </a:prstGeom>
          <a:noFill/>
        </p:spPr>
        <p:txBody>
          <a:bodyPr wrap="square">
            <a:spAutoFit/>
          </a:bodyPr>
          <a:lstStyle/>
          <a:p>
            <a:pPr>
              <a:buNone/>
            </a:pPr>
            <a:r>
              <a:rPr lang="en-US" sz="1200" dirty="0">
                <a:solidFill>
                  <a:srgbClr val="283287"/>
                </a:solidFill>
                <a:latin typeface="Quicksand" pitchFamily="2" charset="77"/>
              </a:rPr>
              <a:t>Device performance, user engagement, reliability</a:t>
            </a:r>
          </a:p>
        </p:txBody>
      </p:sp>
      <p:sp>
        <p:nvSpPr>
          <p:cNvPr id="5" name="TextBox 4">
            <a:extLst>
              <a:ext uri="{FF2B5EF4-FFF2-40B4-BE49-F238E27FC236}">
                <a16:creationId xmlns:a16="http://schemas.microsoft.com/office/drawing/2014/main" id="{B92025A9-AD8B-BE21-7136-D51FFCC73773}"/>
              </a:ext>
            </a:extLst>
          </p:cNvPr>
          <p:cNvSpPr txBox="1"/>
          <p:nvPr/>
        </p:nvSpPr>
        <p:spPr>
          <a:xfrm>
            <a:off x="2133353" y="4808340"/>
            <a:ext cx="2218754" cy="276999"/>
          </a:xfrm>
          <a:prstGeom prst="rect">
            <a:avLst/>
          </a:prstGeom>
          <a:noFill/>
        </p:spPr>
        <p:txBody>
          <a:bodyPr wrap="square">
            <a:spAutoFit/>
          </a:bodyPr>
          <a:lstStyle/>
          <a:p>
            <a:r>
              <a:rPr lang="en-US" sz="1200" b="1" dirty="0">
                <a:solidFill>
                  <a:srgbClr val="283287"/>
                </a:solidFill>
                <a:latin typeface="Reddit Sans ExtraBold" pitchFamily="2" charset="77"/>
                <a:ea typeface="Reddit Sans ExtraBold" pitchFamily="2" charset="77"/>
              </a:rPr>
              <a:t>Market Growth</a:t>
            </a:r>
          </a:p>
        </p:txBody>
      </p:sp>
      <p:sp>
        <p:nvSpPr>
          <p:cNvPr id="6" name="TextBox 5">
            <a:extLst>
              <a:ext uri="{FF2B5EF4-FFF2-40B4-BE49-F238E27FC236}">
                <a16:creationId xmlns:a16="http://schemas.microsoft.com/office/drawing/2014/main" id="{D50A2FD0-12CD-1F66-DF7D-F972A63B46DA}"/>
              </a:ext>
            </a:extLst>
          </p:cNvPr>
          <p:cNvSpPr txBox="1"/>
          <p:nvPr/>
        </p:nvSpPr>
        <p:spPr>
          <a:xfrm>
            <a:off x="1202576" y="4827347"/>
            <a:ext cx="930776" cy="477054"/>
          </a:xfrm>
          <a:prstGeom prst="rect">
            <a:avLst/>
          </a:prstGeom>
          <a:noFill/>
        </p:spPr>
        <p:txBody>
          <a:bodyPr wrap="square">
            <a:spAutoFit/>
          </a:bodyPr>
          <a:lstStyle/>
          <a:p>
            <a:r>
              <a:rPr lang="en-US" sz="2500" b="1" dirty="0">
                <a:solidFill>
                  <a:srgbClr val="283287"/>
                </a:solidFill>
                <a:latin typeface="Reddit Sans ExtraBold" pitchFamily="2" charset="77"/>
                <a:ea typeface="Reddit Sans ExtraBold" pitchFamily="2" charset="77"/>
              </a:rPr>
              <a:t>35%</a:t>
            </a:r>
          </a:p>
        </p:txBody>
      </p:sp>
      <p:sp>
        <p:nvSpPr>
          <p:cNvPr id="10" name="TextBox 9">
            <a:extLst>
              <a:ext uri="{FF2B5EF4-FFF2-40B4-BE49-F238E27FC236}">
                <a16:creationId xmlns:a16="http://schemas.microsoft.com/office/drawing/2014/main" id="{5AF2417D-CB88-A9A0-0DAF-8E759836FFF0}"/>
              </a:ext>
            </a:extLst>
          </p:cNvPr>
          <p:cNvSpPr txBox="1"/>
          <p:nvPr/>
        </p:nvSpPr>
        <p:spPr>
          <a:xfrm>
            <a:off x="2133353" y="4997074"/>
            <a:ext cx="1724164" cy="600164"/>
          </a:xfrm>
          <a:prstGeom prst="rect">
            <a:avLst/>
          </a:prstGeom>
          <a:noFill/>
        </p:spPr>
        <p:txBody>
          <a:bodyPr wrap="square">
            <a:spAutoFit/>
          </a:bodyPr>
          <a:lstStyle/>
          <a:p>
            <a:r>
              <a:rPr lang="en-US" sz="1200" dirty="0">
                <a:solidFill>
                  <a:srgbClr val="283287"/>
                </a:solidFill>
                <a:latin typeface="Quicksand" pitchFamily="2" charset="77"/>
              </a:rPr>
              <a:t>Sales, revenue increase, market expansion</a:t>
            </a:r>
          </a:p>
          <a:p>
            <a:pPr>
              <a:buNone/>
            </a:pPr>
            <a:endParaRPr lang="en-US" sz="900" dirty="0">
              <a:solidFill>
                <a:srgbClr val="283287"/>
              </a:solidFill>
              <a:latin typeface="Quicksand" pitchFamily="2" charset="77"/>
            </a:endParaRPr>
          </a:p>
        </p:txBody>
      </p:sp>
      <p:sp>
        <p:nvSpPr>
          <p:cNvPr id="11" name="TextBox 10">
            <a:extLst>
              <a:ext uri="{FF2B5EF4-FFF2-40B4-BE49-F238E27FC236}">
                <a16:creationId xmlns:a16="http://schemas.microsoft.com/office/drawing/2014/main" id="{634AF349-CA5C-3E72-0366-B971C45A9F04}"/>
              </a:ext>
            </a:extLst>
          </p:cNvPr>
          <p:cNvSpPr txBox="1"/>
          <p:nvPr/>
        </p:nvSpPr>
        <p:spPr>
          <a:xfrm>
            <a:off x="2133353" y="5665191"/>
            <a:ext cx="2218754" cy="276999"/>
          </a:xfrm>
          <a:prstGeom prst="rect">
            <a:avLst/>
          </a:prstGeom>
          <a:noFill/>
        </p:spPr>
        <p:txBody>
          <a:bodyPr wrap="square">
            <a:spAutoFit/>
          </a:bodyPr>
          <a:lstStyle/>
          <a:p>
            <a:r>
              <a:rPr lang="en-US" sz="1200" b="1" dirty="0">
                <a:solidFill>
                  <a:srgbClr val="283287"/>
                </a:solidFill>
                <a:latin typeface="Reddit Sans ExtraBold" pitchFamily="2" charset="77"/>
                <a:ea typeface="Reddit Sans ExtraBold" pitchFamily="2" charset="77"/>
              </a:rPr>
              <a:t>Brand Impact</a:t>
            </a:r>
          </a:p>
        </p:txBody>
      </p:sp>
      <p:sp>
        <p:nvSpPr>
          <p:cNvPr id="12" name="TextBox 11">
            <a:extLst>
              <a:ext uri="{FF2B5EF4-FFF2-40B4-BE49-F238E27FC236}">
                <a16:creationId xmlns:a16="http://schemas.microsoft.com/office/drawing/2014/main" id="{E3DF0E51-FD87-7958-739C-B5D335F2AF05}"/>
              </a:ext>
            </a:extLst>
          </p:cNvPr>
          <p:cNvSpPr txBox="1"/>
          <p:nvPr/>
        </p:nvSpPr>
        <p:spPr>
          <a:xfrm>
            <a:off x="1202576" y="5684198"/>
            <a:ext cx="930776" cy="477054"/>
          </a:xfrm>
          <a:prstGeom prst="rect">
            <a:avLst/>
          </a:prstGeom>
          <a:noFill/>
        </p:spPr>
        <p:txBody>
          <a:bodyPr wrap="square">
            <a:spAutoFit/>
          </a:bodyPr>
          <a:lstStyle/>
          <a:p>
            <a:r>
              <a:rPr lang="en-US" sz="2500" b="1" dirty="0">
                <a:solidFill>
                  <a:srgbClr val="283287"/>
                </a:solidFill>
                <a:latin typeface="Reddit Sans ExtraBold" pitchFamily="2" charset="77"/>
                <a:ea typeface="Reddit Sans ExtraBold" pitchFamily="2" charset="77"/>
              </a:rPr>
              <a:t>25%</a:t>
            </a:r>
          </a:p>
        </p:txBody>
      </p:sp>
      <p:sp>
        <p:nvSpPr>
          <p:cNvPr id="13" name="TextBox 12">
            <a:extLst>
              <a:ext uri="{FF2B5EF4-FFF2-40B4-BE49-F238E27FC236}">
                <a16:creationId xmlns:a16="http://schemas.microsoft.com/office/drawing/2014/main" id="{01FEA06E-1937-6154-AA93-E52370E1A090}"/>
              </a:ext>
            </a:extLst>
          </p:cNvPr>
          <p:cNvSpPr txBox="1"/>
          <p:nvPr/>
        </p:nvSpPr>
        <p:spPr>
          <a:xfrm>
            <a:off x="2133353" y="5853925"/>
            <a:ext cx="1877662" cy="600164"/>
          </a:xfrm>
          <a:prstGeom prst="rect">
            <a:avLst/>
          </a:prstGeom>
          <a:noFill/>
        </p:spPr>
        <p:txBody>
          <a:bodyPr wrap="square">
            <a:spAutoFit/>
          </a:bodyPr>
          <a:lstStyle/>
          <a:p>
            <a:r>
              <a:rPr lang="en-US" sz="1200" dirty="0">
                <a:solidFill>
                  <a:srgbClr val="283287"/>
                </a:solidFill>
                <a:latin typeface="Quicksand" pitchFamily="2" charset="77"/>
              </a:rPr>
              <a:t>Awareness, partnerships, customer satisfaction</a:t>
            </a:r>
          </a:p>
          <a:p>
            <a:pPr>
              <a:buNone/>
            </a:pPr>
            <a:endParaRPr lang="en-US" sz="900" dirty="0">
              <a:solidFill>
                <a:srgbClr val="283287"/>
              </a:solidFill>
              <a:latin typeface="Quicksand" pitchFamily="2" charset="77"/>
            </a:endParaRPr>
          </a:p>
        </p:txBody>
      </p:sp>
      <p:sp>
        <p:nvSpPr>
          <p:cNvPr id="14" name="Round Diagonal Corner Rectangle 13">
            <a:extLst>
              <a:ext uri="{FF2B5EF4-FFF2-40B4-BE49-F238E27FC236}">
                <a16:creationId xmlns:a16="http://schemas.microsoft.com/office/drawing/2014/main" id="{D43A15DB-3A4A-971F-4D5F-01110828AA5C}"/>
              </a:ext>
            </a:extLst>
          </p:cNvPr>
          <p:cNvSpPr/>
          <p:nvPr/>
        </p:nvSpPr>
        <p:spPr>
          <a:xfrm rot="10800000">
            <a:off x="5920600" y="646113"/>
            <a:ext cx="5640351" cy="5592762"/>
          </a:xfrm>
          <a:prstGeom prst="round2Diag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
            <a:extLst>
              <a:ext uri="{FF2B5EF4-FFF2-40B4-BE49-F238E27FC236}">
                <a16:creationId xmlns:a16="http://schemas.microsoft.com/office/drawing/2014/main" id="{8DD3493C-1256-E0A8-D3F9-515782D557D7}"/>
              </a:ext>
            </a:extLst>
          </p:cNvPr>
          <p:cNvSpPr>
            <a:spLocks noChangeArrowheads="1"/>
          </p:cNvSpPr>
          <p:nvPr/>
        </p:nvSpPr>
        <p:spPr bwMode="auto">
          <a:xfrm>
            <a:off x="495744" y="2600307"/>
            <a:ext cx="406468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83287"/>
                </a:solidFill>
                <a:effectLst/>
                <a:latin typeface="Quicksand" pitchFamily="2" charset="77"/>
              </a:rPr>
              <a:t>This section outlines how success will be measured across product performance, market growth, and brand impact. It reflects our commitment to innovation, design excellence — ensuring progress is tracked not only in numbers, but in the value created for users and the broader </a:t>
            </a:r>
            <a:r>
              <a:rPr kumimoji="0" lang="en-US" altLang="en-US" sz="1200" b="0" i="0" u="none" strike="noStrike" cap="none" normalizeH="0" baseline="0" dirty="0" err="1">
                <a:ln>
                  <a:noFill/>
                </a:ln>
                <a:solidFill>
                  <a:srgbClr val="283287"/>
                </a:solidFill>
                <a:effectLst/>
                <a:latin typeface="Quicksand" pitchFamily="2" charset="77"/>
              </a:rPr>
              <a:t>FemTech</a:t>
            </a:r>
            <a:r>
              <a:rPr kumimoji="0" lang="en-US" altLang="en-US" sz="1200" b="0" i="0" u="none" strike="noStrike" cap="none" normalizeH="0" baseline="0" dirty="0">
                <a:ln>
                  <a:noFill/>
                </a:ln>
                <a:solidFill>
                  <a:srgbClr val="283287"/>
                </a:solidFill>
                <a:effectLst/>
                <a:latin typeface="Quicksand" pitchFamily="2" charset="77"/>
              </a:rPr>
              <a:t> ecosystem.</a:t>
            </a:r>
          </a:p>
        </p:txBody>
      </p:sp>
      <p:graphicFrame>
        <p:nvGraphicFramePr>
          <p:cNvPr id="18" name="Chart 17">
            <a:extLst>
              <a:ext uri="{FF2B5EF4-FFF2-40B4-BE49-F238E27FC236}">
                <a16:creationId xmlns:a16="http://schemas.microsoft.com/office/drawing/2014/main" id="{85B6BDF5-947D-22B6-D013-E63B8A9168A3}"/>
              </a:ext>
            </a:extLst>
          </p:cNvPr>
          <p:cNvGraphicFramePr/>
          <p:nvPr>
            <p:extLst>
              <p:ext uri="{D42A27DB-BD31-4B8C-83A1-F6EECF244321}">
                <p14:modId xmlns:p14="http://schemas.microsoft.com/office/powerpoint/2010/main" val="2339556086"/>
              </p:ext>
            </p:extLst>
          </p:nvPr>
        </p:nvGraphicFramePr>
        <p:xfrm>
          <a:off x="5000187" y="935274"/>
          <a:ext cx="7481176" cy="4987451"/>
        </p:xfrm>
        <a:graphic>
          <a:graphicData uri="http://schemas.openxmlformats.org/drawingml/2006/chart">
            <c:chart xmlns:c="http://schemas.openxmlformats.org/drawingml/2006/chart" xmlns:r="http://schemas.openxmlformats.org/officeDocument/2006/relationships" r:id="rId4"/>
          </a:graphicData>
        </a:graphic>
      </p:graphicFrame>
      <p:pic>
        <p:nvPicPr>
          <p:cNvPr id="2" name="Picture 1" descr="A blue heart with black background&#10;&#10;AI-generated content may be incorrect.">
            <a:extLst>
              <a:ext uri="{FF2B5EF4-FFF2-40B4-BE49-F238E27FC236}">
                <a16:creationId xmlns:a16="http://schemas.microsoft.com/office/drawing/2014/main" id="{324DF2C9-3558-79C3-07C7-864295400D1C}"/>
              </a:ext>
            </a:extLst>
          </p:cNvPr>
          <p:cNvPicPr>
            <a:picLocks noChangeAspect="1"/>
          </p:cNvPicPr>
          <p:nvPr/>
        </p:nvPicPr>
        <p:blipFill>
          <a:blip r:embed="rId5"/>
          <a:stretch>
            <a:fillRect/>
          </a:stretch>
        </p:blipFill>
        <p:spPr>
          <a:xfrm rot="16200000">
            <a:off x="147121" y="6405825"/>
            <a:ext cx="311700" cy="275807"/>
          </a:xfrm>
          <a:prstGeom prst="rect">
            <a:avLst/>
          </a:prstGeom>
        </p:spPr>
      </p:pic>
      <p:sp>
        <p:nvSpPr>
          <p:cNvPr id="3" name="Round Single Corner Rectangle 2">
            <a:extLst>
              <a:ext uri="{FF2B5EF4-FFF2-40B4-BE49-F238E27FC236}">
                <a16:creationId xmlns:a16="http://schemas.microsoft.com/office/drawing/2014/main" id="{DA5584D9-97D1-1700-4A68-50D5B1D77C7D}"/>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6E20B55-373B-4447-0C77-8D2B0BDF44B5}"/>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7617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C982A7E5-74D0-AA4B-7933-B2F0051C4C24}"/>
            </a:ext>
          </a:extLst>
        </p:cNvPr>
        <p:cNvGrpSpPr/>
        <p:nvPr/>
      </p:nvGrpSpPr>
      <p:grpSpPr>
        <a:xfrm>
          <a:off x="0" y="0"/>
          <a:ext cx="0" cy="0"/>
          <a:chOff x="0" y="0"/>
          <a:chExt cx="0" cy="0"/>
        </a:xfrm>
      </p:grpSpPr>
      <p:pic>
        <p:nvPicPr>
          <p:cNvPr id="53" name="Picture 52">
            <a:extLst>
              <a:ext uri="{FF2B5EF4-FFF2-40B4-BE49-F238E27FC236}">
                <a16:creationId xmlns:a16="http://schemas.microsoft.com/office/drawing/2014/main" id="{BE72017D-F20C-5797-76AE-F8338B1B8920}"/>
              </a:ext>
            </a:extLst>
          </p:cNvPr>
          <p:cNvPicPr>
            <a:picLocks noChangeAspect="1"/>
          </p:cNvPicPr>
          <p:nvPr/>
        </p:nvPicPr>
        <p:blipFill>
          <a:blip r:embed="rId3"/>
          <a:stretch>
            <a:fillRect/>
          </a:stretch>
        </p:blipFill>
        <p:spPr>
          <a:xfrm rot="16200000" flipH="1">
            <a:off x="103214" y="6563406"/>
            <a:ext cx="191252" cy="169809"/>
          </a:xfrm>
          <a:prstGeom prst="rect">
            <a:avLst/>
          </a:prstGeom>
        </p:spPr>
      </p:pic>
      <p:sp>
        <p:nvSpPr>
          <p:cNvPr id="8" name="TextBox 7">
            <a:extLst>
              <a:ext uri="{FF2B5EF4-FFF2-40B4-BE49-F238E27FC236}">
                <a16:creationId xmlns:a16="http://schemas.microsoft.com/office/drawing/2014/main" id="{1C8F265E-36E3-00F4-0279-9A1D8BE3827C}"/>
              </a:ext>
            </a:extLst>
          </p:cNvPr>
          <p:cNvSpPr txBox="1"/>
          <p:nvPr/>
        </p:nvSpPr>
        <p:spPr>
          <a:xfrm>
            <a:off x="531914" y="3684682"/>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05/ Project </a:t>
            </a:r>
            <a:r>
              <a:rPr lang="en-US" sz="900" dirty="0">
                <a:solidFill>
                  <a:srgbClr val="283287"/>
                </a:solidFill>
                <a:latin typeface="Quicksand" pitchFamily="2" charset="77"/>
                <a:ea typeface="Reddit Sans" pitchFamily="2" charset="77"/>
              </a:rPr>
              <a:t>timeline</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89714FA3-B2C6-DF96-7C15-9E38BEAD17B2}"/>
              </a:ext>
            </a:extLst>
          </p:cNvPr>
          <p:cNvSpPr txBox="1"/>
          <p:nvPr/>
        </p:nvSpPr>
        <p:spPr>
          <a:xfrm>
            <a:off x="495744" y="4027888"/>
            <a:ext cx="3558731" cy="1555747"/>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From Concept to Launch and Beyond</a:t>
            </a:r>
          </a:p>
        </p:txBody>
      </p:sp>
      <p:sp>
        <p:nvSpPr>
          <p:cNvPr id="17" name="Oval 16">
            <a:extLst>
              <a:ext uri="{FF2B5EF4-FFF2-40B4-BE49-F238E27FC236}">
                <a16:creationId xmlns:a16="http://schemas.microsoft.com/office/drawing/2014/main" id="{A98DA8F8-B054-B56E-7750-53606FF47434}"/>
              </a:ext>
            </a:extLst>
          </p:cNvPr>
          <p:cNvSpPr/>
          <p:nvPr/>
        </p:nvSpPr>
        <p:spPr>
          <a:xfrm>
            <a:off x="6728218" y="4054235"/>
            <a:ext cx="230832" cy="230832"/>
          </a:xfrm>
          <a:prstGeom prst="ellipse">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E578CF2-87FD-498D-C7CD-CD74F9B0F6DD}"/>
              </a:ext>
            </a:extLst>
          </p:cNvPr>
          <p:cNvSpPr txBox="1"/>
          <p:nvPr/>
        </p:nvSpPr>
        <p:spPr>
          <a:xfrm>
            <a:off x="6963954" y="3984919"/>
            <a:ext cx="2049465" cy="276999"/>
          </a:xfrm>
          <a:prstGeom prst="rect">
            <a:avLst/>
          </a:prstGeom>
          <a:noFill/>
        </p:spPr>
        <p:txBody>
          <a:bodyPr wrap="square">
            <a:spAutoFit/>
          </a:bodyPr>
          <a:lstStyle/>
          <a:p>
            <a:r>
              <a:rPr lang="en-US" sz="1200" b="1" dirty="0">
                <a:solidFill>
                  <a:srgbClr val="283287"/>
                </a:solidFill>
                <a:latin typeface="Reddit Sans" pitchFamily="2" charset="77"/>
                <a:ea typeface="Reddit Sans" pitchFamily="2" charset="77"/>
              </a:rPr>
              <a:t>Concept &amp; Research</a:t>
            </a:r>
          </a:p>
        </p:txBody>
      </p:sp>
      <p:sp>
        <p:nvSpPr>
          <p:cNvPr id="20" name="TextBox 19">
            <a:extLst>
              <a:ext uri="{FF2B5EF4-FFF2-40B4-BE49-F238E27FC236}">
                <a16:creationId xmlns:a16="http://schemas.microsoft.com/office/drawing/2014/main" id="{0B262297-EE52-C431-F6C1-B7CA447CB310}"/>
              </a:ext>
            </a:extLst>
          </p:cNvPr>
          <p:cNvSpPr txBox="1"/>
          <p:nvPr/>
        </p:nvSpPr>
        <p:spPr>
          <a:xfrm>
            <a:off x="6959051" y="4196982"/>
            <a:ext cx="1905266" cy="605294"/>
          </a:xfrm>
          <a:prstGeom prst="rect">
            <a:avLst/>
          </a:prstGeom>
          <a:noFill/>
        </p:spPr>
        <p:txBody>
          <a:bodyPr wrap="square">
            <a:spAutoFit/>
          </a:bodyPr>
          <a:lstStyle/>
          <a:p>
            <a:pPr>
              <a:lnSpc>
                <a:spcPts val="980"/>
              </a:lnSpc>
            </a:pPr>
            <a:r>
              <a:rPr lang="en-US" altLang="en-US" sz="900" dirty="0">
                <a:solidFill>
                  <a:srgbClr val="283287"/>
                </a:solidFill>
                <a:latin typeface="Quicksand" pitchFamily="2" charset="77"/>
              </a:rPr>
              <a:t>Define product vision, research </a:t>
            </a:r>
            <a:r>
              <a:rPr lang="en-US" altLang="en-US" sz="900" dirty="0" err="1">
                <a:solidFill>
                  <a:srgbClr val="283287"/>
                </a:solidFill>
                <a:latin typeface="Quicksand" pitchFamily="2" charset="77"/>
              </a:rPr>
              <a:t>FemTech</a:t>
            </a:r>
            <a:r>
              <a:rPr lang="en-US" altLang="en-US" sz="900" dirty="0">
                <a:solidFill>
                  <a:srgbClr val="283287"/>
                </a:solidFill>
                <a:latin typeface="Quicksand" pitchFamily="2" charset="77"/>
              </a:rPr>
              <a:t> trends, analyze user needs and lifestyle aesthetics.</a:t>
            </a:r>
          </a:p>
          <a:p>
            <a:pPr algn="just">
              <a:lnSpc>
                <a:spcPts val="980"/>
              </a:lnSpc>
            </a:pPr>
            <a:endParaRPr lang="en-US" sz="900" b="1" dirty="0">
              <a:latin typeface="Quicksand" pitchFamily="2" charset="77"/>
            </a:endParaRPr>
          </a:p>
        </p:txBody>
      </p:sp>
      <p:sp>
        <p:nvSpPr>
          <p:cNvPr id="21" name="Oval 20">
            <a:extLst>
              <a:ext uri="{FF2B5EF4-FFF2-40B4-BE49-F238E27FC236}">
                <a16:creationId xmlns:a16="http://schemas.microsoft.com/office/drawing/2014/main" id="{AC151892-3A25-B6D5-B2C7-613E3AB7CF72}"/>
              </a:ext>
            </a:extLst>
          </p:cNvPr>
          <p:cNvSpPr/>
          <p:nvPr/>
        </p:nvSpPr>
        <p:spPr>
          <a:xfrm>
            <a:off x="6728218" y="4910474"/>
            <a:ext cx="230832" cy="230832"/>
          </a:xfrm>
          <a:prstGeom prst="ellipse">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8DDE015-9BDC-ECD9-77EC-FEF346ACD2A2}"/>
              </a:ext>
            </a:extLst>
          </p:cNvPr>
          <p:cNvSpPr txBox="1"/>
          <p:nvPr/>
        </p:nvSpPr>
        <p:spPr>
          <a:xfrm>
            <a:off x="6963954" y="4841158"/>
            <a:ext cx="2049465" cy="276999"/>
          </a:xfrm>
          <a:prstGeom prst="rect">
            <a:avLst/>
          </a:prstGeom>
          <a:noFill/>
        </p:spPr>
        <p:txBody>
          <a:bodyPr wrap="square">
            <a:spAutoFit/>
          </a:bodyPr>
          <a:lstStyle/>
          <a:p>
            <a:r>
              <a:rPr lang="en-US" sz="1200" b="1" dirty="0">
                <a:solidFill>
                  <a:srgbClr val="283287"/>
                </a:solidFill>
                <a:latin typeface="Reddit Sans" pitchFamily="2" charset="77"/>
                <a:ea typeface="Reddit Sans" pitchFamily="2" charset="77"/>
              </a:rPr>
              <a:t>Design &amp; Prototyping</a:t>
            </a:r>
          </a:p>
        </p:txBody>
      </p:sp>
      <p:sp>
        <p:nvSpPr>
          <p:cNvPr id="24" name="TextBox 23">
            <a:extLst>
              <a:ext uri="{FF2B5EF4-FFF2-40B4-BE49-F238E27FC236}">
                <a16:creationId xmlns:a16="http://schemas.microsoft.com/office/drawing/2014/main" id="{8AF532BB-4ABA-D647-AA65-1FFA7E12F2C4}"/>
              </a:ext>
            </a:extLst>
          </p:cNvPr>
          <p:cNvSpPr txBox="1"/>
          <p:nvPr/>
        </p:nvSpPr>
        <p:spPr>
          <a:xfrm>
            <a:off x="6959050" y="5057680"/>
            <a:ext cx="1905266" cy="348813"/>
          </a:xfrm>
          <a:prstGeom prst="rect">
            <a:avLst/>
          </a:prstGeom>
          <a:noFill/>
        </p:spPr>
        <p:txBody>
          <a:bodyPr wrap="square">
            <a:spAutoFit/>
          </a:bodyPr>
          <a:lstStyle/>
          <a:p>
            <a:pPr>
              <a:lnSpc>
                <a:spcPts val="980"/>
              </a:lnSpc>
            </a:pPr>
            <a:r>
              <a:rPr lang="en-US" altLang="en-US" sz="900" dirty="0">
                <a:solidFill>
                  <a:srgbClr val="283287"/>
                </a:solidFill>
                <a:latin typeface="Quicksand" pitchFamily="2" charset="77"/>
              </a:rPr>
              <a:t>Develop first wearable prototypes; refine UI/UX and physical design.</a:t>
            </a:r>
          </a:p>
        </p:txBody>
      </p:sp>
      <p:sp>
        <p:nvSpPr>
          <p:cNvPr id="25" name="Oval 24">
            <a:extLst>
              <a:ext uri="{FF2B5EF4-FFF2-40B4-BE49-F238E27FC236}">
                <a16:creationId xmlns:a16="http://schemas.microsoft.com/office/drawing/2014/main" id="{C4671C02-D0B7-D889-5C41-DEAD0D0F991D}"/>
              </a:ext>
            </a:extLst>
          </p:cNvPr>
          <p:cNvSpPr/>
          <p:nvPr/>
        </p:nvSpPr>
        <p:spPr>
          <a:xfrm>
            <a:off x="9399774" y="4051976"/>
            <a:ext cx="230832" cy="230832"/>
          </a:xfrm>
          <a:prstGeom prst="ellipse">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3AB72D3-8B70-F0A3-DB76-BA4F2FCE127A}"/>
              </a:ext>
            </a:extLst>
          </p:cNvPr>
          <p:cNvSpPr txBox="1"/>
          <p:nvPr/>
        </p:nvSpPr>
        <p:spPr>
          <a:xfrm>
            <a:off x="9635510" y="3982660"/>
            <a:ext cx="1905266" cy="276999"/>
          </a:xfrm>
          <a:prstGeom prst="rect">
            <a:avLst/>
          </a:prstGeom>
          <a:noFill/>
        </p:spPr>
        <p:txBody>
          <a:bodyPr wrap="square">
            <a:spAutoFit/>
          </a:bodyPr>
          <a:lstStyle/>
          <a:p>
            <a:r>
              <a:rPr lang="en-US" sz="1200" b="1" dirty="0">
                <a:solidFill>
                  <a:srgbClr val="283287"/>
                </a:solidFill>
                <a:latin typeface="Reddit Sans" pitchFamily="2" charset="77"/>
                <a:ea typeface="Reddit Sans" pitchFamily="2" charset="77"/>
              </a:rPr>
              <a:t>Launch Preparation</a:t>
            </a:r>
          </a:p>
        </p:txBody>
      </p:sp>
      <p:sp>
        <p:nvSpPr>
          <p:cNvPr id="28" name="TextBox 27">
            <a:extLst>
              <a:ext uri="{FF2B5EF4-FFF2-40B4-BE49-F238E27FC236}">
                <a16:creationId xmlns:a16="http://schemas.microsoft.com/office/drawing/2014/main" id="{6BC73866-162E-5A69-597C-C03D0F3E3F47}"/>
              </a:ext>
            </a:extLst>
          </p:cNvPr>
          <p:cNvSpPr txBox="1"/>
          <p:nvPr/>
        </p:nvSpPr>
        <p:spPr>
          <a:xfrm>
            <a:off x="9630607" y="4194723"/>
            <a:ext cx="1905266" cy="348813"/>
          </a:xfrm>
          <a:prstGeom prst="rect">
            <a:avLst/>
          </a:prstGeom>
          <a:noFill/>
        </p:spPr>
        <p:txBody>
          <a:bodyPr wrap="square">
            <a:spAutoFit/>
          </a:bodyPr>
          <a:lstStyle/>
          <a:p>
            <a:pPr>
              <a:lnSpc>
                <a:spcPts val="980"/>
              </a:lnSpc>
            </a:pPr>
            <a:r>
              <a:rPr lang="en-US" altLang="en-US" sz="900" dirty="0">
                <a:solidFill>
                  <a:srgbClr val="283287"/>
                </a:solidFill>
                <a:latin typeface="Quicksand" pitchFamily="2" charset="77"/>
              </a:rPr>
              <a:t>Finalize packaging, marketing assets, and influencer collaborations.</a:t>
            </a:r>
            <a:endParaRPr lang="en-US" sz="900" b="1" dirty="0">
              <a:latin typeface="Quicksand" pitchFamily="2" charset="77"/>
            </a:endParaRPr>
          </a:p>
        </p:txBody>
      </p:sp>
      <p:sp>
        <p:nvSpPr>
          <p:cNvPr id="29" name="Oval 28">
            <a:extLst>
              <a:ext uri="{FF2B5EF4-FFF2-40B4-BE49-F238E27FC236}">
                <a16:creationId xmlns:a16="http://schemas.microsoft.com/office/drawing/2014/main" id="{158DACF7-0C50-54FE-1D4B-A8C0C602FED0}"/>
              </a:ext>
            </a:extLst>
          </p:cNvPr>
          <p:cNvSpPr/>
          <p:nvPr/>
        </p:nvSpPr>
        <p:spPr>
          <a:xfrm>
            <a:off x="9415998" y="4911883"/>
            <a:ext cx="230832" cy="230832"/>
          </a:xfrm>
          <a:prstGeom prst="ellipse">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A6820C5-99F1-32FF-D2A6-FED77F41F86F}"/>
              </a:ext>
            </a:extLst>
          </p:cNvPr>
          <p:cNvSpPr txBox="1"/>
          <p:nvPr/>
        </p:nvSpPr>
        <p:spPr>
          <a:xfrm>
            <a:off x="9651734" y="4842567"/>
            <a:ext cx="1905266" cy="276999"/>
          </a:xfrm>
          <a:prstGeom prst="rect">
            <a:avLst/>
          </a:prstGeom>
          <a:noFill/>
        </p:spPr>
        <p:txBody>
          <a:bodyPr wrap="square">
            <a:spAutoFit/>
          </a:bodyPr>
          <a:lstStyle/>
          <a:p>
            <a:r>
              <a:rPr lang="en-US" sz="1200" b="1" dirty="0">
                <a:solidFill>
                  <a:srgbClr val="283287"/>
                </a:solidFill>
                <a:latin typeface="Reddit Sans" pitchFamily="2" charset="77"/>
                <a:ea typeface="Reddit Sans" pitchFamily="2" charset="77"/>
              </a:rPr>
              <a:t>Full Launch &amp; Growth</a:t>
            </a:r>
          </a:p>
        </p:txBody>
      </p:sp>
      <p:sp>
        <p:nvSpPr>
          <p:cNvPr id="32" name="TextBox 31">
            <a:extLst>
              <a:ext uri="{FF2B5EF4-FFF2-40B4-BE49-F238E27FC236}">
                <a16:creationId xmlns:a16="http://schemas.microsoft.com/office/drawing/2014/main" id="{E32A9B3E-9914-7D7E-A609-030866409002}"/>
              </a:ext>
            </a:extLst>
          </p:cNvPr>
          <p:cNvSpPr txBox="1"/>
          <p:nvPr/>
        </p:nvSpPr>
        <p:spPr>
          <a:xfrm>
            <a:off x="9646830" y="5059089"/>
            <a:ext cx="1905266" cy="348813"/>
          </a:xfrm>
          <a:prstGeom prst="rect">
            <a:avLst/>
          </a:prstGeom>
          <a:noFill/>
        </p:spPr>
        <p:txBody>
          <a:bodyPr wrap="square">
            <a:spAutoFit/>
          </a:bodyPr>
          <a:lstStyle/>
          <a:p>
            <a:pPr>
              <a:lnSpc>
                <a:spcPts val="980"/>
              </a:lnSpc>
            </a:pPr>
            <a:r>
              <a:rPr lang="en-US" altLang="en-US" sz="900" dirty="0">
                <a:solidFill>
                  <a:srgbClr val="283287"/>
                </a:solidFill>
                <a:latin typeface="Quicksand" pitchFamily="2" charset="77"/>
              </a:rPr>
              <a:t>Scale production, global rollout, expand digital app ecosystem.</a:t>
            </a:r>
            <a:endParaRPr lang="en-US" sz="900" b="1" dirty="0">
              <a:solidFill>
                <a:srgbClr val="283287"/>
              </a:solidFill>
              <a:latin typeface="Quicksand" pitchFamily="2" charset="77"/>
            </a:endParaRPr>
          </a:p>
        </p:txBody>
      </p:sp>
      <p:sp>
        <p:nvSpPr>
          <p:cNvPr id="33" name="Oval 32">
            <a:extLst>
              <a:ext uri="{FF2B5EF4-FFF2-40B4-BE49-F238E27FC236}">
                <a16:creationId xmlns:a16="http://schemas.microsoft.com/office/drawing/2014/main" id="{D16A31FD-0B82-0B2B-40F4-A7EDD7254036}"/>
              </a:ext>
            </a:extLst>
          </p:cNvPr>
          <p:cNvSpPr/>
          <p:nvPr/>
        </p:nvSpPr>
        <p:spPr>
          <a:xfrm>
            <a:off x="6702074" y="5771257"/>
            <a:ext cx="230832" cy="230832"/>
          </a:xfrm>
          <a:prstGeom prst="ellipse">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0F1B2C9-01FD-26C6-18FF-912085B825B9}"/>
              </a:ext>
            </a:extLst>
          </p:cNvPr>
          <p:cNvSpPr txBox="1"/>
          <p:nvPr/>
        </p:nvSpPr>
        <p:spPr>
          <a:xfrm>
            <a:off x="6937810" y="5701941"/>
            <a:ext cx="2049465" cy="276999"/>
          </a:xfrm>
          <a:prstGeom prst="rect">
            <a:avLst/>
          </a:prstGeom>
          <a:noFill/>
        </p:spPr>
        <p:txBody>
          <a:bodyPr wrap="square">
            <a:spAutoFit/>
          </a:bodyPr>
          <a:lstStyle/>
          <a:p>
            <a:r>
              <a:rPr lang="en-US" sz="1200" b="1" dirty="0">
                <a:solidFill>
                  <a:srgbClr val="283287"/>
                </a:solidFill>
                <a:latin typeface="Reddit Sans" pitchFamily="2" charset="77"/>
                <a:ea typeface="Reddit Sans" pitchFamily="2" charset="77"/>
              </a:rPr>
              <a:t>Development &amp; Testing</a:t>
            </a:r>
          </a:p>
        </p:txBody>
      </p:sp>
      <p:sp>
        <p:nvSpPr>
          <p:cNvPr id="36" name="TextBox 35">
            <a:extLst>
              <a:ext uri="{FF2B5EF4-FFF2-40B4-BE49-F238E27FC236}">
                <a16:creationId xmlns:a16="http://schemas.microsoft.com/office/drawing/2014/main" id="{A46E436C-42E9-6EEA-2A2D-B18BBC92BDD7}"/>
              </a:ext>
            </a:extLst>
          </p:cNvPr>
          <p:cNvSpPr txBox="1"/>
          <p:nvPr/>
        </p:nvSpPr>
        <p:spPr>
          <a:xfrm>
            <a:off x="6959050" y="5918463"/>
            <a:ext cx="2049465" cy="348813"/>
          </a:xfrm>
          <a:prstGeom prst="rect">
            <a:avLst/>
          </a:prstGeom>
          <a:noFill/>
        </p:spPr>
        <p:txBody>
          <a:bodyPr wrap="square">
            <a:spAutoFit/>
          </a:bodyPr>
          <a:lstStyle/>
          <a:p>
            <a:pPr>
              <a:lnSpc>
                <a:spcPts val="980"/>
              </a:lnSpc>
            </a:pPr>
            <a:r>
              <a:rPr lang="en-US" altLang="en-US" sz="900" dirty="0">
                <a:solidFill>
                  <a:srgbClr val="283287"/>
                </a:solidFill>
                <a:latin typeface="Quicksand" pitchFamily="2" charset="77"/>
              </a:rPr>
              <a:t>Integrate hardware, sensors, and AI algorithms for cycle tracking.</a:t>
            </a:r>
            <a:endParaRPr lang="en-US" sz="900" b="1" dirty="0">
              <a:solidFill>
                <a:srgbClr val="283287"/>
              </a:solidFill>
              <a:latin typeface="Quicksand" pitchFamily="2" charset="77"/>
            </a:endParaRPr>
          </a:p>
        </p:txBody>
      </p:sp>
      <p:sp>
        <p:nvSpPr>
          <p:cNvPr id="46" name="Rectangle 2">
            <a:extLst>
              <a:ext uri="{FF2B5EF4-FFF2-40B4-BE49-F238E27FC236}">
                <a16:creationId xmlns:a16="http://schemas.microsoft.com/office/drawing/2014/main" id="{54836DE4-0EA4-94BE-D015-EA9468E4F7AD}"/>
              </a:ext>
            </a:extLst>
          </p:cNvPr>
          <p:cNvSpPr>
            <a:spLocks noChangeArrowheads="1"/>
          </p:cNvSpPr>
          <p:nvPr/>
        </p:nvSpPr>
        <p:spPr bwMode="auto">
          <a:xfrm>
            <a:off x="495744" y="5530853"/>
            <a:ext cx="3558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83287"/>
                </a:solidFill>
                <a:effectLst/>
                <a:latin typeface="Quicksand" pitchFamily="2" charset="77"/>
              </a:rPr>
              <a:t>Each phase combines technology, design, and empathy — shaping innovation that supports women’s wellness with purpose and beauty.</a:t>
            </a:r>
          </a:p>
        </p:txBody>
      </p:sp>
      <p:sp>
        <p:nvSpPr>
          <p:cNvPr id="3" name="Rounded Rectangle 2">
            <a:extLst>
              <a:ext uri="{FF2B5EF4-FFF2-40B4-BE49-F238E27FC236}">
                <a16:creationId xmlns:a16="http://schemas.microsoft.com/office/drawing/2014/main" id="{4551ABFE-3BB4-4214-C059-E72EA0326B64}"/>
              </a:ext>
            </a:extLst>
          </p:cNvPr>
          <p:cNvSpPr/>
          <p:nvPr/>
        </p:nvSpPr>
        <p:spPr>
          <a:xfrm>
            <a:off x="590686" y="1460846"/>
            <a:ext cx="1852591" cy="281689"/>
          </a:xfrm>
          <a:prstGeom prst="roundRect">
            <a:avLst>
              <a:gd name="adj" fmla="val 50000"/>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6B4FB"/>
                </a:solidFill>
                <a:latin typeface="Reddit Sans ExtraBold" pitchFamily="2" charset="77"/>
                <a:ea typeface="Reddit Sans ExtraBold" pitchFamily="2" charset="77"/>
              </a:rPr>
              <a:t>Concept &amp; Research</a:t>
            </a:r>
          </a:p>
        </p:txBody>
      </p:sp>
      <p:sp>
        <p:nvSpPr>
          <p:cNvPr id="13" name="Rounded Rectangle 12">
            <a:extLst>
              <a:ext uri="{FF2B5EF4-FFF2-40B4-BE49-F238E27FC236}">
                <a16:creationId xmlns:a16="http://schemas.microsoft.com/office/drawing/2014/main" id="{8DFDAAEB-B791-2750-8321-44D817A11AE0}"/>
              </a:ext>
            </a:extLst>
          </p:cNvPr>
          <p:cNvSpPr/>
          <p:nvPr/>
        </p:nvSpPr>
        <p:spPr>
          <a:xfrm>
            <a:off x="2443277" y="1782783"/>
            <a:ext cx="1832334" cy="281689"/>
          </a:xfrm>
          <a:prstGeom prst="roundRect">
            <a:avLst>
              <a:gd name="adj" fmla="val 50000"/>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Design &amp; Prototyping</a:t>
            </a:r>
          </a:p>
        </p:txBody>
      </p:sp>
      <p:sp>
        <p:nvSpPr>
          <p:cNvPr id="14" name="Rounded Rectangle 13">
            <a:extLst>
              <a:ext uri="{FF2B5EF4-FFF2-40B4-BE49-F238E27FC236}">
                <a16:creationId xmlns:a16="http://schemas.microsoft.com/office/drawing/2014/main" id="{B3429A38-7F4A-C339-2094-539B1DD97A2E}"/>
              </a:ext>
            </a:extLst>
          </p:cNvPr>
          <p:cNvSpPr/>
          <p:nvPr/>
        </p:nvSpPr>
        <p:spPr>
          <a:xfrm>
            <a:off x="4275611" y="2112541"/>
            <a:ext cx="1820389" cy="281689"/>
          </a:xfrm>
          <a:prstGeom prst="roundRect">
            <a:avLst>
              <a:gd name="adj" fmla="val 50000"/>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283287"/>
                </a:solidFill>
                <a:latin typeface="Reddit Sans ExtraBold" pitchFamily="2" charset="77"/>
                <a:ea typeface="Reddit Sans ExtraBold" pitchFamily="2" charset="77"/>
              </a:rPr>
              <a:t>Development &amp; Testing</a:t>
            </a:r>
          </a:p>
        </p:txBody>
      </p:sp>
      <p:sp>
        <p:nvSpPr>
          <p:cNvPr id="15" name="Rounded Rectangle 14">
            <a:extLst>
              <a:ext uri="{FF2B5EF4-FFF2-40B4-BE49-F238E27FC236}">
                <a16:creationId xmlns:a16="http://schemas.microsoft.com/office/drawing/2014/main" id="{116E023F-E8FB-6008-60EC-BF5F5005E9C4}"/>
              </a:ext>
            </a:extLst>
          </p:cNvPr>
          <p:cNvSpPr/>
          <p:nvPr/>
        </p:nvSpPr>
        <p:spPr>
          <a:xfrm>
            <a:off x="6114842" y="2420231"/>
            <a:ext cx="1822150" cy="281689"/>
          </a:xfrm>
          <a:prstGeom prst="roundRect">
            <a:avLst>
              <a:gd name="adj" fmla="val 50000"/>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4DFE8"/>
                </a:solidFill>
                <a:latin typeface="Reddit Sans ExtraBold" pitchFamily="2" charset="77"/>
                <a:ea typeface="Reddit Sans ExtraBold" pitchFamily="2" charset="77"/>
              </a:rPr>
              <a:t>Launch Preparation</a:t>
            </a:r>
          </a:p>
        </p:txBody>
      </p:sp>
      <p:sp>
        <p:nvSpPr>
          <p:cNvPr id="16" name="Rounded Rectangle 15">
            <a:extLst>
              <a:ext uri="{FF2B5EF4-FFF2-40B4-BE49-F238E27FC236}">
                <a16:creationId xmlns:a16="http://schemas.microsoft.com/office/drawing/2014/main" id="{1E1B29E6-0AE5-CD56-AA4B-D67FC436C3CF}"/>
              </a:ext>
            </a:extLst>
          </p:cNvPr>
          <p:cNvSpPr/>
          <p:nvPr/>
        </p:nvSpPr>
        <p:spPr>
          <a:xfrm>
            <a:off x="7936992" y="2749160"/>
            <a:ext cx="2783180" cy="281689"/>
          </a:xfrm>
          <a:prstGeom prst="roundRect">
            <a:avLst>
              <a:gd name="adj" fmla="val 50000"/>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Full Launch &amp; Growth</a:t>
            </a:r>
          </a:p>
        </p:txBody>
      </p:sp>
      <p:sp>
        <p:nvSpPr>
          <p:cNvPr id="11" name="TextBox 10">
            <a:extLst>
              <a:ext uri="{FF2B5EF4-FFF2-40B4-BE49-F238E27FC236}">
                <a16:creationId xmlns:a16="http://schemas.microsoft.com/office/drawing/2014/main" id="{6936B3DD-E963-ABA0-BA67-CCD836CCE10B}"/>
              </a:ext>
            </a:extLst>
          </p:cNvPr>
          <p:cNvSpPr txBox="1"/>
          <p:nvPr/>
        </p:nvSpPr>
        <p:spPr>
          <a:xfrm>
            <a:off x="531914" y="631866"/>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2025</a:t>
            </a:r>
          </a:p>
        </p:txBody>
      </p:sp>
      <p:sp>
        <p:nvSpPr>
          <p:cNvPr id="47" name="TextBox 46">
            <a:extLst>
              <a:ext uri="{FF2B5EF4-FFF2-40B4-BE49-F238E27FC236}">
                <a16:creationId xmlns:a16="http://schemas.microsoft.com/office/drawing/2014/main" id="{ADE3CFA5-3454-5117-D679-92B432AE6725}"/>
              </a:ext>
            </a:extLst>
          </p:cNvPr>
          <p:cNvSpPr txBox="1"/>
          <p:nvPr/>
        </p:nvSpPr>
        <p:spPr>
          <a:xfrm>
            <a:off x="4160288" y="646117"/>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2026</a:t>
            </a:r>
          </a:p>
        </p:txBody>
      </p:sp>
      <p:sp>
        <p:nvSpPr>
          <p:cNvPr id="48" name="TextBox 47">
            <a:extLst>
              <a:ext uri="{FF2B5EF4-FFF2-40B4-BE49-F238E27FC236}">
                <a16:creationId xmlns:a16="http://schemas.microsoft.com/office/drawing/2014/main" id="{AABE8A87-F265-8ADF-1F35-9FBFAFB790E9}"/>
              </a:ext>
            </a:extLst>
          </p:cNvPr>
          <p:cNvSpPr txBox="1"/>
          <p:nvPr/>
        </p:nvSpPr>
        <p:spPr>
          <a:xfrm>
            <a:off x="7861552" y="646117"/>
            <a:ext cx="734499"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2027</a:t>
            </a:r>
          </a:p>
        </p:txBody>
      </p:sp>
      <p:sp>
        <p:nvSpPr>
          <p:cNvPr id="49" name="TextBox 48">
            <a:extLst>
              <a:ext uri="{FF2B5EF4-FFF2-40B4-BE49-F238E27FC236}">
                <a16:creationId xmlns:a16="http://schemas.microsoft.com/office/drawing/2014/main" id="{7D6AF1DC-CB9F-CDC9-4AC1-1C99DE4EEDDB}"/>
              </a:ext>
            </a:extLst>
          </p:cNvPr>
          <p:cNvSpPr txBox="1"/>
          <p:nvPr/>
        </p:nvSpPr>
        <p:spPr>
          <a:xfrm>
            <a:off x="510374" y="108328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Q1</a:t>
            </a:r>
            <a:endParaRPr lang="en-US" sz="900" dirty="0">
              <a:solidFill>
                <a:srgbClr val="283287"/>
              </a:solidFill>
              <a:latin typeface="Quicksand" pitchFamily="2" charset="77"/>
            </a:endParaRPr>
          </a:p>
        </p:txBody>
      </p:sp>
      <p:sp>
        <p:nvSpPr>
          <p:cNvPr id="50" name="TextBox 49">
            <a:extLst>
              <a:ext uri="{FF2B5EF4-FFF2-40B4-BE49-F238E27FC236}">
                <a16:creationId xmlns:a16="http://schemas.microsoft.com/office/drawing/2014/main" id="{CFD85414-FCFB-7F6E-67BD-05F33A9917B9}"/>
              </a:ext>
            </a:extLst>
          </p:cNvPr>
          <p:cNvSpPr txBox="1"/>
          <p:nvPr/>
        </p:nvSpPr>
        <p:spPr>
          <a:xfrm>
            <a:off x="1448025" y="1080104"/>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Q2</a:t>
            </a:r>
            <a:endParaRPr lang="en-US" sz="900" dirty="0">
              <a:solidFill>
                <a:srgbClr val="283287"/>
              </a:solidFill>
              <a:latin typeface="Quicksand" pitchFamily="2" charset="77"/>
            </a:endParaRPr>
          </a:p>
        </p:txBody>
      </p:sp>
      <p:sp>
        <p:nvSpPr>
          <p:cNvPr id="55" name="TextBox 54">
            <a:extLst>
              <a:ext uri="{FF2B5EF4-FFF2-40B4-BE49-F238E27FC236}">
                <a16:creationId xmlns:a16="http://schemas.microsoft.com/office/drawing/2014/main" id="{FAADF978-D0B2-BEC3-6DBC-594109C4F83E}"/>
              </a:ext>
            </a:extLst>
          </p:cNvPr>
          <p:cNvSpPr txBox="1"/>
          <p:nvPr/>
        </p:nvSpPr>
        <p:spPr>
          <a:xfrm>
            <a:off x="2358713" y="108328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Q3</a:t>
            </a:r>
            <a:endParaRPr lang="en-US" sz="900" dirty="0">
              <a:solidFill>
                <a:srgbClr val="283287"/>
              </a:solidFill>
              <a:latin typeface="Quicksand" pitchFamily="2" charset="77"/>
            </a:endParaRPr>
          </a:p>
        </p:txBody>
      </p:sp>
      <p:sp>
        <p:nvSpPr>
          <p:cNvPr id="57" name="TextBox 56">
            <a:extLst>
              <a:ext uri="{FF2B5EF4-FFF2-40B4-BE49-F238E27FC236}">
                <a16:creationId xmlns:a16="http://schemas.microsoft.com/office/drawing/2014/main" id="{76739FAB-EFAC-17B3-F8CE-FFD1060F6E50}"/>
              </a:ext>
            </a:extLst>
          </p:cNvPr>
          <p:cNvSpPr txBox="1"/>
          <p:nvPr/>
        </p:nvSpPr>
        <p:spPr>
          <a:xfrm>
            <a:off x="3282883" y="1099088"/>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Q4</a:t>
            </a:r>
            <a:endParaRPr lang="en-US" sz="900" dirty="0">
              <a:solidFill>
                <a:srgbClr val="283287"/>
              </a:solidFill>
              <a:latin typeface="Quicksand" pitchFamily="2" charset="77"/>
            </a:endParaRPr>
          </a:p>
        </p:txBody>
      </p:sp>
      <p:sp>
        <p:nvSpPr>
          <p:cNvPr id="1027" name="TextBox 1026">
            <a:extLst>
              <a:ext uri="{FF2B5EF4-FFF2-40B4-BE49-F238E27FC236}">
                <a16:creationId xmlns:a16="http://schemas.microsoft.com/office/drawing/2014/main" id="{1699F5DC-781C-D48A-FEF3-22FAE7B7F6A9}"/>
              </a:ext>
            </a:extLst>
          </p:cNvPr>
          <p:cNvSpPr txBox="1"/>
          <p:nvPr/>
        </p:nvSpPr>
        <p:spPr>
          <a:xfrm>
            <a:off x="4180089" y="109270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Q1</a:t>
            </a:r>
            <a:endParaRPr lang="en-US" sz="900" dirty="0">
              <a:solidFill>
                <a:srgbClr val="283287"/>
              </a:solidFill>
              <a:latin typeface="Quicksand" pitchFamily="2" charset="77"/>
            </a:endParaRPr>
          </a:p>
        </p:txBody>
      </p:sp>
      <p:sp>
        <p:nvSpPr>
          <p:cNvPr id="1028" name="TextBox 1027">
            <a:extLst>
              <a:ext uri="{FF2B5EF4-FFF2-40B4-BE49-F238E27FC236}">
                <a16:creationId xmlns:a16="http://schemas.microsoft.com/office/drawing/2014/main" id="{A3CFDB9F-3209-A5DD-8CB7-B6B51B79D6FF}"/>
              </a:ext>
            </a:extLst>
          </p:cNvPr>
          <p:cNvSpPr txBox="1"/>
          <p:nvPr/>
        </p:nvSpPr>
        <p:spPr>
          <a:xfrm>
            <a:off x="5117740" y="1089524"/>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Q2</a:t>
            </a:r>
            <a:endParaRPr lang="en-US" sz="900" dirty="0">
              <a:solidFill>
                <a:srgbClr val="283287"/>
              </a:solidFill>
              <a:latin typeface="Quicksand" pitchFamily="2" charset="77"/>
            </a:endParaRPr>
          </a:p>
        </p:txBody>
      </p:sp>
      <p:sp>
        <p:nvSpPr>
          <p:cNvPr id="1029" name="TextBox 1028">
            <a:extLst>
              <a:ext uri="{FF2B5EF4-FFF2-40B4-BE49-F238E27FC236}">
                <a16:creationId xmlns:a16="http://schemas.microsoft.com/office/drawing/2014/main" id="{93C3E6E9-2E46-CE10-8ADA-E90D7952DEB8}"/>
              </a:ext>
            </a:extLst>
          </p:cNvPr>
          <p:cNvSpPr txBox="1"/>
          <p:nvPr/>
        </p:nvSpPr>
        <p:spPr>
          <a:xfrm>
            <a:off x="6028428" y="109270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Q3</a:t>
            </a:r>
            <a:endParaRPr lang="en-US" sz="900" dirty="0">
              <a:solidFill>
                <a:srgbClr val="283287"/>
              </a:solidFill>
              <a:latin typeface="Quicksand" pitchFamily="2" charset="77"/>
            </a:endParaRPr>
          </a:p>
        </p:txBody>
      </p:sp>
      <p:sp>
        <p:nvSpPr>
          <p:cNvPr id="1030" name="TextBox 1029">
            <a:extLst>
              <a:ext uri="{FF2B5EF4-FFF2-40B4-BE49-F238E27FC236}">
                <a16:creationId xmlns:a16="http://schemas.microsoft.com/office/drawing/2014/main" id="{E7D17020-66F8-EA15-9C26-14E176A750F4}"/>
              </a:ext>
            </a:extLst>
          </p:cNvPr>
          <p:cNvSpPr txBox="1"/>
          <p:nvPr/>
        </p:nvSpPr>
        <p:spPr>
          <a:xfrm>
            <a:off x="6952598" y="1108508"/>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Q4</a:t>
            </a:r>
            <a:endParaRPr lang="en-US" sz="900" dirty="0">
              <a:solidFill>
                <a:srgbClr val="283287"/>
              </a:solidFill>
              <a:latin typeface="Quicksand" pitchFamily="2" charset="77"/>
            </a:endParaRPr>
          </a:p>
        </p:txBody>
      </p:sp>
      <p:sp>
        <p:nvSpPr>
          <p:cNvPr id="1031" name="TextBox 1030">
            <a:extLst>
              <a:ext uri="{FF2B5EF4-FFF2-40B4-BE49-F238E27FC236}">
                <a16:creationId xmlns:a16="http://schemas.microsoft.com/office/drawing/2014/main" id="{ACBCFD5D-32C9-220A-5DEB-1E832BC460A8}"/>
              </a:ext>
            </a:extLst>
          </p:cNvPr>
          <p:cNvSpPr txBox="1"/>
          <p:nvPr/>
        </p:nvSpPr>
        <p:spPr>
          <a:xfrm>
            <a:off x="7861591" y="1099088"/>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Q1</a:t>
            </a:r>
            <a:endParaRPr lang="en-US" sz="900" dirty="0">
              <a:solidFill>
                <a:srgbClr val="283287"/>
              </a:solidFill>
              <a:latin typeface="Quicksand" pitchFamily="2" charset="77"/>
            </a:endParaRPr>
          </a:p>
        </p:txBody>
      </p:sp>
      <p:sp>
        <p:nvSpPr>
          <p:cNvPr id="1032" name="TextBox 1031">
            <a:extLst>
              <a:ext uri="{FF2B5EF4-FFF2-40B4-BE49-F238E27FC236}">
                <a16:creationId xmlns:a16="http://schemas.microsoft.com/office/drawing/2014/main" id="{0A111CBA-BA3E-223B-2768-AE837CD97BE2}"/>
              </a:ext>
            </a:extLst>
          </p:cNvPr>
          <p:cNvSpPr txBox="1"/>
          <p:nvPr/>
        </p:nvSpPr>
        <p:spPr>
          <a:xfrm>
            <a:off x="8799242" y="1095912"/>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Q2</a:t>
            </a:r>
            <a:endParaRPr lang="en-US" sz="900" dirty="0">
              <a:solidFill>
                <a:srgbClr val="283287"/>
              </a:solidFill>
              <a:latin typeface="Quicksand" pitchFamily="2" charset="77"/>
            </a:endParaRPr>
          </a:p>
        </p:txBody>
      </p:sp>
      <p:sp>
        <p:nvSpPr>
          <p:cNvPr id="1033" name="TextBox 1032">
            <a:extLst>
              <a:ext uri="{FF2B5EF4-FFF2-40B4-BE49-F238E27FC236}">
                <a16:creationId xmlns:a16="http://schemas.microsoft.com/office/drawing/2014/main" id="{67847883-8722-580B-6C07-CB83F95741E0}"/>
              </a:ext>
            </a:extLst>
          </p:cNvPr>
          <p:cNvSpPr txBox="1"/>
          <p:nvPr/>
        </p:nvSpPr>
        <p:spPr>
          <a:xfrm>
            <a:off x="9709930" y="1099088"/>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Q3</a:t>
            </a:r>
            <a:endParaRPr lang="en-US" sz="900" dirty="0">
              <a:solidFill>
                <a:srgbClr val="283287"/>
              </a:solidFill>
              <a:latin typeface="Quicksand" pitchFamily="2" charset="77"/>
            </a:endParaRPr>
          </a:p>
        </p:txBody>
      </p:sp>
      <p:sp>
        <p:nvSpPr>
          <p:cNvPr id="1034" name="TextBox 1033">
            <a:extLst>
              <a:ext uri="{FF2B5EF4-FFF2-40B4-BE49-F238E27FC236}">
                <a16:creationId xmlns:a16="http://schemas.microsoft.com/office/drawing/2014/main" id="{8087BCD3-E5ED-64C1-CD08-CC0831508644}"/>
              </a:ext>
            </a:extLst>
          </p:cNvPr>
          <p:cNvSpPr txBox="1"/>
          <p:nvPr/>
        </p:nvSpPr>
        <p:spPr>
          <a:xfrm>
            <a:off x="10634100" y="1114896"/>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Q4</a:t>
            </a:r>
            <a:endParaRPr lang="en-US" sz="900" dirty="0">
              <a:solidFill>
                <a:srgbClr val="283287"/>
              </a:solidFill>
              <a:latin typeface="Quicksand" pitchFamily="2" charset="77"/>
            </a:endParaRPr>
          </a:p>
        </p:txBody>
      </p:sp>
      <p:pic>
        <p:nvPicPr>
          <p:cNvPr id="2" name="Picture 1" descr="A blue heart with black background&#10;&#10;AI-generated content may be incorrect.">
            <a:extLst>
              <a:ext uri="{FF2B5EF4-FFF2-40B4-BE49-F238E27FC236}">
                <a16:creationId xmlns:a16="http://schemas.microsoft.com/office/drawing/2014/main" id="{E714CE21-DA3E-8297-6212-9E6BCFBA1002}"/>
              </a:ext>
            </a:extLst>
          </p:cNvPr>
          <p:cNvPicPr>
            <a:picLocks noChangeAspect="1"/>
          </p:cNvPicPr>
          <p:nvPr/>
        </p:nvPicPr>
        <p:blipFill>
          <a:blip r:embed="rId4"/>
          <a:stretch>
            <a:fillRect/>
          </a:stretch>
        </p:blipFill>
        <p:spPr>
          <a:xfrm rot="16200000">
            <a:off x="147121" y="6405825"/>
            <a:ext cx="311700" cy="275807"/>
          </a:xfrm>
          <a:prstGeom prst="rect">
            <a:avLst/>
          </a:prstGeom>
        </p:spPr>
      </p:pic>
      <p:grpSp>
        <p:nvGrpSpPr>
          <p:cNvPr id="6" name="Group 5">
            <a:extLst>
              <a:ext uri="{FF2B5EF4-FFF2-40B4-BE49-F238E27FC236}">
                <a16:creationId xmlns:a16="http://schemas.microsoft.com/office/drawing/2014/main" id="{DB7B5B8E-4D2C-8534-4778-2E43018F9FDA}"/>
              </a:ext>
            </a:extLst>
          </p:cNvPr>
          <p:cNvGrpSpPr/>
          <p:nvPr/>
        </p:nvGrpSpPr>
        <p:grpSpPr>
          <a:xfrm>
            <a:off x="0" y="0"/>
            <a:ext cx="242963" cy="2847629"/>
            <a:chOff x="0" y="12684"/>
            <a:chExt cx="242963" cy="2847629"/>
          </a:xfrm>
        </p:grpSpPr>
        <p:sp>
          <p:nvSpPr>
            <p:cNvPr id="4" name="Round Single Corner Rectangle 3">
              <a:extLst>
                <a:ext uri="{FF2B5EF4-FFF2-40B4-BE49-F238E27FC236}">
                  <a16:creationId xmlns:a16="http://schemas.microsoft.com/office/drawing/2014/main" id="{2C407040-5AEE-ACED-58A4-72D3C9DFEA17}"/>
                </a:ext>
              </a:extLst>
            </p:cNvPr>
            <p:cNvSpPr/>
            <p:nvPr/>
          </p:nvSpPr>
          <p:spPr>
            <a:xfrm rot="10800000" flipH="1">
              <a:off x="1" y="61378"/>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EA4BBB-63F6-5BC9-3D21-B44B0A30DAA9}"/>
                </a:ext>
              </a:extLst>
            </p:cNvPr>
            <p:cNvSpPr/>
            <p:nvPr/>
          </p:nvSpPr>
          <p:spPr>
            <a:xfrm>
              <a:off x="0" y="12684"/>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8656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4B06EB3C-1525-CE29-CD01-D0FE9B5C0009}"/>
            </a:ext>
          </a:extLst>
        </p:cNvPr>
        <p:cNvGrpSpPr/>
        <p:nvPr/>
      </p:nvGrpSpPr>
      <p:grpSpPr>
        <a:xfrm>
          <a:off x="0" y="0"/>
          <a:ext cx="0" cy="0"/>
          <a:chOff x="0" y="0"/>
          <a:chExt cx="0" cy="0"/>
        </a:xfrm>
      </p:grpSpPr>
      <p:sp>
        <p:nvSpPr>
          <p:cNvPr id="33" name="Round Diagonal Corner Rectangle 32">
            <a:extLst>
              <a:ext uri="{FF2B5EF4-FFF2-40B4-BE49-F238E27FC236}">
                <a16:creationId xmlns:a16="http://schemas.microsoft.com/office/drawing/2014/main" id="{10B9D5C2-E850-1417-5599-4C58E4960ADE}"/>
              </a:ext>
            </a:extLst>
          </p:cNvPr>
          <p:cNvSpPr/>
          <p:nvPr/>
        </p:nvSpPr>
        <p:spPr>
          <a:xfrm rot="10800000">
            <a:off x="4334259" y="2144939"/>
            <a:ext cx="3408357" cy="3318703"/>
          </a:xfrm>
          <a:prstGeom prst="round2DiagRect">
            <a:avLst>
              <a:gd name="adj1" fmla="val 13804"/>
              <a:gd name="adj2" fmla="val 0"/>
            </a:avLst>
          </a:prstGeom>
          <a:solidFill>
            <a:srgbClr val="191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6" descr="Generated image">
            <a:extLst>
              <a:ext uri="{FF2B5EF4-FFF2-40B4-BE49-F238E27FC236}">
                <a16:creationId xmlns:a16="http://schemas.microsoft.com/office/drawing/2014/main" id="{F2293334-2E57-D9FF-AAF2-9EEE5AF354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15" t="4437" r="15701" b="44820"/>
          <a:stretch>
            <a:fillRect/>
          </a:stretch>
        </p:blipFill>
        <p:spPr bwMode="auto">
          <a:xfrm>
            <a:off x="4795735" y="2139292"/>
            <a:ext cx="2485404" cy="2588524"/>
          </a:xfrm>
          <a:prstGeom prst="rect">
            <a:avLst/>
          </a:prstGeom>
          <a:noFill/>
          <a:extLst>
            <a:ext uri="{909E8E84-426E-40DD-AFC4-6F175D3DCCD1}">
              <a14:hiddenFill xmlns:a14="http://schemas.microsoft.com/office/drawing/2010/main">
                <a:solidFill>
                  <a:srgbClr val="FFFFFF"/>
                </a:solidFill>
              </a14:hiddenFill>
            </a:ext>
          </a:extLst>
        </p:spPr>
      </p:pic>
      <p:sp>
        <p:nvSpPr>
          <p:cNvPr id="18" name="Round Diagonal Corner Rectangle 17">
            <a:extLst>
              <a:ext uri="{FF2B5EF4-FFF2-40B4-BE49-F238E27FC236}">
                <a16:creationId xmlns:a16="http://schemas.microsoft.com/office/drawing/2014/main" id="{26B54788-20E4-AAED-66F2-8CFD73CA17CD}"/>
              </a:ext>
            </a:extLst>
          </p:cNvPr>
          <p:cNvSpPr/>
          <p:nvPr/>
        </p:nvSpPr>
        <p:spPr>
          <a:xfrm rot="10800000">
            <a:off x="610448" y="2144939"/>
            <a:ext cx="3408357" cy="3318703"/>
          </a:xfrm>
          <a:prstGeom prst="round2DiagRect">
            <a:avLst>
              <a:gd name="adj1" fmla="val 13804"/>
              <a:gd name="adj2" fmla="val 0"/>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8" name="Picture 4" descr="Generated image">
            <a:extLst>
              <a:ext uri="{FF2B5EF4-FFF2-40B4-BE49-F238E27FC236}">
                <a16:creationId xmlns:a16="http://schemas.microsoft.com/office/drawing/2014/main" id="{6BBA0439-A34D-6369-2596-E195D3F384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369" t="5666" r="6544" b="26383"/>
          <a:stretch>
            <a:fillRect/>
          </a:stretch>
        </p:blipFill>
        <p:spPr bwMode="auto">
          <a:xfrm>
            <a:off x="1076717" y="2136192"/>
            <a:ext cx="2475819" cy="2864789"/>
          </a:xfrm>
          <a:prstGeom prst="rect">
            <a:avLst/>
          </a:prstGeom>
          <a:noFill/>
          <a:extLst>
            <a:ext uri="{909E8E84-426E-40DD-AFC4-6F175D3DCCD1}">
              <a14:hiddenFill xmlns:a14="http://schemas.microsoft.com/office/drawing/2010/main">
                <a:solidFill>
                  <a:srgbClr val="FFFFFF"/>
                </a:solidFill>
              </a14:hiddenFill>
            </a:ext>
          </a:extLst>
        </p:spPr>
      </p:pic>
      <p:sp>
        <p:nvSpPr>
          <p:cNvPr id="7" name="Round Diagonal Corner Rectangle 6">
            <a:extLst>
              <a:ext uri="{FF2B5EF4-FFF2-40B4-BE49-F238E27FC236}">
                <a16:creationId xmlns:a16="http://schemas.microsoft.com/office/drawing/2014/main" id="{38D90FE2-9A08-D9B1-3F5C-C2A23473944E}"/>
              </a:ext>
            </a:extLst>
          </p:cNvPr>
          <p:cNvSpPr/>
          <p:nvPr/>
        </p:nvSpPr>
        <p:spPr>
          <a:xfrm rot="10800000">
            <a:off x="8149635" y="2144939"/>
            <a:ext cx="3408357" cy="3318703"/>
          </a:xfrm>
          <a:prstGeom prst="round2DiagRect">
            <a:avLst>
              <a:gd name="adj1" fmla="val 13804"/>
              <a:gd name="adj2" fmla="val 0"/>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8">
            <a:extLst>
              <a:ext uri="{FF2B5EF4-FFF2-40B4-BE49-F238E27FC236}">
                <a16:creationId xmlns:a16="http://schemas.microsoft.com/office/drawing/2014/main" id="{26B55C7C-90C6-597D-3A12-D2AD42F04BD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066" t="4138" r="17085" b="46835"/>
          <a:stretch>
            <a:fillRect/>
          </a:stretch>
        </p:blipFill>
        <p:spPr bwMode="auto">
          <a:xfrm>
            <a:off x="8678240" y="2144936"/>
            <a:ext cx="2475820" cy="25985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E277B95-64A9-CB6E-307D-24BBC6CC3594}"/>
              </a:ext>
            </a:extLst>
          </p:cNvPr>
          <p:cNvSpPr txBox="1"/>
          <p:nvPr/>
        </p:nvSpPr>
        <p:spPr>
          <a:xfrm>
            <a:off x="531914" y="1099717"/>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06/ </a:t>
            </a:r>
            <a:r>
              <a:rPr lang="en-US" sz="900" dirty="0">
                <a:solidFill>
                  <a:srgbClr val="283287"/>
                </a:solidFill>
                <a:latin typeface="Quicksand" pitchFamily="2" charset="77"/>
                <a:ea typeface="Reddit Sans" pitchFamily="2" charset="77"/>
              </a:rPr>
              <a:t>Roles &amp; Responsibilities</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74B5A9EE-CE31-A5EA-AB6E-E0F3728E0B25}"/>
              </a:ext>
            </a:extLst>
          </p:cNvPr>
          <p:cNvSpPr txBox="1"/>
          <p:nvPr/>
        </p:nvSpPr>
        <p:spPr>
          <a:xfrm>
            <a:off x="495744" y="1413895"/>
            <a:ext cx="4289572" cy="581121"/>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Meet the Team!</a:t>
            </a:r>
          </a:p>
        </p:txBody>
      </p:sp>
      <p:sp>
        <p:nvSpPr>
          <p:cNvPr id="28" name="TextBox 27">
            <a:extLst>
              <a:ext uri="{FF2B5EF4-FFF2-40B4-BE49-F238E27FC236}">
                <a16:creationId xmlns:a16="http://schemas.microsoft.com/office/drawing/2014/main" id="{89061A76-A0D0-B105-2504-CC676B77B170}"/>
              </a:ext>
            </a:extLst>
          </p:cNvPr>
          <p:cNvSpPr txBox="1"/>
          <p:nvPr/>
        </p:nvSpPr>
        <p:spPr>
          <a:xfrm>
            <a:off x="8473582" y="10483087"/>
            <a:ext cx="6241142" cy="276999"/>
          </a:xfrm>
          <a:prstGeom prst="rect">
            <a:avLst/>
          </a:prstGeom>
          <a:noFill/>
        </p:spPr>
        <p:txBody>
          <a:bodyPr wrap="square">
            <a:spAutoFit/>
          </a:bodyPr>
          <a:lstStyle/>
          <a:p>
            <a:r>
              <a:rPr lang="en-US" sz="1200" dirty="0">
                <a:solidFill>
                  <a:srgbClr val="D4DFE8"/>
                </a:solidFill>
                <a:latin typeface="Quicksand" pitchFamily="2" charset="77"/>
              </a:rPr>
              <a:t>Olivia Kim</a:t>
            </a:r>
          </a:p>
        </p:txBody>
      </p:sp>
      <p:pic>
        <p:nvPicPr>
          <p:cNvPr id="4" name="Picture 3" descr="A blue heart with black background&#10;&#10;AI-generated content may be incorrect.">
            <a:extLst>
              <a:ext uri="{FF2B5EF4-FFF2-40B4-BE49-F238E27FC236}">
                <a16:creationId xmlns:a16="http://schemas.microsoft.com/office/drawing/2014/main" id="{F7866384-5573-A866-7BDB-1C2DE00AE5EA}"/>
              </a:ext>
            </a:extLst>
          </p:cNvPr>
          <p:cNvPicPr>
            <a:picLocks noChangeAspect="1"/>
          </p:cNvPicPr>
          <p:nvPr/>
        </p:nvPicPr>
        <p:blipFill>
          <a:blip r:embed="rId6"/>
          <a:stretch>
            <a:fillRect/>
          </a:stretch>
        </p:blipFill>
        <p:spPr>
          <a:xfrm rot="16200000">
            <a:off x="147121" y="6405825"/>
            <a:ext cx="311700" cy="275807"/>
          </a:xfrm>
          <a:prstGeom prst="rect">
            <a:avLst/>
          </a:prstGeom>
        </p:spPr>
      </p:pic>
      <p:sp>
        <p:nvSpPr>
          <p:cNvPr id="5" name="Round Single Corner Rectangle 4">
            <a:extLst>
              <a:ext uri="{FF2B5EF4-FFF2-40B4-BE49-F238E27FC236}">
                <a16:creationId xmlns:a16="http://schemas.microsoft.com/office/drawing/2014/main" id="{2804577D-B3CA-0A3B-76E0-B3E644165EA3}"/>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C86294-7F86-8E9A-5DCA-6EB2F2770FCF}"/>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 Single Corner Rectangle 11">
            <a:extLst>
              <a:ext uri="{FF2B5EF4-FFF2-40B4-BE49-F238E27FC236}">
                <a16:creationId xmlns:a16="http://schemas.microsoft.com/office/drawing/2014/main" id="{90315A82-0FD0-6DEF-D5CA-C9ABF5C95FA1}"/>
              </a:ext>
            </a:extLst>
          </p:cNvPr>
          <p:cNvSpPr/>
          <p:nvPr/>
        </p:nvSpPr>
        <p:spPr>
          <a:xfrm rot="10800000" flipH="1">
            <a:off x="8146548" y="4619500"/>
            <a:ext cx="3410452" cy="844137"/>
          </a:xfrm>
          <a:prstGeom prst="round1Rect">
            <a:avLst>
              <a:gd name="adj" fmla="val 50000"/>
            </a:avLst>
          </a:prstGeom>
          <a:solidFill>
            <a:srgbClr val="191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7A3966D-29CE-3870-D11C-F2D1FA44C4B2}"/>
              </a:ext>
            </a:extLst>
          </p:cNvPr>
          <p:cNvSpPr txBox="1"/>
          <p:nvPr/>
        </p:nvSpPr>
        <p:spPr>
          <a:xfrm>
            <a:off x="8701570" y="4762476"/>
            <a:ext cx="2429160" cy="184666"/>
          </a:xfrm>
          <a:prstGeom prst="rect">
            <a:avLst/>
          </a:prstGeom>
          <a:noFill/>
        </p:spPr>
        <p:txBody>
          <a:bodyPr wrap="square" lIns="0" tIns="0" rIns="0" bIns="0">
            <a:spAutoFit/>
          </a:bodyPr>
          <a:lstStyle/>
          <a:p>
            <a:r>
              <a:rPr lang="en-US" sz="1200" dirty="0">
                <a:solidFill>
                  <a:srgbClr val="D4DFE8"/>
                </a:solidFill>
                <a:latin typeface="Quicksand" pitchFamily="2" charset="77"/>
              </a:rPr>
              <a:t>Olivia Kim</a:t>
            </a:r>
          </a:p>
        </p:txBody>
      </p:sp>
      <p:sp>
        <p:nvSpPr>
          <p:cNvPr id="17" name="TextBox 16">
            <a:extLst>
              <a:ext uri="{FF2B5EF4-FFF2-40B4-BE49-F238E27FC236}">
                <a16:creationId xmlns:a16="http://schemas.microsoft.com/office/drawing/2014/main" id="{83778F16-0F17-846E-A79E-4AD0E758D55E}"/>
              </a:ext>
            </a:extLst>
          </p:cNvPr>
          <p:cNvSpPr txBox="1"/>
          <p:nvPr/>
        </p:nvSpPr>
        <p:spPr>
          <a:xfrm>
            <a:off x="8701570" y="4999201"/>
            <a:ext cx="2429160" cy="184666"/>
          </a:xfrm>
          <a:prstGeom prst="rect">
            <a:avLst/>
          </a:prstGeom>
          <a:noFill/>
        </p:spPr>
        <p:txBody>
          <a:bodyPr wrap="square" lIns="0" tIns="0" rIns="0" bIns="0">
            <a:spAutoFit/>
          </a:bodyPr>
          <a:lstStyle/>
          <a:p>
            <a:r>
              <a:rPr lang="en-US" sz="1200" dirty="0">
                <a:solidFill>
                  <a:srgbClr val="D4DFE8"/>
                </a:solidFill>
                <a:latin typeface="Reddit Sans ExtraBold" pitchFamily="2" charset="77"/>
                <a:ea typeface="Reddit Sans ExtraBold" pitchFamily="2" charset="77"/>
              </a:rPr>
              <a:t>Head of Community Engagement</a:t>
            </a:r>
          </a:p>
        </p:txBody>
      </p:sp>
      <p:sp>
        <p:nvSpPr>
          <p:cNvPr id="30" name="Round Single Corner Rectangle 29">
            <a:extLst>
              <a:ext uri="{FF2B5EF4-FFF2-40B4-BE49-F238E27FC236}">
                <a16:creationId xmlns:a16="http://schemas.microsoft.com/office/drawing/2014/main" id="{7C74A789-9EE1-5039-32FA-0366C127C584}"/>
              </a:ext>
            </a:extLst>
          </p:cNvPr>
          <p:cNvSpPr/>
          <p:nvPr/>
        </p:nvSpPr>
        <p:spPr>
          <a:xfrm rot="10800000" flipH="1">
            <a:off x="607361" y="4619500"/>
            <a:ext cx="3410452" cy="844137"/>
          </a:xfrm>
          <a:prstGeom prst="round1Rect">
            <a:avLst>
              <a:gd name="adj" fmla="val 50000"/>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94187DA-E6AF-87B6-DDF7-81ED02962A5E}"/>
              </a:ext>
            </a:extLst>
          </p:cNvPr>
          <p:cNvSpPr txBox="1"/>
          <p:nvPr/>
        </p:nvSpPr>
        <p:spPr>
          <a:xfrm>
            <a:off x="1162383" y="4762476"/>
            <a:ext cx="2429160" cy="184666"/>
          </a:xfrm>
          <a:prstGeom prst="rect">
            <a:avLst/>
          </a:prstGeom>
          <a:noFill/>
        </p:spPr>
        <p:txBody>
          <a:bodyPr wrap="square" lIns="0" tIns="0" rIns="0" bIns="0">
            <a:spAutoFit/>
          </a:bodyPr>
          <a:lstStyle/>
          <a:p>
            <a:r>
              <a:rPr lang="en-US" sz="1200" dirty="0">
                <a:solidFill>
                  <a:srgbClr val="283287"/>
                </a:solidFill>
                <a:latin typeface="Quicksand" pitchFamily="2" charset="77"/>
              </a:rPr>
              <a:t>Clara Moreau</a:t>
            </a:r>
          </a:p>
        </p:txBody>
      </p:sp>
      <p:sp>
        <p:nvSpPr>
          <p:cNvPr id="32" name="TextBox 31">
            <a:extLst>
              <a:ext uri="{FF2B5EF4-FFF2-40B4-BE49-F238E27FC236}">
                <a16:creationId xmlns:a16="http://schemas.microsoft.com/office/drawing/2014/main" id="{A87BDA1B-F432-3E4F-B27F-B7060C62CE07}"/>
              </a:ext>
            </a:extLst>
          </p:cNvPr>
          <p:cNvSpPr txBox="1"/>
          <p:nvPr/>
        </p:nvSpPr>
        <p:spPr>
          <a:xfrm>
            <a:off x="1162383" y="4999201"/>
            <a:ext cx="2390154" cy="184666"/>
          </a:xfrm>
          <a:prstGeom prst="rect">
            <a:avLst/>
          </a:prstGeom>
          <a:noFill/>
        </p:spPr>
        <p:txBody>
          <a:bodyPr wrap="square" lIns="0" tIns="0" rIns="0" bIns="0">
            <a:spAutoFit/>
          </a:bodyPr>
          <a:lstStyle/>
          <a:p>
            <a:r>
              <a:rPr lang="en-US" sz="1200" dirty="0">
                <a:solidFill>
                  <a:srgbClr val="283287"/>
                </a:solidFill>
                <a:latin typeface="Reddit Sans ExtraBold" pitchFamily="2" charset="77"/>
                <a:ea typeface="Reddit Sans ExtraBold" pitchFamily="2" charset="77"/>
              </a:rPr>
              <a:t>Head of Design &amp; Experience</a:t>
            </a:r>
          </a:p>
        </p:txBody>
      </p:sp>
      <p:sp>
        <p:nvSpPr>
          <p:cNvPr id="35" name="Round Single Corner Rectangle 34">
            <a:extLst>
              <a:ext uri="{FF2B5EF4-FFF2-40B4-BE49-F238E27FC236}">
                <a16:creationId xmlns:a16="http://schemas.microsoft.com/office/drawing/2014/main" id="{CB206E5E-5262-8D2A-E719-380C58E7C8DF}"/>
              </a:ext>
            </a:extLst>
          </p:cNvPr>
          <p:cNvSpPr/>
          <p:nvPr/>
        </p:nvSpPr>
        <p:spPr>
          <a:xfrm rot="10800000" flipH="1">
            <a:off x="4331172" y="4619500"/>
            <a:ext cx="3410452" cy="844137"/>
          </a:xfrm>
          <a:prstGeom prst="round1Rect">
            <a:avLst>
              <a:gd name="adj" fmla="val 50000"/>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B77730A-5A29-82A3-9673-FB2036A8E7A3}"/>
              </a:ext>
            </a:extLst>
          </p:cNvPr>
          <p:cNvSpPr txBox="1"/>
          <p:nvPr/>
        </p:nvSpPr>
        <p:spPr>
          <a:xfrm>
            <a:off x="4781863" y="4762476"/>
            <a:ext cx="2429160" cy="184666"/>
          </a:xfrm>
          <a:prstGeom prst="rect">
            <a:avLst/>
          </a:prstGeom>
          <a:noFill/>
        </p:spPr>
        <p:txBody>
          <a:bodyPr wrap="square" lIns="0" tIns="0" rIns="0" bIns="0">
            <a:spAutoFit/>
          </a:bodyPr>
          <a:lstStyle/>
          <a:p>
            <a:r>
              <a:rPr lang="en-US" sz="1200" dirty="0">
                <a:solidFill>
                  <a:srgbClr val="283287"/>
                </a:solidFill>
                <a:latin typeface="Quicksand" pitchFamily="2" charset="77"/>
              </a:rPr>
              <a:t>Maya Johnson</a:t>
            </a:r>
          </a:p>
        </p:txBody>
      </p:sp>
      <p:sp>
        <p:nvSpPr>
          <p:cNvPr id="37" name="TextBox 36">
            <a:extLst>
              <a:ext uri="{FF2B5EF4-FFF2-40B4-BE49-F238E27FC236}">
                <a16:creationId xmlns:a16="http://schemas.microsoft.com/office/drawing/2014/main" id="{8DBF6599-D31C-AFAE-DD78-214DBA827A90}"/>
              </a:ext>
            </a:extLst>
          </p:cNvPr>
          <p:cNvSpPr txBox="1"/>
          <p:nvPr/>
        </p:nvSpPr>
        <p:spPr>
          <a:xfrm>
            <a:off x="4781863" y="4999201"/>
            <a:ext cx="2499276" cy="184666"/>
          </a:xfrm>
          <a:prstGeom prst="rect">
            <a:avLst/>
          </a:prstGeom>
          <a:noFill/>
        </p:spPr>
        <p:txBody>
          <a:bodyPr wrap="square" lIns="0" tIns="0" rIns="0" bIns="0">
            <a:spAutoFit/>
          </a:bodyPr>
          <a:lstStyle/>
          <a:p>
            <a:r>
              <a:rPr lang="en-US" sz="1200" dirty="0">
                <a:solidFill>
                  <a:srgbClr val="283287"/>
                </a:solidFill>
                <a:latin typeface="Reddit Sans ExtraBold" pitchFamily="2" charset="77"/>
                <a:ea typeface="Reddit Sans ExtraBold" pitchFamily="2" charset="77"/>
              </a:rPr>
              <a:t>Marketing Director </a:t>
            </a:r>
          </a:p>
        </p:txBody>
      </p:sp>
    </p:spTree>
    <p:extLst>
      <p:ext uri="{BB962C8B-B14F-4D97-AF65-F5344CB8AC3E}">
        <p14:creationId xmlns:p14="http://schemas.microsoft.com/office/powerpoint/2010/main" val="878448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320BD225-6C5C-F56F-8689-F611A68C21A9}"/>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F5FCED33-D484-160B-D7FC-97441D84B110}"/>
              </a:ext>
            </a:extLst>
          </p:cNvPr>
          <p:cNvSpPr/>
          <p:nvPr/>
        </p:nvSpPr>
        <p:spPr>
          <a:xfrm>
            <a:off x="4054475" y="3156774"/>
            <a:ext cx="2247621" cy="348307"/>
          </a:xfrm>
          <a:prstGeom prst="round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6B4FB"/>
                </a:solidFill>
                <a:latin typeface="Reddit Sans ExtraBold" pitchFamily="2" charset="77"/>
                <a:ea typeface="Reddit Sans ExtraBold" pitchFamily="2" charset="77"/>
              </a:rPr>
              <a:t>Product Development</a:t>
            </a:r>
          </a:p>
        </p:txBody>
      </p:sp>
      <p:sp>
        <p:nvSpPr>
          <p:cNvPr id="10" name="Rounded Rectangle 9">
            <a:extLst>
              <a:ext uri="{FF2B5EF4-FFF2-40B4-BE49-F238E27FC236}">
                <a16:creationId xmlns:a16="http://schemas.microsoft.com/office/drawing/2014/main" id="{73F98475-73D7-A866-0D33-E8A32C09AF2F}"/>
              </a:ext>
            </a:extLst>
          </p:cNvPr>
          <p:cNvSpPr/>
          <p:nvPr/>
        </p:nvSpPr>
        <p:spPr>
          <a:xfrm>
            <a:off x="4054475" y="3801181"/>
            <a:ext cx="2247621" cy="369332"/>
          </a:xfrm>
          <a:prstGeom prst="roundRect">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Market Adoption</a:t>
            </a:r>
          </a:p>
        </p:txBody>
      </p:sp>
      <p:sp>
        <p:nvSpPr>
          <p:cNvPr id="38" name="Rounded Rectangle 37">
            <a:extLst>
              <a:ext uri="{FF2B5EF4-FFF2-40B4-BE49-F238E27FC236}">
                <a16:creationId xmlns:a16="http://schemas.microsoft.com/office/drawing/2014/main" id="{22ACA6E4-D0C8-49F2-BD18-12AAE460CFF4}"/>
              </a:ext>
            </a:extLst>
          </p:cNvPr>
          <p:cNvSpPr/>
          <p:nvPr/>
        </p:nvSpPr>
        <p:spPr>
          <a:xfrm>
            <a:off x="4054475" y="4481643"/>
            <a:ext cx="2247621" cy="369332"/>
          </a:xfrm>
          <a:prstGeom prst="round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dirty="0">
                <a:solidFill>
                  <a:srgbClr val="D4DFE8"/>
                </a:solidFill>
                <a:latin typeface="Reddit Sans ExtraBold" pitchFamily="2" charset="77"/>
                <a:ea typeface="Reddit Sans ExtraBold" pitchFamily="2" charset="77"/>
              </a:rPr>
              <a:t>Data Privacy &amp; Security</a:t>
            </a:r>
          </a:p>
        </p:txBody>
      </p:sp>
      <p:sp>
        <p:nvSpPr>
          <p:cNvPr id="54" name="Rounded Rectangle 53">
            <a:extLst>
              <a:ext uri="{FF2B5EF4-FFF2-40B4-BE49-F238E27FC236}">
                <a16:creationId xmlns:a16="http://schemas.microsoft.com/office/drawing/2014/main" id="{B596CA41-ACA2-34F3-9B3C-D7509675DD9A}"/>
              </a:ext>
            </a:extLst>
          </p:cNvPr>
          <p:cNvSpPr/>
          <p:nvPr/>
        </p:nvSpPr>
        <p:spPr>
          <a:xfrm>
            <a:off x="4054475" y="5158066"/>
            <a:ext cx="2247621" cy="369332"/>
          </a:xfrm>
          <a:prstGeom prst="roundRect">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Supply Chain</a:t>
            </a:r>
          </a:p>
        </p:txBody>
      </p:sp>
      <p:sp>
        <p:nvSpPr>
          <p:cNvPr id="56" name="Rounded Rectangle 55">
            <a:extLst>
              <a:ext uri="{FF2B5EF4-FFF2-40B4-BE49-F238E27FC236}">
                <a16:creationId xmlns:a16="http://schemas.microsoft.com/office/drawing/2014/main" id="{FCACC3C0-A092-6533-B5E5-EFBA713092B6}"/>
              </a:ext>
            </a:extLst>
          </p:cNvPr>
          <p:cNvSpPr/>
          <p:nvPr/>
        </p:nvSpPr>
        <p:spPr>
          <a:xfrm>
            <a:off x="4054474" y="5858398"/>
            <a:ext cx="2247621" cy="348307"/>
          </a:xfrm>
          <a:prstGeom prst="round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4DFE8"/>
                </a:solidFill>
                <a:latin typeface="Reddit Sans ExtraBold" pitchFamily="2" charset="77"/>
                <a:ea typeface="Reddit Sans ExtraBold" pitchFamily="2" charset="77"/>
              </a:rPr>
              <a:t>Financial Stability</a:t>
            </a:r>
          </a:p>
        </p:txBody>
      </p:sp>
      <p:pic>
        <p:nvPicPr>
          <p:cNvPr id="53" name="Picture 52">
            <a:extLst>
              <a:ext uri="{FF2B5EF4-FFF2-40B4-BE49-F238E27FC236}">
                <a16:creationId xmlns:a16="http://schemas.microsoft.com/office/drawing/2014/main" id="{00C271DF-9435-577C-BAE3-16EAFAC0A3CF}"/>
              </a:ext>
            </a:extLst>
          </p:cNvPr>
          <p:cNvPicPr>
            <a:picLocks noChangeAspect="1"/>
          </p:cNvPicPr>
          <p:nvPr/>
        </p:nvPicPr>
        <p:blipFill>
          <a:blip r:embed="rId3"/>
          <a:stretch>
            <a:fillRect/>
          </a:stretch>
        </p:blipFill>
        <p:spPr>
          <a:xfrm rot="16200000" flipH="1">
            <a:off x="103214" y="6563406"/>
            <a:ext cx="191252" cy="169809"/>
          </a:xfrm>
          <a:prstGeom prst="rect">
            <a:avLst/>
          </a:prstGeom>
        </p:spPr>
      </p:pic>
      <p:sp>
        <p:nvSpPr>
          <p:cNvPr id="8" name="TextBox 7">
            <a:extLst>
              <a:ext uri="{FF2B5EF4-FFF2-40B4-BE49-F238E27FC236}">
                <a16:creationId xmlns:a16="http://schemas.microsoft.com/office/drawing/2014/main" id="{9D2C73E6-0497-6C03-CA5A-90D320932D4C}"/>
              </a:ext>
            </a:extLst>
          </p:cNvPr>
          <p:cNvSpPr txBox="1"/>
          <p:nvPr/>
        </p:nvSpPr>
        <p:spPr>
          <a:xfrm>
            <a:off x="534263" y="1097280"/>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07/ Risks &amp; Mitigation</a:t>
            </a:r>
            <a:endParaRPr lang="en-US" sz="900" dirty="0">
              <a:solidFill>
                <a:srgbClr val="283287"/>
              </a:solidFill>
              <a:latin typeface="Quicksand" pitchFamily="2" charset="77"/>
            </a:endParaRPr>
          </a:p>
        </p:txBody>
      </p:sp>
      <p:sp>
        <p:nvSpPr>
          <p:cNvPr id="2" name="Round Diagonal Corner Rectangle 1">
            <a:extLst>
              <a:ext uri="{FF2B5EF4-FFF2-40B4-BE49-F238E27FC236}">
                <a16:creationId xmlns:a16="http://schemas.microsoft.com/office/drawing/2014/main" id="{0236906A-3255-1DA2-3D36-C238AEC00B9C}"/>
              </a:ext>
            </a:extLst>
          </p:cNvPr>
          <p:cNvSpPr/>
          <p:nvPr/>
        </p:nvSpPr>
        <p:spPr>
          <a:xfrm rot="10800000">
            <a:off x="5943600" y="2376355"/>
            <a:ext cx="5750306" cy="4063591"/>
          </a:xfrm>
          <a:prstGeom prst="round2DiagRect">
            <a:avLst>
              <a:gd name="adj1" fmla="val 11724"/>
              <a:gd name="adj2" fmla="val 0"/>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BE315936-1784-1EAB-505E-1AA1D648A3E1}"/>
              </a:ext>
            </a:extLst>
          </p:cNvPr>
          <p:cNvSpPr txBox="1"/>
          <p:nvPr/>
        </p:nvSpPr>
        <p:spPr>
          <a:xfrm>
            <a:off x="6392118" y="3135749"/>
            <a:ext cx="2136358" cy="307777"/>
          </a:xfrm>
          <a:prstGeom prst="rect">
            <a:avLst/>
          </a:prstGeom>
          <a:noFill/>
        </p:spPr>
        <p:txBody>
          <a:bodyPr wrap="square" lIns="0" tIns="0" rIns="0" bIns="0">
            <a:spAutoFit/>
          </a:bodyPr>
          <a:lstStyle/>
          <a:p>
            <a:r>
              <a:rPr lang="en-US" sz="1000" b="0" i="0" u="none" strike="noStrike" dirty="0">
                <a:solidFill>
                  <a:srgbClr val="283287"/>
                </a:solidFill>
                <a:effectLst/>
                <a:latin typeface="Quicksand" pitchFamily="2" charset="77"/>
              </a:rPr>
              <a:t>Hardware or sensor performance issues during testing</a:t>
            </a:r>
            <a:endParaRPr lang="en-US" sz="1000" dirty="0">
              <a:solidFill>
                <a:srgbClr val="283287"/>
              </a:solidFill>
              <a:latin typeface="Quicksand" pitchFamily="2" charset="77"/>
            </a:endParaRPr>
          </a:p>
        </p:txBody>
      </p:sp>
      <p:sp>
        <p:nvSpPr>
          <p:cNvPr id="7" name="TextBox 6">
            <a:extLst>
              <a:ext uri="{FF2B5EF4-FFF2-40B4-BE49-F238E27FC236}">
                <a16:creationId xmlns:a16="http://schemas.microsoft.com/office/drawing/2014/main" id="{A05284D5-A13A-5E55-F751-D2B6DF867596}"/>
              </a:ext>
            </a:extLst>
          </p:cNvPr>
          <p:cNvSpPr txBox="1"/>
          <p:nvPr/>
        </p:nvSpPr>
        <p:spPr>
          <a:xfrm>
            <a:off x="8952033" y="3120906"/>
            <a:ext cx="2167028" cy="307777"/>
          </a:xfrm>
          <a:prstGeom prst="rect">
            <a:avLst/>
          </a:prstGeom>
          <a:noFill/>
        </p:spPr>
        <p:txBody>
          <a:bodyPr wrap="square" lIns="0" tIns="0" rIns="0" bIns="0">
            <a:spAutoFit/>
          </a:bodyPr>
          <a:lstStyle/>
          <a:p>
            <a:r>
              <a:rPr lang="en-US" sz="1000" dirty="0">
                <a:solidFill>
                  <a:srgbClr val="283287"/>
                </a:solidFill>
                <a:latin typeface="Quicksand" pitchFamily="2" charset="77"/>
              </a:rPr>
              <a:t>Early prototyping cycles and collaboration with specialized  hardware partners.</a:t>
            </a:r>
          </a:p>
        </p:txBody>
      </p:sp>
      <p:sp>
        <p:nvSpPr>
          <p:cNvPr id="12" name="TextBox 11">
            <a:extLst>
              <a:ext uri="{FF2B5EF4-FFF2-40B4-BE49-F238E27FC236}">
                <a16:creationId xmlns:a16="http://schemas.microsoft.com/office/drawing/2014/main" id="{9641C5C7-3697-02B6-274B-AC192BF8A2F1}"/>
              </a:ext>
            </a:extLst>
          </p:cNvPr>
          <p:cNvSpPr txBox="1"/>
          <p:nvPr/>
        </p:nvSpPr>
        <p:spPr>
          <a:xfrm>
            <a:off x="6392118" y="3760178"/>
            <a:ext cx="2136358" cy="307777"/>
          </a:xfrm>
          <a:prstGeom prst="rect">
            <a:avLst/>
          </a:prstGeom>
          <a:noFill/>
        </p:spPr>
        <p:txBody>
          <a:bodyPr wrap="square" lIns="0" tIns="0" rIns="0" bIns="0">
            <a:spAutoFit/>
          </a:bodyPr>
          <a:lstStyle/>
          <a:p>
            <a:r>
              <a:rPr lang="en-US" sz="1000" dirty="0">
                <a:solidFill>
                  <a:srgbClr val="283287"/>
                </a:solidFill>
                <a:latin typeface="Quicksand" pitchFamily="2" charset="77"/>
              </a:rPr>
              <a:t>Lower initial adoption due to novelty of </a:t>
            </a:r>
            <a:r>
              <a:rPr lang="en-US" sz="1000" dirty="0" err="1">
                <a:solidFill>
                  <a:srgbClr val="283287"/>
                </a:solidFill>
                <a:latin typeface="Quicksand" pitchFamily="2" charset="77"/>
              </a:rPr>
              <a:t>FemTech</a:t>
            </a:r>
            <a:r>
              <a:rPr lang="en-US" sz="1000" dirty="0">
                <a:solidFill>
                  <a:srgbClr val="283287"/>
                </a:solidFill>
                <a:latin typeface="Quicksand" pitchFamily="2" charset="77"/>
              </a:rPr>
              <a:t> wearables</a:t>
            </a:r>
          </a:p>
        </p:txBody>
      </p:sp>
      <p:sp>
        <p:nvSpPr>
          <p:cNvPr id="37" name="TextBox 36">
            <a:extLst>
              <a:ext uri="{FF2B5EF4-FFF2-40B4-BE49-F238E27FC236}">
                <a16:creationId xmlns:a16="http://schemas.microsoft.com/office/drawing/2014/main" id="{F89C4B07-0E72-2835-3738-733704220732}"/>
              </a:ext>
            </a:extLst>
          </p:cNvPr>
          <p:cNvSpPr txBox="1"/>
          <p:nvPr/>
        </p:nvSpPr>
        <p:spPr>
          <a:xfrm>
            <a:off x="8982379" y="3752382"/>
            <a:ext cx="2337577" cy="307777"/>
          </a:xfrm>
          <a:prstGeom prst="rect">
            <a:avLst/>
          </a:prstGeom>
          <a:noFill/>
        </p:spPr>
        <p:txBody>
          <a:bodyPr wrap="square" lIns="0" tIns="0" rIns="0" bIns="0">
            <a:spAutoFit/>
          </a:bodyPr>
          <a:lstStyle/>
          <a:p>
            <a:r>
              <a:rPr lang="en-US" sz="1000" dirty="0">
                <a:solidFill>
                  <a:srgbClr val="283287"/>
                </a:solidFill>
                <a:latin typeface="Quicksand" pitchFamily="2" charset="77"/>
              </a:rPr>
              <a:t>Focused education campaigns and influencer partnerships to build awareness</a:t>
            </a:r>
          </a:p>
        </p:txBody>
      </p:sp>
      <p:sp>
        <p:nvSpPr>
          <p:cNvPr id="39" name="TextBox 38">
            <a:extLst>
              <a:ext uri="{FF2B5EF4-FFF2-40B4-BE49-F238E27FC236}">
                <a16:creationId xmlns:a16="http://schemas.microsoft.com/office/drawing/2014/main" id="{7F851DCB-3226-5F66-AF7F-8856DE09ED34}"/>
              </a:ext>
            </a:extLst>
          </p:cNvPr>
          <p:cNvSpPr txBox="1"/>
          <p:nvPr/>
        </p:nvSpPr>
        <p:spPr>
          <a:xfrm>
            <a:off x="6392118" y="4468790"/>
            <a:ext cx="2136358" cy="153888"/>
          </a:xfrm>
          <a:prstGeom prst="rect">
            <a:avLst/>
          </a:prstGeom>
          <a:noFill/>
        </p:spPr>
        <p:txBody>
          <a:bodyPr wrap="square" lIns="0" tIns="0" rIns="0" bIns="0">
            <a:spAutoFit/>
          </a:bodyPr>
          <a:lstStyle/>
          <a:p>
            <a:r>
              <a:rPr lang="en-US" sz="1000" dirty="0">
                <a:solidFill>
                  <a:srgbClr val="283287"/>
                </a:solidFill>
                <a:latin typeface="Quicksand" pitchFamily="2" charset="77"/>
              </a:rPr>
              <a:t>Sensitive health data exposure risks</a:t>
            </a:r>
          </a:p>
        </p:txBody>
      </p:sp>
      <p:sp>
        <p:nvSpPr>
          <p:cNvPr id="40" name="TextBox 39">
            <a:extLst>
              <a:ext uri="{FF2B5EF4-FFF2-40B4-BE49-F238E27FC236}">
                <a16:creationId xmlns:a16="http://schemas.microsoft.com/office/drawing/2014/main" id="{FE8EE4B9-B650-304C-D233-B3CD5A47CACF}"/>
              </a:ext>
            </a:extLst>
          </p:cNvPr>
          <p:cNvSpPr txBox="1"/>
          <p:nvPr/>
        </p:nvSpPr>
        <p:spPr>
          <a:xfrm>
            <a:off x="8976285" y="4470515"/>
            <a:ext cx="2167028" cy="307777"/>
          </a:xfrm>
          <a:prstGeom prst="rect">
            <a:avLst/>
          </a:prstGeom>
          <a:noFill/>
        </p:spPr>
        <p:txBody>
          <a:bodyPr wrap="square" lIns="0" tIns="0" rIns="0" bIns="0">
            <a:spAutoFit/>
          </a:bodyPr>
          <a:lstStyle/>
          <a:p>
            <a:r>
              <a:rPr lang="en-US" sz="1000" dirty="0">
                <a:solidFill>
                  <a:srgbClr val="283287"/>
                </a:solidFill>
                <a:latin typeface="Quicksand" pitchFamily="2" charset="77"/>
              </a:rPr>
              <a:t>Implement GDPR-compliant protocols and encrypted storage systems.</a:t>
            </a:r>
          </a:p>
        </p:txBody>
      </p:sp>
      <p:sp>
        <p:nvSpPr>
          <p:cNvPr id="58" name="TextBox 57">
            <a:extLst>
              <a:ext uri="{FF2B5EF4-FFF2-40B4-BE49-F238E27FC236}">
                <a16:creationId xmlns:a16="http://schemas.microsoft.com/office/drawing/2014/main" id="{C851E61D-D4A5-44D3-8821-B38F132A00C5}"/>
              </a:ext>
            </a:extLst>
          </p:cNvPr>
          <p:cNvSpPr txBox="1"/>
          <p:nvPr/>
        </p:nvSpPr>
        <p:spPr>
          <a:xfrm>
            <a:off x="6392117" y="5107427"/>
            <a:ext cx="2136358" cy="307777"/>
          </a:xfrm>
          <a:prstGeom prst="rect">
            <a:avLst/>
          </a:prstGeom>
          <a:noFill/>
        </p:spPr>
        <p:txBody>
          <a:bodyPr wrap="square" lIns="0" tIns="0" rIns="0" bIns="0">
            <a:spAutoFit/>
          </a:bodyPr>
          <a:lstStyle/>
          <a:p>
            <a:r>
              <a:rPr lang="en-US" sz="1000" dirty="0">
                <a:solidFill>
                  <a:srgbClr val="283287"/>
                </a:solidFill>
                <a:latin typeface="Quicksand" pitchFamily="2" charset="77"/>
              </a:rPr>
              <a:t>Delays in materials or ethical sourcing verification</a:t>
            </a:r>
          </a:p>
        </p:txBody>
      </p:sp>
      <p:sp>
        <p:nvSpPr>
          <p:cNvPr id="59" name="TextBox 58">
            <a:extLst>
              <a:ext uri="{FF2B5EF4-FFF2-40B4-BE49-F238E27FC236}">
                <a16:creationId xmlns:a16="http://schemas.microsoft.com/office/drawing/2014/main" id="{8419EA76-2C22-4208-65C4-6F3825B36D74}"/>
              </a:ext>
            </a:extLst>
          </p:cNvPr>
          <p:cNvSpPr txBox="1"/>
          <p:nvPr/>
        </p:nvSpPr>
        <p:spPr>
          <a:xfrm>
            <a:off x="9006956" y="5109787"/>
            <a:ext cx="2136358" cy="307777"/>
          </a:xfrm>
          <a:prstGeom prst="rect">
            <a:avLst/>
          </a:prstGeom>
          <a:noFill/>
        </p:spPr>
        <p:txBody>
          <a:bodyPr wrap="square" lIns="0" tIns="0" rIns="0" bIns="0">
            <a:spAutoFit/>
          </a:bodyPr>
          <a:lstStyle/>
          <a:p>
            <a:r>
              <a:rPr lang="en-US" sz="1000" dirty="0">
                <a:solidFill>
                  <a:srgbClr val="283287"/>
                </a:solidFill>
                <a:latin typeface="Quicksand" pitchFamily="2" charset="77"/>
              </a:rPr>
              <a:t>Build partnerships with certified suppliers and maintain dual sourcing</a:t>
            </a:r>
          </a:p>
        </p:txBody>
      </p:sp>
      <p:sp>
        <p:nvSpPr>
          <p:cNvPr id="60" name="TextBox 59">
            <a:extLst>
              <a:ext uri="{FF2B5EF4-FFF2-40B4-BE49-F238E27FC236}">
                <a16:creationId xmlns:a16="http://schemas.microsoft.com/office/drawing/2014/main" id="{40D9ED0C-F375-7590-C983-3CB519B5D5F0}"/>
              </a:ext>
            </a:extLst>
          </p:cNvPr>
          <p:cNvSpPr txBox="1"/>
          <p:nvPr/>
        </p:nvSpPr>
        <p:spPr>
          <a:xfrm>
            <a:off x="6358202" y="5831229"/>
            <a:ext cx="2136358" cy="153888"/>
          </a:xfrm>
          <a:prstGeom prst="rect">
            <a:avLst/>
          </a:prstGeom>
          <a:noFill/>
        </p:spPr>
        <p:txBody>
          <a:bodyPr wrap="square" lIns="0" tIns="0" rIns="0" bIns="0">
            <a:spAutoFit/>
          </a:bodyPr>
          <a:lstStyle/>
          <a:p>
            <a:r>
              <a:rPr lang="en-US" sz="1000" dirty="0">
                <a:solidFill>
                  <a:srgbClr val="283287"/>
                </a:solidFill>
                <a:latin typeface="Quicksand" pitchFamily="2" charset="77"/>
              </a:rPr>
              <a:t>Slow revenue growth in early stages</a:t>
            </a:r>
          </a:p>
        </p:txBody>
      </p:sp>
      <p:sp>
        <p:nvSpPr>
          <p:cNvPr id="61" name="TextBox 60">
            <a:extLst>
              <a:ext uri="{FF2B5EF4-FFF2-40B4-BE49-F238E27FC236}">
                <a16:creationId xmlns:a16="http://schemas.microsoft.com/office/drawing/2014/main" id="{513396D1-F8B6-560E-B402-E3425B5467A6}"/>
              </a:ext>
            </a:extLst>
          </p:cNvPr>
          <p:cNvSpPr txBox="1"/>
          <p:nvPr/>
        </p:nvSpPr>
        <p:spPr>
          <a:xfrm>
            <a:off x="8998770" y="5837634"/>
            <a:ext cx="2437300" cy="307777"/>
          </a:xfrm>
          <a:prstGeom prst="rect">
            <a:avLst/>
          </a:prstGeom>
          <a:noFill/>
        </p:spPr>
        <p:txBody>
          <a:bodyPr wrap="square" lIns="0" tIns="0" rIns="0" bIns="0">
            <a:spAutoFit/>
          </a:bodyPr>
          <a:lstStyle/>
          <a:p>
            <a:r>
              <a:rPr lang="en-US" sz="1000" dirty="0">
                <a:solidFill>
                  <a:srgbClr val="283287"/>
                </a:solidFill>
                <a:latin typeface="Quicksand" pitchFamily="2" charset="77"/>
              </a:rPr>
              <a:t>Balanced funding strategy combining venture investment and strategic partnerships.</a:t>
            </a:r>
          </a:p>
        </p:txBody>
      </p:sp>
      <p:sp>
        <p:nvSpPr>
          <p:cNvPr id="62" name="TextBox 61">
            <a:extLst>
              <a:ext uri="{FF2B5EF4-FFF2-40B4-BE49-F238E27FC236}">
                <a16:creationId xmlns:a16="http://schemas.microsoft.com/office/drawing/2014/main" id="{278320A8-2FB3-5A72-F02C-2F6EB1E683DC}"/>
              </a:ext>
            </a:extLst>
          </p:cNvPr>
          <p:cNvSpPr txBox="1"/>
          <p:nvPr/>
        </p:nvSpPr>
        <p:spPr>
          <a:xfrm>
            <a:off x="6392116" y="2755551"/>
            <a:ext cx="1474705" cy="246221"/>
          </a:xfrm>
          <a:prstGeom prst="rect">
            <a:avLst/>
          </a:prstGeom>
          <a:noFill/>
        </p:spPr>
        <p:txBody>
          <a:bodyPr wrap="square" lIns="0" tIns="0" rIns="0" bIns="0">
            <a:spAutoFit/>
          </a:bodyPr>
          <a:lstStyle/>
          <a:p>
            <a:r>
              <a:rPr lang="en-US" sz="1600" b="1" dirty="0">
                <a:solidFill>
                  <a:srgbClr val="283287"/>
                </a:solidFill>
                <a:latin typeface="Reddit Sans" pitchFamily="2" charset="77"/>
                <a:ea typeface="Reddit Sans" pitchFamily="2" charset="77"/>
              </a:rPr>
              <a:t>Potential Risk</a:t>
            </a:r>
          </a:p>
        </p:txBody>
      </p:sp>
      <p:sp>
        <p:nvSpPr>
          <p:cNvPr id="63" name="TextBox 62">
            <a:extLst>
              <a:ext uri="{FF2B5EF4-FFF2-40B4-BE49-F238E27FC236}">
                <a16:creationId xmlns:a16="http://schemas.microsoft.com/office/drawing/2014/main" id="{9542099D-3D4A-E116-C270-62E0EDF421BF}"/>
              </a:ext>
            </a:extLst>
          </p:cNvPr>
          <p:cNvSpPr txBox="1"/>
          <p:nvPr/>
        </p:nvSpPr>
        <p:spPr>
          <a:xfrm>
            <a:off x="8959681" y="2755291"/>
            <a:ext cx="2123617" cy="246221"/>
          </a:xfrm>
          <a:prstGeom prst="rect">
            <a:avLst/>
          </a:prstGeom>
          <a:noFill/>
        </p:spPr>
        <p:txBody>
          <a:bodyPr wrap="square" lIns="0" tIns="0" rIns="0" bIns="0">
            <a:spAutoFit/>
          </a:bodyPr>
          <a:lstStyle/>
          <a:p>
            <a:r>
              <a:rPr lang="en-US" sz="1600" b="1" dirty="0">
                <a:solidFill>
                  <a:srgbClr val="283287"/>
                </a:solidFill>
                <a:latin typeface="Reddit Sans" pitchFamily="2" charset="77"/>
                <a:ea typeface="Reddit Sans" pitchFamily="2" charset="77"/>
              </a:rPr>
              <a:t>Mitigation Strategy</a:t>
            </a:r>
          </a:p>
        </p:txBody>
      </p:sp>
      <p:sp>
        <p:nvSpPr>
          <p:cNvPr id="1025" name="Rectangle 2">
            <a:extLst>
              <a:ext uri="{FF2B5EF4-FFF2-40B4-BE49-F238E27FC236}">
                <a16:creationId xmlns:a16="http://schemas.microsoft.com/office/drawing/2014/main" id="{0450DE08-3146-FC96-BF4C-E4744DD58B8A}"/>
              </a:ext>
            </a:extLst>
          </p:cNvPr>
          <p:cNvSpPr>
            <a:spLocks noChangeArrowheads="1"/>
          </p:cNvSpPr>
          <p:nvPr/>
        </p:nvSpPr>
        <p:spPr bwMode="auto">
          <a:xfrm>
            <a:off x="498093" y="2474390"/>
            <a:ext cx="33094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83287"/>
                </a:solidFill>
                <a:effectLst/>
                <a:latin typeface="Quicksand" pitchFamily="2" charset="77"/>
              </a:rPr>
              <a:t>Each phase combines technology, design, and empathy — shaping innovation that supports women’s wellness with purpose and beauty.</a:t>
            </a:r>
          </a:p>
        </p:txBody>
      </p:sp>
      <p:sp>
        <p:nvSpPr>
          <p:cNvPr id="5" name="Rectangle 1">
            <a:extLst>
              <a:ext uri="{FF2B5EF4-FFF2-40B4-BE49-F238E27FC236}">
                <a16:creationId xmlns:a16="http://schemas.microsoft.com/office/drawing/2014/main" id="{C89D0EE3-06F4-5C38-1F7C-147B169ECBEC}"/>
              </a:ext>
            </a:extLst>
          </p:cNvPr>
          <p:cNvSpPr>
            <a:spLocks noChangeArrowheads="1"/>
          </p:cNvSpPr>
          <p:nvPr/>
        </p:nvSpPr>
        <p:spPr bwMode="auto">
          <a:xfrm>
            <a:off x="452346" y="1414197"/>
            <a:ext cx="5062046" cy="1343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ts val="3800"/>
              </a:lnSpc>
              <a:spcBef>
                <a:spcPct val="0"/>
              </a:spcBef>
              <a:spcAft>
                <a:spcPct val="0"/>
              </a:spcAft>
              <a:buClrTx/>
              <a:buSzTx/>
              <a:tabLst/>
            </a:pPr>
            <a:r>
              <a:rPr lang="en-US" altLang="en-US" sz="3600" b="1" dirty="0">
                <a:solidFill>
                  <a:srgbClr val="283287"/>
                </a:solidFill>
                <a:latin typeface="Reddit Sans ExtraBold" pitchFamily="2" charset="77"/>
                <a:ea typeface="Reddit Sans ExtraBold" pitchFamily="2" charset="77"/>
              </a:rPr>
              <a:t>Staying Ahead for Long-Term Success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descr="A blue heart with black background&#10;&#10;AI-generated content may be incorrect.">
            <a:extLst>
              <a:ext uri="{FF2B5EF4-FFF2-40B4-BE49-F238E27FC236}">
                <a16:creationId xmlns:a16="http://schemas.microsoft.com/office/drawing/2014/main" id="{AB2B22B9-E5AE-5162-8090-D6488144B23E}"/>
              </a:ext>
            </a:extLst>
          </p:cNvPr>
          <p:cNvPicPr>
            <a:picLocks noChangeAspect="1"/>
          </p:cNvPicPr>
          <p:nvPr/>
        </p:nvPicPr>
        <p:blipFill>
          <a:blip r:embed="rId4"/>
          <a:stretch>
            <a:fillRect/>
          </a:stretch>
        </p:blipFill>
        <p:spPr>
          <a:xfrm rot="16200000">
            <a:off x="147121" y="6405825"/>
            <a:ext cx="311700" cy="275807"/>
          </a:xfrm>
          <a:prstGeom prst="rect">
            <a:avLst/>
          </a:prstGeom>
        </p:spPr>
      </p:pic>
      <p:sp>
        <p:nvSpPr>
          <p:cNvPr id="14" name="Round Single Corner Rectangle 13">
            <a:extLst>
              <a:ext uri="{FF2B5EF4-FFF2-40B4-BE49-F238E27FC236}">
                <a16:creationId xmlns:a16="http://schemas.microsoft.com/office/drawing/2014/main" id="{1F8AFAF6-CC8A-B549-54DA-D83F7AC5158E}"/>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3518CE-942E-DFAA-1D5E-063AF8CFA97D}"/>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2640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15444F04-55D6-3E50-D6B1-5DD25B15170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D703E21-E24A-96CE-0643-C3E9748A8171}"/>
              </a:ext>
            </a:extLst>
          </p:cNvPr>
          <p:cNvSpPr txBox="1"/>
          <p:nvPr/>
        </p:nvSpPr>
        <p:spPr>
          <a:xfrm>
            <a:off x="531914" y="1099717"/>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08/Next Steps</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CFAE63B2-9DE3-1F98-E448-CB4D8DFCF848}"/>
              </a:ext>
            </a:extLst>
          </p:cNvPr>
          <p:cNvSpPr txBox="1"/>
          <p:nvPr/>
        </p:nvSpPr>
        <p:spPr>
          <a:xfrm>
            <a:off x="495744" y="1406638"/>
            <a:ext cx="2967552" cy="1068434"/>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From Vision </a:t>
            </a:r>
            <a:br>
              <a:rPr lang="en-US" sz="3600" b="1" dirty="0">
                <a:solidFill>
                  <a:srgbClr val="283287"/>
                </a:solidFill>
                <a:latin typeface="Reddit Sans ExtraBold" pitchFamily="2" charset="77"/>
                <a:ea typeface="Reddit Sans ExtraBold" pitchFamily="2" charset="77"/>
              </a:rPr>
            </a:br>
            <a:r>
              <a:rPr lang="en-US" sz="3600" b="1" dirty="0">
                <a:solidFill>
                  <a:srgbClr val="283287"/>
                </a:solidFill>
                <a:latin typeface="Reddit Sans ExtraBold" pitchFamily="2" charset="77"/>
                <a:ea typeface="Reddit Sans ExtraBold" pitchFamily="2" charset="77"/>
              </a:rPr>
              <a:t>to Execution</a:t>
            </a:r>
          </a:p>
        </p:txBody>
      </p:sp>
      <p:sp>
        <p:nvSpPr>
          <p:cNvPr id="4" name="Rectangle 1">
            <a:extLst>
              <a:ext uri="{FF2B5EF4-FFF2-40B4-BE49-F238E27FC236}">
                <a16:creationId xmlns:a16="http://schemas.microsoft.com/office/drawing/2014/main" id="{D7A3F334-F83B-BE7C-74E2-947359A47515}"/>
              </a:ext>
            </a:extLst>
          </p:cNvPr>
          <p:cNvSpPr>
            <a:spLocks noChangeArrowheads="1"/>
          </p:cNvSpPr>
          <p:nvPr/>
        </p:nvSpPr>
        <p:spPr bwMode="auto">
          <a:xfrm>
            <a:off x="531914" y="2437927"/>
            <a:ext cx="27590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83287"/>
                </a:solidFill>
                <a:effectLst/>
                <a:latin typeface="Quicksand" pitchFamily="2" charset="77"/>
              </a:rPr>
              <a:t>Moving from concept to impact — every step brings us closer to redefining wellness through design and technology</a:t>
            </a:r>
          </a:p>
        </p:txBody>
      </p:sp>
      <p:grpSp>
        <p:nvGrpSpPr>
          <p:cNvPr id="22" name="Group 21">
            <a:extLst>
              <a:ext uri="{FF2B5EF4-FFF2-40B4-BE49-F238E27FC236}">
                <a16:creationId xmlns:a16="http://schemas.microsoft.com/office/drawing/2014/main" id="{B6CA90FF-600D-C8AA-AA7C-F4F54B3CBA18}"/>
              </a:ext>
            </a:extLst>
          </p:cNvPr>
          <p:cNvGrpSpPr/>
          <p:nvPr/>
        </p:nvGrpSpPr>
        <p:grpSpPr>
          <a:xfrm>
            <a:off x="3637394" y="3664487"/>
            <a:ext cx="2154321" cy="2154321"/>
            <a:chOff x="609600" y="4017879"/>
            <a:chExt cx="2154321" cy="2154321"/>
          </a:xfrm>
        </p:grpSpPr>
        <p:sp>
          <p:nvSpPr>
            <p:cNvPr id="5" name="Round Diagonal Corner Rectangle 4">
              <a:extLst>
                <a:ext uri="{FF2B5EF4-FFF2-40B4-BE49-F238E27FC236}">
                  <a16:creationId xmlns:a16="http://schemas.microsoft.com/office/drawing/2014/main" id="{C2ECB702-A583-6536-36D0-B830EA62A3D7}"/>
                </a:ext>
              </a:extLst>
            </p:cNvPr>
            <p:cNvSpPr/>
            <p:nvPr/>
          </p:nvSpPr>
          <p:spPr>
            <a:xfrm rot="16200000">
              <a:off x="609600" y="4017879"/>
              <a:ext cx="2154321" cy="2154321"/>
            </a:xfrm>
            <a:prstGeom prst="round2Diag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9668535-C249-BCE5-E569-B84C8490D8F2}"/>
                </a:ext>
              </a:extLst>
            </p:cNvPr>
            <p:cNvSpPr txBox="1"/>
            <p:nvPr/>
          </p:nvSpPr>
          <p:spPr>
            <a:xfrm>
              <a:off x="689869" y="4086240"/>
              <a:ext cx="512704" cy="917589"/>
            </a:xfrm>
            <a:prstGeom prst="rect">
              <a:avLst/>
            </a:prstGeom>
            <a:noFill/>
          </p:spPr>
          <p:txBody>
            <a:bodyPr wrap="none" rtlCol="0">
              <a:spAutoFit/>
            </a:bodyPr>
            <a:lstStyle/>
            <a:p>
              <a:r>
                <a:rPr lang="en-US" sz="4400" b="1" dirty="0">
                  <a:solidFill>
                    <a:srgbClr val="D6B4FB"/>
                  </a:solidFill>
                  <a:latin typeface="Reddit Sans ExtraBold" pitchFamily="2" charset="77"/>
                  <a:ea typeface="Reddit Sans ExtraBold" pitchFamily="2" charset="77"/>
                </a:rPr>
                <a:t>1</a:t>
              </a:r>
            </a:p>
          </p:txBody>
        </p:sp>
        <p:sp>
          <p:nvSpPr>
            <p:cNvPr id="11" name="TextBox 10">
              <a:extLst>
                <a:ext uri="{FF2B5EF4-FFF2-40B4-BE49-F238E27FC236}">
                  <a16:creationId xmlns:a16="http://schemas.microsoft.com/office/drawing/2014/main" id="{F6427BEF-6151-D09D-2F8A-AE8A7823E3BF}"/>
                </a:ext>
              </a:extLst>
            </p:cNvPr>
            <p:cNvSpPr txBox="1"/>
            <p:nvPr/>
          </p:nvSpPr>
          <p:spPr>
            <a:xfrm>
              <a:off x="1065513" y="4212178"/>
              <a:ext cx="1372343" cy="550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rPr>
                <a:t>Product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rPr>
                <a:t>Development</a:t>
              </a:r>
            </a:p>
          </p:txBody>
        </p:sp>
        <p:sp>
          <p:nvSpPr>
            <p:cNvPr id="13" name="TextBox 12">
              <a:extLst>
                <a:ext uri="{FF2B5EF4-FFF2-40B4-BE49-F238E27FC236}">
                  <a16:creationId xmlns:a16="http://schemas.microsoft.com/office/drawing/2014/main" id="{EF6F4E90-66BA-D349-C912-171CD4926454}"/>
                </a:ext>
              </a:extLst>
            </p:cNvPr>
            <p:cNvSpPr txBox="1"/>
            <p:nvPr/>
          </p:nvSpPr>
          <p:spPr>
            <a:xfrm>
              <a:off x="829395" y="5460089"/>
              <a:ext cx="1714728" cy="507831"/>
            </a:xfrm>
            <a:prstGeom prst="rect">
              <a:avLst/>
            </a:prstGeom>
            <a:noFill/>
          </p:spPr>
          <p:txBody>
            <a:bodyPr wrap="square" bIns="0" anchor="b">
              <a:no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283287"/>
                  </a:solidFill>
                  <a:effectLst/>
                  <a:latin typeface="Quicksand" pitchFamily="2" charset="77"/>
                </a:rPr>
                <a:t>Finalize prototype testing and refine wearable features for comfort and accuracy.</a:t>
              </a:r>
              <a:endParaRPr kumimoji="0" lang="en-US" altLang="en-US" sz="1000" b="1" i="0" u="none" strike="noStrike" cap="none" normalizeH="0" baseline="0" dirty="0">
                <a:ln>
                  <a:noFill/>
                </a:ln>
                <a:solidFill>
                  <a:srgbClr val="283287"/>
                </a:solidFill>
                <a:effectLst/>
                <a:latin typeface="Quicksand" pitchFamily="2" charset="77"/>
              </a:endParaRPr>
            </a:p>
          </p:txBody>
        </p:sp>
      </p:grpSp>
      <p:grpSp>
        <p:nvGrpSpPr>
          <p:cNvPr id="16" name="Group 15">
            <a:extLst>
              <a:ext uri="{FF2B5EF4-FFF2-40B4-BE49-F238E27FC236}">
                <a16:creationId xmlns:a16="http://schemas.microsoft.com/office/drawing/2014/main" id="{EC540CD3-71B2-48AA-8174-A92D308E6B0E}"/>
              </a:ext>
            </a:extLst>
          </p:cNvPr>
          <p:cNvGrpSpPr/>
          <p:nvPr/>
        </p:nvGrpSpPr>
        <p:grpSpPr>
          <a:xfrm>
            <a:off x="5085065" y="812808"/>
            <a:ext cx="2154321" cy="2154321"/>
            <a:chOff x="3412575" y="3305768"/>
            <a:chExt cx="2154321" cy="2154321"/>
          </a:xfrm>
        </p:grpSpPr>
        <p:sp>
          <p:nvSpPr>
            <p:cNvPr id="15" name="Round Diagonal Corner Rectangle 14">
              <a:extLst>
                <a:ext uri="{FF2B5EF4-FFF2-40B4-BE49-F238E27FC236}">
                  <a16:creationId xmlns:a16="http://schemas.microsoft.com/office/drawing/2014/main" id="{834FAA91-5E34-20E5-BFCF-C7C4B857F6F1}"/>
                </a:ext>
              </a:extLst>
            </p:cNvPr>
            <p:cNvSpPr/>
            <p:nvPr/>
          </p:nvSpPr>
          <p:spPr>
            <a:xfrm rot="16200000">
              <a:off x="3412575" y="3305768"/>
              <a:ext cx="2154321" cy="2154321"/>
            </a:xfrm>
            <a:prstGeom prst="round2Diag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308B573-F22B-7C80-A456-483673E967BE}"/>
                </a:ext>
              </a:extLst>
            </p:cNvPr>
            <p:cNvSpPr txBox="1"/>
            <p:nvPr/>
          </p:nvSpPr>
          <p:spPr>
            <a:xfrm>
              <a:off x="3463296" y="3374128"/>
              <a:ext cx="614021" cy="917589"/>
            </a:xfrm>
            <a:prstGeom prst="rect">
              <a:avLst/>
            </a:prstGeom>
            <a:noFill/>
          </p:spPr>
          <p:txBody>
            <a:bodyPr wrap="none" rtlCol="0">
              <a:spAutoFit/>
            </a:bodyPr>
            <a:lstStyle/>
            <a:p>
              <a:r>
                <a:rPr lang="en-US" sz="4400" b="1" dirty="0">
                  <a:solidFill>
                    <a:srgbClr val="D4DFE8"/>
                  </a:solidFill>
                  <a:latin typeface="Reddit Sans ExtraBold" pitchFamily="2" charset="77"/>
                  <a:ea typeface="Reddit Sans ExtraBold" pitchFamily="2" charset="77"/>
                </a:rPr>
                <a:t>2</a:t>
              </a:r>
            </a:p>
          </p:txBody>
        </p:sp>
        <p:sp>
          <p:nvSpPr>
            <p:cNvPr id="18" name="TextBox 17">
              <a:extLst>
                <a:ext uri="{FF2B5EF4-FFF2-40B4-BE49-F238E27FC236}">
                  <a16:creationId xmlns:a16="http://schemas.microsoft.com/office/drawing/2014/main" id="{71F3F57F-1D26-285A-A58C-E56A88CB4720}"/>
                </a:ext>
              </a:extLst>
            </p:cNvPr>
            <p:cNvSpPr txBox="1"/>
            <p:nvPr/>
          </p:nvSpPr>
          <p:spPr>
            <a:xfrm>
              <a:off x="3944570" y="3500067"/>
              <a:ext cx="1622036" cy="550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solidFill>
                    <a:srgbClr val="D6B4FB"/>
                  </a:solidFill>
                  <a:latin typeface="Reddit Sans ExtraBold" pitchFamily="2" charset="77"/>
                  <a:ea typeface="Reddit Sans ExtraBold" pitchFamily="2" charset="77"/>
                </a:rPr>
                <a:t>Brand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D6B4FB"/>
                  </a:solidFill>
                  <a:effectLst/>
                  <a:latin typeface="Reddit Sans ExtraBold" pitchFamily="2" charset="77"/>
                  <a:ea typeface="Reddit Sans ExtraBold" pitchFamily="2" charset="77"/>
                </a:rPr>
                <a:t>Identity Rollout</a:t>
              </a:r>
            </a:p>
          </p:txBody>
        </p:sp>
        <p:sp>
          <p:nvSpPr>
            <p:cNvPr id="21" name="TextBox 20">
              <a:extLst>
                <a:ext uri="{FF2B5EF4-FFF2-40B4-BE49-F238E27FC236}">
                  <a16:creationId xmlns:a16="http://schemas.microsoft.com/office/drawing/2014/main" id="{60AF507C-C494-3739-A436-021029986982}"/>
                </a:ext>
              </a:extLst>
            </p:cNvPr>
            <p:cNvSpPr txBox="1"/>
            <p:nvPr/>
          </p:nvSpPr>
          <p:spPr>
            <a:xfrm>
              <a:off x="3632371" y="4598973"/>
              <a:ext cx="1692104" cy="661720"/>
            </a:xfrm>
            <a:prstGeom prst="rect">
              <a:avLst/>
            </a:prstGeom>
            <a:noFill/>
          </p:spPr>
          <p:txBody>
            <a:bodyPr wrap="square" bIns="0" anchor="b">
              <a:noAutofit/>
            </a:bodyPr>
            <a:lstStyle/>
            <a:p>
              <a:pPr lvl="0" eaLnBrk="0" fontAlgn="base" hangingPunct="0">
                <a:spcBef>
                  <a:spcPct val="0"/>
                </a:spcBef>
                <a:spcAft>
                  <a:spcPct val="0"/>
                </a:spcAft>
              </a:pPr>
              <a:r>
                <a:rPr lang="en-US" altLang="en-US" sz="1000" dirty="0">
                  <a:solidFill>
                    <a:srgbClr val="D6B4FB"/>
                  </a:solidFill>
                  <a:latin typeface="Quicksand" pitchFamily="2" charset="77"/>
                </a:rPr>
                <a:t>Complete visual identity, packaging, and digital assets aligned with the brand philosophy.</a:t>
              </a:r>
              <a:endParaRPr kumimoji="0" lang="en-US" altLang="en-US" sz="1000" b="1" i="0" u="none" strike="noStrike" cap="none" normalizeH="0" baseline="0" dirty="0">
                <a:ln>
                  <a:noFill/>
                </a:ln>
                <a:solidFill>
                  <a:srgbClr val="D6B4FB"/>
                </a:solidFill>
                <a:effectLst/>
                <a:latin typeface="Quicksand" pitchFamily="2" charset="77"/>
              </a:endParaRPr>
            </a:p>
          </p:txBody>
        </p:sp>
      </p:grpSp>
      <p:grpSp>
        <p:nvGrpSpPr>
          <p:cNvPr id="20" name="Group 19">
            <a:extLst>
              <a:ext uri="{FF2B5EF4-FFF2-40B4-BE49-F238E27FC236}">
                <a16:creationId xmlns:a16="http://schemas.microsoft.com/office/drawing/2014/main" id="{7988D4CE-352B-6233-4248-5186744C5656}"/>
              </a:ext>
            </a:extLst>
          </p:cNvPr>
          <p:cNvGrpSpPr/>
          <p:nvPr/>
        </p:nvGrpSpPr>
        <p:grpSpPr>
          <a:xfrm>
            <a:off x="6532737" y="3664487"/>
            <a:ext cx="2154321" cy="2154321"/>
            <a:chOff x="6221959" y="3664487"/>
            <a:chExt cx="2154321" cy="2154321"/>
          </a:xfrm>
        </p:grpSpPr>
        <p:sp>
          <p:nvSpPr>
            <p:cNvPr id="34" name="Round Diagonal Corner Rectangle 33">
              <a:extLst>
                <a:ext uri="{FF2B5EF4-FFF2-40B4-BE49-F238E27FC236}">
                  <a16:creationId xmlns:a16="http://schemas.microsoft.com/office/drawing/2014/main" id="{F878C7C8-D470-88AC-6C27-57A524E5FBA4}"/>
                </a:ext>
              </a:extLst>
            </p:cNvPr>
            <p:cNvSpPr/>
            <p:nvPr/>
          </p:nvSpPr>
          <p:spPr>
            <a:xfrm rot="16200000">
              <a:off x="6221959" y="3664487"/>
              <a:ext cx="2154321" cy="2154321"/>
            </a:xfrm>
            <a:prstGeom prst="round2DiagRect">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FC3EDB1-1186-4966-2CF1-70CBF2603556}"/>
                </a:ext>
              </a:extLst>
            </p:cNvPr>
            <p:cNvSpPr txBox="1"/>
            <p:nvPr/>
          </p:nvSpPr>
          <p:spPr>
            <a:xfrm>
              <a:off x="6272680" y="3732847"/>
              <a:ext cx="612109" cy="917589"/>
            </a:xfrm>
            <a:prstGeom prst="rect">
              <a:avLst/>
            </a:prstGeom>
            <a:noFill/>
          </p:spPr>
          <p:txBody>
            <a:bodyPr wrap="none" rtlCol="0">
              <a:spAutoFit/>
            </a:bodyPr>
            <a:lstStyle/>
            <a:p>
              <a:r>
                <a:rPr lang="en-US" sz="4400" b="1" dirty="0">
                  <a:solidFill>
                    <a:srgbClr val="FFFFAF"/>
                  </a:solidFill>
                  <a:latin typeface="Reddit Sans ExtraBold" pitchFamily="2" charset="77"/>
                  <a:ea typeface="Reddit Sans ExtraBold" pitchFamily="2" charset="77"/>
                </a:rPr>
                <a:t>3</a:t>
              </a:r>
            </a:p>
          </p:txBody>
        </p:sp>
        <p:sp>
          <p:nvSpPr>
            <p:cNvPr id="36" name="TextBox 35">
              <a:extLst>
                <a:ext uri="{FF2B5EF4-FFF2-40B4-BE49-F238E27FC236}">
                  <a16:creationId xmlns:a16="http://schemas.microsoft.com/office/drawing/2014/main" id="{F2E230D3-5759-9842-D63B-BEC8701990E8}"/>
                </a:ext>
              </a:extLst>
            </p:cNvPr>
            <p:cNvSpPr txBox="1"/>
            <p:nvPr/>
          </p:nvSpPr>
          <p:spPr>
            <a:xfrm>
              <a:off x="6753953" y="3858786"/>
              <a:ext cx="1361765" cy="550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rPr>
                <a:t>Strategic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solidFill>
                    <a:srgbClr val="283287"/>
                  </a:solidFill>
                  <a:latin typeface="Reddit Sans ExtraBold" pitchFamily="2" charset="77"/>
                  <a:ea typeface="Reddit Sans ExtraBold" pitchFamily="2" charset="77"/>
                </a:rPr>
                <a:t>Partnerships</a:t>
              </a:r>
              <a:endPar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endParaRPr>
            </a:p>
          </p:txBody>
        </p:sp>
        <p:sp>
          <p:nvSpPr>
            <p:cNvPr id="37" name="TextBox 36">
              <a:extLst>
                <a:ext uri="{FF2B5EF4-FFF2-40B4-BE49-F238E27FC236}">
                  <a16:creationId xmlns:a16="http://schemas.microsoft.com/office/drawing/2014/main" id="{7460EFAE-AAC7-5B9C-31AE-E67B2B529394}"/>
                </a:ext>
              </a:extLst>
            </p:cNvPr>
            <p:cNvSpPr txBox="1"/>
            <p:nvPr/>
          </p:nvSpPr>
          <p:spPr>
            <a:xfrm>
              <a:off x="6441755" y="5114649"/>
              <a:ext cx="1831388" cy="499879"/>
            </a:xfrm>
            <a:prstGeom prst="rect">
              <a:avLst/>
            </a:prstGeom>
            <a:noFill/>
          </p:spPr>
          <p:txBody>
            <a:bodyPr wrap="square" bIns="0" anchor="b">
              <a:noAutofit/>
            </a:bodyPr>
            <a:lstStyle/>
            <a:p>
              <a:pPr eaLnBrk="0" fontAlgn="base" hangingPunct="0">
                <a:spcBef>
                  <a:spcPct val="0"/>
                </a:spcBef>
                <a:spcAft>
                  <a:spcPct val="0"/>
                </a:spcAft>
              </a:pPr>
              <a:r>
                <a:rPr lang="en-US" altLang="en-US" sz="1000" dirty="0">
                  <a:solidFill>
                    <a:srgbClr val="283287"/>
                  </a:solidFill>
                  <a:latin typeface="Quicksand" pitchFamily="2" charset="77"/>
                </a:rPr>
                <a:t>Engage potential collaborators in health tech, luxury lifestyle, and wellness communities.</a:t>
              </a:r>
              <a:endParaRPr lang="en-US" altLang="en-US" sz="1000" b="1" dirty="0">
                <a:solidFill>
                  <a:srgbClr val="283287"/>
                </a:solidFill>
                <a:latin typeface="Quicksand" pitchFamily="2" charset="77"/>
              </a:endParaRPr>
            </a:p>
          </p:txBody>
        </p:sp>
      </p:grpSp>
      <p:grpSp>
        <p:nvGrpSpPr>
          <p:cNvPr id="14" name="Group 13">
            <a:extLst>
              <a:ext uri="{FF2B5EF4-FFF2-40B4-BE49-F238E27FC236}">
                <a16:creationId xmlns:a16="http://schemas.microsoft.com/office/drawing/2014/main" id="{C10D264D-6C5E-7B28-CADC-16199E26F558}"/>
              </a:ext>
            </a:extLst>
          </p:cNvPr>
          <p:cNvGrpSpPr/>
          <p:nvPr/>
        </p:nvGrpSpPr>
        <p:grpSpPr>
          <a:xfrm>
            <a:off x="7980408" y="812809"/>
            <a:ext cx="2154321" cy="2154321"/>
            <a:chOff x="7406686" y="1142401"/>
            <a:chExt cx="2154321" cy="2154321"/>
          </a:xfrm>
        </p:grpSpPr>
        <p:sp>
          <p:nvSpPr>
            <p:cNvPr id="40" name="Round Diagonal Corner Rectangle 39">
              <a:extLst>
                <a:ext uri="{FF2B5EF4-FFF2-40B4-BE49-F238E27FC236}">
                  <a16:creationId xmlns:a16="http://schemas.microsoft.com/office/drawing/2014/main" id="{B5695F0D-1329-76A7-9530-F9D60851FFE8}"/>
                </a:ext>
              </a:extLst>
            </p:cNvPr>
            <p:cNvSpPr/>
            <p:nvPr/>
          </p:nvSpPr>
          <p:spPr>
            <a:xfrm rot="16200000">
              <a:off x="7406686" y="1142401"/>
              <a:ext cx="2154321" cy="2154321"/>
            </a:xfrm>
            <a:prstGeom prst="round2DiagRect">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5F5D8DD-D90D-A113-5779-2743BB918519}"/>
                </a:ext>
              </a:extLst>
            </p:cNvPr>
            <p:cNvSpPr txBox="1"/>
            <p:nvPr/>
          </p:nvSpPr>
          <p:spPr>
            <a:xfrm>
              <a:off x="7457407" y="1210761"/>
              <a:ext cx="638872" cy="917589"/>
            </a:xfrm>
            <a:prstGeom prst="rect">
              <a:avLst/>
            </a:prstGeom>
            <a:noFill/>
          </p:spPr>
          <p:txBody>
            <a:bodyPr wrap="none" rtlCol="0">
              <a:spAutoFit/>
            </a:bodyPr>
            <a:lstStyle/>
            <a:p>
              <a:r>
                <a:rPr lang="en-US" sz="4400" b="1" dirty="0">
                  <a:solidFill>
                    <a:srgbClr val="D6B4FB"/>
                  </a:solidFill>
                  <a:latin typeface="Reddit Sans ExtraBold" pitchFamily="2" charset="77"/>
                  <a:ea typeface="Reddit Sans ExtraBold" pitchFamily="2" charset="77"/>
                </a:rPr>
                <a:t>4</a:t>
              </a:r>
            </a:p>
          </p:txBody>
        </p:sp>
        <p:sp>
          <p:nvSpPr>
            <p:cNvPr id="42" name="TextBox 41">
              <a:extLst>
                <a:ext uri="{FF2B5EF4-FFF2-40B4-BE49-F238E27FC236}">
                  <a16:creationId xmlns:a16="http://schemas.microsoft.com/office/drawing/2014/main" id="{F71989AE-1CA4-295A-5EBA-1B53CA31348E}"/>
                </a:ext>
              </a:extLst>
            </p:cNvPr>
            <p:cNvSpPr txBox="1"/>
            <p:nvPr/>
          </p:nvSpPr>
          <p:spPr>
            <a:xfrm>
              <a:off x="7938681" y="1336700"/>
              <a:ext cx="1309853" cy="550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rPr>
                <a:t>Marketing</a:t>
              </a:r>
              <a:r>
                <a:rPr lang="en-US" altLang="en-US" sz="1200" b="1" dirty="0">
                  <a:solidFill>
                    <a:srgbClr val="283287"/>
                  </a:solidFill>
                  <a:latin typeface="Reddit Sans ExtraBold" pitchFamily="2" charset="77"/>
                  <a:ea typeface="Reddit Sans ExtraBold" pitchFamily="2" charset="77"/>
                </a:rPr>
                <a:t> &amp;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rPr>
                <a:t>Launc</a:t>
              </a:r>
              <a:r>
                <a:rPr lang="en-US" altLang="en-US" sz="1200" b="1" dirty="0">
                  <a:solidFill>
                    <a:srgbClr val="283287"/>
                  </a:solidFill>
                  <a:latin typeface="Reddit Sans ExtraBold" pitchFamily="2" charset="77"/>
                  <a:ea typeface="Reddit Sans ExtraBold" pitchFamily="2" charset="77"/>
                </a:rPr>
                <a:t>h Plan</a:t>
              </a:r>
              <a:endParaRPr kumimoji="0" lang="en-US" altLang="en-US" sz="1200" b="1" u="none" strike="noStrike" cap="none" normalizeH="0" baseline="0" dirty="0">
                <a:ln>
                  <a:noFill/>
                </a:ln>
                <a:solidFill>
                  <a:srgbClr val="283287"/>
                </a:solidFill>
                <a:effectLst/>
                <a:latin typeface="Reddit Sans ExtraBold" pitchFamily="2" charset="77"/>
                <a:ea typeface="Reddit Sans ExtraBold" pitchFamily="2" charset="77"/>
              </a:endParaRPr>
            </a:p>
          </p:txBody>
        </p:sp>
        <p:sp>
          <p:nvSpPr>
            <p:cNvPr id="43" name="TextBox 42">
              <a:extLst>
                <a:ext uri="{FF2B5EF4-FFF2-40B4-BE49-F238E27FC236}">
                  <a16:creationId xmlns:a16="http://schemas.microsoft.com/office/drawing/2014/main" id="{4CB4FBA2-A6D0-D1B7-9FFE-FA2E2587E078}"/>
                </a:ext>
              </a:extLst>
            </p:cNvPr>
            <p:cNvSpPr txBox="1"/>
            <p:nvPr/>
          </p:nvSpPr>
          <p:spPr>
            <a:xfrm>
              <a:off x="7674409" y="2579556"/>
              <a:ext cx="1831788" cy="517769"/>
            </a:xfrm>
            <a:prstGeom prst="rect">
              <a:avLst/>
            </a:prstGeom>
            <a:noFill/>
          </p:spPr>
          <p:txBody>
            <a:bodyPr wrap="square" bIns="0" anchor="b">
              <a:noAutofit/>
            </a:bodyPr>
            <a:lstStyle/>
            <a:p>
              <a:pPr eaLnBrk="0" fontAlgn="base" hangingPunct="0">
                <a:spcBef>
                  <a:spcPct val="0"/>
                </a:spcBef>
                <a:spcAft>
                  <a:spcPct val="0"/>
                </a:spcAft>
              </a:pPr>
              <a:r>
                <a:rPr lang="en-US" altLang="en-US" sz="1000" dirty="0">
                  <a:solidFill>
                    <a:srgbClr val="283287"/>
                  </a:solidFill>
                  <a:latin typeface="Quicksand" pitchFamily="2" charset="77"/>
                </a:rPr>
                <a:t>Prepare awareness campaign and pre-launch initiatives targeting early adopters.</a:t>
              </a:r>
            </a:p>
          </p:txBody>
        </p:sp>
      </p:grpSp>
      <p:grpSp>
        <p:nvGrpSpPr>
          <p:cNvPr id="19" name="Group 18">
            <a:extLst>
              <a:ext uri="{FF2B5EF4-FFF2-40B4-BE49-F238E27FC236}">
                <a16:creationId xmlns:a16="http://schemas.microsoft.com/office/drawing/2014/main" id="{6025A1BA-5425-815F-C259-F00164873512}"/>
              </a:ext>
            </a:extLst>
          </p:cNvPr>
          <p:cNvGrpSpPr/>
          <p:nvPr/>
        </p:nvGrpSpPr>
        <p:grpSpPr>
          <a:xfrm>
            <a:off x="9428080" y="3717729"/>
            <a:ext cx="2154321" cy="2154321"/>
            <a:chOff x="9428080" y="3717729"/>
            <a:chExt cx="2154321" cy="2154321"/>
          </a:xfrm>
        </p:grpSpPr>
        <p:sp>
          <p:nvSpPr>
            <p:cNvPr id="44" name="Round Diagonal Corner Rectangle 43">
              <a:extLst>
                <a:ext uri="{FF2B5EF4-FFF2-40B4-BE49-F238E27FC236}">
                  <a16:creationId xmlns:a16="http://schemas.microsoft.com/office/drawing/2014/main" id="{117D129D-DA7E-99AE-41AD-4573E05F0A93}"/>
                </a:ext>
              </a:extLst>
            </p:cNvPr>
            <p:cNvSpPr/>
            <p:nvPr/>
          </p:nvSpPr>
          <p:spPr>
            <a:xfrm rot="16200000">
              <a:off x="9428080" y="3717729"/>
              <a:ext cx="2154321" cy="2154321"/>
            </a:xfrm>
            <a:prstGeom prst="round2Diag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F2677B56-8B83-AE81-D399-393956DDEC6F}"/>
                </a:ext>
              </a:extLst>
            </p:cNvPr>
            <p:cNvSpPr txBox="1"/>
            <p:nvPr/>
          </p:nvSpPr>
          <p:spPr>
            <a:xfrm>
              <a:off x="9478801" y="3786089"/>
              <a:ext cx="612109" cy="917589"/>
            </a:xfrm>
            <a:prstGeom prst="rect">
              <a:avLst/>
            </a:prstGeom>
            <a:noFill/>
          </p:spPr>
          <p:txBody>
            <a:bodyPr wrap="none" rtlCol="0">
              <a:spAutoFit/>
            </a:bodyPr>
            <a:lstStyle/>
            <a:p>
              <a:r>
                <a:rPr lang="en-US" sz="4400" b="1" dirty="0">
                  <a:solidFill>
                    <a:srgbClr val="FFFFAF"/>
                  </a:solidFill>
                  <a:latin typeface="Reddit Sans ExtraBold" pitchFamily="2" charset="77"/>
                  <a:ea typeface="Reddit Sans ExtraBold" pitchFamily="2" charset="77"/>
                </a:rPr>
                <a:t>5</a:t>
              </a:r>
            </a:p>
          </p:txBody>
        </p:sp>
        <p:sp>
          <p:nvSpPr>
            <p:cNvPr id="46" name="TextBox 45">
              <a:extLst>
                <a:ext uri="{FF2B5EF4-FFF2-40B4-BE49-F238E27FC236}">
                  <a16:creationId xmlns:a16="http://schemas.microsoft.com/office/drawing/2014/main" id="{4A9E9D0B-3202-FDFA-AEBA-7AC6582CE0A9}"/>
                </a:ext>
              </a:extLst>
            </p:cNvPr>
            <p:cNvSpPr txBox="1"/>
            <p:nvPr/>
          </p:nvSpPr>
          <p:spPr>
            <a:xfrm>
              <a:off x="9960074" y="3912029"/>
              <a:ext cx="1464965" cy="550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u="none" strike="noStrike" cap="none" normalizeH="0" baseline="0" dirty="0">
                  <a:ln>
                    <a:noFill/>
                  </a:ln>
                  <a:solidFill>
                    <a:srgbClr val="D4DFE8"/>
                  </a:solidFill>
                  <a:effectLst/>
                  <a:latin typeface="Reddit Sans ExtraBold" pitchFamily="2" charset="77"/>
                  <a:ea typeface="Reddit Sans ExtraBold" pitchFamily="2" charset="77"/>
                </a:rPr>
                <a:t>Funding &amp;</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b="1" dirty="0">
                  <a:solidFill>
                    <a:srgbClr val="D4DFE8"/>
                  </a:solidFill>
                  <a:latin typeface="Reddit Sans ExtraBold" pitchFamily="2" charset="77"/>
                  <a:ea typeface="Reddit Sans ExtraBold" pitchFamily="2" charset="77"/>
                </a:rPr>
                <a:t>Expansion</a:t>
              </a:r>
              <a:endParaRPr kumimoji="0" lang="en-US" altLang="en-US" sz="1200" b="1" u="none" strike="noStrike" cap="none" normalizeH="0" baseline="0" dirty="0">
                <a:ln>
                  <a:noFill/>
                </a:ln>
                <a:solidFill>
                  <a:srgbClr val="D4DFE8"/>
                </a:solidFill>
                <a:effectLst/>
                <a:latin typeface="Reddit Sans ExtraBold" pitchFamily="2" charset="77"/>
                <a:ea typeface="Reddit Sans ExtraBold" pitchFamily="2" charset="77"/>
              </a:endParaRPr>
            </a:p>
          </p:txBody>
        </p:sp>
        <p:sp>
          <p:nvSpPr>
            <p:cNvPr id="47" name="TextBox 46">
              <a:extLst>
                <a:ext uri="{FF2B5EF4-FFF2-40B4-BE49-F238E27FC236}">
                  <a16:creationId xmlns:a16="http://schemas.microsoft.com/office/drawing/2014/main" id="{82A985C5-5BB3-4353-D399-D4714F5DE21F}"/>
                </a:ext>
              </a:extLst>
            </p:cNvPr>
            <p:cNvSpPr txBox="1"/>
            <p:nvPr/>
          </p:nvSpPr>
          <p:spPr>
            <a:xfrm>
              <a:off x="9647874" y="5120109"/>
              <a:ext cx="1831788" cy="550554"/>
            </a:xfrm>
            <a:prstGeom prst="rect">
              <a:avLst/>
            </a:prstGeom>
            <a:noFill/>
          </p:spPr>
          <p:txBody>
            <a:bodyPr wrap="square" bIns="0" anchor="b">
              <a:noAutofit/>
            </a:bodyPr>
            <a:lstStyle/>
            <a:p>
              <a:pPr eaLnBrk="0" fontAlgn="base" hangingPunct="0">
                <a:spcBef>
                  <a:spcPct val="0"/>
                </a:spcBef>
                <a:spcAft>
                  <a:spcPct val="0"/>
                </a:spcAft>
              </a:pPr>
              <a:r>
                <a:rPr lang="en-US" altLang="en-US" sz="1000" dirty="0">
                  <a:solidFill>
                    <a:srgbClr val="D4DFE8"/>
                  </a:solidFill>
                  <a:latin typeface="Quicksand" pitchFamily="2" charset="77"/>
                </a:rPr>
                <a:t>Secure next-stage investment to support production scale and app ecosystem growth.</a:t>
              </a:r>
              <a:endParaRPr lang="en-US" altLang="en-US" sz="1000" b="1" dirty="0">
                <a:solidFill>
                  <a:srgbClr val="D4DFE8"/>
                </a:solidFill>
                <a:latin typeface="Quicksand" pitchFamily="2" charset="77"/>
              </a:endParaRPr>
            </a:p>
          </p:txBody>
        </p:sp>
      </p:grpSp>
      <p:pic>
        <p:nvPicPr>
          <p:cNvPr id="2" name="Picture 1" descr="A blue heart with black background&#10;&#10;AI-generated content may be incorrect.">
            <a:extLst>
              <a:ext uri="{FF2B5EF4-FFF2-40B4-BE49-F238E27FC236}">
                <a16:creationId xmlns:a16="http://schemas.microsoft.com/office/drawing/2014/main" id="{91E5B66D-4EE8-4C81-1089-05208C9F6E27}"/>
              </a:ext>
            </a:extLst>
          </p:cNvPr>
          <p:cNvPicPr>
            <a:picLocks noChangeAspect="1"/>
          </p:cNvPicPr>
          <p:nvPr/>
        </p:nvPicPr>
        <p:blipFill>
          <a:blip r:embed="rId3"/>
          <a:stretch>
            <a:fillRect/>
          </a:stretch>
        </p:blipFill>
        <p:spPr>
          <a:xfrm rot="16200000">
            <a:off x="147121" y="6405825"/>
            <a:ext cx="311700" cy="275807"/>
          </a:xfrm>
          <a:prstGeom prst="rect">
            <a:avLst/>
          </a:prstGeom>
        </p:spPr>
      </p:pic>
      <p:sp>
        <p:nvSpPr>
          <p:cNvPr id="3" name="Round Single Corner Rectangle 2">
            <a:extLst>
              <a:ext uri="{FF2B5EF4-FFF2-40B4-BE49-F238E27FC236}">
                <a16:creationId xmlns:a16="http://schemas.microsoft.com/office/drawing/2014/main" id="{6478B726-99C7-8AA4-8FC3-D3C7F3853935}"/>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799DA1-4B55-25CE-BAFD-9BF0A4AD6FC5}"/>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6195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C6AF6F-B30A-D5F8-AA75-BD93666E3BC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8D6BD23-7B22-FD61-BDE5-E442AF00F3D1}"/>
              </a:ext>
            </a:extLst>
          </p:cNvPr>
          <p:cNvSpPr txBox="1"/>
          <p:nvPr/>
        </p:nvSpPr>
        <p:spPr>
          <a:xfrm>
            <a:off x="531914" y="1099717"/>
            <a:ext cx="2759027" cy="230832"/>
          </a:xfrm>
          <a:prstGeom prst="rect">
            <a:avLst/>
          </a:prstGeom>
          <a:noFill/>
        </p:spPr>
        <p:txBody>
          <a:bodyPr wrap="square">
            <a:spAutoFit/>
          </a:bodyPr>
          <a:lstStyle/>
          <a:p>
            <a:r>
              <a:rPr lang="en-US" sz="900" dirty="0">
                <a:solidFill>
                  <a:srgbClr val="283287"/>
                </a:solidFill>
                <a:effectLst/>
                <a:latin typeface="Quicksand" pitchFamily="2" charset="77"/>
                <a:ea typeface="Reddit Sans" pitchFamily="2" charset="77"/>
              </a:rPr>
              <a:t>Style </a:t>
            </a:r>
            <a:r>
              <a:rPr lang="en-US" sz="900" dirty="0">
                <a:solidFill>
                  <a:srgbClr val="283287"/>
                </a:solidFill>
                <a:latin typeface="Quicksand" pitchFamily="2" charset="77"/>
                <a:ea typeface="Reddit Sans" pitchFamily="2" charset="77"/>
              </a:rPr>
              <a:t>G</a:t>
            </a:r>
            <a:r>
              <a:rPr lang="en-US" sz="900" dirty="0">
                <a:solidFill>
                  <a:srgbClr val="283287"/>
                </a:solidFill>
                <a:effectLst/>
                <a:latin typeface="Quicksand" pitchFamily="2" charset="77"/>
                <a:ea typeface="Reddit Sans" pitchFamily="2" charset="77"/>
              </a:rPr>
              <a:t>uide - Typography</a:t>
            </a:r>
            <a:endParaRPr lang="en-US" sz="900" dirty="0">
              <a:solidFill>
                <a:srgbClr val="283287"/>
              </a:solidFill>
              <a:latin typeface="Quicksand" pitchFamily="2" charset="77"/>
            </a:endParaRPr>
          </a:p>
        </p:txBody>
      </p:sp>
      <p:sp>
        <p:nvSpPr>
          <p:cNvPr id="9" name="TextBox 8">
            <a:extLst>
              <a:ext uri="{FF2B5EF4-FFF2-40B4-BE49-F238E27FC236}">
                <a16:creationId xmlns:a16="http://schemas.microsoft.com/office/drawing/2014/main" id="{132C4EF4-10B5-4CF8-DCED-C2D0A8D07755}"/>
              </a:ext>
            </a:extLst>
          </p:cNvPr>
          <p:cNvSpPr txBox="1"/>
          <p:nvPr/>
        </p:nvSpPr>
        <p:spPr>
          <a:xfrm>
            <a:off x="495743" y="1406638"/>
            <a:ext cx="4311559" cy="1068434"/>
          </a:xfrm>
          <a:prstGeom prst="rect">
            <a:avLst/>
          </a:prstGeom>
          <a:noFill/>
        </p:spPr>
        <p:txBody>
          <a:bodyPr wrap="square" rtlCol="0">
            <a:spAutoFit/>
          </a:bodyPr>
          <a:lstStyle/>
          <a:p>
            <a:pPr>
              <a:lnSpc>
                <a:spcPts val="3800"/>
              </a:lnSpc>
            </a:pPr>
            <a:r>
              <a:rPr lang="en-US" sz="3600" b="1" dirty="0">
                <a:solidFill>
                  <a:srgbClr val="283287"/>
                </a:solidFill>
                <a:latin typeface="Reddit Sans ExtraBold" pitchFamily="2" charset="77"/>
                <a:ea typeface="Reddit Sans ExtraBold" pitchFamily="2" charset="77"/>
              </a:rPr>
              <a:t>Headline in Reddit Sans Extra Bold</a:t>
            </a:r>
          </a:p>
        </p:txBody>
      </p:sp>
      <p:sp>
        <p:nvSpPr>
          <p:cNvPr id="4" name="Rectangle 1">
            <a:extLst>
              <a:ext uri="{FF2B5EF4-FFF2-40B4-BE49-F238E27FC236}">
                <a16:creationId xmlns:a16="http://schemas.microsoft.com/office/drawing/2014/main" id="{2C6289A0-4E58-80D3-6AF5-B26AF94CD72C}"/>
              </a:ext>
            </a:extLst>
          </p:cNvPr>
          <p:cNvSpPr>
            <a:spLocks noChangeArrowheads="1"/>
          </p:cNvSpPr>
          <p:nvPr/>
        </p:nvSpPr>
        <p:spPr bwMode="auto">
          <a:xfrm>
            <a:off x="495742" y="3103392"/>
            <a:ext cx="40607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pPr>
            <a:r>
              <a:rPr lang="en-US" altLang="en-US" sz="1200" dirty="0">
                <a:solidFill>
                  <a:srgbClr val="283287"/>
                </a:solidFill>
                <a:latin typeface="Quicksand" pitchFamily="2" charset="77"/>
              </a:rPr>
              <a:t>Paragraph font is in Quicksand, </a:t>
            </a:r>
            <a:r>
              <a:rPr lang="en-US" sz="1200" dirty="0">
                <a:solidFill>
                  <a:srgbClr val="283287"/>
                </a:solidFill>
                <a:latin typeface="Quicksand" pitchFamily="2" charset="77"/>
              </a:rPr>
              <a:t>Chosen for its clarity and warmth, Quicksand 12 gives our text an approachable yet confident tone. It balances readability with character, creating harmony between the visual design and the message. This choice supports consistency across materials while keeping communication light, modern, and human.</a:t>
            </a:r>
            <a:r>
              <a:rPr lang="en-US" altLang="en-US" sz="1200" dirty="0">
                <a:solidFill>
                  <a:srgbClr val="283287"/>
                </a:solidFill>
                <a:latin typeface="Quicksand" pitchFamily="2" charset="77"/>
              </a:rPr>
              <a:t> </a:t>
            </a:r>
          </a:p>
        </p:txBody>
      </p:sp>
      <p:sp>
        <p:nvSpPr>
          <p:cNvPr id="63" name="TextBox 62">
            <a:extLst>
              <a:ext uri="{FF2B5EF4-FFF2-40B4-BE49-F238E27FC236}">
                <a16:creationId xmlns:a16="http://schemas.microsoft.com/office/drawing/2014/main" id="{4DCAB199-37CF-E914-F9E3-D7C58D99246A}"/>
              </a:ext>
            </a:extLst>
          </p:cNvPr>
          <p:cNvSpPr txBox="1"/>
          <p:nvPr/>
        </p:nvSpPr>
        <p:spPr>
          <a:xfrm>
            <a:off x="516388" y="2525770"/>
            <a:ext cx="3048222"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Subhead in Reddit Sans Bold</a:t>
            </a:r>
          </a:p>
        </p:txBody>
      </p:sp>
      <p:sp>
        <p:nvSpPr>
          <p:cNvPr id="64" name="TextBox 63">
            <a:extLst>
              <a:ext uri="{FF2B5EF4-FFF2-40B4-BE49-F238E27FC236}">
                <a16:creationId xmlns:a16="http://schemas.microsoft.com/office/drawing/2014/main" id="{E2AD21E8-7093-53F0-F8E0-7F09F85CD47B}"/>
              </a:ext>
            </a:extLst>
          </p:cNvPr>
          <p:cNvSpPr txBox="1"/>
          <p:nvPr/>
        </p:nvSpPr>
        <p:spPr>
          <a:xfrm>
            <a:off x="6190159" y="1378625"/>
            <a:ext cx="3048222" cy="338554"/>
          </a:xfrm>
          <a:prstGeom prst="rect">
            <a:avLst/>
          </a:prstGeom>
          <a:noFill/>
        </p:spPr>
        <p:txBody>
          <a:bodyPr wrap="square">
            <a:spAutoFit/>
          </a:bodyPr>
          <a:lstStyle/>
          <a:p>
            <a:r>
              <a:rPr lang="en-US" sz="1600" b="1" dirty="0">
                <a:solidFill>
                  <a:srgbClr val="283287"/>
                </a:solidFill>
                <a:latin typeface="Reddit Sans" pitchFamily="2" charset="77"/>
                <a:ea typeface="Reddit Sans" pitchFamily="2" charset="77"/>
              </a:rPr>
              <a:t>Colors </a:t>
            </a:r>
          </a:p>
        </p:txBody>
      </p:sp>
      <p:sp>
        <p:nvSpPr>
          <p:cNvPr id="65" name="Rounded Rectangle 64">
            <a:extLst>
              <a:ext uri="{FF2B5EF4-FFF2-40B4-BE49-F238E27FC236}">
                <a16:creationId xmlns:a16="http://schemas.microsoft.com/office/drawing/2014/main" id="{FB12AF1B-C78D-E130-86FE-5940E0CE01E3}"/>
              </a:ext>
            </a:extLst>
          </p:cNvPr>
          <p:cNvSpPr/>
          <p:nvPr/>
        </p:nvSpPr>
        <p:spPr>
          <a:xfrm>
            <a:off x="6322680" y="1801077"/>
            <a:ext cx="1623891" cy="307341"/>
          </a:xfrm>
          <a:prstGeom prst="round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4DFE8"/>
                </a:solidFill>
                <a:latin typeface="Reddit Sans ExtraBold" pitchFamily="2" charset="77"/>
                <a:ea typeface="Reddit Sans ExtraBold" pitchFamily="2" charset="77"/>
              </a:rPr>
              <a:t>#171A4D</a:t>
            </a:r>
          </a:p>
        </p:txBody>
      </p:sp>
      <p:sp>
        <p:nvSpPr>
          <p:cNvPr id="66" name="Rounded Rectangle 65">
            <a:extLst>
              <a:ext uri="{FF2B5EF4-FFF2-40B4-BE49-F238E27FC236}">
                <a16:creationId xmlns:a16="http://schemas.microsoft.com/office/drawing/2014/main" id="{FC7940A0-BE3D-7624-CB2D-0E6089D2B6E3}"/>
              </a:ext>
            </a:extLst>
          </p:cNvPr>
          <p:cNvSpPr/>
          <p:nvPr/>
        </p:nvSpPr>
        <p:spPr>
          <a:xfrm>
            <a:off x="6322680" y="2179548"/>
            <a:ext cx="1623891" cy="307341"/>
          </a:xfrm>
          <a:prstGeom prst="round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D6B4FB"/>
                </a:solidFill>
                <a:latin typeface="Reddit Sans ExtraBold" pitchFamily="2" charset="77"/>
                <a:ea typeface="Reddit Sans ExtraBold" pitchFamily="2" charset="77"/>
              </a:rPr>
              <a:t>#283287</a:t>
            </a:r>
          </a:p>
        </p:txBody>
      </p:sp>
      <p:sp>
        <p:nvSpPr>
          <p:cNvPr id="67" name="Rounded Rectangle 66">
            <a:extLst>
              <a:ext uri="{FF2B5EF4-FFF2-40B4-BE49-F238E27FC236}">
                <a16:creationId xmlns:a16="http://schemas.microsoft.com/office/drawing/2014/main" id="{73155E2C-E9EE-A9F3-3F28-EBF267AA496C}"/>
              </a:ext>
            </a:extLst>
          </p:cNvPr>
          <p:cNvSpPr/>
          <p:nvPr/>
        </p:nvSpPr>
        <p:spPr>
          <a:xfrm>
            <a:off x="6322679" y="3314961"/>
            <a:ext cx="1623891" cy="307341"/>
          </a:xfrm>
          <a:prstGeom prst="roundRect">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#FFFFAF</a:t>
            </a:r>
          </a:p>
        </p:txBody>
      </p:sp>
      <p:sp>
        <p:nvSpPr>
          <p:cNvPr id="68" name="Rounded Rectangle 67">
            <a:extLst>
              <a:ext uri="{FF2B5EF4-FFF2-40B4-BE49-F238E27FC236}">
                <a16:creationId xmlns:a16="http://schemas.microsoft.com/office/drawing/2014/main" id="{741AB3E3-B3D4-4A52-1E74-4F08A11AC133}"/>
              </a:ext>
            </a:extLst>
          </p:cNvPr>
          <p:cNvSpPr/>
          <p:nvPr/>
        </p:nvSpPr>
        <p:spPr>
          <a:xfrm>
            <a:off x="6322679" y="2558019"/>
            <a:ext cx="1623891" cy="307341"/>
          </a:xfrm>
          <a:prstGeom prst="roundRect">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171A4D"/>
                </a:solidFill>
                <a:latin typeface="Reddit Sans ExtraBold" pitchFamily="2" charset="77"/>
                <a:ea typeface="Reddit Sans ExtraBold" pitchFamily="2" charset="77"/>
              </a:rPr>
              <a:t>#D4DFE8</a:t>
            </a:r>
          </a:p>
        </p:txBody>
      </p:sp>
      <p:sp>
        <p:nvSpPr>
          <p:cNvPr id="69" name="Rounded Rectangle 68">
            <a:extLst>
              <a:ext uri="{FF2B5EF4-FFF2-40B4-BE49-F238E27FC236}">
                <a16:creationId xmlns:a16="http://schemas.microsoft.com/office/drawing/2014/main" id="{84118E4A-7BB5-1620-F892-7084450BA1E0}"/>
              </a:ext>
            </a:extLst>
          </p:cNvPr>
          <p:cNvSpPr/>
          <p:nvPr/>
        </p:nvSpPr>
        <p:spPr>
          <a:xfrm>
            <a:off x="6322679" y="2936490"/>
            <a:ext cx="1623891" cy="307341"/>
          </a:xfrm>
          <a:prstGeom prst="roundRect">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#D6B4FB</a:t>
            </a:r>
          </a:p>
        </p:txBody>
      </p:sp>
      <p:sp>
        <p:nvSpPr>
          <p:cNvPr id="71" name="Rounded Rectangle 70">
            <a:extLst>
              <a:ext uri="{FF2B5EF4-FFF2-40B4-BE49-F238E27FC236}">
                <a16:creationId xmlns:a16="http://schemas.microsoft.com/office/drawing/2014/main" id="{52A8C4F3-6118-44D2-0ED1-F15623924E20}"/>
              </a:ext>
            </a:extLst>
          </p:cNvPr>
          <p:cNvSpPr/>
          <p:nvPr/>
        </p:nvSpPr>
        <p:spPr>
          <a:xfrm>
            <a:off x="8079933" y="1801077"/>
            <a:ext cx="1623891" cy="1821225"/>
          </a:xfrm>
          <a:prstGeom prst="roundRect">
            <a:avLst>
              <a:gd name="adj" fmla="val 7282"/>
            </a:avLst>
          </a:prstGeom>
          <a:solidFill>
            <a:srgbClr val="F0EEEA"/>
          </a:solidFill>
          <a:ln>
            <a:solidFill>
              <a:srgbClr val="F0E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rgbClr val="283287"/>
                </a:solidFill>
                <a:latin typeface="Reddit Sans ExtraBold" pitchFamily="2" charset="77"/>
                <a:ea typeface="Reddit Sans ExtraBold" pitchFamily="2" charset="77"/>
              </a:rPr>
              <a:t>#F0EEEA</a:t>
            </a:r>
          </a:p>
        </p:txBody>
      </p:sp>
      <p:pic>
        <p:nvPicPr>
          <p:cNvPr id="72" name="Picture 71" descr="A purple heart on a flower&#10;&#10;AI-generated content may be incorrect.">
            <a:extLst>
              <a:ext uri="{FF2B5EF4-FFF2-40B4-BE49-F238E27FC236}">
                <a16:creationId xmlns:a16="http://schemas.microsoft.com/office/drawing/2014/main" id="{8A808FFF-BC62-99EA-D9BF-D11229ACBF51}"/>
              </a:ext>
            </a:extLst>
          </p:cNvPr>
          <p:cNvPicPr>
            <a:picLocks noChangeAspect="1"/>
          </p:cNvPicPr>
          <p:nvPr/>
        </p:nvPicPr>
        <p:blipFill>
          <a:blip r:embed="rId3"/>
          <a:stretch>
            <a:fillRect/>
          </a:stretch>
        </p:blipFill>
        <p:spPr>
          <a:xfrm>
            <a:off x="6322679" y="4431260"/>
            <a:ext cx="921917" cy="921917"/>
          </a:xfrm>
          <a:prstGeom prst="rect">
            <a:avLst/>
          </a:prstGeom>
        </p:spPr>
      </p:pic>
      <p:pic>
        <p:nvPicPr>
          <p:cNvPr id="73" name="Picture 72" descr="A purple pin on a black background&#10;&#10;AI-generated content may be incorrect.">
            <a:extLst>
              <a:ext uri="{FF2B5EF4-FFF2-40B4-BE49-F238E27FC236}">
                <a16:creationId xmlns:a16="http://schemas.microsoft.com/office/drawing/2014/main" id="{AADEA584-E2D4-37D8-81A3-6471F3F5EA11}"/>
              </a:ext>
            </a:extLst>
          </p:cNvPr>
          <p:cNvPicPr>
            <a:picLocks noChangeAspect="1"/>
          </p:cNvPicPr>
          <p:nvPr/>
        </p:nvPicPr>
        <p:blipFill>
          <a:blip r:embed="rId4"/>
          <a:stretch>
            <a:fillRect/>
          </a:stretch>
        </p:blipFill>
        <p:spPr>
          <a:xfrm>
            <a:off x="7334848" y="5302004"/>
            <a:ext cx="1043284" cy="1043284"/>
          </a:xfrm>
          <a:prstGeom prst="rect">
            <a:avLst/>
          </a:prstGeom>
        </p:spPr>
      </p:pic>
      <p:pic>
        <p:nvPicPr>
          <p:cNvPr id="74" name="Picture 73" descr="A purple and yellow graphic of a person&#10;&#10;AI-generated content may be incorrect.">
            <a:extLst>
              <a:ext uri="{FF2B5EF4-FFF2-40B4-BE49-F238E27FC236}">
                <a16:creationId xmlns:a16="http://schemas.microsoft.com/office/drawing/2014/main" id="{021221D9-B8B0-441D-46CA-F2E700235D2E}"/>
              </a:ext>
            </a:extLst>
          </p:cNvPr>
          <p:cNvPicPr>
            <a:picLocks noChangeAspect="1"/>
          </p:cNvPicPr>
          <p:nvPr/>
        </p:nvPicPr>
        <p:blipFill>
          <a:blip r:embed="rId5"/>
          <a:stretch>
            <a:fillRect/>
          </a:stretch>
        </p:blipFill>
        <p:spPr>
          <a:xfrm>
            <a:off x="6195652" y="5278306"/>
            <a:ext cx="1175969" cy="1175969"/>
          </a:xfrm>
          <a:prstGeom prst="rect">
            <a:avLst/>
          </a:prstGeom>
        </p:spPr>
      </p:pic>
      <p:pic>
        <p:nvPicPr>
          <p:cNvPr id="75" name="Picture 74" descr="A yellow figure running with a blue lightning bolt&#10;&#10;AI-generated content may be incorrect.">
            <a:extLst>
              <a:ext uri="{FF2B5EF4-FFF2-40B4-BE49-F238E27FC236}">
                <a16:creationId xmlns:a16="http://schemas.microsoft.com/office/drawing/2014/main" id="{86649C07-C094-1484-85CE-1A99010C547A}"/>
              </a:ext>
            </a:extLst>
          </p:cNvPr>
          <p:cNvPicPr>
            <a:picLocks noChangeAspect="1"/>
          </p:cNvPicPr>
          <p:nvPr/>
        </p:nvPicPr>
        <p:blipFill>
          <a:blip r:embed="rId6"/>
          <a:stretch>
            <a:fillRect/>
          </a:stretch>
        </p:blipFill>
        <p:spPr>
          <a:xfrm>
            <a:off x="7052759" y="4308055"/>
            <a:ext cx="1131986" cy="1131986"/>
          </a:xfrm>
          <a:prstGeom prst="rect">
            <a:avLst/>
          </a:prstGeom>
        </p:spPr>
      </p:pic>
      <p:sp>
        <p:nvSpPr>
          <p:cNvPr id="77" name="TextBox 76">
            <a:extLst>
              <a:ext uri="{FF2B5EF4-FFF2-40B4-BE49-F238E27FC236}">
                <a16:creationId xmlns:a16="http://schemas.microsoft.com/office/drawing/2014/main" id="{F2ED629E-51D1-3816-15CF-A662FA0E5F7B}"/>
              </a:ext>
            </a:extLst>
          </p:cNvPr>
          <p:cNvSpPr txBox="1"/>
          <p:nvPr/>
        </p:nvSpPr>
        <p:spPr>
          <a:xfrm>
            <a:off x="6322679" y="4079150"/>
            <a:ext cx="6100762" cy="369332"/>
          </a:xfrm>
          <a:prstGeom prst="rect">
            <a:avLst/>
          </a:prstGeom>
          <a:noFill/>
        </p:spPr>
        <p:txBody>
          <a:bodyPr wrap="square">
            <a:spAutoFit/>
          </a:bodyPr>
          <a:lstStyle/>
          <a:p>
            <a:r>
              <a:rPr lang="en-US" b="1" dirty="0">
                <a:solidFill>
                  <a:srgbClr val="283287"/>
                </a:solidFill>
                <a:latin typeface="Reddit Sans" pitchFamily="2" charset="77"/>
                <a:ea typeface="Reddit Sans" pitchFamily="2" charset="77"/>
              </a:rPr>
              <a:t>Icons</a:t>
            </a:r>
            <a:endParaRPr lang="en-US" dirty="0"/>
          </a:p>
        </p:txBody>
      </p:sp>
      <p:sp>
        <p:nvSpPr>
          <p:cNvPr id="78" name="TextBox 77">
            <a:extLst>
              <a:ext uri="{FF2B5EF4-FFF2-40B4-BE49-F238E27FC236}">
                <a16:creationId xmlns:a16="http://schemas.microsoft.com/office/drawing/2014/main" id="{CA510DDD-3C94-1D23-5217-42905B1AE50B}"/>
              </a:ext>
            </a:extLst>
          </p:cNvPr>
          <p:cNvSpPr txBox="1"/>
          <p:nvPr/>
        </p:nvSpPr>
        <p:spPr>
          <a:xfrm>
            <a:off x="660985" y="6409909"/>
            <a:ext cx="2759027" cy="230832"/>
          </a:xfrm>
          <a:prstGeom prst="rect">
            <a:avLst/>
          </a:prstGeom>
          <a:noFill/>
        </p:spPr>
        <p:txBody>
          <a:bodyPr wrap="square">
            <a:spAutoFit/>
          </a:bodyPr>
          <a:lstStyle/>
          <a:p>
            <a:r>
              <a:rPr lang="en-US" sz="900" dirty="0">
                <a:solidFill>
                  <a:srgbClr val="283287"/>
                </a:solidFill>
                <a:latin typeface="Quicksand" pitchFamily="2" charset="77"/>
                <a:ea typeface="Reddit Sans" pitchFamily="2" charset="77"/>
              </a:rPr>
              <a:t>Company Logo</a:t>
            </a:r>
            <a:endParaRPr lang="en-US" sz="900" dirty="0">
              <a:solidFill>
                <a:srgbClr val="283287"/>
              </a:solidFill>
              <a:latin typeface="Quicksand" pitchFamily="2" charset="77"/>
            </a:endParaRPr>
          </a:p>
        </p:txBody>
      </p:sp>
      <p:sp>
        <p:nvSpPr>
          <p:cNvPr id="80" name="Round Diagonal Corner Rectangle 79">
            <a:extLst>
              <a:ext uri="{FF2B5EF4-FFF2-40B4-BE49-F238E27FC236}">
                <a16:creationId xmlns:a16="http://schemas.microsoft.com/office/drawing/2014/main" id="{DC86E15D-1E02-7BA5-5D16-3EA9638873B3}"/>
              </a:ext>
            </a:extLst>
          </p:cNvPr>
          <p:cNvSpPr/>
          <p:nvPr/>
        </p:nvSpPr>
        <p:spPr>
          <a:xfrm rot="16200000">
            <a:off x="8914825" y="4512983"/>
            <a:ext cx="711174" cy="711174"/>
          </a:xfrm>
          <a:prstGeom prst="round2DiagRect">
            <a:avLst/>
          </a:prstGeom>
          <a:solidFill>
            <a:srgbClr val="171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ounded Rectangle 83">
            <a:extLst>
              <a:ext uri="{FF2B5EF4-FFF2-40B4-BE49-F238E27FC236}">
                <a16:creationId xmlns:a16="http://schemas.microsoft.com/office/drawing/2014/main" id="{72FD4A7A-F42A-A54E-38A7-08FBF9176B3B}"/>
              </a:ext>
            </a:extLst>
          </p:cNvPr>
          <p:cNvSpPr/>
          <p:nvPr/>
        </p:nvSpPr>
        <p:spPr>
          <a:xfrm>
            <a:off x="8891878" y="5353177"/>
            <a:ext cx="1852591" cy="369332"/>
          </a:xfrm>
          <a:prstGeom prst="roundRect">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283287"/>
              </a:solidFill>
              <a:latin typeface="Reddit Sans ExtraBold" pitchFamily="2" charset="77"/>
              <a:ea typeface="Reddit Sans ExtraBold" pitchFamily="2" charset="77"/>
            </a:endParaRPr>
          </a:p>
        </p:txBody>
      </p:sp>
      <p:sp>
        <p:nvSpPr>
          <p:cNvPr id="85" name="Oval 84">
            <a:extLst>
              <a:ext uri="{FF2B5EF4-FFF2-40B4-BE49-F238E27FC236}">
                <a16:creationId xmlns:a16="http://schemas.microsoft.com/office/drawing/2014/main" id="{841860C1-AEE6-1E13-584C-FC63DA8A0A4E}"/>
              </a:ext>
            </a:extLst>
          </p:cNvPr>
          <p:cNvSpPr/>
          <p:nvPr/>
        </p:nvSpPr>
        <p:spPr>
          <a:xfrm>
            <a:off x="9901781" y="4533077"/>
            <a:ext cx="230832" cy="230832"/>
          </a:xfrm>
          <a:prstGeom prst="ellipse">
            <a:avLst/>
          </a:prstGeom>
          <a:solidFill>
            <a:srgbClr val="D4D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CF6F623F-4B1D-087A-FA35-763C9334F604}"/>
              </a:ext>
            </a:extLst>
          </p:cNvPr>
          <p:cNvSpPr/>
          <p:nvPr/>
        </p:nvSpPr>
        <p:spPr>
          <a:xfrm>
            <a:off x="10287095" y="4928523"/>
            <a:ext cx="230832" cy="230832"/>
          </a:xfrm>
          <a:prstGeom prst="ellipse">
            <a:avLst/>
          </a:prstGeom>
          <a:solidFill>
            <a:srgbClr val="FFF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0CE9F79E-1F8D-5644-8D3C-CC5799F3A30D}"/>
              </a:ext>
            </a:extLst>
          </p:cNvPr>
          <p:cNvSpPr txBox="1"/>
          <p:nvPr/>
        </p:nvSpPr>
        <p:spPr>
          <a:xfrm>
            <a:off x="8756411" y="4060770"/>
            <a:ext cx="6223000" cy="369332"/>
          </a:xfrm>
          <a:prstGeom prst="rect">
            <a:avLst/>
          </a:prstGeom>
          <a:noFill/>
        </p:spPr>
        <p:txBody>
          <a:bodyPr wrap="square">
            <a:spAutoFit/>
          </a:bodyPr>
          <a:lstStyle/>
          <a:p>
            <a:r>
              <a:rPr lang="en-US" sz="1800" b="1" dirty="0">
                <a:solidFill>
                  <a:srgbClr val="283287"/>
                </a:solidFill>
                <a:latin typeface="Reddit Sans" pitchFamily="2" charset="77"/>
                <a:ea typeface="Reddit Sans" pitchFamily="2" charset="77"/>
              </a:rPr>
              <a:t>Treatment</a:t>
            </a:r>
            <a:endParaRPr lang="en-US" dirty="0"/>
          </a:p>
        </p:txBody>
      </p:sp>
      <p:sp>
        <p:nvSpPr>
          <p:cNvPr id="89" name="Rounded Rectangle 88">
            <a:extLst>
              <a:ext uri="{FF2B5EF4-FFF2-40B4-BE49-F238E27FC236}">
                <a16:creationId xmlns:a16="http://schemas.microsoft.com/office/drawing/2014/main" id="{8EB9E815-E3E1-0F4C-6532-749166EAE18D}"/>
              </a:ext>
            </a:extLst>
          </p:cNvPr>
          <p:cNvSpPr/>
          <p:nvPr/>
        </p:nvSpPr>
        <p:spPr>
          <a:xfrm>
            <a:off x="8891877" y="5856077"/>
            <a:ext cx="1852591" cy="369332"/>
          </a:xfrm>
          <a:prstGeom prst="round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200" b="1" dirty="0">
              <a:solidFill>
                <a:srgbClr val="283287"/>
              </a:solidFill>
              <a:latin typeface="Reddit Sans ExtraBold" pitchFamily="2" charset="77"/>
              <a:ea typeface="Reddit Sans ExtraBold" pitchFamily="2" charset="77"/>
            </a:endParaRPr>
          </a:p>
        </p:txBody>
      </p:sp>
      <p:pic>
        <p:nvPicPr>
          <p:cNvPr id="2" name="Picture 1" descr="A blue heart with black background&#10;&#10;AI-generated content may be incorrect.">
            <a:extLst>
              <a:ext uri="{FF2B5EF4-FFF2-40B4-BE49-F238E27FC236}">
                <a16:creationId xmlns:a16="http://schemas.microsoft.com/office/drawing/2014/main" id="{31825C90-0D34-8036-C3B2-0F01DBE49A5B}"/>
              </a:ext>
            </a:extLst>
          </p:cNvPr>
          <p:cNvPicPr>
            <a:picLocks noChangeAspect="1"/>
          </p:cNvPicPr>
          <p:nvPr/>
        </p:nvPicPr>
        <p:blipFill>
          <a:blip r:embed="rId7"/>
          <a:stretch>
            <a:fillRect/>
          </a:stretch>
        </p:blipFill>
        <p:spPr>
          <a:xfrm rot="16200000">
            <a:off x="147121" y="6405825"/>
            <a:ext cx="311700" cy="275807"/>
          </a:xfrm>
          <a:prstGeom prst="rect">
            <a:avLst/>
          </a:prstGeom>
        </p:spPr>
      </p:pic>
      <p:sp>
        <p:nvSpPr>
          <p:cNvPr id="3" name="Round Single Corner Rectangle 2">
            <a:extLst>
              <a:ext uri="{FF2B5EF4-FFF2-40B4-BE49-F238E27FC236}">
                <a16:creationId xmlns:a16="http://schemas.microsoft.com/office/drawing/2014/main" id="{20CD9850-80EF-0BC9-14CB-23470397DCD4}"/>
              </a:ext>
            </a:extLst>
          </p:cNvPr>
          <p:cNvSpPr/>
          <p:nvPr/>
        </p:nvSpPr>
        <p:spPr>
          <a:xfrm rot="10800000" flipH="1">
            <a:off x="1" y="1534032"/>
            <a:ext cx="242962" cy="2798935"/>
          </a:xfrm>
          <a:prstGeom prst="round1Rect">
            <a:avLst>
              <a:gd name="adj" fmla="val 28092"/>
            </a:avLst>
          </a:prstGeom>
          <a:solidFill>
            <a:srgbClr val="D6B4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178F836-35CE-A87E-9DBF-34229F7D469C}"/>
              </a:ext>
            </a:extLst>
          </p:cNvPr>
          <p:cNvSpPr/>
          <p:nvPr/>
        </p:nvSpPr>
        <p:spPr>
          <a:xfrm>
            <a:off x="0" y="1485338"/>
            <a:ext cx="239877" cy="2164166"/>
          </a:xfrm>
          <a:prstGeom prst="rect">
            <a:avLst/>
          </a:prstGeom>
          <a:solidFill>
            <a:srgbClr val="2832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4299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EEA"/>
        </a:solidFill>
        <a:effectLst/>
      </p:bgPr>
    </p:bg>
    <p:spTree>
      <p:nvGrpSpPr>
        <p:cNvPr id="1" name="">
          <a:extLst>
            <a:ext uri="{FF2B5EF4-FFF2-40B4-BE49-F238E27FC236}">
              <a16:creationId xmlns:a16="http://schemas.microsoft.com/office/drawing/2014/main" id="{2DB83E9F-62EA-B8E7-4A86-EB259C2E583F}"/>
            </a:ext>
          </a:extLst>
        </p:cNvPr>
        <p:cNvGrpSpPr/>
        <p:nvPr/>
      </p:nvGrpSpPr>
      <p:grpSpPr>
        <a:xfrm>
          <a:off x="0" y="0"/>
          <a:ext cx="0" cy="0"/>
          <a:chOff x="0" y="0"/>
          <a:chExt cx="0" cy="0"/>
        </a:xfrm>
      </p:grpSpPr>
      <p:pic>
        <p:nvPicPr>
          <p:cNvPr id="21512" name="Picture 8" descr="Generated image">
            <a:extLst>
              <a:ext uri="{FF2B5EF4-FFF2-40B4-BE49-F238E27FC236}">
                <a16:creationId xmlns:a16="http://schemas.microsoft.com/office/drawing/2014/main" id="{6188A971-8045-E785-AE03-CCF9C751F1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69" t="17938" r="6146" b="6643"/>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DCF5BB-F4E3-CEC7-562B-D30295F2B365}"/>
              </a:ext>
            </a:extLst>
          </p:cNvPr>
          <p:cNvSpPr txBox="1"/>
          <p:nvPr/>
        </p:nvSpPr>
        <p:spPr>
          <a:xfrm>
            <a:off x="488781" y="2457287"/>
            <a:ext cx="8116199" cy="3196388"/>
          </a:xfrm>
          <a:prstGeom prst="rect">
            <a:avLst/>
          </a:prstGeom>
          <a:noFill/>
        </p:spPr>
        <p:txBody>
          <a:bodyPr wrap="square" rtlCol="0">
            <a:spAutoFit/>
          </a:bodyPr>
          <a:lstStyle/>
          <a:p>
            <a:pPr>
              <a:lnSpc>
                <a:spcPts val="12040"/>
              </a:lnSpc>
            </a:pPr>
            <a:r>
              <a:rPr lang="en-US" sz="12000" b="1" dirty="0">
                <a:solidFill>
                  <a:srgbClr val="283287"/>
                </a:solidFill>
                <a:latin typeface="Reddit Sans ExtraBold" pitchFamily="2" charset="77"/>
                <a:ea typeface="Reddit Sans ExtraBold" pitchFamily="2" charset="77"/>
              </a:rPr>
              <a:t>Thank </a:t>
            </a:r>
          </a:p>
          <a:p>
            <a:pPr>
              <a:lnSpc>
                <a:spcPts val="12040"/>
              </a:lnSpc>
            </a:pPr>
            <a:r>
              <a:rPr lang="en-US" sz="12000" b="1" dirty="0">
                <a:solidFill>
                  <a:srgbClr val="283287"/>
                </a:solidFill>
                <a:latin typeface="Reddit Sans ExtraBold" pitchFamily="2" charset="77"/>
                <a:ea typeface="Reddit Sans ExtraBold" pitchFamily="2" charset="77"/>
              </a:rPr>
              <a:t>You!</a:t>
            </a:r>
          </a:p>
        </p:txBody>
      </p:sp>
      <p:sp>
        <p:nvSpPr>
          <p:cNvPr id="2" name="TextBox 1">
            <a:extLst>
              <a:ext uri="{FF2B5EF4-FFF2-40B4-BE49-F238E27FC236}">
                <a16:creationId xmlns:a16="http://schemas.microsoft.com/office/drawing/2014/main" id="{9EDC31A1-8748-F023-BA33-7F970DB02713}"/>
              </a:ext>
            </a:extLst>
          </p:cNvPr>
          <p:cNvSpPr txBox="1"/>
          <p:nvPr/>
        </p:nvSpPr>
        <p:spPr>
          <a:xfrm>
            <a:off x="1123749" y="5777295"/>
            <a:ext cx="1239351" cy="384721"/>
          </a:xfrm>
          <a:prstGeom prst="rect">
            <a:avLst/>
          </a:prstGeom>
          <a:noFill/>
        </p:spPr>
        <p:txBody>
          <a:bodyPr wrap="square" lIns="0" tIns="0" rIns="0" bIns="0">
            <a:spAutoFit/>
          </a:bodyPr>
          <a:lstStyle/>
          <a:p>
            <a:r>
              <a:rPr lang="en-US" sz="2500" b="1" dirty="0">
                <a:solidFill>
                  <a:srgbClr val="283287"/>
                </a:solidFill>
                <a:latin typeface="Reddit Sans" pitchFamily="2" charset="77"/>
                <a:ea typeface="Reddit Sans" pitchFamily="2" charset="77"/>
              </a:rPr>
              <a:t>ECLAT</a:t>
            </a:r>
          </a:p>
        </p:txBody>
      </p:sp>
      <p:pic>
        <p:nvPicPr>
          <p:cNvPr id="3" name="Picture 2" descr="A yellow heart with black background&#10;&#10;AI-generated content may be incorrect.">
            <a:extLst>
              <a:ext uri="{FF2B5EF4-FFF2-40B4-BE49-F238E27FC236}">
                <a16:creationId xmlns:a16="http://schemas.microsoft.com/office/drawing/2014/main" id="{FCE5BA3A-EEDC-94D6-09DA-6399D9B48783}"/>
              </a:ext>
            </a:extLst>
          </p:cNvPr>
          <p:cNvPicPr>
            <a:picLocks noChangeAspect="1"/>
          </p:cNvPicPr>
          <p:nvPr/>
        </p:nvPicPr>
        <p:blipFill>
          <a:blip r:embed="rId3"/>
          <a:stretch>
            <a:fillRect/>
          </a:stretch>
        </p:blipFill>
        <p:spPr>
          <a:xfrm rot="16200000">
            <a:off x="614299" y="5748312"/>
            <a:ext cx="437671" cy="387273"/>
          </a:xfrm>
          <a:prstGeom prst="rect">
            <a:avLst/>
          </a:prstGeom>
        </p:spPr>
      </p:pic>
    </p:spTree>
    <p:extLst>
      <p:ext uri="{BB962C8B-B14F-4D97-AF65-F5344CB8AC3E}">
        <p14:creationId xmlns:p14="http://schemas.microsoft.com/office/powerpoint/2010/main" val="325048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861</TotalTime>
  <Words>928</Words>
  <Application>Microsoft Macintosh PowerPoint</Application>
  <PresentationFormat>Widescreen</PresentationFormat>
  <Paragraphs>209</Paragraphs>
  <Slides>12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Quicksand</vt:lpstr>
      <vt:lpstr>Reddit Sans</vt:lpstr>
      <vt:lpstr>Reddit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Karinna  Fuentes-Quinteros</dc:creator>
  <cp:lastModifiedBy>Oona Gleeson</cp:lastModifiedBy>
  <cp:revision>10</cp:revision>
  <dcterms:created xsi:type="dcterms:W3CDTF">2025-10-31T14:31:33Z</dcterms:created>
  <dcterms:modified xsi:type="dcterms:W3CDTF">2026-01-29T19:55:09Z</dcterms:modified>
</cp:coreProperties>
</file>