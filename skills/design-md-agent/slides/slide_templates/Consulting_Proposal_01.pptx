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8" r:id="rId3"/>
    <p:sldId id="269"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184"/>
    <a:srgbClr val="96DCF9"/>
    <a:srgbClr val="4E95D9"/>
    <a:srgbClr val="4EAC5A"/>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D4CC"/>
          </a:solidFill>
        </a:fill>
      </a:tcStyle>
    </a:wholeTbl>
    <a:band2H>
      <a:tcTxStyle/>
      <a:tcStyle>
        <a:tcBdr/>
        <a:fill>
          <a:solidFill>
            <a:srgbClr val="FBEBE7"/>
          </a:solidFill>
        </a:fill>
      </a:tcStyle>
    </a:band2H>
    <a:firstCol>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ptos SemiBold"/>
          <a:ea typeface="Aptos SemiBold"/>
          <a:cs typeface="Aptos Semi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SemiBold"/>
          <a:ea typeface="Aptos SemiBold"/>
          <a:cs typeface="Aptos Semi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SemiBold"/>
          <a:ea typeface="Aptos SemiBold"/>
          <a:cs typeface="Aptos Semi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ptos SemiBold"/>
          <a:ea typeface="Aptos SemiBold"/>
          <a:cs typeface="Aptos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ptos SemiBold"/>
          <a:ea typeface="Aptos SemiBold"/>
          <a:cs typeface="Aptos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ptos SemiBold"/>
          <a:ea typeface="Aptos SemiBold"/>
          <a:cs typeface="Aptos Semi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ptos SemiBold"/>
          <a:ea typeface="Aptos SemiBold"/>
          <a:cs typeface="Aptos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66"/>
    <p:restoredTop sz="94678"/>
  </p:normalViewPr>
  <p:slideViewPr>
    <p:cSldViewPr snapToGrid="0" showGuides="1">
      <p:cViewPr varScale="1">
        <p:scale>
          <a:sx n="137" d="100"/>
          <a:sy n="137" d="100"/>
        </p:scale>
        <p:origin x="10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Display"/>
      </a:defRPr>
    </a:lvl1pPr>
    <a:lvl2pPr indent="228600" latinLnBrk="0">
      <a:defRPr sz="1200">
        <a:latin typeface="+mn-lt"/>
        <a:ea typeface="+mn-ea"/>
        <a:cs typeface="+mn-cs"/>
        <a:sym typeface="Aptos Display"/>
      </a:defRPr>
    </a:lvl2pPr>
    <a:lvl3pPr indent="457200" latinLnBrk="0">
      <a:defRPr sz="1200">
        <a:latin typeface="+mn-lt"/>
        <a:ea typeface="+mn-ea"/>
        <a:cs typeface="+mn-cs"/>
        <a:sym typeface="Aptos Display"/>
      </a:defRPr>
    </a:lvl3pPr>
    <a:lvl4pPr indent="685800" latinLnBrk="0">
      <a:defRPr sz="1200">
        <a:latin typeface="+mn-lt"/>
        <a:ea typeface="+mn-ea"/>
        <a:cs typeface="+mn-cs"/>
        <a:sym typeface="Aptos Display"/>
      </a:defRPr>
    </a:lvl4pPr>
    <a:lvl5pPr indent="914400" latinLnBrk="0">
      <a:defRPr sz="1200">
        <a:latin typeface="+mn-lt"/>
        <a:ea typeface="+mn-ea"/>
        <a:cs typeface="+mn-cs"/>
        <a:sym typeface="Aptos Display"/>
      </a:defRPr>
    </a:lvl5pPr>
    <a:lvl6pPr indent="1143000" latinLnBrk="0">
      <a:defRPr sz="1200">
        <a:latin typeface="+mn-lt"/>
        <a:ea typeface="+mn-ea"/>
        <a:cs typeface="+mn-cs"/>
        <a:sym typeface="Aptos Display"/>
      </a:defRPr>
    </a:lvl6pPr>
    <a:lvl7pPr indent="1371600" latinLnBrk="0">
      <a:defRPr sz="1200">
        <a:latin typeface="+mn-lt"/>
        <a:ea typeface="+mn-ea"/>
        <a:cs typeface="+mn-cs"/>
        <a:sym typeface="Aptos Display"/>
      </a:defRPr>
    </a:lvl7pPr>
    <a:lvl8pPr indent="1600200" latinLnBrk="0">
      <a:defRPr sz="1200">
        <a:latin typeface="+mn-lt"/>
        <a:ea typeface="+mn-ea"/>
        <a:cs typeface="+mn-cs"/>
        <a:sym typeface="Aptos Display"/>
      </a:defRPr>
    </a:lvl8pPr>
    <a:lvl9pPr indent="1828800" latinLnBrk="0">
      <a:defRPr sz="1200">
        <a:latin typeface="+mn-lt"/>
        <a:ea typeface="+mn-ea"/>
        <a:cs typeface="+mn-cs"/>
        <a:sym typeface="Aptos Display"/>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34194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5664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5933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76804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6569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0265" y="6404292"/>
            <a:ext cx="263536" cy="269241"/>
          </a:xfrm>
          <a:prstGeom prst="rect">
            <a:avLst/>
          </a:prstGeom>
          <a:ln w="12700">
            <a:miter lim="400000"/>
          </a:ln>
        </p:spPr>
        <p:txBody>
          <a:bodyPr wrap="none" lIns="45719" rIns="45719" anchor="ctr">
            <a:spAutoFit/>
          </a:bodyPr>
          <a:lstStyle>
            <a:lvl1pPr algn="r">
              <a:defRPr sz="1200">
                <a:solidFill>
                  <a:srgbClr val="757575"/>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Display"/>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95" name="Title 16"/>
          <p:cNvSpPr txBox="1"/>
          <p:nvPr/>
        </p:nvSpPr>
        <p:spPr>
          <a:xfrm>
            <a:off x="448690" y="683492"/>
            <a:ext cx="10648096" cy="21764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defRPr sz="5000" b="1">
                <a:solidFill>
                  <a:srgbClr val="FFFFFF"/>
                </a:solidFill>
                <a:latin typeface="Book Antiqua"/>
                <a:ea typeface="Book Antiqua"/>
                <a:cs typeface="Book Antiqua"/>
                <a:sym typeface="Book Antiqua"/>
              </a:defRPr>
            </a:pPr>
            <a:r>
              <a:rPr sz="7200" dirty="0">
                <a:latin typeface="Aptos" panose="020B0004020202020204" pitchFamily="34" charset="0"/>
              </a:rPr>
              <a:t>Operation</a:t>
            </a:r>
            <a:r>
              <a:rPr lang="en-US" sz="7200" dirty="0">
                <a:latin typeface="Aptos" panose="020B0004020202020204" pitchFamily="34" charset="0"/>
              </a:rPr>
              <a:t> and </a:t>
            </a:r>
            <a:r>
              <a:rPr sz="7200" dirty="0">
                <a:latin typeface="Aptos" panose="020B0004020202020204" pitchFamily="34" charset="0"/>
              </a:rPr>
              <a:t>Financial</a:t>
            </a:r>
            <a:r>
              <a:rPr lang="en-US" sz="7200" dirty="0">
                <a:latin typeface="Aptos" panose="020B0004020202020204" pitchFamily="34" charset="0"/>
              </a:rPr>
              <a:t> Optimization Proposal</a:t>
            </a:r>
          </a:p>
        </p:txBody>
      </p:sp>
      <p:sp>
        <p:nvSpPr>
          <p:cNvPr id="2" name="Rounded Rectangle">
            <a:extLst>
              <a:ext uri="{FF2B5EF4-FFF2-40B4-BE49-F238E27FC236}">
                <a16:creationId xmlns:a16="http://schemas.microsoft.com/office/drawing/2014/main" id="{10FD2CC0-53A0-398D-8E12-0FEF53E1A33A}"/>
              </a:ext>
            </a:extLst>
          </p:cNvPr>
          <p:cNvSpPr/>
          <p:nvPr/>
        </p:nvSpPr>
        <p:spPr>
          <a:xfrm>
            <a:off x="561217" y="5950289"/>
            <a:ext cx="1702667" cy="448437"/>
          </a:xfrm>
          <a:prstGeom prst="roundRect">
            <a:avLst>
              <a:gd name="adj" fmla="val 50000"/>
            </a:avLst>
          </a:prstGeom>
          <a:solidFill>
            <a:srgbClr val="111184"/>
          </a:solidFill>
          <a:ln w="12700" cap="flat">
            <a:solidFill>
              <a:srgbClr val="FFFFFF"/>
            </a:solidFill>
            <a:prstDash val="solid"/>
            <a:round/>
          </a:ln>
          <a:effectLst/>
        </p:spPr>
        <p:txBody>
          <a:bodyPr wrap="square" lIns="45719" tIns="45719" rIns="45719" bIns="45719" numCol="1" anchor="ctr">
            <a:noAutofit/>
          </a:bodyPr>
          <a:lstStyle/>
          <a:p>
            <a:pPr algn="ctr">
              <a:defRPr/>
            </a:pPr>
            <a:r>
              <a:rPr lang="en-US" sz="1300" b="1" dirty="0">
                <a:solidFill>
                  <a:schemeClr val="bg1"/>
                </a:solidFill>
                <a:latin typeface="Aptos SemiBold" panose="020B0004020202020204" pitchFamily="34" charset="0"/>
              </a:rPr>
              <a:t>Oct 2025</a:t>
            </a:r>
          </a:p>
        </p:txBody>
      </p:sp>
      <p:sp>
        <p:nvSpPr>
          <p:cNvPr id="3" name="TextBox 8">
            <a:extLst>
              <a:ext uri="{FF2B5EF4-FFF2-40B4-BE49-F238E27FC236}">
                <a16:creationId xmlns:a16="http://schemas.microsoft.com/office/drawing/2014/main" id="{2F495E26-FCEF-34D4-7598-B72139FF165A}"/>
              </a:ext>
            </a:extLst>
          </p:cNvPr>
          <p:cNvSpPr txBox="1"/>
          <p:nvPr/>
        </p:nvSpPr>
        <p:spPr>
          <a:xfrm>
            <a:off x="561217" y="3059668"/>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b="0" dirty="0">
                <a:solidFill>
                  <a:schemeClr val="bg1"/>
                </a:solidFill>
                <a:latin typeface="Aptos" panose="020B0004020202020204" pitchFamily="34" charset="0"/>
              </a:rPr>
              <a:t>Company Name</a:t>
            </a:r>
          </a:p>
        </p:txBody>
      </p:sp>
      <p:sp>
        <p:nvSpPr>
          <p:cNvPr id="4" name="TextBox 8">
            <a:extLst>
              <a:ext uri="{FF2B5EF4-FFF2-40B4-BE49-F238E27FC236}">
                <a16:creationId xmlns:a16="http://schemas.microsoft.com/office/drawing/2014/main" id="{1B466414-7842-D775-5976-9887819F1D07}"/>
              </a:ext>
            </a:extLst>
          </p:cNvPr>
          <p:cNvSpPr txBox="1"/>
          <p:nvPr/>
        </p:nvSpPr>
        <p:spPr>
          <a:xfrm>
            <a:off x="3609733" y="3059668"/>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b="0" dirty="0">
                <a:solidFill>
                  <a:schemeClr val="bg1"/>
                </a:solidFill>
                <a:latin typeface="Aptos" panose="020B0004020202020204" pitchFamily="34" charset="0"/>
              </a:rPr>
              <a:t>Client Name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9" name="Rounded Rectangle">
            <a:extLst>
              <a:ext uri="{FF2B5EF4-FFF2-40B4-BE49-F238E27FC236}">
                <a16:creationId xmlns:a16="http://schemas.microsoft.com/office/drawing/2014/main" id="{EB0B49A5-9E41-BC25-FA27-B8E9854104E2}"/>
              </a:ext>
            </a:extLst>
          </p:cNvPr>
          <p:cNvSpPr/>
          <p:nvPr/>
        </p:nvSpPr>
        <p:spPr>
          <a:xfrm>
            <a:off x="3816626" y="1282148"/>
            <a:ext cx="7865833" cy="5180370"/>
          </a:xfrm>
          <a:prstGeom prst="roundRect">
            <a:avLst>
              <a:gd name="adj" fmla="val 4370"/>
            </a:avLst>
          </a:prstGeom>
          <a:solidFill>
            <a:srgbClr val="111184">
              <a:alpha val="57801"/>
            </a:srgbClr>
          </a:solidFill>
          <a:ln w="12700" cap="flat">
            <a:noFill/>
            <a:miter lim="400000"/>
          </a:ln>
          <a:effectLst/>
        </p:spPr>
        <p:txBody>
          <a:bodyPr wrap="square" lIns="45719" tIns="45719" rIns="45719" bIns="45719" numCol="1" anchor="ctr">
            <a:noAutofit/>
          </a:bodyPr>
          <a:lstStyle/>
          <a:p>
            <a:pPr algn="ctr" defTabSz="457200">
              <a:spcBef>
                <a:spcPts val="600"/>
              </a:spcBef>
            </a:pPr>
            <a:endParaRPr sz="1600" dirty="0">
              <a:solidFill>
                <a:srgbClr val="FFFFFF"/>
              </a:solidFill>
            </a:endParaRPr>
          </a:p>
        </p:txBody>
      </p:sp>
      <p:sp>
        <p:nvSpPr>
          <p:cNvPr id="136" name="Title 16"/>
          <p:cNvSpPr txBox="1"/>
          <p:nvPr/>
        </p:nvSpPr>
        <p:spPr>
          <a:xfrm>
            <a:off x="509542" y="297889"/>
            <a:ext cx="3217632"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spcBef>
                <a:spcPts val="600"/>
              </a:spcBef>
              <a:defRPr sz="4400" b="1">
                <a:solidFill>
                  <a:srgbClr val="FFFFFF"/>
                </a:solidFill>
                <a:latin typeface="Book Antiqua"/>
                <a:ea typeface="Book Antiqua"/>
                <a:cs typeface="Book Antiqua"/>
                <a:sym typeface="Book Antiqua"/>
              </a:defRPr>
            </a:pPr>
            <a:r>
              <a:rPr lang="en-US" dirty="0">
                <a:latin typeface="Aptos" panose="020B0004020202020204" pitchFamily="34" charset="0"/>
              </a:rPr>
              <a:t>Agenda</a:t>
            </a:r>
          </a:p>
        </p:txBody>
      </p:sp>
      <p:sp>
        <p:nvSpPr>
          <p:cNvPr id="30" name="TextBox 8">
            <a:extLst>
              <a:ext uri="{FF2B5EF4-FFF2-40B4-BE49-F238E27FC236}">
                <a16:creationId xmlns:a16="http://schemas.microsoft.com/office/drawing/2014/main" id="{67572377-23C7-4359-A69B-2C99A6274761}"/>
              </a:ext>
            </a:extLst>
          </p:cNvPr>
          <p:cNvSpPr txBox="1"/>
          <p:nvPr/>
        </p:nvSpPr>
        <p:spPr>
          <a:xfrm>
            <a:off x="5023087" y="2010139"/>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Executive Summary</a:t>
            </a:r>
          </a:p>
        </p:txBody>
      </p:sp>
      <p:sp>
        <p:nvSpPr>
          <p:cNvPr id="36" name="TextBox 8">
            <a:extLst>
              <a:ext uri="{FF2B5EF4-FFF2-40B4-BE49-F238E27FC236}">
                <a16:creationId xmlns:a16="http://schemas.microsoft.com/office/drawing/2014/main" id="{01D27E72-7953-23E6-E37D-564BAF203DE5}"/>
              </a:ext>
            </a:extLst>
          </p:cNvPr>
          <p:cNvSpPr txBox="1"/>
          <p:nvPr/>
        </p:nvSpPr>
        <p:spPr>
          <a:xfrm>
            <a:off x="4307286" y="2010139"/>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01</a:t>
            </a:r>
          </a:p>
        </p:txBody>
      </p:sp>
      <p:sp>
        <p:nvSpPr>
          <p:cNvPr id="45" name="TextBox 8">
            <a:extLst>
              <a:ext uri="{FF2B5EF4-FFF2-40B4-BE49-F238E27FC236}">
                <a16:creationId xmlns:a16="http://schemas.microsoft.com/office/drawing/2014/main" id="{83D2AD69-2234-9DC2-F330-F5F2DA6F68AB}"/>
              </a:ext>
            </a:extLst>
          </p:cNvPr>
          <p:cNvSpPr txBox="1"/>
          <p:nvPr/>
        </p:nvSpPr>
        <p:spPr>
          <a:xfrm>
            <a:off x="8781215" y="2010139"/>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Problem &amp; Context</a:t>
            </a:r>
          </a:p>
        </p:txBody>
      </p:sp>
      <p:sp>
        <p:nvSpPr>
          <p:cNvPr id="46" name="TextBox 8">
            <a:extLst>
              <a:ext uri="{FF2B5EF4-FFF2-40B4-BE49-F238E27FC236}">
                <a16:creationId xmlns:a16="http://schemas.microsoft.com/office/drawing/2014/main" id="{3DBC4E8F-1D6B-01BF-7E7C-3C80FE0A884E}"/>
              </a:ext>
            </a:extLst>
          </p:cNvPr>
          <p:cNvSpPr txBox="1"/>
          <p:nvPr/>
        </p:nvSpPr>
        <p:spPr>
          <a:xfrm>
            <a:off x="8065414" y="2010139"/>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02</a:t>
            </a:r>
          </a:p>
        </p:txBody>
      </p:sp>
      <p:sp>
        <p:nvSpPr>
          <p:cNvPr id="31" name="TextBox 8">
            <a:extLst>
              <a:ext uri="{FF2B5EF4-FFF2-40B4-BE49-F238E27FC236}">
                <a16:creationId xmlns:a16="http://schemas.microsoft.com/office/drawing/2014/main" id="{81E8B2E1-5551-BADA-DCC8-F4602645785A}"/>
              </a:ext>
            </a:extLst>
          </p:cNvPr>
          <p:cNvSpPr txBox="1"/>
          <p:nvPr/>
        </p:nvSpPr>
        <p:spPr>
          <a:xfrm>
            <a:off x="5023087" y="3137155"/>
            <a:ext cx="2827980"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Hypotheses &amp; Approach</a:t>
            </a:r>
          </a:p>
        </p:txBody>
      </p:sp>
      <p:sp>
        <p:nvSpPr>
          <p:cNvPr id="37" name="TextBox 8">
            <a:extLst>
              <a:ext uri="{FF2B5EF4-FFF2-40B4-BE49-F238E27FC236}">
                <a16:creationId xmlns:a16="http://schemas.microsoft.com/office/drawing/2014/main" id="{F102DB73-397C-5FE2-93E8-6B6F33B3755E}"/>
              </a:ext>
            </a:extLst>
          </p:cNvPr>
          <p:cNvSpPr txBox="1"/>
          <p:nvPr/>
        </p:nvSpPr>
        <p:spPr>
          <a:xfrm>
            <a:off x="4307286" y="3137155"/>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03</a:t>
            </a:r>
          </a:p>
        </p:txBody>
      </p:sp>
      <p:sp>
        <p:nvSpPr>
          <p:cNvPr id="48" name="TextBox 8">
            <a:extLst>
              <a:ext uri="{FF2B5EF4-FFF2-40B4-BE49-F238E27FC236}">
                <a16:creationId xmlns:a16="http://schemas.microsoft.com/office/drawing/2014/main" id="{8EAD0050-8E6B-D672-3470-BBE10DD2B8BD}"/>
              </a:ext>
            </a:extLst>
          </p:cNvPr>
          <p:cNvSpPr txBox="1"/>
          <p:nvPr/>
        </p:nvSpPr>
        <p:spPr>
          <a:xfrm>
            <a:off x="8781215" y="3137155"/>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Project Timeline</a:t>
            </a:r>
          </a:p>
        </p:txBody>
      </p:sp>
      <p:sp>
        <p:nvSpPr>
          <p:cNvPr id="49" name="TextBox 8">
            <a:extLst>
              <a:ext uri="{FF2B5EF4-FFF2-40B4-BE49-F238E27FC236}">
                <a16:creationId xmlns:a16="http://schemas.microsoft.com/office/drawing/2014/main" id="{5AA94471-15CD-AD88-F591-2A6708EBFE58}"/>
              </a:ext>
            </a:extLst>
          </p:cNvPr>
          <p:cNvSpPr txBox="1"/>
          <p:nvPr/>
        </p:nvSpPr>
        <p:spPr>
          <a:xfrm>
            <a:off x="8065414" y="3137155"/>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04</a:t>
            </a:r>
          </a:p>
        </p:txBody>
      </p:sp>
      <p:sp>
        <p:nvSpPr>
          <p:cNvPr id="32" name="TextBox 8">
            <a:extLst>
              <a:ext uri="{FF2B5EF4-FFF2-40B4-BE49-F238E27FC236}">
                <a16:creationId xmlns:a16="http://schemas.microsoft.com/office/drawing/2014/main" id="{22E9E630-8E3C-8395-805D-E1EAF7242B94}"/>
              </a:ext>
            </a:extLst>
          </p:cNvPr>
          <p:cNvSpPr txBox="1"/>
          <p:nvPr/>
        </p:nvSpPr>
        <p:spPr>
          <a:xfrm>
            <a:off x="5023087" y="4264171"/>
            <a:ext cx="2659861"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Key Findings &amp; Insights</a:t>
            </a:r>
          </a:p>
        </p:txBody>
      </p:sp>
      <p:sp>
        <p:nvSpPr>
          <p:cNvPr id="38" name="TextBox 8">
            <a:extLst>
              <a:ext uri="{FF2B5EF4-FFF2-40B4-BE49-F238E27FC236}">
                <a16:creationId xmlns:a16="http://schemas.microsoft.com/office/drawing/2014/main" id="{4710BC84-4FEB-81B8-0AF1-74D47E0C409C}"/>
              </a:ext>
            </a:extLst>
          </p:cNvPr>
          <p:cNvSpPr txBox="1"/>
          <p:nvPr/>
        </p:nvSpPr>
        <p:spPr>
          <a:xfrm>
            <a:off x="4307286" y="4264171"/>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05</a:t>
            </a:r>
          </a:p>
        </p:txBody>
      </p:sp>
      <p:sp>
        <p:nvSpPr>
          <p:cNvPr id="51" name="TextBox 8">
            <a:extLst>
              <a:ext uri="{FF2B5EF4-FFF2-40B4-BE49-F238E27FC236}">
                <a16:creationId xmlns:a16="http://schemas.microsoft.com/office/drawing/2014/main" id="{6B718624-900A-76D6-8C5A-5DE3A5195294}"/>
              </a:ext>
            </a:extLst>
          </p:cNvPr>
          <p:cNvSpPr txBox="1"/>
          <p:nvPr/>
        </p:nvSpPr>
        <p:spPr>
          <a:xfrm>
            <a:off x="8781215" y="4264171"/>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Financial Impact</a:t>
            </a:r>
          </a:p>
        </p:txBody>
      </p:sp>
      <p:sp>
        <p:nvSpPr>
          <p:cNvPr id="52" name="TextBox 8">
            <a:extLst>
              <a:ext uri="{FF2B5EF4-FFF2-40B4-BE49-F238E27FC236}">
                <a16:creationId xmlns:a16="http://schemas.microsoft.com/office/drawing/2014/main" id="{29D6740E-E9BD-9F8F-0724-E919566F30A5}"/>
              </a:ext>
            </a:extLst>
          </p:cNvPr>
          <p:cNvSpPr txBox="1"/>
          <p:nvPr/>
        </p:nvSpPr>
        <p:spPr>
          <a:xfrm>
            <a:off x="8065414" y="4264171"/>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06</a:t>
            </a:r>
          </a:p>
        </p:txBody>
      </p:sp>
      <p:sp>
        <p:nvSpPr>
          <p:cNvPr id="33" name="TextBox 8">
            <a:extLst>
              <a:ext uri="{FF2B5EF4-FFF2-40B4-BE49-F238E27FC236}">
                <a16:creationId xmlns:a16="http://schemas.microsoft.com/office/drawing/2014/main" id="{771EA0FB-0C1E-FD97-DF82-D3D40204803E}"/>
              </a:ext>
            </a:extLst>
          </p:cNvPr>
          <p:cNvSpPr txBox="1"/>
          <p:nvPr/>
        </p:nvSpPr>
        <p:spPr>
          <a:xfrm>
            <a:off x="5023087" y="5391186"/>
            <a:ext cx="2827980"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Risks &amp; Mitigation Plan</a:t>
            </a:r>
          </a:p>
        </p:txBody>
      </p:sp>
      <p:sp>
        <p:nvSpPr>
          <p:cNvPr id="39" name="TextBox 8">
            <a:extLst>
              <a:ext uri="{FF2B5EF4-FFF2-40B4-BE49-F238E27FC236}">
                <a16:creationId xmlns:a16="http://schemas.microsoft.com/office/drawing/2014/main" id="{AC9BEDE1-D62A-5BE9-F193-0A3B4FEE0C2A}"/>
              </a:ext>
            </a:extLst>
          </p:cNvPr>
          <p:cNvSpPr txBox="1"/>
          <p:nvPr/>
        </p:nvSpPr>
        <p:spPr>
          <a:xfrm>
            <a:off x="4307286" y="5391186"/>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07</a:t>
            </a:r>
          </a:p>
        </p:txBody>
      </p:sp>
      <p:sp>
        <p:nvSpPr>
          <p:cNvPr id="54" name="TextBox 8">
            <a:extLst>
              <a:ext uri="{FF2B5EF4-FFF2-40B4-BE49-F238E27FC236}">
                <a16:creationId xmlns:a16="http://schemas.microsoft.com/office/drawing/2014/main" id="{C0B3DCEA-9726-B57A-0ED3-9730E7B8E86C}"/>
              </a:ext>
            </a:extLst>
          </p:cNvPr>
          <p:cNvSpPr txBox="1"/>
          <p:nvPr/>
        </p:nvSpPr>
        <p:spPr>
          <a:xfrm>
            <a:off x="8781215" y="5391186"/>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chemeClr val="bg1"/>
                </a:solidFill>
                <a:latin typeface="Aptos" panose="020B0004020202020204" pitchFamily="34" charset="0"/>
              </a:rPr>
              <a:t>Recommendations</a:t>
            </a:r>
          </a:p>
        </p:txBody>
      </p:sp>
      <p:sp>
        <p:nvSpPr>
          <p:cNvPr id="55" name="TextBox 8">
            <a:extLst>
              <a:ext uri="{FF2B5EF4-FFF2-40B4-BE49-F238E27FC236}">
                <a16:creationId xmlns:a16="http://schemas.microsoft.com/office/drawing/2014/main" id="{A517A273-A082-6348-E38E-DCC4048DD85D}"/>
              </a:ext>
            </a:extLst>
          </p:cNvPr>
          <p:cNvSpPr txBox="1"/>
          <p:nvPr/>
        </p:nvSpPr>
        <p:spPr>
          <a:xfrm>
            <a:off x="8065414" y="5391186"/>
            <a:ext cx="50145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lgn="r">
              <a:spcAft>
                <a:spcPts val="1600"/>
              </a:spcAft>
            </a:pPr>
            <a:r>
              <a:rPr lang="en-US" sz="1800" dirty="0">
                <a:solidFill>
                  <a:srgbClr val="96DCF9"/>
                </a:solidFill>
                <a:latin typeface="Aptos" panose="020B0004020202020204" pitchFamily="34" charset="0"/>
              </a:rPr>
              <a:t>08</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742590EF-1322-EF87-05D5-F2922301B111}"/>
            </a:ext>
          </a:extLst>
        </p:cNvPr>
        <p:cNvGrpSpPr/>
        <p:nvPr/>
      </p:nvGrpSpPr>
      <p:grpSpPr>
        <a:xfrm>
          <a:off x="0" y="0"/>
          <a:ext cx="0" cy="0"/>
          <a:chOff x="0" y="0"/>
          <a:chExt cx="0" cy="0"/>
        </a:xfrm>
      </p:grpSpPr>
      <p:sp>
        <p:nvSpPr>
          <p:cNvPr id="149" name="Text Placeholder 10">
            <a:extLst>
              <a:ext uri="{FF2B5EF4-FFF2-40B4-BE49-F238E27FC236}">
                <a16:creationId xmlns:a16="http://schemas.microsoft.com/office/drawing/2014/main" id="{274E86EE-0C53-4374-D362-22CCA7F7932B}"/>
              </a:ext>
            </a:extLst>
          </p:cNvPr>
          <p:cNvSpPr txBox="1"/>
          <p:nvPr/>
        </p:nvSpPr>
        <p:spPr>
          <a:xfrm>
            <a:off x="6750746" y="4680076"/>
            <a:ext cx="3486558" cy="10770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285750" indent="-285750" defTabSz="457200">
              <a:lnSpc>
                <a:spcPct val="110000"/>
              </a:lnSpc>
              <a:spcAft>
                <a:spcPts val="1300"/>
              </a:spcAft>
              <a:buFont typeface="Arial" panose="020B0604020202020204" pitchFamily="34" charset="0"/>
              <a:buChar char="•"/>
              <a:defRPr sz="1300">
                <a:solidFill>
                  <a:srgbClr val="FFFFFF"/>
                </a:solidFill>
              </a:defRPr>
            </a:pPr>
            <a:r>
              <a:rPr dirty="0"/>
              <a:t>Projected cost savings: $X–$Y million annually</a:t>
            </a:r>
          </a:p>
          <a:p>
            <a:pPr marL="285750" indent="-285750" defTabSz="457200">
              <a:lnSpc>
                <a:spcPct val="110000"/>
              </a:lnSpc>
              <a:spcAft>
                <a:spcPts val="1300"/>
              </a:spcAft>
              <a:buFont typeface="Arial" panose="020B0604020202020204" pitchFamily="34" charset="0"/>
              <a:buChar char="•"/>
              <a:defRPr sz="1300">
                <a:solidFill>
                  <a:srgbClr val="FFFFFF"/>
                </a:solidFill>
              </a:defRPr>
            </a:pPr>
            <a:r>
              <a:rPr dirty="0"/>
              <a:t>ROI within X months</a:t>
            </a:r>
            <a:endParaRPr lang="en-US" dirty="0"/>
          </a:p>
          <a:p>
            <a:pPr marL="285750" indent="-285750" defTabSz="457200">
              <a:lnSpc>
                <a:spcPct val="110000"/>
              </a:lnSpc>
              <a:spcAft>
                <a:spcPts val="1300"/>
              </a:spcAft>
              <a:buFont typeface="Arial" panose="020B0604020202020204" pitchFamily="34" charset="0"/>
              <a:buChar char="•"/>
              <a:defRPr sz="1300">
                <a:solidFill>
                  <a:srgbClr val="FFFFFF"/>
                </a:solidFill>
              </a:defRPr>
            </a:pPr>
            <a:r>
              <a:rPr dirty="0"/>
              <a:t>Net margin improvement of X%</a:t>
            </a:r>
            <a:endParaRPr sz="1400" dirty="0"/>
          </a:p>
        </p:txBody>
      </p:sp>
      <p:sp>
        <p:nvSpPr>
          <p:cNvPr id="153" name="Text Placeholder 10">
            <a:extLst>
              <a:ext uri="{FF2B5EF4-FFF2-40B4-BE49-F238E27FC236}">
                <a16:creationId xmlns:a16="http://schemas.microsoft.com/office/drawing/2014/main" id="{0E22BC2B-3517-5D36-94AF-7E10D0168987}"/>
              </a:ext>
            </a:extLst>
          </p:cNvPr>
          <p:cNvSpPr txBox="1"/>
          <p:nvPr/>
        </p:nvSpPr>
        <p:spPr>
          <a:xfrm>
            <a:off x="6778710" y="2153517"/>
            <a:ext cx="3486558" cy="1737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dirty="0">
                <a:latin typeface="Aptos" panose="020B0004020202020204" pitchFamily="34" charset="0"/>
              </a:rPr>
              <a:t>Finding 1</a:t>
            </a:r>
            <a:r>
              <a:rPr lang="en-US" dirty="0">
                <a:latin typeface="Aptos" panose="020B0004020202020204" pitchFamily="34" charset="0"/>
              </a:rPr>
              <a:t>: </a:t>
            </a:r>
            <a:r>
              <a:rPr b="0" dirty="0">
                <a:solidFill>
                  <a:srgbClr val="FFFFFF"/>
                </a:solidFill>
                <a:latin typeface="+mn-lt"/>
                <a:ea typeface="+mn-ea"/>
                <a:cs typeface="+mn-cs"/>
                <a:sym typeface="Aptos Display"/>
              </a:rPr>
              <a:t>Identified inefficiencies in supply chain operations leading to 10% excess cost.</a:t>
            </a:r>
            <a:endParaRPr dirty="0">
              <a:solidFill>
                <a:srgbClr val="FFFFFF"/>
              </a:solidFill>
              <a:latin typeface="Aptos" panose="020B0004020202020204" pitchFamily="34" charset="0"/>
            </a:endParaRPr>
          </a:p>
          <a:p>
            <a:pPr defTabSz="457200">
              <a:lnSpc>
                <a:spcPct val="110000"/>
              </a:lnSpc>
              <a:spcAft>
                <a:spcPts val="1300"/>
              </a:spcAft>
              <a:defRPr sz="1300" b="1">
                <a:solidFill>
                  <a:srgbClr val="96DCF8"/>
                </a:solidFill>
                <a:latin typeface="Book Antiqua"/>
                <a:ea typeface="Book Antiqua"/>
                <a:cs typeface="Book Antiqua"/>
                <a:sym typeface="Book Antiqua"/>
              </a:defRPr>
            </a:pPr>
            <a:r>
              <a:rPr dirty="0">
                <a:latin typeface="Aptos" panose="020B0004020202020204" pitchFamily="34" charset="0"/>
              </a:rPr>
              <a:t>Finding 2</a:t>
            </a:r>
            <a:r>
              <a:rPr lang="en-US" dirty="0">
                <a:latin typeface="Aptos" panose="020B0004020202020204" pitchFamily="34" charset="0"/>
              </a:rPr>
              <a:t>: </a:t>
            </a:r>
            <a:r>
              <a:rPr b="0" dirty="0">
                <a:solidFill>
                  <a:srgbClr val="FFFFFF"/>
                </a:solidFill>
                <a:latin typeface="+mn-lt"/>
                <a:ea typeface="+mn-ea"/>
                <a:cs typeface="+mn-cs"/>
                <a:sym typeface="Aptos Display"/>
              </a:rPr>
              <a:t>Revenue leakage due to inconsistent pricing across channels.</a:t>
            </a:r>
            <a:endParaRPr dirty="0">
              <a:solidFill>
                <a:srgbClr val="FFFFFF"/>
              </a:solidFill>
              <a:latin typeface="Aptos" panose="020B0004020202020204" pitchFamily="34" charset="0"/>
            </a:endParaRPr>
          </a:p>
          <a:p>
            <a:pPr defTabSz="457200">
              <a:lnSpc>
                <a:spcPct val="110000"/>
              </a:lnSpc>
              <a:spcAft>
                <a:spcPts val="1300"/>
              </a:spcAft>
              <a:defRPr sz="1300" b="1">
                <a:solidFill>
                  <a:srgbClr val="96DCF8"/>
                </a:solidFill>
                <a:latin typeface="Book Antiqua"/>
                <a:ea typeface="Book Antiqua"/>
                <a:cs typeface="Book Antiqua"/>
                <a:sym typeface="Book Antiqua"/>
              </a:defRPr>
            </a:pPr>
            <a:r>
              <a:rPr dirty="0">
                <a:latin typeface="Aptos" panose="020B0004020202020204" pitchFamily="34" charset="0"/>
              </a:rPr>
              <a:t>Finding 3</a:t>
            </a:r>
            <a:r>
              <a:rPr lang="en-US" dirty="0">
                <a:latin typeface="Aptos" panose="020B0004020202020204" pitchFamily="34" charset="0"/>
              </a:rPr>
              <a:t>: </a:t>
            </a:r>
            <a:r>
              <a:rPr b="0" dirty="0">
                <a:solidFill>
                  <a:srgbClr val="FFFFFF"/>
                </a:solidFill>
                <a:latin typeface="+mn-lt"/>
                <a:ea typeface="+mn-ea"/>
                <a:cs typeface="+mn-cs"/>
                <a:sym typeface="Aptos Display"/>
              </a:rPr>
              <a:t>Limited visibility into real-time performance data.</a:t>
            </a:r>
            <a:endParaRPr sz="1400" dirty="0">
              <a:solidFill>
                <a:srgbClr val="FFFFFF"/>
              </a:solidFill>
              <a:latin typeface="Aptos" panose="020B0004020202020204" pitchFamily="34" charset="0"/>
            </a:endParaRPr>
          </a:p>
        </p:txBody>
      </p:sp>
      <p:pic>
        <p:nvPicPr>
          <p:cNvPr id="138" name="Graphic 9" descr="Graphic 9">
            <a:extLst>
              <a:ext uri="{FF2B5EF4-FFF2-40B4-BE49-F238E27FC236}">
                <a16:creationId xmlns:a16="http://schemas.microsoft.com/office/drawing/2014/main" id="{502139C9-2585-5859-96AB-4BB10E1A6F8C}"/>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096001" y="4058271"/>
            <a:ext cx="490072" cy="490073"/>
          </a:xfrm>
          <a:prstGeom prst="rect">
            <a:avLst/>
          </a:prstGeom>
          <a:ln w="12700">
            <a:miter lim="400000"/>
          </a:ln>
        </p:spPr>
      </p:pic>
      <p:pic>
        <p:nvPicPr>
          <p:cNvPr id="140" name="Graphic 13" descr="Graphic 13">
            <a:extLst>
              <a:ext uri="{FF2B5EF4-FFF2-40B4-BE49-F238E27FC236}">
                <a16:creationId xmlns:a16="http://schemas.microsoft.com/office/drawing/2014/main" id="{0499AB35-EBD1-3218-135B-4D9D0B87A02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096000" y="1669665"/>
            <a:ext cx="543507" cy="543507"/>
          </a:xfrm>
          <a:prstGeom prst="rect">
            <a:avLst/>
          </a:prstGeom>
          <a:ln w="12700">
            <a:miter lim="400000"/>
          </a:ln>
        </p:spPr>
      </p:pic>
      <p:sp>
        <p:nvSpPr>
          <p:cNvPr id="4" name="Title 16">
            <a:extLst>
              <a:ext uri="{FF2B5EF4-FFF2-40B4-BE49-F238E27FC236}">
                <a16:creationId xmlns:a16="http://schemas.microsoft.com/office/drawing/2014/main" id="{9ACD5B8A-C409-2201-814E-FB0CEBD329E0}"/>
              </a:ext>
            </a:extLst>
          </p:cNvPr>
          <p:cNvSpPr txBox="1"/>
          <p:nvPr/>
        </p:nvSpPr>
        <p:spPr>
          <a:xfrm>
            <a:off x="509542" y="297889"/>
            <a:ext cx="5278026"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spcBef>
                <a:spcPts val="600"/>
              </a:spcBef>
              <a:defRPr sz="4400" b="1">
                <a:solidFill>
                  <a:srgbClr val="FFFFFF"/>
                </a:solidFill>
                <a:latin typeface="Book Antiqua"/>
                <a:ea typeface="Book Antiqua"/>
                <a:cs typeface="Book Antiqua"/>
                <a:sym typeface="Book Antiqua"/>
              </a:defRPr>
            </a:pPr>
            <a:r>
              <a:rPr lang="en-US" dirty="0">
                <a:latin typeface="Aptos" panose="020B0004020202020204" pitchFamily="34" charset="0"/>
              </a:rPr>
              <a:t>Executive Summary</a:t>
            </a:r>
          </a:p>
        </p:txBody>
      </p:sp>
      <p:sp>
        <p:nvSpPr>
          <p:cNvPr id="7" name="TextBox 8">
            <a:extLst>
              <a:ext uri="{FF2B5EF4-FFF2-40B4-BE49-F238E27FC236}">
                <a16:creationId xmlns:a16="http://schemas.microsoft.com/office/drawing/2014/main" id="{1F670DB8-09B9-7A2E-C2B4-C09C30EE0A61}"/>
              </a:ext>
            </a:extLst>
          </p:cNvPr>
          <p:cNvSpPr txBox="1"/>
          <p:nvPr/>
        </p:nvSpPr>
        <p:spPr>
          <a:xfrm>
            <a:off x="6778710" y="1693033"/>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Summary</a:t>
            </a:r>
          </a:p>
        </p:txBody>
      </p:sp>
      <p:sp>
        <p:nvSpPr>
          <p:cNvPr id="141" name="Text Placeholder 10">
            <a:extLst>
              <a:ext uri="{FF2B5EF4-FFF2-40B4-BE49-F238E27FC236}">
                <a16:creationId xmlns:a16="http://schemas.microsoft.com/office/drawing/2014/main" id="{DE9A58D0-5A11-2E71-258E-2D09A158207A}"/>
              </a:ext>
            </a:extLst>
          </p:cNvPr>
          <p:cNvSpPr txBox="1"/>
          <p:nvPr/>
        </p:nvSpPr>
        <p:spPr>
          <a:xfrm>
            <a:off x="1237490" y="2149979"/>
            <a:ext cx="3904365" cy="14038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457200">
              <a:defRPr sz="1300">
                <a:solidFill>
                  <a:srgbClr val="FFFFFF"/>
                </a:solidFill>
              </a:defRPr>
            </a:lvl1pPr>
          </a:lstStyle>
          <a:p>
            <a:pPr>
              <a:lnSpc>
                <a:spcPct val="110000"/>
              </a:lnSpc>
              <a:spcAft>
                <a:spcPts val="600"/>
              </a:spcAft>
            </a:pPr>
            <a:r>
              <a:rPr dirty="0"/>
              <a:t>This proposal outlines Company's approach to supporting the Client in addressing the core problem or opportunity in this specific area. Through targeted analysis and strategic recommendations, our goal is to yield desired outcome, e.g., enhance operational efficiency and improve financial performance by 15–20%.</a:t>
            </a:r>
          </a:p>
        </p:txBody>
      </p:sp>
      <p:sp>
        <p:nvSpPr>
          <p:cNvPr id="145" name="Text Placeholder 10">
            <a:extLst>
              <a:ext uri="{FF2B5EF4-FFF2-40B4-BE49-F238E27FC236}">
                <a16:creationId xmlns:a16="http://schemas.microsoft.com/office/drawing/2014/main" id="{77BC2CF2-535F-4AAE-EDD0-63150EACAFB1}"/>
              </a:ext>
            </a:extLst>
          </p:cNvPr>
          <p:cNvSpPr txBox="1"/>
          <p:nvPr/>
        </p:nvSpPr>
        <p:spPr>
          <a:xfrm>
            <a:off x="1223508" y="4626713"/>
            <a:ext cx="3904365" cy="15172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285750" indent="-285750" defTabSz="457200">
              <a:lnSpc>
                <a:spcPct val="110000"/>
              </a:lnSpc>
              <a:spcAft>
                <a:spcPts val="1300"/>
              </a:spcAft>
              <a:buFont typeface="Arial" panose="020B0604020202020204" pitchFamily="34" charset="0"/>
              <a:buChar char="•"/>
              <a:defRPr sz="1300">
                <a:solidFill>
                  <a:srgbClr val="FFFFFF"/>
                </a:solidFill>
              </a:defRPr>
            </a:pPr>
            <a:r>
              <a:rPr dirty="0"/>
              <a:t>Improve specific metric, e.g., cost-to-revenue  ratio / process efficiency</a:t>
            </a:r>
            <a:endParaRPr lang="en-US" dirty="0"/>
          </a:p>
          <a:p>
            <a:pPr marL="285750" indent="-285750" defTabSz="457200">
              <a:lnSpc>
                <a:spcPct val="110000"/>
              </a:lnSpc>
              <a:spcAft>
                <a:spcPts val="1300"/>
              </a:spcAft>
              <a:buFont typeface="Arial" panose="020B0604020202020204" pitchFamily="34" charset="0"/>
              <a:buChar char="•"/>
              <a:defRPr sz="1300">
                <a:solidFill>
                  <a:srgbClr val="FFFFFF"/>
                </a:solidFill>
              </a:defRPr>
            </a:pPr>
            <a:r>
              <a:rPr dirty="0"/>
              <a:t>Streamline specific process or function</a:t>
            </a:r>
            <a:endParaRPr lang="en-US" dirty="0"/>
          </a:p>
          <a:p>
            <a:pPr marL="285750" indent="-285750" defTabSz="457200">
              <a:lnSpc>
                <a:spcPct val="110000"/>
              </a:lnSpc>
              <a:spcAft>
                <a:spcPts val="1300"/>
              </a:spcAft>
              <a:buFont typeface="Arial" panose="020B0604020202020204" pitchFamily="34" charset="0"/>
              <a:buChar char="•"/>
              <a:defRPr sz="1300">
                <a:solidFill>
                  <a:srgbClr val="FFFFFF"/>
                </a:solidFill>
              </a:defRPr>
            </a:pPr>
            <a:r>
              <a:rPr lang="en-US" dirty="0"/>
              <a:t>Strengthen strategic area, e.g., market positioning / customer retention</a:t>
            </a:r>
          </a:p>
        </p:txBody>
      </p:sp>
      <p:pic>
        <p:nvPicPr>
          <p:cNvPr id="137" name="Graphic 7" descr="Graphic 7">
            <a:extLst>
              <a:ext uri="{FF2B5EF4-FFF2-40B4-BE49-F238E27FC236}">
                <a16:creationId xmlns:a16="http://schemas.microsoft.com/office/drawing/2014/main" id="{3E9EF34D-F6EC-8C51-662F-8F274A5C4CF7}"/>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509542" y="1669665"/>
            <a:ext cx="543507" cy="543507"/>
          </a:xfrm>
          <a:prstGeom prst="rect">
            <a:avLst/>
          </a:prstGeom>
          <a:ln w="12700">
            <a:miter lim="400000"/>
          </a:ln>
        </p:spPr>
      </p:pic>
      <p:pic>
        <p:nvPicPr>
          <p:cNvPr id="139" name="Graphic 11" descr="Graphic 11">
            <a:extLst>
              <a:ext uri="{FF2B5EF4-FFF2-40B4-BE49-F238E27FC236}">
                <a16:creationId xmlns:a16="http://schemas.microsoft.com/office/drawing/2014/main" id="{C67E683D-FFDD-2AFA-86EE-88381CF0E3D6}"/>
              </a:ext>
            </a:extLst>
          </p:cNvPr>
          <p:cNvPicPr>
            <a:picLocks noChangeAspect="1"/>
          </p:cNvPicPr>
          <p:nvPr/>
        </p:nvPicPr>
        <p:blipFill>
          <a:blip r:embed="rId6"/>
          <a:stretch>
            <a:fillRect/>
          </a:stretch>
        </p:blipFill>
        <p:spPr>
          <a:xfrm>
            <a:off x="509542" y="4003934"/>
            <a:ext cx="543507" cy="543507"/>
          </a:xfrm>
          <a:prstGeom prst="rect">
            <a:avLst/>
          </a:prstGeom>
          <a:ln w="12700">
            <a:miter lim="400000"/>
          </a:ln>
        </p:spPr>
      </p:pic>
      <p:sp>
        <p:nvSpPr>
          <p:cNvPr id="6" name="TextBox 8">
            <a:extLst>
              <a:ext uri="{FF2B5EF4-FFF2-40B4-BE49-F238E27FC236}">
                <a16:creationId xmlns:a16="http://schemas.microsoft.com/office/drawing/2014/main" id="{72C5F0A3-C6F2-97BE-D964-58E4CF4966AF}"/>
              </a:ext>
            </a:extLst>
          </p:cNvPr>
          <p:cNvSpPr txBox="1"/>
          <p:nvPr/>
        </p:nvSpPr>
        <p:spPr>
          <a:xfrm>
            <a:off x="1237490" y="1693033"/>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Introduction</a:t>
            </a:r>
          </a:p>
        </p:txBody>
      </p:sp>
      <p:sp>
        <p:nvSpPr>
          <p:cNvPr id="9" name="TextBox 8">
            <a:extLst>
              <a:ext uri="{FF2B5EF4-FFF2-40B4-BE49-F238E27FC236}">
                <a16:creationId xmlns:a16="http://schemas.microsoft.com/office/drawing/2014/main" id="{66F68B08-8200-43AE-B001-B3267453D71C}"/>
              </a:ext>
            </a:extLst>
          </p:cNvPr>
          <p:cNvSpPr txBox="1"/>
          <p:nvPr/>
        </p:nvSpPr>
        <p:spPr>
          <a:xfrm>
            <a:off x="1237490" y="4127855"/>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Key Objectives</a:t>
            </a:r>
          </a:p>
        </p:txBody>
      </p:sp>
      <p:sp>
        <p:nvSpPr>
          <p:cNvPr id="10" name="TextBox 9">
            <a:extLst>
              <a:ext uri="{FF2B5EF4-FFF2-40B4-BE49-F238E27FC236}">
                <a16:creationId xmlns:a16="http://schemas.microsoft.com/office/drawing/2014/main" id="{20F3AE1C-C87F-38D2-9CB7-1791A94B26DB}"/>
              </a:ext>
            </a:extLst>
          </p:cNvPr>
          <p:cNvSpPr txBox="1"/>
          <p:nvPr/>
        </p:nvSpPr>
        <p:spPr>
          <a:xfrm>
            <a:off x="6778710" y="4122181"/>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Financial Impact</a:t>
            </a:r>
          </a:p>
        </p:txBody>
      </p:sp>
    </p:spTree>
    <p:extLst>
      <p:ext uri="{BB962C8B-B14F-4D97-AF65-F5344CB8AC3E}">
        <p14:creationId xmlns:p14="http://schemas.microsoft.com/office/powerpoint/2010/main" val="172008862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Pentagon 5">
            <a:extLst>
              <a:ext uri="{FF2B5EF4-FFF2-40B4-BE49-F238E27FC236}">
                <a16:creationId xmlns:a16="http://schemas.microsoft.com/office/drawing/2014/main" id="{84E701AB-ACDA-5257-F84C-DA8F7A881B31}"/>
              </a:ext>
            </a:extLst>
          </p:cNvPr>
          <p:cNvSpPr/>
          <p:nvPr/>
        </p:nvSpPr>
        <p:spPr>
          <a:xfrm>
            <a:off x="8637088" y="1444267"/>
            <a:ext cx="2978424" cy="501143"/>
          </a:xfrm>
          <a:prstGeom prst="homePlate">
            <a:avLst/>
          </a:prstGeom>
          <a:solidFill>
            <a:srgbClr val="4E95D9"/>
          </a:solidFill>
          <a:ln w="25400" cap="flat">
            <a:solidFill>
              <a:srgbClr val="FFFFFF"/>
            </a:solidFill>
            <a:prstDash val="solid"/>
            <a:miter lim="800000"/>
          </a:ln>
          <a:effectLst/>
        </p:spPr>
        <p:txBody>
          <a:bodyPr wrap="square" lIns="45719" tIns="45719" rIns="45719" bIns="45719" numCol="1" anchor="ctr">
            <a:noAutofit/>
          </a:bodyPr>
          <a:lstStyle/>
          <a:p>
            <a:pPr algn="ctr"/>
            <a:endParaRPr lang="en-US">
              <a:solidFill>
                <a:srgbClr val="FFFFFF"/>
              </a:solidFill>
            </a:endParaRPr>
          </a:p>
        </p:txBody>
      </p:sp>
      <p:sp>
        <p:nvSpPr>
          <p:cNvPr id="5" name="Pentagon 4">
            <a:extLst>
              <a:ext uri="{FF2B5EF4-FFF2-40B4-BE49-F238E27FC236}">
                <a16:creationId xmlns:a16="http://schemas.microsoft.com/office/drawing/2014/main" id="{34505C9D-ADDE-5520-512D-33E1A5718BED}"/>
              </a:ext>
            </a:extLst>
          </p:cNvPr>
          <p:cNvSpPr/>
          <p:nvPr/>
        </p:nvSpPr>
        <p:spPr>
          <a:xfrm>
            <a:off x="5944297" y="1448405"/>
            <a:ext cx="2978424" cy="501143"/>
          </a:xfrm>
          <a:prstGeom prst="homePlate">
            <a:avLst/>
          </a:prstGeom>
          <a:solidFill>
            <a:srgbClr val="111184"/>
          </a:solidFill>
          <a:ln w="25400" cap="flat">
            <a:solidFill>
              <a:srgbClr val="FFFFFF"/>
            </a:solidFill>
            <a:prstDash val="solid"/>
            <a:miter lim="800000"/>
          </a:ln>
          <a:effectLst/>
        </p:spPr>
        <p:txBody>
          <a:bodyPr wrap="square" lIns="45719" tIns="45719" rIns="45719" bIns="45719" numCol="1" anchor="ctr">
            <a:noAutofit/>
          </a:bodyPr>
          <a:lstStyle/>
          <a:p>
            <a:pPr algn="ctr"/>
            <a:endParaRPr lang="en-US">
              <a:solidFill>
                <a:srgbClr val="FFFFFF"/>
              </a:solidFill>
            </a:endParaRPr>
          </a:p>
        </p:txBody>
      </p:sp>
      <p:sp>
        <p:nvSpPr>
          <p:cNvPr id="4" name="Pentagon 3">
            <a:extLst>
              <a:ext uri="{FF2B5EF4-FFF2-40B4-BE49-F238E27FC236}">
                <a16:creationId xmlns:a16="http://schemas.microsoft.com/office/drawing/2014/main" id="{FCD2E5EB-1D53-D2AD-410C-566F6DEB8B91}"/>
              </a:ext>
            </a:extLst>
          </p:cNvPr>
          <p:cNvSpPr/>
          <p:nvPr/>
        </p:nvSpPr>
        <p:spPr>
          <a:xfrm>
            <a:off x="3251507" y="1448406"/>
            <a:ext cx="2978424" cy="501143"/>
          </a:xfrm>
          <a:prstGeom prst="homePlate">
            <a:avLst/>
          </a:prstGeom>
          <a:solidFill>
            <a:srgbClr val="4E95D9"/>
          </a:solidFill>
          <a:ln w="25400" cap="flat">
            <a:solidFill>
              <a:srgbClr val="FFFFFF"/>
            </a:solidFill>
            <a:prstDash val="solid"/>
            <a:miter lim="800000"/>
          </a:ln>
          <a:effectLst/>
        </p:spPr>
        <p:txBody>
          <a:bodyPr wrap="square" lIns="45719" tIns="45719" rIns="45719" bIns="45719" numCol="1" anchor="ctr">
            <a:noAutofit/>
          </a:bodyPr>
          <a:lstStyle/>
          <a:p>
            <a:pPr algn="ctr"/>
            <a:endParaRPr lang="en-US">
              <a:solidFill>
                <a:srgbClr val="FFFFFF"/>
              </a:solidFill>
            </a:endParaRPr>
          </a:p>
        </p:txBody>
      </p:sp>
      <p:sp>
        <p:nvSpPr>
          <p:cNvPr id="3" name="Pentagon 2">
            <a:extLst>
              <a:ext uri="{FF2B5EF4-FFF2-40B4-BE49-F238E27FC236}">
                <a16:creationId xmlns:a16="http://schemas.microsoft.com/office/drawing/2014/main" id="{A1E3999F-5999-0ABB-6306-010436DC6B4C}"/>
              </a:ext>
            </a:extLst>
          </p:cNvPr>
          <p:cNvSpPr/>
          <p:nvPr/>
        </p:nvSpPr>
        <p:spPr>
          <a:xfrm>
            <a:off x="558716" y="1448406"/>
            <a:ext cx="2978424" cy="501143"/>
          </a:xfrm>
          <a:prstGeom prst="homePlate">
            <a:avLst/>
          </a:prstGeom>
          <a:solidFill>
            <a:srgbClr val="111184"/>
          </a:solidFill>
          <a:ln w="25400" cap="flat">
            <a:solidFill>
              <a:srgbClr val="FFFFFF"/>
            </a:solidFill>
            <a:prstDash val="solid"/>
            <a:miter lim="800000"/>
          </a:ln>
          <a:effectLst/>
        </p:spPr>
        <p:txBody>
          <a:bodyPr wrap="square" lIns="45719" tIns="45719" rIns="45719" bIns="45719" numCol="1" anchor="ctr">
            <a:noAutofit/>
          </a:bodyPr>
          <a:lstStyle/>
          <a:p>
            <a:pPr algn="ctr"/>
            <a:endParaRPr lang="en-US">
              <a:solidFill>
                <a:srgbClr val="FFFFFF"/>
              </a:solidFill>
            </a:endParaRPr>
          </a:p>
        </p:txBody>
      </p:sp>
      <p:sp>
        <p:nvSpPr>
          <p:cNvPr id="160" name="Root Analysis"/>
          <p:cNvSpPr txBox="1"/>
          <p:nvPr/>
        </p:nvSpPr>
        <p:spPr>
          <a:xfrm>
            <a:off x="8815278" y="1547518"/>
            <a:ext cx="2514600"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dirty="0"/>
              <a:t>Root Analysis</a:t>
            </a:r>
          </a:p>
        </p:txBody>
      </p:sp>
      <p:sp>
        <p:nvSpPr>
          <p:cNvPr id="163" name="Quantified Problem"/>
          <p:cNvSpPr txBox="1"/>
          <p:nvPr/>
        </p:nvSpPr>
        <p:spPr>
          <a:xfrm>
            <a:off x="6212159" y="1547518"/>
            <a:ext cx="2514600"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dirty="0"/>
              <a:t>Quantified Problem</a:t>
            </a:r>
          </a:p>
        </p:txBody>
      </p:sp>
      <p:sp>
        <p:nvSpPr>
          <p:cNvPr id="165" name="Title 16"/>
          <p:cNvSpPr txBox="1"/>
          <p:nvPr/>
        </p:nvSpPr>
        <p:spPr>
          <a:xfrm>
            <a:off x="558717" y="301752"/>
            <a:ext cx="6354990"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dirty="0">
                <a:latin typeface="Aptos" panose="020B0004020202020204" pitchFamily="34" charset="0"/>
              </a:rPr>
              <a:t>Problem &amp; Context</a:t>
            </a:r>
          </a:p>
        </p:txBody>
      </p:sp>
      <p:sp>
        <p:nvSpPr>
          <p:cNvPr id="167" name="Pain Points"/>
          <p:cNvSpPr txBox="1"/>
          <p:nvPr/>
        </p:nvSpPr>
        <p:spPr>
          <a:xfrm>
            <a:off x="3551551" y="1547518"/>
            <a:ext cx="2514600"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dirty="0"/>
              <a:t>Pain Points</a:t>
            </a:r>
          </a:p>
        </p:txBody>
      </p:sp>
      <p:sp>
        <p:nvSpPr>
          <p:cNvPr id="170" name="Current Context"/>
          <p:cNvSpPr txBox="1"/>
          <p:nvPr/>
        </p:nvSpPr>
        <p:spPr>
          <a:xfrm>
            <a:off x="576488" y="1547518"/>
            <a:ext cx="2743200"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dirty="0"/>
              <a:t>Current Context</a:t>
            </a:r>
          </a:p>
        </p:txBody>
      </p:sp>
      <p:sp>
        <p:nvSpPr>
          <p:cNvPr id="172" name="Text Placeholder 10"/>
          <p:cNvSpPr txBox="1"/>
          <p:nvPr/>
        </p:nvSpPr>
        <p:spPr>
          <a:xfrm>
            <a:off x="576488" y="2446741"/>
            <a:ext cx="2514600" cy="29161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sym typeface="Book Antiqua"/>
              </a:rPr>
              <a:t>Market Pressures: </a:t>
            </a:r>
          </a:p>
          <a:p>
            <a:pPr defTabSz="457200">
              <a:lnSpc>
                <a:spcPct val="110000"/>
              </a:lnSpc>
              <a:spcAft>
                <a:spcPts val="1300"/>
              </a:spcAft>
              <a:defRPr sz="1400"/>
            </a:pPr>
            <a:r>
              <a:rPr sz="1300" dirty="0"/>
              <a:t>Increased competition from lower-cost overseas</a:t>
            </a:r>
            <a:r>
              <a:rPr lang="en-US" sz="1300" dirty="0"/>
              <a:t> </a:t>
            </a:r>
            <a:r>
              <a:rPr sz="1300" dirty="0"/>
              <a:t>manufacturers and shrinking profit margins.</a:t>
            </a: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sym typeface="Book Antiqua"/>
              </a:rPr>
              <a:t>Rising Costs: </a:t>
            </a:r>
          </a:p>
          <a:p>
            <a:pPr defTabSz="457200">
              <a:lnSpc>
                <a:spcPct val="110000"/>
              </a:lnSpc>
              <a:spcAft>
                <a:spcPts val="1300"/>
              </a:spcAft>
              <a:defRPr sz="1400"/>
            </a:pPr>
            <a:r>
              <a:rPr sz="1300" dirty="0"/>
              <a:t>Raw materials and transportation costs up 20% YoY.</a:t>
            </a: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sym typeface="Book Antiqua"/>
              </a:rPr>
              <a:t>Supply Chain: </a:t>
            </a:r>
          </a:p>
          <a:p>
            <a:pPr defTabSz="457200">
              <a:lnSpc>
                <a:spcPct val="110000"/>
              </a:lnSpc>
              <a:spcAft>
                <a:spcPts val="1300"/>
              </a:spcAft>
              <a:defRPr sz="1400"/>
            </a:pPr>
            <a:r>
              <a:rPr sz="1300" dirty="0"/>
              <a:t>Delays due to external factors, such as global logistics crises and changing trade tariffs.</a:t>
            </a:r>
          </a:p>
        </p:txBody>
      </p:sp>
      <p:sp>
        <p:nvSpPr>
          <p:cNvPr id="173" name="Text Placeholder 10"/>
          <p:cNvSpPr txBox="1"/>
          <p:nvPr/>
        </p:nvSpPr>
        <p:spPr>
          <a:xfrm>
            <a:off x="3417963" y="2446741"/>
            <a:ext cx="2514600" cy="29161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Inefficient Processes: </a:t>
            </a:r>
          </a:p>
          <a:p>
            <a:pPr defTabSz="457200">
              <a:lnSpc>
                <a:spcPct val="110000"/>
              </a:lnSpc>
              <a:spcAft>
                <a:spcPts val="1300"/>
              </a:spcAft>
              <a:defRPr sz="1400"/>
            </a:pPr>
            <a:r>
              <a:rPr sz="1300" dirty="0"/>
              <a:t>Manual inventory management and order processing leading to delays and errors.</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Siloed Systems: </a:t>
            </a:r>
          </a:p>
          <a:p>
            <a:pPr defTabSz="457200">
              <a:lnSpc>
                <a:spcPct val="110000"/>
              </a:lnSpc>
              <a:spcAft>
                <a:spcPts val="1300"/>
              </a:spcAft>
              <a:defRPr sz="1400"/>
            </a:pPr>
            <a:r>
              <a:rPr sz="1300" dirty="0"/>
              <a:t>Lack of integration between sales, inventory, and procurement systems.</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Customer Service: </a:t>
            </a:r>
          </a:p>
          <a:p>
            <a:pPr defTabSz="457200">
              <a:lnSpc>
                <a:spcPct val="110000"/>
              </a:lnSpc>
              <a:spcAft>
                <a:spcPts val="1300"/>
              </a:spcAft>
              <a:defRPr sz="1400"/>
            </a:pPr>
            <a:r>
              <a:rPr sz="1300" dirty="0"/>
              <a:t>Increased customer complaints, largely due to slow response times and quality issues.</a:t>
            </a:r>
          </a:p>
        </p:txBody>
      </p:sp>
      <p:sp>
        <p:nvSpPr>
          <p:cNvPr id="174" name="Text Placeholder 10"/>
          <p:cNvSpPr txBox="1"/>
          <p:nvPr/>
        </p:nvSpPr>
        <p:spPr>
          <a:xfrm>
            <a:off x="6259438" y="2446740"/>
            <a:ext cx="2514600" cy="3356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Operational Efficiency:</a:t>
            </a:r>
          </a:p>
          <a:p>
            <a:pPr defTabSz="457200">
              <a:lnSpc>
                <a:spcPct val="110000"/>
              </a:lnSpc>
              <a:spcAft>
                <a:spcPts val="1300"/>
              </a:spcAft>
              <a:defRPr sz="1400"/>
            </a:pPr>
            <a:r>
              <a:rPr sz="1300" dirty="0"/>
              <a:t>Lead time increased from 5 to 8 days. Order accuracy down to 85%. Inventory turnover ratio down 15%.</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Financial Impact:</a:t>
            </a:r>
          </a:p>
          <a:p>
            <a:pPr defTabSz="457200">
              <a:lnSpc>
                <a:spcPct val="110000"/>
              </a:lnSpc>
              <a:spcAft>
                <a:spcPts val="1300"/>
              </a:spcAft>
              <a:defRPr sz="1400"/>
            </a:pPr>
            <a:r>
              <a:rPr sz="1300" dirty="0"/>
              <a:t>Production costs increased by 12% YoY due to inefficiencies. </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Customer Decline:</a:t>
            </a:r>
          </a:p>
          <a:p>
            <a:pPr defTabSz="457200">
              <a:lnSpc>
                <a:spcPct val="110000"/>
              </a:lnSpc>
              <a:spcAft>
                <a:spcPts val="1300"/>
              </a:spcAft>
              <a:defRPr sz="1400"/>
            </a:pPr>
            <a:r>
              <a:rPr sz="1300" dirty="0"/>
              <a:t>NPS dropped by 12 points in Q1 2024. Customer complaints up by 25%, mainly due to delays and quality issues.</a:t>
            </a:r>
          </a:p>
        </p:txBody>
      </p:sp>
      <p:sp>
        <p:nvSpPr>
          <p:cNvPr id="175" name="Text Placeholder 10"/>
          <p:cNvSpPr txBox="1"/>
          <p:nvPr/>
        </p:nvSpPr>
        <p:spPr>
          <a:xfrm>
            <a:off x="9100912" y="2446740"/>
            <a:ext cx="2514600" cy="26960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Supply Chain Bottleneck:</a:t>
            </a:r>
          </a:p>
          <a:p>
            <a:pPr defTabSz="457200">
              <a:lnSpc>
                <a:spcPct val="110000"/>
              </a:lnSpc>
              <a:spcAft>
                <a:spcPts val="1300"/>
              </a:spcAft>
              <a:defRPr sz="1400"/>
            </a:pPr>
            <a:r>
              <a:rPr sz="1300" dirty="0"/>
              <a:t>Delays due to inefficient material sourcing and logistics.</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Outdated Technology:</a:t>
            </a:r>
          </a:p>
          <a:p>
            <a:pPr defTabSz="457200">
              <a:lnSpc>
                <a:spcPct val="110000"/>
              </a:lnSpc>
              <a:spcAft>
                <a:spcPts val="1300"/>
              </a:spcAft>
              <a:defRPr sz="1400"/>
            </a:pPr>
            <a:r>
              <a:rPr sz="1300" dirty="0"/>
              <a:t>Fragmented IT infrastructure causing manual processes and poor data visibility.</a:t>
            </a:r>
            <a:endParaRPr dirty="0">
              <a:latin typeface="Aptos" panose="020B0004020202020204" pitchFamily="34" charset="0"/>
            </a:endParaRPr>
          </a:p>
          <a:p>
            <a:pPr>
              <a:defRPr sz="1400" b="1">
                <a:solidFill>
                  <a:srgbClr val="111184"/>
                </a:solidFill>
                <a:latin typeface="Book Antiqua"/>
                <a:ea typeface="Book Antiqua"/>
                <a:cs typeface="Book Antiqua"/>
                <a:sym typeface="Book Antiqua"/>
              </a:defRPr>
            </a:pPr>
            <a:r>
              <a:rPr sz="1600" b="1" dirty="0">
                <a:solidFill>
                  <a:srgbClr val="111184"/>
                </a:solidFill>
                <a:latin typeface="Aptos" panose="020B0004020202020204" pitchFamily="34" charset="0"/>
              </a:rPr>
              <a:t>Inconsistent Prac</a:t>
            </a:r>
            <a:r>
              <a:rPr lang="en-US" sz="1600" b="1" dirty="0">
                <a:solidFill>
                  <a:srgbClr val="111184"/>
                </a:solidFill>
                <a:latin typeface="Aptos" panose="020B0004020202020204" pitchFamily="34" charset="0"/>
              </a:rPr>
              <a:t>tic</a:t>
            </a:r>
            <a:r>
              <a:rPr sz="1600" b="1" dirty="0">
                <a:solidFill>
                  <a:srgbClr val="111184"/>
                </a:solidFill>
                <a:latin typeface="Aptos" panose="020B0004020202020204" pitchFamily="34" charset="0"/>
              </a:rPr>
              <a:t>es:</a:t>
            </a:r>
          </a:p>
          <a:p>
            <a:pPr defTabSz="457200">
              <a:lnSpc>
                <a:spcPct val="110000"/>
              </a:lnSpc>
              <a:spcAft>
                <a:spcPts val="1300"/>
              </a:spcAft>
              <a:defRPr sz="1400"/>
            </a:pPr>
            <a:r>
              <a:rPr sz="1300" dirty="0"/>
              <a:t>Non-standardized workflows leading to variability in results.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90" name="Isosceles Triangle 23"/>
          <p:cNvSpPr/>
          <p:nvPr/>
        </p:nvSpPr>
        <p:spPr>
          <a:xfrm>
            <a:off x="5886160" y="1279321"/>
            <a:ext cx="5956182" cy="5096310"/>
          </a:xfrm>
          <a:prstGeom prst="triangle">
            <a:avLst/>
          </a:prstGeom>
          <a:solidFill>
            <a:srgbClr val="00B050"/>
          </a:solidFill>
          <a:ln w="57150">
            <a:solidFill>
              <a:srgbClr val="0A2078"/>
            </a:solidFill>
            <a:miter/>
          </a:ln>
        </p:spPr>
        <p:txBody>
          <a:bodyPr lIns="45719" rIns="45719" anchor="ctr"/>
          <a:lstStyle/>
          <a:p>
            <a:pPr algn="ctr">
              <a:defRPr>
                <a:solidFill>
                  <a:srgbClr val="FFFFFF"/>
                </a:solidFill>
              </a:defRPr>
            </a:pPr>
            <a:endParaRPr/>
          </a:p>
        </p:txBody>
      </p:sp>
      <p:sp>
        <p:nvSpPr>
          <p:cNvPr id="191" name="Isosceles Triangle 24"/>
          <p:cNvSpPr/>
          <p:nvPr/>
        </p:nvSpPr>
        <p:spPr>
          <a:xfrm>
            <a:off x="6801957" y="1279321"/>
            <a:ext cx="4124587" cy="3544349"/>
          </a:xfrm>
          <a:prstGeom prst="triangle">
            <a:avLst/>
          </a:prstGeom>
          <a:solidFill>
            <a:srgbClr val="7030A0"/>
          </a:solidFill>
          <a:ln w="57150">
            <a:solidFill>
              <a:srgbClr val="112991"/>
            </a:solidFill>
            <a:miter/>
          </a:ln>
        </p:spPr>
        <p:txBody>
          <a:bodyPr lIns="45719" rIns="45719" anchor="ctr"/>
          <a:lstStyle/>
          <a:p>
            <a:pPr algn="ctr">
              <a:defRPr>
                <a:solidFill>
                  <a:srgbClr val="FFFFFF"/>
                </a:solidFill>
              </a:defRPr>
            </a:pPr>
            <a:endParaRPr/>
          </a:p>
        </p:txBody>
      </p:sp>
      <p:sp>
        <p:nvSpPr>
          <p:cNvPr id="192" name="Isosceles Triangle 25"/>
          <p:cNvSpPr/>
          <p:nvPr/>
        </p:nvSpPr>
        <p:spPr>
          <a:xfrm>
            <a:off x="7640855" y="1265340"/>
            <a:ext cx="2453782" cy="2111228"/>
          </a:xfrm>
          <a:prstGeom prst="triangle">
            <a:avLst/>
          </a:prstGeom>
          <a:solidFill>
            <a:schemeClr val="accent4">
              <a:satOff val="-16629"/>
              <a:lumOff val="27647"/>
            </a:schemeClr>
          </a:solidFill>
          <a:ln w="57150">
            <a:solidFill>
              <a:srgbClr val="132A97"/>
            </a:solidFill>
            <a:miter/>
          </a:ln>
        </p:spPr>
        <p:txBody>
          <a:bodyPr lIns="45719" rIns="45719" anchor="ctr"/>
          <a:lstStyle/>
          <a:p>
            <a:pPr algn="ctr">
              <a:defRPr>
                <a:solidFill>
                  <a:srgbClr val="FFFFFF"/>
                </a:solidFill>
              </a:defRPr>
            </a:pPr>
            <a:endParaRPr/>
          </a:p>
        </p:txBody>
      </p:sp>
      <p:sp>
        <p:nvSpPr>
          <p:cNvPr id="193" name="TextBox 26"/>
          <p:cNvSpPr txBox="1"/>
          <p:nvPr/>
        </p:nvSpPr>
        <p:spPr>
          <a:xfrm>
            <a:off x="8329732" y="2672341"/>
            <a:ext cx="1069037" cy="497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300">
                <a:latin typeface="Aptos SemiBold"/>
                <a:ea typeface="Aptos SemiBold"/>
                <a:cs typeface="Aptos SemiBold"/>
                <a:sym typeface="Aptos SemiBold"/>
              </a:defRPr>
            </a:pPr>
            <a:r>
              <a:rPr dirty="0"/>
              <a:t>PHASE 1</a:t>
            </a:r>
          </a:p>
          <a:p>
            <a:pPr algn="ctr">
              <a:defRPr sz="1300">
                <a:latin typeface="Aptos SemiBold"/>
                <a:ea typeface="Aptos SemiBold"/>
                <a:cs typeface="Aptos SemiBold"/>
                <a:sym typeface="Aptos SemiBold"/>
              </a:defRPr>
            </a:pPr>
            <a:r>
              <a:rPr dirty="0"/>
              <a:t>DIAGNOSE</a:t>
            </a:r>
          </a:p>
        </p:txBody>
      </p:sp>
      <p:sp>
        <p:nvSpPr>
          <p:cNvPr id="194" name="TextBox 27"/>
          <p:cNvSpPr txBox="1"/>
          <p:nvPr/>
        </p:nvSpPr>
        <p:spPr>
          <a:xfrm>
            <a:off x="7945236" y="4110370"/>
            <a:ext cx="1838027" cy="52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a:solidFill>
                  <a:srgbClr val="FFFFFF"/>
                </a:solidFill>
                <a:latin typeface="Aptos SemiBold"/>
                <a:ea typeface="Aptos SemiBold"/>
                <a:cs typeface="Aptos SemiBold"/>
                <a:sym typeface="Aptos SemiBold"/>
              </a:defRPr>
            </a:pPr>
            <a:r>
              <a:t>PHASE 2</a:t>
            </a:r>
          </a:p>
          <a:p>
            <a:pPr algn="ctr">
              <a:defRPr sz="1400">
                <a:solidFill>
                  <a:srgbClr val="FFFFFF"/>
                </a:solidFill>
                <a:latin typeface="Aptos SemiBold"/>
                <a:ea typeface="Aptos SemiBold"/>
                <a:cs typeface="Aptos SemiBold"/>
                <a:sym typeface="Aptos SemiBold"/>
              </a:defRPr>
            </a:pPr>
            <a:r>
              <a:t>DESIGN SOLUTIONS</a:t>
            </a:r>
          </a:p>
        </p:txBody>
      </p:sp>
      <p:sp>
        <p:nvSpPr>
          <p:cNvPr id="195" name="TextBox 28"/>
          <p:cNvSpPr txBox="1"/>
          <p:nvPr/>
        </p:nvSpPr>
        <p:spPr>
          <a:xfrm>
            <a:off x="7679587" y="5621803"/>
            <a:ext cx="2369329" cy="52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400">
                <a:solidFill>
                  <a:srgbClr val="FFFFFF"/>
                </a:solidFill>
                <a:latin typeface="Aptos SemiBold"/>
                <a:ea typeface="Aptos SemiBold"/>
                <a:cs typeface="Aptos SemiBold"/>
                <a:sym typeface="Aptos SemiBold"/>
              </a:defRPr>
            </a:pPr>
            <a:r>
              <a:t>PHASE 3</a:t>
            </a:r>
          </a:p>
          <a:p>
            <a:pPr algn="ctr">
              <a:defRPr sz="1400">
                <a:solidFill>
                  <a:srgbClr val="FFFFFF"/>
                </a:solidFill>
                <a:latin typeface="Aptos SemiBold"/>
                <a:ea typeface="Aptos SemiBold"/>
                <a:cs typeface="Aptos SemiBold"/>
                <a:sym typeface="Aptos SemiBold"/>
              </a:defRPr>
            </a:pPr>
            <a:r>
              <a:t>IMPLEMENT &amp; OPTIMIZE</a:t>
            </a:r>
          </a:p>
        </p:txBody>
      </p:sp>
      <p:sp>
        <p:nvSpPr>
          <p:cNvPr id="196" name="Search"/>
          <p:cNvSpPr/>
          <p:nvPr/>
        </p:nvSpPr>
        <p:spPr>
          <a:xfrm>
            <a:off x="8737147" y="2265109"/>
            <a:ext cx="199375" cy="233678"/>
          </a:xfrm>
          <a:custGeom>
            <a:avLst/>
            <a:gdLst/>
            <a:ahLst/>
            <a:cxnLst>
              <a:cxn ang="0">
                <a:pos x="wd2" y="hd2"/>
              </a:cxn>
              <a:cxn ang="5400000">
                <a:pos x="wd2" y="hd2"/>
              </a:cxn>
              <a:cxn ang="10800000">
                <a:pos x="wd2" y="hd2"/>
              </a:cxn>
              <a:cxn ang="16200000">
                <a:pos x="wd2" y="hd2"/>
              </a:cxn>
            </a:cxnLst>
            <a:rect l="0" t="0" r="r" b="b"/>
            <a:pathLst>
              <a:path w="20400" h="21502" extrusionOk="0">
                <a:moveTo>
                  <a:pt x="7928" y="4"/>
                </a:moveTo>
                <a:cubicBezTo>
                  <a:pt x="6343" y="54"/>
                  <a:pt x="4758" y="513"/>
                  <a:pt x="3383" y="1414"/>
                </a:cubicBezTo>
                <a:cubicBezTo>
                  <a:pt x="-286" y="3816"/>
                  <a:pt x="-1098" y="8454"/>
                  <a:pt x="1573" y="11753"/>
                </a:cubicBezTo>
                <a:cubicBezTo>
                  <a:pt x="3866" y="14587"/>
                  <a:pt x="8102" y="15587"/>
                  <a:pt x="11645" y="14130"/>
                </a:cubicBezTo>
                <a:lnTo>
                  <a:pt x="11895" y="14028"/>
                </a:lnTo>
                <a:lnTo>
                  <a:pt x="12039" y="14238"/>
                </a:lnTo>
                <a:cubicBezTo>
                  <a:pt x="12051" y="14256"/>
                  <a:pt x="12060" y="14269"/>
                  <a:pt x="12071" y="14282"/>
                </a:cubicBezTo>
                <a:lnTo>
                  <a:pt x="17686" y="21218"/>
                </a:lnTo>
                <a:cubicBezTo>
                  <a:pt x="17806" y="21366"/>
                  <a:pt x="17984" y="21464"/>
                  <a:pt x="18188" y="21493"/>
                </a:cubicBezTo>
                <a:cubicBezTo>
                  <a:pt x="18392" y="21522"/>
                  <a:pt x="18597" y="21479"/>
                  <a:pt x="18762" y="21371"/>
                </a:cubicBezTo>
                <a:lnTo>
                  <a:pt x="20082" y="20505"/>
                </a:lnTo>
                <a:cubicBezTo>
                  <a:pt x="20425" y="20281"/>
                  <a:pt x="20502" y="19847"/>
                  <a:pt x="20252" y="19538"/>
                </a:cubicBezTo>
                <a:lnTo>
                  <a:pt x="14637" y="12602"/>
                </a:lnTo>
                <a:cubicBezTo>
                  <a:pt x="14613" y="12572"/>
                  <a:pt x="14586" y="12546"/>
                  <a:pt x="14559" y="12521"/>
                </a:cubicBezTo>
                <a:lnTo>
                  <a:pt x="14359" y="12340"/>
                </a:lnTo>
                <a:lnTo>
                  <a:pt x="14540" y="12143"/>
                </a:lnTo>
                <a:cubicBezTo>
                  <a:pt x="16964" y="9533"/>
                  <a:pt x="17103" y="5790"/>
                  <a:pt x="14878" y="3042"/>
                </a:cubicBezTo>
                <a:cubicBezTo>
                  <a:pt x="13209" y="980"/>
                  <a:pt x="10569" y="-78"/>
                  <a:pt x="7928" y="4"/>
                </a:cubicBezTo>
                <a:close/>
                <a:moveTo>
                  <a:pt x="7952" y="1548"/>
                </a:moveTo>
                <a:cubicBezTo>
                  <a:pt x="8377" y="1533"/>
                  <a:pt x="8807" y="1556"/>
                  <a:pt x="9237" y="1617"/>
                </a:cubicBezTo>
                <a:cubicBezTo>
                  <a:pt x="10956" y="1861"/>
                  <a:pt x="12466" y="2690"/>
                  <a:pt x="13488" y="3952"/>
                </a:cubicBezTo>
                <a:cubicBezTo>
                  <a:pt x="15601" y="6562"/>
                  <a:pt x="14959" y="10231"/>
                  <a:pt x="12058" y="12131"/>
                </a:cubicBezTo>
                <a:cubicBezTo>
                  <a:pt x="10904" y="12887"/>
                  <a:pt x="9563" y="13250"/>
                  <a:pt x="8234" y="13250"/>
                </a:cubicBezTo>
                <a:cubicBezTo>
                  <a:pt x="6221" y="13250"/>
                  <a:pt x="4235" y="12415"/>
                  <a:pt x="2963" y="10843"/>
                </a:cubicBezTo>
                <a:cubicBezTo>
                  <a:pt x="850" y="8233"/>
                  <a:pt x="1491" y="4565"/>
                  <a:pt x="4393" y="2665"/>
                </a:cubicBezTo>
                <a:cubicBezTo>
                  <a:pt x="5446" y="1976"/>
                  <a:pt x="6677" y="1593"/>
                  <a:pt x="7952" y="1548"/>
                </a:cubicBezTo>
                <a:close/>
              </a:path>
            </a:pathLst>
          </a:custGeom>
          <a:solidFill>
            <a:srgbClr val="000000"/>
          </a:solidFill>
          <a:ln w="19050">
            <a:solidFill>
              <a:srgbClr val="000000"/>
            </a:solidFill>
            <a:miter/>
          </a:ln>
        </p:spPr>
        <p:txBody>
          <a:bodyPr lIns="45719" rIns="45719" anchor="ctr"/>
          <a:lstStyle/>
          <a:p>
            <a:endParaRPr/>
          </a:p>
        </p:txBody>
      </p:sp>
      <p:sp>
        <p:nvSpPr>
          <p:cNvPr id="197" name="Book"/>
          <p:cNvSpPr/>
          <p:nvPr/>
        </p:nvSpPr>
        <p:spPr>
          <a:xfrm>
            <a:off x="8693503" y="3763427"/>
            <a:ext cx="286662" cy="23271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8703"/>
                </a:lnTo>
                <a:lnTo>
                  <a:pt x="0" y="17407"/>
                </a:lnTo>
                <a:cubicBezTo>
                  <a:pt x="7892" y="17407"/>
                  <a:pt x="10521" y="21600"/>
                  <a:pt x="10521" y="21600"/>
                </a:cubicBezTo>
                <a:lnTo>
                  <a:pt x="10521" y="13417"/>
                </a:lnTo>
                <a:lnTo>
                  <a:pt x="10521" y="5233"/>
                </a:lnTo>
                <a:cubicBezTo>
                  <a:pt x="10521" y="5233"/>
                  <a:pt x="7892" y="0"/>
                  <a:pt x="0" y="0"/>
                </a:cubicBezTo>
                <a:close/>
                <a:moveTo>
                  <a:pt x="21600" y="0"/>
                </a:moveTo>
                <a:cubicBezTo>
                  <a:pt x="13708" y="0"/>
                  <a:pt x="11079" y="5233"/>
                  <a:pt x="11079" y="5233"/>
                </a:cubicBezTo>
                <a:lnTo>
                  <a:pt x="11079" y="13417"/>
                </a:lnTo>
                <a:lnTo>
                  <a:pt x="11079" y="21600"/>
                </a:lnTo>
                <a:cubicBezTo>
                  <a:pt x="11079" y="21600"/>
                  <a:pt x="13708" y="17407"/>
                  <a:pt x="21600" y="17407"/>
                </a:cubicBezTo>
                <a:lnTo>
                  <a:pt x="21600" y="8703"/>
                </a:lnTo>
                <a:lnTo>
                  <a:pt x="21600" y="0"/>
                </a:lnTo>
                <a:close/>
              </a:path>
            </a:pathLst>
          </a:custGeom>
          <a:solidFill>
            <a:srgbClr val="FFFFFF"/>
          </a:solidFill>
          <a:ln w="19050">
            <a:solidFill>
              <a:srgbClr val="68349B"/>
            </a:solidFill>
            <a:miter/>
          </a:ln>
        </p:spPr>
        <p:txBody>
          <a:bodyPr lIns="45719" rIns="45719" anchor="ctr"/>
          <a:lstStyle/>
          <a:p>
            <a:endParaRPr/>
          </a:p>
        </p:txBody>
      </p:sp>
      <p:sp>
        <p:nvSpPr>
          <p:cNvPr id="198" name="Eye"/>
          <p:cNvSpPr/>
          <p:nvPr/>
        </p:nvSpPr>
        <p:spPr>
          <a:xfrm>
            <a:off x="8666090" y="5253689"/>
            <a:ext cx="341489" cy="178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707" y="0"/>
                  <a:pt x="2918" y="3569"/>
                  <a:pt x="407" y="9790"/>
                </a:cubicBezTo>
                <a:lnTo>
                  <a:pt x="0" y="10800"/>
                </a:lnTo>
                <a:lnTo>
                  <a:pt x="407" y="11810"/>
                </a:lnTo>
                <a:cubicBezTo>
                  <a:pt x="2918" y="18032"/>
                  <a:pt x="6707" y="21600"/>
                  <a:pt x="10800" y="21600"/>
                </a:cubicBezTo>
                <a:cubicBezTo>
                  <a:pt x="14893" y="21600"/>
                  <a:pt x="18680" y="18032"/>
                  <a:pt x="21192" y="11810"/>
                </a:cubicBezTo>
                <a:lnTo>
                  <a:pt x="21600" y="10800"/>
                </a:lnTo>
                <a:lnTo>
                  <a:pt x="21192" y="9790"/>
                </a:lnTo>
                <a:cubicBezTo>
                  <a:pt x="18680" y="3569"/>
                  <a:pt x="14893" y="0"/>
                  <a:pt x="10800" y="0"/>
                </a:cubicBezTo>
                <a:close/>
                <a:moveTo>
                  <a:pt x="8667" y="3677"/>
                </a:moveTo>
                <a:cubicBezTo>
                  <a:pt x="7382" y="5094"/>
                  <a:pt x="6517" y="7753"/>
                  <a:pt x="6517" y="10800"/>
                </a:cubicBezTo>
                <a:cubicBezTo>
                  <a:pt x="6517" y="13847"/>
                  <a:pt x="7382" y="16502"/>
                  <a:pt x="8667" y="17920"/>
                </a:cubicBezTo>
                <a:cubicBezTo>
                  <a:pt x="6166" y="17019"/>
                  <a:pt x="3899" y="14543"/>
                  <a:pt x="2199" y="10800"/>
                </a:cubicBezTo>
                <a:cubicBezTo>
                  <a:pt x="3899" y="7057"/>
                  <a:pt x="6166" y="4577"/>
                  <a:pt x="8667" y="3677"/>
                </a:cubicBezTo>
                <a:close/>
                <a:moveTo>
                  <a:pt x="12931" y="3677"/>
                </a:moveTo>
                <a:cubicBezTo>
                  <a:pt x="15432" y="4577"/>
                  <a:pt x="17699" y="7057"/>
                  <a:pt x="19399" y="10800"/>
                </a:cubicBezTo>
                <a:cubicBezTo>
                  <a:pt x="17699" y="14543"/>
                  <a:pt x="15432" y="17019"/>
                  <a:pt x="12931" y="17920"/>
                </a:cubicBezTo>
                <a:cubicBezTo>
                  <a:pt x="14216" y="16502"/>
                  <a:pt x="15081" y="13847"/>
                  <a:pt x="15081" y="10800"/>
                </a:cubicBezTo>
                <a:cubicBezTo>
                  <a:pt x="15081" y="7753"/>
                  <a:pt x="14216" y="5094"/>
                  <a:pt x="12931" y="3677"/>
                </a:cubicBezTo>
                <a:close/>
                <a:moveTo>
                  <a:pt x="12219" y="6169"/>
                </a:moveTo>
                <a:cubicBezTo>
                  <a:pt x="12805" y="6169"/>
                  <a:pt x="13279" y="7078"/>
                  <a:pt x="13279" y="8201"/>
                </a:cubicBezTo>
                <a:cubicBezTo>
                  <a:pt x="13279" y="9324"/>
                  <a:pt x="12805" y="10234"/>
                  <a:pt x="12219" y="10234"/>
                </a:cubicBezTo>
                <a:cubicBezTo>
                  <a:pt x="11634" y="10234"/>
                  <a:pt x="11159" y="9324"/>
                  <a:pt x="11159" y="8201"/>
                </a:cubicBezTo>
                <a:cubicBezTo>
                  <a:pt x="11159" y="7078"/>
                  <a:pt x="11634" y="6169"/>
                  <a:pt x="12219" y="6169"/>
                </a:cubicBezTo>
                <a:close/>
              </a:path>
            </a:pathLst>
          </a:custGeom>
          <a:solidFill>
            <a:srgbClr val="FFFFFF"/>
          </a:solidFill>
          <a:ln w="12700">
            <a:miter lim="400000"/>
          </a:ln>
        </p:spPr>
        <p:txBody>
          <a:bodyPr lIns="45719" rIns="45719" anchor="ctr"/>
          <a:lstStyle/>
          <a:p>
            <a:endParaRPr/>
          </a:p>
        </p:txBody>
      </p:sp>
      <p:sp>
        <p:nvSpPr>
          <p:cNvPr id="2" name="Title 16">
            <a:extLst>
              <a:ext uri="{FF2B5EF4-FFF2-40B4-BE49-F238E27FC236}">
                <a16:creationId xmlns:a16="http://schemas.microsoft.com/office/drawing/2014/main" id="{2500B3EE-A92F-7988-4E60-B4360FD05119}"/>
              </a:ext>
            </a:extLst>
          </p:cNvPr>
          <p:cNvSpPr txBox="1"/>
          <p:nvPr/>
        </p:nvSpPr>
        <p:spPr>
          <a:xfrm>
            <a:off x="509541" y="297889"/>
            <a:ext cx="7170045"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spcBef>
                <a:spcPts val="600"/>
              </a:spcBef>
              <a:defRPr sz="4400" b="1">
                <a:solidFill>
                  <a:srgbClr val="FFFFFF"/>
                </a:solidFill>
                <a:latin typeface="Book Antiqua"/>
                <a:ea typeface="Book Antiqua"/>
                <a:cs typeface="Book Antiqua"/>
                <a:sym typeface="Book Antiqua"/>
              </a:defRPr>
            </a:pPr>
            <a:r>
              <a:rPr lang="en-US" dirty="0">
                <a:latin typeface="Aptos" panose="020B0004020202020204" pitchFamily="34" charset="0"/>
              </a:rPr>
              <a:t>Hypotheses &amp; Approach</a:t>
            </a:r>
          </a:p>
        </p:txBody>
      </p:sp>
      <p:sp>
        <p:nvSpPr>
          <p:cNvPr id="5" name="Text Placeholder 10">
            <a:extLst>
              <a:ext uri="{FF2B5EF4-FFF2-40B4-BE49-F238E27FC236}">
                <a16:creationId xmlns:a16="http://schemas.microsoft.com/office/drawing/2014/main" id="{57A14181-E47B-819E-19ED-24E5B09E1445}"/>
              </a:ext>
            </a:extLst>
          </p:cNvPr>
          <p:cNvSpPr txBox="1"/>
          <p:nvPr/>
        </p:nvSpPr>
        <p:spPr>
          <a:xfrm>
            <a:off x="3669712" y="2153517"/>
            <a:ext cx="2905315" cy="2617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Phase</a:t>
            </a:r>
            <a:r>
              <a:rPr dirty="0">
                <a:latin typeface="Aptos" panose="020B0004020202020204" pitchFamily="34" charset="0"/>
              </a:rPr>
              <a:t> 1</a:t>
            </a:r>
            <a:r>
              <a:rPr lang="en-US" dirty="0">
                <a:latin typeface="Aptos" panose="020B0004020202020204" pitchFamily="34" charset="0"/>
              </a:rPr>
              <a:t>: Diagnose</a:t>
            </a:r>
            <a:br>
              <a:rPr lang="en-US" dirty="0">
                <a:latin typeface="Aptos" panose="020B0004020202020204" pitchFamily="34" charset="0"/>
              </a:rPr>
            </a:br>
            <a:r>
              <a:rPr lang="en-US" b="0" dirty="0">
                <a:solidFill>
                  <a:srgbClr val="FFFFFF"/>
                </a:solidFill>
                <a:latin typeface="+mn-lt"/>
                <a:ea typeface="+mn-ea"/>
                <a:cs typeface="+mn-cs"/>
                <a:sym typeface="Aptos Display"/>
              </a:rPr>
              <a:t>Identify core issues </a:t>
            </a:r>
            <a:br>
              <a:rPr lang="en-US" b="0" dirty="0">
                <a:solidFill>
                  <a:srgbClr val="FFFFFF"/>
                </a:solidFill>
                <a:latin typeface="+mn-lt"/>
                <a:ea typeface="+mn-ea"/>
                <a:cs typeface="+mn-cs"/>
                <a:sym typeface="Aptos Display"/>
              </a:rPr>
            </a:br>
            <a:r>
              <a:rPr lang="en-US" b="0" dirty="0">
                <a:solidFill>
                  <a:srgbClr val="FFFFFF"/>
                </a:solidFill>
                <a:latin typeface="+mn-lt"/>
                <a:ea typeface="+mn-ea"/>
                <a:cs typeface="+mn-cs"/>
                <a:sym typeface="Aptos Display"/>
              </a:rPr>
              <a:t>(Data collection, process mapping)</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Phase</a:t>
            </a:r>
            <a:r>
              <a:rPr dirty="0">
                <a:latin typeface="Aptos" panose="020B0004020202020204" pitchFamily="34" charset="0"/>
              </a:rPr>
              <a:t> 2</a:t>
            </a:r>
            <a:r>
              <a:rPr lang="en-US" dirty="0">
                <a:latin typeface="Aptos" panose="020B0004020202020204" pitchFamily="34" charset="0"/>
              </a:rPr>
              <a:t>: Design Solutions </a:t>
            </a:r>
            <a:br>
              <a:rPr lang="en-US" dirty="0">
                <a:latin typeface="Aptos" panose="020B0004020202020204" pitchFamily="34" charset="0"/>
              </a:rPr>
            </a:br>
            <a:r>
              <a:rPr lang="en-US" b="0" dirty="0">
                <a:solidFill>
                  <a:srgbClr val="FFFFFF"/>
                </a:solidFill>
                <a:latin typeface="+mn-lt"/>
                <a:ea typeface="+mn-ea"/>
                <a:cs typeface="+mn-cs"/>
                <a:sym typeface="Aptos Display"/>
              </a:rPr>
              <a:t>Develop targeted solutions</a:t>
            </a:r>
            <a:br>
              <a:rPr lang="en-US" b="0" dirty="0">
                <a:solidFill>
                  <a:srgbClr val="FFFFFF"/>
                </a:solidFill>
                <a:latin typeface="+mn-lt"/>
                <a:ea typeface="+mn-ea"/>
                <a:cs typeface="+mn-cs"/>
                <a:sym typeface="Aptos Display"/>
              </a:rPr>
            </a:br>
            <a:r>
              <a:rPr lang="en-US" b="0" dirty="0">
                <a:solidFill>
                  <a:srgbClr val="FFFFFF"/>
                </a:solidFill>
                <a:latin typeface="+mn-lt"/>
                <a:ea typeface="+mn-ea"/>
                <a:cs typeface="+mn-cs"/>
                <a:sym typeface="Aptos Display"/>
              </a:rPr>
              <a:t>(Solution design workshops, system integration)</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Phase</a:t>
            </a:r>
            <a:r>
              <a:rPr dirty="0">
                <a:latin typeface="Aptos" panose="020B0004020202020204" pitchFamily="34" charset="0"/>
              </a:rPr>
              <a:t> 3</a:t>
            </a:r>
            <a:r>
              <a:rPr lang="en-US" dirty="0">
                <a:latin typeface="Aptos" panose="020B0004020202020204" pitchFamily="34" charset="0"/>
              </a:rPr>
              <a:t>: Optimize </a:t>
            </a:r>
            <a:br>
              <a:rPr lang="en-US" dirty="0">
                <a:latin typeface="Aptos" panose="020B0004020202020204" pitchFamily="34" charset="0"/>
              </a:rPr>
            </a:br>
            <a:r>
              <a:rPr lang="en-US" b="0" dirty="0">
                <a:solidFill>
                  <a:srgbClr val="FFFFFF"/>
                </a:solidFill>
                <a:latin typeface="+mn-lt"/>
                <a:ea typeface="+mn-ea"/>
                <a:cs typeface="+mn-cs"/>
                <a:sym typeface="Aptos Display"/>
              </a:rPr>
              <a:t>Deploy solutions, track performance </a:t>
            </a:r>
            <a:br>
              <a:rPr lang="en-US" b="0" dirty="0">
                <a:solidFill>
                  <a:srgbClr val="FFFFFF"/>
                </a:solidFill>
                <a:latin typeface="+mn-lt"/>
                <a:ea typeface="+mn-ea"/>
                <a:cs typeface="+mn-cs"/>
                <a:sym typeface="Aptos Display"/>
              </a:rPr>
            </a:br>
            <a:r>
              <a:rPr lang="en-US" b="0" dirty="0">
                <a:solidFill>
                  <a:srgbClr val="FFFFFF"/>
                </a:solidFill>
                <a:latin typeface="+mn-lt"/>
                <a:ea typeface="+mn-ea"/>
                <a:cs typeface="+mn-cs"/>
                <a:sym typeface="Aptos Display"/>
              </a:rPr>
              <a:t>(Project management, KPI tracking)</a:t>
            </a:r>
          </a:p>
        </p:txBody>
      </p:sp>
      <p:sp>
        <p:nvSpPr>
          <p:cNvPr id="6" name="TextBox 8">
            <a:extLst>
              <a:ext uri="{FF2B5EF4-FFF2-40B4-BE49-F238E27FC236}">
                <a16:creationId xmlns:a16="http://schemas.microsoft.com/office/drawing/2014/main" id="{7F2C2771-0FF4-DD62-BD58-7C613F1BB7A3}"/>
              </a:ext>
            </a:extLst>
          </p:cNvPr>
          <p:cNvSpPr txBox="1"/>
          <p:nvPr/>
        </p:nvSpPr>
        <p:spPr>
          <a:xfrm>
            <a:off x="3669712" y="1693033"/>
            <a:ext cx="282439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Framework for Action</a:t>
            </a:r>
          </a:p>
        </p:txBody>
      </p:sp>
      <p:sp>
        <p:nvSpPr>
          <p:cNvPr id="7" name="Text Placeholder 10">
            <a:extLst>
              <a:ext uri="{FF2B5EF4-FFF2-40B4-BE49-F238E27FC236}">
                <a16:creationId xmlns:a16="http://schemas.microsoft.com/office/drawing/2014/main" id="{519D5E24-15B9-B288-9BC0-96FC99FCB763}"/>
              </a:ext>
            </a:extLst>
          </p:cNvPr>
          <p:cNvSpPr txBox="1"/>
          <p:nvPr/>
        </p:nvSpPr>
        <p:spPr>
          <a:xfrm>
            <a:off x="509540" y="2152975"/>
            <a:ext cx="2604719" cy="16239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b="0" dirty="0">
                <a:solidFill>
                  <a:srgbClr val="FFFFFF"/>
                </a:solidFill>
                <a:latin typeface="+mn-lt"/>
                <a:ea typeface="+mn-ea"/>
                <a:cs typeface="+mn-cs"/>
                <a:sym typeface="Aptos Display"/>
              </a:rPr>
              <a:t>Bottlenecks in sourcing &amp; logistics increasing operational costs. Lack of integration between sales, procurement, and operations causing data silos. Non-standardized processes leading to inefficiencies and variability.</a:t>
            </a:r>
          </a:p>
        </p:txBody>
      </p:sp>
      <p:sp>
        <p:nvSpPr>
          <p:cNvPr id="8" name="TextBox 8">
            <a:extLst>
              <a:ext uri="{FF2B5EF4-FFF2-40B4-BE49-F238E27FC236}">
                <a16:creationId xmlns:a16="http://schemas.microsoft.com/office/drawing/2014/main" id="{7A57CF82-EB32-2192-FE0D-22024A4551A6}"/>
              </a:ext>
            </a:extLst>
          </p:cNvPr>
          <p:cNvSpPr txBox="1"/>
          <p:nvPr/>
        </p:nvSpPr>
        <p:spPr>
          <a:xfrm>
            <a:off x="509541" y="1692491"/>
            <a:ext cx="2782274"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Hypotheses on Causes</a:t>
            </a:r>
          </a:p>
        </p:txBody>
      </p:sp>
      <p:sp>
        <p:nvSpPr>
          <p:cNvPr id="9" name="Text Placeholder 10">
            <a:extLst>
              <a:ext uri="{FF2B5EF4-FFF2-40B4-BE49-F238E27FC236}">
                <a16:creationId xmlns:a16="http://schemas.microsoft.com/office/drawing/2014/main" id="{E1022BD8-7D78-BEA6-B539-8A369AE36CAF}"/>
              </a:ext>
            </a:extLst>
          </p:cNvPr>
          <p:cNvSpPr txBox="1"/>
          <p:nvPr/>
        </p:nvSpPr>
        <p:spPr>
          <a:xfrm>
            <a:off x="509541" y="4505692"/>
            <a:ext cx="2782274" cy="1737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Stage</a:t>
            </a:r>
            <a:r>
              <a:rPr dirty="0">
                <a:latin typeface="Aptos" panose="020B0004020202020204" pitchFamily="34" charset="0"/>
              </a:rPr>
              <a:t> 1</a:t>
            </a:r>
            <a:r>
              <a:rPr lang="en-US" dirty="0">
                <a:latin typeface="Aptos" panose="020B0004020202020204" pitchFamily="34" charset="0"/>
              </a:rPr>
              <a:t>: </a:t>
            </a:r>
            <a:r>
              <a:rPr lang="en-US" b="0" dirty="0">
                <a:solidFill>
                  <a:srgbClr val="FFFFFF"/>
                </a:solidFill>
                <a:latin typeface="+mn-lt"/>
                <a:ea typeface="+mn-ea"/>
                <a:cs typeface="+mn-cs"/>
                <a:sym typeface="Aptos Display"/>
              </a:rPr>
              <a:t>Map processes, identify inefficiencies &amp; bottlenecks.</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Stage</a:t>
            </a:r>
            <a:r>
              <a:rPr dirty="0">
                <a:latin typeface="Aptos" panose="020B0004020202020204" pitchFamily="34" charset="0"/>
              </a:rPr>
              <a:t> 2</a:t>
            </a:r>
            <a:r>
              <a:rPr lang="en-US" dirty="0">
                <a:latin typeface="Aptos" panose="020B0004020202020204" pitchFamily="34" charset="0"/>
              </a:rPr>
              <a:t>: </a:t>
            </a:r>
            <a:r>
              <a:rPr lang="en-US" b="0" dirty="0">
                <a:solidFill>
                  <a:srgbClr val="FFFFFF"/>
                </a:solidFill>
                <a:latin typeface="+mn-lt"/>
                <a:ea typeface="+mn-ea"/>
                <a:cs typeface="+mn-cs"/>
                <a:sym typeface="Aptos Display"/>
              </a:rPr>
              <a:t>Compare performance to industry standards.</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latin typeface="Aptos" panose="020B0004020202020204" pitchFamily="34" charset="0"/>
              </a:rPr>
              <a:t>Stage</a:t>
            </a:r>
            <a:r>
              <a:rPr dirty="0">
                <a:latin typeface="Aptos" panose="020B0004020202020204" pitchFamily="34" charset="0"/>
              </a:rPr>
              <a:t> 3</a:t>
            </a:r>
            <a:r>
              <a:rPr lang="en-US" dirty="0">
                <a:latin typeface="Aptos" panose="020B0004020202020204" pitchFamily="34" charset="0"/>
              </a:rPr>
              <a:t>: </a:t>
            </a:r>
            <a:r>
              <a:rPr lang="en-US" b="0" dirty="0">
                <a:solidFill>
                  <a:srgbClr val="FFFFFF"/>
                </a:solidFill>
                <a:latin typeface="+mn-lt"/>
                <a:ea typeface="+mn-ea"/>
                <a:cs typeface="+mn-cs"/>
                <a:sym typeface="Aptos Display"/>
              </a:rPr>
              <a:t>Quantify cost savings, ROI, and impact of solutions.</a:t>
            </a:r>
            <a:endParaRPr sz="1400" dirty="0">
              <a:solidFill>
                <a:srgbClr val="FFFFFF"/>
              </a:solidFill>
              <a:latin typeface="Aptos" panose="020B0004020202020204" pitchFamily="34" charset="0"/>
            </a:endParaRPr>
          </a:p>
        </p:txBody>
      </p:sp>
      <p:sp>
        <p:nvSpPr>
          <p:cNvPr id="10" name="TextBox 8">
            <a:extLst>
              <a:ext uri="{FF2B5EF4-FFF2-40B4-BE49-F238E27FC236}">
                <a16:creationId xmlns:a16="http://schemas.microsoft.com/office/drawing/2014/main" id="{8F467A31-D9D3-A5E2-71FB-D17DBEF49B96}"/>
              </a:ext>
            </a:extLst>
          </p:cNvPr>
          <p:cNvSpPr txBox="1"/>
          <p:nvPr/>
        </p:nvSpPr>
        <p:spPr>
          <a:xfrm>
            <a:off x="509541" y="4045208"/>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solidFill>
                  <a:srgbClr val="96DCF9"/>
                </a:solidFill>
                <a:latin typeface="Aptos" panose="020B0004020202020204" pitchFamily="34" charset="0"/>
              </a:rPr>
              <a:t>Analytical Approach</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a:stretch>
        </a:blipFill>
        <a:effectLst/>
      </p:bgPr>
    </p:bg>
    <p:spTree>
      <p:nvGrpSpPr>
        <p:cNvPr id="1" name=""/>
        <p:cNvGrpSpPr/>
        <p:nvPr/>
      </p:nvGrpSpPr>
      <p:grpSpPr>
        <a:xfrm>
          <a:off x="0" y="0"/>
          <a:ext cx="0" cy="0"/>
          <a:chOff x="0" y="0"/>
          <a:chExt cx="0" cy="0"/>
        </a:xfrm>
      </p:grpSpPr>
      <p:sp>
        <p:nvSpPr>
          <p:cNvPr id="214" name="TextBox 15"/>
          <p:cNvSpPr txBox="1"/>
          <p:nvPr/>
        </p:nvSpPr>
        <p:spPr>
          <a:xfrm>
            <a:off x="558717" y="2210437"/>
            <a:ext cx="2096170" cy="497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300" b="1">
                <a:solidFill>
                  <a:srgbClr val="111184"/>
                </a:solidFill>
                <a:latin typeface="Book Antiqua"/>
                <a:ea typeface="Book Antiqua"/>
                <a:cs typeface="Book Antiqua"/>
                <a:sym typeface="Book Antiqua"/>
              </a:defRPr>
            </a:lvl1pPr>
          </a:lstStyle>
          <a:p>
            <a:r>
              <a:rPr b="0" dirty="0">
                <a:solidFill>
                  <a:schemeClr val="tx1"/>
                </a:solidFill>
                <a:latin typeface="Aptos" panose="020B0004020202020204" pitchFamily="34" charset="0"/>
              </a:rPr>
              <a:t>Diagnostic Report, </a:t>
            </a:r>
            <a:br>
              <a:rPr lang="en-US" b="0" dirty="0">
                <a:solidFill>
                  <a:schemeClr val="tx1"/>
                </a:solidFill>
                <a:latin typeface="Aptos" panose="020B0004020202020204" pitchFamily="34" charset="0"/>
              </a:rPr>
            </a:br>
            <a:r>
              <a:rPr b="0" dirty="0">
                <a:solidFill>
                  <a:schemeClr val="tx1"/>
                </a:solidFill>
                <a:latin typeface="Aptos" panose="020B0004020202020204" pitchFamily="34" charset="0"/>
              </a:rPr>
              <a:t>Issue Map</a:t>
            </a:r>
          </a:p>
        </p:txBody>
      </p:sp>
      <p:graphicFrame>
        <p:nvGraphicFramePr>
          <p:cNvPr id="218" name="Table 8"/>
          <p:cNvGraphicFramePr/>
          <p:nvPr>
            <p:extLst>
              <p:ext uri="{D42A27DB-BD31-4B8C-83A1-F6EECF244321}">
                <p14:modId xmlns:p14="http://schemas.microsoft.com/office/powerpoint/2010/main" val="132053844"/>
              </p:ext>
            </p:extLst>
          </p:nvPr>
        </p:nvGraphicFramePr>
        <p:xfrm>
          <a:off x="2743200" y="2162957"/>
          <a:ext cx="8947968" cy="3635045"/>
        </p:xfrm>
        <a:graphic>
          <a:graphicData uri="http://schemas.openxmlformats.org/drawingml/2006/table">
            <a:tbl>
              <a:tblPr bandRow="1">
                <a:tableStyleId>{4C3C2611-4C71-4FC5-86AE-919BDF0F9419}</a:tableStyleId>
              </a:tblPr>
              <a:tblGrid>
                <a:gridCol w="559248">
                  <a:extLst>
                    <a:ext uri="{9D8B030D-6E8A-4147-A177-3AD203B41FA5}">
                      <a16:colId xmlns:a16="http://schemas.microsoft.com/office/drawing/2014/main" val="20000"/>
                    </a:ext>
                  </a:extLst>
                </a:gridCol>
                <a:gridCol w="559248">
                  <a:extLst>
                    <a:ext uri="{9D8B030D-6E8A-4147-A177-3AD203B41FA5}">
                      <a16:colId xmlns:a16="http://schemas.microsoft.com/office/drawing/2014/main" val="20001"/>
                    </a:ext>
                  </a:extLst>
                </a:gridCol>
                <a:gridCol w="559248">
                  <a:extLst>
                    <a:ext uri="{9D8B030D-6E8A-4147-A177-3AD203B41FA5}">
                      <a16:colId xmlns:a16="http://schemas.microsoft.com/office/drawing/2014/main" val="20002"/>
                    </a:ext>
                  </a:extLst>
                </a:gridCol>
                <a:gridCol w="559248">
                  <a:extLst>
                    <a:ext uri="{9D8B030D-6E8A-4147-A177-3AD203B41FA5}">
                      <a16:colId xmlns:a16="http://schemas.microsoft.com/office/drawing/2014/main" val="20003"/>
                    </a:ext>
                  </a:extLst>
                </a:gridCol>
                <a:gridCol w="559248">
                  <a:extLst>
                    <a:ext uri="{9D8B030D-6E8A-4147-A177-3AD203B41FA5}">
                      <a16:colId xmlns:a16="http://schemas.microsoft.com/office/drawing/2014/main" val="20004"/>
                    </a:ext>
                  </a:extLst>
                </a:gridCol>
                <a:gridCol w="559248">
                  <a:extLst>
                    <a:ext uri="{9D8B030D-6E8A-4147-A177-3AD203B41FA5}">
                      <a16:colId xmlns:a16="http://schemas.microsoft.com/office/drawing/2014/main" val="20005"/>
                    </a:ext>
                  </a:extLst>
                </a:gridCol>
                <a:gridCol w="559248">
                  <a:extLst>
                    <a:ext uri="{9D8B030D-6E8A-4147-A177-3AD203B41FA5}">
                      <a16:colId xmlns:a16="http://schemas.microsoft.com/office/drawing/2014/main" val="20006"/>
                    </a:ext>
                  </a:extLst>
                </a:gridCol>
                <a:gridCol w="559248">
                  <a:extLst>
                    <a:ext uri="{9D8B030D-6E8A-4147-A177-3AD203B41FA5}">
                      <a16:colId xmlns:a16="http://schemas.microsoft.com/office/drawing/2014/main" val="20007"/>
                    </a:ext>
                  </a:extLst>
                </a:gridCol>
                <a:gridCol w="559248">
                  <a:extLst>
                    <a:ext uri="{9D8B030D-6E8A-4147-A177-3AD203B41FA5}">
                      <a16:colId xmlns:a16="http://schemas.microsoft.com/office/drawing/2014/main" val="20008"/>
                    </a:ext>
                  </a:extLst>
                </a:gridCol>
                <a:gridCol w="559248">
                  <a:extLst>
                    <a:ext uri="{9D8B030D-6E8A-4147-A177-3AD203B41FA5}">
                      <a16:colId xmlns:a16="http://schemas.microsoft.com/office/drawing/2014/main" val="20009"/>
                    </a:ext>
                  </a:extLst>
                </a:gridCol>
                <a:gridCol w="559248">
                  <a:extLst>
                    <a:ext uri="{9D8B030D-6E8A-4147-A177-3AD203B41FA5}">
                      <a16:colId xmlns:a16="http://schemas.microsoft.com/office/drawing/2014/main" val="20010"/>
                    </a:ext>
                  </a:extLst>
                </a:gridCol>
                <a:gridCol w="559248">
                  <a:extLst>
                    <a:ext uri="{9D8B030D-6E8A-4147-A177-3AD203B41FA5}">
                      <a16:colId xmlns:a16="http://schemas.microsoft.com/office/drawing/2014/main" val="20011"/>
                    </a:ext>
                  </a:extLst>
                </a:gridCol>
                <a:gridCol w="559248">
                  <a:extLst>
                    <a:ext uri="{9D8B030D-6E8A-4147-A177-3AD203B41FA5}">
                      <a16:colId xmlns:a16="http://schemas.microsoft.com/office/drawing/2014/main" val="20012"/>
                    </a:ext>
                  </a:extLst>
                </a:gridCol>
                <a:gridCol w="559248">
                  <a:extLst>
                    <a:ext uri="{9D8B030D-6E8A-4147-A177-3AD203B41FA5}">
                      <a16:colId xmlns:a16="http://schemas.microsoft.com/office/drawing/2014/main" val="20013"/>
                    </a:ext>
                  </a:extLst>
                </a:gridCol>
                <a:gridCol w="559248">
                  <a:extLst>
                    <a:ext uri="{9D8B030D-6E8A-4147-A177-3AD203B41FA5}">
                      <a16:colId xmlns:a16="http://schemas.microsoft.com/office/drawing/2014/main" val="20014"/>
                    </a:ext>
                  </a:extLst>
                </a:gridCol>
                <a:gridCol w="559248">
                  <a:extLst>
                    <a:ext uri="{9D8B030D-6E8A-4147-A177-3AD203B41FA5}">
                      <a16:colId xmlns:a16="http://schemas.microsoft.com/office/drawing/2014/main" val="20015"/>
                    </a:ext>
                  </a:extLst>
                </a:gridCol>
              </a:tblGrid>
              <a:tr h="727009">
                <a:tc>
                  <a:txBody>
                    <a:bodyPr/>
                    <a:lstStyle/>
                    <a:p>
                      <a:pPr algn="l">
                        <a:defRPr sz="1400">
                          <a:solidFill>
                            <a:srgbClr val="FFFFFF"/>
                          </a:solidFill>
                        </a:defRPr>
                      </a:pPr>
                      <a:endParaRPr/>
                    </a:p>
                  </a:txBody>
                  <a:tcPr marL="45720" marR="45720" anchor="ctr" horzOverflow="overflow">
                    <a:lnL w="12700">
                      <a:miter lim="400000"/>
                    </a:lnL>
                    <a:solidFill>
                      <a:srgbClr val="11117F"/>
                    </a:solidFill>
                  </a:tcPr>
                </a:tc>
                <a:tc>
                  <a:txBody>
                    <a:bodyPr/>
                    <a:lstStyle/>
                    <a:p>
                      <a:pPr algn="l">
                        <a:defRPr sz="1400">
                          <a:solidFill>
                            <a:srgbClr val="FFFFFF"/>
                          </a:solidFill>
                        </a:defRPr>
                      </a:pPr>
                      <a:endParaRPr/>
                    </a:p>
                  </a:txBody>
                  <a:tcPr marL="45720" marR="45720" anchor="ctr" horzOverflow="overflow">
                    <a:solidFill>
                      <a:srgbClr val="11117F"/>
                    </a:solidFill>
                  </a:tcPr>
                </a:tc>
                <a:tc>
                  <a:txBody>
                    <a:bodyPr/>
                    <a:lstStyle/>
                    <a:p>
                      <a:pPr algn="l">
                        <a:defRPr sz="1400">
                          <a:solidFill>
                            <a:srgbClr val="FFFFFF"/>
                          </a:solidFill>
                        </a:defRPr>
                      </a:pPr>
                      <a:endParaRPr/>
                    </a:p>
                  </a:txBody>
                  <a:tcPr marL="45720" marR="45720" anchor="ctr" horzOverflow="overflow">
                    <a:solidFill>
                      <a:srgbClr val="11117F"/>
                    </a:solidFill>
                  </a:tcPr>
                </a:tc>
                <a:tc>
                  <a:txBody>
                    <a:bodyPr/>
                    <a:lstStyle/>
                    <a:p>
                      <a:pPr algn="l">
                        <a:defRPr sz="1400">
                          <a:solidFill>
                            <a:srgbClr val="FFFFFF"/>
                          </a:solidFill>
                        </a:defRPr>
                      </a:pPr>
                      <a:endParaRPr/>
                    </a:p>
                  </a:txBody>
                  <a:tcPr marL="45720" marR="45720" anchor="ctr" horzOverflow="overflow">
                    <a:solidFill>
                      <a:srgbClr val="10117F"/>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lnR w="12700">
                      <a:miter lim="400000"/>
                    </a:lnR>
                    <a:solidFill>
                      <a:srgbClr val="DDDDDD"/>
                    </a:solidFill>
                  </a:tcPr>
                </a:tc>
                <a:extLst>
                  <a:ext uri="{0D108BD9-81ED-4DB2-BD59-A6C34878D82A}">
                    <a16:rowId xmlns:a16="http://schemas.microsoft.com/office/drawing/2014/main" val="10000"/>
                  </a:ext>
                </a:extLst>
              </a:tr>
              <a:tr h="727009">
                <a:tc>
                  <a:txBody>
                    <a:bodyPr/>
                    <a:lstStyle/>
                    <a:p>
                      <a:pPr algn="l">
                        <a:defRPr sz="1400">
                          <a:solidFill>
                            <a:srgbClr val="FFFFFF"/>
                          </a:solidFill>
                        </a:defRPr>
                      </a:pPr>
                      <a:endParaRPr/>
                    </a:p>
                  </a:txBody>
                  <a:tcPr marL="45720" marR="45720" anchor="ctr" horzOverflow="overflow">
                    <a:lnL w="12700">
                      <a:miter lim="400000"/>
                    </a:lnL>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11117F"/>
                    </a:solidFill>
                  </a:tcPr>
                </a:tc>
                <a:tc>
                  <a:txBody>
                    <a:bodyPr/>
                    <a:lstStyle/>
                    <a:p>
                      <a:pPr algn="l">
                        <a:defRPr sz="1400">
                          <a:solidFill>
                            <a:srgbClr val="FFFFFF"/>
                          </a:solidFill>
                        </a:defRPr>
                      </a:pPr>
                      <a:endParaRPr/>
                    </a:p>
                  </a:txBody>
                  <a:tcPr marL="45720" marR="45720" anchor="ctr" horzOverflow="overflow">
                    <a:solidFill>
                      <a:srgbClr val="5F93D3"/>
                    </a:solidFill>
                  </a:tcPr>
                </a:tc>
                <a:tc>
                  <a:txBody>
                    <a:bodyPr/>
                    <a:lstStyle/>
                    <a:p>
                      <a:pPr algn="l">
                        <a:defRPr sz="1400">
                          <a:solidFill>
                            <a:srgbClr val="FFFFFF"/>
                          </a:solidFill>
                        </a:defRPr>
                      </a:pPr>
                      <a:endParaRPr/>
                    </a:p>
                  </a:txBody>
                  <a:tcPr marL="45720" marR="45720" anchor="ctr" horzOverflow="overflow">
                    <a:solidFill>
                      <a:srgbClr val="5F93D3"/>
                    </a:solidFill>
                  </a:tcPr>
                </a:tc>
                <a:tc>
                  <a:txBody>
                    <a:bodyPr/>
                    <a:lstStyle/>
                    <a:p>
                      <a:pPr algn="l">
                        <a:defRPr sz="1400">
                          <a:solidFill>
                            <a:srgbClr val="FFFFFF"/>
                          </a:solidFill>
                        </a:defRPr>
                      </a:pPr>
                      <a:endParaRPr/>
                    </a:p>
                  </a:txBody>
                  <a:tcPr marL="45720" marR="45720" anchor="ctr" horzOverflow="overflow">
                    <a:solidFill>
                      <a:srgbClr val="5F93D3"/>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lnR w="12700">
                      <a:miter lim="400000"/>
                    </a:lnR>
                    <a:solidFill>
                      <a:srgbClr val="DDDDDD"/>
                    </a:solidFill>
                  </a:tcPr>
                </a:tc>
                <a:extLst>
                  <a:ext uri="{0D108BD9-81ED-4DB2-BD59-A6C34878D82A}">
                    <a16:rowId xmlns:a16="http://schemas.microsoft.com/office/drawing/2014/main" val="10001"/>
                  </a:ext>
                </a:extLst>
              </a:tr>
              <a:tr h="727009">
                <a:tc>
                  <a:txBody>
                    <a:bodyPr/>
                    <a:lstStyle/>
                    <a:p>
                      <a:pPr algn="l">
                        <a:defRPr sz="1400">
                          <a:solidFill>
                            <a:srgbClr val="FFFFFF"/>
                          </a:solidFill>
                        </a:defRPr>
                      </a:pPr>
                      <a:endParaRPr/>
                    </a:p>
                  </a:txBody>
                  <a:tcPr marL="45720" marR="45720" anchor="ctr" horzOverflow="overflow">
                    <a:lnL w="12700">
                      <a:miter lim="400000"/>
                    </a:lnL>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5F93D4"/>
                    </a:solidFill>
                  </a:tcPr>
                </a:tc>
                <a:tc>
                  <a:txBody>
                    <a:bodyPr/>
                    <a:lstStyle/>
                    <a:p>
                      <a:pPr algn="l">
                        <a:defRPr sz="1400">
                          <a:solidFill>
                            <a:srgbClr val="FFFFFF"/>
                          </a:solidFill>
                        </a:defRPr>
                      </a:pPr>
                      <a:endParaRPr/>
                    </a:p>
                  </a:txBody>
                  <a:tcPr marL="45720" marR="45720" anchor="ctr" horzOverflow="overflow">
                    <a:solidFill>
                      <a:srgbClr val="5F93D4"/>
                    </a:solidFill>
                  </a:tcPr>
                </a:tc>
                <a:tc>
                  <a:txBody>
                    <a:bodyPr/>
                    <a:lstStyle/>
                    <a:p>
                      <a:pPr algn="l">
                        <a:defRPr sz="1400">
                          <a:solidFill>
                            <a:srgbClr val="FFFFFF"/>
                          </a:solidFill>
                        </a:defRPr>
                      </a:pPr>
                      <a:endParaRPr/>
                    </a:p>
                  </a:txBody>
                  <a:tcPr marL="45720" marR="45720" anchor="ctr" horzOverflow="overflow">
                    <a:solidFill>
                      <a:srgbClr val="5F93D4"/>
                    </a:solidFill>
                  </a:tcPr>
                </a:tc>
                <a:tc>
                  <a:txBody>
                    <a:bodyPr/>
                    <a:lstStyle/>
                    <a:p>
                      <a:pPr algn="l">
                        <a:defRPr sz="1400">
                          <a:solidFill>
                            <a:srgbClr val="FFFFFF"/>
                          </a:solidFill>
                        </a:defRPr>
                      </a:pPr>
                      <a:endParaRPr/>
                    </a:p>
                  </a:txBody>
                  <a:tcPr marL="45720" marR="45720" anchor="ctr" horzOverflow="overflow">
                    <a:solidFill>
                      <a:srgbClr val="5F93D4"/>
                    </a:solidFill>
                  </a:tcPr>
                </a:tc>
                <a:tc>
                  <a:txBody>
                    <a:bodyPr/>
                    <a:lstStyle/>
                    <a:p>
                      <a:pPr algn="l">
                        <a:defRPr sz="1400">
                          <a:solidFill>
                            <a:srgbClr val="FFFFFF"/>
                          </a:solidFill>
                        </a:defRPr>
                      </a:pPr>
                      <a:endParaRPr/>
                    </a:p>
                  </a:txBody>
                  <a:tcPr marL="45720" marR="45720" anchor="ctr" horzOverflow="overflow">
                    <a:solidFill>
                      <a:srgbClr val="4FAD5B"/>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lnR w="12700">
                      <a:miter lim="400000"/>
                    </a:lnR>
                    <a:solidFill>
                      <a:srgbClr val="DDDDDD"/>
                    </a:solidFill>
                  </a:tcPr>
                </a:tc>
                <a:extLst>
                  <a:ext uri="{0D108BD9-81ED-4DB2-BD59-A6C34878D82A}">
                    <a16:rowId xmlns:a16="http://schemas.microsoft.com/office/drawing/2014/main" val="10002"/>
                  </a:ext>
                </a:extLst>
              </a:tr>
              <a:tr h="727009">
                <a:tc>
                  <a:txBody>
                    <a:bodyPr/>
                    <a:lstStyle/>
                    <a:p>
                      <a:pPr algn="l">
                        <a:defRPr sz="1400">
                          <a:solidFill>
                            <a:srgbClr val="FFFFFF"/>
                          </a:solidFill>
                        </a:defRPr>
                      </a:pPr>
                      <a:endParaRPr/>
                    </a:p>
                  </a:txBody>
                  <a:tcPr marL="45720" marR="45720" anchor="ctr" horzOverflow="overflow">
                    <a:lnL w="12700">
                      <a:miter lim="400000"/>
                    </a:lnL>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4FAD5B"/>
                    </a:solidFill>
                  </a:tcPr>
                </a:tc>
                <a:tc>
                  <a:txBody>
                    <a:bodyPr/>
                    <a:lstStyle/>
                    <a:p>
                      <a:pPr algn="l">
                        <a:defRPr sz="1400">
                          <a:solidFill>
                            <a:srgbClr val="FFFFFF"/>
                          </a:solidFill>
                        </a:defRPr>
                      </a:pPr>
                      <a:endParaRPr/>
                    </a:p>
                  </a:txBody>
                  <a:tcPr marL="45720" marR="45720" anchor="ctr" horzOverflow="overflow">
                    <a:solidFill>
                      <a:srgbClr val="4FAD5B"/>
                    </a:solidFill>
                  </a:tcPr>
                </a:tc>
                <a:tc>
                  <a:txBody>
                    <a:bodyPr/>
                    <a:lstStyle/>
                    <a:p>
                      <a:pPr algn="l">
                        <a:defRPr sz="1400">
                          <a:solidFill>
                            <a:srgbClr val="FFFFFF"/>
                          </a:solidFill>
                        </a:defRPr>
                      </a:pPr>
                      <a:endParaRPr/>
                    </a:p>
                  </a:txBody>
                  <a:tcPr marL="45720" marR="45720" anchor="ctr" horzOverflow="overflow">
                    <a:solidFill>
                      <a:srgbClr val="4FAD5B"/>
                    </a:solidFill>
                  </a:tcPr>
                </a:tc>
                <a:tc>
                  <a:txBody>
                    <a:bodyPr/>
                    <a:lstStyle/>
                    <a:p>
                      <a:pPr algn="l">
                        <a:defRPr sz="1400">
                          <a:solidFill>
                            <a:srgbClr val="FFFFFF"/>
                          </a:solidFill>
                        </a:defRPr>
                      </a:pPr>
                      <a:endParaRPr/>
                    </a:p>
                  </a:txBody>
                  <a:tcPr marL="45720" marR="45720" anchor="ctr" horzOverflow="overflow">
                    <a:solidFill>
                      <a:srgbClr val="4FAD5B"/>
                    </a:solidFill>
                  </a:tcPr>
                </a:tc>
                <a:tc>
                  <a:txBody>
                    <a:bodyPr/>
                    <a:lstStyle/>
                    <a:p>
                      <a:pPr algn="l">
                        <a:defRPr sz="1400">
                          <a:solidFill>
                            <a:srgbClr val="FFFFFF"/>
                          </a:solidFill>
                        </a:defRPr>
                      </a:pPr>
                      <a:endParaRPr/>
                    </a:p>
                  </a:txBody>
                  <a:tcPr marL="45720" marR="45720" anchor="ctr" horzOverflow="overflow">
                    <a:solidFill>
                      <a:srgbClr val="67349A"/>
                    </a:solidFill>
                  </a:tcPr>
                </a:tc>
                <a:tc>
                  <a:txBody>
                    <a:bodyPr/>
                    <a:lstStyle/>
                    <a:p>
                      <a:pPr algn="l">
                        <a:defRPr sz="1400">
                          <a:solidFill>
                            <a:srgbClr val="FFFFFF"/>
                          </a:solidFill>
                        </a:defRPr>
                      </a:pPr>
                      <a:endParaRPr dirty="0"/>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solidFill>
                      <a:srgbClr val="DDDDDD"/>
                    </a:solidFill>
                  </a:tcPr>
                </a:tc>
                <a:tc>
                  <a:txBody>
                    <a:bodyPr/>
                    <a:lstStyle/>
                    <a:p>
                      <a:pPr algn="l">
                        <a:defRPr sz="1400">
                          <a:solidFill>
                            <a:srgbClr val="FFFFFF"/>
                          </a:solidFill>
                        </a:defRPr>
                      </a:pPr>
                      <a:endParaRPr/>
                    </a:p>
                  </a:txBody>
                  <a:tcPr marL="45720" marR="45720" anchor="ctr" horzOverflow="overflow">
                    <a:lnR w="12700">
                      <a:miter lim="400000"/>
                    </a:lnR>
                    <a:solidFill>
                      <a:srgbClr val="DDDDDD"/>
                    </a:solidFill>
                  </a:tcPr>
                </a:tc>
                <a:extLst>
                  <a:ext uri="{0D108BD9-81ED-4DB2-BD59-A6C34878D82A}">
                    <a16:rowId xmlns:a16="http://schemas.microsoft.com/office/drawing/2014/main" val="10003"/>
                  </a:ext>
                </a:extLst>
              </a:tr>
              <a:tr h="727009">
                <a:tc>
                  <a:txBody>
                    <a:bodyPr/>
                    <a:lstStyle/>
                    <a:p>
                      <a:pPr algn="l">
                        <a:defRPr sz="1400">
                          <a:solidFill>
                            <a:srgbClr val="FFFFFF"/>
                          </a:solidFill>
                        </a:defRPr>
                      </a:pPr>
                      <a:endParaRPr/>
                    </a:p>
                  </a:txBody>
                  <a:tcPr marL="45720" marR="45720" anchor="ctr" horzOverflow="overflow">
                    <a:lnL w="12700">
                      <a:miter lim="400000"/>
                    </a:lnL>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DDDDDD"/>
                    </a:solidFill>
                  </a:tcPr>
                </a:tc>
                <a:tc>
                  <a:txBody>
                    <a:bodyPr/>
                    <a:lstStyle/>
                    <a:p>
                      <a:pPr algn="l">
                        <a:defRPr sz="1400">
                          <a:solidFill>
                            <a:srgbClr val="FFFFFF"/>
                          </a:solidFill>
                        </a:defRPr>
                      </a:pPr>
                      <a:endParaRPr/>
                    </a:p>
                  </a:txBody>
                  <a:tcPr marL="45720" marR="45720" anchor="ctr" horzOverflow="overflow">
                    <a:lnB w="12700">
                      <a:miter lim="400000"/>
                    </a:lnB>
                    <a:solidFill>
                      <a:srgbClr val="4EAD5A"/>
                    </a:solidFill>
                  </a:tcPr>
                </a:tc>
                <a:tc>
                  <a:txBody>
                    <a:bodyPr/>
                    <a:lstStyle/>
                    <a:p>
                      <a:pPr algn="l">
                        <a:defRPr sz="1400">
                          <a:solidFill>
                            <a:srgbClr val="FFFFFF"/>
                          </a:solidFill>
                        </a:defRPr>
                      </a:pPr>
                      <a:endParaRPr/>
                    </a:p>
                  </a:txBody>
                  <a:tcPr marL="45720" marR="45720" anchor="ctr" horzOverflow="overflow">
                    <a:lnB w="12700">
                      <a:miter lim="400000"/>
                    </a:lnB>
                    <a:solidFill>
                      <a:srgbClr val="67349A"/>
                    </a:solidFill>
                  </a:tcPr>
                </a:tc>
                <a:tc>
                  <a:txBody>
                    <a:bodyPr/>
                    <a:lstStyle/>
                    <a:p>
                      <a:pPr algn="l">
                        <a:defRPr sz="1400">
                          <a:solidFill>
                            <a:srgbClr val="FFFFFF"/>
                          </a:solidFill>
                        </a:defRPr>
                      </a:pPr>
                      <a:endParaRPr/>
                    </a:p>
                  </a:txBody>
                  <a:tcPr marL="45720" marR="45720" anchor="ctr" horzOverflow="overflow">
                    <a:lnB w="12700">
                      <a:miter lim="400000"/>
                    </a:lnB>
                    <a:solidFill>
                      <a:srgbClr val="68349A"/>
                    </a:solidFill>
                  </a:tcPr>
                </a:tc>
                <a:tc>
                  <a:txBody>
                    <a:bodyPr/>
                    <a:lstStyle/>
                    <a:p>
                      <a:pPr algn="l">
                        <a:defRPr sz="1400">
                          <a:solidFill>
                            <a:srgbClr val="FFFFFF"/>
                          </a:solidFill>
                        </a:defRPr>
                      </a:pPr>
                      <a:endParaRPr/>
                    </a:p>
                  </a:txBody>
                  <a:tcPr marL="45720" marR="45720" anchor="ctr" horzOverflow="overflow">
                    <a:lnB w="12700">
                      <a:miter lim="400000"/>
                    </a:lnB>
                    <a:solidFill>
                      <a:srgbClr val="68349A"/>
                    </a:solidFill>
                  </a:tcPr>
                </a:tc>
                <a:tc>
                  <a:txBody>
                    <a:bodyPr/>
                    <a:lstStyle/>
                    <a:p>
                      <a:pPr algn="l">
                        <a:defRPr sz="1400">
                          <a:solidFill>
                            <a:srgbClr val="FFFFFF"/>
                          </a:solidFill>
                        </a:defRPr>
                      </a:pPr>
                      <a:endParaRPr dirty="0"/>
                    </a:p>
                  </a:txBody>
                  <a:tcPr marL="45720" marR="45720" anchor="ctr" horzOverflow="overflow">
                    <a:lnR w="12700">
                      <a:miter lim="400000"/>
                    </a:lnR>
                    <a:lnB w="12700">
                      <a:miter lim="400000"/>
                    </a:lnB>
                    <a:solidFill>
                      <a:srgbClr val="68349A"/>
                    </a:solidFill>
                  </a:tcPr>
                </a:tc>
                <a:extLst>
                  <a:ext uri="{0D108BD9-81ED-4DB2-BD59-A6C34878D82A}">
                    <a16:rowId xmlns:a16="http://schemas.microsoft.com/office/drawing/2014/main" val="10004"/>
                  </a:ext>
                </a:extLst>
              </a:tr>
            </a:tbl>
          </a:graphicData>
        </a:graphic>
      </p:graphicFrame>
      <p:sp>
        <p:nvSpPr>
          <p:cNvPr id="2" name="Title 16">
            <a:extLst>
              <a:ext uri="{FF2B5EF4-FFF2-40B4-BE49-F238E27FC236}">
                <a16:creationId xmlns:a16="http://schemas.microsoft.com/office/drawing/2014/main" id="{4966D85C-66DC-F5D5-0644-49A72511BFF0}"/>
              </a:ext>
            </a:extLst>
          </p:cNvPr>
          <p:cNvSpPr txBox="1"/>
          <p:nvPr/>
        </p:nvSpPr>
        <p:spPr>
          <a:xfrm>
            <a:off x="558717" y="301752"/>
            <a:ext cx="6354990"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lang="en-US" dirty="0">
                <a:latin typeface="Aptos" panose="020B0004020202020204" pitchFamily="34" charset="0"/>
              </a:rPr>
              <a:t>Project Timeline</a:t>
            </a:r>
          </a:p>
        </p:txBody>
      </p:sp>
      <p:sp>
        <p:nvSpPr>
          <p:cNvPr id="4" name="Current Context">
            <a:extLst>
              <a:ext uri="{FF2B5EF4-FFF2-40B4-BE49-F238E27FC236}">
                <a16:creationId xmlns:a16="http://schemas.microsoft.com/office/drawing/2014/main" id="{35D70437-2E63-5453-BF18-8308F868AE6D}"/>
              </a:ext>
            </a:extLst>
          </p:cNvPr>
          <p:cNvSpPr txBox="1"/>
          <p:nvPr/>
        </p:nvSpPr>
        <p:spPr>
          <a:xfrm>
            <a:off x="2743199" y="1693183"/>
            <a:ext cx="2174248"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dirty="0">
                <a:solidFill>
                  <a:srgbClr val="111184"/>
                </a:solidFill>
              </a:rPr>
              <a:t>Week 1-3</a:t>
            </a:r>
          </a:p>
        </p:txBody>
      </p:sp>
      <p:sp>
        <p:nvSpPr>
          <p:cNvPr id="5" name="Current Context">
            <a:extLst>
              <a:ext uri="{FF2B5EF4-FFF2-40B4-BE49-F238E27FC236}">
                <a16:creationId xmlns:a16="http://schemas.microsoft.com/office/drawing/2014/main" id="{9CE2260B-A695-118B-B238-DAB6EE4E6E49}"/>
              </a:ext>
            </a:extLst>
          </p:cNvPr>
          <p:cNvSpPr txBox="1"/>
          <p:nvPr/>
        </p:nvSpPr>
        <p:spPr>
          <a:xfrm>
            <a:off x="4986772" y="1693183"/>
            <a:ext cx="2174248"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dirty="0">
                <a:solidFill>
                  <a:srgbClr val="4E95D9"/>
                </a:solidFill>
              </a:rPr>
              <a:t>Week 4-6</a:t>
            </a:r>
          </a:p>
        </p:txBody>
      </p:sp>
      <p:sp>
        <p:nvSpPr>
          <p:cNvPr id="6" name="Current Context">
            <a:extLst>
              <a:ext uri="{FF2B5EF4-FFF2-40B4-BE49-F238E27FC236}">
                <a16:creationId xmlns:a16="http://schemas.microsoft.com/office/drawing/2014/main" id="{9B7D6E5D-9BDA-BC02-72CB-213A148A8FAF}"/>
              </a:ext>
            </a:extLst>
          </p:cNvPr>
          <p:cNvSpPr txBox="1"/>
          <p:nvPr/>
        </p:nvSpPr>
        <p:spPr>
          <a:xfrm>
            <a:off x="7230345" y="1693183"/>
            <a:ext cx="2174248"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dirty="0">
                <a:solidFill>
                  <a:srgbClr val="4EAC5A"/>
                </a:solidFill>
              </a:rPr>
              <a:t>Week 7-9</a:t>
            </a:r>
          </a:p>
        </p:txBody>
      </p:sp>
      <p:sp>
        <p:nvSpPr>
          <p:cNvPr id="7" name="Current Context">
            <a:extLst>
              <a:ext uri="{FF2B5EF4-FFF2-40B4-BE49-F238E27FC236}">
                <a16:creationId xmlns:a16="http://schemas.microsoft.com/office/drawing/2014/main" id="{1D57F41F-2649-6F9D-7F23-9781B868723D}"/>
              </a:ext>
            </a:extLst>
          </p:cNvPr>
          <p:cNvSpPr txBox="1"/>
          <p:nvPr/>
        </p:nvSpPr>
        <p:spPr>
          <a:xfrm>
            <a:off x="9473920" y="1693183"/>
            <a:ext cx="2174248"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dirty="0">
                <a:solidFill>
                  <a:srgbClr val="7030A0"/>
                </a:solidFill>
              </a:rPr>
              <a:t>Week 10-12</a:t>
            </a:r>
          </a:p>
        </p:txBody>
      </p:sp>
      <p:sp>
        <p:nvSpPr>
          <p:cNvPr id="9" name="TextBox 15">
            <a:extLst>
              <a:ext uri="{FF2B5EF4-FFF2-40B4-BE49-F238E27FC236}">
                <a16:creationId xmlns:a16="http://schemas.microsoft.com/office/drawing/2014/main" id="{7860686A-01D4-C544-7D23-003586C43F7C}"/>
              </a:ext>
            </a:extLst>
          </p:cNvPr>
          <p:cNvSpPr txBox="1"/>
          <p:nvPr/>
        </p:nvSpPr>
        <p:spPr>
          <a:xfrm>
            <a:off x="558717" y="3646115"/>
            <a:ext cx="209617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300" b="1">
                <a:solidFill>
                  <a:srgbClr val="111184"/>
                </a:solidFill>
                <a:latin typeface="Book Antiqua"/>
                <a:ea typeface="Book Antiqua"/>
                <a:cs typeface="Book Antiqua"/>
                <a:sym typeface="Book Antiqua"/>
              </a:defRPr>
            </a:lvl1pPr>
          </a:lstStyle>
          <a:p>
            <a:r>
              <a:rPr lang="en-US" b="0" dirty="0">
                <a:solidFill>
                  <a:schemeClr val="tx1"/>
                </a:solidFill>
                <a:latin typeface="Aptos" panose="020B0004020202020204" pitchFamily="34" charset="0"/>
              </a:rPr>
              <a:t>Implementation Playbook, </a:t>
            </a:r>
            <a:br>
              <a:rPr lang="en-US" b="0" dirty="0">
                <a:solidFill>
                  <a:schemeClr val="tx1"/>
                </a:solidFill>
                <a:latin typeface="Aptos" panose="020B0004020202020204" pitchFamily="34" charset="0"/>
              </a:rPr>
            </a:br>
            <a:r>
              <a:rPr lang="en-US" b="0" dirty="0">
                <a:solidFill>
                  <a:schemeClr val="tx1"/>
                </a:solidFill>
                <a:latin typeface="Aptos" panose="020B0004020202020204" pitchFamily="34" charset="0"/>
              </a:rPr>
              <a:t>Pilot Results</a:t>
            </a:r>
          </a:p>
        </p:txBody>
      </p:sp>
      <p:sp>
        <p:nvSpPr>
          <p:cNvPr id="10" name="TextBox 15">
            <a:extLst>
              <a:ext uri="{FF2B5EF4-FFF2-40B4-BE49-F238E27FC236}">
                <a16:creationId xmlns:a16="http://schemas.microsoft.com/office/drawing/2014/main" id="{C49D06CA-3618-11ED-8909-0E94BA396CD2}"/>
              </a:ext>
            </a:extLst>
          </p:cNvPr>
          <p:cNvSpPr txBox="1"/>
          <p:nvPr/>
        </p:nvSpPr>
        <p:spPr>
          <a:xfrm>
            <a:off x="558717" y="4363954"/>
            <a:ext cx="209617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300" b="1">
                <a:solidFill>
                  <a:srgbClr val="111184"/>
                </a:solidFill>
                <a:latin typeface="Book Antiqua"/>
                <a:ea typeface="Book Antiqua"/>
                <a:cs typeface="Book Antiqua"/>
                <a:sym typeface="Book Antiqua"/>
              </a:defRPr>
            </a:lvl1pPr>
          </a:lstStyle>
          <a:p>
            <a:r>
              <a:rPr lang="en-US" b="0" dirty="0">
                <a:solidFill>
                  <a:schemeClr val="tx1"/>
                </a:solidFill>
                <a:latin typeface="Aptos" panose="020B0004020202020204" pitchFamily="34" charset="0"/>
              </a:rPr>
              <a:t>Project Development,</a:t>
            </a:r>
          </a:p>
          <a:p>
            <a:r>
              <a:rPr lang="en-US" b="0" dirty="0">
                <a:solidFill>
                  <a:schemeClr val="tx1"/>
                </a:solidFill>
                <a:latin typeface="Aptos" panose="020B0004020202020204" pitchFamily="34" charset="0"/>
              </a:rPr>
              <a:t>Design Solutions</a:t>
            </a:r>
          </a:p>
        </p:txBody>
      </p:sp>
      <p:sp>
        <p:nvSpPr>
          <p:cNvPr id="11" name="TextBox 15">
            <a:extLst>
              <a:ext uri="{FF2B5EF4-FFF2-40B4-BE49-F238E27FC236}">
                <a16:creationId xmlns:a16="http://schemas.microsoft.com/office/drawing/2014/main" id="{C39DE450-FC59-452C-1587-7923DCF63745}"/>
              </a:ext>
            </a:extLst>
          </p:cNvPr>
          <p:cNvSpPr txBox="1"/>
          <p:nvPr/>
        </p:nvSpPr>
        <p:spPr>
          <a:xfrm>
            <a:off x="558717" y="2928276"/>
            <a:ext cx="209617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300" b="1">
                <a:solidFill>
                  <a:srgbClr val="111184"/>
                </a:solidFill>
                <a:latin typeface="Book Antiqua"/>
                <a:ea typeface="Book Antiqua"/>
                <a:cs typeface="Book Antiqua"/>
                <a:sym typeface="Book Antiqua"/>
              </a:defRPr>
            </a:lvl1pPr>
          </a:lstStyle>
          <a:p>
            <a:r>
              <a:rPr lang="en-US" b="0" dirty="0">
                <a:solidFill>
                  <a:schemeClr val="tx1"/>
                </a:solidFill>
                <a:latin typeface="Aptos" panose="020B0004020202020204" pitchFamily="34" charset="0"/>
              </a:rPr>
              <a:t>Opportunity, Assessment, Financial Model</a:t>
            </a:r>
          </a:p>
        </p:txBody>
      </p:sp>
      <p:sp>
        <p:nvSpPr>
          <p:cNvPr id="12" name="TextBox 15">
            <a:extLst>
              <a:ext uri="{FF2B5EF4-FFF2-40B4-BE49-F238E27FC236}">
                <a16:creationId xmlns:a16="http://schemas.microsoft.com/office/drawing/2014/main" id="{6722A79A-CFB5-C307-E3FA-4D5137B98A0C}"/>
              </a:ext>
            </a:extLst>
          </p:cNvPr>
          <p:cNvSpPr txBox="1"/>
          <p:nvPr/>
        </p:nvSpPr>
        <p:spPr>
          <a:xfrm>
            <a:off x="558717" y="5081792"/>
            <a:ext cx="209617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300" b="1">
                <a:solidFill>
                  <a:srgbClr val="111184"/>
                </a:solidFill>
                <a:latin typeface="Book Antiqua"/>
                <a:ea typeface="Book Antiqua"/>
                <a:cs typeface="Book Antiqua"/>
                <a:sym typeface="Book Antiqua"/>
              </a:defRPr>
            </a:lvl1pPr>
          </a:lstStyle>
          <a:p>
            <a:r>
              <a:rPr lang="en-US" b="0" dirty="0">
                <a:solidFill>
                  <a:schemeClr val="tx1"/>
                </a:solidFill>
                <a:latin typeface="Aptos" panose="020B0004020202020204" pitchFamily="34" charset="0"/>
              </a:rPr>
              <a:t>Final Report, </a:t>
            </a:r>
          </a:p>
          <a:p>
            <a:r>
              <a:rPr lang="en-US" b="0" dirty="0">
                <a:solidFill>
                  <a:schemeClr val="tx1"/>
                </a:solidFill>
                <a:latin typeface="Aptos" panose="020B0004020202020204" pitchFamily="34" charset="0"/>
              </a:rPr>
              <a:t>Executive Deck</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228" name="Text"/>
          <p:cNvSpPr txBox="1"/>
          <p:nvPr/>
        </p:nvSpPr>
        <p:spPr>
          <a:xfrm>
            <a:off x="3952974" y="-4703644"/>
            <a:ext cx="142241"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r>
              <a:t> </a:t>
            </a:r>
          </a:p>
        </p:txBody>
      </p:sp>
      <p:graphicFrame>
        <p:nvGraphicFramePr>
          <p:cNvPr id="4" name="Table 3">
            <a:extLst>
              <a:ext uri="{FF2B5EF4-FFF2-40B4-BE49-F238E27FC236}">
                <a16:creationId xmlns:a16="http://schemas.microsoft.com/office/drawing/2014/main" id="{0CC4ED14-A31C-F915-A2BE-C28A38B268AF}"/>
              </a:ext>
            </a:extLst>
          </p:cNvPr>
          <p:cNvGraphicFramePr/>
          <p:nvPr>
            <p:extLst>
              <p:ext uri="{D42A27DB-BD31-4B8C-83A1-F6EECF244321}">
                <p14:modId xmlns:p14="http://schemas.microsoft.com/office/powerpoint/2010/main" val="1261949335"/>
              </p:ext>
            </p:extLst>
          </p:nvPr>
        </p:nvGraphicFramePr>
        <p:xfrm>
          <a:off x="569842" y="1543749"/>
          <a:ext cx="11068080" cy="4597535"/>
        </p:xfrm>
        <a:graphic>
          <a:graphicData uri="http://schemas.openxmlformats.org/drawingml/2006/table">
            <a:tbl>
              <a:tblPr bandRow="1">
                <a:tableStyleId>{4C3C2611-4C71-4FC5-86AE-919BDF0F9419}</a:tableStyleId>
              </a:tblPr>
              <a:tblGrid>
                <a:gridCol w="3689360">
                  <a:extLst>
                    <a:ext uri="{9D8B030D-6E8A-4147-A177-3AD203B41FA5}">
                      <a16:colId xmlns:a16="http://schemas.microsoft.com/office/drawing/2014/main" val="20000"/>
                    </a:ext>
                  </a:extLst>
                </a:gridCol>
                <a:gridCol w="3689360">
                  <a:extLst>
                    <a:ext uri="{9D8B030D-6E8A-4147-A177-3AD203B41FA5}">
                      <a16:colId xmlns:a16="http://schemas.microsoft.com/office/drawing/2014/main" val="20001"/>
                    </a:ext>
                  </a:extLst>
                </a:gridCol>
                <a:gridCol w="3689360">
                  <a:extLst>
                    <a:ext uri="{9D8B030D-6E8A-4147-A177-3AD203B41FA5}">
                      <a16:colId xmlns:a16="http://schemas.microsoft.com/office/drawing/2014/main" val="20002"/>
                    </a:ext>
                  </a:extLst>
                </a:gridCol>
              </a:tblGrid>
              <a:tr h="581984">
                <a:tc>
                  <a:txBody>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bg1"/>
                          </a:solidFill>
                          <a:effectLst/>
                          <a:uLnTx/>
                          <a:uFillTx/>
                          <a:latin typeface="+mn-lt"/>
                          <a:sym typeface="Aptos Display"/>
                        </a:rPr>
                        <a:t>Category</a:t>
                      </a:r>
                    </a:p>
                  </a:txBody>
                  <a:tcPr marL="182880" marR="182880" anchor="ctr" horzOverflow="overflow">
                    <a:lnL w="38100">
                      <a:noFill/>
                    </a:lnL>
                    <a:lnR w="38100">
                      <a:noFill/>
                    </a:lnR>
                    <a:lnT w="38100">
                      <a:noFill/>
                    </a:lnT>
                    <a:lnB w="28575" cap="flat" cmpd="sng" algn="ctr">
                      <a:solidFill>
                        <a:srgbClr val="96DC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dirty="0">
                          <a:ln>
                            <a:noFill/>
                          </a:ln>
                          <a:solidFill>
                            <a:schemeClr val="bg1"/>
                          </a:solidFill>
                          <a:effectLst/>
                          <a:uLnTx/>
                          <a:uFillTx/>
                          <a:latin typeface="+mn-lt"/>
                          <a:ea typeface="+mn-ea"/>
                          <a:cs typeface="+mn-cs"/>
                          <a:sym typeface="Book Antiqua"/>
                        </a:rPr>
                        <a:t>Data Insight</a:t>
                      </a:r>
                      <a:endParaRPr kumimoji="0" sz="1800" b="1" i="0" u="none" strike="noStrike" kern="0" cap="none" spc="0" normalizeH="0" baseline="0" dirty="0">
                        <a:ln>
                          <a:noFill/>
                        </a:ln>
                        <a:solidFill>
                          <a:schemeClr val="bg1"/>
                        </a:solidFill>
                        <a:effectLst/>
                        <a:uLnTx/>
                        <a:uFillTx/>
                        <a:latin typeface="+mn-lt"/>
                        <a:ea typeface="+mn-ea"/>
                        <a:cs typeface="+mn-cs"/>
                        <a:sym typeface="Book Antiqua"/>
                      </a:endParaRPr>
                    </a:p>
                  </a:txBody>
                  <a:tcPr marL="182880" marR="182880" anchor="ctr" horzOverflow="overflow">
                    <a:lnL w="38100">
                      <a:noFill/>
                    </a:lnL>
                    <a:lnR w="38100">
                      <a:noFill/>
                    </a:lnR>
                    <a:lnT w="38100">
                      <a:noFill/>
                    </a:lnT>
                    <a:lnB w="28575" cap="flat" cmpd="sng" algn="ctr">
                      <a:solidFill>
                        <a:srgbClr val="96DC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1" i="0" u="none" strike="noStrike" kern="0" cap="none" spc="0" normalizeH="0" baseline="0" dirty="0">
                          <a:ln>
                            <a:noFill/>
                          </a:ln>
                          <a:solidFill>
                            <a:schemeClr val="bg1"/>
                          </a:solidFill>
                          <a:effectLst/>
                          <a:uLnTx/>
                          <a:uFillTx/>
                          <a:latin typeface="+mn-lt"/>
                          <a:ea typeface="+mn-ea"/>
                          <a:cs typeface="+mn-cs"/>
                          <a:sym typeface="Book Antiqua"/>
                        </a:rPr>
                        <a:t>Implications</a:t>
                      </a:r>
                      <a:endParaRPr kumimoji="0" sz="1800" b="1" i="0" u="none" strike="noStrike" kern="0" cap="none" spc="0" normalizeH="0" baseline="0" dirty="0">
                        <a:ln>
                          <a:noFill/>
                        </a:ln>
                        <a:solidFill>
                          <a:schemeClr val="bg1"/>
                        </a:solidFill>
                        <a:effectLst/>
                        <a:uLnTx/>
                        <a:uFillTx/>
                        <a:latin typeface="+mn-lt"/>
                        <a:ea typeface="+mn-ea"/>
                        <a:cs typeface="+mn-cs"/>
                        <a:sym typeface="Book Antiqua"/>
                      </a:endParaRPr>
                    </a:p>
                  </a:txBody>
                  <a:tcPr marL="182880" marR="182880" anchor="ctr" horzOverflow="overflow">
                    <a:lnL w="38100">
                      <a:noFill/>
                    </a:lnL>
                    <a:lnR w="38100">
                      <a:noFill/>
                    </a:lnR>
                    <a:lnT w="38100">
                      <a:noFill/>
                    </a:lnT>
                    <a:lnB w="28575" cap="flat" cmpd="sng" algn="ctr">
                      <a:solidFill>
                        <a:srgbClr val="96DC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56504">
                <a:tc>
                  <a:txBody>
                    <a:bodyPr/>
                    <a:lstStyle/>
                    <a:p>
                      <a:pPr algn="l">
                        <a:lnSpc>
                          <a:spcPct val="110000"/>
                        </a:lnSpc>
                        <a:defRPr sz="1800"/>
                      </a:pPr>
                      <a:r>
                        <a:rPr lang="en-US" sz="1600" dirty="0">
                          <a:solidFill>
                            <a:schemeClr val="bg1"/>
                          </a:solidFill>
                        </a:rPr>
                        <a:t>Supply Chain Inefficiencies </a:t>
                      </a:r>
                    </a:p>
                    <a:p>
                      <a:pPr algn="l">
                        <a:lnSpc>
                          <a:spcPct val="110000"/>
                        </a:lnSpc>
                        <a:defRPr sz="1800"/>
                      </a:pPr>
                      <a:r>
                        <a:rPr lang="en-US" sz="1600" dirty="0">
                          <a:solidFill>
                            <a:schemeClr val="bg1"/>
                          </a:solidFill>
                        </a:rPr>
                        <a:t>Driving 18% Excess Cost</a:t>
                      </a:r>
                    </a:p>
                  </a:txBody>
                  <a:tcPr marL="182880" marR="182880" marT="182880" marB="182880" horzOverflow="overflow">
                    <a:lnL w="38100">
                      <a:noFill/>
                    </a:lnL>
                    <a:lnR w="38100">
                      <a:noFill/>
                    </a:lnR>
                    <a:lnT w="28575" cap="flat" cmpd="sng" algn="ctr">
                      <a:solidFill>
                        <a:srgbClr val="96DCF9"/>
                      </a:solidFill>
                      <a:prstDash val="solid"/>
                      <a:round/>
                      <a:headEnd type="none" w="med" len="med"/>
                      <a:tailEnd type="none" w="med" len="med"/>
                    </a:lnT>
                    <a:lnB w="38100">
                      <a:noFill/>
                    </a:lnB>
                    <a:lnTlToBr w="12700" cmpd="sng">
                      <a:noFill/>
                      <a:prstDash val="solid"/>
                    </a:lnTlToBr>
                    <a:lnBlToTr w="12700" cmpd="sng">
                      <a:noFill/>
                      <a:prstDash val="solid"/>
                    </a:lnBlToTr>
                    <a:solidFill>
                      <a:srgbClr val="96DCF9">
                        <a:alpha val="20000"/>
                      </a:srgbClr>
                    </a:solidFill>
                  </a:tcPr>
                </a:tc>
                <a:tc>
                  <a:txBody>
                    <a:bodyPr/>
                    <a:lstStyle/>
                    <a:p>
                      <a:pPr algn="l">
                        <a:lnSpc>
                          <a:spcPct val="110000"/>
                        </a:lnSpc>
                        <a:defRPr sz="1800"/>
                      </a:pPr>
                      <a:r>
                        <a:rPr lang="en-US" sz="1600" dirty="0">
                          <a:solidFill>
                            <a:schemeClr val="bg1"/>
                          </a:solidFill>
                        </a:rPr>
                        <a:t>40% of total operational expenses stem from logistics and procurement; lead times average 3 days longer than peers.</a:t>
                      </a:r>
                    </a:p>
                  </a:txBody>
                  <a:tcPr marL="182880" marR="182880" marT="182880" marB="182880" horzOverflow="overflow">
                    <a:lnL w="38100">
                      <a:noFill/>
                    </a:lnL>
                    <a:lnR w="38100">
                      <a:noFill/>
                    </a:lnR>
                    <a:lnT w="28575" cap="flat" cmpd="sng" algn="ctr">
                      <a:solidFill>
                        <a:srgbClr val="96DCF9"/>
                      </a:solidFill>
                      <a:prstDash val="solid"/>
                      <a:round/>
                      <a:headEnd type="none" w="med" len="med"/>
                      <a:tailEnd type="none" w="med" len="med"/>
                    </a:lnT>
                    <a:lnB w="38100">
                      <a:noFill/>
                    </a:lnB>
                    <a:lnTlToBr w="12700" cmpd="sng">
                      <a:noFill/>
                      <a:prstDash val="solid"/>
                    </a:lnTlToBr>
                    <a:lnBlToTr w="12700" cmpd="sng">
                      <a:noFill/>
                      <a:prstDash val="solid"/>
                    </a:lnBlToTr>
                    <a:solidFill>
                      <a:srgbClr val="96DCF9">
                        <a:alpha val="20000"/>
                      </a:srgbClr>
                    </a:solidFill>
                  </a:tcPr>
                </a:tc>
                <a:tc>
                  <a:txBody>
                    <a:bodyPr/>
                    <a:lstStyle/>
                    <a:p>
                      <a:pPr algn="l">
                        <a:lnSpc>
                          <a:spcPct val="110000"/>
                        </a:lnSpc>
                        <a:defRPr sz="1800"/>
                      </a:pPr>
                      <a:r>
                        <a:rPr lang="en-US" sz="1600" dirty="0">
                          <a:solidFill>
                            <a:schemeClr val="bg1"/>
                          </a:solidFill>
                        </a:rPr>
                        <a:t>Streamlining procurement and vendor consolidation could reduce annual costs by $2.4M.</a:t>
                      </a:r>
                    </a:p>
                  </a:txBody>
                  <a:tcPr marL="182880" marR="182880" marT="182880" marB="182880" horzOverflow="overflow">
                    <a:lnL w="38100">
                      <a:noFill/>
                    </a:lnL>
                    <a:lnR w="38100">
                      <a:noFill/>
                    </a:lnR>
                    <a:lnT w="28575" cap="flat" cmpd="sng" algn="ctr">
                      <a:solidFill>
                        <a:srgbClr val="96DCF9"/>
                      </a:solidFill>
                      <a:prstDash val="solid"/>
                      <a:round/>
                      <a:headEnd type="none" w="med" len="med"/>
                      <a:tailEnd type="none" w="med" len="med"/>
                    </a:lnT>
                    <a:lnB w="38100">
                      <a:noFill/>
                    </a:lnB>
                    <a:lnTlToBr w="12700" cmpd="sng">
                      <a:noFill/>
                      <a:prstDash val="solid"/>
                    </a:lnTlToBr>
                    <a:lnBlToTr w="12700" cmpd="sng">
                      <a:noFill/>
                      <a:prstDash val="solid"/>
                    </a:lnBlToTr>
                    <a:solidFill>
                      <a:srgbClr val="96DCF9">
                        <a:alpha val="20000"/>
                      </a:srgbClr>
                    </a:solidFill>
                  </a:tcPr>
                </a:tc>
                <a:extLst>
                  <a:ext uri="{0D108BD9-81ED-4DB2-BD59-A6C34878D82A}">
                    <a16:rowId xmlns:a16="http://schemas.microsoft.com/office/drawing/2014/main" val="10001"/>
                  </a:ext>
                </a:extLst>
              </a:tr>
              <a:tr h="1156504">
                <a:tc>
                  <a:txBody>
                    <a:bodyPr/>
                    <a:lstStyle/>
                    <a:p>
                      <a:pPr algn="l">
                        <a:lnSpc>
                          <a:spcPct val="110000"/>
                        </a:lnSpc>
                        <a:defRPr sz="1800"/>
                      </a:pPr>
                      <a:r>
                        <a:rPr lang="en-US" sz="1600" dirty="0">
                          <a:solidFill>
                            <a:schemeClr val="bg1"/>
                          </a:solidFill>
                        </a:rPr>
                        <a:t>Fragmented IT Systems </a:t>
                      </a:r>
                    </a:p>
                    <a:p>
                      <a:pPr algn="l">
                        <a:lnSpc>
                          <a:spcPct val="110000"/>
                        </a:lnSpc>
                        <a:defRPr sz="1800"/>
                      </a:pPr>
                      <a:r>
                        <a:rPr lang="en-US" sz="1600" dirty="0">
                          <a:solidFill>
                            <a:schemeClr val="bg1"/>
                          </a:solidFill>
                        </a:rPr>
                        <a:t>Causing 22% Data Mismatch Rate</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10000"/>
                      </a:srgbClr>
                    </a:solidFill>
                  </a:tcPr>
                </a:tc>
                <a:tc>
                  <a:txBody>
                    <a:bodyPr/>
                    <a:lstStyle/>
                    <a:p>
                      <a:pPr algn="l">
                        <a:lnSpc>
                          <a:spcPct val="110000"/>
                        </a:lnSpc>
                        <a:defRPr sz="1800"/>
                      </a:pPr>
                      <a:r>
                        <a:rPr lang="en-US" sz="1600" dirty="0">
                          <a:solidFill>
                            <a:schemeClr val="bg1"/>
                          </a:solidFill>
                        </a:rPr>
                        <a:t>Systems across inventory, sales, and procurement operate independently, leading to misaligned forecasting and double entry.</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10000"/>
                      </a:srgbClr>
                    </a:solidFill>
                  </a:tcPr>
                </a:tc>
                <a:tc>
                  <a:txBody>
                    <a:bodyPr/>
                    <a:lstStyle/>
                    <a:p>
                      <a:pPr algn="l">
                        <a:lnSpc>
                          <a:spcPct val="110000"/>
                        </a:lnSpc>
                        <a:defRPr sz="1800"/>
                      </a:pPr>
                      <a:r>
                        <a:rPr lang="en-US" sz="1600" dirty="0">
                          <a:solidFill>
                            <a:schemeClr val="bg1"/>
                          </a:solidFill>
                        </a:rPr>
                        <a:t>ERP integration can improve accuracy and unlock ~15% process efficiency gains.</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10000"/>
                      </a:srgbClr>
                    </a:solidFill>
                  </a:tcPr>
                </a:tc>
                <a:extLst>
                  <a:ext uri="{0D108BD9-81ED-4DB2-BD59-A6C34878D82A}">
                    <a16:rowId xmlns:a16="http://schemas.microsoft.com/office/drawing/2014/main" val="10002"/>
                  </a:ext>
                </a:extLst>
              </a:tr>
              <a:tr h="1156504">
                <a:tc>
                  <a:txBody>
                    <a:bodyPr/>
                    <a:lstStyle/>
                    <a:p>
                      <a:pPr algn="l">
                        <a:lnSpc>
                          <a:spcPct val="110000"/>
                        </a:lnSpc>
                        <a:defRPr sz="1800"/>
                      </a:pPr>
                      <a:r>
                        <a:rPr lang="en-US" sz="1600" dirty="0">
                          <a:solidFill>
                            <a:schemeClr val="bg1"/>
                          </a:solidFill>
                        </a:rPr>
                        <a:t>Low Inventory Turnover </a:t>
                      </a:r>
                    </a:p>
                    <a:p>
                      <a:pPr algn="l">
                        <a:lnSpc>
                          <a:spcPct val="110000"/>
                        </a:lnSpc>
                        <a:defRPr sz="1800"/>
                      </a:pPr>
                      <a:r>
                        <a:rPr lang="en-US" sz="1600" dirty="0">
                          <a:solidFill>
                            <a:schemeClr val="bg1"/>
                          </a:solidFill>
                        </a:rPr>
                        <a:t>(–15% vs. Benchmark) Creating $1.8M in Carrying Costs</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20000"/>
                      </a:srgbClr>
                    </a:solidFill>
                  </a:tcPr>
                </a:tc>
                <a:tc>
                  <a:txBody>
                    <a:bodyPr/>
                    <a:lstStyle/>
                    <a:p>
                      <a:pPr algn="l">
                        <a:lnSpc>
                          <a:spcPct val="110000"/>
                        </a:lnSpc>
                        <a:defRPr sz="1800"/>
                      </a:pPr>
                      <a:r>
                        <a:rPr lang="en-US" sz="1600" dirty="0">
                          <a:solidFill>
                            <a:schemeClr val="bg1"/>
                          </a:solidFill>
                        </a:rPr>
                        <a:t>Average turnover of 4.1x/year vs. industry average of 4.8x; overstock in mid-tier SKUs accounts for majority of excess.</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20000"/>
                      </a:srgbClr>
                    </a:solidFill>
                  </a:tcPr>
                </a:tc>
                <a:tc>
                  <a:txBody>
                    <a:bodyPr/>
                    <a:lstStyle/>
                    <a:p>
                      <a:pPr algn="l">
                        <a:lnSpc>
                          <a:spcPct val="110000"/>
                        </a:lnSpc>
                        <a:defRPr sz="1800"/>
                      </a:pPr>
                      <a:r>
                        <a:rPr lang="en-US" sz="1600" dirty="0">
                          <a:solidFill>
                            <a:schemeClr val="bg1"/>
                          </a:solidFill>
                        </a:rPr>
                        <a:t>Inventory rationalization could free up $1.8M in working capital.</a:t>
                      </a:r>
                    </a:p>
                  </a:txBody>
                  <a:tcPr marL="182880" marR="182880" marT="182880" marB="182880" horzOverflow="overflow">
                    <a:lnL w="38100">
                      <a:noFill/>
                    </a:lnL>
                    <a:lnR w="38100">
                      <a:noFill/>
                    </a:lnR>
                    <a:lnT w="38100">
                      <a:noFill/>
                    </a:lnT>
                    <a:lnB w="38100">
                      <a:noFill/>
                    </a:lnB>
                    <a:lnTlToBr w="12700" cmpd="sng">
                      <a:noFill/>
                      <a:prstDash val="solid"/>
                    </a:lnTlToBr>
                    <a:lnBlToTr w="12700" cmpd="sng">
                      <a:noFill/>
                      <a:prstDash val="solid"/>
                    </a:lnBlToTr>
                    <a:solidFill>
                      <a:srgbClr val="96DCF9">
                        <a:alpha val="20000"/>
                      </a:srgbClr>
                    </a:solidFill>
                  </a:tcPr>
                </a:tc>
                <a:extLst>
                  <a:ext uri="{0D108BD9-81ED-4DB2-BD59-A6C34878D82A}">
                    <a16:rowId xmlns:a16="http://schemas.microsoft.com/office/drawing/2014/main" val="10003"/>
                  </a:ext>
                </a:extLst>
              </a:tr>
            </a:tbl>
          </a:graphicData>
        </a:graphic>
      </p:graphicFrame>
      <p:sp>
        <p:nvSpPr>
          <p:cNvPr id="5" name="Title 16">
            <a:extLst>
              <a:ext uri="{FF2B5EF4-FFF2-40B4-BE49-F238E27FC236}">
                <a16:creationId xmlns:a16="http://schemas.microsoft.com/office/drawing/2014/main" id="{A4702BEA-4AA4-1785-E8CF-EBFC58825A98}"/>
              </a:ext>
            </a:extLst>
          </p:cNvPr>
          <p:cNvSpPr txBox="1"/>
          <p:nvPr/>
        </p:nvSpPr>
        <p:spPr>
          <a:xfrm>
            <a:off x="509541" y="297889"/>
            <a:ext cx="7170045"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spcBef>
                <a:spcPts val="600"/>
              </a:spcBef>
              <a:defRPr sz="4400" b="1">
                <a:solidFill>
                  <a:srgbClr val="FFFFFF"/>
                </a:solidFill>
                <a:latin typeface="Book Antiqua"/>
                <a:ea typeface="Book Antiqua"/>
                <a:cs typeface="Book Antiqua"/>
                <a:sym typeface="Book Antiqua"/>
              </a:defRPr>
            </a:pPr>
            <a:r>
              <a:rPr lang="en-US" dirty="0">
                <a:latin typeface="Aptos" panose="020B0004020202020204" pitchFamily="34" charset="0"/>
              </a:rPr>
              <a:t>Key Findings &amp; Insights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a:stretch>
        </a:blipFill>
        <a:effectLst/>
      </p:bgPr>
    </p:bg>
    <p:spTree>
      <p:nvGrpSpPr>
        <p:cNvPr id="1" name=""/>
        <p:cNvGrpSpPr/>
        <p:nvPr/>
      </p:nvGrpSpPr>
      <p:grpSpPr>
        <a:xfrm>
          <a:off x="0" y="0"/>
          <a:ext cx="0" cy="0"/>
          <a:chOff x="0" y="0"/>
          <a:chExt cx="0" cy="0"/>
        </a:xfrm>
      </p:grpSpPr>
      <p:graphicFrame>
        <p:nvGraphicFramePr>
          <p:cNvPr id="232" name="Table 3"/>
          <p:cNvGraphicFramePr/>
          <p:nvPr>
            <p:extLst>
              <p:ext uri="{D42A27DB-BD31-4B8C-83A1-F6EECF244321}">
                <p14:modId xmlns:p14="http://schemas.microsoft.com/office/powerpoint/2010/main" val="1284950006"/>
              </p:ext>
            </p:extLst>
          </p:nvPr>
        </p:nvGraphicFramePr>
        <p:xfrm>
          <a:off x="569842" y="1868353"/>
          <a:ext cx="7191783" cy="4298165"/>
        </p:xfrm>
        <a:graphic>
          <a:graphicData uri="http://schemas.openxmlformats.org/drawingml/2006/table">
            <a:tbl>
              <a:tblPr bandRow="1">
                <a:tableStyleId>{4C3C2611-4C71-4FC5-86AE-919BDF0F9419}</a:tableStyleId>
              </a:tblPr>
              <a:tblGrid>
                <a:gridCol w="2397261">
                  <a:extLst>
                    <a:ext uri="{9D8B030D-6E8A-4147-A177-3AD203B41FA5}">
                      <a16:colId xmlns:a16="http://schemas.microsoft.com/office/drawing/2014/main" val="20000"/>
                    </a:ext>
                  </a:extLst>
                </a:gridCol>
                <a:gridCol w="2397261">
                  <a:extLst>
                    <a:ext uri="{9D8B030D-6E8A-4147-A177-3AD203B41FA5}">
                      <a16:colId xmlns:a16="http://schemas.microsoft.com/office/drawing/2014/main" val="20001"/>
                    </a:ext>
                  </a:extLst>
                </a:gridCol>
                <a:gridCol w="2397261">
                  <a:extLst>
                    <a:ext uri="{9D8B030D-6E8A-4147-A177-3AD203B41FA5}">
                      <a16:colId xmlns:a16="http://schemas.microsoft.com/office/drawing/2014/main" val="20002"/>
                    </a:ext>
                  </a:extLst>
                </a:gridCol>
              </a:tblGrid>
              <a:tr h="621629">
                <a:tc>
                  <a:txBody>
                    <a:bodyPr/>
                    <a:lstStyle/>
                    <a:p>
                      <a:pPr algn="l">
                        <a:lnSpc>
                          <a:spcPts val="1600"/>
                        </a:lnSpc>
                        <a:defRPr sz="1800"/>
                      </a:pPr>
                      <a:r>
                        <a:rPr sz="1300" b="0" i="0" dirty="0">
                          <a:solidFill>
                            <a:srgbClr val="FFFFFF"/>
                          </a:solidFill>
                          <a:latin typeface="Aptos" panose="020B0004020202020204" pitchFamily="34" charset="0"/>
                          <a:ea typeface="Book Antiqua"/>
                          <a:cs typeface="Book Antiqua"/>
                          <a:sym typeface="Book Antiqua"/>
                        </a:rPr>
                        <a:t>Category</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111184"/>
                    </a:solidFill>
                  </a:tcPr>
                </a:tc>
                <a:tc>
                  <a:txBody>
                    <a:bodyPr/>
                    <a:lstStyle/>
                    <a:p>
                      <a:pPr algn="l">
                        <a:lnSpc>
                          <a:spcPts val="1600"/>
                        </a:lnSpc>
                        <a:defRPr sz="1800"/>
                      </a:pPr>
                      <a:r>
                        <a:rPr sz="1300" b="0" i="0" dirty="0">
                          <a:solidFill>
                            <a:srgbClr val="FFFFFF"/>
                          </a:solidFill>
                          <a:latin typeface="Aptos" panose="020B0004020202020204" pitchFamily="34" charset="0"/>
                          <a:ea typeface="Book Antiqua"/>
                          <a:cs typeface="Book Antiqua"/>
                          <a:sym typeface="Book Antiqua"/>
                        </a:rPr>
                        <a:t>Estimate Impacts ($)</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111184"/>
                    </a:solidFill>
                  </a:tcPr>
                </a:tc>
                <a:tc>
                  <a:txBody>
                    <a:bodyPr/>
                    <a:lstStyle/>
                    <a:p>
                      <a:pPr algn="l">
                        <a:lnSpc>
                          <a:spcPts val="1600"/>
                        </a:lnSpc>
                        <a:defRPr sz="1800"/>
                      </a:pPr>
                      <a:r>
                        <a:rPr sz="1300" b="0" i="0" dirty="0">
                          <a:solidFill>
                            <a:srgbClr val="FFFFFF"/>
                          </a:solidFill>
                          <a:latin typeface="Aptos" panose="020B0004020202020204" pitchFamily="34" charset="0"/>
                          <a:ea typeface="Book Antiqua"/>
                          <a:cs typeface="Book Antiqua"/>
                          <a:sym typeface="Book Antiqua"/>
                        </a:rPr>
                        <a:t>Projected growth</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111184"/>
                    </a:solidFill>
                  </a:tcPr>
                </a:tc>
                <a:extLst>
                  <a:ext uri="{0D108BD9-81ED-4DB2-BD59-A6C34878D82A}">
                    <a16:rowId xmlns:a16="http://schemas.microsoft.com/office/drawing/2014/main" val="10000"/>
                  </a:ext>
                </a:extLst>
              </a:tr>
              <a:tr h="612756">
                <a:tc>
                  <a:txBody>
                    <a:bodyPr/>
                    <a:lstStyle/>
                    <a:p>
                      <a:pPr algn="l">
                        <a:lnSpc>
                          <a:spcPts val="1600"/>
                        </a:lnSpc>
                        <a:defRPr sz="1800"/>
                      </a:pPr>
                      <a:r>
                        <a:rPr sz="1300"/>
                        <a:t>Supply chain</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a:t>+20% annually</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extLst>
                  <a:ext uri="{0D108BD9-81ED-4DB2-BD59-A6C34878D82A}">
                    <a16:rowId xmlns:a16="http://schemas.microsoft.com/office/drawing/2014/main" val="10001"/>
                  </a:ext>
                </a:extLst>
              </a:tr>
              <a:tr h="612756">
                <a:tc>
                  <a:txBody>
                    <a:bodyPr/>
                    <a:lstStyle/>
                    <a:p>
                      <a:pPr algn="l">
                        <a:lnSpc>
                          <a:spcPts val="1600"/>
                        </a:lnSpc>
                        <a:defRPr sz="1800"/>
                      </a:pPr>
                      <a:r>
                        <a:rPr sz="1300" dirty="0"/>
                        <a:t>Marketing</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dirty="0"/>
                        <a:t>+15% annually</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12756">
                <a:tc>
                  <a:txBody>
                    <a:bodyPr/>
                    <a:lstStyle/>
                    <a:p>
                      <a:pPr algn="l">
                        <a:lnSpc>
                          <a:spcPts val="1600"/>
                        </a:lnSpc>
                        <a:defRPr sz="1800"/>
                      </a:pPr>
                      <a:r>
                        <a:rPr sz="1300"/>
                        <a:t>Operations</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a:t>+5% annually</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extLst>
                  <a:ext uri="{0D108BD9-81ED-4DB2-BD59-A6C34878D82A}">
                    <a16:rowId xmlns:a16="http://schemas.microsoft.com/office/drawing/2014/main" val="10003"/>
                  </a:ext>
                </a:extLst>
              </a:tr>
              <a:tr h="612756">
                <a:tc>
                  <a:txBody>
                    <a:bodyPr/>
                    <a:lstStyle/>
                    <a:p>
                      <a:pPr algn="l">
                        <a:lnSpc>
                          <a:spcPts val="1600"/>
                        </a:lnSpc>
                        <a:defRPr sz="1800"/>
                      </a:pPr>
                      <a:r>
                        <a:rPr sz="1300"/>
                        <a:t>IT integration</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a:t>+25% annually</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612756">
                <a:tc>
                  <a:txBody>
                    <a:bodyPr/>
                    <a:lstStyle/>
                    <a:p>
                      <a:pPr algn="l">
                        <a:lnSpc>
                          <a:spcPts val="1600"/>
                        </a:lnSpc>
                        <a:defRPr sz="1800"/>
                      </a:pPr>
                      <a:r>
                        <a:rPr sz="1300"/>
                        <a:t>Market expansion</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tc>
                  <a:txBody>
                    <a:bodyPr/>
                    <a:lstStyle/>
                    <a:p>
                      <a:pPr algn="l">
                        <a:lnSpc>
                          <a:spcPts val="1600"/>
                        </a:lnSpc>
                        <a:defRPr sz="1800"/>
                      </a:pPr>
                      <a:r>
                        <a:rPr sz="1300" dirty="0"/>
                        <a:t>N/A</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E8E9F8"/>
                    </a:solidFill>
                  </a:tcPr>
                </a:tc>
                <a:extLst>
                  <a:ext uri="{0D108BD9-81ED-4DB2-BD59-A6C34878D82A}">
                    <a16:rowId xmlns:a16="http://schemas.microsoft.com/office/drawing/2014/main" val="10005"/>
                  </a:ext>
                </a:extLst>
              </a:tr>
              <a:tr h="612756">
                <a:tc>
                  <a:txBody>
                    <a:bodyPr/>
                    <a:lstStyle/>
                    <a:p>
                      <a:pPr algn="l">
                        <a:lnSpc>
                          <a:spcPts val="1600"/>
                        </a:lnSpc>
                        <a:defRPr sz="1800"/>
                      </a:pPr>
                      <a:r>
                        <a:rPr sz="1300"/>
                        <a:t>Implementation gains</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a:t>$number</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tc>
                  <a:txBody>
                    <a:bodyPr/>
                    <a:lstStyle/>
                    <a:p>
                      <a:pPr algn="l">
                        <a:lnSpc>
                          <a:spcPts val="1600"/>
                        </a:lnSpc>
                        <a:defRPr sz="1800"/>
                      </a:pPr>
                      <a:r>
                        <a:rPr sz="1300" dirty="0"/>
                        <a:t>N/A</a:t>
                      </a:r>
                    </a:p>
                  </a:txBody>
                  <a:tcPr marL="182880" marR="45720" anchor="ctr" horzOverflow="overflow">
                    <a:lnL w="38100">
                      <a:noFill/>
                    </a:lnL>
                    <a:lnR w="38100">
                      <a:noFill/>
                    </a:lnR>
                    <a:lnT w="38100">
                      <a:noFill/>
                    </a:lnT>
                    <a:lnB w="38100">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bl>
          </a:graphicData>
        </a:graphic>
      </p:graphicFrame>
      <p:sp>
        <p:nvSpPr>
          <p:cNvPr id="233" name="TextBox 8"/>
          <p:cNvSpPr txBox="1"/>
          <p:nvPr/>
        </p:nvSpPr>
        <p:spPr>
          <a:xfrm>
            <a:off x="558717" y="1106309"/>
            <a:ext cx="3843482"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sz="1800" dirty="0">
                <a:latin typeface="Aptos" panose="020B0004020202020204" pitchFamily="34" charset="0"/>
              </a:rPr>
              <a:t>Quantifying the Value Opportunity</a:t>
            </a:r>
          </a:p>
        </p:txBody>
      </p:sp>
      <p:sp>
        <p:nvSpPr>
          <p:cNvPr id="2" name="Title 16">
            <a:extLst>
              <a:ext uri="{FF2B5EF4-FFF2-40B4-BE49-F238E27FC236}">
                <a16:creationId xmlns:a16="http://schemas.microsoft.com/office/drawing/2014/main" id="{09A7F75D-6B58-41B0-11B1-90EFC1107244}"/>
              </a:ext>
            </a:extLst>
          </p:cNvPr>
          <p:cNvSpPr txBox="1"/>
          <p:nvPr/>
        </p:nvSpPr>
        <p:spPr>
          <a:xfrm>
            <a:off x="558717" y="301752"/>
            <a:ext cx="6354990"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lang="en-US" dirty="0">
                <a:latin typeface="Aptos" panose="020B0004020202020204" pitchFamily="34" charset="0"/>
              </a:rPr>
              <a:t>Financial Impact</a:t>
            </a:r>
            <a:endParaRPr dirty="0">
              <a:latin typeface="Aptos" panose="020B0004020202020204" pitchFamily="34" charset="0"/>
            </a:endParaRPr>
          </a:p>
        </p:txBody>
      </p:sp>
      <p:sp>
        <p:nvSpPr>
          <p:cNvPr id="4" name="Text Placeholder 10">
            <a:extLst>
              <a:ext uri="{FF2B5EF4-FFF2-40B4-BE49-F238E27FC236}">
                <a16:creationId xmlns:a16="http://schemas.microsoft.com/office/drawing/2014/main" id="{120057B2-BF2D-870C-55A8-95ACCEFD77DF}"/>
              </a:ext>
            </a:extLst>
          </p:cNvPr>
          <p:cNvSpPr txBox="1"/>
          <p:nvPr/>
        </p:nvSpPr>
        <p:spPr>
          <a:xfrm>
            <a:off x="8509036" y="2219073"/>
            <a:ext cx="2632576" cy="14639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solidFill>
                  <a:schemeClr val="tx1"/>
                </a:solidFill>
                <a:latin typeface="Aptos" panose="020B0004020202020204" pitchFamily="34" charset="0"/>
              </a:rPr>
              <a:t>Current EBITDA: </a:t>
            </a:r>
            <a:r>
              <a:rPr lang="en-US" b="0" dirty="0">
                <a:solidFill>
                  <a:schemeClr val="tx1"/>
                </a:solidFill>
                <a:latin typeface="+mn-lt"/>
                <a:ea typeface="+mn-ea"/>
                <a:cs typeface="+mn-cs"/>
                <a:sym typeface="Aptos Display"/>
              </a:rPr>
              <a:t>$number</a:t>
            </a:r>
            <a:endParaRPr dirty="0">
              <a:solidFill>
                <a:schemeClr val="tx1"/>
              </a:solidFill>
              <a:latin typeface="Aptos" panose="020B0004020202020204" pitchFamily="34" charset="0"/>
            </a:endParaRP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Annual Operating Costs: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$number</a:t>
            </a:r>
            <a:endPar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endParaRP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Profit Margin: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value%</a:t>
            </a: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Baseline Year: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2</a:t>
            </a:r>
            <a:endPar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endParaRPr>
          </a:p>
        </p:txBody>
      </p:sp>
      <p:sp>
        <p:nvSpPr>
          <p:cNvPr id="5" name="TextBox 8">
            <a:extLst>
              <a:ext uri="{FF2B5EF4-FFF2-40B4-BE49-F238E27FC236}">
                <a16:creationId xmlns:a16="http://schemas.microsoft.com/office/drawing/2014/main" id="{44937B71-70B0-836B-EC65-DEEC86E3D5E9}"/>
              </a:ext>
            </a:extLst>
          </p:cNvPr>
          <p:cNvSpPr txBox="1"/>
          <p:nvPr/>
        </p:nvSpPr>
        <p:spPr>
          <a:xfrm>
            <a:off x="8509036" y="1758589"/>
            <a:ext cx="2632576"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latin typeface="Aptos" panose="020B0004020202020204" pitchFamily="34" charset="0"/>
              </a:rPr>
              <a:t>Baseline Financials</a:t>
            </a:r>
          </a:p>
        </p:txBody>
      </p:sp>
      <p:sp>
        <p:nvSpPr>
          <p:cNvPr id="6" name="Text Placeholder 10">
            <a:extLst>
              <a:ext uri="{FF2B5EF4-FFF2-40B4-BE49-F238E27FC236}">
                <a16:creationId xmlns:a16="http://schemas.microsoft.com/office/drawing/2014/main" id="{C8A040FC-8F9C-E42F-8B23-F46B7567D745}"/>
              </a:ext>
            </a:extLst>
          </p:cNvPr>
          <p:cNvSpPr txBox="1"/>
          <p:nvPr/>
        </p:nvSpPr>
        <p:spPr>
          <a:xfrm>
            <a:off x="8509036" y="4500333"/>
            <a:ext cx="2632576" cy="18506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defTabSz="457200">
              <a:lnSpc>
                <a:spcPct val="110000"/>
              </a:lnSpc>
              <a:spcAft>
                <a:spcPts val="1300"/>
              </a:spcAft>
              <a:defRPr sz="1300" b="1">
                <a:solidFill>
                  <a:srgbClr val="96DCF8"/>
                </a:solidFill>
                <a:latin typeface="Book Antiqua"/>
                <a:ea typeface="Book Antiqua"/>
                <a:cs typeface="Book Antiqua"/>
                <a:sym typeface="Book Antiqua"/>
              </a:defRPr>
            </a:pPr>
            <a:r>
              <a:rPr lang="en-US" dirty="0">
                <a:solidFill>
                  <a:schemeClr val="tx1"/>
                </a:solidFill>
                <a:latin typeface="Aptos" panose="020B0004020202020204" pitchFamily="34" charset="0"/>
              </a:rPr>
              <a:t> Total Savings: </a:t>
            </a:r>
            <a:r>
              <a:rPr lang="en-US" b="0" dirty="0">
                <a:solidFill>
                  <a:schemeClr val="tx1"/>
                </a:solidFill>
                <a:latin typeface="+mn-lt"/>
                <a:ea typeface="+mn-ea"/>
                <a:cs typeface="+mn-cs"/>
                <a:sym typeface="Aptos Display"/>
              </a:rPr>
              <a:t>$number</a:t>
            </a:r>
            <a:endParaRPr dirty="0">
              <a:solidFill>
                <a:schemeClr val="tx1"/>
              </a:solidFill>
              <a:latin typeface="Aptos" panose="020B0004020202020204" pitchFamily="34" charset="0"/>
            </a:endParaRP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Implementation Costs: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$number</a:t>
            </a:r>
            <a:endPar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endParaRP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EBITDA Uplift: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value%</a:t>
            </a:r>
          </a:p>
          <a:p>
            <a:pPr marL="0" marR="0" lvl="0" indent="0" algn="l" defTabSz="457200" rtl="0" eaLnBrk="1" fontAlgn="auto" latinLnBrk="0" hangingPunct="0">
              <a:lnSpc>
                <a:spcPct val="110000"/>
              </a:lnSpc>
              <a:spcBef>
                <a:spcPts val="0"/>
              </a:spcBef>
              <a:spcAft>
                <a:spcPts val="1300"/>
              </a:spcAft>
              <a:buClrTx/>
              <a:buSzTx/>
              <a:buFontTx/>
              <a:buNone/>
              <a:tabLs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ROI: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value%</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Payback </a:t>
            </a:r>
            <a:r>
              <a:rPr lang="en-US" sz="1300" b="1" dirty="0">
                <a:solidFill>
                  <a:schemeClr val="tx1"/>
                </a:solidFill>
                <a:latin typeface="Aptos" panose="020B0004020202020204" pitchFamily="34" charset="0"/>
                <a:sym typeface="Book Antiqua"/>
              </a:rPr>
              <a:t>Month:</a:t>
            </a:r>
            <a:r>
              <a:rPr kumimoji="0" lang="en-US" sz="1300" b="1" i="0" u="none" strike="noStrike" kern="0" cap="none" spc="0" normalizeH="0" baseline="0" noProof="0" dirty="0">
                <a:ln>
                  <a:noFill/>
                </a:ln>
                <a:solidFill>
                  <a:schemeClr val="tx1"/>
                </a:solidFill>
                <a:effectLst/>
                <a:uLnTx/>
                <a:uFillTx/>
                <a:latin typeface="Aptos" panose="020B0004020202020204" pitchFamily="34" charset="0"/>
                <a:sym typeface="Book Antiqua"/>
              </a:rPr>
              <a:t> </a:t>
            </a:r>
            <a:r>
              <a:rPr kumimoji="0" lang="en-US" sz="1300" b="0" i="0" u="none" strike="noStrike" kern="0" cap="none" spc="0" normalizeH="0" baseline="0" noProof="0" dirty="0">
                <a:ln>
                  <a:noFill/>
                </a:ln>
                <a:solidFill>
                  <a:schemeClr val="tx1"/>
                </a:solidFill>
                <a:effectLst/>
                <a:uLnTx/>
                <a:uFillTx/>
                <a:latin typeface="Aptos Display"/>
                <a:ea typeface="+mn-ea"/>
                <a:cs typeface="+mn-cs"/>
                <a:sym typeface="Aptos Display"/>
              </a:rPr>
              <a:t>5</a:t>
            </a:r>
            <a:endParaRPr lang="en-US" sz="1300" dirty="0">
              <a:solidFill>
                <a:schemeClr val="tx1"/>
              </a:solidFill>
              <a:latin typeface="Aptos Display"/>
              <a:sym typeface="Book Antiqua"/>
            </a:endParaRPr>
          </a:p>
        </p:txBody>
      </p:sp>
      <p:sp>
        <p:nvSpPr>
          <p:cNvPr id="7" name="TextBox 8">
            <a:extLst>
              <a:ext uri="{FF2B5EF4-FFF2-40B4-BE49-F238E27FC236}">
                <a16:creationId xmlns:a16="http://schemas.microsoft.com/office/drawing/2014/main" id="{85473845-0FBD-FAB9-EF9A-98806254FD65}"/>
              </a:ext>
            </a:extLst>
          </p:cNvPr>
          <p:cNvSpPr txBox="1"/>
          <p:nvPr/>
        </p:nvSpPr>
        <p:spPr>
          <a:xfrm>
            <a:off x="8509036" y="4039849"/>
            <a:ext cx="2632576"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dirty="0">
                <a:latin typeface="Aptos" panose="020B0004020202020204" pitchFamily="34" charset="0"/>
              </a:rPr>
              <a:t>Net Financial Impact</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243" name="Title 16"/>
          <p:cNvSpPr txBox="1"/>
          <p:nvPr/>
        </p:nvSpPr>
        <p:spPr>
          <a:xfrm>
            <a:off x="525587" y="384199"/>
            <a:ext cx="9156936"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lvl1pPr>
              <a:lnSpc>
                <a:spcPct val="90000"/>
              </a:lnSpc>
              <a:spcBef>
                <a:spcPts val="600"/>
              </a:spcBef>
              <a:defRPr sz="4400" b="1">
                <a:solidFill>
                  <a:srgbClr val="FFFFFF"/>
                </a:solidFill>
                <a:latin typeface="Book Antiqua"/>
                <a:ea typeface="Book Antiqua"/>
                <a:cs typeface="Book Antiqua"/>
                <a:sym typeface="Book Antiqua"/>
              </a:defRPr>
            </a:lvl1pPr>
          </a:lstStyle>
          <a:p>
            <a:r>
              <a:rPr b="0" dirty="0">
                <a:latin typeface="Aptos" panose="020B0004020202020204" pitchFamily="34" charset="0"/>
              </a:rPr>
              <a:t>Risks &amp; Mitigation Plan</a:t>
            </a:r>
          </a:p>
        </p:txBody>
      </p:sp>
      <p:sp>
        <p:nvSpPr>
          <p:cNvPr id="244" name="TextBox 38"/>
          <p:cNvSpPr txBox="1"/>
          <p:nvPr/>
        </p:nvSpPr>
        <p:spPr>
          <a:xfrm>
            <a:off x="534714" y="1086432"/>
            <a:ext cx="8548001"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solidFill>
                  <a:srgbClr val="96DCF8"/>
                </a:solidFill>
                <a:latin typeface="Book Antiqua"/>
                <a:ea typeface="Book Antiqua"/>
                <a:cs typeface="Book Antiqua"/>
                <a:sym typeface="Book Antiqua"/>
              </a:defRPr>
            </a:lvl1pPr>
          </a:lstStyle>
          <a:p>
            <a:r>
              <a:rPr sz="1800" dirty="0">
                <a:latin typeface="Aptos" panose="020B0004020202020204" pitchFamily="34" charset="0"/>
              </a:rPr>
              <a:t>Proactive Risk Management across Operation, Finance, and Organization</a:t>
            </a:r>
          </a:p>
        </p:txBody>
      </p:sp>
      <p:sp>
        <p:nvSpPr>
          <p:cNvPr id="257" name="Rounded Rectangle"/>
          <p:cNvSpPr/>
          <p:nvPr/>
        </p:nvSpPr>
        <p:spPr>
          <a:xfrm>
            <a:off x="3376614" y="4489418"/>
            <a:ext cx="2611320" cy="1282150"/>
          </a:xfrm>
          <a:prstGeom prst="roundRect">
            <a:avLst>
              <a:gd name="adj" fmla="val 5387"/>
            </a:avLst>
          </a:prstGeom>
          <a:solidFill>
            <a:srgbClr val="96DCF8">
              <a:alpha val="25000"/>
            </a:srgbClr>
          </a:solidFill>
          <a:ln w="1905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Define fixed-scope contracts; implement bi-weekly budget tracking and milestone sign-offs.</a:t>
            </a:r>
          </a:p>
        </p:txBody>
      </p:sp>
      <p:sp>
        <p:nvSpPr>
          <p:cNvPr id="260" name="Rounded Rectangle"/>
          <p:cNvSpPr/>
          <p:nvPr/>
        </p:nvSpPr>
        <p:spPr>
          <a:xfrm>
            <a:off x="6186073" y="4489418"/>
            <a:ext cx="2611320" cy="1282150"/>
          </a:xfrm>
          <a:prstGeom prst="roundRect">
            <a:avLst>
              <a:gd name="adj" fmla="val 5368"/>
            </a:avLst>
          </a:prstGeom>
          <a:solidFill>
            <a:srgbClr val="96DCF8">
              <a:alpha val="25000"/>
            </a:srgbClr>
          </a:solidFill>
          <a:ln w="1905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Conduct early training and communication sessions; identify “change champions” in each department.</a:t>
            </a:r>
          </a:p>
        </p:txBody>
      </p:sp>
      <p:sp>
        <p:nvSpPr>
          <p:cNvPr id="263" name="Rounded Rectangle"/>
          <p:cNvSpPr/>
          <p:nvPr/>
        </p:nvSpPr>
        <p:spPr>
          <a:xfrm>
            <a:off x="9008785" y="4489418"/>
            <a:ext cx="2611320" cy="1282150"/>
          </a:xfrm>
          <a:prstGeom prst="roundRect">
            <a:avLst>
              <a:gd name="adj" fmla="val 6624"/>
            </a:avLst>
          </a:prstGeom>
          <a:solidFill>
            <a:srgbClr val="96DCF8">
              <a:alpha val="25000"/>
            </a:srgbClr>
          </a:solidFill>
          <a:ln w="1905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Implement data cleansing protocol during migration; set validation checkpoints pre-launch.</a:t>
            </a:r>
          </a:p>
        </p:txBody>
      </p:sp>
      <p:sp>
        <p:nvSpPr>
          <p:cNvPr id="266" name="Rounded Rectangle"/>
          <p:cNvSpPr/>
          <p:nvPr/>
        </p:nvSpPr>
        <p:spPr>
          <a:xfrm>
            <a:off x="534022" y="4489418"/>
            <a:ext cx="2611319" cy="1282150"/>
          </a:xfrm>
          <a:prstGeom prst="roundRect">
            <a:avLst>
              <a:gd name="adj" fmla="val 4859"/>
            </a:avLst>
          </a:prstGeom>
          <a:solidFill>
            <a:srgbClr val="96DCF8">
              <a:alpha val="25000"/>
            </a:srgbClr>
          </a:solidFill>
          <a:ln w="1905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defRPr sz="1400"/>
            </a:pPr>
            <a:r>
              <a:rPr lang="en-US" sz="1300" dirty="0">
                <a:solidFill>
                  <a:schemeClr val="bg1"/>
                </a:solidFill>
                <a:latin typeface="Aptos" panose="020B0004020202020204" pitchFamily="34" charset="0"/>
              </a:rPr>
              <a:t>Pilot rollout before full deployment; phased transition by region.</a:t>
            </a:r>
          </a:p>
        </p:txBody>
      </p:sp>
      <p:sp>
        <p:nvSpPr>
          <p:cNvPr id="285" name="Rounded Rectangle"/>
          <p:cNvSpPr/>
          <p:nvPr/>
        </p:nvSpPr>
        <p:spPr>
          <a:xfrm>
            <a:off x="557440" y="2427723"/>
            <a:ext cx="2588866" cy="358716"/>
          </a:xfrm>
          <a:prstGeom prst="roundRect">
            <a:avLst>
              <a:gd name="adj" fmla="val 50000"/>
            </a:avLst>
          </a:prstGeom>
          <a:solidFill>
            <a:srgbClr val="C00000"/>
          </a:solidFill>
          <a:ln w="12700" cap="flat">
            <a:noFill/>
            <a:miter lim="400000"/>
          </a:ln>
          <a:effectLst/>
        </p:spPr>
        <p:txBody>
          <a:bodyPr wrap="square" lIns="45719" tIns="45719" rIns="45719" bIns="45719" numCol="1" anchor="ctr">
            <a:noAutofit/>
          </a:bodyPr>
          <a:lstStyle/>
          <a:p>
            <a:pPr algn="ctr" defTabSz="457200">
              <a:lnSpc>
                <a:spcPct val="110000"/>
              </a:lnSpc>
              <a:spcAft>
                <a:spcPts val="600"/>
              </a:spcAft>
              <a:defRPr sz="1400"/>
            </a:pPr>
            <a:r>
              <a:rPr lang="en-US" dirty="0">
                <a:solidFill>
                  <a:schemeClr val="bg1"/>
                </a:solidFill>
                <a:latin typeface="Aptos" panose="020B0004020202020204" pitchFamily="34" charset="0"/>
              </a:rPr>
              <a:t>High Impact</a:t>
            </a:r>
          </a:p>
        </p:txBody>
      </p:sp>
      <p:sp>
        <p:nvSpPr>
          <p:cNvPr id="288" name="Rounded Rectangle"/>
          <p:cNvSpPr/>
          <p:nvPr/>
        </p:nvSpPr>
        <p:spPr>
          <a:xfrm>
            <a:off x="3386778" y="2427721"/>
            <a:ext cx="2588866" cy="358716"/>
          </a:xfrm>
          <a:prstGeom prst="roundRect">
            <a:avLst>
              <a:gd name="adj" fmla="val 50000"/>
            </a:avLst>
          </a:prstGeom>
          <a:solidFill>
            <a:srgbClr val="C00000"/>
          </a:solidFill>
          <a:ln w="12700" cap="flat">
            <a:noFill/>
            <a:miter lim="400000"/>
          </a:ln>
          <a:effectLst/>
        </p:spPr>
        <p:txBody>
          <a:bodyPr wrap="square" lIns="45719" tIns="45719" rIns="45719" bIns="45719" numCol="1" anchor="ctr">
            <a:noAutofit/>
          </a:bodyPr>
          <a:lstStyle/>
          <a:p>
            <a:pPr marL="0" marR="0" lvl="0" indent="0" algn="ctr" defTabSz="457200" rtl="0" eaLnBrk="1" fontAlgn="auto" latinLnBrk="0" hangingPunct="0">
              <a:lnSpc>
                <a:spcPct val="110000"/>
              </a:lnSpc>
              <a:spcBef>
                <a:spcPts val="0"/>
              </a:spcBef>
              <a:spcAft>
                <a:spcPts val="600"/>
              </a:spcAft>
              <a:buClrTx/>
              <a:buSzTx/>
              <a:buFontTx/>
              <a:buNone/>
              <a:tabLst/>
              <a:defRPr sz="1400"/>
            </a:pPr>
            <a:r>
              <a:rPr kumimoji="0" lang="en-US" sz="1400" b="0" i="0" u="none" strike="noStrike" kern="0" cap="none" spc="0" normalizeH="0" baseline="0" noProof="0" dirty="0">
                <a:ln>
                  <a:noFill/>
                </a:ln>
                <a:solidFill>
                  <a:srgbClr val="FFFFFF"/>
                </a:solidFill>
                <a:effectLst/>
                <a:uLnTx/>
                <a:uFillTx/>
                <a:latin typeface="Aptos" panose="020B0004020202020204" pitchFamily="34" charset="0"/>
                <a:sym typeface="Aptos Display"/>
              </a:rPr>
              <a:t>High Impact</a:t>
            </a:r>
          </a:p>
        </p:txBody>
      </p:sp>
      <p:sp>
        <p:nvSpPr>
          <p:cNvPr id="291" name="Rounded Rectangle"/>
          <p:cNvSpPr/>
          <p:nvPr/>
        </p:nvSpPr>
        <p:spPr>
          <a:xfrm>
            <a:off x="6209489" y="2427720"/>
            <a:ext cx="2588867" cy="358716"/>
          </a:xfrm>
          <a:prstGeom prst="roundRect">
            <a:avLst>
              <a:gd name="adj" fmla="val 50000"/>
            </a:avLst>
          </a:prstGeom>
          <a:solidFill>
            <a:srgbClr val="7030A0"/>
          </a:solidFill>
          <a:ln w="12700" cap="flat">
            <a:noFill/>
            <a:miter lim="400000"/>
          </a:ln>
          <a:effectLst/>
        </p:spPr>
        <p:txBody>
          <a:bodyPr wrap="square" lIns="45719" tIns="45719" rIns="45719" bIns="45719" numCol="1" anchor="ctr">
            <a:noAutofit/>
          </a:bodyPr>
          <a:lstStyle/>
          <a:p>
            <a:pPr marL="0" marR="0" lvl="0" indent="0" algn="ctr" defTabSz="457200" rtl="0" eaLnBrk="1" fontAlgn="auto" latinLnBrk="0" hangingPunct="0">
              <a:lnSpc>
                <a:spcPct val="110000"/>
              </a:lnSpc>
              <a:spcBef>
                <a:spcPts val="0"/>
              </a:spcBef>
              <a:spcAft>
                <a:spcPts val="600"/>
              </a:spcAft>
              <a:buClrTx/>
              <a:buSzTx/>
              <a:buFontTx/>
              <a:buNone/>
              <a:tabLst/>
              <a:defRPr sz="1400"/>
            </a:pPr>
            <a:r>
              <a:rPr kumimoji="0" lang="en-US" sz="1400" b="0" i="0" u="none" strike="noStrike" kern="0" cap="none" spc="0" normalizeH="0" baseline="0" noProof="0" dirty="0">
                <a:ln>
                  <a:noFill/>
                </a:ln>
                <a:solidFill>
                  <a:srgbClr val="FFFFFF"/>
                </a:solidFill>
                <a:effectLst/>
                <a:uLnTx/>
                <a:uFillTx/>
                <a:latin typeface="Aptos" panose="020B0004020202020204" pitchFamily="34" charset="0"/>
                <a:sym typeface="Aptos Display"/>
              </a:rPr>
              <a:t>Medium Impact</a:t>
            </a:r>
          </a:p>
        </p:txBody>
      </p:sp>
      <p:sp>
        <p:nvSpPr>
          <p:cNvPr id="294" name="Rounded Rectangle"/>
          <p:cNvSpPr/>
          <p:nvPr/>
        </p:nvSpPr>
        <p:spPr>
          <a:xfrm>
            <a:off x="9032202" y="2427719"/>
            <a:ext cx="2588866" cy="358716"/>
          </a:xfrm>
          <a:prstGeom prst="roundRect">
            <a:avLst>
              <a:gd name="adj" fmla="val 50000"/>
            </a:avLst>
          </a:prstGeom>
          <a:solidFill>
            <a:srgbClr val="00B050"/>
          </a:solidFill>
          <a:ln w="12700" cap="flat">
            <a:noFill/>
            <a:miter lim="400000"/>
          </a:ln>
          <a:effectLst/>
        </p:spPr>
        <p:txBody>
          <a:bodyPr wrap="square" lIns="45719" tIns="45719" rIns="45719" bIns="45719" numCol="1" anchor="ctr">
            <a:noAutofit/>
          </a:bodyPr>
          <a:lstStyle/>
          <a:p>
            <a:pPr marL="0" marR="0" lvl="0" indent="0" algn="ctr" defTabSz="457200" rtl="0" eaLnBrk="1" fontAlgn="auto" latinLnBrk="0" hangingPunct="0">
              <a:lnSpc>
                <a:spcPct val="110000"/>
              </a:lnSpc>
              <a:spcBef>
                <a:spcPts val="0"/>
              </a:spcBef>
              <a:spcAft>
                <a:spcPts val="600"/>
              </a:spcAft>
              <a:buClrTx/>
              <a:buSzTx/>
              <a:buFontTx/>
              <a:buNone/>
              <a:tabLst/>
              <a:defRPr sz="1400"/>
            </a:pPr>
            <a:r>
              <a:rPr kumimoji="0" lang="en-US" sz="1400" b="0" i="0" u="none" strike="noStrike" kern="0" cap="none" spc="0" normalizeH="0" baseline="0" noProof="0" dirty="0">
                <a:ln>
                  <a:noFill/>
                </a:ln>
                <a:solidFill>
                  <a:srgbClr val="FFFFFF"/>
                </a:solidFill>
                <a:effectLst/>
                <a:uLnTx/>
                <a:uFillTx/>
                <a:latin typeface="Aptos" panose="020B0004020202020204" pitchFamily="34" charset="0"/>
                <a:sym typeface="Aptos Display"/>
              </a:rPr>
              <a:t>Low Impact</a:t>
            </a:r>
          </a:p>
        </p:txBody>
      </p:sp>
      <p:sp>
        <p:nvSpPr>
          <p:cNvPr id="2" name="Rounded Rectangle">
            <a:extLst>
              <a:ext uri="{FF2B5EF4-FFF2-40B4-BE49-F238E27FC236}">
                <a16:creationId xmlns:a16="http://schemas.microsoft.com/office/drawing/2014/main" id="{EC9F6B9E-63F0-D390-0563-4B02F57C1E60}"/>
              </a:ext>
            </a:extLst>
          </p:cNvPr>
          <p:cNvSpPr/>
          <p:nvPr/>
        </p:nvSpPr>
        <p:spPr>
          <a:xfrm>
            <a:off x="3376614" y="2933811"/>
            <a:ext cx="2611320" cy="1099545"/>
          </a:xfrm>
          <a:prstGeom prst="roundRect">
            <a:avLst>
              <a:gd name="adj" fmla="val 5387"/>
            </a:avLst>
          </a:prstGeom>
          <a:solidFill>
            <a:srgbClr val="111184"/>
          </a:solidFill>
          <a:ln w="1270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ERP implementation could exceed budget due to scope changes or vendor delays.</a:t>
            </a:r>
          </a:p>
        </p:txBody>
      </p:sp>
      <p:sp>
        <p:nvSpPr>
          <p:cNvPr id="3" name="Rounded Rectangle">
            <a:extLst>
              <a:ext uri="{FF2B5EF4-FFF2-40B4-BE49-F238E27FC236}">
                <a16:creationId xmlns:a16="http://schemas.microsoft.com/office/drawing/2014/main" id="{64F733B4-694A-F3F0-CDDF-771CAB86DDD9}"/>
              </a:ext>
            </a:extLst>
          </p:cNvPr>
          <p:cNvSpPr/>
          <p:nvPr/>
        </p:nvSpPr>
        <p:spPr>
          <a:xfrm>
            <a:off x="6186073" y="2933811"/>
            <a:ext cx="2611320" cy="1099545"/>
          </a:xfrm>
          <a:prstGeom prst="roundRect">
            <a:avLst>
              <a:gd name="adj" fmla="val 5368"/>
            </a:avLst>
          </a:prstGeom>
          <a:solidFill>
            <a:srgbClr val="111184"/>
          </a:solidFill>
          <a:ln w="1270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Frontline adoption of new systems and processes may face pushback.</a:t>
            </a:r>
          </a:p>
        </p:txBody>
      </p:sp>
      <p:sp>
        <p:nvSpPr>
          <p:cNvPr id="4" name="Rounded Rectangle">
            <a:extLst>
              <a:ext uri="{FF2B5EF4-FFF2-40B4-BE49-F238E27FC236}">
                <a16:creationId xmlns:a16="http://schemas.microsoft.com/office/drawing/2014/main" id="{D0A50C23-1B6B-B032-2D71-B30F63471545}"/>
              </a:ext>
            </a:extLst>
          </p:cNvPr>
          <p:cNvSpPr/>
          <p:nvPr/>
        </p:nvSpPr>
        <p:spPr>
          <a:xfrm>
            <a:off x="9008785" y="2933811"/>
            <a:ext cx="2611320" cy="1099545"/>
          </a:xfrm>
          <a:prstGeom prst="roundRect">
            <a:avLst>
              <a:gd name="adj" fmla="val 6624"/>
            </a:avLst>
          </a:prstGeom>
          <a:solidFill>
            <a:srgbClr val="111184"/>
          </a:solidFill>
          <a:ln w="1270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pPr>
            <a:r>
              <a:rPr lang="en-US" sz="1300" dirty="0">
                <a:solidFill>
                  <a:schemeClr val="bg1"/>
                </a:solidFill>
                <a:latin typeface="Aptos" panose="020B0004020202020204" pitchFamily="34" charset="0"/>
              </a:rPr>
              <a:t>Poor legacy data could reduce the effectiveness of analytics and automation.</a:t>
            </a:r>
          </a:p>
        </p:txBody>
      </p:sp>
      <p:sp>
        <p:nvSpPr>
          <p:cNvPr id="5" name="Rounded Rectangle">
            <a:extLst>
              <a:ext uri="{FF2B5EF4-FFF2-40B4-BE49-F238E27FC236}">
                <a16:creationId xmlns:a16="http://schemas.microsoft.com/office/drawing/2014/main" id="{56001E52-61A7-CB62-FF53-75FB2613DE90}"/>
              </a:ext>
            </a:extLst>
          </p:cNvPr>
          <p:cNvSpPr/>
          <p:nvPr/>
        </p:nvSpPr>
        <p:spPr>
          <a:xfrm>
            <a:off x="534022" y="2933811"/>
            <a:ext cx="2611319" cy="1099545"/>
          </a:xfrm>
          <a:prstGeom prst="roundRect">
            <a:avLst>
              <a:gd name="adj" fmla="val 4859"/>
            </a:avLst>
          </a:prstGeom>
          <a:solidFill>
            <a:srgbClr val="111184"/>
          </a:solidFill>
          <a:ln w="19050" cap="flat">
            <a:solidFill>
              <a:schemeClr val="bg1"/>
            </a:solidFill>
            <a:prstDash val="solid"/>
            <a:round/>
          </a:ln>
          <a:effectLst/>
        </p:spPr>
        <p:txBody>
          <a:bodyPr wrap="square" lIns="182880" tIns="182880" rIns="182880" bIns="182880" numCol="1" anchor="t">
            <a:noAutofit/>
          </a:bodyPr>
          <a:lstStyle/>
          <a:p>
            <a:pPr defTabSz="457200">
              <a:lnSpc>
                <a:spcPct val="110000"/>
              </a:lnSpc>
              <a:spcAft>
                <a:spcPts val="600"/>
              </a:spcAft>
              <a:defRPr sz="1400"/>
            </a:pPr>
            <a:r>
              <a:rPr lang="en-US" sz="1300" dirty="0">
                <a:solidFill>
                  <a:schemeClr val="bg1"/>
                </a:solidFill>
                <a:latin typeface="Aptos" panose="020B0004020202020204" pitchFamily="34" charset="0"/>
              </a:rPr>
              <a:t>Transition to new procurement and logistics workflows may temporarily slow fulfillment.</a:t>
            </a:r>
          </a:p>
        </p:txBody>
      </p:sp>
      <p:cxnSp>
        <p:nvCxnSpPr>
          <p:cNvPr id="7" name="Straight Arrow Connector 6">
            <a:extLst>
              <a:ext uri="{FF2B5EF4-FFF2-40B4-BE49-F238E27FC236}">
                <a16:creationId xmlns:a16="http://schemas.microsoft.com/office/drawing/2014/main" id="{EC114FB9-BD2E-DF4C-AE74-1B1BCA80E4AB}"/>
              </a:ext>
            </a:extLst>
          </p:cNvPr>
          <p:cNvCxnSpPr>
            <a:cxnSpLocks/>
            <a:stCxn id="5" idx="2"/>
            <a:endCxn id="266" idx="0"/>
          </p:cNvCxnSpPr>
          <p:nvPr/>
        </p:nvCxnSpPr>
        <p:spPr>
          <a:xfrm>
            <a:off x="1839682" y="4033356"/>
            <a:ext cx="0" cy="456062"/>
          </a:xfrm>
          <a:prstGeom prst="straightConnector1">
            <a:avLst/>
          </a:prstGeom>
          <a:noFill/>
          <a:ln w="19050" cap="flat">
            <a:solidFill>
              <a:schemeClr val="bg1"/>
            </a:solidFill>
            <a:prstDash val="solid"/>
            <a:miter lim="800000"/>
            <a:tailEnd type="arrow" w="lg" len="med"/>
          </a:ln>
          <a:effectLst/>
          <a:sp3d/>
        </p:spPr>
        <p:style>
          <a:lnRef idx="0">
            <a:scrgbClr r="0" g="0" b="0"/>
          </a:lnRef>
          <a:fillRef idx="0">
            <a:scrgbClr r="0" g="0" b="0"/>
          </a:fillRef>
          <a:effectRef idx="0">
            <a:scrgbClr r="0" g="0" b="0"/>
          </a:effectRef>
          <a:fontRef idx="none"/>
        </p:style>
      </p:cxnSp>
      <p:cxnSp>
        <p:nvCxnSpPr>
          <p:cNvPr id="11" name="Straight Arrow Connector 10">
            <a:extLst>
              <a:ext uri="{FF2B5EF4-FFF2-40B4-BE49-F238E27FC236}">
                <a16:creationId xmlns:a16="http://schemas.microsoft.com/office/drawing/2014/main" id="{B39C56F4-AF73-2211-769D-FAEAC620FD06}"/>
              </a:ext>
            </a:extLst>
          </p:cNvPr>
          <p:cNvCxnSpPr>
            <a:cxnSpLocks/>
            <a:stCxn id="2" idx="2"/>
            <a:endCxn id="257" idx="0"/>
          </p:cNvCxnSpPr>
          <p:nvPr/>
        </p:nvCxnSpPr>
        <p:spPr>
          <a:xfrm>
            <a:off x="4682274" y="4033356"/>
            <a:ext cx="0" cy="456062"/>
          </a:xfrm>
          <a:prstGeom prst="straightConnector1">
            <a:avLst/>
          </a:prstGeom>
          <a:noFill/>
          <a:ln w="19050" cap="flat">
            <a:solidFill>
              <a:schemeClr val="bg1"/>
            </a:solidFill>
            <a:prstDash val="solid"/>
            <a:miter lim="800000"/>
            <a:tailEnd type="arrow" w="lg" len="med"/>
          </a:ln>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09F1D41D-5E91-101C-9C82-2BEEFA700C98}"/>
              </a:ext>
            </a:extLst>
          </p:cNvPr>
          <p:cNvCxnSpPr>
            <a:cxnSpLocks/>
            <a:stCxn id="3" idx="2"/>
            <a:endCxn id="260" idx="0"/>
          </p:cNvCxnSpPr>
          <p:nvPr/>
        </p:nvCxnSpPr>
        <p:spPr>
          <a:xfrm>
            <a:off x="7491733" y="4033356"/>
            <a:ext cx="0" cy="456062"/>
          </a:xfrm>
          <a:prstGeom prst="straightConnector1">
            <a:avLst/>
          </a:prstGeom>
          <a:noFill/>
          <a:ln w="19050" cap="flat">
            <a:solidFill>
              <a:schemeClr val="bg1"/>
            </a:solidFill>
            <a:prstDash val="solid"/>
            <a:miter lim="800000"/>
            <a:tailEnd type="arrow" w="lg" len="med"/>
          </a:ln>
          <a:effectLst/>
          <a:sp3d/>
        </p:spPr>
        <p:style>
          <a:lnRef idx="0">
            <a:scrgbClr r="0" g="0" b="0"/>
          </a:lnRef>
          <a:fillRef idx="0">
            <a:scrgbClr r="0" g="0" b="0"/>
          </a:fillRef>
          <a:effectRef idx="0">
            <a:scrgbClr r="0" g="0" b="0"/>
          </a:effectRef>
          <a:fontRef idx="none"/>
        </p:style>
      </p:cxnSp>
      <p:cxnSp>
        <p:nvCxnSpPr>
          <p:cNvPr id="17" name="Straight Arrow Connector 16">
            <a:extLst>
              <a:ext uri="{FF2B5EF4-FFF2-40B4-BE49-F238E27FC236}">
                <a16:creationId xmlns:a16="http://schemas.microsoft.com/office/drawing/2014/main" id="{8253006C-FF5D-A0C0-D095-5E4C7552E1E8}"/>
              </a:ext>
            </a:extLst>
          </p:cNvPr>
          <p:cNvCxnSpPr>
            <a:cxnSpLocks/>
            <a:stCxn id="4" idx="2"/>
            <a:endCxn id="263" idx="0"/>
          </p:cNvCxnSpPr>
          <p:nvPr/>
        </p:nvCxnSpPr>
        <p:spPr>
          <a:xfrm>
            <a:off x="10314445" y="4033356"/>
            <a:ext cx="0" cy="456062"/>
          </a:xfrm>
          <a:prstGeom prst="straightConnector1">
            <a:avLst/>
          </a:prstGeom>
          <a:noFill/>
          <a:ln w="19050" cap="flat">
            <a:solidFill>
              <a:schemeClr val="bg1"/>
            </a:solidFill>
            <a:prstDash val="solid"/>
            <a:miter lim="800000"/>
            <a:tailEnd type="arrow" w="lg" len="med"/>
          </a:ln>
          <a:effectLst/>
          <a:sp3d/>
        </p:spPr>
        <p:style>
          <a:lnRef idx="0">
            <a:scrgbClr r="0" g="0" b="0"/>
          </a:lnRef>
          <a:fillRef idx="0">
            <a:scrgbClr r="0" g="0" b="0"/>
          </a:fillRef>
          <a:effectRef idx="0">
            <a:scrgbClr r="0" g="0" b="0"/>
          </a:effectRef>
          <a:fontRef idx="none"/>
        </p:style>
      </p:cxnSp>
      <p:sp>
        <p:nvSpPr>
          <p:cNvPr id="20" name="Current Context">
            <a:extLst>
              <a:ext uri="{FF2B5EF4-FFF2-40B4-BE49-F238E27FC236}">
                <a16:creationId xmlns:a16="http://schemas.microsoft.com/office/drawing/2014/main" id="{C6F6B156-F78A-8182-1720-B2AD4E2C1FA3}"/>
              </a:ext>
            </a:extLst>
          </p:cNvPr>
          <p:cNvSpPr txBox="1"/>
          <p:nvPr/>
        </p:nvSpPr>
        <p:spPr>
          <a:xfrm>
            <a:off x="545248" y="1934457"/>
            <a:ext cx="2588866"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chemeClr val="bg1"/>
                </a:solidFill>
              </a:rPr>
              <a:t>Operational Distribution</a:t>
            </a:r>
          </a:p>
        </p:txBody>
      </p:sp>
      <p:sp>
        <p:nvSpPr>
          <p:cNvPr id="21" name="Current Context">
            <a:extLst>
              <a:ext uri="{FF2B5EF4-FFF2-40B4-BE49-F238E27FC236}">
                <a16:creationId xmlns:a16="http://schemas.microsoft.com/office/drawing/2014/main" id="{F7427410-4B78-42C1-7EC2-C90B90EABD8C}"/>
              </a:ext>
            </a:extLst>
          </p:cNvPr>
          <p:cNvSpPr txBox="1"/>
          <p:nvPr/>
        </p:nvSpPr>
        <p:spPr>
          <a:xfrm>
            <a:off x="3386778" y="1934457"/>
            <a:ext cx="2588866"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chemeClr val="bg1"/>
                </a:solidFill>
              </a:rPr>
              <a:t>Cost Overrun in Integration</a:t>
            </a:r>
          </a:p>
        </p:txBody>
      </p:sp>
      <p:sp>
        <p:nvSpPr>
          <p:cNvPr id="22" name="Current Context">
            <a:extLst>
              <a:ext uri="{FF2B5EF4-FFF2-40B4-BE49-F238E27FC236}">
                <a16:creationId xmlns:a16="http://schemas.microsoft.com/office/drawing/2014/main" id="{32C3C340-0F83-98F5-10BA-974293EFD971}"/>
              </a:ext>
            </a:extLst>
          </p:cNvPr>
          <p:cNvSpPr txBox="1"/>
          <p:nvPr/>
        </p:nvSpPr>
        <p:spPr>
          <a:xfrm>
            <a:off x="6096000" y="1938685"/>
            <a:ext cx="2588866"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chemeClr val="bg1"/>
                </a:solidFill>
              </a:rPr>
              <a:t>Employees Cooperations</a:t>
            </a:r>
          </a:p>
        </p:txBody>
      </p:sp>
      <p:sp>
        <p:nvSpPr>
          <p:cNvPr id="23" name="Current Context">
            <a:extLst>
              <a:ext uri="{FF2B5EF4-FFF2-40B4-BE49-F238E27FC236}">
                <a16:creationId xmlns:a16="http://schemas.microsoft.com/office/drawing/2014/main" id="{C77E1086-9125-7FCB-77F2-6D46667F2013}"/>
              </a:ext>
            </a:extLst>
          </p:cNvPr>
          <p:cNvSpPr txBox="1"/>
          <p:nvPr/>
        </p:nvSpPr>
        <p:spPr>
          <a:xfrm>
            <a:off x="8937530" y="1938685"/>
            <a:ext cx="2588866"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chemeClr val="bg1"/>
                </a:solidFill>
              </a:rPr>
              <a:t>Data Quality Issues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a:stretch>
        </a:blipFill>
        <a:effectLst/>
      </p:bgPr>
    </p:bg>
    <p:spTree>
      <p:nvGrpSpPr>
        <p:cNvPr id="1" name=""/>
        <p:cNvGrpSpPr/>
        <p:nvPr/>
      </p:nvGrpSpPr>
      <p:grpSpPr>
        <a:xfrm>
          <a:off x="0" y="0"/>
          <a:ext cx="0" cy="0"/>
          <a:chOff x="0" y="0"/>
          <a:chExt cx="0" cy="0"/>
        </a:xfrm>
      </p:grpSpPr>
      <p:sp>
        <p:nvSpPr>
          <p:cNvPr id="298" name="Rectangle 51"/>
          <p:cNvSpPr/>
          <p:nvPr/>
        </p:nvSpPr>
        <p:spPr>
          <a:xfrm rot="10800000" flipH="1">
            <a:off x="10337759" y="4129956"/>
            <a:ext cx="1846758" cy="51833"/>
          </a:xfrm>
          <a:prstGeom prst="rect">
            <a:avLst/>
          </a:prstGeom>
          <a:solidFill>
            <a:srgbClr val="D1D1D1"/>
          </a:solidFill>
          <a:ln w="12700">
            <a:miter lim="400000"/>
          </a:ln>
        </p:spPr>
        <p:txBody>
          <a:bodyPr lIns="45719" rIns="45719" anchor="ctr"/>
          <a:lstStyle/>
          <a:p>
            <a:pPr algn="ctr">
              <a:defRPr>
                <a:solidFill>
                  <a:srgbClr val="FFFFFF"/>
                </a:solidFill>
              </a:defRPr>
            </a:pPr>
            <a:endParaRPr/>
          </a:p>
        </p:txBody>
      </p:sp>
      <p:sp>
        <p:nvSpPr>
          <p:cNvPr id="299" name="Rectangle 50"/>
          <p:cNvSpPr/>
          <p:nvPr/>
        </p:nvSpPr>
        <p:spPr>
          <a:xfrm rot="10800000" flipH="1">
            <a:off x="-4547" y="4148392"/>
            <a:ext cx="1926646" cy="39543"/>
          </a:xfrm>
          <a:prstGeom prst="rect">
            <a:avLst/>
          </a:prstGeom>
          <a:solidFill>
            <a:srgbClr val="D1D1D1"/>
          </a:solidFill>
          <a:ln w="12700">
            <a:miter lim="400000"/>
          </a:ln>
        </p:spPr>
        <p:txBody>
          <a:bodyPr lIns="45719" rIns="45719" anchor="ctr"/>
          <a:lstStyle/>
          <a:p>
            <a:pPr algn="ctr">
              <a:defRPr>
                <a:solidFill>
                  <a:srgbClr val="FFFFFF"/>
                </a:solidFill>
              </a:defRPr>
            </a:pPr>
            <a:endParaRPr/>
          </a:p>
        </p:txBody>
      </p:sp>
      <p:sp>
        <p:nvSpPr>
          <p:cNvPr id="302" name="Oval 5"/>
          <p:cNvSpPr/>
          <p:nvPr/>
        </p:nvSpPr>
        <p:spPr>
          <a:xfrm>
            <a:off x="1921243" y="4038527"/>
            <a:ext cx="257190" cy="256229"/>
          </a:xfrm>
          <a:prstGeom prst="ellipse">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3" name="Rectangle 14"/>
          <p:cNvSpPr/>
          <p:nvPr/>
        </p:nvSpPr>
        <p:spPr>
          <a:xfrm rot="10800000" flipH="1">
            <a:off x="2158552" y="4142247"/>
            <a:ext cx="2485853" cy="27253"/>
          </a:xfrm>
          <a:prstGeom prst="rect">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4" name="Oval 27"/>
          <p:cNvSpPr/>
          <p:nvPr/>
        </p:nvSpPr>
        <p:spPr>
          <a:xfrm>
            <a:off x="4661984" y="4032380"/>
            <a:ext cx="257191" cy="256230"/>
          </a:xfrm>
          <a:prstGeom prst="ellipse">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5" name="Rectangle 28"/>
          <p:cNvSpPr/>
          <p:nvPr/>
        </p:nvSpPr>
        <p:spPr>
          <a:xfrm rot="10800000" flipH="1">
            <a:off x="4899292" y="4136102"/>
            <a:ext cx="2485854" cy="27253"/>
          </a:xfrm>
          <a:prstGeom prst="rect">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6" name="Oval 29"/>
          <p:cNvSpPr/>
          <p:nvPr/>
        </p:nvSpPr>
        <p:spPr>
          <a:xfrm>
            <a:off x="7359708" y="4026234"/>
            <a:ext cx="257191" cy="256229"/>
          </a:xfrm>
          <a:prstGeom prst="ellipse">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7" name="Rectangle 30"/>
          <p:cNvSpPr/>
          <p:nvPr/>
        </p:nvSpPr>
        <p:spPr>
          <a:xfrm rot="10800000" flipH="1">
            <a:off x="7597017" y="4129956"/>
            <a:ext cx="2485854" cy="27253"/>
          </a:xfrm>
          <a:prstGeom prst="rect">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08" name="Oval 31"/>
          <p:cNvSpPr/>
          <p:nvPr/>
        </p:nvSpPr>
        <p:spPr>
          <a:xfrm>
            <a:off x="10088160" y="4020089"/>
            <a:ext cx="257191" cy="256229"/>
          </a:xfrm>
          <a:prstGeom prst="ellipse">
            <a:avLst/>
          </a:prstGeom>
          <a:solidFill>
            <a:srgbClr val="111184"/>
          </a:solidFill>
          <a:ln w="19050">
            <a:solidFill>
              <a:srgbClr val="111184"/>
            </a:solidFill>
            <a:miter/>
          </a:ln>
        </p:spPr>
        <p:txBody>
          <a:bodyPr lIns="45719" rIns="45719" anchor="ctr"/>
          <a:lstStyle/>
          <a:p>
            <a:pPr algn="ctr">
              <a:defRPr>
                <a:solidFill>
                  <a:srgbClr val="FFFFFF"/>
                </a:solidFill>
              </a:defRPr>
            </a:pPr>
            <a:endParaRPr/>
          </a:p>
        </p:txBody>
      </p:sp>
      <p:sp>
        <p:nvSpPr>
          <p:cNvPr id="321" name="Rounded Rectangle"/>
          <p:cNvSpPr/>
          <p:nvPr/>
        </p:nvSpPr>
        <p:spPr>
          <a:xfrm>
            <a:off x="1068087" y="2630640"/>
            <a:ext cx="2421562" cy="379555"/>
          </a:xfrm>
          <a:prstGeom prst="roundRect">
            <a:avLst>
              <a:gd name="adj" fmla="val 50000"/>
            </a:avLst>
          </a:prstGeom>
          <a:solidFill>
            <a:srgbClr val="111184"/>
          </a:solidFill>
          <a:ln w="28575" cap="flat">
            <a:solidFill>
              <a:srgbClr val="FFFFFF"/>
            </a:solidFill>
            <a:prstDash val="solid"/>
            <a:round/>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22" name="Quick Wins Rollout"/>
          <p:cNvSpPr txBox="1"/>
          <p:nvPr/>
        </p:nvSpPr>
        <p:spPr>
          <a:xfrm>
            <a:off x="1068087" y="2673096"/>
            <a:ext cx="2421561" cy="29464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300">
                <a:solidFill>
                  <a:srgbClr val="FFFFFF"/>
                </a:solidFill>
                <a:latin typeface="Aptos SemiBold"/>
                <a:ea typeface="Aptos SemiBold"/>
                <a:cs typeface="Aptos SemiBold"/>
                <a:sym typeface="Aptos SemiBold"/>
              </a:defRPr>
            </a:lvl1pPr>
          </a:lstStyle>
          <a:p>
            <a:r>
              <a:t>Quick Wins Rollout</a:t>
            </a:r>
          </a:p>
        </p:txBody>
      </p:sp>
      <p:sp>
        <p:nvSpPr>
          <p:cNvPr id="324" name="Rounded Rectangle"/>
          <p:cNvSpPr/>
          <p:nvPr/>
        </p:nvSpPr>
        <p:spPr>
          <a:xfrm>
            <a:off x="3605240" y="4582406"/>
            <a:ext cx="2243465" cy="379556"/>
          </a:xfrm>
          <a:prstGeom prst="roundRect">
            <a:avLst>
              <a:gd name="adj" fmla="val 50000"/>
            </a:avLst>
          </a:prstGeom>
          <a:solidFill>
            <a:srgbClr val="4E95D9"/>
          </a:solidFill>
          <a:ln w="28575" cap="flat">
            <a:solidFill>
              <a:srgbClr val="FFFFFF"/>
            </a:solidFill>
            <a:prstDash val="solid"/>
            <a:round/>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25" name="ERP Integration"/>
          <p:cNvSpPr txBox="1"/>
          <p:nvPr/>
        </p:nvSpPr>
        <p:spPr>
          <a:xfrm>
            <a:off x="3605240" y="4624862"/>
            <a:ext cx="2243465" cy="29464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300">
                <a:solidFill>
                  <a:srgbClr val="FFFFFF"/>
                </a:solidFill>
                <a:latin typeface="Aptos SemiBold"/>
                <a:ea typeface="Aptos SemiBold"/>
                <a:cs typeface="Aptos SemiBold"/>
                <a:sym typeface="Aptos SemiBold"/>
              </a:defRPr>
            </a:lvl1pPr>
          </a:lstStyle>
          <a:p>
            <a:r>
              <a:rPr dirty="0"/>
              <a:t>ERP Integration</a:t>
            </a:r>
          </a:p>
        </p:txBody>
      </p:sp>
      <p:sp>
        <p:nvSpPr>
          <p:cNvPr id="327" name="Rounded Rectangle"/>
          <p:cNvSpPr/>
          <p:nvPr/>
        </p:nvSpPr>
        <p:spPr>
          <a:xfrm>
            <a:off x="6240122" y="2636784"/>
            <a:ext cx="2421562" cy="373411"/>
          </a:xfrm>
          <a:prstGeom prst="roundRect">
            <a:avLst>
              <a:gd name="adj" fmla="val 50000"/>
            </a:avLst>
          </a:prstGeom>
          <a:solidFill>
            <a:srgbClr val="00B050"/>
          </a:solidFill>
          <a:ln w="28575" cap="flat">
            <a:solidFill>
              <a:srgbClr val="FFFFFF"/>
            </a:solidFill>
            <a:prstDash val="solid"/>
            <a:round/>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28" name="Automation Expansion"/>
          <p:cNvSpPr txBox="1"/>
          <p:nvPr/>
        </p:nvSpPr>
        <p:spPr>
          <a:xfrm>
            <a:off x="6240122" y="2676168"/>
            <a:ext cx="2421562" cy="29464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300">
                <a:solidFill>
                  <a:srgbClr val="FFFFFF"/>
                </a:solidFill>
                <a:latin typeface="Aptos SemiBold"/>
                <a:ea typeface="Aptos SemiBold"/>
                <a:cs typeface="Aptos SemiBold"/>
                <a:sym typeface="Aptos SemiBold"/>
              </a:defRPr>
            </a:lvl1pPr>
          </a:lstStyle>
          <a:p>
            <a:r>
              <a:rPr dirty="0"/>
              <a:t>Automation Expansion</a:t>
            </a:r>
          </a:p>
        </p:txBody>
      </p:sp>
      <p:sp>
        <p:nvSpPr>
          <p:cNvPr id="330" name="Rounded Rectangle"/>
          <p:cNvSpPr/>
          <p:nvPr/>
        </p:nvSpPr>
        <p:spPr>
          <a:xfrm>
            <a:off x="9031361" y="4595511"/>
            <a:ext cx="2243465" cy="379556"/>
          </a:xfrm>
          <a:prstGeom prst="roundRect">
            <a:avLst>
              <a:gd name="adj" fmla="val 50000"/>
            </a:avLst>
          </a:prstGeom>
          <a:solidFill>
            <a:srgbClr val="7030A0"/>
          </a:solidFill>
          <a:ln w="28575" cap="flat">
            <a:solidFill>
              <a:srgbClr val="FFFFFF"/>
            </a:solidFill>
            <a:prstDash val="solid"/>
            <a:round/>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31" name="Change Management"/>
          <p:cNvSpPr txBox="1"/>
          <p:nvPr/>
        </p:nvSpPr>
        <p:spPr>
          <a:xfrm>
            <a:off x="9031361" y="4637967"/>
            <a:ext cx="2243465" cy="29464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300">
                <a:solidFill>
                  <a:srgbClr val="FFFFFF"/>
                </a:solidFill>
                <a:latin typeface="Aptos SemiBold"/>
                <a:ea typeface="Aptos SemiBold"/>
                <a:cs typeface="Aptos SemiBold"/>
                <a:sym typeface="Aptos SemiBold"/>
              </a:defRPr>
            </a:lvl1pPr>
          </a:lstStyle>
          <a:p>
            <a:r>
              <a:rPr dirty="0"/>
              <a:t>Change Management</a:t>
            </a:r>
          </a:p>
        </p:txBody>
      </p:sp>
      <p:sp>
        <p:nvSpPr>
          <p:cNvPr id="333" name="Text Placeholder 10"/>
          <p:cNvSpPr txBox="1"/>
          <p:nvPr/>
        </p:nvSpPr>
        <p:spPr>
          <a:xfrm>
            <a:off x="451990" y="3117781"/>
            <a:ext cx="3241531"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1300"/>
            </a:pPr>
            <a:r>
              <a:rPr dirty="0"/>
              <a:t>Supply Chain &amp; Inventory Pilot</a:t>
            </a:r>
            <a:endParaRPr dirty="0">
              <a:solidFill>
                <a:srgbClr val="111184"/>
              </a:solidFill>
              <a:latin typeface="Aptos" panose="020B0004020202020204" pitchFamily="34" charset="0"/>
              <a:ea typeface="Book Antiqua"/>
              <a:cs typeface="Book Antiqua"/>
              <a:sym typeface="Book Antiqua"/>
            </a:endParaRPr>
          </a:p>
          <a:p>
            <a:pPr algn="ctr" defTabSz="457200">
              <a:defRPr sz="1300"/>
            </a:pPr>
            <a:r>
              <a:rPr dirty="0"/>
              <a:t>Implement AI-driven forecasting pilot</a:t>
            </a:r>
            <a:br>
              <a:rPr dirty="0"/>
            </a:br>
            <a:r>
              <a:rPr dirty="0"/>
              <a:t>Optimize reorder points for top 20 SKUs</a:t>
            </a:r>
          </a:p>
        </p:txBody>
      </p:sp>
      <p:sp>
        <p:nvSpPr>
          <p:cNvPr id="334" name="Text Placeholder 10"/>
          <p:cNvSpPr txBox="1"/>
          <p:nvPr/>
        </p:nvSpPr>
        <p:spPr>
          <a:xfrm>
            <a:off x="3162431" y="5081017"/>
            <a:ext cx="3192370"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1300"/>
            </a:pPr>
            <a:r>
              <a:rPr dirty="0"/>
              <a:t>Systems &amp; Process Alignment</a:t>
            </a:r>
            <a:endParaRPr dirty="0">
              <a:solidFill>
                <a:srgbClr val="FFFFFF"/>
              </a:solidFill>
            </a:endParaRPr>
          </a:p>
          <a:p>
            <a:pPr algn="ctr" defTabSz="457200">
              <a:defRPr sz="1300"/>
            </a:pPr>
            <a:r>
              <a:rPr dirty="0"/>
              <a:t>Integrate ERP module logistics </a:t>
            </a:r>
            <a:endParaRPr dirty="0">
              <a:solidFill>
                <a:srgbClr val="FFFFFF"/>
              </a:solidFill>
            </a:endParaRPr>
          </a:p>
          <a:p>
            <a:pPr algn="ctr" defTabSz="457200">
              <a:defRPr sz="1300"/>
            </a:pPr>
            <a:r>
              <a:rPr dirty="0"/>
              <a:t>Begin workflow data centralization</a:t>
            </a:r>
          </a:p>
        </p:txBody>
      </p:sp>
      <p:sp>
        <p:nvSpPr>
          <p:cNvPr id="335" name="Text Placeholder 10"/>
          <p:cNvSpPr txBox="1"/>
          <p:nvPr/>
        </p:nvSpPr>
        <p:spPr>
          <a:xfrm>
            <a:off x="5883178" y="3117781"/>
            <a:ext cx="3241530"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1300"/>
            </a:pPr>
            <a:r>
              <a:rPr dirty="0"/>
              <a:t>Operational Scale-Up</a:t>
            </a:r>
            <a:endParaRPr dirty="0">
              <a:solidFill>
                <a:srgbClr val="FFFFFF"/>
              </a:solidFill>
            </a:endParaRPr>
          </a:p>
          <a:p>
            <a:pPr algn="ctr" defTabSz="457200">
              <a:defRPr sz="1300"/>
            </a:pPr>
            <a:r>
              <a:rPr dirty="0"/>
              <a:t>Extend automation to reporting</a:t>
            </a:r>
            <a:endParaRPr dirty="0">
              <a:solidFill>
                <a:srgbClr val="FFFFFF"/>
              </a:solidFill>
            </a:endParaRPr>
          </a:p>
          <a:p>
            <a:pPr algn="ctr" defTabSz="457200">
              <a:defRPr sz="1300"/>
            </a:pPr>
            <a:r>
              <a:rPr dirty="0"/>
              <a:t>Launch performance dashboard</a:t>
            </a:r>
          </a:p>
        </p:txBody>
      </p:sp>
      <p:sp>
        <p:nvSpPr>
          <p:cNvPr id="336" name="Text Placeholder 10"/>
          <p:cNvSpPr txBox="1"/>
          <p:nvPr/>
        </p:nvSpPr>
        <p:spPr>
          <a:xfrm>
            <a:off x="8588609" y="5094122"/>
            <a:ext cx="3241530"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defTabSz="457200">
              <a:defRPr sz="1300"/>
            </a:pPr>
            <a:r>
              <a:rPr dirty="0"/>
              <a:t>Capability Building</a:t>
            </a:r>
            <a:endParaRPr dirty="0">
              <a:solidFill>
                <a:srgbClr val="FFFFFF"/>
              </a:solidFill>
            </a:endParaRPr>
          </a:p>
          <a:p>
            <a:pPr algn="ctr" defTabSz="457200">
              <a:defRPr sz="1300"/>
            </a:pPr>
            <a:r>
              <a:rPr dirty="0"/>
              <a:t>Conduct organization-wide training</a:t>
            </a:r>
          </a:p>
          <a:p>
            <a:pPr algn="ctr" defTabSz="457200">
              <a:defRPr sz="1300"/>
            </a:pPr>
            <a:r>
              <a:rPr dirty="0"/>
              <a:t>Embed SOPs and performance reviews</a:t>
            </a:r>
          </a:p>
        </p:txBody>
      </p:sp>
      <p:sp>
        <p:nvSpPr>
          <p:cNvPr id="2" name="Title 16">
            <a:extLst>
              <a:ext uri="{FF2B5EF4-FFF2-40B4-BE49-F238E27FC236}">
                <a16:creationId xmlns:a16="http://schemas.microsoft.com/office/drawing/2014/main" id="{CDF6130B-758A-F17A-47D0-2E2414BC73F4}"/>
              </a:ext>
            </a:extLst>
          </p:cNvPr>
          <p:cNvSpPr txBox="1"/>
          <p:nvPr/>
        </p:nvSpPr>
        <p:spPr>
          <a:xfrm>
            <a:off x="558717" y="301752"/>
            <a:ext cx="4718677"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lang="en-US" dirty="0">
                <a:latin typeface="Aptos" panose="020B0004020202020204" pitchFamily="34" charset="0"/>
              </a:rPr>
              <a:t>Project Roadmap</a:t>
            </a:r>
            <a:endParaRPr dirty="0">
              <a:latin typeface="Aptos" panose="020B0004020202020204" pitchFamily="34" charset="0"/>
            </a:endParaRPr>
          </a:p>
        </p:txBody>
      </p:sp>
      <p:sp>
        <p:nvSpPr>
          <p:cNvPr id="3" name="Current Context">
            <a:extLst>
              <a:ext uri="{FF2B5EF4-FFF2-40B4-BE49-F238E27FC236}">
                <a16:creationId xmlns:a16="http://schemas.microsoft.com/office/drawing/2014/main" id="{808217F5-9FCE-B9F4-527B-D077A5E1E8BB}"/>
              </a:ext>
            </a:extLst>
          </p:cNvPr>
          <p:cNvSpPr txBox="1"/>
          <p:nvPr/>
        </p:nvSpPr>
        <p:spPr>
          <a:xfrm>
            <a:off x="1211005" y="4459270"/>
            <a:ext cx="1677665"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rgbClr val="111184"/>
                </a:solidFill>
              </a:rPr>
              <a:t>Q1</a:t>
            </a:r>
          </a:p>
        </p:txBody>
      </p:sp>
      <p:sp>
        <p:nvSpPr>
          <p:cNvPr id="4" name="Current Context">
            <a:extLst>
              <a:ext uri="{FF2B5EF4-FFF2-40B4-BE49-F238E27FC236}">
                <a16:creationId xmlns:a16="http://schemas.microsoft.com/office/drawing/2014/main" id="{4639BB93-EF34-01D6-F593-426A973CB36A}"/>
              </a:ext>
            </a:extLst>
          </p:cNvPr>
          <p:cNvSpPr txBox="1"/>
          <p:nvPr/>
        </p:nvSpPr>
        <p:spPr>
          <a:xfrm>
            <a:off x="3949517" y="3593123"/>
            <a:ext cx="1677665"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rgbClr val="111184"/>
                </a:solidFill>
              </a:rPr>
              <a:t>Q2</a:t>
            </a:r>
          </a:p>
        </p:txBody>
      </p:sp>
      <p:sp>
        <p:nvSpPr>
          <p:cNvPr id="5" name="Current Context">
            <a:extLst>
              <a:ext uri="{FF2B5EF4-FFF2-40B4-BE49-F238E27FC236}">
                <a16:creationId xmlns:a16="http://schemas.microsoft.com/office/drawing/2014/main" id="{3DECBFE2-1CBB-F728-590D-641B94258D66}"/>
              </a:ext>
            </a:extLst>
          </p:cNvPr>
          <p:cNvSpPr txBox="1"/>
          <p:nvPr/>
        </p:nvSpPr>
        <p:spPr>
          <a:xfrm>
            <a:off x="6647241" y="4459270"/>
            <a:ext cx="1677665"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rgbClr val="111184"/>
                </a:solidFill>
              </a:rPr>
              <a:t>Q3</a:t>
            </a:r>
          </a:p>
        </p:txBody>
      </p:sp>
      <p:sp>
        <p:nvSpPr>
          <p:cNvPr id="6" name="Current Context">
            <a:extLst>
              <a:ext uri="{FF2B5EF4-FFF2-40B4-BE49-F238E27FC236}">
                <a16:creationId xmlns:a16="http://schemas.microsoft.com/office/drawing/2014/main" id="{10783CA5-B050-AF34-1186-585583230EAE}"/>
              </a:ext>
            </a:extLst>
          </p:cNvPr>
          <p:cNvSpPr txBox="1"/>
          <p:nvPr/>
        </p:nvSpPr>
        <p:spPr>
          <a:xfrm>
            <a:off x="9380704" y="3470012"/>
            <a:ext cx="1677665" cy="24622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a:solidFill>
                  <a:srgbClr val="FFFFFF"/>
                </a:solidFill>
                <a:latin typeface="Aptos SemiBold"/>
                <a:ea typeface="Aptos SemiBold"/>
                <a:cs typeface="Aptos SemiBold"/>
                <a:sym typeface="Aptos SemiBold"/>
              </a:defRPr>
            </a:lvl1pPr>
          </a:lstStyle>
          <a:p>
            <a:r>
              <a:rPr lang="en-US" sz="1600" dirty="0">
                <a:solidFill>
                  <a:srgbClr val="111184"/>
                </a:solidFill>
              </a:rPr>
              <a:t>Q4</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0000"/>
            <a:lum/>
          </a:blip>
          <a:srcRect/>
          <a:stretch>
            <a:fillRect/>
          </a:stretch>
        </a:blipFill>
        <a:effectLst/>
      </p:bgPr>
    </p:bg>
    <p:spTree>
      <p:nvGrpSpPr>
        <p:cNvPr id="1" name=""/>
        <p:cNvGrpSpPr/>
        <p:nvPr/>
      </p:nvGrpSpPr>
      <p:grpSpPr>
        <a:xfrm>
          <a:off x="0" y="0"/>
          <a:ext cx="0" cy="0"/>
          <a:chOff x="0" y="0"/>
          <a:chExt cx="0" cy="0"/>
        </a:xfrm>
      </p:grpSpPr>
      <p:sp>
        <p:nvSpPr>
          <p:cNvPr id="339" name="TextBox 38"/>
          <p:cNvSpPr txBox="1"/>
          <p:nvPr/>
        </p:nvSpPr>
        <p:spPr>
          <a:xfrm>
            <a:off x="534714" y="1086432"/>
            <a:ext cx="8548001" cy="345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solidFill>
                  <a:srgbClr val="11117F"/>
                </a:solidFill>
                <a:latin typeface="Book Antiqua"/>
                <a:ea typeface="Book Antiqua"/>
                <a:cs typeface="Book Antiqua"/>
                <a:sym typeface="Book Antiqua"/>
              </a:defRPr>
            </a:lvl1pPr>
          </a:lstStyle>
          <a:p>
            <a:r>
              <a:rPr b="0" dirty="0">
                <a:latin typeface="Aptos" panose="020B0004020202020204" pitchFamily="34" charset="0"/>
              </a:rPr>
              <a:t>Moving from Strategy to Action — Together</a:t>
            </a:r>
          </a:p>
        </p:txBody>
      </p:sp>
      <p:grpSp>
        <p:nvGrpSpPr>
          <p:cNvPr id="342" name="Text Placeholder 17"/>
          <p:cNvGrpSpPr/>
          <p:nvPr/>
        </p:nvGrpSpPr>
        <p:grpSpPr>
          <a:xfrm>
            <a:off x="558716" y="1938700"/>
            <a:ext cx="2355349" cy="346425"/>
            <a:chOff x="0" y="0"/>
            <a:chExt cx="2355348" cy="346424"/>
          </a:xfrm>
        </p:grpSpPr>
        <p:sp>
          <p:nvSpPr>
            <p:cNvPr id="340" name="Rounded Rectangle"/>
            <p:cNvSpPr/>
            <p:nvPr/>
          </p:nvSpPr>
          <p:spPr>
            <a:xfrm>
              <a:off x="0" y="0"/>
              <a:ext cx="2355349" cy="346425"/>
            </a:xfrm>
            <a:prstGeom prst="roundRect">
              <a:avLst>
                <a:gd name="adj" fmla="val 50000"/>
              </a:avLst>
            </a:prstGeom>
            <a:solidFill>
              <a:srgbClr val="96DCF8"/>
            </a:solidFill>
            <a:ln w="12700" cap="flat">
              <a:noFill/>
              <a:miter lim="400000"/>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41" name="Key Next Steps"/>
            <p:cNvSpPr txBox="1"/>
            <p:nvPr/>
          </p:nvSpPr>
          <p:spPr>
            <a:xfrm>
              <a:off x="110739" y="19542"/>
              <a:ext cx="2133870" cy="307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400" b="1">
                  <a:latin typeface="Book Antiqua"/>
                  <a:ea typeface="Book Antiqua"/>
                  <a:cs typeface="Book Antiqua"/>
                  <a:sym typeface="Book Antiqua"/>
                </a:defRPr>
              </a:lvl1pPr>
            </a:lstStyle>
            <a:p>
              <a:r>
                <a:rPr b="0" dirty="0">
                  <a:latin typeface="Aptos" panose="020B0004020202020204" pitchFamily="34" charset="0"/>
                </a:rPr>
                <a:t>Key Next Steps</a:t>
              </a:r>
            </a:p>
          </p:txBody>
        </p:sp>
      </p:grpSp>
      <p:grpSp>
        <p:nvGrpSpPr>
          <p:cNvPr id="345" name="Text Placeholder 17"/>
          <p:cNvGrpSpPr/>
          <p:nvPr/>
        </p:nvGrpSpPr>
        <p:grpSpPr>
          <a:xfrm>
            <a:off x="5087081" y="1932555"/>
            <a:ext cx="2588865" cy="358715"/>
            <a:chOff x="0" y="0"/>
            <a:chExt cx="2588864" cy="358714"/>
          </a:xfrm>
        </p:grpSpPr>
        <p:sp>
          <p:nvSpPr>
            <p:cNvPr id="343" name="Rounded Rectangle"/>
            <p:cNvSpPr/>
            <p:nvPr/>
          </p:nvSpPr>
          <p:spPr>
            <a:xfrm>
              <a:off x="0" y="0"/>
              <a:ext cx="2588865" cy="358715"/>
            </a:xfrm>
            <a:prstGeom prst="roundRect">
              <a:avLst>
                <a:gd name="adj" fmla="val 50000"/>
              </a:avLst>
            </a:prstGeom>
            <a:solidFill>
              <a:srgbClr val="96DCF8"/>
            </a:solidFill>
            <a:ln w="12700" cap="flat">
              <a:noFill/>
              <a:miter lim="400000"/>
            </a:ln>
            <a:effectLst/>
          </p:spPr>
          <p:txBody>
            <a:bodyPr wrap="square" lIns="45719" tIns="45719" rIns="45719" bIns="45719" numCol="1" anchor="ctr">
              <a:noAutofit/>
            </a:bodyPr>
            <a:lstStyle/>
            <a:p>
              <a:pPr algn="ctr" defTabSz="457200">
                <a:spcBef>
                  <a:spcPts val="600"/>
                </a:spcBef>
                <a:defRPr sz="1600">
                  <a:solidFill>
                    <a:srgbClr val="FFFFFF"/>
                  </a:solidFill>
                </a:defRPr>
              </a:pPr>
              <a:endParaRPr/>
            </a:p>
          </p:txBody>
        </p:sp>
        <p:sp>
          <p:nvSpPr>
            <p:cNvPr id="344" name="Project Deliverables"/>
            <p:cNvSpPr txBox="1"/>
            <p:nvPr/>
          </p:nvSpPr>
          <p:spPr>
            <a:xfrm>
              <a:off x="112539" y="25686"/>
              <a:ext cx="2363786" cy="307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400" b="1">
                  <a:latin typeface="Book Antiqua"/>
                  <a:ea typeface="Book Antiqua"/>
                  <a:cs typeface="Book Antiqua"/>
                  <a:sym typeface="Book Antiqua"/>
                </a:defRPr>
              </a:lvl1pPr>
            </a:lstStyle>
            <a:p>
              <a:r>
                <a:rPr b="0" dirty="0">
                  <a:latin typeface="Aptos" panose="020B0004020202020204" pitchFamily="34" charset="0"/>
                </a:rPr>
                <a:t>Project Deliverables</a:t>
              </a:r>
            </a:p>
          </p:txBody>
        </p:sp>
      </p:grpSp>
      <p:pic>
        <p:nvPicPr>
          <p:cNvPr id="346" name="Graphic 1" descr="Graphic 1"/>
          <p:cNvPicPr>
            <a:picLocks noChangeAspect="1"/>
          </p:cNvPicPr>
          <p:nvPr/>
        </p:nvPicPr>
        <p:blipFill>
          <a:blip r:embed="rId4"/>
          <a:stretch>
            <a:fillRect/>
          </a:stretch>
        </p:blipFill>
        <p:spPr>
          <a:xfrm>
            <a:off x="5740758" y="3608028"/>
            <a:ext cx="914401" cy="914401"/>
          </a:xfrm>
          <a:prstGeom prst="rect">
            <a:avLst/>
          </a:prstGeom>
          <a:ln w="12700">
            <a:miter lim="400000"/>
          </a:ln>
        </p:spPr>
      </p:pic>
      <p:pic>
        <p:nvPicPr>
          <p:cNvPr id="347" name="Graphic 2" descr="Graphic 2"/>
          <p:cNvPicPr>
            <a:picLocks noChangeAspect="1"/>
          </p:cNvPicPr>
          <p:nvPr/>
        </p:nvPicPr>
        <p:blipFill>
          <a:blip r:embed="rId5"/>
          <a:stretch>
            <a:fillRect/>
          </a:stretch>
        </p:blipFill>
        <p:spPr>
          <a:xfrm>
            <a:off x="677963" y="3610721"/>
            <a:ext cx="914401" cy="914401"/>
          </a:xfrm>
          <a:prstGeom prst="rect">
            <a:avLst/>
          </a:prstGeom>
          <a:ln w="12700">
            <a:miter lim="400000"/>
          </a:ln>
        </p:spPr>
      </p:pic>
      <p:sp>
        <p:nvSpPr>
          <p:cNvPr id="348" name="Text Placeholder 10"/>
          <p:cNvSpPr txBox="1"/>
          <p:nvPr/>
        </p:nvSpPr>
        <p:spPr>
          <a:xfrm>
            <a:off x="603880" y="2497700"/>
            <a:ext cx="2844523" cy="3884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defTabSz="457200">
              <a:lnSpc>
                <a:spcPct val="110000"/>
              </a:lnSpc>
              <a:spcAft>
                <a:spcPts val="1300"/>
              </a:spcAft>
              <a:defRPr sz="1300" b="1">
                <a:solidFill>
                  <a:srgbClr val="11117F"/>
                </a:solidFill>
                <a:latin typeface="Book Antiqua"/>
                <a:ea typeface="Book Antiqua"/>
                <a:cs typeface="Book Antiqua"/>
                <a:sym typeface="Book Antiqua"/>
              </a:defRPr>
            </a:pPr>
            <a:r>
              <a:rPr dirty="0">
                <a:latin typeface="Aptos" panose="020B0004020202020204" pitchFamily="34" charset="0"/>
              </a:rPr>
              <a:t>Decision Alignment </a:t>
            </a:r>
            <a:br>
              <a:rPr lang="en-US" dirty="0">
                <a:latin typeface="Aptos" panose="020B0004020202020204" pitchFamily="34" charset="0"/>
              </a:rPr>
            </a:br>
            <a:r>
              <a:rPr dirty="0">
                <a:solidFill>
                  <a:srgbClr val="11117F"/>
                </a:solidFill>
                <a:latin typeface="Aptos" panose="020B0004020202020204" pitchFamily="34" charset="0"/>
              </a:rPr>
              <a:t>(Target: November 12):</a:t>
            </a:r>
            <a:br>
              <a:rPr dirty="0">
                <a:latin typeface="Aptos" panose="020B0004020202020204" pitchFamily="34" charset="0"/>
              </a:rPr>
            </a:br>
            <a:r>
              <a:rPr b="0" dirty="0">
                <a:solidFill>
                  <a:schemeClr val="tx1"/>
                </a:solidFill>
                <a:latin typeface="+mn-lt"/>
                <a:ea typeface="+mn-ea"/>
                <a:cs typeface="+mn-cs"/>
                <a:sym typeface="Aptos Display"/>
              </a:rPr>
              <a:t>Confirm prioritization of initiatives and finalize project governance structure.</a:t>
            </a:r>
            <a:endParaRPr lang="en-US" b="0" dirty="0">
              <a:solidFill>
                <a:schemeClr val="tx1"/>
              </a:solidFill>
              <a:latin typeface="+mn-lt"/>
              <a:ea typeface="+mn-ea"/>
              <a:cs typeface="+mn-cs"/>
              <a:sym typeface="Aptos Display"/>
            </a:endParaRPr>
          </a:p>
          <a:p>
            <a:pPr defTabSz="457200">
              <a:lnSpc>
                <a:spcPct val="110000"/>
              </a:lnSpc>
              <a:spcAft>
                <a:spcPts val="1300"/>
              </a:spcAft>
              <a:defRPr sz="1300" b="1">
                <a:solidFill>
                  <a:srgbClr val="11117F"/>
                </a:solidFill>
                <a:latin typeface="Book Antiqua"/>
                <a:ea typeface="Book Antiqua"/>
                <a:cs typeface="Book Antiqua"/>
                <a:sym typeface="Book Antiqua"/>
              </a:defRPr>
            </a:pPr>
            <a:r>
              <a:rPr dirty="0">
                <a:latin typeface="Aptos" panose="020B0004020202020204" pitchFamily="34" charset="0"/>
              </a:rPr>
              <a:t>Project Kick-Off </a:t>
            </a:r>
            <a:br>
              <a:rPr lang="en-US" dirty="0">
                <a:latin typeface="Aptos" panose="020B0004020202020204" pitchFamily="34" charset="0"/>
              </a:rPr>
            </a:br>
            <a:r>
              <a:rPr lang="en-US" dirty="0">
                <a:solidFill>
                  <a:srgbClr val="11117F"/>
                </a:solidFill>
                <a:latin typeface="Aptos" panose="020B0004020202020204" pitchFamily="34" charset="0"/>
              </a:rPr>
              <a:t>(Target: November 18):</a:t>
            </a:r>
            <a:br>
              <a:rPr lang="en-US" dirty="0">
                <a:latin typeface="Aptos" panose="020B0004020202020204" pitchFamily="34" charset="0"/>
              </a:rPr>
            </a:br>
            <a:r>
              <a:rPr lang="en-US" b="0" dirty="0">
                <a:solidFill>
                  <a:schemeClr val="tx1"/>
                </a:solidFill>
                <a:latin typeface="+mn-lt"/>
                <a:ea typeface="+mn-ea"/>
                <a:cs typeface="+mn-cs"/>
                <a:sym typeface="Aptos Display"/>
              </a:rPr>
              <a:t>Launch Phase 1 implementation, Supply Chain Quick Wins rollout.</a:t>
            </a:r>
          </a:p>
          <a:p>
            <a:pPr defTabSz="457200">
              <a:lnSpc>
                <a:spcPct val="110000"/>
              </a:lnSpc>
              <a:spcAft>
                <a:spcPts val="1300"/>
              </a:spcAft>
              <a:defRPr sz="1300" b="1">
                <a:solidFill>
                  <a:srgbClr val="11117F"/>
                </a:solidFill>
                <a:latin typeface="Book Antiqua"/>
                <a:ea typeface="Book Antiqua"/>
                <a:cs typeface="Book Antiqua"/>
                <a:sym typeface="Book Antiqua"/>
              </a:defRPr>
            </a:pPr>
            <a:r>
              <a:rPr dirty="0">
                <a:latin typeface="Aptos" panose="020B0004020202020204" pitchFamily="34" charset="0"/>
              </a:rPr>
              <a:t>Data Readiness &amp; Access </a:t>
            </a:r>
            <a:br>
              <a:rPr lang="en-US" dirty="0">
                <a:latin typeface="Aptos" panose="020B0004020202020204" pitchFamily="34" charset="0"/>
              </a:rPr>
            </a:br>
            <a:r>
              <a:rPr dirty="0">
                <a:solidFill>
                  <a:srgbClr val="11117F"/>
                </a:solidFill>
                <a:latin typeface="Aptos" panose="020B0004020202020204" pitchFamily="34" charset="0"/>
              </a:rPr>
              <a:t>(Target: EOW Week 2):</a:t>
            </a:r>
            <a:br>
              <a:rPr dirty="0">
                <a:solidFill>
                  <a:schemeClr val="tx1"/>
                </a:solidFill>
                <a:latin typeface="Aptos" panose="020B0004020202020204" pitchFamily="34" charset="0"/>
              </a:rPr>
            </a:br>
            <a:r>
              <a:rPr b="0" dirty="0">
                <a:solidFill>
                  <a:schemeClr val="tx1"/>
                </a:solidFill>
                <a:latin typeface="+mn-lt"/>
                <a:ea typeface="+mn-ea"/>
                <a:cs typeface="+mn-cs"/>
                <a:sym typeface="Aptos Display"/>
              </a:rPr>
              <a:t>Consolidate key financial, operations, and system data for ERP integration prep.</a:t>
            </a:r>
          </a:p>
          <a:p>
            <a:pPr defTabSz="457200">
              <a:lnSpc>
                <a:spcPct val="110000"/>
              </a:lnSpc>
              <a:spcAft>
                <a:spcPts val="1300"/>
              </a:spcAft>
              <a:defRPr sz="1300" b="1">
                <a:solidFill>
                  <a:srgbClr val="96DCF8"/>
                </a:solidFill>
                <a:latin typeface="Book Antiqua"/>
                <a:ea typeface="Book Antiqua"/>
                <a:cs typeface="Book Antiqua"/>
                <a:sym typeface="Book Antiqua"/>
              </a:defRPr>
            </a:pPr>
            <a:r>
              <a:rPr dirty="0">
                <a:solidFill>
                  <a:srgbClr val="11117F"/>
                </a:solidFill>
                <a:latin typeface="Aptos" panose="020B0004020202020204" pitchFamily="34" charset="0"/>
              </a:rPr>
              <a:t>Quarterly Checkpoints:</a:t>
            </a:r>
            <a:br>
              <a:rPr dirty="0">
                <a:latin typeface="Aptos" panose="020B0004020202020204" pitchFamily="34" charset="0"/>
              </a:rPr>
            </a:br>
            <a:r>
              <a:rPr b="0" dirty="0">
                <a:solidFill>
                  <a:srgbClr val="000000"/>
                </a:solidFill>
                <a:latin typeface="+mn-lt"/>
                <a:ea typeface="+mn-ea"/>
                <a:cs typeface="+mn-cs"/>
                <a:sym typeface="Aptos Display"/>
              </a:rPr>
              <a:t>Establish cadence for performance reviews and progress tracking.</a:t>
            </a:r>
            <a:endParaRPr dirty="0">
              <a:solidFill>
                <a:srgbClr val="FFFFFF"/>
              </a:solidFill>
              <a:latin typeface="Aptos" panose="020B0004020202020204" pitchFamily="34" charset="0"/>
            </a:endParaRPr>
          </a:p>
        </p:txBody>
      </p:sp>
      <p:sp>
        <p:nvSpPr>
          <p:cNvPr id="349" name="Text Placeholder 10"/>
          <p:cNvSpPr txBox="1"/>
          <p:nvPr/>
        </p:nvSpPr>
        <p:spPr>
          <a:xfrm>
            <a:off x="5169513" y="2497700"/>
            <a:ext cx="2957161" cy="34937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defTabSz="457200">
              <a:lnSpc>
                <a:spcPct val="110000"/>
              </a:lnSpc>
              <a:spcAft>
                <a:spcPts val="600"/>
              </a:spcAft>
              <a:buSzPct val="100000"/>
              <a:defRPr sz="1300" b="1">
                <a:solidFill>
                  <a:srgbClr val="11117F"/>
                </a:solidFill>
                <a:latin typeface="Book Antiqua"/>
                <a:ea typeface="Book Antiqua"/>
                <a:cs typeface="Book Antiqua"/>
                <a:sym typeface="Book Antiqua"/>
              </a:defRPr>
            </a:pPr>
            <a:r>
              <a:rPr dirty="0">
                <a:latin typeface="Aptos" panose="020B0004020202020204" pitchFamily="34" charset="0"/>
              </a:rPr>
              <a:t>Action Item: </a:t>
            </a:r>
          </a:p>
          <a:p>
            <a:pPr>
              <a:lnSpc>
                <a:spcPct val="110000"/>
              </a:lnSpc>
              <a:spcAft>
                <a:spcPts val="600"/>
              </a:spcAft>
              <a:defRPr sz="1300"/>
            </a:pPr>
            <a:r>
              <a:rPr dirty="0"/>
              <a:t>1. Confirm project scope and priorities.</a:t>
            </a:r>
          </a:p>
          <a:p>
            <a:pPr>
              <a:lnSpc>
                <a:spcPct val="110000"/>
              </a:lnSpc>
              <a:spcAft>
                <a:spcPts val="600"/>
              </a:spcAft>
              <a:defRPr sz="1300"/>
            </a:pPr>
            <a:r>
              <a:rPr dirty="0"/>
              <a:t>2. Finalize engagement agreement.</a:t>
            </a:r>
          </a:p>
          <a:p>
            <a:pPr>
              <a:lnSpc>
                <a:spcPct val="110000"/>
              </a:lnSpc>
              <a:spcAft>
                <a:spcPts val="600"/>
              </a:spcAft>
              <a:defRPr sz="1300"/>
            </a:pPr>
            <a:r>
              <a:rPr dirty="0"/>
              <a:t>3. Kick-off workshop (Phase 1: Diagnostic).</a:t>
            </a:r>
            <a:endParaRPr lang="en-US" dirty="0"/>
          </a:p>
          <a:p>
            <a:pPr defTabSz="457200">
              <a:lnSpc>
                <a:spcPct val="110000"/>
              </a:lnSpc>
              <a:spcAft>
                <a:spcPts val="600"/>
              </a:spcAft>
              <a:buSzPct val="100000"/>
              <a:defRPr sz="1300" b="1">
                <a:solidFill>
                  <a:srgbClr val="11117F"/>
                </a:solidFill>
                <a:latin typeface="Book Antiqua"/>
                <a:ea typeface="Book Antiqua"/>
                <a:cs typeface="Book Antiqua"/>
                <a:sym typeface="Book Antiqua"/>
              </a:defRPr>
            </a:pPr>
            <a:r>
              <a:rPr lang="en-US" dirty="0">
                <a:latin typeface="Aptos" panose="020B0004020202020204" pitchFamily="34" charset="0"/>
              </a:rPr>
              <a:t>Respective Owner:</a:t>
            </a:r>
          </a:p>
          <a:p>
            <a:pPr>
              <a:lnSpc>
                <a:spcPct val="110000"/>
              </a:lnSpc>
              <a:spcAft>
                <a:spcPts val="600"/>
              </a:spcAft>
              <a:defRPr sz="1300"/>
            </a:pPr>
            <a:r>
              <a:rPr dirty="0"/>
              <a:t>1.</a:t>
            </a:r>
            <a:r>
              <a:rPr dirty="0">
                <a:solidFill>
                  <a:srgbClr val="11117F"/>
                </a:solidFill>
              </a:rPr>
              <a:t> </a:t>
            </a:r>
            <a:r>
              <a:rPr dirty="0"/>
              <a:t>Client PMO</a:t>
            </a:r>
          </a:p>
          <a:p>
            <a:pPr>
              <a:lnSpc>
                <a:spcPct val="110000"/>
              </a:lnSpc>
              <a:spcAft>
                <a:spcPts val="600"/>
              </a:spcAft>
              <a:defRPr sz="1300"/>
            </a:pPr>
            <a:r>
              <a:rPr dirty="0"/>
              <a:t>2. CFO / Consulting Lead</a:t>
            </a:r>
          </a:p>
          <a:p>
            <a:pPr>
              <a:lnSpc>
                <a:spcPct val="110000"/>
              </a:lnSpc>
              <a:spcAft>
                <a:spcPts val="600"/>
              </a:spcAft>
              <a:defRPr sz="1300"/>
            </a:pPr>
            <a:r>
              <a:rPr dirty="0"/>
              <a:t>3. Joint Team</a:t>
            </a:r>
          </a:p>
          <a:p>
            <a:pPr defTabSz="457200">
              <a:lnSpc>
                <a:spcPct val="110000"/>
              </a:lnSpc>
              <a:spcAft>
                <a:spcPts val="600"/>
              </a:spcAft>
              <a:defRPr sz="1300" b="1">
                <a:solidFill>
                  <a:srgbClr val="11117F"/>
                </a:solidFill>
                <a:latin typeface="Book Antiqua"/>
                <a:ea typeface="Book Antiqua"/>
                <a:cs typeface="Book Antiqua"/>
                <a:sym typeface="Book Antiqua"/>
              </a:defRPr>
            </a:pPr>
            <a:r>
              <a:rPr dirty="0">
                <a:latin typeface="Aptos" panose="020B0004020202020204" pitchFamily="34" charset="0"/>
              </a:rPr>
              <a:t>Target Date</a:t>
            </a:r>
            <a:br>
              <a:rPr dirty="0">
                <a:latin typeface="Aptos" panose="020B0004020202020204" pitchFamily="34" charset="0"/>
              </a:rPr>
            </a:br>
            <a:r>
              <a:rPr b="0" dirty="0">
                <a:solidFill>
                  <a:srgbClr val="000000"/>
                </a:solidFill>
                <a:latin typeface="+mn-lt"/>
                <a:ea typeface="+mn-ea"/>
                <a:cs typeface="+mn-cs"/>
                <a:sym typeface="Aptos Display"/>
              </a:rPr>
              <a:t>1.</a:t>
            </a:r>
            <a:r>
              <a:rPr dirty="0">
                <a:latin typeface="Aptos" panose="020B0004020202020204" pitchFamily="34" charset="0"/>
              </a:rPr>
              <a:t> </a:t>
            </a:r>
            <a:r>
              <a:rPr b="0" dirty="0">
                <a:solidFill>
                  <a:srgbClr val="000000"/>
                </a:solidFill>
                <a:latin typeface="+mn-lt"/>
                <a:ea typeface="+mn-ea"/>
                <a:cs typeface="+mn-cs"/>
                <a:sym typeface="Aptos Display"/>
              </a:rPr>
              <a:t>Nov 5, 2025</a:t>
            </a:r>
            <a:endParaRPr b="0" dirty="0">
              <a:latin typeface="+mn-lt"/>
              <a:ea typeface="+mn-ea"/>
              <a:cs typeface="+mn-cs"/>
              <a:sym typeface="Aptos Display"/>
            </a:endParaRPr>
          </a:p>
          <a:p>
            <a:pPr>
              <a:lnSpc>
                <a:spcPct val="110000"/>
              </a:lnSpc>
              <a:spcAft>
                <a:spcPts val="600"/>
              </a:spcAft>
              <a:defRPr sz="1300"/>
            </a:pPr>
            <a:r>
              <a:rPr dirty="0"/>
              <a:t>2. Nov 12, 2025</a:t>
            </a:r>
          </a:p>
          <a:p>
            <a:pPr>
              <a:lnSpc>
                <a:spcPct val="110000"/>
              </a:lnSpc>
              <a:spcAft>
                <a:spcPts val="600"/>
              </a:spcAft>
              <a:defRPr sz="1300"/>
            </a:pPr>
            <a:r>
              <a:rPr dirty="0"/>
              <a:t>3. Nov 18, 2025</a:t>
            </a:r>
          </a:p>
        </p:txBody>
      </p:sp>
      <p:sp>
        <p:nvSpPr>
          <p:cNvPr id="2" name="Title 16">
            <a:extLst>
              <a:ext uri="{FF2B5EF4-FFF2-40B4-BE49-F238E27FC236}">
                <a16:creationId xmlns:a16="http://schemas.microsoft.com/office/drawing/2014/main" id="{A4AAAB0F-87A5-49A8-870A-FA0CA3086D30}"/>
              </a:ext>
            </a:extLst>
          </p:cNvPr>
          <p:cNvSpPr txBox="1"/>
          <p:nvPr/>
        </p:nvSpPr>
        <p:spPr>
          <a:xfrm>
            <a:off x="558716" y="301752"/>
            <a:ext cx="8802997"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lang="en-US" dirty="0">
                <a:latin typeface="Aptos" panose="020B0004020202020204" pitchFamily="34" charset="0"/>
              </a:rPr>
              <a:t>Next Steps &amp; Path Forward</a:t>
            </a:r>
            <a:endParaRPr dirty="0">
              <a:latin typeface="Aptos" panose="020B0004020202020204" pitchFamily="34" charset="0"/>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51" name="Title 16"/>
          <p:cNvSpPr txBox="1"/>
          <p:nvPr/>
        </p:nvSpPr>
        <p:spPr>
          <a:xfrm>
            <a:off x="541454" y="471086"/>
            <a:ext cx="11109092" cy="2183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t">
            <a:spAutoFit/>
          </a:bodyPr>
          <a:lstStyle/>
          <a:p>
            <a:pPr>
              <a:lnSpc>
                <a:spcPct val="90000"/>
              </a:lnSpc>
              <a:spcBef>
                <a:spcPts val="600"/>
              </a:spcBef>
              <a:defRPr sz="5000" b="1">
                <a:solidFill>
                  <a:srgbClr val="FFFFFF"/>
                </a:solidFill>
                <a:latin typeface="Book Antiqua"/>
                <a:ea typeface="Book Antiqua"/>
                <a:cs typeface="Book Antiqua"/>
                <a:sym typeface="Book Antiqua"/>
              </a:defRPr>
            </a:pPr>
            <a:r>
              <a:rPr lang="en-US" sz="15000" dirty="0">
                <a:latin typeface="Aptos" panose="020B0004020202020204" pitchFamily="34" charset="0"/>
              </a:rPr>
              <a:t>Thank you</a:t>
            </a:r>
            <a:endParaRPr sz="15000" dirty="0">
              <a:latin typeface="Aptos" panose="020B0004020202020204" pitchFamily="34" charset="0"/>
            </a:endParaRPr>
          </a:p>
        </p:txBody>
      </p:sp>
      <p:sp>
        <p:nvSpPr>
          <p:cNvPr id="2" name="TextBox 8">
            <a:extLst>
              <a:ext uri="{FF2B5EF4-FFF2-40B4-BE49-F238E27FC236}">
                <a16:creationId xmlns:a16="http://schemas.microsoft.com/office/drawing/2014/main" id="{B59178E7-8637-E47C-1EEB-FCB6FA278A2E}"/>
              </a:ext>
            </a:extLst>
          </p:cNvPr>
          <p:cNvSpPr txBox="1"/>
          <p:nvPr/>
        </p:nvSpPr>
        <p:spPr>
          <a:xfrm>
            <a:off x="541454" y="2522461"/>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b="0" dirty="0">
                <a:solidFill>
                  <a:schemeClr val="bg1"/>
                </a:solidFill>
                <a:latin typeface="Aptos" panose="020B0004020202020204" pitchFamily="34" charset="0"/>
              </a:rPr>
              <a:t>Company Name</a:t>
            </a:r>
          </a:p>
        </p:txBody>
      </p:sp>
      <p:sp>
        <p:nvSpPr>
          <p:cNvPr id="3" name="TextBox 8">
            <a:extLst>
              <a:ext uri="{FF2B5EF4-FFF2-40B4-BE49-F238E27FC236}">
                <a16:creationId xmlns:a16="http://schemas.microsoft.com/office/drawing/2014/main" id="{0EE02A63-06A2-4E95-7621-F2CEA81057D9}"/>
              </a:ext>
            </a:extLst>
          </p:cNvPr>
          <p:cNvSpPr txBox="1"/>
          <p:nvPr/>
        </p:nvSpPr>
        <p:spPr>
          <a:xfrm>
            <a:off x="541454" y="3059668"/>
            <a:ext cx="2410583"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sz="1800" b="0" dirty="0">
                <a:solidFill>
                  <a:schemeClr val="bg1"/>
                </a:solidFill>
                <a:latin typeface="Aptos" panose="020B0004020202020204" pitchFamily="34" charset="0"/>
              </a:rPr>
              <a:t>Client Name</a:t>
            </a:r>
          </a:p>
        </p:txBody>
      </p:sp>
      <p:sp>
        <p:nvSpPr>
          <p:cNvPr id="4" name="Rounded Rectangle">
            <a:extLst>
              <a:ext uri="{FF2B5EF4-FFF2-40B4-BE49-F238E27FC236}">
                <a16:creationId xmlns:a16="http://schemas.microsoft.com/office/drawing/2014/main" id="{543C0621-0272-DA95-B6AC-8A3AEE489A4C}"/>
              </a:ext>
            </a:extLst>
          </p:cNvPr>
          <p:cNvSpPr/>
          <p:nvPr/>
        </p:nvSpPr>
        <p:spPr>
          <a:xfrm>
            <a:off x="541454" y="5950289"/>
            <a:ext cx="2859316" cy="448437"/>
          </a:xfrm>
          <a:prstGeom prst="roundRect">
            <a:avLst>
              <a:gd name="adj" fmla="val 50000"/>
            </a:avLst>
          </a:prstGeom>
          <a:solidFill>
            <a:srgbClr val="111184"/>
          </a:solidFill>
          <a:ln w="12700" cap="flat">
            <a:solidFill>
              <a:srgbClr val="FFFFFF"/>
            </a:solidFill>
            <a:prstDash val="solid"/>
            <a:round/>
          </a:ln>
          <a:effectLst/>
        </p:spPr>
        <p:txBody>
          <a:bodyPr wrap="square" lIns="45719" tIns="45719" rIns="45719" bIns="45719" numCol="1" anchor="ctr">
            <a:noAutofit/>
          </a:bodyPr>
          <a:lstStyle/>
          <a:p>
            <a:pPr algn="ctr">
              <a:defRPr/>
            </a:pPr>
            <a:r>
              <a:rPr lang="en-US" sz="1300" b="1" dirty="0" err="1">
                <a:solidFill>
                  <a:schemeClr val="bg1"/>
                </a:solidFill>
                <a:latin typeface="Aptos SemiBold" panose="020B0004020202020204" pitchFamily="34" charset="0"/>
              </a:rPr>
              <a:t>Name@consultingexample.com</a:t>
            </a:r>
            <a:endParaRPr lang="en-US" sz="1300" b="1" dirty="0">
              <a:solidFill>
                <a:schemeClr val="bg1"/>
              </a:solidFill>
              <a:latin typeface="Aptos SemiBold" panose="020B0004020202020204" pitchFamily="34" charset="0"/>
            </a:endParaRPr>
          </a:p>
        </p:txBody>
      </p:sp>
      <p:sp>
        <p:nvSpPr>
          <p:cNvPr id="5" name="Rounded Rectangle">
            <a:extLst>
              <a:ext uri="{FF2B5EF4-FFF2-40B4-BE49-F238E27FC236}">
                <a16:creationId xmlns:a16="http://schemas.microsoft.com/office/drawing/2014/main" id="{03276734-1E95-76AD-CCC4-8BE6D776306B}"/>
              </a:ext>
            </a:extLst>
          </p:cNvPr>
          <p:cNvSpPr/>
          <p:nvPr/>
        </p:nvSpPr>
        <p:spPr>
          <a:xfrm>
            <a:off x="3716236" y="5950289"/>
            <a:ext cx="1575431" cy="448437"/>
          </a:xfrm>
          <a:prstGeom prst="roundRect">
            <a:avLst>
              <a:gd name="adj" fmla="val 50000"/>
            </a:avLst>
          </a:prstGeom>
          <a:solidFill>
            <a:srgbClr val="111184"/>
          </a:solidFill>
          <a:ln w="12700" cap="flat">
            <a:solidFill>
              <a:srgbClr val="FFFFFF"/>
            </a:solidFill>
            <a:prstDash val="solid"/>
            <a:round/>
          </a:ln>
          <a:effectLst/>
        </p:spPr>
        <p:txBody>
          <a:bodyPr wrap="square" lIns="45719" tIns="45719" rIns="45719" bIns="45719" numCol="1" anchor="ctr">
            <a:noAutofit/>
          </a:bodyPr>
          <a:lstStyle/>
          <a:p>
            <a:pPr algn="ctr">
              <a:defRPr/>
            </a:pPr>
            <a:r>
              <a:rPr lang="en-US" sz="1300" b="1" dirty="0">
                <a:solidFill>
                  <a:schemeClr val="bg1"/>
                </a:solidFill>
                <a:latin typeface="Aptos SemiBold" panose="020B0004020202020204" pitchFamily="34" charset="0"/>
              </a:rPr>
              <a:t>+1 9171231234</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STYLE GUIDE"/>
          <p:cNvSpPr txBox="1"/>
          <p:nvPr/>
        </p:nvSpPr>
        <p:spPr>
          <a:xfrm>
            <a:off x="332760" y="263059"/>
            <a:ext cx="1140295"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400">
                <a:latin typeface="Aptos SemiBold"/>
                <a:ea typeface="Aptos SemiBold"/>
                <a:cs typeface="Aptos SemiBold"/>
                <a:sym typeface="Aptos SemiBold"/>
              </a:defRPr>
            </a:lvl1pPr>
          </a:lstStyle>
          <a:p>
            <a:r>
              <a:t>STYLE GUIDE</a:t>
            </a:r>
          </a:p>
        </p:txBody>
      </p:sp>
      <p:sp>
        <p:nvSpPr>
          <p:cNvPr id="366" name="FONT GUIDE"/>
          <p:cNvSpPr txBox="1"/>
          <p:nvPr/>
        </p:nvSpPr>
        <p:spPr>
          <a:xfrm>
            <a:off x="6545274" y="263059"/>
            <a:ext cx="1100707" cy="3073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400">
                <a:latin typeface="Aptos SemiBold"/>
                <a:ea typeface="Aptos SemiBold"/>
                <a:cs typeface="Aptos SemiBold"/>
                <a:sym typeface="Aptos SemiBold"/>
              </a:defRPr>
            </a:lvl1pPr>
          </a:lstStyle>
          <a:p>
            <a:r>
              <a:t>FONT GUIDE</a:t>
            </a:r>
          </a:p>
        </p:txBody>
      </p:sp>
      <p:sp>
        <p:nvSpPr>
          <p:cNvPr id="367" name="Title 16"/>
          <p:cNvSpPr txBox="1"/>
          <p:nvPr/>
        </p:nvSpPr>
        <p:spPr>
          <a:xfrm>
            <a:off x="6534876" y="835071"/>
            <a:ext cx="4435484" cy="705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lvl1pPr>
              <a:lnSpc>
                <a:spcPct val="90000"/>
              </a:lnSpc>
              <a:spcBef>
                <a:spcPts val="600"/>
              </a:spcBef>
              <a:defRPr sz="4400" b="1">
                <a:latin typeface="Book Antiqua"/>
                <a:ea typeface="Book Antiqua"/>
                <a:cs typeface="Book Antiqua"/>
                <a:sym typeface="Book Antiqua"/>
              </a:defRPr>
            </a:lvl1pPr>
          </a:lstStyle>
          <a:p>
            <a:r>
              <a:rPr dirty="0">
                <a:latin typeface="Aptos" panose="020B0004020202020204" pitchFamily="34" charset="0"/>
              </a:rPr>
              <a:t>Main Title</a:t>
            </a:r>
          </a:p>
        </p:txBody>
      </p:sp>
      <p:sp>
        <p:nvSpPr>
          <p:cNvPr id="368" name="TextBox 8"/>
          <p:cNvSpPr txBox="1"/>
          <p:nvPr/>
        </p:nvSpPr>
        <p:spPr>
          <a:xfrm>
            <a:off x="6558143" y="1480720"/>
            <a:ext cx="3843482"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solidFill>
                  <a:srgbClr val="111184"/>
                </a:solidFill>
                <a:latin typeface="Book Antiqua"/>
                <a:ea typeface="Book Antiqua"/>
                <a:cs typeface="Book Antiqua"/>
                <a:sym typeface="Book Antiqua"/>
              </a:defRPr>
            </a:lvl1pPr>
          </a:lstStyle>
          <a:p>
            <a:r>
              <a:rPr sz="1800" dirty="0">
                <a:latin typeface="Aptos" panose="020B0004020202020204" pitchFamily="34" charset="0"/>
              </a:rPr>
              <a:t>Secondary Headline Copy</a:t>
            </a:r>
          </a:p>
        </p:txBody>
      </p:sp>
      <p:sp>
        <p:nvSpPr>
          <p:cNvPr id="369" name="TextBox 8"/>
          <p:cNvSpPr txBox="1"/>
          <p:nvPr/>
        </p:nvSpPr>
        <p:spPr>
          <a:xfrm>
            <a:off x="6558143" y="2044148"/>
            <a:ext cx="4077584" cy="743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300" b="1">
                <a:latin typeface="Book Antiqua"/>
                <a:ea typeface="Book Antiqua"/>
                <a:cs typeface="Book Antiqua"/>
                <a:sym typeface="Book Antiqua"/>
              </a:defRPr>
            </a:lvl1pPr>
          </a:lstStyle>
          <a:p>
            <a:pPr>
              <a:lnSpc>
                <a:spcPct val="110000"/>
              </a:lnSpc>
              <a:spcAft>
                <a:spcPts val="600"/>
              </a:spcAft>
            </a:pPr>
            <a:r>
              <a:rPr b="0" dirty="0">
                <a:latin typeface="Aptos" panose="020B0004020202020204" pitchFamily="34" charset="0"/>
              </a:rPr>
              <a:t>Lorem ipsum dolor sit </a:t>
            </a:r>
            <a:r>
              <a:rPr b="0" dirty="0" err="1">
                <a:latin typeface="Aptos" panose="020B0004020202020204" pitchFamily="34" charset="0"/>
              </a:rPr>
              <a:t>amet</a:t>
            </a:r>
            <a:r>
              <a:rPr b="0" dirty="0">
                <a:latin typeface="Aptos" panose="020B0004020202020204" pitchFamily="34" charset="0"/>
              </a:rPr>
              <a:t>, </a:t>
            </a:r>
            <a:r>
              <a:rPr b="0" dirty="0" err="1">
                <a:latin typeface="Aptos" panose="020B0004020202020204" pitchFamily="34" charset="0"/>
              </a:rPr>
              <a:t>consectetur</a:t>
            </a:r>
            <a:r>
              <a:rPr b="0" dirty="0">
                <a:latin typeface="Aptos" panose="020B0004020202020204" pitchFamily="34" charset="0"/>
              </a:rPr>
              <a:t> </a:t>
            </a:r>
            <a:r>
              <a:rPr b="0" dirty="0" err="1">
                <a:latin typeface="Aptos" panose="020B0004020202020204" pitchFamily="34" charset="0"/>
              </a:rPr>
              <a:t>adipiscing</a:t>
            </a:r>
            <a:r>
              <a:rPr b="0" dirty="0">
                <a:latin typeface="Aptos" panose="020B0004020202020204" pitchFamily="34" charset="0"/>
              </a:rPr>
              <a:t> </a:t>
            </a:r>
            <a:r>
              <a:rPr b="0" dirty="0" err="1">
                <a:latin typeface="Aptos" panose="020B0004020202020204" pitchFamily="34" charset="0"/>
              </a:rPr>
              <a:t>elit</a:t>
            </a:r>
            <a:r>
              <a:rPr b="0" dirty="0">
                <a:latin typeface="Aptos" panose="020B0004020202020204" pitchFamily="34" charset="0"/>
              </a:rPr>
              <a:t>, sed do </a:t>
            </a:r>
            <a:r>
              <a:rPr b="0" dirty="0" err="1">
                <a:latin typeface="Aptos" panose="020B0004020202020204" pitchFamily="34" charset="0"/>
              </a:rPr>
              <a:t>eiusmod</a:t>
            </a:r>
            <a:r>
              <a:rPr b="0" dirty="0">
                <a:latin typeface="Aptos" panose="020B0004020202020204" pitchFamily="34" charset="0"/>
              </a:rPr>
              <a:t> </a:t>
            </a:r>
            <a:r>
              <a:rPr b="0" dirty="0" err="1">
                <a:latin typeface="Aptos" panose="020B0004020202020204" pitchFamily="34" charset="0"/>
              </a:rPr>
              <a:t>tempor</a:t>
            </a:r>
            <a:r>
              <a:rPr b="0" dirty="0">
                <a:latin typeface="Aptos" panose="020B0004020202020204" pitchFamily="34" charset="0"/>
              </a:rPr>
              <a:t> </a:t>
            </a:r>
            <a:r>
              <a:rPr b="0" dirty="0" err="1">
                <a:latin typeface="Aptos" panose="020B0004020202020204" pitchFamily="34" charset="0"/>
              </a:rPr>
              <a:t>incididunt</a:t>
            </a:r>
            <a:r>
              <a:rPr b="0" dirty="0">
                <a:latin typeface="Aptos" panose="020B0004020202020204" pitchFamily="34" charset="0"/>
              </a:rPr>
              <a:t> </a:t>
            </a:r>
            <a:r>
              <a:rPr b="0" dirty="0" err="1">
                <a:latin typeface="Aptos" panose="020B0004020202020204" pitchFamily="34" charset="0"/>
              </a:rPr>
              <a:t>ut</a:t>
            </a:r>
            <a:r>
              <a:rPr b="0" dirty="0">
                <a:latin typeface="Aptos" panose="020B0004020202020204" pitchFamily="34" charset="0"/>
              </a:rPr>
              <a:t> labore et dolore magna </a:t>
            </a:r>
            <a:r>
              <a:rPr b="0" dirty="0" err="1">
                <a:latin typeface="Aptos" panose="020B0004020202020204" pitchFamily="34" charset="0"/>
              </a:rPr>
              <a:t>aliqua</a:t>
            </a:r>
            <a:r>
              <a:rPr b="0" dirty="0">
                <a:latin typeface="Aptos" panose="020B0004020202020204" pitchFamily="34" charset="0"/>
              </a:rPr>
              <a:t>.</a:t>
            </a:r>
          </a:p>
        </p:txBody>
      </p:sp>
      <p:sp>
        <p:nvSpPr>
          <p:cNvPr id="370" name="Text Placeholder 10"/>
          <p:cNvSpPr txBox="1"/>
          <p:nvPr/>
        </p:nvSpPr>
        <p:spPr>
          <a:xfrm>
            <a:off x="6534876" y="2950476"/>
            <a:ext cx="4435484" cy="16239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457200">
              <a:defRPr sz="1300"/>
            </a:lvl1pPr>
          </a:lstStyle>
          <a:p>
            <a:pPr>
              <a:lnSpc>
                <a:spcPct val="110000"/>
              </a:lnSpc>
              <a:spcAft>
                <a:spcPts val="600"/>
              </a:spcAft>
            </a:pPr>
            <a:r>
              <a:rPr dirty="0"/>
              <a:t>Lorem ipsum dolor sit </a:t>
            </a:r>
            <a:r>
              <a:rPr dirty="0" err="1"/>
              <a:t>amet</a:t>
            </a:r>
            <a:r>
              <a:rPr dirty="0"/>
              <a:t>, </a:t>
            </a:r>
            <a:r>
              <a:rPr dirty="0" err="1"/>
              <a:t>consectetur</a:t>
            </a:r>
            <a:r>
              <a:rPr dirty="0"/>
              <a:t> </a:t>
            </a:r>
            <a:r>
              <a:rPr dirty="0" err="1"/>
              <a:t>adipiscing</a:t>
            </a:r>
            <a:r>
              <a:rPr dirty="0"/>
              <a:t> </a:t>
            </a:r>
            <a:r>
              <a:rPr dirty="0" err="1"/>
              <a:t>elit</a:t>
            </a:r>
            <a:r>
              <a:rPr dirty="0"/>
              <a:t>, sed do </a:t>
            </a:r>
            <a:r>
              <a:rPr dirty="0" err="1"/>
              <a:t>eiusmod</a:t>
            </a:r>
            <a:r>
              <a:rPr dirty="0"/>
              <a:t> </a:t>
            </a:r>
            <a:r>
              <a:rPr dirty="0" err="1"/>
              <a:t>tempor</a:t>
            </a:r>
            <a:r>
              <a:rPr dirty="0"/>
              <a:t> </a:t>
            </a:r>
            <a:r>
              <a:rPr dirty="0" err="1"/>
              <a:t>incididunt</a:t>
            </a:r>
            <a:r>
              <a:rPr dirty="0"/>
              <a:t> </a:t>
            </a:r>
            <a:r>
              <a:rPr dirty="0" err="1"/>
              <a:t>ut</a:t>
            </a:r>
            <a:r>
              <a:rPr dirty="0"/>
              <a:t> labore et dolore magna </a:t>
            </a:r>
            <a:r>
              <a:rPr dirty="0" err="1"/>
              <a:t>aliqua</a:t>
            </a:r>
            <a:r>
              <a:rPr dirty="0"/>
              <a:t>. Ut </a:t>
            </a:r>
            <a:r>
              <a:rPr dirty="0" err="1"/>
              <a:t>enim</a:t>
            </a:r>
            <a:r>
              <a:rPr dirty="0"/>
              <a:t> ad minim </a:t>
            </a:r>
            <a:r>
              <a:rPr dirty="0" err="1"/>
              <a:t>veniam</a:t>
            </a:r>
            <a:r>
              <a:rPr dirty="0"/>
              <a:t>, </a:t>
            </a:r>
            <a:r>
              <a:rPr dirty="0" err="1"/>
              <a:t>quis</a:t>
            </a:r>
            <a:r>
              <a:rPr dirty="0"/>
              <a:t> </a:t>
            </a:r>
            <a:r>
              <a:rPr dirty="0" err="1"/>
              <a:t>nostrud</a:t>
            </a:r>
            <a:r>
              <a:rPr dirty="0"/>
              <a:t> exercitation </a:t>
            </a:r>
            <a:r>
              <a:rPr dirty="0" err="1"/>
              <a:t>ullamco</a:t>
            </a:r>
            <a:r>
              <a:rPr dirty="0"/>
              <a:t> </a:t>
            </a:r>
            <a:r>
              <a:rPr dirty="0" err="1"/>
              <a:t>laboris</a:t>
            </a:r>
            <a:r>
              <a:rPr dirty="0"/>
              <a:t> nisi </a:t>
            </a:r>
            <a:r>
              <a:rPr dirty="0" err="1"/>
              <a:t>ut</a:t>
            </a:r>
            <a:r>
              <a:rPr dirty="0"/>
              <a:t> </a:t>
            </a:r>
            <a:r>
              <a:rPr dirty="0" err="1"/>
              <a:t>aliquip</a:t>
            </a:r>
            <a:r>
              <a:rPr dirty="0"/>
              <a:t> ex </a:t>
            </a:r>
            <a:r>
              <a:rPr dirty="0" err="1"/>
              <a:t>ea</a:t>
            </a:r>
            <a:r>
              <a:rPr dirty="0"/>
              <a:t> </a:t>
            </a:r>
            <a:r>
              <a:rPr dirty="0" err="1"/>
              <a:t>commodo</a:t>
            </a:r>
            <a:r>
              <a:rPr dirty="0"/>
              <a:t> </a:t>
            </a:r>
            <a:r>
              <a:rPr dirty="0" err="1"/>
              <a:t>consequat</a:t>
            </a:r>
            <a:r>
              <a:rPr dirty="0"/>
              <a:t>. Duis </a:t>
            </a:r>
            <a:r>
              <a:rPr dirty="0" err="1"/>
              <a:t>aute</a:t>
            </a:r>
            <a:r>
              <a:rPr dirty="0"/>
              <a:t> </a:t>
            </a:r>
            <a:r>
              <a:rPr dirty="0" err="1"/>
              <a:t>irure</a:t>
            </a:r>
            <a:r>
              <a:rPr dirty="0"/>
              <a:t> dolor in </a:t>
            </a:r>
            <a:r>
              <a:rPr dirty="0" err="1"/>
              <a:t>reprehenderit</a:t>
            </a:r>
            <a:r>
              <a:rPr dirty="0"/>
              <a:t> in </a:t>
            </a:r>
            <a:r>
              <a:rPr dirty="0" err="1"/>
              <a:t>voluptate</a:t>
            </a:r>
            <a:r>
              <a:rPr dirty="0"/>
              <a:t> </a:t>
            </a:r>
            <a:r>
              <a:rPr dirty="0" err="1"/>
              <a:t>velit</a:t>
            </a:r>
            <a:r>
              <a:rPr dirty="0"/>
              <a:t> esse </a:t>
            </a:r>
            <a:r>
              <a:rPr dirty="0" err="1"/>
              <a:t>cillum</a:t>
            </a:r>
            <a:r>
              <a:rPr dirty="0"/>
              <a:t> dolore </a:t>
            </a:r>
            <a:r>
              <a:rPr dirty="0" err="1"/>
              <a:t>eu</a:t>
            </a:r>
            <a:r>
              <a:rPr dirty="0"/>
              <a:t> </a:t>
            </a:r>
            <a:r>
              <a:rPr dirty="0" err="1"/>
              <a:t>fugiat</a:t>
            </a:r>
            <a:r>
              <a:rPr dirty="0"/>
              <a:t> </a:t>
            </a:r>
            <a:r>
              <a:rPr dirty="0" err="1"/>
              <a:t>nulla</a:t>
            </a:r>
            <a:r>
              <a:rPr dirty="0"/>
              <a:t> </a:t>
            </a:r>
            <a:r>
              <a:rPr dirty="0" err="1"/>
              <a:t>pariatur</a:t>
            </a:r>
            <a:r>
              <a:rPr dirty="0"/>
              <a:t>. </a:t>
            </a:r>
            <a:r>
              <a:rPr dirty="0" err="1"/>
              <a:t>Excepteur</a:t>
            </a:r>
            <a:r>
              <a:rPr dirty="0"/>
              <a:t> </a:t>
            </a:r>
            <a:r>
              <a:rPr dirty="0" err="1"/>
              <a:t>sint</a:t>
            </a:r>
            <a:r>
              <a:rPr dirty="0"/>
              <a:t> </a:t>
            </a:r>
            <a:r>
              <a:rPr dirty="0" err="1"/>
              <a:t>occaecat</a:t>
            </a:r>
            <a:r>
              <a:rPr dirty="0"/>
              <a:t> </a:t>
            </a:r>
            <a:r>
              <a:rPr dirty="0" err="1"/>
              <a:t>cupidatat</a:t>
            </a:r>
            <a:r>
              <a:rPr dirty="0"/>
              <a:t> non </a:t>
            </a:r>
            <a:r>
              <a:rPr dirty="0" err="1"/>
              <a:t>proident</a:t>
            </a:r>
            <a:r>
              <a:rPr dirty="0"/>
              <a:t>, sunt in culpa qui </a:t>
            </a:r>
            <a:r>
              <a:rPr dirty="0" err="1"/>
              <a:t>officia</a:t>
            </a:r>
            <a:r>
              <a:rPr dirty="0"/>
              <a:t> </a:t>
            </a:r>
            <a:r>
              <a:rPr dirty="0" err="1"/>
              <a:t>deserunt</a:t>
            </a:r>
            <a:r>
              <a:rPr dirty="0"/>
              <a:t> </a:t>
            </a:r>
            <a:r>
              <a:rPr dirty="0" err="1"/>
              <a:t>mollit</a:t>
            </a:r>
            <a:r>
              <a:rPr dirty="0"/>
              <a:t> </a:t>
            </a:r>
            <a:r>
              <a:rPr dirty="0" err="1"/>
              <a:t>anim</a:t>
            </a:r>
            <a:r>
              <a:rPr dirty="0"/>
              <a:t> id est </a:t>
            </a:r>
            <a:r>
              <a:rPr dirty="0" err="1"/>
              <a:t>laborum</a:t>
            </a:r>
            <a:r>
              <a:rPr dirty="0"/>
              <a:t>.</a:t>
            </a:r>
          </a:p>
        </p:txBody>
      </p:sp>
      <p:grpSp>
        <p:nvGrpSpPr>
          <p:cNvPr id="373" name="Text Placeholder 17"/>
          <p:cNvGrpSpPr/>
          <p:nvPr/>
        </p:nvGrpSpPr>
        <p:grpSpPr>
          <a:xfrm>
            <a:off x="6508446" y="4828067"/>
            <a:ext cx="2588865" cy="358715"/>
            <a:chOff x="0" y="0"/>
            <a:chExt cx="2588864" cy="358714"/>
          </a:xfrm>
        </p:grpSpPr>
        <p:sp>
          <p:nvSpPr>
            <p:cNvPr id="371" name="Rounded Rectangle"/>
            <p:cNvSpPr/>
            <p:nvPr/>
          </p:nvSpPr>
          <p:spPr>
            <a:xfrm>
              <a:off x="0" y="0"/>
              <a:ext cx="2588865" cy="358715"/>
            </a:xfrm>
            <a:prstGeom prst="roundRect">
              <a:avLst>
                <a:gd name="adj" fmla="val 50000"/>
              </a:avLst>
            </a:prstGeom>
            <a:solidFill>
              <a:srgbClr val="96DCF8"/>
            </a:solidFill>
            <a:ln w="12700" cap="flat">
              <a:noFill/>
              <a:miter lim="400000"/>
            </a:ln>
            <a:effectLst/>
          </p:spPr>
          <p:txBody>
            <a:bodyPr wrap="square" lIns="45719" tIns="45719" rIns="45719" bIns="45719" numCol="1" anchor="ctr">
              <a:noAutofit/>
            </a:bodyPr>
            <a:lstStyle/>
            <a:p>
              <a:pPr algn="ctr" defTabSz="457200">
                <a:spcBef>
                  <a:spcPts val="600"/>
                </a:spcBef>
                <a:defRPr sz="1600"/>
              </a:pPr>
              <a:endParaRPr/>
            </a:p>
          </p:txBody>
        </p:sp>
        <p:sp>
          <p:nvSpPr>
            <p:cNvPr id="372" name="Subtitle and Button Style 1"/>
            <p:cNvSpPr txBox="1"/>
            <p:nvPr/>
          </p:nvSpPr>
          <p:spPr>
            <a:xfrm>
              <a:off x="112539" y="25686"/>
              <a:ext cx="2363786" cy="307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defTabSz="457200">
                <a:spcBef>
                  <a:spcPts val="600"/>
                </a:spcBef>
                <a:defRPr sz="1400" b="1">
                  <a:latin typeface="Book Antiqua"/>
                  <a:ea typeface="Book Antiqua"/>
                  <a:cs typeface="Book Antiqua"/>
                  <a:sym typeface="Book Antiqua"/>
                </a:defRPr>
              </a:lvl1pPr>
            </a:lstStyle>
            <a:p>
              <a:r>
                <a:rPr b="0" dirty="0">
                  <a:latin typeface="Aptos" panose="020B0004020202020204" pitchFamily="34" charset="0"/>
                </a:rPr>
                <a:t>Subtitle and Button Style 1</a:t>
              </a:r>
            </a:p>
          </p:txBody>
        </p:sp>
      </p:grpSp>
      <p:sp>
        <p:nvSpPr>
          <p:cNvPr id="374" name="Rounded Rectangle"/>
          <p:cNvSpPr/>
          <p:nvPr/>
        </p:nvSpPr>
        <p:spPr>
          <a:xfrm>
            <a:off x="6503194" y="5550532"/>
            <a:ext cx="2599278" cy="448437"/>
          </a:xfrm>
          <a:prstGeom prst="roundRect">
            <a:avLst>
              <a:gd name="adj" fmla="val 50000"/>
            </a:avLst>
          </a:prstGeom>
          <a:solidFill>
            <a:srgbClr val="111184"/>
          </a:solidFill>
          <a:ln w="28575" cap="flat">
            <a:solidFill>
              <a:srgbClr val="FFFFFF"/>
            </a:solidFill>
            <a:prstDash val="solid"/>
            <a:round/>
          </a:ln>
          <a:effectLst/>
        </p:spPr>
        <p:txBody>
          <a:bodyPr wrap="square" lIns="45719" tIns="45719" rIns="45719" bIns="45719" numCol="1" anchor="ctr">
            <a:noAutofit/>
          </a:bodyPr>
          <a:lstStyle/>
          <a:p>
            <a:pPr algn="ctr">
              <a:defRPr/>
            </a:pPr>
            <a:r>
              <a:rPr lang="en-US" sz="1300" b="1" dirty="0">
                <a:solidFill>
                  <a:schemeClr val="bg1"/>
                </a:solidFill>
                <a:latin typeface="Aptos SemiBold" panose="020B0004020202020204" pitchFamily="34" charset="0"/>
              </a:rPr>
              <a:t>Subtitle and Button Style 2</a:t>
            </a:r>
          </a:p>
        </p:txBody>
      </p:sp>
      <p:sp>
        <p:nvSpPr>
          <p:cNvPr id="377" name="Rectangle"/>
          <p:cNvSpPr/>
          <p:nvPr/>
        </p:nvSpPr>
        <p:spPr>
          <a:xfrm>
            <a:off x="1410261" y="948316"/>
            <a:ext cx="948219" cy="4876082"/>
          </a:xfrm>
          <a:prstGeom prst="rect">
            <a:avLst/>
          </a:prstGeom>
          <a:solidFill>
            <a:srgbClr val="FFFFFF"/>
          </a:solidFill>
          <a:ln w="12700">
            <a:solidFill>
              <a:srgbClr val="000000"/>
            </a:solidFill>
            <a:miter lim="400000"/>
          </a:ln>
        </p:spPr>
        <p:txBody>
          <a:bodyPr lIns="45719" rIns="45719" anchor="ctr"/>
          <a:lstStyle/>
          <a:p>
            <a:endParaRPr/>
          </a:p>
        </p:txBody>
      </p:sp>
      <p:sp>
        <p:nvSpPr>
          <p:cNvPr id="378" name="Rectangle"/>
          <p:cNvSpPr/>
          <p:nvPr/>
        </p:nvSpPr>
        <p:spPr>
          <a:xfrm>
            <a:off x="2474843" y="948316"/>
            <a:ext cx="948219" cy="4876082"/>
          </a:xfrm>
          <a:prstGeom prst="rect">
            <a:avLst/>
          </a:prstGeom>
          <a:solidFill>
            <a:srgbClr val="11117F"/>
          </a:solidFill>
          <a:ln w="12700">
            <a:solidFill>
              <a:srgbClr val="11117E"/>
            </a:solidFill>
            <a:miter lim="400000"/>
          </a:ln>
        </p:spPr>
        <p:txBody>
          <a:bodyPr lIns="45719" rIns="45719" anchor="ctr"/>
          <a:lstStyle/>
          <a:p>
            <a:endParaRPr/>
          </a:p>
        </p:txBody>
      </p:sp>
      <p:sp>
        <p:nvSpPr>
          <p:cNvPr id="379" name="Rectangle"/>
          <p:cNvSpPr/>
          <p:nvPr/>
        </p:nvSpPr>
        <p:spPr>
          <a:xfrm>
            <a:off x="3539425" y="948316"/>
            <a:ext cx="948219" cy="4876082"/>
          </a:xfrm>
          <a:prstGeom prst="rect">
            <a:avLst/>
          </a:prstGeom>
          <a:solidFill>
            <a:srgbClr val="A5DBF4"/>
          </a:solidFill>
          <a:ln w="12700">
            <a:solidFill>
              <a:srgbClr val="A5DBF4"/>
            </a:solidFill>
            <a:miter lim="400000"/>
          </a:ln>
        </p:spPr>
        <p:txBody>
          <a:bodyPr lIns="45719" rIns="45719" anchor="ctr"/>
          <a:lstStyle/>
          <a:p>
            <a:endParaRPr/>
          </a:p>
        </p:txBody>
      </p:sp>
      <p:sp>
        <p:nvSpPr>
          <p:cNvPr id="380" name="Rectangle"/>
          <p:cNvSpPr/>
          <p:nvPr/>
        </p:nvSpPr>
        <p:spPr>
          <a:xfrm>
            <a:off x="345680" y="948316"/>
            <a:ext cx="948218" cy="2426963"/>
          </a:xfrm>
          <a:prstGeom prst="rect">
            <a:avLst/>
          </a:prstGeom>
          <a:solidFill>
            <a:srgbClr val="000000"/>
          </a:solidFill>
          <a:ln w="12700">
            <a:solidFill>
              <a:srgbClr val="000000"/>
            </a:solidFill>
            <a:miter lim="400000"/>
          </a:ln>
        </p:spPr>
        <p:txBody>
          <a:bodyPr lIns="45719" rIns="45719" anchor="ctr"/>
          <a:lstStyle/>
          <a:p>
            <a:endParaRPr/>
          </a:p>
        </p:txBody>
      </p:sp>
      <p:sp>
        <p:nvSpPr>
          <p:cNvPr id="381" name="Rectangle"/>
          <p:cNvSpPr/>
          <p:nvPr/>
        </p:nvSpPr>
        <p:spPr>
          <a:xfrm>
            <a:off x="4612764" y="952978"/>
            <a:ext cx="948219" cy="1616248"/>
          </a:xfrm>
          <a:prstGeom prst="rect">
            <a:avLst/>
          </a:prstGeom>
          <a:solidFill>
            <a:srgbClr val="67349A"/>
          </a:solidFill>
          <a:ln w="12700">
            <a:solidFill>
              <a:srgbClr val="68349B"/>
            </a:solidFill>
            <a:miter lim="400000"/>
          </a:ln>
        </p:spPr>
        <p:txBody>
          <a:bodyPr lIns="45719" rIns="45719" anchor="ctr"/>
          <a:lstStyle/>
          <a:p>
            <a:endParaRPr/>
          </a:p>
        </p:txBody>
      </p:sp>
      <p:sp>
        <p:nvSpPr>
          <p:cNvPr id="382" name="Rectangle"/>
          <p:cNvSpPr/>
          <p:nvPr/>
        </p:nvSpPr>
        <p:spPr>
          <a:xfrm>
            <a:off x="4612764" y="2582421"/>
            <a:ext cx="948219" cy="1616248"/>
          </a:xfrm>
          <a:prstGeom prst="rect">
            <a:avLst/>
          </a:prstGeom>
          <a:solidFill>
            <a:srgbClr val="4FAD5B"/>
          </a:solidFill>
          <a:ln w="12700">
            <a:solidFill>
              <a:srgbClr val="4EAD5A"/>
            </a:solidFill>
            <a:miter lim="400000"/>
          </a:ln>
        </p:spPr>
        <p:txBody>
          <a:bodyPr lIns="45719" rIns="45719" anchor="ctr"/>
          <a:lstStyle/>
          <a:p>
            <a:endParaRPr/>
          </a:p>
        </p:txBody>
      </p:sp>
      <p:sp>
        <p:nvSpPr>
          <p:cNvPr id="383" name="Rectangle"/>
          <p:cNvSpPr/>
          <p:nvPr/>
        </p:nvSpPr>
        <p:spPr>
          <a:xfrm>
            <a:off x="4612764" y="4203488"/>
            <a:ext cx="948219" cy="1616248"/>
          </a:xfrm>
          <a:prstGeom prst="rect">
            <a:avLst/>
          </a:prstGeom>
          <a:solidFill>
            <a:srgbClr val="B02418"/>
          </a:solidFill>
          <a:ln w="12700">
            <a:solidFill>
              <a:srgbClr val="AF2417"/>
            </a:solidFill>
            <a:miter lim="400000"/>
          </a:ln>
        </p:spPr>
        <p:txBody>
          <a:bodyPr lIns="45719" rIns="45719" anchor="ctr"/>
          <a:lstStyle/>
          <a:p>
            <a:endParaRPr/>
          </a:p>
        </p:txBody>
      </p:sp>
      <p:sp>
        <p:nvSpPr>
          <p:cNvPr id="384" name="Rectangle"/>
          <p:cNvSpPr/>
          <p:nvPr/>
        </p:nvSpPr>
        <p:spPr>
          <a:xfrm>
            <a:off x="345680" y="3389692"/>
            <a:ext cx="948218" cy="2426963"/>
          </a:xfrm>
          <a:prstGeom prst="rect">
            <a:avLst/>
          </a:prstGeom>
          <a:solidFill>
            <a:srgbClr val="DDDDDD"/>
          </a:solidFill>
          <a:ln w="12700">
            <a:solidFill>
              <a:srgbClr val="DDDDDD"/>
            </a:solidFill>
            <a:miter lim="400000"/>
          </a:ln>
        </p:spPr>
        <p:txBody>
          <a:bodyPr lIns="45719" rIns="45719" anchor="ctr"/>
          <a:lstStyle/>
          <a:p>
            <a:endParaRPr/>
          </a:p>
        </p:txBody>
      </p:sp>
      <p:sp>
        <p:nvSpPr>
          <p:cNvPr id="385" name="Text Placeholder 10"/>
          <p:cNvSpPr txBox="1"/>
          <p:nvPr/>
        </p:nvSpPr>
        <p:spPr>
          <a:xfrm>
            <a:off x="463380" y="5912310"/>
            <a:ext cx="712818"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#000000</a:t>
            </a:r>
          </a:p>
        </p:txBody>
      </p:sp>
      <p:sp>
        <p:nvSpPr>
          <p:cNvPr id="386" name="Text Placeholder 10"/>
          <p:cNvSpPr txBox="1"/>
          <p:nvPr/>
        </p:nvSpPr>
        <p:spPr>
          <a:xfrm>
            <a:off x="380261" y="6116825"/>
            <a:ext cx="879056"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#dddddd</a:t>
            </a:r>
          </a:p>
        </p:txBody>
      </p:sp>
      <p:sp>
        <p:nvSpPr>
          <p:cNvPr id="387" name="Text Placeholder 10"/>
          <p:cNvSpPr txBox="1"/>
          <p:nvPr/>
        </p:nvSpPr>
        <p:spPr>
          <a:xfrm>
            <a:off x="1444843" y="5912310"/>
            <a:ext cx="879055"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#ffffff</a:t>
            </a:r>
          </a:p>
        </p:txBody>
      </p:sp>
      <p:sp>
        <p:nvSpPr>
          <p:cNvPr id="388" name="Text Placeholder 10"/>
          <p:cNvSpPr txBox="1"/>
          <p:nvPr/>
        </p:nvSpPr>
        <p:spPr>
          <a:xfrm>
            <a:off x="2509425" y="5912310"/>
            <a:ext cx="879055"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#111184</a:t>
            </a:r>
          </a:p>
        </p:txBody>
      </p:sp>
      <p:sp>
        <p:nvSpPr>
          <p:cNvPr id="389" name="Text Placeholder 10"/>
          <p:cNvSpPr txBox="1"/>
          <p:nvPr/>
        </p:nvSpPr>
        <p:spPr>
          <a:xfrm>
            <a:off x="3574007" y="5912310"/>
            <a:ext cx="879055"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#95ddf7</a:t>
            </a:r>
          </a:p>
        </p:txBody>
      </p:sp>
      <p:sp>
        <p:nvSpPr>
          <p:cNvPr id="390" name="Text Placeholder 10"/>
          <p:cNvSpPr txBox="1"/>
          <p:nvPr/>
        </p:nvSpPr>
        <p:spPr>
          <a:xfrm>
            <a:off x="4647346" y="5912310"/>
            <a:ext cx="879056"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#6f31a0</a:t>
            </a:r>
          </a:p>
        </p:txBody>
      </p:sp>
      <p:sp>
        <p:nvSpPr>
          <p:cNvPr id="391" name="Text Placeholder 10"/>
          <p:cNvSpPr txBox="1"/>
          <p:nvPr/>
        </p:nvSpPr>
        <p:spPr>
          <a:xfrm>
            <a:off x="4647346" y="6116825"/>
            <a:ext cx="879056"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#06b050</a:t>
            </a:r>
          </a:p>
        </p:txBody>
      </p:sp>
      <p:sp>
        <p:nvSpPr>
          <p:cNvPr id="392" name="Text Placeholder 10"/>
          <p:cNvSpPr txBox="1"/>
          <p:nvPr/>
        </p:nvSpPr>
        <p:spPr>
          <a:xfrm>
            <a:off x="4647346" y="6318574"/>
            <a:ext cx="879056" cy="29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defTabSz="457200">
              <a:defRPr sz="1300">
                <a:latin typeface="Aptos SemiBold"/>
                <a:ea typeface="Aptos SemiBold"/>
                <a:cs typeface="Aptos SemiBold"/>
                <a:sym typeface="Aptos SemiBold"/>
              </a:defRPr>
            </a:lvl1pPr>
          </a:lstStyle>
          <a:p>
            <a:r>
              <a:t>#c00000</a:t>
            </a:r>
          </a:p>
        </p:txBody>
      </p:sp>
      <p:sp>
        <p:nvSpPr>
          <p:cNvPr id="4" name="TextBox 8">
            <a:extLst>
              <a:ext uri="{FF2B5EF4-FFF2-40B4-BE49-F238E27FC236}">
                <a16:creationId xmlns:a16="http://schemas.microsoft.com/office/drawing/2014/main" id="{10E5AB60-0C26-CB07-90D2-F4C5DE33526A}"/>
              </a:ext>
            </a:extLst>
          </p:cNvPr>
          <p:cNvSpPr txBox="1"/>
          <p:nvPr/>
        </p:nvSpPr>
        <p:spPr>
          <a:xfrm>
            <a:off x="9576448" y="4822758"/>
            <a:ext cx="1059280"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dirty="0">
                <a:solidFill>
                  <a:srgbClr val="96DCF9"/>
                </a:solidFill>
                <a:latin typeface="Aptos" panose="020B0004020202020204" pitchFamily="34" charset="0"/>
              </a:rPr>
              <a:t>Subtitle </a:t>
            </a:r>
          </a:p>
        </p:txBody>
      </p:sp>
      <p:sp>
        <p:nvSpPr>
          <p:cNvPr id="5" name="TextBox 8">
            <a:extLst>
              <a:ext uri="{FF2B5EF4-FFF2-40B4-BE49-F238E27FC236}">
                <a16:creationId xmlns:a16="http://schemas.microsoft.com/office/drawing/2014/main" id="{C254E1DB-24DA-17AB-191C-98DE9804FBF9}"/>
              </a:ext>
            </a:extLst>
          </p:cNvPr>
          <p:cNvSpPr txBox="1"/>
          <p:nvPr/>
        </p:nvSpPr>
        <p:spPr>
          <a:xfrm>
            <a:off x="9576448" y="5590084"/>
            <a:ext cx="1059280"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1600" b="1">
                <a:solidFill>
                  <a:srgbClr val="111184"/>
                </a:solidFill>
                <a:latin typeface="Book Antiqua"/>
                <a:ea typeface="Book Antiqua"/>
                <a:cs typeface="Book Antiqua"/>
                <a:sym typeface="Book Antiqua"/>
              </a:defRPr>
            </a:lvl1pPr>
          </a:lstStyle>
          <a:p>
            <a:pPr>
              <a:spcAft>
                <a:spcPts val="1600"/>
              </a:spcAft>
            </a:pPr>
            <a:r>
              <a:rPr lang="en-US" dirty="0">
                <a:latin typeface="Aptos" panose="020B0004020202020204" pitchFamily="34" charset="0"/>
              </a:rPr>
              <a:t>Subtitle </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96B24"/>
      </a:accent1>
      <a:accent2>
        <a:srgbClr val="4EA72E"/>
      </a:accent2>
      <a:accent3>
        <a:srgbClr val="156082"/>
      </a:accent3>
      <a:accent4>
        <a:srgbClr val="0F9ED5"/>
      </a:accent4>
      <a:accent5>
        <a:srgbClr val="A02B93"/>
      </a:accent5>
      <a:accent6>
        <a:srgbClr val="E97132"/>
      </a:accent6>
      <a:hlink>
        <a:srgbClr val="0000FF"/>
      </a:hlink>
      <a:folHlink>
        <a:srgbClr val="FF00FF"/>
      </a:folHlink>
    </a:clrScheme>
    <a:fontScheme name="Office Theme">
      <a:majorFont>
        <a:latin typeface="Helvetica"/>
        <a:ea typeface="Helvetica"/>
        <a:cs typeface="Helvetica"/>
      </a:majorFont>
      <a:minorFont>
        <a:latin typeface="Aptos Display"/>
        <a:ea typeface="Aptos Display"/>
        <a:cs typeface="Aptos Display"/>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96B24"/>
      </a:accent1>
      <a:accent2>
        <a:srgbClr val="4EA72E"/>
      </a:accent2>
      <a:accent3>
        <a:srgbClr val="156082"/>
      </a:accent3>
      <a:accent4>
        <a:srgbClr val="0F9ED5"/>
      </a:accent4>
      <a:accent5>
        <a:srgbClr val="A02B93"/>
      </a:accent5>
      <a:accent6>
        <a:srgbClr val="E97132"/>
      </a:accent6>
      <a:hlink>
        <a:srgbClr val="0000FF"/>
      </a:hlink>
      <a:folHlink>
        <a:srgbClr val="FF00FF"/>
      </a:folHlink>
    </a:clrScheme>
    <a:fontScheme name="Office Theme">
      <a:majorFont>
        <a:latin typeface="Helvetica"/>
        <a:ea typeface="Helvetica"/>
        <a:cs typeface="Helvetica"/>
      </a:majorFont>
      <a:minorFont>
        <a:latin typeface="Aptos Display"/>
        <a:ea typeface="Aptos Display"/>
        <a:cs typeface="Aptos Display"/>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Display"/>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974</TotalTime>
  <Words>1330</Words>
  <Application>Microsoft Macintosh PowerPoint</Application>
  <PresentationFormat>Widescreen</PresentationFormat>
  <Paragraphs>225</Paragraphs>
  <Slides>13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Aptos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Oona Gleeson</cp:lastModifiedBy>
  <cp:revision>15</cp:revision>
  <dcterms:modified xsi:type="dcterms:W3CDTF">2026-01-29T20:01:16Z</dcterms:modified>
</cp:coreProperties>
</file>