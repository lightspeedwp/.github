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87" r:id="rId2"/>
    <p:sldId id="294" r:id="rId3"/>
    <p:sldId id="308" r:id="rId4"/>
    <p:sldId id="309" r:id="rId5"/>
    <p:sldId id="311" r:id="rId6"/>
    <p:sldId id="312" r:id="rId7"/>
    <p:sldId id="313" r:id="rId8"/>
    <p:sldId id="314" r:id="rId9"/>
    <p:sldId id="30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7" userDrawn="1">
          <p15:clr>
            <a:srgbClr val="A4A3A4"/>
          </p15:clr>
        </p15:guide>
        <p15:guide id="2" pos="384" userDrawn="1">
          <p15:clr>
            <a:srgbClr val="A4A3A4"/>
          </p15:clr>
        </p15:guide>
        <p15:guide id="5" orient="horz" pos="3936" userDrawn="1">
          <p15:clr>
            <a:srgbClr val="A4A3A4"/>
          </p15:clr>
        </p15:guide>
        <p15:guide id="6" orient="horz" pos="4032" userDrawn="1">
          <p15:clr>
            <a:srgbClr val="A4A3A4"/>
          </p15:clr>
        </p15:guide>
        <p15:guide id="7" orient="horz" pos="1296" userDrawn="1">
          <p15:clr>
            <a:srgbClr val="A4A3A4"/>
          </p15:clr>
        </p15:guide>
        <p15:guide id="8" orient="horz" pos="67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94A0"/>
    <a:srgbClr val="77425F"/>
    <a:srgbClr val="93677C"/>
    <a:srgbClr val="584D56"/>
    <a:srgbClr val="666633"/>
    <a:srgbClr val="F2E9E4"/>
    <a:srgbClr val="9A8C98"/>
    <a:srgbClr val="500E35"/>
    <a:srgbClr val="C9ADA7"/>
    <a:srgbClr val="7567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7F28C0-F899-4B8F-9F22-2A8EFFF9AAE9}" v="106" dt="2025-10-30T21:53:48.6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42" autoAdjust="0"/>
    <p:restoredTop sz="89825" autoAdjust="0"/>
  </p:normalViewPr>
  <p:slideViewPr>
    <p:cSldViewPr snapToGrid="0" showGuides="1">
      <p:cViewPr varScale="1">
        <p:scale>
          <a:sx n="130" d="100"/>
          <a:sy n="130" d="100"/>
        </p:scale>
        <p:origin x="1104" y="184"/>
      </p:cViewPr>
      <p:guideLst>
        <p:guide orient="horz" pos="407"/>
        <p:guide pos="384"/>
        <p:guide orient="horz" pos="3936"/>
        <p:guide orient="horz" pos="4032"/>
        <p:guide orient="horz" pos="1296"/>
        <p:guide orient="horz" pos="678"/>
      </p:guideLst>
    </p:cSldViewPr>
  </p:slid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6BB763-BE20-4815-82CA-68D634382FF9}" type="datetimeFigureOut">
              <a:rPr lang="en-US" smtClean="0"/>
              <a:t>1/29/26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44FC90-7443-47EC-AB45-DD059F6E134A}" type="slidenum">
              <a:rPr lang="en-US" smtClean="0"/>
              <a:t>‹#›</a:t>
            </a:fld>
            <a:endParaRPr lang="en-US"/>
          </a:p>
        </p:txBody>
      </p:sp>
    </p:spTree>
    <p:extLst>
      <p:ext uri="{BB962C8B-B14F-4D97-AF65-F5344CB8AC3E}">
        <p14:creationId xmlns:p14="http://schemas.microsoft.com/office/powerpoint/2010/main" val="3465144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44FC90-7443-47EC-AB45-DD059F6E134A}" type="slidenum">
              <a:rPr lang="en-US" smtClean="0"/>
              <a:t>4</a:t>
            </a:fld>
            <a:endParaRPr lang="en-US"/>
          </a:p>
        </p:txBody>
      </p:sp>
    </p:spTree>
    <p:extLst>
      <p:ext uri="{BB962C8B-B14F-4D97-AF65-F5344CB8AC3E}">
        <p14:creationId xmlns:p14="http://schemas.microsoft.com/office/powerpoint/2010/main" val="4109982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44FC90-7443-47EC-AB45-DD059F6E134A}" type="slidenum">
              <a:rPr lang="en-US" smtClean="0"/>
              <a:t>6</a:t>
            </a:fld>
            <a:endParaRPr lang="en-US"/>
          </a:p>
        </p:txBody>
      </p:sp>
    </p:spTree>
    <p:extLst>
      <p:ext uri="{BB962C8B-B14F-4D97-AF65-F5344CB8AC3E}">
        <p14:creationId xmlns:p14="http://schemas.microsoft.com/office/powerpoint/2010/main" val="376542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7834A-154A-2AB1-BFF8-0FAEF06BFF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70A96A-04E6-F9CF-BDC5-1A3EE24A16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83593C-D0D9-A331-FBF2-A6A47FCCD27E}"/>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5" name="Footer Placeholder 4">
            <a:extLst>
              <a:ext uri="{FF2B5EF4-FFF2-40B4-BE49-F238E27FC236}">
                <a16:creationId xmlns:a16="http://schemas.microsoft.com/office/drawing/2014/main" id="{A2BF8D68-9B5B-C1F8-E051-C3FDF1F088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09B13F-1766-957C-4FB9-F703E8C05E14}"/>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866075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2F57E-448E-4428-501C-BE73AF2E83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34EB32-365D-674B-2C67-46BB920642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581BF1-28FD-13AC-67DE-8DE61BE455C5}"/>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5" name="Footer Placeholder 4">
            <a:extLst>
              <a:ext uri="{FF2B5EF4-FFF2-40B4-BE49-F238E27FC236}">
                <a16:creationId xmlns:a16="http://schemas.microsoft.com/office/drawing/2014/main" id="{C2F0072E-3ED8-866C-9C6B-D84AF362FD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04A62F-37B0-ABC3-C43C-1635FBF26033}"/>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3820953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35403-1BE4-A36E-BDB7-0BD6C33897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76C16F-2939-D22B-7154-DCB05AC53F8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6A6733-84B8-43A3-4E37-2F481EE58D83}"/>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5" name="Footer Placeholder 4">
            <a:extLst>
              <a:ext uri="{FF2B5EF4-FFF2-40B4-BE49-F238E27FC236}">
                <a16:creationId xmlns:a16="http://schemas.microsoft.com/office/drawing/2014/main" id="{2B0C895B-3E40-69E9-3E52-AAAD263B3A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8D8BC8-2AB6-20E7-0FFE-6A5E2E305AE0}"/>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225713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7555B-4E9F-0EB6-9D14-7D9E21295C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BC226E-5546-E3FC-AC78-C87FDFF244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D63804-FE30-F3F4-6A53-E7A95E0648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9FBE5A-0E25-F4CF-4026-E6B93E84A505}"/>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6" name="Footer Placeholder 5">
            <a:extLst>
              <a:ext uri="{FF2B5EF4-FFF2-40B4-BE49-F238E27FC236}">
                <a16:creationId xmlns:a16="http://schemas.microsoft.com/office/drawing/2014/main" id="{2A86B451-1FE7-664C-F356-E1EC0B0696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9FA165-C051-9E3E-C61A-ECF2B37CBAD7}"/>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3246928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7EB67-05F1-7F1E-949B-6785DAC0CF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55A88B-7A22-A057-44E2-599D5B7BF3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426321-D941-ADCA-BD23-7F9F764EC4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F607420-A387-3FF5-9CA7-5AB63F29D4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999877-9BDB-1FFA-BAF7-4E7036B187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259E21-2E61-5366-777D-15A1BDDE61A1}"/>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8" name="Footer Placeholder 7">
            <a:extLst>
              <a:ext uri="{FF2B5EF4-FFF2-40B4-BE49-F238E27FC236}">
                <a16:creationId xmlns:a16="http://schemas.microsoft.com/office/drawing/2014/main" id="{0B7BF14C-B1D3-F33A-6E1B-38C74E23E2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51EF93-EE79-F59E-66E6-60ED9F0FFCFA}"/>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1899595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F467F-D8B9-F829-BF17-79BE27BDD5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534B9A9-362C-C786-52F8-0BA409DC60FD}"/>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4" name="Footer Placeholder 3">
            <a:extLst>
              <a:ext uri="{FF2B5EF4-FFF2-40B4-BE49-F238E27FC236}">
                <a16:creationId xmlns:a16="http://schemas.microsoft.com/office/drawing/2014/main" id="{2677DD1F-042B-52B0-E3BF-60CB171FD41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0F6B8D-40C9-20D3-4FB0-D0980656C4D4}"/>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2770894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35A0BA-007F-0A64-7C0C-2A26EB55075D}"/>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3" name="Footer Placeholder 2">
            <a:extLst>
              <a:ext uri="{FF2B5EF4-FFF2-40B4-BE49-F238E27FC236}">
                <a16:creationId xmlns:a16="http://schemas.microsoft.com/office/drawing/2014/main" id="{5C6DB47D-AA07-B2A7-70EA-6EB9340546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9E4076-2D98-C282-D2BF-0417316CB3FF}"/>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2711536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7AF3C-BB3A-C1BF-FD35-9E378E536A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7E41BA-75C7-B093-95E5-DD1B31E465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C53259-1744-4A23-B9C4-392FAFBF80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C4C2DF-8AF4-166D-1643-40B16C8AAE16}"/>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6" name="Footer Placeholder 5">
            <a:extLst>
              <a:ext uri="{FF2B5EF4-FFF2-40B4-BE49-F238E27FC236}">
                <a16:creationId xmlns:a16="http://schemas.microsoft.com/office/drawing/2014/main" id="{9E68E867-9819-149E-6B56-88AC7A7B34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1C1965-FCF9-9E8B-8C7A-95C0829A39C4}"/>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3253809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FF437-232F-5C83-5ECF-9A74F80B4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751E352-A2FB-72F7-8CEB-254F14708B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10983C-7F87-554F-2FCC-34478AA50E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72DD98-938F-7AB4-2D8D-5CB41C7CDD2E}"/>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6" name="Footer Placeholder 5">
            <a:extLst>
              <a:ext uri="{FF2B5EF4-FFF2-40B4-BE49-F238E27FC236}">
                <a16:creationId xmlns:a16="http://schemas.microsoft.com/office/drawing/2014/main" id="{F68F3397-BE28-257B-E433-2EB95A4356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C70617-1D80-A346-3367-62D5BBE1FB89}"/>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293583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E8439-46A8-FF9F-DC5A-A936CD66BE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5D09F4-1D3E-BC8C-0676-2468B19C41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C51834-5EFD-3CE2-DF88-9A5FD7D0CB38}"/>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5" name="Footer Placeholder 4">
            <a:extLst>
              <a:ext uri="{FF2B5EF4-FFF2-40B4-BE49-F238E27FC236}">
                <a16:creationId xmlns:a16="http://schemas.microsoft.com/office/drawing/2014/main" id="{78661CDE-5FA5-BFE9-B24C-8574F86E26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C009AA-4177-CE6E-7DEB-9EEE863677E7}"/>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1742071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29A15D-4225-6D07-AE36-2236727C46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8D1B42-7340-E18B-3A8A-57B214D595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17176D-05F7-A263-1492-C4934B5B19B7}"/>
              </a:ext>
            </a:extLst>
          </p:cNvPr>
          <p:cNvSpPr>
            <a:spLocks noGrp="1"/>
          </p:cNvSpPr>
          <p:nvPr>
            <p:ph type="dt" sz="half" idx="10"/>
          </p:nvPr>
        </p:nvSpPr>
        <p:spPr/>
        <p:txBody>
          <a:bodyPr/>
          <a:lstStyle/>
          <a:p>
            <a:fld id="{39948B70-3188-4CC6-88F8-4A3AB16213E3}" type="datetimeFigureOut">
              <a:rPr lang="en-US" smtClean="0"/>
              <a:t>1/29/26</a:t>
            </a:fld>
            <a:endParaRPr lang="en-US"/>
          </a:p>
        </p:txBody>
      </p:sp>
      <p:sp>
        <p:nvSpPr>
          <p:cNvPr id="5" name="Footer Placeholder 4">
            <a:extLst>
              <a:ext uri="{FF2B5EF4-FFF2-40B4-BE49-F238E27FC236}">
                <a16:creationId xmlns:a16="http://schemas.microsoft.com/office/drawing/2014/main" id="{9116FBAE-9BC2-E64B-567A-A2FB5D1A9C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823A03-36AD-9D79-5FDD-7D4F99D03069}"/>
              </a:ext>
            </a:extLst>
          </p:cNvPr>
          <p:cNvSpPr>
            <a:spLocks noGrp="1"/>
          </p:cNvSpPr>
          <p:nvPr>
            <p:ph type="sldNum" sz="quarter" idx="12"/>
          </p:nvPr>
        </p:nvSpPr>
        <p:spPr/>
        <p:txBody>
          <a:bodyPr/>
          <a:lstStyle/>
          <a:p>
            <a:fld id="{20CBEBC8-8D23-4C63-8EAA-E8E0ABEE77BF}" type="slidenum">
              <a:rPr lang="en-US" smtClean="0"/>
              <a:t>‹#›</a:t>
            </a:fld>
            <a:endParaRPr lang="en-US"/>
          </a:p>
        </p:txBody>
      </p:sp>
    </p:spTree>
    <p:extLst>
      <p:ext uri="{BB962C8B-B14F-4D97-AF65-F5344CB8AC3E}">
        <p14:creationId xmlns:p14="http://schemas.microsoft.com/office/powerpoint/2010/main" val="3005673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747252-379E-1B6A-48E6-81008E6326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0E8083-C0AE-D3E1-3BCF-6966563ED9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501067-C539-8E84-012F-8E9CD61EC5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948B70-3188-4CC6-88F8-4A3AB16213E3}" type="datetimeFigureOut">
              <a:rPr lang="en-US" smtClean="0"/>
              <a:t>1/29/26</a:t>
            </a:fld>
            <a:endParaRPr lang="en-US"/>
          </a:p>
        </p:txBody>
      </p:sp>
      <p:sp>
        <p:nvSpPr>
          <p:cNvPr id="5" name="Footer Placeholder 4">
            <a:extLst>
              <a:ext uri="{FF2B5EF4-FFF2-40B4-BE49-F238E27FC236}">
                <a16:creationId xmlns:a16="http://schemas.microsoft.com/office/drawing/2014/main" id="{D0FBD4CE-6B74-B993-C093-C0173A50CC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94C84CA-A592-D44D-6A1F-76CD59E23C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CBEBC8-8D23-4C63-8EAA-E8E0ABEE77BF}" type="slidenum">
              <a:rPr lang="en-US" smtClean="0"/>
              <a:t>‹#›</a:t>
            </a:fld>
            <a:endParaRPr lang="en-US"/>
          </a:p>
        </p:txBody>
      </p:sp>
    </p:spTree>
    <p:extLst>
      <p:ext uri="{BB962C8B-B14F-4D97-AF65-F5344CB8AC3E}">
        <p14:creationId xmlns:p14="http://schemas.microsoft.com/office/powerpoint/2010/main" val="26548755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EA782F2E-1F9C-0828-5C14-AFAFA2156BC7}"/>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E3F19DB3-E55B-7EA9-F47E-7FECF52A79F6}"/>
              </a:ext>
            </a:extLst>
          </p:cNvPr>
          <p:cNvSpPr txBox="1">
            <a:spLocks/>
          </p:cNvSpPr>
          <p:nvPr/>
        </p:nvSpPr>
        <p:spPr>
          <a:xfrm>
            <a:off x="623857" y="2235200"/>
            <a:ext cx="8844776" cy="2387600"/>
          </a:xfrm>
          <a:prstGeom prst="rect">
            <a:avLst/>
          </a:prstGeom>
        </p:spPr>
        <p:txBody>
          <a:bodyPr vert="horz" lIns="0" tIns="0" rIns="0" bIns="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solidFill>
                  <a:schemeClr val="bg1"/>
                </a:solidFill>
                <a:latin typeface="+mn-lt"/>
              </a:rPr>
              <a:t>Author · Year · Conference </a:t>
            </a:r>
          </a:p>
        </p:txBody>
      </p:sp>
      <p:sp>
        <p:nvSpPr>
          <p:cNvPr id="4" name="Title 1">
            <a:extLst>
              <a:ext uri="{FF2B5EF4-FFF2-40B4-BE49-F238E27FC236}">
                <a16:creationId xmlns:a16="http://schemas.microsoft.com/office/drawing/2014/main" id="{0DDCD338-6EFB-9EC1-BBEC-2CC884E198C3}"/>
              </a:ext>
            </a:extLst>
          </p:cNvPr>
          <p:cNvSpPr txBox="1">
            <a:spLocks/>
          </p:cNvSpPr>
          <p:nvPr/>
        </p:nvSpPr>
        <p:spPr>
          <a:xfrm>
            <a:off x="540751" y="546976"/>
            <a:ext cx="11027392" cy="1809337"/>
          </a:xfrm>
          <a:prstGeom prst="rect">
            <a:avLst/>
          </a:prstGeom>
        </p:spPr>
        <p:txBody>
          <a:bodyPr vert="horz" lIns="0" tIns="0" rIns="0" bIns="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9600" dirty="0">
                <a:solidFill>
                  <a:schemeClr val="bg1"/>
                </a:solidFill>
              </a:rPr>
              <a:t>Project Title</a:t>
            </a:r>
          </a:p>
        </p:txBody>
      </p:sp>
      <p:pic>
        <p:nvPicPr>
          <p:cNvPr id="7" name="Picture 6">
            <a:extLst>
              <a:ext uri="{FF2B5EF4-FFF2-40B4-BE49-F238E27FC236}">
                <a16:creationId xmlns:a16="http://schemas.microsoft.com/office/drawing/2014/main" id="{0C2113F6-198B-DC90-FA83-3E5FCC8D9500}"/>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982692" y="2481975"/>
            <a:ext cx="5069378" cy="5069378"/>
          </a:xfrm>
          <a:prstGeom prst="rect">
            <a:avLst/>
          </a:prstGeom>
        </p:spPr>
      </p:pic>
    </p:spTree>
    <p:extLst>
      <p:ext uri="{BB962C8B-B14F-4D97-AF65-F5344CB8AC3E}">
        <p14:creationId xmlns:p14="http://schemas.microsoft.com/office/powerpoint/2010/main" val="892965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CEEFD548-7CC3-07DA-9944-408A6242CA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6F4C1-3869-F4D1-CBF7-2B18AA68E080}"/>
              </a:ext>
            </a:extLst>
          </p:cNvPr>
          <p:cNvSpPr>
            <a:spLocks noGrp="1"/>
          </p:cNvSpPr>
          <p:nvPr>
            <p:ph type="title" idx="4294967295"/>
          </p:nvPr>
        </p:nvSpPr>
        <p:spPr>
          <a:xfrm>
            <a:off x="609411" y="580091"/>
            <a:ext cx="4483100" cy="685800"/>
          </a:xfrm>
        </p:spPr>
        <p:txBody>
          <a:bodyPr lIns="0" tIns="0" rIns="0" bIns="0" anchor="t">
            <a:noAutofit/>
          </a:bodyPr>
          <a:lstStyle/>
          <a:p>
            <a:r>
              <a:rPr lang="en-US" sz="4800" dirty="0">
                <a:solidFill>
                  <a:schemeClr val="bg1"/>
                </a:solidFill>
                <a:latin typeface="Arial Black" panose="020B0A04020102020204" pitchFamily="34" charset="0"/>
              </a:rPr>
              <a:t>Background</a:t>
            </a:r>
          </a:p>
        </p:txBody>
      </p:sp>
      <p:sp>
        <p:nvSpPr>
          <p:cNvPr id="3" name="Content Placeholder 2">
            <a:extLst>
              <a:ext uri="{FF2B5EF4-FFF2-40B4-BE49-F238E27FC236}">
                <a16:creationId xmlns:a16="http://schemas.microsoft.com/office/drawing/2014/main" id="{78EEF9DC-BD84-2917-8C96-5F27DE203215}"/>
              </a:ext>
            </a:extLst>
          </p:cNvPr>
          <p:cNvSpPr>
            <a:spLocks noGrp="1"/>
          </p:cNvSpPr>
          <p:nvPr>
            <p:ph idx="4294967295"/>
          </p:nvPr>
        </p:nvSpPr>
        <p:spPr>
          <a:xfrm>
            <a:off x="609410" y="2075795"/>
            <a:ext cx="4796308" cy="4163079"/>
          </a:xfrm>
        </p:spPr>
        <p:txBody>
          <a:bodyPr lIns="0" tIns="0" rIns="0" bIns="0" anchor="t">
            <a:noAutofit/>
          </a:bodyPr>
          <a:lstStyle/>
          <a:p>
            <a:pPr marL="0" indent="0">
              <a:lnSpc>
                <a:spcPct val="110000"/>
              </a:lnSpc>
              <a:spcBef>
                <a:spcPts val="0"/>
              </a:spcBef>
              <a:spcAft>
                <a:spcPts val="1200"/>
              </a:spcAft>
              <a:buNone/>
            </a:pPr>
            <a:r>
              <a:rPr lang="en-US" sz="1600" dirty="0">
                <a:solidFill>
                  <a:schemeClr val="bg1"/>
                </a:solidFill>
                <a:latin typeface="Aptos" panose="020B0004020202020204" pitchFamily="34" charset="0"/>
              </a:rPr>
              <a:t>A brief description of what the study is about in a standard inverted period format. For example: here is a broad medical phenomenon we all know about. Here is how that biological phenomenon applies to this specific study system. However, we still don’t understand how our independent variable affects the dependent variables more broadly.  In the last sentence of this paragraph, we will specify the research question.</a:t>
            </a:r>
          </a:p>
          <a:p>
            <a:pPr marL="0" indent="0">
              <a:lnSpc>
                <a:spcPct val="110000"/>
              </a:lnSpc>
              <a:spcBef>
                <a:spcPts val="0"/>
              </a:spcBef>
              <a:spcAft>
                <a:spcPts val="1200"/>
              </a:spcAft>
              <a:buNone/>
            </a:pPr>
            <a:r>
              <a:rPr lang="en-US" sz="1600" dirty="0">
                <a:solidFill>
                  <a:schemeClr val="bg1"/>
                </a:solidFill>
                <a:latin typeface="Aptos" panose="020B0004020202020204" pitchFamily="34" charset="0"/>
              </a:rPr>
              <a:t>Down here we will describe what is already known about this question based on the above papers. It’s not important that you can read what’s in the papers, only important that you can see the titles, authors, year, and journal. The papers will likely be recognizable to the audience, but it’s not important if they’re not. </a:t>
            </a:r>
          </a:p>
          <a:p>
            <a:pPr marL="0" indent="0">
              <a:lnSpc>
                <a:spcPct val="110000"/>
              </a:lnSpc>
              <a:spcBef>
                <a:spcPts val="0"/>
              </a:spcBef>
              <a:spcAft>
                <a:spcPts val="1200"/>
              </a:spcAft>
              <a:buNone/>
            </a:pPr>
            <a:r>
              <a:rPr lang="en-US" sz="1600" dirty="0">
                <a:solidFill>
                  <a:schemeClr val="bg1"/>
                </a:solidFill>
                <a:latin typeface="Aptos" panose="020B0004020202020204" pitchFamily="34" charset="0"/>
              </a:rPr>
              <a:t> </a:t>
            </a:r>
          </a:p>
        </p:txBody>
      </p:sp>
      <p:sp>
        <p:nvSpPr>
          <p:cNvPr id="4" name="Rectangle 3">
            <a:extLst>
              <a:ext uri="{FF2B5EF4-FFF2-40B4-BE49-F238E27FC236}">
                <a16:creationId xmlns:a16="http://schemas.microsoft.com/office/drawing/2014/main" id="{CF17BC58-101F-BC4B-F2EF-55D98CE93322}"/>
              </a:ext>
            </a:extLst>
          </p:cNvPr>
          <p:cNvSpPr/>
          <p:nvPr/>
        </p:nvSpPr>
        <p:spPr>
          <a:xfrm>
            <a:off x="9387250" y="853012"/>
            <a:ext cx="2195338" cy="3240106"/>
          </a:xfrm>
          <a:prstGeom prst="rect">
            <a:avLst/>
          </a:prstGeom>
          <a:solidFill>
            <a:schemeClr val="accent1">
              <a:lumMod val="75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 name="Rectangle 6">
            <a:extLst>
              <a:ext uri="{FF2B5EF4-FFF2-40B4-BE49-F238E27FC236}">
                <a16:creationId xmlns:a16="http://schemas.microsoft.com/office/drawing/2014/main" id="{7EE7FC41-A65D-7472-896B-633DF9371C69}"/>
              </a:ext>
            </a:extLst>
          </p:cNvPr>
          <p:cNvSpPr/>
          <p:nvPr/>
        </p:nvSpPr>
        <p:spPr>
          <a:xfrm>
            <a:off x="6576063" y="850628"/>
            <a:ext cx="2195338" cy="3240106"/>
          </a:xfrm>
          <a:prstGeom prst="rect">
            <a:avLst/>
          </a:prstGeom>
          <a:solidFill>
            <a:schemeClr val="accent1">
              <a:lumMod val="75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8" name="Picture 7">
            <a:extLst>
              <a:ext uri="{FF2B5EF4-FFF2-40B4-BE49-F238E27FC236}">
                <a16:creationId xmlns:a16="http://schemas.microsoft.com/office/drawing/2014/main" id="{7DB8BDEB-4DA8-96B6-E751-943C50705F04}"/>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6456" t="6550" r="5402" b="6787"/>
          <a:stretch>
            <a:fillRect/>
          </a:stretch>
        </p:blipFill>
        <p:spPr>
          <a:xfrm>
            <a:off x="9158197" y="648497"/>
            <a:ext cx="2195338" cy="3237723"/>
          </a:xfrm>
          <a:prstGeom prst="rect">
            <a:avLst/>
          </a:prstGeom>
        </p:spPr>
      </p:pic>
      <p:pic>
        <p:nvPicPr>
          <p:cNvPr id="6" name="Picture 5">
            <a:extLst>
              <a:ext uri="{FF2B5EF4-FFF2-40B4-BE49-F238E27FC236}">
                <a16:creationId xmlns:a16="http://schemas.microsoft.com/office/drawing/2014/main" id="{52EF631E-7CB3-495B-1BF8-713B983FF6EF}"/>
              </a:ext>
            </a:extLst>
          </p:cNvPr>
          <p:cNvPicPr>
            <a:picLocks noChangeAspect="1"/>
          </p:cNvPicPr>
          <p:nvPr/>
        </p:nvPicPr>
        <p:blipFill>
          <a:blip r:embed="rId4">
            <a:extLst>
              <a:ext uri="{28A0092B-C50C-407E-A947-70E740481C1C}">
                <a14:useLocalDpi xmlns:a14="http://schemas.microsoft.com/office/drawing/2010/main" val="0"/>
              </a:ext>
            </a:extLst>
          </a:blip>
          <a:srcRect l="7253" t="9218" r="6859" b="6332"/>
          <a:stretch>
            <a:fillRect/>
          </a:stretch>
        </p:blipFill>
        <p:spPr>
          <a:xfrm>
            <a:off x="6347011" y="646113"/>
            <a:ext cx="2195338" cy="3237723"/>
          </a:xfrm>
          <a:prstGeom prst="rect">
            <a:avLst/>
          </a:prstGeom>
        </p:spPr>
      </p:pic>
    </p:spTree>
    <p:extLst>
      <p:ext uri="{BB962C8B-B14F-4D97-AF65-F5344CB8AC3E}">
        <p14:creationId xmlns:p14="http://schemas.microsoft.com/office/powerpoint/2010/main" val="2322483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3F59A1B0-8FAC-90F9-E3B0-AAC74B08BB34}"/>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98556335-AB97-51E2-80DD-B3F3B87CE6C3}"/>
              </a:ext>
            </a:extLst>
          </p:cNvPr>
          <p:cNvPicPr>
            <a:picLocks noChangeAspect="1"/>
          </p:cNvPicPr>
          <p:nvPr/>
        </p:nvPicPr>
        <p:blipFill>
          <a:blip r:embed="rId2">
            <a:duotone>
              <a:schemeClr val="accent1">
                <a:shade val="45000"/>
                <a:satMod val="135000"/>
              </a:schemeClr>
              <a:prstClr val="white"/>
            </a:duotone>
            <a:alphaModFix amt="35000"/>
            <a:extLst>
              <a:ext uri="{28A0092B-C50C-407E-A947-70E740481C1C}">
                <a14:useLocalDpi xmlns:a14="http://schemas.microsoft.com/office/drawing/2010/main" val="0"/>
              </a:ext>
            </a:extLst>
          </a:blip>
          <a:srcRect t="22244"/>
          <a:stretch>
            <a:fillRect/>
          </a:stretch>
        </p:blipFill>
        <p:spPr>
          <a:xfrm>
            <a:off x="268941" y="0"/>
            <a:ext cx="4275326" cy="3324328"/>
          </a:xfrm>
          <a:prstGeom prst="rect">
            <a:avLst/>
          </a:prstGeom>
        </p:spPr>
      </p:pic>
      <p:sp>
        <p:nvSpPr>
          <p:cNvPr id="2" name="Title 1">
            <a:extLst>
              <a:ext uri="{FF2B5EF4-FFF2-40B4-BE49-F238E27FC236}">
                <a16:creationId xmlns:a16="http://schemas.microsoft.com/office/drawing/2014/main" id="{05C46922-5E77-64AA-76A7-71641855CA47}"/>
              </a:ext>
            </a:extLst>
          </p:cNvPr>
          <p:cNvSpPr>
            <a:spLocks noGrp="1"/>
          </p:cNvSpPr>
          <p:nvPr>
            <p:ph type="title" idx="4294967295"/>
          </p:nvPr>
        </p:nvSpPr>
        <p:spPr>
          <a:xfrm>
            <a:off x="7101840" y="580091"/>
            <a:ext cx="4480560" cy="685800"/>
          </a:xfrm>
        </p:spPr>
        <p:txBody>
          <a:bodyPr lIns="0" tIns="0" rIns="0" bIns="0" anchor="t">
            <a:noAutofit/>
          </a:bodyPr>
          <a:lstStyle/>
          <a:p>
            <a:pPr algn="r"/>
            <a:r>
              <a:rPr lang="en-US" sz="4800" dirty="0">
                <a:solidFill>
                  <a:schemeClr val="bg1"/>
                </a:solidFill>
                <a:latin typeface="Arial Black" panose="020B0A04020102020204" pitchFamily="34" charset="0"/>
              </a:rPr>
              <a:t>Objectives</a:t>
            </a:r>
          </a:p>
        </p:txBody>
      </p:sp>
      <p:sp>
        <p:nvSpPr>
          <p:cNvPr id="9" name="Rectangle 8">
            <a:extLst>
              <a:ext uri="{FF2B5EF4-FFF2-40B4-BE49-F238E27FC236}">
                <a16:creationId xmlns:a16="http://schemas.microsoft.com/office/drawing/2014/main" id="{C4AE20D3-39A6-4945-70C3-8233388F6357}"/>
              </a:ext>
            </a:extLst>
          </p:cNvPr>
          <p:cNvSpPr/>
          <p:nvPr/>
        </p:nvSpPr>
        <p:spPr>
          <a:xfrm>
            <a:off x="3810000" y="1705146"/>
            <a:ext cx="7772401" cy="1325564"/>
          </a:xfrm>
          <a:prstGeom prst="rect">
            <a:avLst/>
          </a:prstGeom>
          <a:solidFill>
            <a:schemeClr val="accent1">
              <a:lumMod val="75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 name="Content Placeholder 2">
            <a:extLst>
              <a:ext uri="{FF2B5EF4-FFF2-40B4-BE49-F238E27FC236}">
                <a16:creationId xmlns:a16="http://schemas.microsoft.com/office/drawing/2014/main" id="{27F4E90D-ACD8-5312-181A-B8332D4F44A2}"/>
              </a:ext>
            </a:extLst>
          </p:cNvPr>
          <p:cNvSpPr>
            <a:spLocks noGrp="1"/>
          </p:cNvSpPr>
          <p:nvPr>
            <p:ph idx="4294967295"/>
          </p:nvPr>
        </p:nvSpPr>
        <p:spPr>
          <a:xfrm>
            <a:off x="4069976" y="1950463"/>
            <a:ext cx="7293807" cy="834929"/>
          </a:xfrm>
        </p:spPr>
        <p:txBody>
          <a:bodyPr lIns="0" tIns="0" rIns="0" bIns="0" anchor="t">
            <a:noAutofit/>
          </a:bodyPr>
          <a:lstStyle/>
          <a:p>
            <a:pPr marL="0" indent="0">
              <a:lnSpc>
                <a:spcPct val="110000"/>
              </a:lnSpc>
              <a:spcBef>
                <a:spcPts val="0"/>
              </a:spcBef>
              <a:spcAft>
                <a:spcPts val="1200"/>
              </a:spcAft>
              <a:buNone/>
            </a:pPr>
            <a:r>
              <a:rPr lang="en-US" sz="1600" dirty="0">
                <a:solidFill>
                  <a:schemeClr val="bg1"/>
                </a:solidFill>
                <a:latin typeface="Aptos" panose="020B0004020202020204" pitchFamily="34" charset="0"/>
              </a:rPr>
              <a:t>Here is the first scientific objective. Let’s say that it’s to establish a line of genetically identical mice that have the gene of interest, setting the stage for the rest of the experiment. </a:t>
            </a:r>
          </a:p>
        </p:txBody>
      </p:sp>
      <p:sp>
        <p:nvSpPr>
          <p:cNvPr id="11" name="TextBox 10">
            <a:extLst>
              <a:ext uri="{FF2B5EF4-FFF2-40B4-BE49-F238E27FC236}">
                <a16:creationId xmlns:a16="http://schemas.microsoft.com/office/drawing/2014/main" id="{B304EC46-11B8-6073-A0A6-FAC0330B8B1E}"/>
              </a:ext>
            </a:extLst>
          </p:cNvPr>
          <p:cNvSpPr txBox="1"/>
          <p:nvPr/>
        </p:nvSpPr>
        <p:spPr>
          <a:xfrm>
            <a:off x="2712650" y="1860097"/>
            <a:ext cx="697627" cy="1015663"/>
          </a:xfrm>
          <a:prstGeom prst="rect">
            <a:avLst/>
          </a:prstGeom>
          <a:noFill/>
        </p:spPr>
        <p:txBody>
          <a:bodyPr wrap="none" rtlCol="0">
            <a:spAutoFit/>
          </a:bodyPr>
          <a:lstStyle/>
          <a:p>
            <a:r>
              <a:rPr lang="en-US" sz="6000" dirty="0">
                <a:solidFill>
                  <a:schemeClr val="accent2">
                    <a:lumMod val="40000"/>
                    <a:lumOff val="60000"/>
                  </a:schemeClr>
                </a:solidFill>
                <a:latin typeface="+mj-lt"/>
              </a:rPr>
              <a:t>1</a:t>
            </a:r>
            <a:endParaRPr lang="en-US" sz="2400" dirty="0">
              <a:solidFill>
                <a:schemeClr val="accent2">
                  <a:lumMod val="40000"/>
                  <a:lumOff val="60000"/>
                </a:schemeClr>
              </a:solidFill>
              <a:latin typeface="+mj-lt"/>
            </a:endParaRPr>
          </a:p>
        </p:txBody>
      </p:sp>
      <p:sp>
        <p:nvSpPr>
          <p:cNvPr id="12" name="Rectangle 11">
            <a:extLst>
              <a:ext uri="{FF2B5EF4-FFF2-40B4-BE49-F238E27FC236}">
                <a16:creationId xmlns:a16="http://schemas.microsoft.com/office/drawing/2014/main" id="{6090E482-0604-56B7-1E3E-C802AB502570}"/>
              </a:ext>
            </a:extLst>
          </p:cNvPr>
          <p:cNvSpPr/>
          <p:nvPr/>
        </p:nvSpPr>
        <p:spPr>
          <a:xfrm>
            <a:off x="3810000" y="3308043"/>
            <a:ext cx="7772401" cy="1325564"/>
          </a:xfrm>
          <a:prstGeom prst="rect">
            <a:avLst/>
          </a:prstGeom>
          <a:solidFill>
            <a:schemeClr val="accent1">
              <a:lumMod val="75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Content Placeholder 2">
            <a:extLst>
              <a:ext uri="{FF2B5EF4-FFF2-40B4-BE49-F238E27FC236}">
                <a16:creationId xmlns:a16="http://schemas.microsoft.com/office/drawing/2014/main" id="{7901769D-3B4B-84BC-6096-D2D3640347AA}"/>
              </a:ext>
            </a:extLst>
          </p:cNvPr>
          <p:cNvSpPr txBox="1">
            <a:spLocks/>
          </p:cNvSpPr>
          <p:nvPr/>
        </p:nvSpPr>
        <p:spPr>
          <a:xfrm>
            <a:off x="4069976" y="3553360"/>
            <a:ext cx="7293807" cy="834929"/>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1200"/>
              </a:spcAft>
              <a:buFont typeface="Arial" panose="020B0604020202020204" pitchFamily="34" charset="0"/>
              <a:buNone/>
            </a:pPr>
            <a:r>
              <a:rPr lang="en-US" sz="1600" dirty="0">
                <a:solidFill>
                  <a:schemeClr val="bg1"/>
                </a:solidFill>
                <a:latin typeface="Aptos" panose="020B0004020202020204" pitchFamily="34" charset="0"/>
              </a:rPr>
              <a:t>Here is the second scientific objective. Let’s say that it’s to run an experiment with different treatment groups on the line of mice we’ve created. </a:t>
            </a:r>
          </a:p>
        </p:txBody>
      </p:sp>
      <p:sp>
        <p:nvSpPr>
          <p:cNvPr id="14" name="TextBox 13">
            <a:extLst>
              <a:ext uri="{FF2B5EF4-FFF2-40B4-BE49-F238E27FC236}">
                <a16:creationId xmlns:a16="http://schemas.microsoft.com/office/drawing/2014/main" id="{9CA99DE8-7772-5666-96B3-89353B33D202}"/>
              </a:ext>
            </a:extLst>
          </p:cNvPr>
          <p:cNvSpPr txBox="1"/>
          <p:nvPr/>
        </p:nvSpPr>
        <p:spPr>
          <a:xfrm>
            <a:off x="2712650" y="3462994"/>
            <a:ext cx="697627" cy="1015663"/>
          </a:xfrm>
          <a:prstGeom prst="rect">
            <a:avLst/>
          </a:prstGeom>
          <a:noFill/>
        </p:spPr>
        <p:txBody>
          <a:bodyPr wrap="none" rtlCol="0">
            <a:spAutoFit/>
          </a:bodyPr>
          <a:lstStyle/>
          <a:p>
            <a:r>
              <a:rPr lang="en-US" sz="6000" dirty="0">
                <a:solidFill>
                  <a:schemeClr val="accent2">
                    <a:lumMod val="40000"/>
                    <a:lumOff val="60000"/>
                  </a:schemeClr>
                </a:solidFill>
                <a:latin typeface="+mj-lt"/>
              </a:rPr>
              <a:t>2</a:t>
            </a:r>
            <a:endParaRPr lang="en-US" sz="2400" dirty="0">
              <a:solidFill>
                <a:schemeClr val="accent2">
                  <a:lumMod val="40000"/>
                  <a:lumOff val="60000"/>
                </a:schemeClr>
              </a:solidFill>
              <a:latin typeface="+mj-lt"/>
            </a:endParaRPr>
          </a:p>
        </p:txBody>
      </p:sp>
      <p:sp>
        <p:nvSpPr>
          <p:cNvPr id="15" name="Rectangle 14">
            <a:extLst>
              <a:ext uri="{FF2B5EF4-FFF2-40B4-BE49-F238E27FC236}">
                <a16:creationId xmlns:a16="http://schemas.microsoft.com/office/drawing/2014/main" id="{AC95D051-839D-7506-A451-37436DD5AEF8}"/>
              </a:ext>
            </a:extLst>
          </p:cNvPr>
          <p:cNvSpPr/>
          <p:nvPr/>
        </p:nvSpPr>
        <p:spPr>
          <a:xfrm>
            <a:off x="3810000" y="4910940"/>
            <a:ext cx="7772401" cy="1325564"/>
          </a:xfrm>
          <a:prstGeom prst="rect">
            <a:avLst/>
          </a:prstGeom>
          <a:solidFill>
            <a:schemeClr val="accent1">
              <a:lumMod val="75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 name="Content Placeholder 2">
            <a:extLst>
              <a:ext uri="{FF2B5EF4-FFF2-40B4-BE49-F238E27FC236}">
                <a16:creationId xmlns:a16="http://schemas.microsoft.com/office/drawing/2014/main" id="{0BF2668A-B404-BC5B-0C9B-B1B4AAC444D3}"/>
              </a:ext>
            </a:extLst>
          </p:cNvPr>
          <p:cNvSpPr txBox="1">
            <a:spLocks/>
          </p:cNvSpPr>
          <p:nvPr/>
        </p:nvSpPr>
        <p:spPr>
          <a:xfrm>
            <a:off x="4069976" y="5156257"/>
            <a:ext cx="7293807" cy="834929"/>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1200"/>
              </a:spcAft>
              <a:buFont typeface="Arial" panose="020B0604020202020204" pitchFamily="34" charset="0"/>
              <a:buNone/>
            </a:pPr>
            <a:r>
              <a:rPr lang="en-US" sz="1600" dirty="0">
                <a:solidFill>
                  <a:schemeClr val="bg1"/>
                </a:solidFill>
                <a:latin typeface="Aptos" panose="020B0004020202020204" pitchFamily="34" charset="0"/>
              </a:rPr>
              <a:t>Here is the third scientific objective. Let’s say that it’s to analyze the gene expression data for the mice in different treatment groups and to determine whether treatment has a significant effect on whatever it is we’re measuring. </a:t>
            </a:r>
          </a:p>
        </p:txBody>
      </p:sp>
      <p:sp>
        <p:nvSpPr>
          <p:cNvPr id="17" name="TextBox 16">
            <a:extLst>
              <a:ext uri="{FF2B5EF4-FFF2-40B4-BE49-F238E27FC236}">
                <a16:creationId xmlns:a16="http://schemas.microsoft.com/office/drawing/2014/main" id="{E1F7EB81-B3D9-AEBE-2328-A9201C73172D}"/>
              </a:ext>
            </a:extLst>
          </p:cNvPr>
          <p:cNvSpPr txBox="1"/>
          <p:nvPr/>
        </p:nvSpPr>
        <p:spPr>
          <a:xfrm>
            <a:off x="2712650" y="5065891"/>
            <a:ext cx="697627" cy="1015663"/>
          </a:xfrm>
          <a:prstGeom prst="rect">
            <a:avLst/>
          </a:prstGeom>
          <a:noFill/>
        </p:spPr>
        <p:txBody>
          <a:bodyPr wrap="none" rtlCol="0">
            <a:spAutoFit/>
          </a:bodyPr>
          <a:lstStyle/>
          <a:p>
            <a:r>
              <a:rPr lang="en-US" sz="6000" dirty="0">
                <a:solidFill>
                  <a:schemeClr val="accent2">
                    <a:lumMod val="40000"/>
                    <a:lumOff val="60000"/>
                  </a:schemeClr>
                </a:solidFill>
                <a:latin typeface="+mj-lt"/>
              </a:rPr>
              <a:t>3</a:t>
            </a:r>
            <a:endParaRPr lang="en-US" sz="2400" dirty="0">
              <a:solidFill>
                <a:schemeClr val="accent2">
                  <a:lumMod val="40000"/>
                  <a:lumOff val="60000"/>
                </a:schemeClr>
              </a:solidFill>
              <a:latin typeface="+mj-lt"/>
            </a:endParaRPr>
          </a:p>
        </p:txBody>
      </p:sp>
    </p:spTree>
    <p:extLst>
      <p:ext uri="{BB962C8B-B14F-4D97-AF65-F5344CB8AC3E}">
        <p14:creationId xmlns:p14="http://schemas.microsoft.com/office/powerpoint/2010/main" val="1270558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314F4A2-70F3-3C40-90BB-A9B2124C334C}"/>
              </a:ext>
            </a:extLst>
          </p:cNvPr>
          <p:cNvPicPr>
            <a:picLocks noChangeAspect="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rot="5400000">
            <a:off x="4629361" y="1686190"/>
            <a:ext cx="1608661" cy="1831150"/>
          </a:xfrm>
          <a:prstGeom prst="rect">
            <a:avLst/>
          </a:prstGeom>
        </p:spPr>
      </p:pic>
      <p:pic>
        <p:nvPicPr>
          <p:cNvPr id="12" name="Picture 11">
            <a:extLst>
              <a:ext uri="{FF2B5EF4-FFF2-40B4-BE49-F238E27FC236}">
                <a16:creationId xmlns:a16="http://schemas.microsoft.com/office/drawing/2014/main" id="{65B43017-FE0A-8C57-1154-9C1E3509F24C}"/>
              </a:ext>
            </a:extLst>
          </p:cNvPr>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96683" y="1672300"/>
            <a:ext cx="2087132" cy="2081170"/>
          </a:xfrm>
          <a:prstGeom prst="rect">
            <a:avLst/>
          </a:prstGeom>
        </p:spPr>
      </p:pic>
      <p:grpSp>
        <p:nvGrpSpPr>
          <p:cNvPr id="17" name="Group 16">
            <a:extLst>
              <a:ext uri="{FF2B5EF4-FFF2-40B4-BE49-F238E27FC236}">
                <a16:creationId xmlns:a16="http://schemas.microsoft.com/office/drawing/2014/main" id="{449A66E2-05DB-0080-09DC-6CDFA0834501}"/>
              </a:ext>
            </a:extLst>
          </p:cNvPr>
          <p:cNvGrpSpPr/>
          <p:nvPr/>
        </p:nvGrpSpPr>
        <p:grpSpPr>
          <a:xfrm>
            <a:off x="8343315" y="1936164"/>
            <a:ext cx="2466938" cy="1489260"/>
            <a:chOff x="8343315" y="1936164"/>
            <a:chExt cx="2466938" cy="1489260"/>
          </a:xfrm>
        </p:grpSpPr>
        <p:pic>
          <p:nvPicPr>
            <p:cNvPr id="13" name="Picture 12">
              <a:extLst>
                <a:ext uri="{FF2B5EF4-FFF2-40B4-BE49-F238E27FC236}">
                  <a16:creationId xmlns:a16="http://schemas.microsoft.com/office/drawing/2014/main" id="{C3B4FF00-D12A-AD79-40A8-7077787CFCC0}"/>
                </a:ext>
              </a:extLst>
            </p:cNvPr>
            <p:cNvPicPr>
              <a:picLocks noChangeAspect="1"/>
            </p:cNvPicPr>
            <p:nvPr/>
          </p:nvPicPr>
          <p:blipFill>
            <a:blip r:embed="rId5">
              <a:duotone>
                <a:schemeClr val="accent3">
                  <a:shade val="45000"/>
                  <a:satMod val="135000"/>
                </a:schemeClr>
                <a:prstClr val="white"/>
              </a:duotone>
              <a:extLst>
                <a:ext uri="{28A0092B-C50C-407E-A947-70E740481C1C}">
                  <a14:useLocalDpi xmlns:a14="http://schemas.microsoft.com/office/drawing/2010/main" val="0"/>
                </a:ext>
              </a:extLst>
            </a:blip>
            <a:srcRect t="19649" b="20784"/>
            <a:stretch>
              <a:fillRect/>
            </a:stretch>
          </p:blipFill>
          <p:spPr>
            <a:xfrm>
              <a:off x="9515095" y="2653942"/>
              <a:ext cx="1295158" cy="771482"/>
            </a:xfrm>
            <a:prstGeom prst="rect">
              <a:avLst/>
            </a:prstGeom>
          </p:spPr>
        </p:pic>
        <p:pic>
          <p:nvPicPr>
            <p:cNvPr id="14" name="Picture 13">
              <a:extLst>
                <a:ext uri="{FF2B5EF4-FFF2-40B4-BE49-F238E27FC236}">
                  <a16:creationId xmlns:a16="http://schemas.microsoft.com/office/drawing/2014/main" id="{4F121241-3FC1-9769-E152-3507026E238D}"/>
                </a:ext>
              </a:extLst>
            </p:cNvPr>
            <p:cNvPicPr>
              <a:picLocks noChangeAspect="1"/>
            </p:cNvPicPr>
            <p:nvPr/>
          </p:nvPicPr>
          <p:blipFill>
            <a:blip r:embed="rId5">
              <a:duotone>
                <a:schemeClr val="accent3">
                  <a:shade val="45000"/>
                  <a:satMod val="135000"/>
                </a:schemeClr>
                <a:prstClr val="white"/>
              </a:duotone>
              <a:extLst>
                <a:ext uri="{28A0092B-C50C-407E-A947-70E740481C1C}">
                  <a14:useLocalDpi xmlns:a14="http://schemas.microsoft.com/office/drawing/2010/main" val="0"/>
                </a:ext>
              </a:extLst>
            </a:blip>
            <a:srcRect t="19649" b="20784"/>
            <a:stretch>
              <a:fillRect/>
            </a:stretch>
          </p:blipFill>
          <p:spPr>
            <a:xfrm>
              <a:off x="8343315" y="2653942"/>
              <a:ext cx="1295158" cy="771482"/>
            </a:xfrm>
            <a:prstGeom prst="rect">
              <a:avLst/>
            </a:prstGeom>
          </p:spPr>
        </p:pic>
        <p:pic>
          <p:nvPicPr>
            <p:cNvPr id="15" name="Picture 14">
              <a:extLst>
                <a:ext uri="{FF2B5EF4-FFF2-40B4-BE49-F238E27FC236}">
                  <a16:creationId xmlns:a16="http://schemas.microsoft.com/office/drawing/2014/main" id="{4ADE76C4-1929-8A57-4831-320B028E1936}"/>
                </a:ext>
              </a:extLst>
            </p:cNvPr>
            <p:cNvPicPr>
              <a:picLocks noChangeAspect="1"/>
            </p:cNvPicPr>
            <p:nvPr/>
          </p:nvPicPr>
          <p:blipFill>
            <a:blip r:embed="rId5">
              <a:duotone>
                <a:schemeClr val="accent3">
                  <a:shade val="45000"/>
                  <a:satMod val="135000"/>
                </a:schemeClr>
                <a:prstClr val="white"/>
              </a:duotone>
              <a:extLst>
                <a:ext uri="{28A0092B-C50C-407E-A947-70E740481C1C}">
                  <a14:useLocalDpi xmlns:a14="http://schemas.microsoft.com/office/drawing/2010/main" val="0"/>
                </a:ext>
              </a:extLst>
            </a:blip>
            <a:srcRect t="19649" b="20784"/>
            <a:stretch>
              <a:fillRect/>
            </a:stretch>
          </p:blipFill>
          <p:spPr>
            <a:xfrm>
              <a:off x="8907728" y="1936164"/>
              <a:ext cx="1295158" cy="771482"/>
            </a:xfrm>
            <a:prstGeom prst="rect">
              <a:avLst/>
            </a:prstGeom>
          </p:spPr>
        </p:pic>
      </p:grpSp>
      <p:sp>
        <p:nvSpPr>
          <p:cNvPr id="2" name="Title 1">
            <a:extLst>
              <a:ext uri="{FF2B5EF4-FFF2-40B4-BE49-F238E27FC236}">
                <a16:creationId xmlns:a16="http://schemas.microsoft.com/office/drawing/2014/main" id="{B2488DEC-DB45-7E0F-3CF4-15EFEE589314}"/>
              </a:ext>
            </a:extLst>
          </p:cNvPr>
          <p:cNvSpPr txBox="1">
            <a:spLocks/>
          </p:cNvSpPr>
          <p:nvPr/>
        </p:nvSpPr>
        <p:spPr>
          <a:xfrm>
            <a:off x="609411" y="580091"/>
            <a:ext cx="4483100" cy="68580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solidFill>
                  <a:schemeClr val="accent1"/>
                </a:solidFill>
                <a:latin typeface="Arial Black" panose="020B0A04020102020204" pitchFamily="34" charset="0"/>
              </a:rPr>
              <a:t>Methods</a:t>
            </a:r>
          </a:p>
        </p:txBody>
      </p:sp>
      <p:sp>
        <p:nvSpPr>
          <p:cNvPr id="3" name="Content Placeholder 2">
            <a:extLst>
              <a:ext uri="{FF2B5EF4-FFF2-40B4-BE49-F238E27FC236}">
                <a16:creationId xmlns:a16="http://schemas.microsoft.com/office/drawing/2014/main" id="{3BC86E63-62C7-4582-8516-6044D3107B61}"/>
              </a:ext>
            </a:extLst>
          </p:cNvPr>
          <p:cNvSpPr txBox="1">
            <a:spLocks/>
          </p:cNvSpPr>
          <p:nvPr/>
        </p:nvSpPr>
        <p:spPr>
          <a:xfrm>
            <a:off x="609410" y="3034553"/>
            <a:ext cx="3155577" cy="3213847"/>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1200"/>
              </a:spcAft>
              <a:buNone/>
            </a:pPr>
            <a:r>
              <a:rPr lang="en-US" sz="4800" dirty="0">
                <a:solidFill>
                  <a:schemeClr val="accent1"/>
                </a:solidFill>
                <a:latin typeface="Arial Black" panose="020B0A04020102020204" pitchFamily="34" charset="0"/>
                <a:ea typeface="+mj-ea"/>
                <a:cs typeface="+mj-cs"/>
              </a:rPr>
              <a:t>1 </a:t>
            </a:r>
          </a:p>
          <a:p>
            <a:pPr marL="0" indent="0">
              <a:lnSpc>
                <a:spcPct val="110000"/>
              </a:lnSpc>
              <a:spcBef>
                <a:spcPts val="0"/>
              </a:spcBef>
              <a:spcAft>
                <a:spcPts val="1200"/>
              </a:spcAft>
              <a:buFont typeface="Arial" panose="020B0604020202020204" pitchFamily="34" charset="0"/>
              <a:buNone/>
            </a:pPr>
            <a:r>
              <a:rPr lang="en-US" sz="1600" dirty="0">
                <a:solidFill>
                  <a:schemeClr val="accent1">
                    <a:lumMod val="75000"/>
                  </a:schemeClr>
                </a:solidFill>
                <a:latin typeface="Aptos" panose="020B0004020202020204" pitchFamily="34" charset="0"/>
              </a:rPr>
              <a:t>Details of the first part of the experiment. This will include things like subject recruitment if a human study, study subject or study system if an animal or plan experiment, or search criteria if a review. Here we’re showing mice that indicate an animal experiment. </a:t>
            </a:r>
          </a:p>
        </p:txBody>
      </p:sp>
      <p:sp>
        <p:nvSpPr>
          <p:cNvPr id="5" name="Content Placeholder 2">
            <a:extLst>
              <a:ext uri="{FF2B5EF4-FFF2-40B4-BE49-F238E27FC236}">
                <a16:creationId xmlns:a16="http://schemas.microsoft.com/office/drawing/2014/main" id="{6A6E4754-F6CE-B6DD-527F-1A15DFB91897}"/>
              </a:ext>
            </a:extLst>
          </p:cNvPr>
          <p:cNvSpPr txBox="1">
            <a:spLocks/>
          </p:cNvSpPr>
          <p:nvPr/>
        </p:nvSpPr>
        <p:spPr>
          <a:xfrm>
            <a:off x="8426824" y="3034553"/>
            <a:ext cx="3155576" cy="3213847"/>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1200"/>
              </a:spcAft>
              <a:buNone/>
            </a:pPr>
            <a:r>
              <a:rPr lang="en-US" sz="4800" dirty="0">
                <a:solidFill>
                  <a:schemeClr val="accent1"/>
                </a:solidFill>
                <a:latin typeface="Arial Black" panose="020B0A04020102020204" pitchFamily="34" charset="0"/>
                <a:ea typeface="+mj-ea"/>
                <a:cs typeface="+mj-cs"/>
              </a:rPr>
              <a:t>3</a:t>
            </a:r>
          </a:p>
          <a:p>
            <a:pPr marL="0" indent="0">
              <a:lnSpc>
                <a:spcPct val="110000"/>
              </a:lnSpc>
              <a:spcBef>
                <a:spcPts val="0"/>
              </a:spcBef>
              <a:spcAft>
                <a:spcPts val="1200"/>
              </a:spcAft>
              <a:buFont typeface="Arial" panose="020B0604020202020204" pitchFamily="34" charset="0"/>
              <a:buNone/>
            </a:pPr>
            <a:r>
              <a:rPr lang="en-US" sz="1600" dirty="0">
                <a:solidFill>
                  <a:schemeClr val="accent1">
                    <a:lumMod val="75000"/>
                  </a:schemeClr>
                </a:solidFill>
                <a:latin typeface="Aptos" panose="020B0004020202020204" pitchFamily="34" charset="0"/>
              </a:rPr>
              <a:t>Finally, we’ll talk about   the third part of the experiment, or about the analysis details, depending on the details of the specific experiment. Here we’re showing a petri dish that might indicate culturing. As with the other parts of the methods, it’s in the style of a scientific illustration. </a:t>
            </a:r>
          </a:p>
        </p:txBody>
      </p:sp>
      <p:sp>
        <p:nvSpPr>
          <p:cNvPr id="6" name="Content Placeholder 2">
            <a:extLst>
              <a:ext uri="{FF2B5EF4-FFF2-40B4-BE49-F238E27FC236}">
                <a16:creationId xmlns:a16="http://schemas.microsoft.com/office/drawing/2014/main" id="{46D2B92C-C8ED-7A03-6175-F0D79D2C2CD8}"/>
              </a:ext>
            </a:extLst>
          </p:cNvPr>
          <p:cNvSpPr txBox="1">
            <a:spLocks/>
          </p:cNvSpPr>
          <p:nvPr/>
        </p:nvSpPr>
        <p:spPr>
          <a:xfrm>
            <a:off x="4518117" y="3034553"/>
            <a:ext cx="3155576" cy="3213847"/>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1200"/>
              </a:spcAft>
              <a:buNone/>
            </a:pPr>
            <a:r>
              <a:rPr lang="en-US" sz="4800" dirty="0">
                <a:solidFill>
                  <a:schemeClr val="accent1"/>
                </a:solidFill>
                <a:latin typeface="Arial Black" panose="020B0A04020102020204" pitchFamily="34" charset="0"/>
                <a:ea typeface="+mj-ea"/>
                <a:cs typeface="+mj-cs"/>
              </a:rPr>
              <a:t>2</a:t>
            </a:r>
          </a:p>
          <a:p>
            <a:pPr marL="0" indent="0">
              <a:lnSpc>
                <a:spcPct val="110000"/>
              </a:lnSpc>
              <a:spcBef>
                <a:spcPts val="0"/>
              </a:spcBef>
              <a:spcAft>
                <a:spcPts val="1200"/>
              </a:spcAft>
              <a:buFont typeface="Arial" panose="020B0604020202020204" pitchFamily="34" charset="0"/>
              <a:buNone/>
            </a:pPr>
            <a:r>
              <a:rPr lang="en-US" sz="1600" dirty="0">
                <a:solidFill>
                  <a:schemeClr val="accent1">
                    <a:lumMod val="75000"/>
                  </a:schemeClr>
                </a:solidFill>
                <a:latin typeface="Aptos" panose="020B0004020202020204" pitchFamily="34" charset="0"/>
              </a:rPr>
              <a:t>Here we’ll talk about the second part of the methods for this experiment. It might include something like laboratory methods if a lab experiment, or sample collection details. Here we’re showing epithelial cells in a scientific illustration style. </a:t>
            </a:r>
          </a:p>
        </p:txBody>
      </p:sp>
      <p:cxnSp>
        <p:nvCxnSpPr>
          <p:cNvPr id="7" name="Straight Connector 6">
            <a:extLst>
              <a:ext uri="{FF2B5EF4-FFF2-40B4-BE49-F238E27FC236}">
                <a16:creationId xmlns:a16="http://schemas.microsoft.com/office/drawing/2014/main" id="{A94911B0-A6AA-809F-D181-D9547CF0F21D}"/>
              </a:ext>
            </a:extLst>
          </p:cNvPr>
          <p:cNvCxnSpPr>
            <a:cxnSpLocks/>
          </p:cNvCxnSpPr>
          <p:nvPr/>
        </p:nvCxnSpPr>
        <p:spPr>
          <a:xfrm>
            <a:off x="4141552" y="3034553"/>
            <a:ext cx="0" cy="3213847"/>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204EABC-0BFC-8EEC-CB5D-66C4C3D00CBA}"/>
              </a:ext>
            </a:extLst>
          </p:cNvPr>
          <p:cNvCxnSpPr>
            <a:cxnSpLocks/>
          </p:cNvCxnSpPr>
          <p:nvPr/>
        </p:nvCxnSpPr>
        <p:spPr>
          <a:xfrm>
            <a:off x="8050258" y="3034553"/>
            <a:ext cx="0" cy="3213847"/>
          </a:xfrm>
          <a:prstGeom prst="line">
            <a:avLst/>
          </a:prstGeom>
          <a:ln w="1270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9500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B71F1-D188-A2DD-7042-9563478748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3F2065-F064-1DEE-9526-DE05BDA8E5B1}"/>
              </a:ext>
            </a:extLst>
          </p:cNvPr>
          <p:cNvSpPr txBox="1">
            <a:spLocks/>
          </p:cNvSpPr>
          <p:nvPr/>
        </p:nvSpPr>
        <p:spPr>
          <a:xfrm>
            <a:off x="609410" y="580091"/>
            <a:ext cx="7290251" cy="68580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solidFill>
                  <a:schemeClr val="accent1"/>
                </a:solidFill>
                <a:latin typeface="Arial Black" panose="020B0A04020102020204" pitchFamily="34" charset="0"/>
              </a:rPr>
              <a:t>Heat Map Results</a:t>
            </a:r>
          </a:p>
        </p:txBody>
      </p:sp>
      <p:graphicFrame>
        <p:nvGraphicFramePr>
          <p:cNvPr id="4" name="Table 3">
            <a:extLst>
              <a:ext uri="{FF2B5EF4-FFF2-40B4-BE49-F238E27FC236}">
                <a16:creationId xmlns:a16="http://schemas.microsoft.com/office/drawing/2014/main" id="{45A85872-F705-3E22-5629-0D23057E73CB}"/>
              </a:ext>
            </a:extLst>
          </p:cNvPr>
          <p:cNvGraphicFramePr>
            <a:graphicFrameLocks noGrp="1"/>
          </p:cNvGraphicFramePr>
          <p:nvPr>
            <p:extLst>
              <p:ext uri="{D42A27DB-BD31-4B8C-83A1-F6EECF244321}">
                <p14:modId xmlns:p14="http://schemas.microsoft.com/office/powerpoint/2010/main" val="3427989147"/>
              </p:ext>
            </p:extLst>
          </p:nvPr>
        </p:nvGraphicFramePr>
        <p:xfrm>
          <a:off x="609410" y="2118362"/>
          <a:ext cx="9424051" cy="4130038"/>
        </p:xfrm>
        <a:graphic>
          <a:graphicData uri="http://schemas.openxmlformats.org/drawingml/2006/table">
            <a:tbl>
              <a:tblPr firstRow="1" bandRow="1">
                <a:tableStyleId>{5C22544A-7EE6-4342-B048-85BDC9FD1C3A}</a:tableStyleId>
              </a:tblPr>
              <a:tblGrid>
                <a:gridCol w="1346293">
                  <a:extLst>
                    <a:ext uri="{9D8B030D-6E8A-4147-A177-3AD203B41FA5}">
                      <a16:colId xmlns:a16="http://schemas.microsoft.com/office/drawing/2014/main" val="3971818561"/>
                    </a:ext>
                  </a:extLst>
                </a:gridCol>
                <a:gridCol w="1346293">
                  <a:extLst>
                    <a:ext uri="{9D8B030D-6E8A-4147-A177-3AD203B41FA5}">
                      <a16:colId xmlns:a16="http://schemas.microsoft.com/office/drawing/2014/main" val="2254978422"/>
                    </a:ext>
                  </a:extLst>
                </a:gridCol>
                <a:gridCol w="1346293">
                  <a:extLst>
                    <a:ext uri="{9D8B030D-6E8A-4147-A177-3AD203B41FA5}">
                      <a16:colId xmlns:a16="http://schemas.microsoft.com/office/drawing/2014/main" val="2491732693"/>
                    </a:ext>
                  </a:extLst>
                </a:gridCol>
                <a:gridCol w="1346293">
                  <a:extLst>
                    <a:ext uri="{9D8B030D-6E8A-4147-A177-3AD203B41FA5}">
                      <a16:colId xmlns:a16="http://schemas.microsoft.com/office/drawing/2014/main" val="1378638819"/>
                    </a:ext>
                  </a:extLst>
                </a:gridCol>
                <a:gridCol w="1346293">
                  <a:extLst>
                    <a:ext uri="{9D8B030D-6E8A-4147-A177-3AD203B41FA5}">
                      <a16:colId xmlns:a16="http://schemas.microsoft.com/office/drawing/2014/main" val="3924000808"/>
                    </a:ext>
                  </a:extLst>
                </a:gridCol>
                <a:gridCol w="1346293">
                  <a:extLst>
                    <a:ext uri="{9D8B030D-6E8A-4147-A177-3AD203B41FA5}">
                      <a16:colId xmlns:a16="http://schemas.microsoft.com/office/drawing/2014/main" val="607318489"/>
                    </a:ext>
                  </a:extLst>
                </a:gridCol>
                <a:gridCol w="1346293">
                  <a:extLst>
                    <a:ext uri="{9D8B030D-6E8A-4147-A177-3AD203B41FA5}">
                      <a16:colId xmlns:a16="http://schemas.microsoft.com/office/drawing/2014/main" val="1009210930"/>
                    </a:ext>
                  </a:extLst>
                </a:gridCol>
              </a:tblGrid>
              <a:tr h="375458">
                <a:tc>
                  <a:txBody>
                    <a:bodyPr/>
                    <a:lstStyle/>
                    <a:p>
                      <a:endParaRPr lang="en-US" sz="1400" b="0" dirty="0">
                        <a:solidFill>
                          <a:schemeClr val="accent1"/>
                        </a:solidFill>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r>
                        <a:rPr lang="en-US" sz="1400" b="0" dirty="0">
                          <a:solidFill>
                            <a:schemeClr val="accent1"/>
                          </a:solidFill>
                        </a:rPr>
                        <a:t>Category 1</a:t>
                      </a: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accent1"/>
                          </a:solidFill>
                        </a:rPr>
                        <a:t>Category 2</a:t>
                      </a: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accent1"/>
                          </a:solidFill>
                        </a:rPr>
                        <a:t>Category 3</a:t>
                      </a: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accent1"/>
                          </a:solidFill>
                        </a:rPr>
                        <a:t>Category 4</a:t>
                      </a: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accent1"/>
                          </a:solidFill>
                        </a:rPr>
                        <a:t>Category 5</a:t>
                      </a: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accent1"/>
                          </a:solidFill>
                        </a:rPr>
                        <a:t>Category 6</a:t>
                      </a: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67068532"/>
                  </a:ext>
                </a:extLst>
              </a:tr>
              <a:tr h="37545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mn-lt"/>
                          <a:ea typeface="+mn-ea"/>
                          <a:cs typeface="+mn-cs"/>
                        </a:rPr>
                        <a:t>Category</a:t>
                      </a:r>
                      <a:endParaRPr lang="en-US" sz="1400" dirty="0">
                        <a:solidFill>
                          <a:schemeClr val="accent1"/>
                        </a:solidFill>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B394A0"/>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B394A0"/>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6"/>
                    </a:solidFill>
                  </a:tcPr>
                </a:tc>
                <a:extLst>
                  <a:ext uri="{0D108BD9-81ED-4DB2-BD59-A6C34878D82A}">
                    <a16:rowId xmlns:a16="http://schemas.microsoft.com/office/drawing/2014/main" val="382460583"/>
                  </a:ext>
                </a:extLst>
              </a:tr>
              <a:tr h="3754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mn-lt"/>
                          <a:ea typeface="+mn-ea"/>
                          <a:cs typeface="+mn-cs"/>
                        </a:rPr>
                        <a:t>Category</a:t>
                      </a:r>
                      <a:endParaRPr lang="en-US" sz="1400" dirty="0">
                        <a:solidFill>
                          <a:schemeClr val="accent1"/>
                        </a:solidFill>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6"/>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6"/>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solidFill>
                  </a:tcPr>
                </a:tc>
                <a:tc>
                  <a:txBody>
                    <a:bodyPr/>
                    <a:lstStyle/>
                    <a:p>
                      <a:endParaRPr lang="en-US" sz="1800" b="1" kern="1200" dirty="0">
                        <a:solidFill>
                          <a:schemeClr val="lt1"/>
                        </a:solidFill>
                        <a:latin typeface="+mn-lt"/>
                        <a:ea typeface="+mn-ea"/>
                        <a:cs typeface="+mn-cs"/>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670987892"/>
                  </a:ext>
                </a:extLst>
              </a:tr>
              <a:tr h="3754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mn-lt"/>
                          <a:ea typeface="+mn-ea"/>
                          <a:cs typeface="+mn-cs"/>
                        </a:rPr>
                        <a:t>Category</a:t>
                      </a:r>
                      <a:endParaRPr lang="en-US" sz="1400" dirty="0">
                        <a:solidFill>
                          <a:schemeClr val="accent1"/>
                        </a:solidFill>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B394A0"/>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77425F"/>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6"/>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6"/>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solidFill>
                  </a:tcPr>
                </a:tc>
                <a:extLst>
                  <a:ext uri="{0D108BD9-81ED-4DB2-BD59-A6C34878D82A}">
                    <a16:rowId xmlns:a16="http://schemas.microsoft.com/office/drawing/2014/main" val="1161510162"/>
                  </a:ext>
                </a:extLst>
              </a:tr>
              <a:tr h="3754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mn-lt"/>
                          <a:ea typeface="+mn-ea"/>
                          <a:cs typeface="+mn-cs"/>
                        </a:rPr>
                        <a:t>Category</a:t>
                      </a:r>
                      <a:endParaRPr lang="en-US" sz="1400" dirty="0">
                        <a:solidFill>
                          <a:schemeClr val="accent1"/>
                        </a:solidFill>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77425F"/>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B394A0"/>
                    </a:solidFill>
                  </a:tcPr>
                </a:tc>
                <a:extLst>
                  <a:ext uri="{0D108BD9-81ED-4DB2-BD59-A6C34878D82A}">
                    <a16:rowId xmlns:a16="http://schemas.microsoft.com/office/drawing/2014/main" val="1229680815"/>
                  </a:ext>
                </a:extLst>
              </a:tr>
              <a:tr h="3754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mn-lt"/>
                          <a:ea typeface="+mn-ea"/>
                          <a:cs typeface="+mn-cs"/>
                        </a:rPr>
                        <a:t>Category</a:t>
                      </a:r>
                      <a:endParaRPr lang="en-US" sz="1400" dirty="0">
                        <a:solidFill>
                          <a:schemeClr val="accent1"/>
                        </a:solidFill>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6"/>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B394A0"/>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77425F"/>
                    </a:solidFill>
                  </a:tcPr>
                </a:tc>
                <a:extLst>
                  <a:ext uri="{0D108BD9-81ED-4DB2-BD59-A6C34878D82A}">
                    <a16:rowId xmlns:a16="http://schemas.microsoft.com/office/drawing/2014/main" val="4013730337"/>
                  </a:ext>
                </a:extLst>
              </a:tr>
              <a:tr h="3754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mn-lt"/>
                          <a:ea typeface="+mn-ea"/>
                          <a:cs typeface="+mn-cs"/>
                        </a:rPr>
                        <a:t>Category</a:t>
                      </a:r>
                      <a:endParaRPr lang="en-US" sz="1400" dirty="0">
                        <a:solidFill>
                          <a:schemeClr val="accent1"/>
                        </a:solidFill>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B394A0"/>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B394A0"/>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B394A0"/>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925944097"/>
                  </a:ext>
                </a:extLst>
              </a:tr>
              <a:tr h="3754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mn-lt"/>
                          <a:ea typeface="+mn-ea"/>
                          <a:cs typeface="+mn-cs"/>
                        </a:rPr>
                        <a:t>Category</a:t>
                      </a:r>
                      <a:endParaRPr lang="en-US" sz="1400" dirty="0">
                        <a:solidFill>
                          <a:schemeClr val="accent1"/>
                        </a:solidFill>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77425F"/>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77425F"/>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6"/>
                    </a:solidFill>
                  </a:tcPr>
                </a:tc>
                <a:extLst>
                  <a:ext uri="{0D108BD9-81ED-4DB2-BD59-A6C34878D82A}">
                    <a16:rowId xmlns:a16="http://schemas.microsoft.com/office/drawing/2014/main" val="490799330"/>
                  </a:ext>
                </a:extLst>
              </a:tr>
              <a:tr h="3754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mn-lt"/>
                          <a:ea typeface="+mn-ea"/>
                          <a:cs typeface="+mn-cs"/>
                        </a:rPr>
                        <a:t>Category</a:t>
                      </a:r>
                      <a:endParaRPr lang="en-US" sz="1400" dirty="0">
                        <a:solidFill>
                          <a:schemeClr val="accent1"/>
                        </a:solidFill>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1215128816"/>
                  </a:ext>
                </a:extLst>
              </a:tr>
              <a:tr h="3754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mn-lt"/>
                          <a:ea typeface="+mn-ea"/>
                          <a:cs typeface="+mn-cs"/>
                        </a:rPr>
                        <a:t>Category</a:t>
                      </a:r>
                      <a:endParaRPr lang="en-US" sz="1400" dirty="0">
                        <a:solidFill>
                          <a:schemeClr val="accent1"/>
                        </a:solidFill>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6"/>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B394A0"/>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77425F"/>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815377898"/>
                  </a:ext>
                </a:extLst>
              </a:tr>
              <a:tr h="3754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1"/>
                          </a:solidFill>
                          <a:effectLst/>
                          <a:uLnTx/>
                          <a:uFillTx/>
                          <a:latin typeface="+mn-lt"/>
                          <a:ea typeface="+mn-ea"/>
                          <a:cs typeface="+mn-cs"/>
                        </a:rPr>
                        <a:t>Category</a:t>
                      </a:r>
                      <a:endParaRPr lang="en-US" sz="1400" dirty="0">
                        <a:solidFill>
                          <a:schemeClr val="accent1"/>
                        </a:solidFill>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B394A0"/>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lumMod val="20000"/>
                        <a:lumOff val="80000"/>
                      </a:schemeClr>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solidFill>
                  </a:tcPr>
                </a:tc>
                <a:tc>
                  <a:txBody>
                    <a:bodyPr/>
                    <a:lstStyle/>
                    <a:p>
                      <a:endParaRPr lang="en-US" dirty="0"/>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6"/>
                    </a:solidFill>
                  </a:tcPr>
                </a:tc>
                <a:extLst>
                  <a:ext uri="{0D108BD9-81ED-4DB2-BD59-A6C34878D82A}">
                    <a16:rowId xmlns:a16="http://schemas.microsoft.com/office/drawing/2014/main" val="1181432201"/>
                  </a:ext>
                </a:extLst>
              </a:tr>
            </a:tbl>
          </a:graphicData>
        </a:graphic>
      </p:graphicFrame>
      <p:sp>
        <p:nvSpPr>
          <p:cNvPr id="20" name="Content Placeholder 2">
            <a:extLst>
              <a:ext uri="{FF2B5EF4-FFF2-40B4-BE49-F238E27FC236}">
                <a16:creationId xmlns:a16="http://schemas.microsoft.com/office/drawing/2014/main" id="{29FA0C45-E7E9-D3A5-9DE7-3F3A6A0F102F}"/>
              </a:ext>
            </a:extLst>
          </p:cNvPr>
          <p:cNvSpPr txBox="1">
            <a:spLocks/>
          </p:cNvSpPr>
          <p:nvPr/>
        </p:nvSpPr>
        <p:spPr>
          <a:xfrm>
            <a:off x="11450606" y="2502130"/>
            <a:ext cx="196925" cy="259707"/>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1200"/>
              </a:spcAft>
              <a:buFont typeface="Arial" panose="020B0604020202020204" pitchFamily="34" charset="0"/>
              <a:buNone/>
            </a:pPr>
            <a:r>
              <a:rPr lang="en-US" sz="1600" dirty="0">
                <a:solidFill>
                  <a:schemeClr val="accent1">
                    <a:lumMod val="75000"/>
                  </a:schemeClr>
                </a:solidFill>
                <a:latin typeface="Aptos" panose="020B0004020202020204" pitchFamily="34" charset="0"/>
              </a:rPr>
              <a:t>3</a:t>
            </a:r>
          </a:p>
        </p:txBody>
      </p:sp>
      <p:sp>
        <p:nvSpPr>
          <p:cNvPr id="21" name="Content Placeholder 2">
            <a:extLst>
              <a:ext uri="{FF2B5EF4-FFF2-40B4-BE49-F238E27FC236}">
                <a16:creationId xmlns:a16="http://schemas.microsoft.com/office/drawing/2014/main" id="{71423097-A5F5-CAC9-FB73-3E5A36A8E074}"/>
              </a:ext>
            </a:extLst>
          </p:cNvPr>
          <p:cNvSpPr txBox="1">
            <a:spLocks/>
          </p:cNvSpPr>
          <p:nvPr/>
        </p:nvSpPr>
        <p:spPr>
          <a:xfrm>
            <a:off x="11450606" y="5981079"/>
            <a:ext cx="196925" cy="259707"/>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1200"/>
              </a:spcAft>
              <a:buFont typeface="Arial" panose="020B0604020202020204" pitchFamily="34" charset="0"/>
              <a:buNone/>
            </a:pPr>
            <a:r>
              <a:rPr lang="en-US" sz="1600" dirty="0">
                <a:solidFill>
                  <a:schemeClr val="accent1">
                    <a:lumMod val="75000"/>
                  </a:schemeClr>
                </a:solidFill>
                <a:latin typeface="Aptos" panose="020B0004020202020204" pitchFamily="34" charset="0"/>
              </a:rPr>
              <a:t>-3</a:t>
            </a:r>
          </a:p>
        </p:txBody>
      </p:sp>
      <p:sp>
        <p:nvSpPr>
          <p:cNvPr id="22" name="Content Placeholder 2">
            <a:extLst>
              <a:ext uri="{FF2B5EF4-FFF2-40B4-BE49-F238E27FC236}">
                <a16:creationId xmlns:a16="http://schemas.microsoft.com/office/drawing/2014/main" id="{EEB1EF4F-E9AE-3AEF-CC71-A3B5DE5B18CF}"/>
              </a:ext>
            </a:extLst>
          </p:cNvPr>
          <p:cNvSpPr txBox="1">
            <a:spLocks/>
          </p:cNvSpPr>
          <p:nvPr/>
        </p:nvSpPr>
        <p:spPr>
          <a:xfrm>
            <a:off x="11450606" y="4241605"/>
            <a:ext cx="196925" cy="259707"/>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1200"/>
              </a:spcAft>
              <a:buFont typeface="Arial" panose="020B0604020202020204" pitchFamily="34" charset="0"/>
              <a:buNone/>
            </a:pPr>
            <a:r>
              <a:rPr lang="en-US" sz="1600" dirty="0">
                <a:solidFill>
                  <a:schemeClr val="accent1">
                    <a:lumMod val="75000"/>
                  </a:schemeClr>
                </a:solidFill>
                <a:latin typeface="Aptos" panose="020B0004020202020204" pitchFamily="34" charset="0"/>
              </a:rPr>
              <a:t>0</a:t>
            </a:r>
          </a:p>
        </p:txBody>
      </p:sp>
      <p:sp>
        <p:nvSpPr>
          <p:cNvPr id="23" name="Rectangle 22">
            <a:extLst>
              <a:ext uri="{FF2B5EF4-FFF2-40B4-BE49-F238E27FC236}">
                <a16:creationId xmlns:a16="http://schemas.microsoft.com/office/drawing/2014/main" id="{9E203883-0F7A-2ED8-5146-76EADB5E36B9}"/>
              </a:ext>
            </a:extLst>
          </p:cNvPr>
          <p:cNvSpPr/>
          <p:nvPr/>
        </p:nvSpPr>
        <p:spPr>
          <a:xfrm>
            <a:off x="10939549" y="2502130"/>
            <a:ext cx="324197" cy="3746269"/>
          </a:xfrm>
          <a:prstGeom prst="rect">
            <a:avLst/>
          </a:prstGeom>
          <a:gradFill>
            <a:gsLst>
              <a:gs pos="50000">
                <a:schemeClr val="accent4"/>
              </a:gs>
              <a:gs pos="0">
                <a:schemeClr val="accent6"/>
              </a:gs>
              <a:gs pos="100000">
                <a:schemeClr val="accent5"/>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6771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BB945-C231-AE35-BDF4-837DEE463A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E55D06-8FFC-893B-F435-64E205B00C31}"/>
              </a:ext>
            </a:extLst>
          </p:cNvPr>
          <p:cNvSpPr txBox="1">
            <a:spLocks/>
          </p:cNvSpPr>
          <p:nvPr/>
        </p:nvSpPr>
        <p:spPr>
          <a:xfrm>
            <a:off x="609410" y="580091"/>
            <a:ext cx="7290251" cy="68580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solidFill>
                  <a:schemeClr val="accent1"/>
                </a:solidFill>
                <a:latin typeface="Arial Black" panose="020B0A04020102020204" pitchFamily="34" charset="0"/>
              </a:rPr>
              <a:t>GWAS Results</a:t>
            </a:r>
          </a:p>
        </p:txBody>
      </p:sp>
      <p:pic>
        <p:nvPicPr>
          <p:cNvPr id="3" name="Picture 2">
            <a:extLst>
              <a:ext uri="{FF2B5EF4-FFF2-40B4-BE49-F238E27FC236}">
                <a16:creationId xmlns:a16="http://schemas.microsoft.com/office/drawing/2014/main" id="{0E0FBE20-1369-8813-EE93-628A8C424C0F}"/>
              </a:ext>
            </a:extLst>
          </p:cNvPr>
          <p:cNvPicPr>
            <a:picLocks noChangeAspect="1"/>
          </p:cNvPicPr>
          <p:nvPr/>
        </p:nvPicPr>
        <p:blipFill>
          <a:blip r:embed="rId3">
            <a:extLst>
              <a:ext uri="{28A0092B-C50C-407E-A947-70E740481C1C}">
                <a14:useLocalDpi xmlns:a14="http://schemas.microsoft.com/office/drawing/2010/main" val="0"/>
              </a:ext>
            </a:extLst>
          </a:blip>
          <a:srcRect l="8153" t="31874" r="3352" b="8422"/>
          <a:stretch>
            <a:fillRect/>
          </a:stretch>
        </p:blipFill>
        <p:spPr>
          <a:xfrm>
            <a:off x="609410" y="2252748"/>
            <a:ext cx="8121534" cy="3957615"/>
          </a:xfrm>
          <a:prstGeom prst="rect">
            <a:avLst/>
          </a:prstGeom>
        </p:spPr>
      </p:pic>
      <p:sp>
        <p:nvSpPr>
          <p:cNvPr id="5" name="Title 1">
            <a:extLst>
              <a:ext uri="{FF2B5EF4-FFF2-40B4-BE49-F238E27FC236}">
                <a16:creationId xmlns:a16="http://schemas.microsoft.com/office/drawing/2014/main" id="{ABCEDE76-9FC5-0114-C42E-5E8D876B5AE1}"/>
              </a:ext>
            </a:extLst>
          </p:cNvPr>
          <p:cNvSpPr txBox="1">
            <a:spLocks/>
          </p:cNvSpPr>
          <p:nvPr/>
        </p:nvSpPr>
        <p:spPr>
          <a:xfrm>
            <a:off x="759039" y="5921087"/>
            <a:ext cx="717337" cy="465667"/>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dirty="0">
                <a:solidFill>
                  <a:schemeClr val="accent2"/>
                </a:solidFill>
                <a:latin typeface="+mn-lt"/>
              </a:rPr>
              <a:t>Chr 1</a:t>
            </a:r>
          </a:p>
        </p:txBody>
      </p:sp>
      <p:sp>
        <p:nvSpPr>
          <p:cNvPr id="6" name="Title 1">
            <a:extLst>
              <a:ext uri="{FF2B5EF4-FFF2-40B4-BE49-F238E27FC236}">
                <a16:creationId xmlns:a16="http://schemas.microsoft.com/office/drawing/2014/main" id="{D1C0E5F8-A4FF-BC41-C582-EC1A9AB0EF31}"/>
              </a:ext>
            </a:extLst>
          </p:cNvPr>
          <p:cNvSpPr txBox="1">
            <a:spLocks/>
          </p:cNvSpPr>
          <p:nvPr/>
        </p:nvSpPr>
        <p:spPr>
          <a:xfrm>
            <a:off x="1541396" y="5921087"/>
            <a:ext cx="717335" cy="47971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dirty="0">
                <a:solidFill>
                  <a:srgbClr val="666633"/>
                </a:solidFill>
                <a:latin typeface="+mn-lt"/>
              </a:rPr>
              <a:t>Chr 2</a:t>
            </a:r>
          </a:p>
        </p:txBody>
      </p:sp>
      <p:sp>
        <p:nvSpPr>
          <p:cNvPr id="7" name="Title 1">
            <a:extLst>
              <a:ext uri="{FF2B5EF4-FFF2-40B4-BE49-F238E27FC236}">
                <a16:creationId xmlns:a16="http://schemas.microsoft.com/office/drawing/2014/main" id="{4651D2EC-00D0-2845-9ABB-2E8C5EF58A2E}"/>
              </a:ext>
            </a:extLst>
          </p:cNvPr>
          <p:cNvSpPr txBox="1">
            <a:spLocks/>
          </p:cNvSpPr>
          <p:nvPr/>
        </p:nvSpPr>
        <p:spPr>
          <a:xfrm>
            <a:off x="2353773" y="5921087"/>
            <a:ext cx="717335" cy="47971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dirty="0">
                <a:solidFill>
                  <a:schemeClr val="accent2"/>
                </a:solidFill>
                <a:latin typeface="+mn-lt"/>
              </a:rPr>
              <a:t>Chr 3</a:t>
            </a:r>
          </a:p>
        </p:txBody>
      </p:sp>
      <p:sp>
        <p:nvSpPr>
          <p:cNvPr id="8" name="Title 1">
            <a:extLst>
              <a:ext uri="{FF2B5EF4-FFF2-40B4-BE49-F238E27FC236}">
                <a16:creationId xmlns:a16="http://schemas.microsoft.com/office/drawing/2014/main" id="{57F41104-9468-B005-7EFD-468D9C2FB6A2}"/>
              </a:ext>
            </a:extLst>
          </p:cNvPr>
          <p:cNvSpPr txBox="1">
            <a:spLocks/>
          </p:cNvSpPr>
          <p:nvPr/>
        </p:nvSpPr>
        <p:spPr>
          <a:xfrm>
            <a:off x="3142133" y="5921087"/>
            <a:ext cx="717335" cy="47971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dirty="0">
                <a:solidFill>
                  <a:srgbClr val="666633"/>
                </a:solidFill>
                <a:latin typeface="+mn-lt"/>
              </a:rPr>
              <a:t>Chr 4</a:t>
            </a:r>
          </a:p>
        </p:txBody>
      </p:sp>
      <p:sp>
        <p:nvSpPr>
          <p:cNvPr id="9" name="Title 1">
            <a:extLst>
              <a:ext uri="{FF2B5EF4-FFF2-40B4-BE49-F238E27FC236}">
                <a16:creationId xmlns:a16="http://schemas.microsoft.com/office/drawing/2014/main" id="{1E33F2E8-C41E-F0C4-EE69-6C2F47E4A949}"/>
              </a:ext>
            </a:extLst>
          </p:cNvPr>
          <p:cNvSpPr txBox="1">
            <a:spLocks/>
          </p:cNvSpPr>
          <p:nvPr/>
        </p:nvSpPr>
        <p:spPr>
          <a:xfrm>
            <a:off x="3912480" y="5921086"/>
            <a:ext cx="717335" cy="47971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dirty="0">
                <a:solidFill>
                  <a:schemeClr val="accent2"/>
                </a:solidFill>
                <a:latin typeface="+mn-lt"/>
              </a:rPr>
              <a:t>Chr 5</a:t>
            </a:r>
          </a:p>
        </p:txBody>
      </p:sp>
      <p:sp>
        <p:nvSpPr>
          <p:cNvPr id="10" name="Title 1">
            <a:extLst>
              <a:ext uri="{FF2B5EF4-FFF2-40B4-BE49-F238E27FC236}">
                <a16:creationId xmlns:a16="http://schemas.microsoft.com/office/drawing/2014/main" id="{B88E8CCF-6CD4-3B00-0472-5044AB0E3B7E}"/>
              </a:ext>
            </a:extLst>
          </p:cNvPr>
          <p:cNvSpPr txBox="1">
            <a:spLocks/>
          </p:cNvSpPr>
          <p:nvPr/>
        </p:nvSpPr>
        <p:spPr>
          <a:xfrm>
            <a:off x="4718853" y="5921085"/>
            <a:ext cx="717335" cy="47971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dirty="0">
                <a:solidFill>
                  <a:srgbClr val="666633"/>
                </a:solidFill>
                <a:latin typeface="+mn-lt"/>
              </a:rPr>
              <a:t>Chr 6</a:t>
            </a:r>
          </a:p>
        </p:txBody>
      </p:sp>
      <p:sp>
        <p:nvSpPr>
          <p:cNvPr id="11" name="Title 1">
            <a:extLst>
              <a:ext uri="{FF2B5EF4-FFF2-40B4-BE49-F238E27FC236}">
                <a16:creationId xmlns:a16="http://schemas.microsoft.com/office/drawing/2014/main" id="{8055B7DA-043D-014B-ED6C-AF8F349E7F3F}"/>
              </a:ext>
            </a:extLst>
          </p:cNvPr>
          <p:cNvSpPr txBox="1">
            <a:spLocks/>
          </p:cNvSpPr>
          <p:nvPr/>
        </p:nvSpPr>
        <p:spPr>
          <a:xfrm>
            <a:off x="5507213" y="5921084"/>
            <a:ext cx="717335" cy="47971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dirty="0">
                <a:solidFill>
                  <a:schemeClr val="accent2"/>
                </a:solidFill>
                <a:latin typeface="+mn-lt"/>
              </a:rPr>
              <a:t>Chr 7</a:t>
            </a:r>
          </a:p>
        </p:txBody>
      </p:sp>
      <p:sp>
        <p:nvSpPr>
          <p:cNvPr id="12" name="Title 1">
            <a:extLst>
              <a:ext uri="{FF2B5EF4-FFF2-40B4-BE49-F238E27FC236}">
                <a16:creationId xmlns:a16="http://schemas.microsoft.com/office/drawing/2014/main" id="{379E60BD-74CF-3DFC-2483-71076A022D6D}"/>
              </a:ext>
            </a:extLst>
          </p:cNvPr>
          <p:cNvSpPr txBox="1">
            <a:spLocks/>
          </p:cNvSpPr>
          <p:nvPr/>
        </p:nvSpPr>
        <p:spPr>
          <a:xfrm>
            <a:off x="6295573" y="5921083"/>
            <a:ext cx="717335" cy="47971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dirty="0">
                <a:solidFill>
                  <a:srgbClr val="666633"/>
                </a:solidFill>
                <a:latin typeface="+mn-lt"/>
              </a:rPr>
              <a:t>Chr 8</a:t>
            </a:r>
          </a:p>
        </p:txBody>
      </p:sp>
      <p:sp>
        <p:nvSpPr>
          <p:cNvPr id="13" name="Title 1">
            <a:extLst>
              <a:ext uri="{FF2B5EF4-FFF2-40B4-BE49-F238E27FC236}">
                <a16:creationId xmlns:a16="http://schemas.microsoft.com/office/drawing/2014/main" id="{B7FEAE34-736A-7DC4-AC4C-5897248CFDA4}"/>
              </a:ext>
            </a:extLst>
          </p:cNvPr>
          <p:cNvSpPr txBox="1">
            <a:spLocks/>
          </p:cNvSpPr>
          <p:nvPr/>
        </p:nvSpPr>
        <p:spPr>
          <a:xfrm>
            <a:off x="7083933" y="5921082"/>
            <a:ext cx="717335" cy="47971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dirty="0">
                <a:solidFill>
                  <a:schemeClr val="accent2"/>
                </a:solidFill>
                <a:latin typeface="+mn-lt"/>
              </a:rPr>
              <a:t>Chr 9</a:t>
            </a:r>
          </a:p>
        </p:txBody>
      </p:sp>
      <p:sp>
        <p:nvSpPr>
          <p:cNvPr id="14" name="Title 1">
            <a:extLst>
              <a:ext uri="{FF2B5EF4-FFF2-40B4-BE49-F238E27FC236}">
                <a16:creationId xmlns:a16="http://schemas.microsoft.com/office/drawing/2014/main" id="{5C28EF96-4338-13C8-A280-A0DF644B137C}"/>
              </a:ext>
            </a:extLst>
          </p:cNvPr>
          <p:cNvSpPr txBox="1">
            <a:spLocks/>
          </p:cNvSpPr>
          <p:nvPr/>
        </p:nvSpPr>
        <p:spPr>
          <a:xfrm>
            <a:off x="7801270" y="5921082"/>
            <a:ext cx="788359" cy="47971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dirty="0">
                <a:solidFill>
                  <a:srgbClr val="666633"/>
                </a:solidFill>
                <a:latin typeface="+mn-lt"/>
              </a:rPr>
              <a:t>Chr 10</a:t>
            </a:r>
          </a:p>
        </p:txBody>
      </p:sp>
      <p:cxnSp>
        <p:nvCxnSpPr>
          <p:cNvPr id="16" name="Straight Connector 15">
            <a:extLst>
              <a:ext uri="{FF2B5EF4-FFF2-40B4-BE49-F238E27FC236}">
                <a16:creationId xmlns:a16="http://schemas.microsoft.com/office/drawing/2014/main" id="{0AA8CF8F-CA56-146D-360A-3FB61EF0B5B3}"/>
              </a:ext>
            </a:extLst>
          </p:cNvPr>
          <p:cNvCxnSpPr>
            <a:cxnSpLocks/>
          </p:cNvCxnSpPr>
          <p:nvPr/>
        </p:nvCxnSpPr>
        <p:spPr>
          <a:xfrm>
            <a:off x="661320" y="3088178"/>
            <a:ext cx="6886636" cy="0"/>
          </a:xfrm>
          <a:prstGeom prst="line">
            <a:avLst/>
          </a:prstGeom>
          <a:ln w="12700">
            <a:solidFill>
              <a:srgbClr val="7A0000"/>
            </a:solidFill>
            <a:prstDash val="dash"/>
          </a:ln>
        </p:spPr>
        <p:style>
          <a:lnRef idx="2">
            <a:schemeClr val="accent1"/>
          </a:lnRef>
          <a:fillRef idx="0">
            <a:schemeClr val="accent1"/>
          </a:fillRef>
          <a:effectRef idx="1">
            <a:schemeClr val="accent1"/>
          </a:effectRef>
          <a:fontRef idx="minor">
            <a:schemeClr val="tx1"/>
          </a:fontRef>
        </p:style>
      </p:cxnSp>
      <p:sp>
        <p:nvSpPr>
          <p:cNvPr id="18" name="Content Placeholder 2">
            <a:extLst>
              <a:ext uri="{FF2B5EF4-FFF2-40B4-BE49-F238E27FC236}">
                <a16:creationId xmlns:a16="http://schemas.microsoft.com/office/drawing/2014/main" id="{9128C63C-282E-ECEA-0440-4119AFFD87DB}"/>
              </a:ext>
            </a:extLst>
          </p:cNvPr>
          <p:cNvSpPr txBox="1">
            <a:spLocks/>
          </p:cNvSpPr>
          <p:nvPr/>
        </p:nvSpPr>
        <p:spPr>
          <a:xfrm>
            <a:off x="7685129" y="2925072"/>
            <a:ext cx="1045815" cy="259707"/>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1200"/>
              </a:spcAft>
              <a:buFont typeface="Arial" panose="020B0604020202020204" pitchFamily="34" charset="0"/>
              <a:buNone/>
            </a:pPr>
            <a:r>
              <a:rPr lang="en-US" sz="1800" dirty="0">
                <a:solidFill>
                  <a:schemeClr val="accent6"/>
                </a:solidFill>
                <a:latin typeface="+mj-lt"/>
              </a:rPr>
              <a:t>p = 0.05</a:t>
            </a:r>
          </a:p>
        </p:txBody>
      </p:sp>
      <p:sp>
        <p:nvSpPr>
          <p:cNvPr id="28" name="Content Placeholder 2">
            <a:extLst>
              <a:ext uri="{FF2B5EF4-FFF2-40B4-BE49-F238E27FC236}">
                <a16:creationId xmlns:a16="http://schemas.microsoft.com/office/drawing/2014/main" id="{836AD698-4CB0-2E6C-8A8E-FFAC2056D1C0}"/>
              </a:ext>
            </a:extLst>
          </p:cNvPr>
          <p:cNvSpPr txBox="1">
            <a:spLocks/>
          </p:cNvSpPr>
          <p:nvPr/>
        </p:nvSpPr>
        <p:spPr>
          <a:xfrm>
            <a:off x="8986058" y="2576945"/>
            <a:ext cx="2596341" cy="3671455"/>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1200"/>
              </a:spcAft>
              <a:buNone/>
            </a:pPr>
            <a:r>
              <a:rPr lang="en-US" sz="1600" dirty="0">
                <a:solidFill>
                  <a:schemeClr val="accent1">
                    <a:lumMod val="75000"/>
                  </a:schemeClr>
                </a:solidFill>
                <a:latin typeface="Aptos" panose="020B0004020202020204" pitchFamily="34" charset="0"/>
              </a:rPr>
              <a:t>Details of the chart and its results will go here. This will include things like subject recruitment if a human study, study subject or study system if an animal or plan experiment, or search criteria if a review. Here we’re showing mice that indicate an animal experiment. </a:t>
            </a:r>
          </a:p>
        </p:txBody>
      </p:sp>
    </p:spTree>
    <p:extLst>
      <p:ext uri="{BB962C8B-B14F-4D97-AF65-F5344CB8AC3E}">
        <p14:creationId xmlns:p14="http://schemas.microsoft.com/office/powerpoint/2010/main" val="1050553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220B2C7A-FF9D-8F9B-A4B1-BE287B381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867758-FCAF-3931-3C3F-84372DBA15A9}"/>
              </a:ext>
            </a:extLst>
          </p:cNvPr>
          <p:cNvSpPr>
            <a:spLocks noGrp="1"/>
          </p:cNvSpPr>
          <p:nvPr>
            <p:ph type="title" idx="4294967295"/>
          </p:nvPr>
        </p:nvSpPr>
        <p:spPr>
          <a:xfrm>
            <a:off x="609600" y="580091"/>
            <a:ext cx="4480560" cy="685800"/>
          </a:xfrm>
        </p:spPr>
        <p:txBody>
          <a:bodyPr lIns="0" tIns="0" rIns="0" bIns="0" anchor="t">
            <a:noAutofit/>
          </a:bodyPr>
          <a:lstStyle/>
          <a:p>
            <a:r>
              <a:rPr lang="en-US" sz="4800" dirty="0">
                <a:solidFill>
                  <a:schemeClr val="bg1"/>
                </a:solidFill>
                <a:latin typeface="Arial Black" panose="020B0A04020102020204" pitchFamily="34" charset="0"/>
              </a:rPr>
              <a:t>Conclusion</a:t>
            </a:r>
          </a:p>
        </p:txBody>
      </p:sp>
      <p:sp>
        <p:nvSpPr>
          <p:cNvPr id="9" name="Rectangle 8">
            <a:extLst>
              <a:ext uri="{FF2B5EF4-FFF2-40B4-BE49-F238E27FC236}">
                <a16:creationId xmlns:a16="http://schemas.microsoft.com/office/drawing/2014/main" id="{D7004A32-A71B-8CD5-C9EB-B4B8EA2B7B16}"/>
              </a:ext>
            </a:extLst>
          </p:cNvPr>
          <p:cNvSpPr/>
          <p:nvPr/>
        </p:nvSpPr>
        <p:spPr>
          <a:xfrm>
            <a:off x="4483331" y="1705146"/>
            <a:ext cx="7063047" cy="1325564"/>
          </a:xfrm>
          <a:prstGeom prst="rect">
            <a:avLst/>
          </a:prstGeom>
          <a:solidFill>
            <a:schemeClr val="accent1">
              <a:lumMod val="75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 name="Content Placeholder 2">
            <a:extLst>
              <a:ext uri="{FF2B5EF4-FFF2-40B4-BE49-F238E27FC236}">
                <a16:creationId xmlns:a16="http://schemas.microsoft.com/office/drawing/2014/main" id="{723C2D71-CB8A-81FA-1826-E53EDBE55A7D}"/>
              </a:ext>
            </a:extLst>
          </p:cNvPr>
          <p:cNvSpPr>
            <a:spLocks noGrp="1"/>
          </p:cNvSpPr>
          <p:nvPr>
            <p:ph idx="4294967295"/>
          </p:nvPr>
        </p:nvSpPr>
        <p:spPr>
          <a:xfrm>
            <a:off x="4743307" y="1950463"/>
            <a:ext cx="6487187" cy="834929"/>
          </a:xfrm>
        </p:spPr>
        <p:txBody>
          <a:bodyPr lIns="0" tIns="0" rIns="0" bIns="0" anchor="t">
            <a:noAutofit/>
          </a:bodyPr>
          <a:lstStyle/>
          <a:p>
            <a:pPr marL="0" indent="0">
              <a:lnSpc>
                <a:spcPct val="110000"/>
              </a:lnSpc>
              <a:spcBef>
                <a:spcPts val="0"/>
              </a:spcBef>
              <a:spcAft>
                <a:spcPts val="1200"/>
              </a:spcAft>
              <a:buNone/>
            </a:pPr>
            <a:r>
              <a:rPr lang="en-US" sz="1600" dirty="0">
                <a:solidFill>
                  <a:schemeClr val="bg1"/>
                </a:solidFill>
                <a:latin typeface="Aptos" panose="020B0004020202020204" pitchFamily="34" charset="0"/>
              </a:rPr>
              <a:t>A reminder of the first objective: to establish a line of genetically identical mice that have the gene of interest, setting the stage for the rest of the experiment. Now we discuss whether it was accomplished. </a:t>
            </a:r>
          </a:p>
        </p:txBody>
      </p:sp>
      <p:sp>
        <p:nvSpPr>
          <p:cNvPr id="11" name="TextBox 10">
            <a:extLst>
              <a:ext uri="{FF2B5EF4-FFF2-40B4-BE49-F238E27FC236}">
                <a16:creationId xmlns:a16="http://schemas.microsoft.com/office/drawing/2014/main" id="{6AE4707C-4989-667B-47C7-BCF66D767EB6}"/>
              </a:ext>
            </a:extLst>
          </p:cNvPr>
          <p:cNvSpPr txBox="1"/>
          <p:nvPr/>
        </p:nvSpPr>
        <p:spPr>
          <a:xfrm>
            <a:off x="3566879" y="1860097"/>
            <a:ext cx="697627" cy="1015663"/>
          </a:xfrm>
          <a:prstGeom prst="rect">
            <a:avLst/>
          </a:prstGeom>
          <a:noFill/>
        </p:spPr>
        <p:txBody>
          <a:bodyPr wrap="none" rtlCol="0">
            <a:spAutoFit/>
          </a:bodyPr>
          <a:lstStyle/>
          <a:p>
            <a:r>
              <a:rPr lang="en-US" sz="6000" dirty="0">
                <a:solidFill>
                  <a:schemeClr val="accent2">
                    <a:lumMod val="40000"/>
                    <a:lumOff val="60000"/>
                  </a:schemeClr>
                </a:solidFill>
                <a:latin typeface="+mj-lt"/>
              </a:rPr>
              <a:t>1</a:t>
            </a:r>
            <a:endParaRPr lang="en-US" sz="2400" dirty="0">
              <a:solidFill>
                <a:schemeClr val="accent2">
                  <a:lumMod val="40000"/>
                  <a:lumOff val="60000"/>
                </a:schemeClr>
              </a:solidFill>
              <a:latin typeface="+mj-lt"/>
            </a:endParaRPr>
          </a:p>
        </p:txBody>
      </p:sp>
      <p:sp>
        <p:nvSpPr>
          <p:cNvPr id="12" name="Rectangle 11">
            <a:extLst>
              <a:ext uri="{FF2B5EF4-FFF2-40B4-BE49-F238E27FC236}">
                <a16:creationId xmlns:a16="http://schemas.microsoft.com/office/drawing/2014/main" id="{798ACAFF-44C4-D164-E609-A4BF1DDF9011}"/>
              </a:ext>
            </a:extLst>
          </p:cNvPr>
          <p:cNvSpPr/>
          <p:nvPr/>
        </p:nvSpPr>
        <p:spPr>
          <a:xfrm>
            <a:off x="4483331" y="3308043"/>
            <a:ext cx="7063047" cy="1325564"/>
          </a:xfrm>
          <a:prstGeom prst="rect">
            <a:avLst/>
          </a:prstGeom>
          <a:solidFill>
            <a:schemeClr val="accent1">
              <a:lumMod val="75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Content Placeholder 2">
            <a:extLst>
              <a:ext uri="{FF2B5EF4-FFF2-40B4-BE49-F238E27FC236}">
                <a16:creationId xmlns:a16="http://schemas.microsoft.com/office/drawing/2014/main" id="{2CFD04A7-77EA-7E5B-7AFB-D04E455159F2}"/>
              </a:ext>
            </a:extLst>
          </p:cNvPr>
          <p:cNvSpPr txBox="1">
            <a:spLocks/>
          </p:cNvSpPr>
          <p:nvPr/>
        </p:nvSpPr>
        <p:spPr>
          <a:xfrm>
            <a:off x="4743307" y="3553360"/>
            <a:ext cx="6487187" cy="834929"/>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1200"/>
              </a:spcAft>
              <a:buFont typeface="Arial" panose="020B0604020202020204" pitchFamily="34" charset="0"/>
              <a:buNone/>
            </a:pPr>
            <a:r>
              <a:rPr lang="en-US" sz="1600" dirty="0">
                <a:solidFill>
                  <a:schemeClr val="bg1"/>
                </a:solidFill>
                <a:latin typeface="Aptos" panose="020B0004020202020204" pitchFamily="34" charset="0"/>
              </a:rPr>
              <a:t>A reminder of the second objective: to run an experiment with different treatment groups on the line of mice we’ve created. We once again discuss whether it was accomplished. </a:t>
            </a:r>
          </a:p>
        </p:txBody>
      </p:sp>
      <p:sp>
        <p:nvSpPr>
          <p:cNvPr id="14" name="TextBox 13">
            <a:extLst>
              <a:ext uri="{FF2B5EF4-FFF2-40B4-BE49-F238E27FC236}">
                <a16:creationId xmlns:a16="http://schemas.microsoft.com/office/drawing/2014/main" id="{52C09D21-9D2E-7CC8-F910-EA320811CC06}"/>
              </a:ext>
            </a:extLst>
          </p:cNvPr>
          <p:cNvSpPr txBox="1"/>
          <p:nvPr/>
        </p:nvSpPr>
        <p:spPr>
          <a:xfrm>
            <a:off x="3566879" y="3462994"/>
            <a:ext cx="697627" cy="1015663"/>
          </a:xfrm>
          <a:prstGeom prst="rect">
            <a:avLst/>
          </a:prstGeom>
          <a:noFill/>
        </p:spPr>
        <p:txBody>
          <a:bodyPr wrap="none" rtlCol="0">
            <a:spAutoFit/>
          </a:bodyPr>
          <a:lstStyle/>
          <a:p>
            <a:r>
              <a:rPr lang="en-US" sz="6000" dirty="0">
                <a:solidFill>
                  <a:schemeClr val="accent2">
                    <a:lumMod val="40000"/>
                    <a:lumOff val="60000"/>
                  </a:schemeClr>
                </a:solidFill>
                <a:latin typeface="+mj-lt"/>
              </a:rPr>
              <a:t>2</a:t>
            </a:r>
            <a:endParaRPr lang="en-US" sz="2400" dirty="0">
              <a:solidFill>
                <a:schemeClr val="accent2">
                  <a:lumMod val="40000"/>
                  <a:lumOff val="60000"/>
                </a:schemeClr>
              </a:solidFill>
              <a:latin typeface="+mj-lt"/>
            </a:endParaRPr>
          </a:p>
        </p:txBody>
      </p:sp>
      <p:sp>
        <p:nvSpPr>
          <p:cNvPr id="15" name="Rectangle 14">
            <a:extLst>
              <a:ext uri="{FF2B5EF4-FFF2-40B4-BE49-F238E27FC236}">
                <a16:creationId xmlns:a16="http://schemas.microsoft.com/office/drawing/2014/main" id="{42E672F2-24C5-80D3-CAAE-02FB90D8DDEA}"/>
              </a:ext>
            </a:extLst>
          </p:cNvPr>
          <p:cNvSpPr/>
          <p:nvPr/>
        </p:nvSpPr>
        <p:spPr>
          <a:xfrm>
            <a:off x="4483331" y="4910940"/>
            <a:ext cx="7063047" cy="1325564"/>
          </a:xfrm>
          <a:prstGeom prst="rect">
            <a:avLst/>
          </a:prstGeom>
          <a:solidFill>
            <a:schemeClr val="accent1">
              <a:lumMod val="75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6" name="Content Placeholder 2">
            <a:extLst>
              <a:ext uri="{FF2B5EF4-FFF2-40B4-BE49-F238E27FC236}">
                <a16:creationId xmlns:a16="http://schemas.microsoft.com/office/drawing/2014/main" id="{A8D3734C-F2CF-DADF-71D5-0EACFBB471A4}"/>
              </a:ext>
            </a:extLst>
          </p:cNvPr>
          <p:cNvSpPr txBox="1">
            <a:spLocks/>
          </p:cNvSpPr>
          <p:nvPr/>
        </p:nvSpPr>
        <p:spPr>
          <a:xfrm>
            <a:off x="4743307" y="5156257"/>
            <a:ext cx="6487187" cy="834929"/>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1200"/>
              </a:spcAft>
              <a:buFont typeface="Arial" panose="020B0604020202020204" pitchFamily="34" charset="0"/>
              <a:buNone/>
            </a:pPr>
            <a:r>
              <a:rPr lang="en-US" sz="1600" dirty="0">
                <a:solidFill>
                  <a:schemeClr val="bg1"/>
                </a:solidFill>
                <a:latin typeface="Aptos" panose="020B0004020202020204" pitchFamily="34" charset="0"/>
              </a:rPr>
              <a:t>Probably the most interesting objective, the one about which the most can be said. How did the analysis contribute to this analysis? Were the predictions upheld or not upheld? Here is that relevant discussion. </a:t>
            </a:r>
          </a:p>
        </p:txBody>
      </p:sp>
      <p:sp>
        <p:nvSpPr>
          <p:cNvPr id="17" name="TextBox 16">
            <a:extLst>
              <a:ext uri="{FF2B5EF4-FFF2-40B4-BE49-F238E27FC236}">
                <a16:creationId xmlns:a16="http://schemas.microsoft.com/office/drawing/2014/main" id="{127AADB0-BE5A-62BE-6B7E-D11D5ECACDA8}"/>
              </a:ext>
            </a:extLst>
          </p:cNvPr>
          <p:cNvSpPr txBox="1"/>
          <p:nvPr/>
        </p:nvSpPr>
        <p:spPr>
          <a:xfrm>
            <a:off x="3566879" y="5065891"/>
            <a:ext cx="697627" cy="1015663"/>
          </a:xfrm>
          <a:prstGeom prst="rect">
            <a:avLst/>
          </a:prstGeom>
          <a:noFill/>
        </p:spPr>
        <p:txBody>
          <a:bodyPr wrap="none" rtlCol="0">
            <a:spAutoFit/>
          </a:bodyPr>
          <a:lstStyle/>
          <a:p>
            <a:r>
              <a:rPr lang="en-US" sz="6000" dirty="0">
                <a:solidFill>
                  <a:schemeClr val="accent2">
                    <a:lumMod val="40000"/>
                    <a:lumOff val="60000"/>
                  </a:schemeClr>
                </a:solidFill>
                <a:latin typeface="+mj-lt"/>
              </a:rPr>
              <a:t>3</a:t>
            </a:r>
            <a:endParaRPr lang="en-US" sz="2400" dirty="0">
              <a:solidFill>
                <a:schemeClr val="accent2">
                  <a:lumMod val="40000"/>
                  <a:lumOff val="60000"/>
                </a:schemeClr>
              </a:solidFill>
              <a:latin typeface="+mj-lt"/>
            </a:endParaRPr>
          </a:p>
        </p:txBody>
      </p:sp>
      <p:sp>
        <p:nvSpPr>
          <p:cNvPr id="4" name="Content Placeholder 2">
            <a:extLst>
              <a:ext uri="{FF2B5EF4-FFF2-40B4-BE49-F238E27FC236}">
                <a16:creationId xmlns:a16="http://schemas.microsoft.com/office/drawing/2014/main" id="{70FAA537-F434-AE22-4933-775F211C9937}"/>
              </a:ext>
            </a:extLst>
          </p:cNvPr>
          <p:cNvSpPr txBox="1">
            <a:spLocks/>
          </p:cNvSpPr>
          <p:nvPr/>
        </p:nvSpPr>
        <p:spPr>
          <a:xfrm>
            <a:off x="609410" y="1705146"/>
            <a:ext cx="2566052" cy="4163079"/>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1200"/>
              </a:spcAft>
              <a:buFont typeface="Arial" panose="020B0604020202020204" pitchFamily="34" charset="0"/>
              <a:buNone/>
            </a:pPr>
            <a:r>
              <a:rPr lang="en-US" sz="1600" dirty="0">
                <a:solidFill>
                  <a:schemeClr val="bg1"/>
                </a:solidFill>
                <a:latin typeface="Aptos" panose="020B0004020202020204" pitchFamily="34" charset="0"/>
              </a:rPr>
              <a:t>Here we will have a fairly long and detailed conclusion slide. The most important part is to make sure that all of the objectives have been addressed.  </a:t>
            </a:r>
          </a:p>
          <a:p>
            <a:pPr marL="0" indent="0">
              <a:lnSpc>
                <a:spcPct val="110000"/>
              </a:lnSpc>
              <a:spcBef>
                <a:spcPts val="0"/>
              </a:spcBef>
              <a:spcAft>
                <a:spcPts val="1200"/>
              </a:spcAft>
              <a:buFont typeface="Arial" panose="020B0604020202020204" pitchFamily="34" charset="0"/>
              <a:buNone/>
            </a:pPr>
            <a:r>
              <a:rPr lang="en-US" sz="1600" dirty="0">
                <a:solidFill>
                  <a:schemeClr val="bg1"/>
                </a:solidFill>
                <a:latin typeface="Aptos" panose="020B0004020202020204" pitchFamily="34" charset="0"/>
              </a:rPr>
              <a:t>Final thoughts and other notes about the findings can go here as well. </a:t>
            </a:r>
          </a:p>
        </p:txBody>
      </p:sp>
    </p:spTree>
    <p:extLst>
      <p:ext uri="{BB962C8B-B14F-4D97-AF65-F5344CB8AC3E}">
        <p14:creationId xmlns:p14="http://schemas.microsoft.com/office/powerpoint/2010/main" val="150828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3E0A78F2-D9D4-169B-A373-895C2F93467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51BE846-2F59-4A2E-558B-75C672966E0D}"/>
              </a:ext>
            </a:extLst>
          </p:cNvPr>
          <p:cNvSpPr txBox="1">
            <a:spLocks/>
          </p:cNvSpPr>
          <p:nvPr/>
        </p:nvSpPr>
        <p:spPr>
          <a:xfrm>
            <a:off x="609600" y="580091"/>
            <a:ext cx="10972800" cy="68580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4800" dirty="0">
                <a:solidFill>
                  <a:schemeClr val="bg1"/>
                </a:solidFill>
                <a:latin typeface="Arial Black" panose="020B0A04020102020204" pitchFamily="34" charset="0"/>
              </a:rPr>
              <a:t>Acknowledgements</a:t>
            </a:r>
          </a:p>
        </p:txBody>
      </p:sp>
      <p:sp>
        <p:nvSpPr>
          <p:cNvPr id="6" name="Rectangle 5">
            <a:extLst>
              <a:ext uri="{FF2B5EF4-FFF2-40B4-BE49-F238E27FC236}">
                <a16:creationId xmlns:a16="http://schemas.microsoft.com/office/drawing/2014/main" id="{6F9F184D-BFCD-936E-4D59-367A8BECDA4A}"/>
              </a:ext>
            </a:extLst>
          </p:cNvPr>
          <p:cNvSpPr/>
          <p:nvPr/>
        </p:nvSpPr>
        <p:spPr>
          <a:xfrm rot="5400000">
            <a:off x="613521" y="2399637"/>
            <a:ext cx="165030" cy="1392072"/>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 name="Rectangle 6">
            <a:extLst>
              <a:ext uri="{FF2B5EF4-FFF2-40B4-BE49-F238E27FC236}">
                <a16:creationId xmlns:a16="http://schemas.microsoft.com/office/drawing/2014/main" id="{0FF39E2F-3C4C-DB1F-E88F-71D716D8337E}"/>
              </a:ext>
            </a:extLst>
          </p:cNvPr>
          <p:cNvSpPr/>
          <p:nvPr/>
        </p:nvSpPr>
        <p:spPr>
          <a:xfrm rot="5400000">
            <a:off x="613521" y="1690627"/>
            <a:ext cx="165030" cy="1392072"/>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 name="Rectangle 7">
            <a:extLst>
              <a:ext uri="{FF2B5EF4-FFF2-40B4-BE49-F238E27FC236}">
                <a16:creationId xmlns:a16="http://schemas.microsoft.com/office/drawing/2014/main" id="{853A1B2C-46B1-D171-2510-0B005536E50B}"/>
              </a:ext>
            </a:extLst>
          </p:cNvPr>
          <p:cNvSpPr/>
          <p:nvPr/>
        </p:nvSpPr>
        <p:spPr>
          <a:xfrm rot="5400000">
            <a:off x="613521" y="3866004"/>
            <a:ext cx="165030" cy="1392072"/>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02AA4642-2294-A0AC-2874-CF4BC6F6D3C4}"/>
              </a:ext>
            </a:extLst>
          </p:cNvPr>
          <p:cNvSpPr/>
          <p:nvPr/>
        </p:nvSpPr>
        <p:spPr>
          <a:xfrm rot="5400000">
            <a:off x="613521" y="3156994"/>
            <a:ext cx="165030" cy="1392072"/>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 name="Rectangle 17">
            <a:extLst>
              <a:ext uri="{FF2B5EF4-FFF2-40B4-BE49-F238E27FC236}">
                <a16:creationId xmlns:a16="http://schemas.microsoft.com/office/drawing/2014/main" id="{297B097D-69CA-7B22-6832-CCAC628E657B}"/>
              </a:ext>
            </a:extLst>
          </p:cNvPr>
          <p:cNvSpPr/>
          <p:nvPr/>
        </p:nvSpPr>
        <p:spPr>
          <a:xfrm rot="5400000">
            <a:off x="613521" y="5289469"/>
            <a:ext cx="165030" cy="1392072"/>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9" name="Rectangle 18">
            <a:extLst>
              <a:ext uri="{FF2B5EF4-FFF2-40B4-BE49-F238E27FC236}">
                <a16:creationId xmlns:a16="http://schemas.microsoft.com/office/drawing/2014/main" id="{6FE0ADF1-4576-5842-E286-8166F5763912}"/>
              </a:ext>
            </a:extLst>
          </p:cNvPr>
          <p:cNvSpPr/>
          <p:nvPr/>
        </p:nvSpPr>
        <p:spPr>
          <a:xfrm rot="5400000">
            <a:off x="613521" y="4580459"/>
            <a:ext cx="165030" cy="1392072"/>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0" name="Content Placeholder 2">
            <a:extLst>
              <a:ext uri="{FF2B5EF4-FFF2-40B4-BE49-F238E27FC236}">
                <a16:creationId xmlns:a16="http://schemas.microsoft.com/office/drawing/2014/main" id="{14B73CE0-C1E4-36EC-EB78-4C36D99DF0B3}"/>
              </a:ext>
            </a:extLst>
          </p:cNvPr>
          <p:cNvSpPr txBox="1">
            <a:spLocks/>
          </p:cNvSpPr>
          <p:nvPr/>
        </p:nvSpPr>
        <p:spPr>
          <a:xfrm>
            <a:off x="1687441" y="2149188"/>
            <a:ext cx="4630231" cy="474950"/>
          </a:xfrm>
          <a:prstGeom prst="rect">
            <a:avLst/>
          </a:prstGeom>
        </p:spPr>
        <p:txBody>
          <a:bodyPr lIns="0" tIns="0" rIns="0" bIns="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bg1"/>
                </a:solidFill>
              </a:rPr>
              <a:t>Lab group</a:t>
            </a:r>
          </a:p>
        </p:txBody>
      </p:sp>
      <p:sp>
        <p:nvSpPr>
          <p:cNvPr id="21" name="Content Placeholder 2">
            <a:extLst>
              <a:ext uri="{FF2B5EF4-FFF2-40B4-BE49-F238E27FC236}">
                <a16:creationId xmlns:a16="http://schemas.microsoft.com/office/drawing/2014/main" id="{AF05E38E-4682-6B24-AD23-5FF1F561BC17}"/>
              </a:ext>
            </a:extLst>
          </p:cNvPr>
          <p:cNvSpPr txBox="1">
            <a:spLocks/>
          </p:cNvSpPr>
          <p:nvPr/>
        </p:nvSpPr>
        <p:spPr>
          <a:xfrm>
            <a:off x="1687441" y="5048596"/>
            <a:ext cx="4630231" cy="474950"/>
          </a:xfrm>
          <a:prstGeom prst="rect">
            <a:avLst/>
          </a:prstGeom>
        </p:spPr>
        <p:txBody>
          <a:bodyPr lIns="0" tIns="0" rIns="0" bIns="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bg1"/>
                </a:solidFill>
              </a:rPr>
              <a:t>Grant one</a:t>
            </a:r>
          </a:p>
        </p:txBody>
      </p:sp>
      <p:sp>
        <p:nvSpPr>
          <p:cNvPr id="22" name="Content Placeholder 2">
            <a:extLst>
              <a:ext uri="{FF2B5EF4-FFF2-40B4-BE49-F238E27FC236}">
                <a16:creationId xmlns:a16="http://schemas.microsoft.com/office/drawing/2014/main" id="{9EA92A2B-B361-FF08-F23D-DAF06F9E51F0}"/>
              </a:ext>
            </a:extLst>
          </p:cNvPr>
          <p:cNvSpPr txBox="1">
            <a:spLocks/>
          </p:cNvSpPr>
          <p:nvPr/>
        </p:nvSpPr>
        <p:spPr>
          <a:xfrm>
            <a:off x="1687441" y="2874040"/>
            <a:ext cx="4630231" cy="474950"/>
          </a:xfrm>
          <a:prstGeom prst="rect">
            <a:avLst/>
          </a:prstGeom>
        </p:spPr>
        <p:txBody>
          <a:bodyPr lIns="0" tIns="0" rIns="0" bIns="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bg1"/>
                </a:solidFill>
              </a:rPr>
              <a:t>Person who helped</a:t>
            </a:r>
          </a:p>
        </p:txBody>
      </p:sp>
      <p:sp>
        <p:nvSpPr>
          <p:cNvPr id="24" name="Content Placeholder 2">
            <a:extLst>
              <a:ext uri="{FF2B5EF4-FFF2-40B4-BE49-F238E27FC236}">
                <a16:creationId xmlns:a16="http://schemas.microsoft.com/office/drawing/2014/main" id="{6E4B075F-7ED7-0442-91C4-B030924219E3}"/>
              </a:ext>
            </a:extLst>
          </p:cNvPr>
          <p:cNvSpPr txBox="1">
            <a:spLocks/>
          </p:cNvSpPr>
          <p:nvPr/>
        </p:nvSpPr>
        <p:spPr>
          <a:xfrm>
            <a:off x="1687441" y="3598892"/>
            <a:ext cx="4630231" cy="474950"/>
          </a:xfrm>
          <a:prstGeom prst="rect">
            <a:avLst/>
          </a:prstGeom>
        </p:spPr>
        <p:txBody>
          <a:bodyPr lIns="0" tIns="0" rIns="0" bIns="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bg1"/>
                </a:solidFill>
              </a:rPr>
              <a:t>Additional person who helped</a:t>
            </a:r>
          </a:p>
        </p:txBody>
      </p:sp>
      <p:sp>
        <p:nvSpPr>
          <p:cNvPr id="25" name="Content Placeholder 2">
            <a:extLst>
              <a:ext uri="{FF2B5EF4-FFF2-40B4-BE49-F238E27FC236}">
                <a16:creationId xmlns:a16="http://schemas.microsoft.com/office/drawing/2014/main" id="{0D482CFA-9B60-961B-31E6-F3BDAD625856}"/>
              </a:ext>
            </a:extLst>
          </p:cNvPr>
          <p:cNvSpPr txBox="1">
            <a:spLocks/>
          </p:cNvSpPr>
          <p:nvPr/>
        </p:nvSpPr>
        <p:spPr>
          <a:xfrm>
            <a:off x="1687441" y="4323744"/>
            <a:ext cx="4630231" cy="474950"/>
          </a:xfrm>
          <a:prstGeom prst="rect">
            <a:avLst/>
          </a:prstGeom>
        </p:spPr>
        <p:txBody>
          <a:bodyPr lIns="0" tIns="0" rIns="0" bIns="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bg1"/>
                </a:solidFill>
              </a:rPr>
              <a:t>Funding agency</a:t>
            </a:r>
          </a:p>
        </p:txBody>
      </p:sp>
      <p:sp>
        <p:nvSpPr>
          <p:cNvPr id="26" name="Content Placeholder 2">
            <a:extLst>
              <a:ext uri="{FF2B5EF4-FFF2-40B4-BE49-F238E27FC236}">
                <a16:creationId xmlns:a16="http://schemas.microsoft.com/office/drawing/2014/main" id="{017A9113-7AEE-F9CC-4537-BAB6935A844A}"/>
              </a:ext>
            </a:extLst>
          </p:cNvPr>
          <p:cNvSpPr txBox="1">
            <a:spLocks/>
          </p:cNvSpPr>
          <p:nvPr/>
        </p:nvSpPr>
        <p:spPr>
          <a:xfrm>
            <a:off x="1687441" y="5773450"/>
            <a:ext cx="4630231" cy="474950"/>
          </a:xfrm>
          <a:prstGeom prst="rect">
            <a:avLst/>
          </a:prstGeom>
        </p:spPr>
        <p:txBody>
          <a:bodyPr lIns="0" tIns="0" rIns="0" bIns="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bg1"/>
                </a:solidFill>
              </a:rPr>
              <a:t>Grant two</a:t>
            </a:r>
          </a:p>
        </p:txBody>
      </p:sp>
      <p:pic>
        <p:nvPicPr>
          <p:cNvPr id="27" name="Picture 26">
            <a:extLst>
              <a:ext uri="{FF2B5EF4-FFF2-40B4-BE49-F238E27FC236}">
                <a16:creationId xmlns:a16="http://schemas.microsoft.com/office/drawing/2014/main" id="{66989E04-7F74-E41D-D46B-3316E2097F3B}"/>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982692" y="2481975"/>
            <a:ext cx="5069378" cy="5069378"/>
          </a:xfrm>
          <a:prstGeom prst="rect">
            <a:avLst/>
          </a:prstGeom>
        </p:spPr>
      </p:pic>
    </p:spTree>
    <p:extLst>
      <p:ext uri="{BB962C8B-B14F-4D97-AF65-F5344CB8AC3E}">
        <p14:creationId xmlns:p14="http://schemas.microsoft.com/office/powerpoint/2010/main" val="3553261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011CBBE7-DAB5-B1F7-17DC-3282002990FB}"/>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761785" y="2485508"/>
            <a:ext cx="3334215" cy="3324689"/>
          </a:xfrm>
          <a:prstGeom prst="rect">
            <a:avLst/>
          </a:prstGeom>
        </p:spPr>
      </p:pic>
      <p:sp>
        <p:nvSpPr>
          <p:cNvPr id="2" name="Title 1">
            <a:extLst>
              <a:ext uri="{FF2B5EF4-FFF2-40B4-BE49-F238E27FC236}">
                <a16:creationId xmlns:a16="http://schemas.microsoft.com/office/drawing/2014/main" id="{B1BC89CB-9655-36E2-0111-448A17A23471}"/>
              </a:ext>
            </a:extLst>
          </p:cNvPr>
          <p:cNvSpPr>
            <a:spLocks noGrp="1"/>
          </p:cNvSpPr>
          <p:nvPr>
            <p:ph type="title"/>
          </p:nvPr>
        </p:nvSpPr>
        <p:spPr>
          <a:xfrm>
            <a:off x="838200" y="365125"/>
            <a:ext cx="4704347" cy="1325563"/>
          </a:xfrm>
        </p:spPr>
        <p:txBody>
          <a:bodyPr lIns="0" tIns="0" rIns="0" bIns="0">
            <a:noAutofit/>
          </a:bodyPr>
          <a:lstStyle/>
          <a:p>
            <a:r>
              <a:rPr lang="en-US" sz="5400" dirty="0">
                <a:solidFill>
                  <a:schemeClr val="accent1"/>
                </a:solidFill>
              </a:rPr>
              <a:t>Style guide</a:t>
            </a:r>
          </a:p>
        </p:txBody>
      </p:sp>
      <p:sp>
        <p:nvSpPr>
          <p:cNvPr id="3" name="Content Placeholder 2">
            <a:extLst>
              <a:ext uri="{FF2B5EF4-FFF2-40B4-BE49-F238E27FC236}">
                <a16:creationId xmlns:a16="http://schemas.microsoft.com/office/drawing/2014/main" id="{2AE78D22-3020-03E0-DFFF-10C832126A99}"/>
              </a:ext>
            </a:extLst>
          </p:cNvPr>
          <p:cNvSpPr>
            <a:spLocks noGrp="1"/>
          </p:cNvSpPr>
          <p:nvPr>
            <p:ph idx="1"/>
          </p:nvPr>
        </p:nvSpPr>
        <p:spPr>
          <a:xfrm>
            <a:off x="838200" y="1825625"/>
            <a:ext cx="5257800" cy="1174249"/>
          </a:xfrm>
        </p:spPr>
        <p:txBody>
          <a:bodyPr lIns="0" tIns="0" rIns="0" bIns="0">
            <a:noAutofit/>
          </a:bodyPr>
          <a:lstStyle/>
          <a:p>
            <a:pPr marL="0" indent="0">
              <a:buNone/>
            </a:pPr>
            <a:r>
              <a:rPr lang="en-US" dirty="0">
                <a:solidFill>
                  <a:schemeClr val="accent1">
                    <a:lumMod val="75000"/>
                  </a:schemeClr>
                </a:solidFill>
                <a:latin typeface="+mj-lt"/>
              </a:rPr>
              <a:t>Title font: Arial Black</a:t>
            </a:r>
            <a:endParaRPr lang="en-US" dirty="0">
              <a:solidFill>
                <a:schemeClr val="accent1">
                  <a:lumMod val="75000"/>
                </a:schemeClr>
              </a:solidFill>
            </a:endParaRPr>
          </a:p>
          <a:p>
            <a:pPr marL="0" indent="0">
              <a:buNone/>
            </a:pPr>
            <a:r>
              <a:rPr lang="en-US" dirty="0">
                <a:solidFill>
                  <a:schemeClr val="accent1">
                    <a:lumMod val="75000"/>
                  </a:schemeClr>
                </a:solidFill>
              </a:rPr>
              <a:t>Text font: Aptos</a:t>
            </a:r>
          </a:p>
          <a:p>
            <a:pPr marL="0" indent="0">
              <a:buNone/>
            </a:pPr>
            <a:endParaRPr lang="en-US" dirty="0"/>
          </a:p>
          <a:p>
            <a:pPr marL="0" indent="0">
              <a:buNone/>
            </a:pPr>
            <a:endParaRPr lang="en-US" dirty="0"/>
          </a:p>
        </p:txBody>
      </p:sp>
      <p:sp>
        <p:nvSpPr>
          <p:cNvPr id="4" name="Rectangle 3">
            <a:extLst>
              <a:ext uri="{FF2B5EF4-FFF2-40B4-BE49-F238E27FC236}">
                <a16:creationId xmlns:a16="http://schemas.microsoft.com/office/drawing/2014/main" id="{97C6FA28-193A-457E-8BCE-DE1D278D0CB7}"/>
              </a:ext>
            </a:extLst>
          </p:cNvPr>
          <p:cNvSpPr/>
          <p:nvPr/>
        </p:nvSpPr>
        <p:spPr>
          <a:xfrm>
            <a:off x="7618035" y="658753"/>
            <a:ext cx="1183459" cy="5789155"/>
          </a:xfrm>
          <a:prstGeom prst="rect">
            <a:avLst/>
          </a:prstGeom>
          <a:solidFill>
            <a:srgbClr val="6666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#666633</a:t>
            </a:r>
          </a:p>
        </p:txBody>
      </p:sp>
      <p:sp>
        <p:nvSpPr>
          <p:cNvPr id="6" name="Rectangle 5">
            <a:extLst>
              <a:ext uri="{FF2B5EF4-FFF2-40B4-BE49-F238E27FC236}">
                <a16:creationId xmlns:a16="http://schemas.microsoft.com/office/drawing/2014/main" id="{B9C4C523-6377-477A-F7AD-081E41B5BC50}"/>
              </a:ext>
            </a:extLst>
          </p:cNvPr>
          <p:cNvSpPr/>
          <p:nvPr/>
        </p:nvSpPr>
        <p:spPr>
          <a:xfrm>
            <a:off x="9003278" y="4923739"/>
            <a:ext cx="1183459" cy="1518159"/>
          </a:xfrm>
          <a:prstGeom prst="rect">
            <a:avLst/>
          </a:prstGeom>
          <a:solidFill>
            <a:srgbClr val="9A8C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#9A8C98</a:t>
            </a:r>
          </a:p>
        </p:txBody>
      </p:sp>
      <p:sp>
        <p:nvSpPr>
          <p:cNvPr id="7" name="Rectangle 6">
            <a:extLst>
              <a:ext uri="{FF2B5EF4-FFF2-40B4-BE49-F238E27FC236}">
                <a16:creationId xmlns:a16="http://schemas.microsoft.com/office/drawing/2014/main" id="{BA4AAACA-8243-FAE6-72CC-487C003B7375}"/>
              </a:ext>
            </a:extLst>
          </p:cNvPr>
          <p:cNvSpPr/>
          <p:nvPr/>
        </p:nvSpPr>
        <p:spPr>
          <a:xfrm>
            <a:off x="10388519" y="2734161"/>
            <a:ext cx="1183459" cy="1331293"/>
          </a:xfrm>
          <a:prstGeom prst="rect">
            <a:avLst/>
          </a:prstGeom>
          <a:solidFill>
            <a:srgbClr val="C9AD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75000"/>
                  </a:schemeClr>
                </a:solidFill>
              </a:rPr>
              <a:t>#C9ADA7</a:t>
            </a:r>
          </a:p>
        </p:txBody>
      </p:sp>
      <p:sp>
        <p:nvSpPr>
          <p:cNvPr id="9" name="Rectangle 8">
            <a:extLst>
              <a:ext uri="{FF2B5EF4-FFF2-40B4-BE49-F238E27FC236}">
                <a16:creationId xmlns:a16="http://schemas.microsoft.com/office/drawing/2014/main" id="{BB7508DC-6864-927C-7704-D9BEF82606CA}"/>
              </a:ext>
            </a:extLst>
          </p:cNvPr>
          <p:cNvSpPr/>
          <p:nvPr/>
        </p:nvSpPr>
        <p:spPr>
          <a:xfrm>
            <a:off x="10388521" y="4234099"/>
            <a:ext cx="1183459" cy="2207800"/>
          </a:xfrm>
          <a:prstGeom prst="rect">
            <a:avLst/>
          </a:prstGeom>
          <a:solidFill>
            <a:srgbClr val="F2E9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lumMod val="75000"/>
                  </a:schemeClr>
                </a:solidFill>
              </a:rPr>
              <a:t>#F2E9E4</a:t>
            </a:r>
          </a:p>
        </p:txBody>
      </p:sp>
      <p:sp>
        <p:nvSpPr>
          <p:cNvPr id="10" name="Rectangle 9">
            <a:extLst>
              <a:ext uri="{FF2B5EF4-FFF2-40B4-BE49-F238E27FC236}">
                <a16:creationId xmlns:a16="http://schemas.microsoft.com/office/drawing/2014/main" id="{8BC2E41A-388D-F7A7-5653-16C7E409121F}"/>
              </a:ext>
            </a:extLst>
          </p:cNvPr>
          <p:cNvSpPr/>
          <p:nvPr/>
        </p:nvSpPr>
        <p:spPr>
          <a:xfrm>
            <a:off x="10388519" y="659126"/>
            <a:ext cx="1183459" cy="1906390"/>
          </a:xfrm>
          <a:prstGeom prst="rect">
            <a:avLst/>
          </a:prstGeom>
          <a:solidFill>
            <a:srgbClr val="500E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#500E35</a:t>
            </a:r>
          </a:p>
        </p:txBody>
      </p:sp>
      <p:sp>
        <p:nvSpPr>
          <p:cNvPr id="11" name="Rectangle 10">
            <a:extLst>
              <a:ext uri="{FF2B5EF4-FFF2-40B4-BE49-F238E27FC236}">
                <a16:creationId xmlns:a16="http://schemas.microsoft.com/office/drawing/2014/main" id="{894D8785-E40A-D5EF-70F7-EC299E87F90E}"/>
              </a:ext>
            </a:extLst>
          </p:cNvPr>
          <p:cNvSpPr/>
          <p:nvPr/>
        </p:nvSpPr>
        <p:spPr>
          <a:xfrm>
            <a:off x="9003277" y="2284982"/>
            <a:ext cx="1183459" cy="2478505"/>
          </a:xfrm>
          <a:prstGeom prst="rect">
            <a:avLst/>
          </a:prstGeom>
          <a:solidFill>
            <a:srgbClr val="7567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#756773</a:t>
            </a:r>
          </a:p>
        </p:txBody>
      </p:sp>
      <p:sp>
        <p:nvSpPr>
          <p:cNvPr id="18" name="Rectangle 17">
            <a:extLst>
              <a:ext uri="{FF2B5EF4-FFF2-40B4-BE49-F238E27FC236}">
                <a16:creationId xmlns:a16="http://schemas.microsoft.com/office/drawing/2014/main" id="{78031587-96DC-97D9-16D7-C9189933C051}"/>
              </a:ext>
            </a:extLst>
          </p:cNvPr>
          <p:cNvSpPr/>
          <p:nvPr/>
        </p:nvSpPr>
        <p:spPr>
          <a:xfrm>
            <a:off x="9003278" y="658754"/>
            <a:ext cx="1183459" cy="1465976"/>
          </a:xfrm>
          <a:prstGeom prst="rect">
            <a:avLst/>
          </a:prstGeom>
          <a:solidFill>
            <a:srgbClr val="584D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#584D56</a:t>
            </a:r>
          </a:p>
        </p:txBody>
      </p:sp>
      <p:sp>
        <p:nvSpPr>
          <p:cNvPr id="23" name="Content Placeholder 2">
            <a:extLst>
              <a:ext uri="{FF2B5EF4-FFF2-40B4-BE49-F238E27FC236}">
                <a16:creationId xmlns:a16="http://schemas.microsoft.com/office/drawing/2014/main" id="{A4B2EBAB-BDC9-ED4D-0B16-D169E1B50D57}"/>
              </a:ext>
            </a:extLst>
          </p:cNvPr>
          <p:cNvSpPr txBox="1">
            <a:spLocks/>
          </p:cNvSpPr>
          <p:nvPr/>
        </p:nvSpPr>
        <p:spPr>
          <a:xfrm>
            <a:off x="2469968" y="5682818"/>
            <a:ext cx="3917848" cy="6096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i="1" dirty="0">
                <a:solidFill>
                  <a:schemeClr val="accent3">
                    <a:lumMod val="50000"/>
                  </a:schemeClr>
                </a:solidFill>
              </a:rPr>
              <a:t>Illustration style: scientific sketch</a:t>
            </a:r>
          </a:p>
          <a:p>
            <a:pPr marL="0" indent="0" algn="ctr">
              <a:buFont typeface="Arial" panose="020B0604020202020204" pitchFamily="34" charset="0"/>
              <a:buNone/>
            </a:pPr>
            <a:endParaRPr lang="en-US" dirty="0"/>
          </a:p>
          <a:p>
            <a:pPr marL="0" indent="0" algn="ctr">
              <a:buFont typeface="Arial" panose="020B0604020202020204" pitchFamily="34" charset="0"/>
              <a:buNone/>
            </a:pPr>
            <a:endParaRPr lang="en-US" dirty="0"/>
          </a:p>
        </p:txBody>
      </p:sp>
    </p:spTree>
    <p:extLst>
      <p:ext uri="{BB962C8B-B14F-4D97-AF65-F5344CB8AC3E}">
        <p14:creationId xmlns:p14="http://schemas.microsoft.com/office/powerpoint/2010/main" val="16643710"/>
      </p:ext>
    </p:extLst>
  </p:cSld>
  <p:clrMapOvr>
    <a:masterClrMapping/>
  </p:clrMapOvr>
</p:sld>
</file>

<file path=ppt/theme/theme1.xml><?xml version="1.0" encoding="utf-8"?>
<a:theme xmlns:a="http://schemas.openxmlformats.org/drawingml/2006/main" name="Office Theme">
  <a:themeElements>
    <a:clrScheme name="Academic #2">
      <a:dk1>
        <a:sysClr val="windowText" lastClr="000000"/>
      </a:dk1>
      <a:lt1>
        <a:sysClr val="window" lastClr="FFFFFF"/>
      </a:lt1>
      <a:dk2>
        <a:srgbClr val="3F3F3F"/>
      </a:dk2>
      <a:lt2>
        <a:srgbClr val="FBF8EF"/>
      </a:lt2>
      <a:accent1>
        <a:srgbClr val="756773"/>
      </a:accent1>
      <a:accent2>
        <a:srgbClr val="9A8C98"/>
      </a:accent2>
      <a:accent3>
        <a:srgbClr val="C9ADA7"/>
      </a:accent3>
      <a:accent4>
        <a:srgbClr val="F2E9E4"/>
      </a:accent4>
      <a:accent5>
        <a:srgbClr val="666633"/>
      </a:accent5>
      <a:accent6>
        <a:srgbClr val="500E35"/>
      </a:accent6>
      <a:hlink>
        <a:srgbClr val="699CBB"/>
      </a:hlink>
      <a:folHlink>
        <a:srgbClr val="96607D"/>
      </a:folHlink>
    </a:clrScheme>
    <a:fontScheme name="Academic Template 1">
      <a:majorFont>
        <a:latin typeface="Arial Black"/>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7733</TotalTime>
  <Words>719</Words>
  <Application>Microsoft Macintosh PowerPoint</Application>
  <PresentationFormat>Widescreen</PresentationFormat>
  <Paragraphs>82</Paragraphs>
  <Slides>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Arial Black</vt:lpstr>
      <vt:lpstr>Office Theme</vt:lpstr>
      <vt:lpstr>PowerPoint Presentation</vt:lpstr>
      <vt:lpstr>Background</vt:lpstr>
      <vt:lpstr>Objectives</vt:lpstr>
      <vt:lpstr>PowerPoint Presentation</vt:lpstr>
      <vt:lpstr>PowerPoint Presentation</vt:lpstr>
      <vt:lpstr>PowerPoint Presentation</vt:lpstr>
      <vt:lpstr>Conclusion</vt:lpstr>
      <vt:lpstr>PowerPoint Presentation</vt:lpstr>
      <vt:lpstr>Style guide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Clara Howell</dc:creator>
  <cp:lastModifiedBy>Oona Gleeson</cp:lastModifiedBy>
  <cp:revision>14</cp:revision>
  <dcterms:created xsi:type="dcterms:W3CDTF">2025-10-22T03:10:51Z</dcterms:created>
  <dcterms:modified xsi:type="dcterms:W3CDTF">2026-01-29T20:26:34Z</dcterms:modified>
</cp:coreProperties>
</file>