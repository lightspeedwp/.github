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8" r:id="rId5"/>
    <p:sldId id="262" r:id="rId6"/>
    <p:sldId id="263" r:id="rId7"/>
    <p:sldId id="264" r:id="rId8"/>
    <p:sldId id="266" r:id="rId9"/>
    <p:sldId id="268" r:id="rId10"/>
    <p:sldId id="269" r:id="rId11"/>
    <p:sldId id="270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E00"/>
    <a:srgbClr val="F7DACC"/>
    <a:srgbClr val="F2F2F1"/>
    <a:srgbClr val="1F8E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12DB8F-E7F1-E44C-9AFF-A372A6AC71A1}" v="3" dt="2025-11-05T05:25:44.0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62"/>
    <p:restoredTop sz="94569"/>
  </p:normalViewPr>
  <p:slideViewPr>
    <p:cSldViewPr snapToGrid="0">
      <p:cViewPr>
        <p:scale>
          <a:sx n="91" d="100"/>
          <a:sy n="91" d="100"/>
        </p:scale>
        <p:origin x="2216" y="1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49961-589B-7142-843B-1F4598D489A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F54621-E1B4-0346-A629-54C7F75AA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08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54621-E1B4-0346-A629-54C7F75AA2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32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54621-E1B4-0346-A629-54C7F75AA2F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31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86D8-A82F-8BE1-D73B-2D78A8E27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86824-5CC8-D06A-DEE4-4A2FB61EF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453B5-4FA4-8119-E332-68394A9C8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3D03-9C31-9547-9CF1-9BA48B9CA1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C15AF-1E3A-085B-0184-B2C6B1B32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ED2DD-F88A-F939-A21C-65D97DFC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99E5-2020-7841-9C05-D3D82545C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8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CA1AA-9C91-14B8-D4F1-1DA8799B5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8D898-8A60-0D67-5B79-A9D4DE888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EA337-39F7-2406-2A63-D6924FB8D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3D03-9C31-9547-9CF1-9BA48B9CA1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2AB39-61D3-14D8-507F-F37F76D9C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7D44F-A4AE-6617-F293-3D4FB29BD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99E5-2020-7841-9C05-D3D82545C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98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24F89-FEAB-0A69-7CA2-B0275F9E8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47FDB-064F-472B-20A8-AE8ECD8C9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8A733-A333-4920-F443-FE36A1EB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3D03-9C31-9547-9CF1-9BA48B9CA1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5676B-039D-A83C-B973-F4E872F9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85D52-A1E9-4391-E884-D70EE3C22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99E5-2020-7841-9C05-D3D82545C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88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3829-C7C0-678B-A22D-DF700A77E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6832B-98BB-786D-2A08-397E27ADE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EADDCC-739F-4734-4CE6-7F0D3D499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AA063-240D-722B-57DB-DFB480090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3D03-9C31-9547-9CF1-9BA48B9CA1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73477-833F-3F15-78C1-E880551A7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114EA-2B00-059C-426A-859AF5E2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99E5-2020-7841-9C05-D3D82545C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109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99D81-1A2C-E1AF-B61E-A3D020C51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BD92B-1480-A73F-8AD8-14FF703C2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B95D5-C0DF-B43E-EB05-30645F9D4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1522C4-6CDE-B0D8-563C-844AAB5160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15EB53-12D7-B645-40A2-926FE4606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3D1379-CF19-5BED-5ECC-FFD7BEB93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3D03-9C31-9547-9CF1-9BA48B9CA1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1DA0F9-A12A-71B3-0B44-1D043739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C48F69-455A-EF0F-B185-A3E6F3F6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99E5-2020-7841-9C05-D3D82545C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6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4895B-CD68-B89E-6C6F-F58C03DB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9B256A-D65C-F0F2-47D8-2D138DC2A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3D03-9C31-9547-9CF1-9BA48B9CA1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8FB77C-0AD3-961B-FBDF-FEEC1934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2060E-9080-C507-DEBE-A1EE426C6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99E5-2020-7841-9C05-D3D82545C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99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EFC3FD-01C3-CC56-F152-6D7C874FC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3D03-9C31-9547-9CF1-9BA48B9CA1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D0DACE-C1AA-572F-A086-64A5905C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99487-5BA6-F363-F7AA-26FBC4F69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99E5-2020-7841-9C05-D3D82545C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6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F79C3-B780-7BC3-2CB6-A3B677D7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936ED-AA1B-D9E6-667A-4553EBE18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86557B-6CEB-DD10-790E-5E9630400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83A88-F74A-11A9-ED04-2DA9B6828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3D03-9C31-9547-9CF1-9BA48B9CA1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8918E-C375-2AF2-070D-1B3EEF75C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736AA-28F9-08EF-E2CC-387CD7F7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99E5-2020-7841-9C05-D3D82545C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21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0C77-858D-FB38-2384-287552187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1F0E20-48FD-CA8B-485C-58F04038A0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09F6D-42EC-1C9F-BEB9-F32BA607B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A154A-E30D-FB3D-BB3A-7436778C6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3D03-9C31-9547-9CF1-9BA48B9CA1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3F27C-BFCD-D953-1374-352C704F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3EE95-7FDD-C258-420A-E9688815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99E5-2020-7841-9C05-D3D82545C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1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0B82E-9C6F-2223-966B-B7C82C503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46B41B-EB13-4C5B-D4BC-500CB97A7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08993-7A1C-AAA4-A08C-A94B753D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3D03-9C31-9547-9CF1-9BA48B9CA1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FBF82-FBEA-F3DC-2AD7-AC8B4955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FE140-ABBC-86DF-9690-B9F715CAF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99E5-2020-7841-9C05-D3D82545C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653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DFEB6-BCAB-2738-FC84-A3E006CDB6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0CB6-A1E4-DDF3-F33E-8F4A864AA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2D040-D452-1DCA-AAFB-2385C56C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3D03-9C31-9547-9CF1-9BA48B9CA1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D8ED9-59CE-5F2F-9DCD-FE2C9D7D2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4AA4F-8684-4E5F-E4FD-4840B22F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99E5-2020-7841-9C05-D3D82545C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06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F6329D-4AB9-BF2C-129A-4A80B9DF1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6275A-D26F-7F1C-D8DC-FAF8B3AD3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6F247-5F61-A6BF-0516-1BEB1581A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E3D03-9C31-9547-9CF1-9BA48B9CA112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1784-1F50-7D94-2D8E-EC374214C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8E8D8-90AA-FD79-C3B3-A3A0DA4A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C99E5-2020-7841-9C05-D3D82545C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71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5023185-151B-E4DE-FCB3-B1090F377BCF}"/>
              </a:ext>
            </a:extLst>
          </p:cNvPr>
          <p:cNvSpPr/>
          <p:nvPr/>
        </p:nvSpPr>
        <p:spPr>
          <a:xfrm>
            <a:off x="0" y="0"/>
            <a:ext cx="7046259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2E1E57-6CE6-E9BB-CC53-220B8E75FB76}"/>
              </a:ext>
            </a:extLst>
          </p:cNvPr>
          <p:cNvSpPr/>
          <p:nvPr/>
        </p:nvSpPr>
        <p:spPr>
          <a:xfrm>
            <a:off x="4612341" y="4424082"/>
            <a:ext cx="2433918" cy="2433918"/>
          </a:xfrm>
          <a:prstGeom prst="rect">
            <a:avLst/>
          </a:prstGeom>
          <a:solidFill>
            <a:schemeClr val="tx1">
              <a:alpha val="6196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etter s in a circle with black lines&#10;&#10;AI-generated content may be incorrect.">
            <a:extLst>
              <a:ext uri="{FF2B5EF4-FFF2-40B4-BE49-F238E27FC236}">
                <a16:creationId xmlns:a16="http://schemas.microsoft.com/office/drawing/2014/main" id="{DCBBB3CD-4D33-31AA-D2D9-54B6E5DB131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9700" y="5085648"/>
            <a:ext cx="1219200" cy="1219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FC5771-9326-B427-93B3-FD029984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2094" y="4597070"/>
            <a:ext cx="4174263" cy="17077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5800" b="1" dirty="0">
                <a:latin typeface="Avenir Heavy" panose="02000503020000020003" pitchFamily="2" charset="0"/>
              </a:rPr>
              <a:t>BRAND GUIDELINE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45AC697-8186-3022-C1A8-AC4FD8D876C3}"/>
              </a:ext>
            </a:extLst>
          </p:cNvPr>
          <p:cNvSpPr txBox="1">
            <a:spLocks/>
          </p:cNvSpPr>
          <p:nvPr/>
        </p:nvSpPr>
        <p:spPr>
          <a:xfrm>
            <a:off x="7624483" y="524434"/>
            <a:ext cx="4174263" cy="389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75000"/>
              </a:lnSpc>
            </a:pPr>
            <a:r>
              <a:rPr lang="en-GB" sz="1200" dirty="0">
                <a:solidFill>
                  <a:srgbClr val="FF5E00"/>
                </a:solidFill>
                <a:latin typeface="Avenir Book" panose="02000503020000020003" pitchFamily="2" charset="0"/>
              </a:rPr>
              <a:t>®2025</a:t>
            </a:r>
            <a:endParaRPr lang="en-US" sz="2800" dirty="0">
              <a:solidFill>
                <a:srgbClr val="FF5E00"/>
              </a:solidFill>
              <a:latin typeface="Avenir Book" panose="02000503020000020003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8CEC71-99F6-D19C-29E4-04994A3B100B}"/>
              </a:ext>
            </a:extLst>
          </p:cNvPr>
          <p:cNvCxnSpPr>
            <a:cxnSpLocks/>
          </p:cNvCxnSpPr>
          <p:nvPr/>
        </p:nvCxnSpPr>
        <p:spPr>
          <a:xfrm flipH="1">
            <a:off x="7530353" y="914399"/>
            <a:ext cx="4174263" cy="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48F161F1-400F-F7BE-D6A6-F606F57B43DE}"/>
              </a:ext>
            </a:extLst>
          </p:cNvPr>
          <p:cNvSpPr txBox="1">
            <a:spLocks/>
          </p:cNvSpPr>
          <p:nvPr/>
        </p:nvSpPr>
        <p:spPr>
          <a:xfrm>
            <a:off x="7382435" y="4177019"/>
            <a:ext cx="4174263" cy="349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venir Light" panose="020B0402020203020204" pitchFamily="34" charset="77"/>
              </a:rPr>
              <a:t>How we look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3517F46-2CB1-143D-A92E-434CE388D717}"/>
              </a:ext>
            </a:extLst>
          </p:cNvPr>
          <p:cNvSpPr txBox="1">
            <a:spLocks/>
          </p:cNvSpPr>
          <p:nvPr/>
        </p:nvSpPr>
        <p:spPr>
          <a:xfrm>
            <a:off x="7382435" y="549723"/>
            <a:ext cx="4174263" cy="349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1800" dirty="0">
                <a:solidFill>
                  <a:srgbClr val="FF5E00"/>
                </a:solidFill>
                <a:latin typeface="Avenir Light" panose="020B0402020203020204" pitchFamily="34" charset="77"/>
              </a:rPr>
              <a:t>Shiftline AI</a:t>
            </a:r>
          </a:p>
        </p:txBody>
      </p:sp>
    </p:spTree>
    <p:extLst>
      <p:ext uri="{BB962C8B-B14F-4D97-AF65-F5344CB8AC3E}">
        <p14:creationId xmlns:p14="http://schemas.microsoft.com/office/powerpoint/2010/main" val="3272251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F0104-A771-717B-F86E-020B1DE5D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83808D4-328B-DF5F-071E-C761C21B9845}"/>
              </a:ext>
            </a:extLst>
          </p:cNvPr>
          <p:cNvGrpSpPr/>
          <p:nvPr/>
        </p:nvGrpSpPr>
        <p:grpSpPr>
          <a:xfrm>
            <a:off x="5365376" y="0"/>
            <a:ext cx="6832887" cy="6858000"/>
            <a:chOff x="5365376" y="0"/>
            <a:chExt cx="6832887" cy="6858000"/>
          </a:xfrm>
        </p:grpSpPr>
        <p:pic>
          <p:nvPicPr>
            <p:cNvPr id="17" name="Picture 16" descr="Orange and black wavy lines&#10;&#10;AI-generated content may be incorrect.">
              <a:extLst>
                <a:ext uri="{FF2B5EF4-FFF2-40B4-BE49-F238E27FC236}">
                  <a16:creationId xmlns:a16="http://schemas.microsoft.com/office/drawing/2014/main" id="{71C52C56-EB36-6E74-64F7-16A6679EC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800000">
              <a:off x="5365376" y="0"/>
              <a:ext cx="6832887" cy="4045324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64B0858-5A62-0397-38BF-7665AB9F3865}"/>
                </a:ext>
              </a:extLst>
            </p:cNvPr>
            <p:cNvSpPr/>
            <p:nvPr/>
          </p:nvSpPr>
          <p:spPr>
            <a:xfrm>
              <a:off x="5365376" y="3779520"/>
              <a:ext cx="6826622" cy="30784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63424-B638-8333-6705-249F4370C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4600" y="4153813"/>
            <a:ext cx="5257800" cy="218066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Shiftline AI is a consultancy that helps companies navigate the evolving AI landscape, from strategic planning to software implementation.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</a:b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We bridge business insight and AI innovation, empowering organizations to shift from data-driven to intelligence-driven.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AF69F48-1E50-C8BE-C350-C886CCAAA89D}"/>
              </a:ext>
            </a:extLst>
          </p:cNvPr>
          <p:cNvSpPr txBox="1">
            <a:spLocks/>
          </p:cNvSpPr>
          <p:nvPr/>
        </p:nvSpPr>
        <p:spPr>
          <a:xfrm>
            <a:off x="1066800" y="4698631"/>
            <a:ext cx="4298576" cy="1707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5800" b="1" dirty="0">
                <a:latin typeface="Avenir Heavy" panose="02000503020000020003" pitchFamily="2" charset="0"/>
              </a:rPr>
              <a:t>WHO </a:t>
            </a:r>
            <a:br>
              <a:rPr lang="en-US" sz="5800" b="1" dirty="0">
                <a:latin typeface="Avenir Heavy" panose="02000503020000020003" pitchFamily="2" charset="0"/>
              </a:rPr>
            </a:br>
            <a:r>
              <a:rPr lang="en-US" sz="5800" b="1" dirty="0">
                <a:latin typeface="Avenir Heavy" panose="02000503020000020003" pitchFamily="2" charset="0"/>
              </a:rPr>
              <a:t>WE ARE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5F4DA3-C934-AF31-DF6E-943E4435DA18}"/>
              </a:ext>
            </a:extLst>
          </p:cNvPr>
          <p:cNvCxnSpPr>
            <a:cxnSpLocks/>
          </p:cNvCxnSpPr>
          <p:nvPr/>
        </p:nvCxnSpPr>
        <p:spPr>
          <a:xfrm flipH="1">
            <a:off x="0" y="2171700"/>
            <a:ext cx="12192000" cy="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9B4AD9-A4A6-B5AC-82BF-9EA114140C76}"/>
              </a:ext>
            </a:extLst>
          </p:cNvPr>
          <p:cNvCxnSpPr>
            <a:cxnSpLocks/>
          </p:cNvCxnSpPr>
          <p:nvPr/>
        </p:nvCxnSpPr>
        <p:spPr>
          <a:xfrm flipV="1">
            <a:off x="823911" y="0"/>
            <a:ext cx="0" cy="6225988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4-point Star 6">
            <a:extLst>
              <a:ext uri="{FF2B5EF4-FFF2-40B4-BE49-F238E27FC236}">
                <a16:creationId xmlns:a16="http://schemas.microsoft.com/office/drawing/2014/main" id="{34B02E21-729F-D800-624F-5A0ABFD1D046}"/>
              </a:ext>
            </a:extLst>
          </p:cNvPr>
          <p:cNvSpPr/>
          <p:nvPr/>
        </p:nvSpPr>
        <p:spPr>
          <a:xfrm>
            <a:off x="433379" y="1781008"/>
            <a:ext cx="781063" cy="781383"/>
          </a:xfrm>
          <a:prstGeom prst="star4">
            <a:avLst>
              <a:gd name="adj" fmla="val 7406"/>
            </a:avLst>
          </a:prstGeom>
          <a:solidFill>
            <a:srgbClr val="FF5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80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20F44-278B-DFF1-8CCE-771E570AB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sitting at computers in an office&#10;&#10;AI-generated content may be incorrect.">
            <a:extLst>
              <a:ext uri="{FF2B5EF4-FFF2-40B4-BE49-F238E27FC236}">
                <a16:creationId xmlns:a16="http://schemas.microsoft.com/office/drawing/2014/main" id="{DDD48DAE-BDC7-1498-9103-FE2D373D238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12419" y="0"/>
            <a:ext cx="7679581" cy="3078243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436F637-75D6-B238-9B9B-B887E664AAE9}"/>
              </a:ext>
            </a:extLst>
          </p:cNvPr>
          <p:cNvSpPr/>
          <p:nvPr/>
        </p:nvSpPr>
        <p:spPr>
          <a:xfrm>
            <a:off x="0" y="1"/>
            <a:ext cx="4556462" cy="30782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329A51-BE2B-4396-4C73-B68C4342EBE6}"/>
              </a:ext>
            </a:extLst>
          </p:cNvPr>
          <p:cNvSpPr/>
          <p:nvPr/>
        </p:nvSpPr>
        <p:spPr>
          <a:xfrm>
            <a:off x="0" y="3070010"/>
            <a:ext cx="4556462" cy="3787989"/>
          </a:xfrm>
          <a:prstGeom prst="rect">
            <a:avLst/>
          </a:prstGeom>
          <a:gradFill flip="none" rotWithShape="1">
            <a:gsLst>
              <a:gs pos="100000">
                <a:schemeClr val="accent2">
                  <a:lumMod val="39000"/>
                </a:schemeClr>
              </a:gs>
              <a:gs pos="0">
                <a:srgbClr val="FF5E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B50A-D09F-45E0-3D6E-EA87C3024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5024" y="3638430"/>
            <a:ext cx="5976313" cy="266761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800" b="1" dirty="0">
                <a:latin typeface="Avenir Heavy" panose="02000503020000020003" pitchFamily="2" charset="0"/>
              </a:rPr>
              <a:t>Strategic</a:t>
            </a:r>
            <a:br>
              <a:rPr lang="en-GB" sz="1800" b="1" dirty="0">
                <a:latin typeface="Avenir Heavy" panose="02000503020000020003" pitchFamily="2" charset="0"/>
              </a:rPr>
            </a:b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venir Book" panose="02000503020000020003" pitchFamily="2" charset="0"/>
              </a:rPr>
              <a:t>We think ahead and design AI solutions with purpose.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>
                <a:latin typeface="Avenir Heavy" panose="02000503020000020003" pitchFamily="2" charset="0"/>
              </a:rPr>
              <a:t>Empathetic</a:t>
            </a:r>
            <a:br>
              <a:rPr lang="en-GB" sz="1800" b="1" dirty="0">
                <a:latin typeface="Avenir Heavy" panose="02000503020000020003" pitchFamily="2" charset="0"/>
              </a:rPr>
            </a:b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venir Book" panose="02000503020000020003" pitchFamily="2" charset="0"/>
              </a:rPr>
              <a:t>We humanize complex technology for real-world impact.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>
                <a:latin typeface="Avenir Heavy" panose="02000503020000020003" pitchFamily="2" charset="0"/>
              </a:rPr>
              <a:t>Innovative</a:t>
            </a:r>
            <a:br>
              <a:rPr lang="en-GB" sz="1800" b="1" dirty="0">
                <a:latin typeface="Avenir Heavy" panose="02000503020000020003" pitchFamily="2" charset="0"/>
              </a:rPr>
            </a:b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venir Book" panose="02000503020000020003" pitchFamily="2" charset="0"/>
              </a:rPr>
              <a:t>We embrace creativity and experimentation.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>
                <a:latin typeface="Avenir Heavy" panose="02000503020000020003" pitchFamily="2" charset="0"/>
              </a:rPr>
              <a:t>Reliable</a:t>
            </a:r>
            <a:br>
              <a:rPr lang="en-GB" sz="1800" b="1" dirty="0">
                <a:latin typeface="Avenir Heavy" panose="02000503020000020003" pitchFamily="2" charset="0"/>
              </a:rPr>
            </a:b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venir Book" panose="02000503020000020003" pitchFamily="2" charset="0"/>
              </a:rPr>
              <a:t>We guide every client with clarity and confidence.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93D1CE-3B03-C03F-5DB1-F14FDEF144DC}"/>
              </a:ext>
            </a:extLst>
          </p:cNvPr>
          <p:cNvSpPr txBox="1">
            <a:spLocks/>
          </p:cNvSpPr>
          <p:nvPr/>
        </p:nvSpPr>
        <p:spPr>
          <a:xfrm>
            <a:off x="737018" y="801666"/>
            <a:ext cx="3038382" cy="15406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5800" b="1" dirty="0">
                <a:solidFill>
                  <a:schemeClr val="bg1"/>
                </a:solidFill>
                <a:latin typeface="Avenir Heavy" panose="02000503020000020003" pitchFamily="2" charset="0"/>
              </a:rPr>
              <a:t>OUR VALUES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74DF6-CBE5-DCFA-89DF-62EAFB9B1F86}"/>
              </a:ext>
            </a:extLst>
          </p:cNvPr>
          <p:cNvCxnSpPr>
            <a:cxnSpLocks/>
          </p:cNvCxnSpPr>
          <p:nvPr/>
        </p:nvCxnSpPr>
        <p:spPr>
          <a:xfrm flipH="1">
            <a:off x="0" y="3070012"/>
            <a:ext cx="12192000" cy="0"/>
          </a:xfrm>
          <a:prstGeom prst="line">
            <a:avLst/>
          </a:prstGeom>
          <a:ln w="9525">
            <a:solidFill>
              <a:srgbClr val="FF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1A578F-63A2-F4F2-F7F8-7EDADD92E9EC}"/>
              </a:ext>
            </a:extLst>
          </p:cNvPr>
          <p:cNvCxnSpPr>
            <a:cxnSpLocks/>
          </p:cNvCxnSpPr>
          <p:nvPr/>
        </p:nvCxnSpPr>
        <p:spPr>
          <a:xfrm flipV="1">
            <a:off x="4556462" y="0"/>
            <a:ext cx="0" cy="6858000"/>
          </a:xfrm>
          <a:prstGeom prst="line">
            <a:avLst/>
          </a:prstGeom>
          <a:ln w="9525">
            <a:solidFill>
              <a:srgbClr val="FF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4-point Star 6">
            <a:extLst>
              <a:ext uri="{FF2B5EF4-FFF2-40B4-BE49-F238E27FC236}">
                <a16:creationId xmlns:a16="http://schemas.microsoft.com/office/drawing/2014/main" id="{1647FAA2-0E49-FD49-EBF3-4D136C9CA4B6}"/>
              </a:ext>
            </a:extLst>
          </p:cNvPr>
          <p:cNvSpPr/>
          <p:nvPr/>
        </p:nvSpPr>
        <p:spPr>
          <a:xfrm>
            <a:off x="3865787" y="2375718"/>
            <a:ext cx="1381351" cy="1381917"/>
          </a:xfrm>
          <a:prstGeom prst="star4">
            <a:avLst>
              <a:gd name="adj" fmla="val 7406"/>
            </a:avLst>
          </a:prstGeom>
          <a:solidFill>
            <a:srgbClr val="FF5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1B0220E-AD25-F434-5B14-AF2CFDFC022F}"/>
              </a:ext>
            </a:extLst>
          </p:cNvPr>
          <p:cNvSpPr/>
          <p:nvPr/>
        </p:nvSpPr>
        <p:spPr>
          <a:xfrm>
            <a:off x="776086" y="4130166"/>
            <a:ext cx="3215136" cy="3225168"/>
          </a:xfrm>
          <a:custGeom>
            <a:avLst/>
            <a:gdLst>
              <a:gd name="connsiteX0" fmla="*/ 1536840 w 4732597"/>
              <a:gd name="connsiteY0" fmla="*/ 0 h 4747365"/>
              <a:gd name="connsiteX1" fmla="*/ 3221829 w 4732597"/>
              <a:gd name="connsiteY1" fmla="*/ 0 h 4747365"/>
              <a:gd name="connsiteX2" fmla="*/ 4731726 w 4732597"/>
              <a:gd name="connsiteY2" fmla="*/ 1362554 h 4747365"/>
              <a:gd name="connsiteX3" fmla="*/ 4732597 w 4732597"/>
              <a:gd name="connsiteY3" fmla="*/ 1379805 h 4747365"/>
              <a:gd name="connsiteX4" fmla="*/ 1656109 w 4732597"/>
              <a:gd name="connsiteY4" fmla="*/ 1379805 h 4747365"/>
              <a:gd name="connsiteX5" fmla="*/ 1532255 w 4732597"/>
              <a:gd name="connsiteY5" fmla="*/ 803034 h 4747365"/>
              <a:gd name="connsiteX6" fmla="*/ 1406961 w 4732597"/>
              <a:gd name="connsiteY6" fmla="*/ 1386506 h 4747365"/>
              <a:gd name="connsiteX7" fmla="*/ 823490 w 4732597"/>
              <a:gd name="connsiteY7" fmla="*/ 1511800 h 4747365"/>
              <a:gd name="connsiteX8" fmla="*/ 1406961 w 4732597"/>
              <a:gd name="connsiteY8" fmla="*/ 1637093 h 4747365"/>
              <a:gd name="connsiteX9" fmla="*/ 1532255 w 4732597"/>
              <a:gd name="connsiteY9" fmla="*/ 2220564 h 4747365"/>
              <a:gd name="connsiteX10" fmla="*/ 1653986 w 4732597"/>
              <a:gd name="connsiteY10" fmla="*/ 1653683 h 4747365"/>
              <a:gd name="connsiteX11" fmla="*/ 3827310 w 4732597"/>
              <a:gd name="connsiteY11" fmla="*/ 1653683 h 4747365"/>
              <a:gd name="connsiteX12" fmla="*/ 3919679 w 4732597"/>
              <a:gd name="connsiteY12" fmla="*/ 1703851 h 4747365"/>
              <a:gd name="connsiteX13" fmla="*/ 4716467 w 4732597"/>
              <a:gd name="connsiteY13" fmla="*/ 3231688 h 4747365"/>
              <a:gd name="connsiteX14" fmla="*/ 3311465 w 4732597"/>
              <a:gd name="connsiteY14" fmla="*/ 4738417 h 4747365"/>
              <a:gd name="connsiteX15" fmla="*/ 3216690 w 4732597"/>
              <a:gd name="connsiteY15" fmla="*/ 4747365 h 4747365"/>
              <a:gd name="connsiteX16" fmla="*/ 1509930 w 4732597"/>
              <a:gd name="connsiteY16" fmla="*/ 4747365 h 4747365"/>
              <a:gd name="connsiteX17" fmla="*/ 33 w 4732597"/>
              <a:gd name="connsiteY17" fmla="*/ 3384811 h 4747365"/>
              <a:gd name="connsiteX18" fmla="*/ 0 w 4732597"/>
              <a:gd name="connsiteY18" fmla="*/ 3384161 h 4747365"/>
              <a:gd name="connsiteX19" fmla="*/ 3104428 w 4732597"/>
              <a:gd name="connsiteY19" fmla="*/ 3384161 h 4747365"/>
              <a:gd name="connsiteX20" fmla="*/ 3228444 w 4732597"/>
              <a:gd name="connsiteY20" fmla="*/ 3961681 h 4747365"/>
              <a:gd name="connsiteX21" fmla="*/ 3353737 w 4732597"/>
              <a:gd name="connsiteY21" fmla="*/ 3378211 h 4747365"/>
              <a:gd name="connsiteX22" fmla="*/ 3937208 w 4732597"/>
              <a:gd name="connsiteY22" fmla="*/ 3252918 h 4747365"/>
              <a:gd name="connsiteX23" fmla="*/ 3353737 w 4732597"/>
              <a:gd name="connsiteY23" fmla="*/ 3127624 h 4747365"/>
              <a:gd name="connsiteX24" fmla="*/ 3228444 w 4732597"/>
              <a:gd name="connsiteY24" fmla="*/ 2544152 h 4747365"/>
              <a:gd name="connsiteX25" fmla="*/ 3106875 w 4732597"/>
              <a:gd name="connsiteY25" fmla="*/ 3110283 h 4747365"/>
              <a:gd name="connsiteX26" fmla="*/ 958719 w 4732597"/>
              <a:gd name="connsiteY26" fmla="*/ 3110283 h 4747365"/>
              <a:gd name="connsiteX27" fmla="*/ 948177 w 4732597"/>
              <a:gd name="connsiteY27" fmla="*/ 3105607 h 4747365"/>
              <a:gd name="connsiteX28" fmla="*/ 37062 w 4732597"/>
              <a:gd name="connsiteY28" fmla="*/ 1515677 h 4747365"/>
              <a:gd name="connsiteX29" fmla="*/ 1442064 w 4732597"/>
              <a:gd name="connsiteY29" fmla="*/ 8948 h 474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32597" h="4747365">
                <a:moveTo>
                  <a:pt x="1536840" y="0"/>
                </a:moveTo>
                <a:lnTo>
                  <a:pt x="3221829" y="0"/>
                </a:lnTo>
                <a:cubicBezTo>
                  <a:pt x="4007661" y="0"/>
                  <a:pt x="4654003" y="597227"/>
                  <a:pt x="4731726" y="1362554"/>
                </a:cubicBezTo>
                <a:lnTo>
                  <a:pt x="4732597" y="1379805"/>
                </a:lnTo>
                <a:lnTo>
                  <a:pt x="1656109" y="1379805"/>
                </a:lnTo>
                <a:lnTo>
                  <a:pt x="1532255" y="803034"/>
                </a:lnTo>
                <a:lnTo>
                  <a:pt x="1406961" y="1386506"/>
                </a:lnTo>
                <a:lnTo>
                  <a:pt x="823490" y="1511800"/>
                </a:lnTo>
                <a:lnTo>
                  <a:pt x="1406961" y="1637093"/>
                </a:lnTo>
                <a:lnTo>
                  <a:pt x="1532255" y="2220564"/>
                </a:lnTo>
                <a:lnTo>
                  <a:pt x="1653986" y="1653683"/>
                </a:lnTo>
                <a:lnTo>
                  <a:pt x="3827310" y="1653683"/>
                </a:lnTo>
                <a:lnTo>
                  <a:pt x="3919679" y="1703851"/>
                </a:lnTo>
                <a:cubicBezTo>
                  <a:pt x="4439422" y="2013579"/>
                  <a:pt x="4762133" y="2597405"/>
                  <a:pt x="4716467" y="3231688"/>
                </a:cubicBezTo>
                <a:cubicBezTo>
                  <a:pt x="4660549" y="4008362"/>
                  <a:pt x="4068826" y="4631036"/>
                  <a:pt x="3311465" y="4738417"/>
                </a:cubicBezTo>
                <a:lnTo>
                  <a:pt x="3216690" y="4747365"/>
                </a:lnTo>
                <a:lnTo>
                  <a:pt x="1509930" y="4747365"/>
                </a:lnTo>
                <a:cubicBezTo>
                  <a:pt x="724098" y="4747365"/>
                  <a:pt x="77756" y="4150138"/>
                  <a:pt x="33" y="3384811"/>
                </a:cubicBezTo>
                <a:lnTo>
                  <a:pt x="0" y="3384161"/>
                </a:lnTo>
                <a:lnTo>
                  <a:pt x="3104428" y="3384161"/>
                </a:lnTo>
                <a:lnTo>
                  <a:pt x="3228444" y="3961681"/>
                </a:lnTo>
                <a:lnTo>
                  <a:pt x="3353737" y="3378211"/>
                </a:lnTo>
                <a:lnTo>
                  <a:pt x="3937208" y="3252918"/>
                </a:lnTo>
                <a:lnTo>
                  <a:pt x="3353737" y="3127624"/>
                </a:lnTo>
                <a:lnTo>
                  <a:pt x="3228444" y="2544152"/>
                </a:lnTo>
                <a:lnTo>
                  <a:pt x="3106875" y="3110283"/>
                </a:lnTo>
                <a:lnTo>
                  <a:pt x="958719" y="3110283"/>
                </a:lnTo>
                <a:lnTo>
                  <a:pt x="948177" y="3105607"/>
                </a:lnTo>
                <a:cubicBezTo>
                  <a:pt x="362088" y="2816932"/>
                  <a:pt x="-11866" y="2195267"/>
                  <a:pt x="37062" y="1515677"/>
                </a:cubicBezTo>
                <a:cubicBezTo>
                  <a:pt x="92980" y="739003"/>
                  <a:pt x="684703" y="116329"/>
                  <a:pt x="1442064" y="8948"/>
                </a:cubicBezTo>
                <a:close/>
              </a:path>
            </a:pathLst>
          </a:custGeom>
          <a:solidFill>
            <a:schemeClr val="bg1">
              <a:alpha val="1401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555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22D8F-9D7E-DDBC-7F30-D89273421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76903C-D9C1-36D1-3619-838473B10DA1}"/>
              </a:ext>
            </a:extLst>
          </p:cNvPr>
          <p:cNvSpPr/>
          <p:nvPr/>
        </p:nvSpPr>
        <p:spPr>
          <a:xfrm>
            <a:off x="0" y="3387778"/>
            <a:ext cx="3432745" cy="34702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etter s in a circle with black lines&#10;&#10;AI-generated content may be incorrect.">
            <a:extLst>
              <a:ext uri="{FF2B5EF4-FFF2-40B4-BE49-F238E27FC236}">
                <a16:creationId xmlns:a16="http://schemas.microsoft.com/office/drawing/2014/main" id="{F5CFB896-F377-6E97-1FF7-658F69CA8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196" y="4396169"/>
            <a:ext cx="1396240" cy="1396240"/>
          </a:xfrm>
          <a:prstGeom prst="rect">
            <a:avLst/>
          </a:prstGeom>
        </p:spPr>
      </p:pic>
      <p:pic>
        <p:nvPicPr>
          <p:cNvPr id="13" name="Picture 12" descr="A glowing orange lines and dots&#10;&#10;AI-generated content may be incorrect.">
            <a:extLst>
              <a:ext uri="{FF2B5EF4-FFF2-40B4-BE49-F238E27FC236}">
                <a16:creationId xmlns:a16="http://schemas.microsoft.com/office/drawing/2014/main" id="{2F9078CE-DF12-ED7D-38A1-392D6761E1D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6076324" y="742325"/>
            <a:ext cx="3472096" cy="875925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4C4FFBC-25D5-8CA0-7689-166B7A2DE117}"/>
              </a:ext>
            </a:extLst>
          </p:cNvPr>
          <p:cNvSpPr txBox="1">
            <a:spLocks/>
          </p:cNvSpPr>
          <p:nvPr/>
        </p:nvSpPr>
        <p:spPr>
          <a:xfrm>
            <a:off x="6640643" y="2443397"/>
            <a:ext cx="4794731" cy="551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75000"/>
              </a:lnSpc>
            </a:pPr>
            <a:r>
              <a:rPr lang="en-US" sz="5800" b="1" dirty="0">
                <a:latin typeface="Avenir Heavy" panose="02000503020000020003" pitchFamily="2" charset="0"/>
              </a:rPr>
              <a:t>MOCKUPS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E7DF4B-07C3-E5CE-E369-78B1863AC636}"/>
              </a:ext>
            </a:extLst>
          </p:cNvPr>
          <p:cNvCxnSpPr>
            <a:cxnSpLocks/>
          </p:cNvCxnSpPr>
          <p:nvPr/>
        </p:nvCxnSpPr>
        <p:spPr>
          <a:xfrm flipH="1">
            <a:off x="0" y="3385903"/>
            <a:ext cx="12192000" cy="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E38B95-F42C-C5F0-57EB-D4074922D1C1}"/>
              </a:ext>
            </a:extLst>
          </p:cNvPr>
          <p:cNvCxnSpPr>
            <a:cxnSpLocks/>
          </p:cNvCxnSpPr>
          <p:nvPr/>
        </p:nvCxnSpPr>
        <p:spPr>
          <a:xfrm flipV="1">
            <a:off x="3432745" y="0"/>
            <a:ext cx="0" cy="685800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4-point Star 6">
            <a:extLst>
              <a:ext uri="{FF2B5EF4-FFF2-40B4-BE49-F238E27FC236}">
                <a16:creationId xmlns:a16="http://schemas.microsoft.com/office/drawing/2014/main" id="{CFC81A0D-EDE4-43D2-983A-4EC31D7E58A9}"/>
              </a:ext>
            </a:extLst>
          </p:cNvPr>
          <p:cNvSpPr/>
          <p:nvPr/>
        </p:nvSpPr>
        <p:spPr>
          <a:xfrm>
            <a:off x="3042213" y="2995211"/>
            <a:ext cx="781063" cy="781383"/>
          </a:xfrm>
          <a:prstGeom prst="star4">
            <a:avLst>
              <a:gd name="adj" fmla="val 7406"/>
            </a:avLst>
          </a:prstGeom>
          <a:solidFill>
            <a:srgbClr val="FF5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51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FE11-A5DE-C128-9DF5-2126D1F6B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desk with a logo on it&#10;&#10;AI-generated content may be incorrect.">
            <a:extLst>
              <a:ext uri="{FF2B5EF4-FFF2-40B4-BE49-F238E27FC236}">
                <a16:creationId xmlns:a16="http://schemas.microsoft.com/office/drawing/2014/main" id="{7BE61A99-59F9-01F3-B274-B8BE71F5D0B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18314" y="4323165"/>
            <a:ext cx="3251366" cy="19231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6E14C7-A71A-26D3-DB65-79FDF5AB76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7287" y="670935"/>
            <a:ext cx="3777522" cy="5574468"/>
          </a:xfrm>
          <a:prstGeom prst="rect">
            <a:avLst/>
          </a:prstGeom>
        </p:spPr>
      </p:pic>
      <p:pic>
        <p:nvPicPr>
          <p:cNvPr id="19" name="Picture 18" descr="A black notebook with a letter s on it&#10;&#10;AI-generated content may be incorrect.">
            <a:extLst>
              <a:ext uri="{FF2B5EF4-FFF2-40B4-BE49-F238E27FC236}">
                <a16:creationId xmlns:a16="http://schemas.microsoft.com/office/drawing/2014/main" id="{2978CDD3-537C-A927-42D8-E57DC462A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315" y="669999"/>
            <a:ext cx="3251366" cy="3251366"/>
          </a:xfrm>
          <a:prstGeom prst="rect">
            <a:avLst/>
          </a:prstGeom>
        </p:spPr>
      </p:pic>
      <p:pic>
        <p:nvPicPr>
          <p:cNvPr id="21" name="Picture 20" descr="A hand holding a cell phone with a logo on the screen&#10;&#10;AI-generated content may be incorrect.">
            <a:extLst>
              <a:ext uri="{FF2B5EF4-FFF2-40B4-BE49-F238E27FC236}">
                <a16:creationId xmlns:a16="http://schemas.microsoft.com/office/drawing/2014/main" id="{0B94E32E-B730-D821-CF29-CDD25F41811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75602" y="669984"/>
            <a:ext cx="3115306" cy="557633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9DEA31-095B-97F7-00AD-76995295A2C6}"/>
              </a:ext>
            </a:extLst>
          </p:cNvPr>
          <p:cNvCxnSpPr>
            <a:cxnSpLocks/>
          </p:cNvCxnSpPr>
          <p:nvPr/>
        </p:nvCxnSpPr>
        <p:spPr>
          <a:xfrm flipH="1">
            <a:off x="0" y="669998"/>
            <a:ext cx="12192000" cy="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C477EF-0774-487A-C729-9D7ED32BB04C}"/>
              </a:ext>
            </a:extLst>
          </p:cNvPr>
          <p:cNvCxnSpPr>
            <a:cxnSpLocks/>
          </p:cNvCxnSpPr>
          <p:nvPr/>
        </p:nvCxnSpPr>
        <p:spPr>
          <a:xfrm flipV="1">
            <a:off x="601091" y="0"/>
            <a:ext cx="0" cy="685800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EA26E2-975B-BCB8-44A0-C7183E05BCF4}"/>
              </a:ext>
            </a:extLst>
          </p:cNvPr>
          <p:cNvCxnSpPr>
            <a:cxnSpLocks/>
          </p:cNvCxnSpPr>
          <p:nvPr/>
        </p:nvCxnSpPr>
        <p:spPr>
          <a:xfrm flipH="1">
            <a:off x="0" y="6246339"/>
            <a:ext cx="12192000" cy="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77D5D0-D453-C1AB-2BCD-C2DCBC955D84}"/>
              </a:ext>
            </a:extLst>
          </p:cNvPr>
          <p:cNvCxnSpPr>
            <a:cxnSpLocks/>
          </p:cNvCxnSpPr>
          <p:nvPr/>
        </p:nvCxnSpPr>
        <p:spPr>
          <a:xfrm flipV="1">
            <a:off x="4384514" y="669998"/>
            <a:ext cx="0" cy="5691045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362EF1C-FFFB-2123-BD3C-63779824F914}"/>
              </a:ext>
            </a:extLst>
          </p:cNvPr>
          <p:cNvCxnSpPr>
            <a:cxnSpLocks/>
          </p:cNvCxnSpPr>
          <p:nvPr/>
        </p:nvCxnSpPr>
        <p:spPr>
          <a:xfrm flipV="1">
            <a:off x="11590908" y="0"/>
            <a:ext cx="0" cy="685800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4-point Star 6">
            <a:extLst>
              <a:ext uri="{FF2B5EF4-FFF2-40B4-BE49-F238E27FC236}">
                <a16:creationId xmlns:a16="http://schemas.microsoft.com/office/drawing/2014/main" id="{A03CC1D2-3599-EF39-122A-4F9BC2342C19}"/>
              </a:ext>
            </a:extLst>
          </p:cNvPr>
          <p:cNvSpPr/>
          <p:nvPr/>
        </p:nvSpPr>
        <p:spPr>
          <a:xfrm>
            <a:off x="4122319" y="5989624"/>
            <a:ext cx="525695" cy="525910"/>
          </a:xfrm>
          <a:prstGeom prst="star4">
            <a:avLst>
              <a:gd name="adj" fmla="val 7406"/>
            </a:avLst>
          </a:prstGeom>
          <a:solidFill>
            <a:srgbClr val="FF5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4-point Star 24">
            <a:extLst>
              <a:ext uri="{FF2B5EF4-FFF2-40B4-BE49-F238E27FC236}">
                <a16:creationId xmlns:a16="http://schemas.microsoft.com/office/drawing/2014/main" id="{F36409C5-1F08-A32E-1B70-5AEEBE60AA18}"/>
              </a:ext>
            </a:extLst>
          </p:cNvPr>
          <p:cNvSpPr/>
          <p:nvPr/>
        </p:nvSpPr>
        <p:spPr>
          <a:xfrm>
            <a:off x="7895509" y="493477"/>
            <a:ext cx="352888" cy="353032"/>
          </a:xfrm>
          <a:prstGeom prst="star4">
            <a:avLst>
              <a:gd name="adj" fmla="val 7406"/>
            </a:avLst>
          </a:prstGeom>
          <a:solidFill>
            <a:srgbClr val="FF5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4-point Star 13">
            <a:extLst>
              <a:ext uri="{FF2B5EF4-FFF2-40B4-BE49-F238E27FC236}">
                <a16:creationId xmlns:a16="http://schemas.microsoft.com/office/drawing/2014/main" id="{FBEB31D5-D199-AFF6-CC64-217E3AFE532F}"/>
              </a:ext>
            </a:extLst>
          </p:cNvPr>
          <p:cNvSpPr/>
          <p:nvPr/>
        </p:nvSpPr>
        <p:spPr>
          <a:xfrm>
            <a:off x="341077" y="414077"/>
            <a:ext cx="525695" cy="525910"/>
          </a:xfrm>
          <a:prstGeom prst="star4">
            <a:avLst>
              <a:gd name="adj" fmla="val 7406"/>
            </a:avLst>
          </a:prstGeom>
          <a:solidFill>
            <a:srgbClr val="FF5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486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539CA-7180-BA5E-FE11-C705B62E8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94017F-BDA4-ED2B-ED76-809BBFEDDD64}"/>
              </a:ext>
            </a:extLst>
          </p:cNvPr>
          <p:cNvSpPr/>
          <p:nvPr/>
        </p:nvSpPr>
        <p:spPr>
          <a:xfrm>
            <a:off x="601091" y="669984"/>
            <a:ext cx="3783423" cy="5576332"/>
          </a:xfrm>
          <a:prstGeom prst="rect">
            <a:avLst/>
          </a:prstGeom>
          <a:gradFill flip="none" rotWithShape="1">
            <a:gsLst>
              <a:gs pos="0">
                <a:srgbClr val="FF5E00"/>
              </a:gs>
              <a:gs pos="100000">
                <a:schemeClr val="accent2">
                  <a:lumMod val="35037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white letter s with black and white stars&#10;&#10;AI-generated content may be incorrect.">
            <a:extLst>
              <a:ext uri="{FF2B5EF4-FFF2-40B4-BE49-F238E27FC236}">
                <a16:creationId xmlns:a16="http://schemas.microsoft.com/office/drawing/2014/main" id="{B234066D-8E74-920B-A46C-6597D9041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395" y="2345694"/>
            <a:ext cx="494912" cy="49491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871F673-CC37-033D-5553-55F0A88B4995}"/>
              </a:ext>
            </a:extLst>
          </p:cNvPr>
          <p:cNvSpPr/>
          <p:nvPr/>
        </p:nvSpPr>
        <p:spPr>
          <a:xfrm>
            <a:off x="8750334" y="669961"/>
            <a:ext cx="2840573" cy="5576352"/>
          </a:xfrm>
          <a:prstGeom prst="rect">
            <a:avLst/>
          </a:prstGeom>
          <a:solidFill>
            <a:srgbClr val="F2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D20948-789D-3AAD-3867-4648787DC9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24563" y="673442"/>
            <a:ext cx="3717568" cy="55693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AFA22E-1C32-FF57-218C-1F1E9D24476C}"/>
              </a:ext>
            </a:extLst>
          </p:cNvPr>
          <p:cNvCxnSpPr>
            <a:cxnSpLocks/>
          </p:cNvCxnSpPr>
          <p:nvPr/>
        </p:nvCxnSpPr>
        <p:spPr>
          <a:xfrm flipH="1">
            <a:off x="0" y="669998"/>
            <a:ext cx="12192000" cy="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1E6986-A005-CC0D-B24A-E90FA919CDB0}"/>
              </a:ext>
            </a:extLst>
          </p:cNvPr>
          <p:cNvCxnSpPr>
            <a:cxnSpLocks/>
          </p:cNvCxnSpPr>
          <p:nvPr/>
        </p:nvCxnSpPr>
        <p:spPr>
          <a:xfrm flipV="1">
            <a:off x="601091" y="0"/>
            <a:ext cx="0" cy="685800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8D2BD9-85A6-0C7D-86D9-2D5F238D143B}"/>
              </a:ext>
            </a:extLst>
          </p:cNvPr>
          <p:cNvCxnSpPr>
            <a:cxnSpLocks/>
          </p:cNvCxnSpPr>
          <p:nvPr/>
        </p:nvCxnSpPr>
        <p:spPr>
          <a:xfrm flipH="1">
            <a:off x="0" y="6246339"/>
            <a:ext cx="12192000" cy="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4-point Star 13">
            <a:extLst>
              <a:ext uri="{FF2B5EF4-FFF2-40B4-BE49-F238E27FC236}">
                <a16:creationId xmlns:a16="http://schemas.microsoft.com/office/drawing/2014/main" id="{69EE0009-B1A4-1468-C4A9-ED989790882C}"/>
              </a:ext>
            </a:extLst>
          </p:cNvPr>
          <p:cNvSpPr/>
          <p:nvPr/>
        </p:nvSpPr>
        <p:spPr>
          <a:xfrm>
            <a:off x="341077" y="414077"/>
            <a:ext cx="525695" cy="525910"/>
          </a:xfrm>
          <a:prstGeom prst="star4">
            <a:avLst>
              <a:gd name="adj" fmla="val 7406"/>
            </a:avLst>
          </a:prstGeom>
          <a:solidFill>
            <a:srgbClr val="FF5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DBDC2B-6858-E63D-81F6-7CDE7E347CBC}"/>
              </a:ext>
            </a:extLst>
          </p:cNvPr>
          <p:cNvCxnSpPr>
            <a:cxnSpLocks/>
          </p:cNvCxnSpPr>
          <p:nvPr/>
        </p:nvCxnSpPr>
        <p:spPr>
          <a:xfrm flipV="1">
            <a:off x="4384514" y="669998"/>
            <a:ext cx="0" cy="5691045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3A6B9E9-2991-C5A8-92E3-A762F976AD4C}"/>
              </a:ext>
            </a:extLst>
          </p:cNvPr>
          <p:cNvCxnSpPr>
            <a:cxnSpLocks/>
          </p:cNvCxnSpPr>
          <p:nvPr/>
        </p:nvCxnSpPr>
        <p:spPr>
          <a:xfrm flipV="1">
            <a:off x="11590908" y="0"/>
            <a:ext cx="0" cy="685800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4-point Star 6">
            <a:extLst>
              <a:ext uri="{FF2B5EF4-FFF2-40B4-BE49-F238E27FC236}">
                <a16:creationId xmlns:a16="http://schemas.microsoft.com/office/drawing/2014/main" id="{0FDDA08D-53A0-0236-5DD7-40A4CCD1EC82}"/>
              </a:ext>
            </a:extLst>
          </p:cNvPr>
          <p:cNvSpPr/>
          <p:nvPr/>
        </p:nvSpPr>
        <p:spPr>
          <a:xfrm>
            <a:off x="4122319" y="5989624"/>
            <a:ext cx="525695" cy="525910"/>
          </a:xfrm>
          <a:prstGeom prst="star4">
            <a:avLst>
              <a:gd name="adj" fmla="val 7406"/>
            </a:avLst>
          </a:prstGeom>
          <a:solidFill>
            <a:srgbClr val="FF5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4-point Star 24">
            <a:extLst>
              <a:ext uri="{FF2B5EF4-FFF2-40B4-BE49-F238E27FC236}">
                <a16:creationId xmlns:a16="http://schemas.microsoft.com/office/drawing/2014/main" id="{48280427-9A3A-79C0-23D7-97BBEC8944F0}"/>
              </a:ext>
            </a:extLst>
          </p:cNvPr>
          <p:cNvSpPr/>
          <p:nvPr/>
        </p:nvSpPr>
        <p:spPr>
          <a:xfrm>
            <a:off x="8267971" y="493477"/>
            <a:ext cx="352888" cy="353032"/>
          </a:xfrm>
          <a:prstGeom prst="star4">
            <a:avLst>
              <a:gd name="adj" fmla="val 7406"/>
            </a:avLst>
          </a:prstGeom>
          <a:solidFill>
            <a:srgbClr val="FF5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A30FD9DD-B56F-391D-B61A-29369FFA0C21}"/>
              </a:ext>
            </a:extLst>
          </p:cNvPr>
          <p:cNvSpPr/>
          <p:nvPr/>
        </p:nvSpPr>
        <p:spPr>
          <a:xfrm>
            <a:off x="776086" y="4130166"/>
            <a:ext cx="3215136" cy="3225168"/>
          </a:xfrm>
          <a:custGeom>
            <a:avLst/>
            <a:gdLst>
              <a:gd name="connsiteX0" fmla="*/ 1536840 w 4732597"/>
              <a:gd name="connsiteY0" fmla="*/ 0 h 4747365"/>
              <a:gd name="connsiteX1" fmla="*/ 3221829 w 4732597"/>
              <a:gd name="connsiteY1" fmla="*/ 0 h 4747365"/>
              <a:gd name="connsiteX2" fmla="*/ 4731726 w 4732597"/>
              <a:gd name="connsiteY2" fmla="*/ 1362554 h 4747365"/>
              <a:gd name="connsiteX3" fmla="*/ 4732597 w 4732597"/>
              <a:gd name="connsiteY3" fmla="*/ 1379805 h 4747365"/>
              <a:gd name="connsiteX4" fmla="*/ 1656109 w 4732597"/>
              <a:gd name="connsiteY4" fmla="*/ 1379805 h 4747365"/>
              <a:gd name="connsiteX5" fmla="*/ 1532255 w 4732597"/>
              <a:gd name="connsiteY5" fmla="*/ 803034 h 4747365"/>
              <a:gd name="connsiteX6" fmla="*/ 1406961 w 4732597"/>
              <a:gd name="connsiteY6" fmla="*/ 1386506 h 4747365"/>
              <a:gd name="connsiteX7" fmla="*/ 823490 w 4732597"/>
              <a:gd name="connsiteY7" fmla="*/ 1511800 h 4747365"/>
              <a:gd name="connsiteX8" fmla="*/ 1406961 w 4732597"/>
              <a:gd name="connsiteY8" fmla="*/ 1637093 h 4747365"/>
              <a:gd name="connsiteX9" fmla="*/ 1532255 w 4732597"/>
              <a:gd name="connsiteY9" fmla="*/ 2220564 h 4747365"/>
              <a:gd name="connsiteX10" fmla="*/ 1653986 w 4732597"/>
              <a:gd name="connsiteY10" fmla="*/ 1653683 h 4747365"/>
              <a:gd name="connsiteX11" fmla="*/ 3827310 w 4732597"/>
              <a:gd name="connsiteY11" fmla="*/ 1653683 h 4747365"/>
              <a:gd name="connsiteX12" fmla="*/ 3919679 w 4732597"/>
              <a:gd name="connsiteY12" fmla="*/ 1703851 h 4747365"/>
              <a:gd name="connsiteX13" fmla="*/ 4716467 w 4732597"/>
              <a:gd name="connsiteY13" fmla="*/ 3231688 h 4747365"/>
              <a:gd name="connsiteX14" fmla="*/ 3311465 w 4732597"/>
              <a:gd name="connsiteY14" fmla="*/ 4738417 h 4747365"/>
              <a:gd name="connsiteX15" fmla="*/ 3216690 w 4732597"/>
              <a:gd name="connsiteY15" fmla="*/ 4747365 h 4747365"/>
              <a:gd name="connsiteX16" fmla="*/ 1509930 w 4732597"/>
              <a:gd name="connsiteY16" fmla="*/ 4747365 h 4747365"/>
              <a:gd name="connsiteX17" fmla="*/ 33 w 4732597"/>
              <a:gd name="connsiteY17" fmla="*/ 3384811 h 4747365"/>
              <a:gd name="connsiteX18" fmla="*/ 0 w 4732597"/>
              <a:gd name="connsiteY18" fmla="*/ 3384161 h 4747365"/>
              <a:gd name="connsiteX19" fmla="*/ 3104428 w 4732597"/>
              <a:gd name="connsiteY19" fmla="*/ 3384161 h 4747365"/>
              <a:gd name="connsiteX20" fmla="*/ 3228444 w 4732597"/>
              <a:gd name="connsiteY20" fmla="*/ 3961681 h 4747365"/>
              <a:gd name="connsiteX21" fmla="*/ 3353737 w 4732597"/>
              <a:gd name="connsiteY21" fmla="*/ 3378211 h 4747365"/>
              <a:gd name="connsiteX22" fmla="*/ 3937208 w 4732597"/>
              <a:gd name="connsiteY22" fmla="*/ 3252918 h 4747365"/>
              <a:gd name="connsiteX23" fmla="*/ 3353737 w 4732597"/>
              <a:gd name="connsiteY23" fmla="*/ 3127624 h 4747365"/>
              <a:gd name="connsiteX24" fmla="*/ 3228444 w 4732597"/>
              <a:gd name="connsiteY24" fmla="*/ 2544152 h 4747365"/>
              <a:gd name="connsiteX25" fmla="*/ 3106875 w 4732597"/>
              <a:gd name="connsiteY25" fmla="*/ 3110283 h 4747365"/>
              <a:gd name="connsiteX26" fmla="*/ 958719 w 4732597"/>
              <a:gd name="connsiteY26" fmla="*/ 3110283 h 4747365"/>
              <a:gd name="connsiteX27" fmla="*/ 948177 w 4732597"/>
              <a:gd name="connsiteY27" fmla="*/ 3105607 h 4747365"/>
              <a:gd name="connsiteX28" fmla="*/ 37062 w 4732597"/>
              <a:gd name="connsiteY28" fmla="*/ 1515677 h 4747365"/>
              <a:gd name="connsiteX29" fmla="*/ 1442064 w 4732597"/>
              <a:gd name="connsiteY29" fmla="*/ 8948 h 474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32597" h="4747365">
                <a:moveTo>
                  <a:pt x="1536840" y="0"/>
                </a:moveTo>
                <a:lnTo>
                  <a:pt x="3221829" y="0"/>
                </a:lnTo>
                <a:cubicBezTo>
                  <a:pt x="4007661" y="0"/>
                  <a:pt x="4654003" y="597227"/>
                  <a:pt x="4731726" y="1362554"/>
                </a:cubicBezTo>
                <a:lnTo>
                  <a:pt x="4732597" y="1379805"/>
                </a:lnTo>
                <a:lnTo>
                  <a:pt x="1656109" y="1379805"/>
                </a:lnTo>
                <a:lnTo>
                  <a:pt x="1532255" y="803034"/>
                </a:lnTo>
                <a:lnTo>
                  <a:pt x="1406961" y="1386506"/>
                </a:lnTo>
                <a:lnTo>
                  <a:pt x="823490" y="1511800"/>
                </a:lnTo>
                <a:lnTo>
                  <a:pt x="1406961" y="1637093"/>
                </a:lnTo>
                <a:lnTo>
                  <a:pt x="1532255" y="2220564"/>
                </a:lnTo>
                <a:lnTo>
                  <a:pt x="1653986" y="1653683"/>
                </a:lnTo>
                <a:lnTo>
                  <a:pt x="3827310" y="1653683"/>
                </a:lnTo>
                <a:lnTo>
                  <a:pt x="3919679" y="1703851"/>
                </a:lnTo>
                <a:cubicBezTo>
                  <a:pt x="4439422" y="2013579"/>
                  <a:pt x="4762133" y="2597405"/>
                  <a:pt x="4716467" y="3231688"/>
                </a:cubicBezTo>
                <a:cubicBezTo>
                  <a:pt x="4660549" y="4008362"/>
                  <a:pt x="4068826" y="4631036"/>
                  <a:pt x="3311465" y="4738417"/>
                </a:cubicBezTo>
                <a:lnTo>
                  <a:pt x="3216690" y="4747365"/>
                </a:lnTo>
                <a:lnTo>
                  <a:pt x="1509930" y="4747365"/>
                </a:lnTo>
                <a:cubicBezTo>
                  <a:pt x="724098" y="4747365"/>
                  <a:pt x="77756" y="4150138"/>
                  <a:pt x="33" y="3384811"/>
                </a:cubicBezTo>
                <a:lnTo>
                  <a:pt x="0" y="3384161"/>
                </a:lnTo>
                <a:lnTo>
                  <a:pt x="3104428" y="3384161"/>
                </a:lnTo>
                <a:lnTo>
                  <a:pt x="3228444" y="3961681"/>
                </a:lnTo>
                <a:lnTo>
                  <a:pt x="3353737" y="3378211"/>
                </a:lnTo>
                <a:lnTo>
                  <a:pt x="3937208" y="3252918"/>
                </a:lnTo>
                <a:lnTo>
                  <a:pt x="3353737" y="3127624"/>
                </a:lnTo>
                <a:lnTo>
                  <a:pt x="3228444" y="2544152"/>
                </a:lnTo>
                <a:lnTo>
                  <a:pt x="3106875" y="3110283"/>
                </a:lnTo>
                <a:lnTo>
                  <a:pt x="958719" y="3110283"/>
                </a:lnTo>
                <a:lnTo>
                  <a:pt x="948177" y="3105607"/>
                </a:lnTo>
                <a:cubicBezTo>
                  <a:pt x="362088" y="2816932"/>
                  <a:pt x="-11866" y="2195267"/>
                  <a:pt x="37062" y="1515677"/>
                </a:cubicBezTo>
                <a:cubicBezTo>
                  <a:pt x="92980" y="739003"/>
                  <a:pt x="684703" y="116329"/>
                  <a:pt x="1442064" y="8948"/>
                </a:cubicBezTo>
                <a:close/>
              </a:path>
            </a:pathLst>
          </a:custGeom>
          <a:solidFill>
            <a:schemeClr val="bg1">
              <a:alpha val="1401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A8BB87B-897F-B37A-0095-4C72CD50F7A5}"/>
              </a:ext>
            </a:extLst>
          </p:cNvPr>
          <p:cNvSpPr txBox="1">
            <a:spLocks/>
          </p:cNvSpPr>
          <p:nvPr/>
        </p:nvSpPr>
        <p:spPr>
          <a:xfrm>
            <a:off x="1817109" y="2971653"/>
            <a:ext cx="1325484" cy="349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75000"/>
              </a:lnSpc>
            </a:pPr>
            <a:r>
              <a:rPr lang="en-US" sz="1800" dirty="0">
                <a:solidFill>
                  <a:schemeClr val="bg1"/>
                </a:solidFill>
                <a:latin typeface="Avenir Light" panose="020B0402020203020204" pitchFamily="34" charset="77"/>
              </a:rPr>
              <a:t>Shiftline AI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A42C2CE-1060-F506-80FA-5C8B3CB40FFA}"/>
              </a:ext>
            </a:extLst>
          </p:cNvPr>
          <p:cNvSpPr/>
          <p:nvPr/>
        </p:nvSpPr>
        <p:spPr>
          <a:xfrm>
            <a:off x="6469178" y="2971653"/>
            <a:ext cx="312418" cy="313393"/>
          </a:xfrm>
          <a:custGeom>
            <a:avLst/>
            <a:gdLst>
              <a:gd name="connsiteX0" fmla="*/ 1536840 w 4732597"/>
              <a:gd name="connsiteY0" fmla="*/ 0 h 4747365"/>
              <a:gd name="connsiteX1" fmla="*/ 3221829 w 4732597"/>
              <a:gd name="connsiteY1" fmla="*/ 0 h 4747365"/>
              <a:gd name="connsiteX2" fmla="*/ 4731726 w 4732597"/>
              <a:gd name="connsiteY2" fmla="*/ 1362554 h 4747365"/>
              <a:gd name="connsiteX3" fmla="*/ 4732597 w 4732597"/>
              <a:gd name="connsiteY3" fmla="*/ 1379805 h 4747365"/>
              <a:gd name="connsiteX4" fmla="*/ 1656109 w 4732597"/>
              <a:gd name="connsiteY4" fmla="*/ 1379805 h 4747365"/>
              <a:gd name="connsiteX5" fmla="*/ 1532255 w 4732597"/>
              <a:gd name="connsiteY5" fmla="*/ 803034 h 4747365"/>
              <a:gd name="connsiteX6" fmla="*/ 1406961 w 4732597"/>
              <a:gd name="connsiteY6" fmla="*/ 1386506 h 4747365"/>
              <a:gd name="connsiteX7" fmla="*/ 823490 w 4732597"/>
              <a:gd name="connsiteY7" fmla="*/ 1511800 h 4747365"/>
              <a:gd name="connsiteX8" fmla="*/ 1406961 w 4732597"/>
              <a:gd name="connsiteY8" fmla="*/ 1637093 h 4747365"/>
              <a:gd name="connsiteX9" fmla="*/ 1532255 w 4732597"/>
              <a:gd name="connsiteY9" fmla="*/ 2220564 h 4747365"/>
              <a:gd name="connsiteX10" fmla="*/ 1653986 w 4732597"/>
              <a:gd name="connsiteY10" fmla="*/ 1653683 h 4747365"/>
              <a:gd name="connsiteX11" fmla="*/ 3827310 w 4732597"/>
              <a:gd name="connsiteY11" fmla="*/ 1653683 h 4747365"/>
              <a:gd name="connsiteX12" fmla="*/ 3919679 w 4732597"/>
              <a:gd name="connsiteY12" fmla="*/ 1703851 h 4747365"/>
              <a:gd name="connsiteX13" fmla="*/ 4716467 w 4732597"/>
              <a:gd name="connsiteY13" fmla="*/ 3231688 h 4747365"/>
              <a:gd name="connsiteX14" fmla="*/ 3311465 w 4732597"/>
              <a:gd name="connsiteY14" fmla="*/ 4738417 h 4747365"/>
              <a:gd name="connsiteX15" fmla="*/ 3216690 w 4732597"/>
              <a:gd name="connsiteY15" fmla="*/ 4747365 h 4747365"/>
              <a:gd name="connsiteX16" fmla="*/ 1509930 w 4732597"/>
              <a:gd name="connsiteY16" fmla="*/ 4747365 h 4747365"/>
              <a:gd name="connsiteX17" fmla="*/ 33 w 4732597"/>
              <a:gd name="connsiteY17" fmla="*/ 3384811 h 4747365"/>
              <a:gd name="connsiteX18" fmla="*/ 0 w 4732597"/>
              <a:gd name="connsiteY18" fmla="*/ 3384161 h 4747365"/>
              <a:gd name="connsiteX19" fmla="*/ 3104428 w 4732597"/>
              <a:gd name="connsiteY19" fmla="*/ 3384161 h 4747365"/>
              <a:gd name="connsiteX20" fmla="*/ 3228444 w 4732597"/>
              <a:gd name="connsiteY20" fmla="*/ 3961681 h 4747365"/>
              <a:gd name="connsiteX21" fmla="*/ 3353737 w 4732597"/>
              <a:gd name="connsiteY21" fmla="*/ 3378211 h 4747365"/>
              <a:gd name="connsiteX22" fmla="*/ 3937208 w 4732597"/>
              <a:gd name="connsiteY22" fmla="*/ 3252918 h 4747365"/>
              <a:gd name="connsiteX23" fmla="*/ 3353737 w 4732597"/>
              <a:gd name="connsiteY23" fmla="*/ 3127624 h 4747365"/>
              <a:gd name="connsiteX24" fmla="*/ 3228444 w 4732597"/>
              <a:gd name="connsiteY24" fmla="*/ 2544152 h 4747365"/>
              <a:gd name="connsiteX25" fmla="*/ 3106875 w 4732597"/>
              <a:gd name="connsiteY25" fmla="*/ 3110283 h 4747365"/>
              <a:gd name="connsiteX26" fmla="*/ 958719 w 4732597"/>
              <a:gd name="connsiteY26" fmla="*/ 3110283 h 4747365"/>
              <a:gd name="connsiteX27" fmla="*/ 948177 w 4732597"/>
              <a:gd name="connsiteY27" fmla="*/ 3105607 h 4747365"/>
              <a:gd name="connsiteX28" fmla="*/ 37062 w 4732597"/>
              <a:gd name="connsiteY28" fmla="*/ 1515677 h 4747365"/>
              <a:gd name="connsiteX29" fmla="*/ 1442064 w 4732597"/>
              <a:gd name="connsiteY29" fmla="*/ 8948 h 474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32597" h="4747365">
                <a:moveTo>
                  <a:pt x="1536840" y="0"/>
                </a:moveTo>
                <a:lnTo>
                  <a:pt x="3221829" y="0"/>
                </a:lnTo>
                <a:cubicBezTo>
                  <a:pt x="4007661" y="0"/>
                  <a:pt x="4654003" y="597227"/>
                  <a:pt x="4731726" y="1362554"/>
                </a:cubicBezTo>
                <a:lnTo>
                  <a:pt x="4732597" y="1379805"/>
                </a:lnTo>
                <a:lnTo>
                  <a:pt x="1656109" y="1379805"/>
                </a:lnTo>
                <a:lnTo>
                  <a:pt x="1532255" y="803034"/>
                </a:lnTo>
                <a:lnTo>
                  <a:pt x="1406961" y="1386506"/>
                </a:lnTo>
                <a:lnTo>
                  <a:pt x="823490" y="1511800"/>
                </a:lnTo>
                <a:lnTo>
                  <a:pt x="1406961" y="1637093"/>
                </a:lnTo>
                <a:lnTo>
                  <a:pt x="1532255" y="2220564"/>
                </a:lnTo>
                <a:lnTo>
                  <a:pt x="1653986" y="1653683"/>
                </a:lnTo>
                <a:lnTo>
                  <a:pt x="3827310" y="1653683"/>
                </a:lnTo>
                <a:lnTo>
                  <a:pt x="3919679" y="1703851"/>
                </a:lnTo>
                <a:cubicBezTo>
                  <a:pt x="4439422" y="2013579"/>
                  <a:pt x="4762133" y="2597405"/>
                  <a:pt x="4716467" y="3231688"/>
                </a:cubicBezTo>
                <a:cubicBezTo>
                  <a:pt x="4660549" y="4008362"/>
                  <a:pt x="4068826" y="4631036"/>
                  <a:pt x="3311465" y="4738417"/>
                </a:cubicBezTo>
                <a:lnTo>
                  <a:pt x="3216690" y="4747365"/>
                </a:lnTo>
                <a:lnTo>
                  <a:pt x="1509930" y="4747365"/>
                </a:lnTo>
                <a:cubicBezTo>
                  <a:pt x="724098" y="4747365"/>
                  <a:pt x="77756" y="4150138"/>
                  <a:pt x="33" y="3384811"/>
                </a:cubicBezTo>
                <a:lnTo>
                  <a:pt x="0" y="3384161"/>
                </a:lnTo>
                <a:lnTo>
                  <a:pt x="3104428" y="3384161"/>
                </a:lnTo>
                <a:lnTo>
                  <a:pt x="3228444" y="3961681"/>
                </a:lnTo>
                <a:lnTo>
                  <a:pt x="3353737" y="3378211"/>
                </a:lnTo>
                <a:lnTo>
                  <a:pt x="3937208" y="3252918"/>
                </a:lnTo>
                <a:lnTo>
                  <a:pt x="3353737" y="3127624"/>
                </a:lnTo>
                <a:lnTo>
                  <a:pt x="3228444" y="2544152"/>
                </a:lnTo>
                <a:lnTo>
                  <a:pt x="3106875" y="3110283"/>
                </a:lnTo>
                <a:lnTo>
                  <a:pt x="958719" y="3110283"/>
                </a:lnTo>
                <a:lnTo>
                  <a:pt x="948177" y="3105607"/>
                </a:lnTo>
                <a:cubicBezTo>
                  <a:pt x="362088" y="2816932"/>
                  <a:pt x="-11866" y="2195267"/>
                  <a:pt x="37062" y="1515677"/>
                </a:cubicBezTo>
                <a:cubicBezTo>
                  <a:pt x="92980" y="739003"/>
                  <a:pt x="684703" y="116329"/>
                  <a:pt x="1442064" y="89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D8B754-F87F-0913-58AE-A5F3C49F99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50333" y="1217240"/>
            <a:ext cx="2840574" cy="44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79843-D501-5157-99DD-3E8F456C3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D77715C9-9C30-CD43-3A2D-095E6089A02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974" y="4549505"/>
            <a:ext cx="3213100" cy="3225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36D29E2-B6A8-2D62-0D0E-0F4F41257C5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31984" y="-17576"/>
            <a:ext cx="7060016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008235E-FA3E-E099-5212-A54C685D121F}"/>
              </a:ext>
            </a:extLst>
          </p:cNvPr>
          <p:cNvSpPr/>
          <p:nvPr/>
        </p:nvSpPr>
        <p:spPr>
          <a:xfrm rot="16200000">
            <a:off x="986579" y="-986575"/>
            <a:ext cx="3158838" cy="5131983"/>
          </a:xfrm>
          <a:prstGeom prst="rect">
            <a:avLst/>
          </a:prstGeom>
          <a:gradFill flip="none" rotWithShape="1">
            <a:gsLst>
              <a:gs pos="11000">
                <a:srgbClr val="FF5E00">
                  <a:lumMod val="99833"/>
                </a:srgbClr>
              </a:gs>
              <a:gs pos="75000">
                <a:srgbClr val="2E1100"/>
              </a:gs>
              <a:gs pos="100000">
                <a:schemeClr val="accent2">
                  <a:lumMod val="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A1AA77-9D21-9B28-1308-93F2B60A2D2B}"/>
              </a:ext>
            </a:extLst>
          </p:cNvPr>
          <p:cNvSpPr txBox="1">
            <a:spLocks/>
          </p:cNvSpPr>
          <p:nvPr/>
        </p:nvSpPr>
        <p:spPr>
          <a:xfrm>
            <a:off x="337253" y="1294560"/>
            <a:ext cx="4794731" cy="551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5800" b="1" dirty="0">
                <a:solidFill>
                  <a:schemeClr val="bg1"/>
                </a:solidFill>
                <a:latin typeface="Avenir Heavy" panose="02000503020000020003" pitchFamily="2" charset="0"/>
              </a:rPr>
              <a:t>IMAGERY &amp; GRAPHICS</a:t>
            </a: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80B42A2B-C529-7568-E3B2-CA4B2A86AEE8}"/>
              </a:ext>
            </a:extLst>
          </p:cNvPr>
          <p:cNvSpPr/>
          <p:nvPr/>
        </p:nvSpPr>
        <p:spPr>
          <a:xfrm>
            <a:off x="4741452" y="2768144"/>
            <a:ext cx="781063" cy="781383"/>
          </a:xfrm>
          <a:prstGeom prst="star4">
            <a:avLst>
              <a:gd name="adj" fmla="val 7406"/>
            </a:avLst>
          </a:prstGeom>
          <a:solidFill>
            <a:srgbClr val="FF5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20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8710-0126-BBF7-B392-43BCE0C35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F69221-1462-FE39-EDA9-E448A5CC1D3C}"/>
              </a:ext>
            </a:extLst>
          </p:cNvPr>
          <p:cNvSpPr/>
          <p:nvPr/>
        </p:nvSpPr>
        <p:spPr>
          <a:xfrm>
            <a:off x="4478402" y="944244"/>
            <a:ext cx="3163287" cy="238622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5E121D4-9179-6A98-36B8-0F8B7EC9E64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14" r="537"/>
          <a:stretch>
            <a:fillRect/>
          </a:stretch>
        </p:blipFill>
        <p:spPr>
          <a:xfrm>
            <a:off x="970845" y="940769"/>
            <a:ext cx="3473507" cy="5260329"/>
          </a:xfrm>
          <a:prstGeom prst="rect">
            <a:avLst/>
          </a:prstGeom>
        </p:spPr>
      </p:pic>
      <p:pic>
        <p:nvPicPr>
          <p:cNvPr id="21" name="Picture 20" descr="A person in a black shirt&#10;&#10;AI-generated content may be incorrect.">
            <a:extLst>
              <a:ext uri="{FF2B5EF4-FFF2-40B4-BE49-F238E27FC236}">
                <a16:creationId xmlns:a16="http://schemas.microsoft.com/office/drawing/2014/main" id="{92DF9704-76D6-56ED-5A48-CB8B6FDBCE8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57903" y="3354371"/>
            <a:ext cx="3898382" cy="2857242"/>
          </a:xfrm>
          <a:prstGeom prst="rect">
            <a:avLst/>
          </a:prstGeom>
        </p:spPr>
      </p:pic>
      <p:pic>
        <p:nvPicPr>
          <p:cNvPr id="15" name="Picture 14" descr="A blue and orange lines and dots&#10;&#10;AI-generated content may be incorrect.">
            <a:extLst>
              <a:ext uri="{FF2B5EF4-FFF2-40B4-BE49-F238E27FC236}">
                <a16:creationId xmlns:a16="http://schemas.microsoft.com/office/drawing/2014/main" id="{EBFEEBF3-6637-B5F1-1B19-2EB07302FC4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78402" y="3354371"/>
            <a:ext cx="3163287" cy="28467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2C85B3C-1875-C0E7-24C3-189EB39A31F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56623" y="944244"/>
            <a:ext cx="3914188" cy="239644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498681-7CA0-301F-58D6-E29B42053981}"/>
              </a:ext>
            </a:extLst>
          </p:cNvPr>
          <p:cNvCxnSpPr>
            <a:cxnSpLocks/>
          </p:cNvCxnSpPr>
          <p:nvPr/>
        </p:nvCxnSpPr>
        <p:spPr>
          <a:xfrm flipH="1">
            <a:off x="0" y="940769"/>
            <a:ext cx="11571890" cy="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9A0C9C6-3CC6-636B-67A1-2793CEBB1F4D}"/>
              </a:ext>
            </a:extLst>
          </p:cNvPr>
          <p:cNvCxnSpPr>
            <a:cxnSpLocks/>
          </p:cNvCxnSpPr>
          <p:nvPr/>
        </p:nvCxnSpPr>
        <p:spPr>
          <a:xfrm flipV="1">
            <a:off x="969263" y="0"/>
            <a:ext cx="0" cy="6201098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4-point Star 3">
            <a:extLst>
              <a:ext uri="{FF2B5EF4-FFF2-40B4-BE49-F238E27FC236}">
                <a16:creationId xmlns:a16="http://schemas.microsoft.com/office/drawing/2014/main" id="{6C3042E6-3DB1-D21C-C1AA-56144BCFBACF}"/>
              </a:ext>
            </a:extLst>
          </p:cNvPr>
          <p:cNvSpPr/>
          <p:nvPr/>
        </p:nvSpPr>
        <p:spPr>
          <a:xfrm>
            <a:off x="3733404" y="3118913"/>
            <a:ext cx="449712" cy="449896"/>
          </a:xfrm>
          <a:prstGeom prst="star4">
            <a:avLst>
              <a:gd name="adj" fmla="val 7406"/>
            </a:avLst>
          </a:prstGeom>
          <a:solidFill>
            <a:srgbClr val="FF5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D99BBE6-0095-8925-6D4B-AB28347C7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3946" y="1352119"/>
            <a:ext cx="2918229" cy="165830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Our visual system communicates intelligence and connection — balancing human and digital elements.</a:t>
            </a:r>
            <a:endParaRPr lang="en-US" sz="18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3" name="4-point Star 13">
            <a:extLst>
              <a:ext uri="{FF2B5EF4-FFF2-40B4-BE49-F238E27FC236}">
                <a16:creationId xmlns:a16="http://schemas.microsoft.com/office/drawing/2014/main" id="{A08723B3-1B35-638C-B003-E5D838C83219}"/>
              </a:ext>
            </a:extLst>
          </p:cNvPr>
          <p:cNvSpPr/>
          <p:nvPr/>
        </p:nvSpPr>
        <p:spPr>
          <a:xfrm>
            <a:off x="706416" y="677813"/>
            <a:ext cx="525695" cy="525910"/>
          </a:xfrm>
          <a:prstGeom prst="star4">
            <a:avLst>
              <a:gd name="adj" fmla="val 7406"/>
            </a:avLst>
          </a:prstGeom>
          <a:solidFill>
            <a:srgbClr val="FF5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32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EEDC1-1DF3-601F-EC90-B3DDE4802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A83F91BA-63FA-8645-3AA9-2431B0344077}"/>
              </a:ext>
            </a:extLst>
          </p:cNvPr>
          <p:cNvSpPr/>
          <p:nvPr/>
        </p:nvSpPr>
        <p:spPr>
          <a:xfrm>
            <a:off x="0" y="1"/>
            <a:ext cx="4556462" cy="338590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A019A4-670F-8050-0EAC-B3FDB0288DED}"/>
              </a:ext>
            </a:extLst>
          </p:cNvPr>
          <p:cNvSpPr/>
          <p:nvPr/>
        </p:nvSpPr>
        <p:spPr>
          <a:xfrm>
            <a:off x="0" y="3387778"/>
            <a:ext cx="4556462" cy="3470222"/>
          </a:xfrm>
          <a:prstGeom prst="rect">
            <a:avLst/>
          </a:prstGeom>
          <a:solidFill>
            <a:srgbClr val="F7DA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D1073-424D-31D1-ADD8-2956C8D23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170" y="1705613"/>
            <a:ext cx="7285328" cy="20095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5000" b="1" dirty="0" err="1">
                <a:latin typeface="Avenir Heavy" panose="02000503020000020003" pitchFamily="2" charset="0"/>
              </a:rPr>
              <a:t>AaBbCc</a:t>
            </a:r>
            <a:endParaRPr lang="en-US" sz="15000" dirty="0">
              <a:latin typeface="Avenir Book" panose="02000503020000020003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D990830-431A-22DA-54A0-F46B1614545C}"/>
              </a:ext>
            </a:extLst>
          </p:cNvPr>
          <p:cNvSpPr txBox="1">
            <a:spLocks/>
          </p:cNvSpPr>
          <p:nvPr/>
        </p:nvSpPr>
        <p:spPr>
          <a:xfrm>
            <a:off x="725908" y="670560"/>
            <a:ext cx="3038382" cy="16717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5800" b="1" dirty="0">
                <a:solidFill>
                  <a:schemeClr val="bg1"/>
                </a:solidFill>
                <a:latin typeface="Avenir Heavy" panose="02000503020000020003" pitchFamily="2" charset="0"/>
              </a:rPr>
              <a:t>TYPOGRAPHY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BE4D13-BA0D-A6AA-1534-0FD76869B485}"/>
              </a:ext>
            </a:extLst>
          </p:cNvPr>
          <p:cNvSpPr/>
          <p:nvPr/>
        </p:nvSpPr>
        <p:spPr>
          <a:xfrm>
            <a:off x="3602002" y="2436440"/>
            <a:ext cx="952789" cy="953179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229633-C4F9-4708-5F66-722BEA121469}"/>
              </a:ext>
            </a:extLst>
          </p:cNvPr>
          <p:cNvSpPr txBox="1">
            <a:spLocks/>
          </p:cNvSpPr>
          <p:nvPr/>
        </p:nvSpPr>
        <p:spPr>
          <a:xfrm>
            <a:off x="725908" y="4139095"/>
            <a:ext cx="3150655" cy="220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GB" sz="1800" dirty="0">
                <a:latin typeface="Avenir Light" panose="020B0402020203020204" pitchFamily="34" charset="77"/>
              </a:rPr>
              <a:t>Typography is central to Shiftline AI’s clarity and professionalism. Consistent use ensures strong, unified communication across all platforms.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Avenir Light" panose="020B0402020203020204" pitchFamily="34" charset="77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CF5A72C-D17D-463D-808B-A7BC217E16BF}"/>
              </a:ext>
            </a:extLst>
          </p:cNvPr>
          <p:cNvSpPr txBox="1">
            <a:spLocks/>
          </p:cNvSpPr>
          <p:nvPr/>
        </p:nvSpPr>
        <p:spPr>
          <a:xfrm>
            <a:off x="5357170" y="4757977"/>
            <a:ext cx="7285328" cy="9693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7200" b="1" dirty="0" err="1">
                <a:latin typeface="Avenir Heavy" panose="02000503020000020003" pitchFamily="2" charset="0"/>
              </a:rPr>
              <a:t>AaBbCcDdEeFf</a:t>
            </a:r>
            <a:endParaRPr lang="en-US" sz="7200" dirty="0">
              <a:latin typeface="Avenir Book" panose="02000503020000020003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52327F-C33A-2773-39AB-E9EC481849D2}"/>
              </a:ext>
            </a:extLst>
          </p:cNvPr>
          <p:cNvSpPr txBox="1">
            <a:spLocks/>
          </p:cNvSpPr>
          <p:nvPr/>
        </p:nvSpPr>
        <p:spPr>
          <a:xfrm>
            <a:off x="5437867" y="1400007"/>
            <a:ext cx="3150655" cy="292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GB" sz="1800" dirty="0">
                <a:latin typeface="Avenir Light" panose="020B0402020203020204" pitchFamily="34" charset="77"/>
              </a:rPr>
              <a:t>Avenir font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Avenir Light" panose="020B0402020203020204" pitchFamily="34" charset="77"/>
            </a:endParaRPr>
          </a:p>
        </p:txBody>
      </p:sp>
      <p:pic>
        <p:nvPicPr>
          <p:cNvPr id="9" name="Picture 8" descr="A white letter s with black and white stars&#10;&#10;AI-generated content may be incorrect.">
            <a:extLst>
              <a:ext uri="{FF2B5EF4-FFF2-40B4-BE49-F238E27FC236}">
                <a16:creationId xmlns:a16="http://schemas.microsoft.com/office/drawing/2014/main" id="{1F246064-EE1D-0430-C1E8-2B3FE6F84A0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1546" y="2716179"/>
            <a:ext cx="3937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D82C7-04F5-3C29-19D2-272A50C8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0D594-19CF-C671-171D-DEDBAAFA4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4025527"/>
            <a:ext cx="3616299" cy="219718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bg2">
                    <a:lumMod val="25000"/>
                  </a:schemeClr>
                </a:solidFill>
                <a:latin typeface="Avenir Book" panose="02000503020000020003" pitchFamily="2" charset="0"/>
              </a:rPr>
              <a:t>Our </a:t>
            </a:r>
            <a:r>
              <a:rPr lang="en-GB" sz="1800" dirty="0" err="1">
                <a:solidFill>
                  <a:schemeClr val="bg2">
                    <a:lumMod val="25000"/>
                  </a:schemeClr>
                </a:solidFill>
                <a:latin typeface="Avenir Book" panose="02000503020000020003" pitchFamily="2" charset="0"/>
              </a:rPr>
              <a:t>color</a:t>
            </a:r>
            <a:r>
              <a:rPr lang="en-GB" sz="1800" dirty="0">
                <a:solidFill>
                  <a:schemeClr val="bg2">
                    <a:lumMod val="25000"/>
                  </a:schemeClr>
                </a:solidFill>
                <a:latin typeface="Avenir Book" panose="02000503020000020003" pitchFamily="2" charset="0"/>
              </a:rPr>
              <a:t> system reflects energy and intelligence, orange symbolizes transformation and momentum, while dark tones emphasize depth and trust.</a:t>
            </a:r>
            <a:endParaRPr lang="en-US" sz="1800" dirty="0">
              <a:solidFill>
                <a:schemeClr val="bg2">
                  <a:lumMod val="25000"/>
                </a:schemeClr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91C745-EDFE-C5EF-0392-2BE5A22379CE}"/>
              </a:ext>
            </a:extLst>
          </p:cNvPr>
          <p:cNvSpPr txBox="1">
            <a:spLocks/>
          </p:cNvSpPr>
          <p:nvPr/>
        </p:nvSpPr>
        <p:spPr>
          <a:xfrm>
            <a:off x="1066799" y="635285"/>
            <a:ext cx="4298576" cy="1707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5800" b="1" dirty="0">
                <a:latin typeface="Avenir Heavy" panose="02000503020000020003" pitchFamily="2" charset="0"/>
              </a:rPr>
              <a:t>COLOR PALETTE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8EDC93-D900-2800-C045-DC32990A587C}"/>
              </a:ext>
            </a:extLst>
          </p:cNvPr>
          <p:cNvCxnSpPr>
            <a:cxnSpLocks/>
          </p:cNvCxnSpPr>
          <p:nvPr/>
        </p:nvCxnSpPr>
        <p:spPr>
          <a:xfrm flipV="1">
            <a:off x="823911" y="0"/>
            <a:ext cx="0" cy="6225988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7527950-1589-BEEC-8F5D-706E6E4A31D4}"/>
              </a:ext>
            </a:extLst>
          </p:cNvPr>
          <p:cNvSpPr/>
          <p:nvPr/>
        </p:nvSpPr>
        <p:spPr>
          <a:xfrm>
            <a:off x="5859623" y="3430918"/>
            <a:ext cx="2809134" cy="2795068"/>
          </a:xfrm>
          <a:prstGeom prst="rect">
            <a:avLst/>
          </a:prstGeom>
          <a:solidFill>
            <a:srgbClr val="F7DA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935BCE-C4AC-F08A-96E2-DC97F1137940}"/>
              </a:ext>
            </a:extLst>
          </p:cNvPr>
          <p:cNvSpPr/>
          <p:nvPr/>
        </p:nvSpPr>
        <p:spPr>
          <a:xfrm>
            <a:off x="8663727" y="635286"/>
            <a:ext cx="2809134" cy="2795068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2445E7-67FE-420B-A1E4-F71BCEB2B886}"/>
              </a:ext>
            </a:extLst>
          </p:cNvPr>
          <p:cNvSpPr/>
          <p:nvPr/>
        </p:nvSpPr>
        <p:spPr>
          <a:xfrm>
            <a:off x="6444064" y="1225465"/>
            <a:ext cx="2215984" cy="22048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DFF736-4E68-7B88-D116-F33E844473E0}"/>
              </a:ext>
            </a:extLst>
          </p:cNvPr>
          <p:cNvSpPr/>
          <p:nvPr/>
        </p:nvSpPr>
        <p:spPr>
          <a:xfrm>
            <a:off x="8663727" y="3430918"/>
            <a:ext cx="2545877" cy="253312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F61B3A-E650-4AF4-3718-6D59B4A0EA72}"/>
              </a:ext>
            </a:extLst>
          </p:cNvPr>
          <p:cNvCxnSpPr>
            <a:cxnSpLocks/>
          </p:cNvCxnSpPr>
          <p:nvPr/>
        </p:nvCxnSpPr>
        <p:spPr>
          <a:xfrm flipH="1">
            <a:off x="5859623" y="3430918"/>
            <a:ext cx="5613239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B0B29E-EC90-D4FC-ECEC-50FC8A59669C}"/>
              </a:ext>
            </a:extLst>
          </p:cNvPr>
          <p:cNvCxnSpPr>
            <a:cxnSpLocks/>
          </p:cNvCxnSpPr>
          <p:nvPr/>
        </p:nvCxnSpPr>
        <p:spPr>
          <a:xfrm flipV="1">
            <a:off x="8657814" y="573178"/>
            <a:ext cx="0" cy="5652809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4-point Star 6">
            <a:extLst>
              <a:ext uri="{FF2B5EF4-FFF2-40B4-BE49-F238E27FC236}">
                <a16:creationId xmlns:a16="http://schemas.microsoft.com/office/drawing/2014/main" id="{F3C6ABD1-0B34-2E50-A3A9-915477257341}"/>
              </a:ext>
            </a:extLst>
          </p:cNvPr>
          <p:cNvSpPr/>
          <p:nvPr/>
        </p:nvSpPr>
        <p:spPr>
          <a:xfrm>
            <a:off x="8309147" y="3076195"/>
            <a:ext cx="709156" cy="709447"/>
          </a:xfrm>
          <a:prstGeom prst="star4">
            <a:avLst>
              <a:gd name="adj" fmla="val 740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DEA3B2-5183-5B7E-1EB1-4A82B8E6155D}"/>
              </a:ext>
            </a:extLst>
          </p:cNvPr>
          <p:cNvSpPr txBox="1">
            <a:spLocks/>
          </p:cNvSpPr>
          <p:nvPr/>
        </p:nvSpPr>
        <p:spPr>
          <a:xfrm>
            <a:off x="6662927" y="2912357"/>
            <a:ext cx="1178631" cy="3276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  <a:latin typeface="Avenir Light" panose="020B0402020203020204" pitchFamily="34" charset="77"/>
              </a:rPr>
              <a:t>#000000</a:t>
            </a:r>
            <a:endParaRPr lang="en-US" sz="1800" dirty="0">
              <a:solidFill>
                <a:schemeClr val="bg1"/>
              </a:solidFill>
              <a:latin typeface="Avenir Light" panose="020B0402020203020204" pitchFamily="34" charset="77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68DEDEB-7F93-9082-3300-C87D2F060D86}"/>
              </a:ext>
            </a:extLst>
          </p:cNvPr>
          <p:cNvSpPr txBox="1">
            <a:spLocks/>
          </p:cNvSpPr>
          <p:nvPr/>
        </p:nvSpPr>
        <p:spPr>
          <a:xfrm>
            <a:off x="8947438" y="2846519"/>
            <a:ext cx="1178631" cy="3276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  <a:latin typeface="Avenir Light" panose="020B0402020203020204" pitchFamily="34" charset="77"/>
              </a:rPr>
              <a:t>#FF5E00</a:t>
            </a:r>
            <a:endParaRPr lang="en-US" sz="1800" dirty="0">
              <a:solidFill>
                <a:schemeClr val="bg1"/>
              </a:solidFill>
              <a:latin typeface="Avenir Light" panose="020B0402020203020204" pitchFamily="34" charset="77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BD7EA6E-D79C-CA8A-B1E2-5FD5417F1BC3}"/>
              </a:ext>
            </a:extLst>
          </p:cNvPr>
          <p:cNvSpPr txBox="1">
            <a:spLocks/>
          </p:cNvSpPr>
          <p:nvPr/>
        </p:nvSpPr>
        <p:spPr>
          <a:xfrm>
            <a:off x="6073612" y="5636372"/>
            <a:ext cx="1178631" cy="3276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rgbClr val="FF5E00"/>
                </a:solidFill>
                <a:latin typeface="Avenir Light" panose="020B0402020203020204" pitchFamily="34" charset="77"/>
              </a:rPr>
              <a:t>#F7DACC</a:t>
            </a:r>
            <a:endParaRPr lang="en-US" sz="1800" dirty="0">
              <a:solidFill>
                <a:srgbClr val="FF5E00"/>
              </a:solidFill>
              <a:latin typeface="Avenir Light" panose="020B0402020203020204" pitchFamily="34" charset="77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79FBB80-E1FE-390F-E9CE-FF749D435E2B}"/>
              </a:ext>
            </a:extLst>
          </p:cNvPr>
          <p:cNvSpPr txBox="1">
            <a:spLocks/>
          </p:cNvSpPr>
          <p:nvPr/>
        </p:nvSpPr>
        <p:spPr>
          <a:xfrm>
            <a:off x="8947438" y="5385427"/>
            <a:ext cx="1178631" cy="3276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  <a:latin typeface="Avenir Light" panose="020B0402020203020204" pitchFamily="34" charset="77"/>
              </a:rPr>
              <a:t>#C04F15</a:t>
            </a:r>
            <a:endParaRPr lang="en-US" sz="1800" dirty="0">
              <a:solidFill>
                <a:schemeClr val="bg1"/>
              </a:solidFill>
              <a:latin typeface="Avenir Light" panose="020B0402020203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00565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844016c-0c50-4da6-8b82-860d6f605335">
      <Terms xmlns="http://schemas.microsoft.com/office/infopath/2007/PartnerControls"/>
    </lcf76f155ced4ddcb4097134ff3c332f>
    <TaxCatchAll xmlns="c462f2cf-72a5-4d94-863f-876efe88e18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CA834DC3A7C6408CC7CDD43288D673" ma:contentTypeVersion="14" ma:contentTypeDescription="Create a new document." ma:contentTypeScope="" ma:versionID="ac91173658e3a86f30ed4a847a273d24">
  <xsd:schema xmlns:xsd="http://www.w3.org/2001/XMLSchema" xmlns:xs="http://www.w3.org/2001/XMLSchema" xmlns:p="http://schemas.microsoft.com/office/2006/metadata/properties" xmlns:ns2="2844016c-0c50-4da6-8b82-860d6f605335" xmlns:ns3="c462f2cf-72a5-4d94-863f-876efe88e181" targetNamespace="http://schemas.microsoft.com/office/2006/metadata/properties" ma:root="true" ma:fieldsID="4c0630e1dff526c339373395ce8b63c6" ns2:_="" ns3:_="">
    <xsd:import namespace="2844016c-0c50-4da6-8b82-860d6f605335"/>
    <xsd:import namespace="c462f2cf-72a5-4d94-863f-876efe88e181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4016c-0c50-4da6-8b82-860d6f60533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6e55408-b488-4806-928c-04569d5b07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62f2cf-72a5-4d94-863f-876efe88e18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bdd9747-1658-4f9d-a970-3baf5d1f95b7}" ma:internalName="TaxCatchAll" ma:showField="CatchAllData" ma:web="c462f2cf-72a5-4d94-863f-876efe88e1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DC9EAC-C4B6-41A2-8DB9-7C7E2EC3D253}">
  <ds:schemaRefs>
    <ds:schemaRef ds:uri="http://schemas.microsoft.com/office/2006/metadata/properties"/>
    <ds:schemaRef ds:uri="2844016c-0c50-4da6-8b82-860d6f605335"/>
    <ds:schemaRef ds:uri="c462f2cf-72a5-4d94-863f-876efe88e181"/>
    <ds:schemaRef ds:uri="http://purl.org/dc/dcmitype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1215FBC-B405-44AE-AC61-8871CBB1BF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CE3F11-FAC0-479A-99B3-52A3162E39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4016c-0c50-4da6-8b82-860d6f605335"/>
    <ds:schemaRef ds:uri="c462f2cf-72a5-4d94-863f-876efe88e1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175</Words>
  <Application>Microsoft Macintosh PowerPoint</Application>
  <PresentationFormat>Widescreen</PresentationFormat>
  <Paragraphs>29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Avenir Book</vt:lpstr>
      <vt:lpstr>Avenir Heavy</vt:lpstr>
      <vt:lpstr>Avenir Light</vt:lpstr>
      <vt:lpstr>Office Theme</vt:lpstr>
      <vt:lpstr>BRAND GUIDELINE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Farin Sadiq</dc:creator>
  <cp:lastModifiedBy>Oona Gleeson</cp:lastModifiedBy>
  <cp:revision>16</cp:revision>
  <dcterms:created xsi:type="dcterms:W3CDTF">2025-10-30T22:15:45Z</dcterms:created>
  <dcterms:modified xsi:type="dcterms:W3CDTF">2026-01-27T23:16:03Z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0x01010011CA834DC3A7C6408CC7CDD43288D673</vt:lpwstr>
  </property>
  <property fmtid="{D5CDD505-2E9C-101B-9397-08002B2CF9AE}" pid="3" name="MediaServiceImageTags">
    <vt:lpwstr/>
  </property>
</Properties>
</file>